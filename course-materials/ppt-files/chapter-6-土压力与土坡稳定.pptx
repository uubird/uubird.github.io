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av" ContentType="audio/x-wav"/>
  <Default Extension="png" ContentType="image/png"/>
  <Default Extension="emf" ContentType="image/x-emf"/>
  <Default Extension="wmf" ContentType="image/x-wm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61"/>
  </p:notesMasterIdLst>
  <p:handoutMasterIdLst>
    <p:handoutMasterId r:id="rId119"/>
  </p:handoutMasterIdLst>
  <p:sldIdLst>
    <p:sldId id="373" r:id="rId4"/>
    <p:sldId id="374" r:id="rId5"/>
    <p:sldId id="375" r:id="rId6"/>
    <p:sldId id="376" r:id="rId7"/>
    <p:sldId id="377" r:id="rId8"/>
    <p:sldId id="378" r:id="rId9"/>
    <p:sldId id="379" r:id="rId10"/>
    <p:sldId id="380" r:id="rId11"/>
    <p:sldId id="381" r:id="rId12"/>
    <p:sldId id="382" r:id="rId13"/>
    <p:sldId id="383" r:id="rId14"/>
    <p:sldId id="384" r:id="rId15"/>
    <p:sldId id="385" r:id="rId16"/>
    <p:sldId id="386" r:id="rId17"/>
    <p:sldId id="387" r:id="rId18"/>
    <p:sldId id="388" r:id="rId19"/>
    <p:sldId id="389" r:id="rId20"/>
    <p:sldId id="390" r:id="rId21"/>
    <p:sldId id="391" r:id="rId22"/>
    <p:sldId id="392" r:id="rId23"/>
    <p:sldId id="393" r:id="rId24"/>
    <p:sldId id="394" r:id="rId25"/>
    <p:sldId id="395" r:id="rId26"/>
    <p:sldId id="396" r:id="rId27"/>
    <p:sldId id="397" r:id="rId28"/>
    <p:sldId id="398" r:id="rId29"/>
    <p:sldId id="399" r:id="rId30"/>
    <p:sldId id="400" r:id="rId31"/>
    <p:sldId id="401" r:id="rId32"/>
    <p:sldId id="402" r:id="rId33"/>
    <p:sldId id="403" r:id="rId34"/>
    <p:sldId id="404" r:id="rId35"/>
    <p:sldId id="405" r:id="rId36"/>
    <p:sldId id="406" r:id="rId37"/>
    <p:sldId id="407" r:id="rId38"/>
    <p:sldId id="408" r:id="rId39"/>
    <p:sldId id="409" r:id="rId40"/>
    <p:sldId id="410" r:id="rId41"/>
    <p:sldId id="411" r:id="rId42"/>
    <p:sldId id="412" r:id="rId43"/>
    <p:sldId id="413" r:id="rId44"/>
    <p:sldId id="414" r:id="rId45"/>
    <p:sldId id="415" r:id="rId46"/>
    <p:sldId id="416" r:id="rId47"/>
    <p:sldId id="417" r:id="rId48"/>
    <p:sldId id="418" r:id="rId49"/>
    <p:sldId id="419" r:id="rId50"/>
    <p:sldId id="420" r:id="rId51"/>
    <p:sldId id="421" r:id="rId52"/>
    <p:sldId id="422" r:id="rId53"/>
    <p:sldId id="423" r:id="rId54"/>
    <p:sldId id="424" r:id="rId55"/>
    <p:sldId id="425" r:id="rId56"/>
    <p:sldId id="426" r:id="rId57"/>
    <p:sldId id="427" r:id="rId58"/>
    <p:sldId id="428" r:id="rId59"/>
    <p:sldId id="429" r:id="rId60"/>
    <p:sldId id="430" r:id="rId62"/>
    <p:sldId id="431" r:id="rId63"/>
    <p:sldId id="432" r:id="rId64"/>
    <p:sldId id="433" r:id="rId65"/>
    <p:sldId id="434" r:id="rId66"/>
    <p:sldId id="435" r:id="rId67"/>
    <p:sldId id="436" r:id="rId68"/>
    <p:sldId id="437" r:id="rId69"/>
    <p:sldId id="438" r:id="rId70"/>
    <p:sldId id="439" r:id="rId71"/>
    <p:sldId id="440" r:id="rId72"/>
    <p:sldId id="441" r:id="rId73"/>
    <p:sldId id="442" r:id="rId74"/>
    <p:sldId id="443" r:id="rId75"/>
    <p:sldId id="444" r:id="rId76"/>
    <p:sldId id="445" r:id="rId77"/>
    <p:sldId id="446" r:id="rId78"/>
    <p:sldId id="447" r:id="rId79"/>
    <p:sldId id="448" r:id="rId80"/>
    <p:sldId id="449" r:id="rId81"/>
    <p:sldId id="450" r:id="rId82"/>
    <p:sldId id="451" r:id="rId83"/>
    <p:sldId id="452" r:id="rId84"/>
    <p:sldId id="453" r:id="rId85"/>
    <p:sldId id="454" r:id="rId86"/>
    <p:sldId id="455" r:id="rId87"/>
    <p:sldId id="456" r:id="rId88"/>
    <p:sldId id="457" r:id="rId89"/>
    <p:sldId id="458" r:id="rId90"/>
    <p:sldId id="459" r:id="rId91"/>
    <p:sldId id="460" r:id="rId92"/>
    <p:sldId id="461" r:id="rId93"/>
    <p:sldId id="462" r:id="rId94"/>
    <p:sldId id="463" r:id="rId95"/>
    <p:sldId id="464" r:id="rId96"/>
    <p:sldId id="465" r:id="rId97"/>
    <p:sldId id="466" r:id="rId98"/>
    <p:sldId id="467" r:id="rId99"/>
    <p:sldId id="468" r:id="rId100"/>
    <p:sldId id="469" r:id="rId101"/>
    <p:sldId id="470" r:id="rId102"/>
    <p:sldId id="471" r:id="rId103"/>
    <p:sldId id="472" r:id="rId104"/>
    <p:sldId id="473" r:id="rId105"/>
    <p:sldId id="474" r:id="rId106"/>
    <p:sldId id="475" r:id="rId107"/>
    <p:sldId id="476" r:id="rId108"/>
    <p:sldId id="477" r:id="rId109"/>
    <p:sldId id="478" r:id="rId110"/>
    <p:sldId id="479" r:id="rId111"/>
    <p:sldId id="480" r:id="rId112"/>
    <p:sldId id="481" r:id="rId113"/>
    <p:sldId id="482" r:id="rId114"/>
    <p:sldId id="483" r:id="rId115"/>
    <p:sldId id="484" r:id="rId116"/>
    <p:sldId id="485" r:id="rId117"/>
    <p:sldId id="486" r:id="rId118"/>
  </p:sldIdLst>
  <p:sldSz cx="9144000" cy="6858000" type="screen4x3"/>
  <p:notesSz cx="7099300" cy="10234295"/>
  <p:defaultTextStyle>
    <a:defPPr>
      <a:defRPr lang="en-US"/>
    </a:defPPr>
    <a:lvl1pPr algn="l" rtl="0" eaLnBrk="0" fontAlgn="base" hangingPunct="0">
      <a:spcBef>
        <a:spcPct val="0"/>
      </a:spcBef>
      <a:spcAft>
        <a:spcPct val="0"/>
      </a:spcAft>
      <a:defRPr kumimoji="1" sz="2800" kern="1200">
        <a:solidFill>
          <a:schemeClr val="tx1"/>
        </a:solidFill>
        <a:latin typeface="幼圆" panose="02010509060101010101" pitchFamily="49" charset="-122"/>
        <a:ea typeface="幼圆" panose="02010509060101010101" pitchFamily="49" charset="-122"/>
        <a:cs typeface="+mn-cs"/>
      </a:defRPr>
    </a:lvl1pPr>
    <a:lvl2pPr marL="457200" algn="l" rtl="0" eaLnBrk="0" fontAlgn="base" hangingPunct="0">
      <a:spcBef>
        <a:spcPct val="0"/>
      </a:spcBef>
      <a:spcAft>
        <a:spcPct val="0"/>
      </a:spcAft>
      <a:defRPr kumimoji="1" sz="2800"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sz="2800"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sz="2800"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sz="2800"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sz="2800"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sz="2800"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sz="2800"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sz="2800" kern="1200">
        <a:solidFill>
          <a:schemeClr val="tx1"/>
        </a:solidFill>
        <a:latin typeface="幼圆" panose="02010509060101010101" pitchFamily="49" charset="-122"/>
        <a:ea typeface="幼圆" panose="02010509060101010101"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CCFF33"/>
    <a:srgbClr val="0000CC"/>
    <a:srgbClr val="0000FF"/>
    <a:srgbClr val="FF6600"/>
    <a:srgbClr val="FFCC00"/>
    <a:srgbClr val="CCCC00"/>
    <a:srgbClr val="CC9900"/>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14" autoAdjust="0"/>
    <p:restoredTop sz="89032" autoAdjust="0"/>
  </p:normalViewPr>
  <p:slideViewPr>
    <p:cSldViewPr showGuides="1">
      <p:cViewPr varScale="1">
        <p:scale>
          <a:sx n="100" d="100"/>
          <a:sy n="100" d="100"/>
        </p:scale>
        <p:origin x="14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8" d="100"/>
          <a:sy n="58" d="100"/>
        </p:scale>
        <p:origin x="-1812" y="-72"/>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6.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5.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notesMaster" Target="notesMasters/notesMaster1.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2" Type="http://schemas.openxmlformats.org/officeDocument/2006/relationships/tableStyles" Target="tableStyles.xml"/><Relationship Id="rId121" Type="http://schemas.openxmlformats.org/officeDocument/2006/relationships/viewProps" Target="viewProps.xml"/><Relationship Id="rId120" Type="http://schemas.openxmlformats.org/officeDocument/2006/relationships/presProps" Target="presProps.xml"/><Relationship Id="rId12" Type="http://schemas.openxmlformats.org/officeDocument/2006/relationships/slide" Target="slides/slide9.xml"/><Relationship Id="rId119" Type="http://schemas.openxmlformats.org/officeDocument/2006/relationships/handoutMaster" Target="handoutMasters/handoutMaster1.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8.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drawings/_rels/vmlDrawing4.vml.rels><?xml version="1.0" encoding="UTF-8" standalone="yes"?>
<Relationships xmlns="http://schemas.openxmlformats.org/package/2006/relationships"><Relationship Id="rId4" Type="http://schemas.openxmlformats.org/officeDocument/2006/relationships/image" Target="../media/image36.wmf"/><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48.wmf"/><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s>
</file>

<file path=ppt/drawings/_rels/vmlDrawing7.vml.rels><?xml version="1.0" encoding="UTF-8" standalone="yes"?>
<Relationships xmlns="http://schemas.openxmlformats.org/package/2006/relationships"><Relationship Id="rId4" Type="http://schemas.openxmlformats.org/officeDocument/2006/relationships/image" Target="../media/image52.wmf"/><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s>
</file>

<file path=ppt/drawings/_rels/vmlDrawing9.vml.rels><?xml version="1.0" encoding="UTF-8" standalone="yes"?>
<Relationships xmlns="http://schemas.openxmlformats.org/package/2006/relationships"><Relationship Id="rId5" Type="http://schemas.openxmlformats.org/officeDocument/2006/relationships/image" Target="../media/image62.wmf"/><Relationship Id="rId4" Type="http://schemas.openxmlformats.org/officeDocument/2006/relationships/image" Target="../media/image61.wmf"/><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s>
</file>

<file path=ppt/drawings/_rels/vmlDrawing11.vml.rels><?xml version="1.0" encoding="UTF-8" standalone="yes"?>
<Relationships xmlns="http://schemas.openxmlformats.org/package/2006/relationships"><Relationship Id="rId4" Type="http://schemas.openxmlformats.org/officeDocument/2006/relationships/image" Target="../media/image74.wmf"/><Relationship Id="rId3" Type="http://schemas.openxmlformats.org/officeDocument/2006/relationships/image" Target="../media/image73.wmf"/><Relationship Id="rId2" Type="http://schemas.openxmlformats.org/officeDocument/2006/relationships/image" Target="../media/image72.wmf"/><Relationship Id="rId1" Type="http://schemas.openxmlformats.org/officeDocument/2006/relationships/image" Target="../media/image71.wmf"/></Relationships>
</file>

<file path=ppt/drawings/_rels/vmlDrawing12.vml.rels><?xml version="1.0" encoding="UTF-8" standalone="yes"?>
<Relationships xmlns="http://schemas.openxmlformats.org/package/2006/relationships"><Relationship Id="rId9" Type="http://schemas.openxmlformats.org/officeDocument/2006/relationships/image" Target="../media/image84.wmf"/><Relationship Id="rId8" Type="http://schemas.openxmlformats.org/officeDocument/2006/relationships/image" Target="../media/image83.wmf"/><Relationship Id="rId7" Type="http://schemas.openxmlformats.org/officeDocument/2006/relationships/image" Target="../media/image82.wmf"/><Relationship Id="rId6" Type="http://schemas.openxmlformats.org/officeDocument/2006/relationships/image" Target="../media/image81.wmf"/><Relationship Id="rId5" Type="http://schemas.openxmlformats.org/officeDocument/2006/relationships/image" Target="../media/image80.wmf"/><Relationship Id="rId4" Type="http://schemas.openxmlformats.org/officeDocument/2006/relationships/image" Target="../media/image79.wmf"/><Relationship Id="rId3" Type="http://schemas.openxmlformats.org/officeDocument/2006/relationships/image" Target="../media/image78.wmf"/><Relationship Id="rId2" Type="http://schemas.openxmlformats.org/officeDocument/2006/relationships/image" Target="../media/image77.wmf"/><Relationship Id="rId10" Type="http://schemas.openxmlformats.org/officeDocument/2006/relationships/image" Target="../media/image85.wmf"/><Relationship Id="rId1" Type="http://schemas.openxmlformats.org/officeDocument/2006/relationships/image" Target="../media/image76.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87.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91.wmf"/><Relationship Id="rId1" Type="http://schemas.openxmlformats.org/officeDocument/2006/relationships/image" Target="../media/image90.wmf"/></Relationships>
</file>

<file path=ppt/drawings/_rels/vmlDrawing15.vml.rels><?xml version="1.0" encoding="UTF-8" standalone="yes"?>
<Relationships xmlns="http://schemas.openxmlformats.org/package/2006/relationships"><Relationship Id="rId4" Type="http://schemas.openxmlformats.org/officeDocument/2006/relationships/image" Target="../media/image95.wmf"/><Relationship Id="rId3" Type="http://schemas.openxmlformats.org/officeDocument/2006/relationships/image" Target="../media/image94.wmf"/><Relationship Id="rId2" Type="http://schemas.openxmlformats.org/officeDocument/2006/relationships/image" Target="../media/image93.wmf"/><Relationship Id="rId1" Type="http://schemas.openxmlformats.org/officeDocument/2006/relationships/image" Target="../media/image92.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91.wmf"/><Relationship Id="rId1" Type="http://schemas.openxmlformats.org/officeDocument/2006/relationships/image" Target="../media/image96.wmf"/></Relationships>
</file>

<file path=ppt/drawings/_rels/vmlDrawing17.vml.rels><?xml version="1.0" encoding="UTF-8" standalone="yes"?>
<Relationships xmlns="http://schemas.openxmlformats.org/package/2006/relationships"><Relationship Id="rId4" Type="http://schemas.openxmlformats.org/officeDocument/2006/relationships/image" Target="../media/image99.wmf"/><Relationship Id="rId3" Type="http://schemas.openxmlformats.org/officeDocument/2006/relationships/image" Target="../media/image95.wmf"/><Relationship Id="rId2" Type="http://schemas.openxmlformats.org/officeDocument/2006/relationships/image" Target="../media/image98.wmf"/><Relationship Id="rId1" Type="http://schemas.openxmlformats.org/officeDocument/2006/relationships/image" Target="../media/image97.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101.emf"/><Relationship Id="rId1" Type="http://schemas.openxmlformats.org/officeDocument/2006/relationships/image" Target="../media/image100.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06.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08.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22.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26.wmf"/></Relationships>
</file>

<file path=ppt/drawings/_rels/vmlDrawing23.vml.rels><?xml version="1.0" encoding="UTF-8" standalone="yes"?>
<Relationships xmlns="http://schemas.openxmlformats.org/package/2006/relationships"><Relationship Id="rId4" Type="http://schemas.openxmlformats.org/officeDocument/2006/relationships/image" Target="../media/image138.wmf"/><Relationship Id="rId3" Type="http://schemas.openxmlformats.org/officeDocument/2006/relationships/image" Target="../media/image136.wmf"/><Relationship Id="rId2" Type="http://schemas.openxmlformats.org/officeDocument/2006/relationships/image" Target="../media/image135.wmf"/><Relationship Id="rId1" Type="http://schemas.openxmlformats.org/officeDocument/2006/relationships/image" Target="../media/image134.wmf"/></Relationships>
</file>

<file path=ppt/drawings/_rels/vmlDrawing24.vml.rels><?xml version="1.0" encoding="UTF-8" standalone="yes"?>
<Relationships xmlns="http://schemas.openxmlformats.org/package/2006/relationships"><Relationship Id="rId4" Type="http://schemas.openxmlformats.org/officeDocument/2006/relationships/image" Target="../media/image166.wmf"/><Relationship Id="rId3" Type="http://schemas.openxmlformats.org/officeDocument/2006/relationships/image" Target="../media/image165.wmf"/><Relationship Id="rId2" Type="http://schemas.openxmlformats.org/officeDocument/2006/relationships/image" Target="../media/image164.wmf"/><Relationship Id="rId1" Type="http://schemas.openxmlformats.org/officeDocument/2006/relationships/image" Target="../media/image163.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69.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69.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181.png"/><Relationship Id="rId1" Type="http://schemas.openxmlformats.org/officeDocument/2006/relationships/image" Target="../media/image180.png"/></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82.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5538"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6460" tIns="48230" rIns="96460" bIns="48230" numCol="1" anchor="t" anchorCtr="0" compatLnSpc="1"/>
          <a:lstStyle>
            <a:lvl1pPr defTabSz="965200" eaLnBrk="1" hangingPunct="1">
              <a:defRPr sz="1300">
                <a:latin typeface="Times New Roman" panose="02020603050405020304" pitchFamily="18" charset="0"/>
                <a:ea typeface="宋体" panose="02010600030101010101" pitchFamily="2" charset="-122"/>
              </a:defRPr>
            </a:lvl1pPr>
          </a:lstStyle>
          <a:p>
            <a:pPr>
              <a:defRPr/>
            </a:pPr>
            <a:endParaRPr lang="zh-CN" altLang="en-US"/>
          </a:p>
        </p:txBody>
      </p:sp>
      <p:sp>
        <p:nvSpPr>
          <p:cNvPr id="705539" name="Rectangle 3"/>
          <p:cNvSpPr>
            <a:spLocks noGrp="1" noChangeArrowheads="1"/>
          </p:cNvSpPr>
          <p:nvPr>
            <p:ph type="dt" sz="quarter" idx="1"/>
          </p:nvPr>
        </p:nvSpPr>
        <p:spPr bwMode="auto">
          <a:xfrm>
            <a:off x="4021138" y="0"/>
            <a:ext cx="3076575" cy="511175"/>
          </a:xfrm>
          <a:prstGeom prst="rect">
            <a:avLst/>
          </a:prstGeom>
          <a:noFill/>
          <a:ln w="9525">
            <a:noFill/>
            <a:miter lim="800000"/>
          </a:ln>
          <a:effectLst/>
        </p:spPr>
        <p:txBody>
          <a:bodyPr vert="horz" wrap="square" lIns="96460" tIns="48230" rIns="96460" bIns="48230" numCol="1" anchor="t" anchorCtr="0" compatLnSpc="1"/>
          <a:lstStyle>
            <a:lvl1pPr algn="r" defTabSz="965200" eaLnBrk="1" hangingPunct="1">
              <a:defRPr sz="1300">
                <a:latin typeface="Times New Roman" panose="02020603050405020304" pitchFamily="18" charset="0"/>
                <a:ea typeface="宋体" panose="02010600030101010101" pitchFamily="2" charset="-122"/>
              </a:defRPr>
            </a:lvl1pPr>
          </a:lstStyle>
          <a:p>
            <a:pPr>
              <a:defRPr/>
            </a:pPr>
            <a:endParaRPr lang="en-US" altLang="zh-CN"/>
          </a:p>
        </p:txBody>
      </p:sp>
      <p:sp>
        <p:nvSpPr>
          <p:cNvPr id="705540" name="Rectangle 4"/>
          <p:cNvSpPr>
            <a:spLocks noGrp="1" noChangeArrowheads="1"/>
          </p:cNvSpPr>
          <p:nvPr>
            <p:ph type="ftr" sz="quarter" idx="2"/>
          </p:nvPr>
        </p:nvSpPr>
        <p:spPr bwMode="auto">
          <a:xfrm>
            <a:off x="0" y="9721850"/>
            <a:ext cx="3076575" cy="511175"/>
          </a:xfrm>
          <a:prstGeom prst="rect">
            <a:avLst/>
          </a:prstGeom>
          <a:noFill/>
          <a:ln w="9525">
            <a:noFill/>
            <a:miter lim="800000"/>
          </a:ln>
          <a:effectLst/>
        </p:spPr>
        <p:txBody>
          <a:bodyPr vert="horz" wrap="square" lIns="96460" tIns="48230" rIns="96460" bIns="48230" numCol="1" anchor="b" anchorCtr="0" compatLnSpc="1"/>
          <a:lstStyle>
            <a:lvl1pPr defTabSz="965200" eaLnBrk="1" hangingPunct="1">
              <a:defRPr sz="1300">
                <a:latin typeface="Times New Roman" panose="02020603050405020304" pitchFamily="18" charset="0"/>
                <a:ea typeface="宋体" panose="02010600030101010101" pitchFamily="2" charset="-122"/>
              </a:defRPr>
            </a:lvl1pPr>
          </a:lstStyle>
          <a:p>
            <a:pPr>
              <a:defRPr/>
            </a:pPr>
            <a:endParaRPr lang="en-US" altLang="zh-CN"/>
          </a:p>
        </p:txBody>
      </p:sp>
      <p:sp>
        <p:nvSpPr>
          <p:cNvPr id="705541" name="Rectangle 5"/>
          <p:cNvSpPr>
            <a:spLocks noGrp="1" noChangeArrowheads="1"/>
          </p:cNvSpPr>
          <p:nvPr>
            <p:ph type="sldNum" sz="quarter" idx="3"/>
          </p:nvPr>
        </p:nvSpPr>
        <p:spPr bwMode="auto">
          <a:xfrm>
            <a:off x="4021138" y="9721850"/>
            <a:ext cx="3076575" cy="511175"/>
          </a:xfrm>
          <a:prstGeom prst="rect">
            <a:avLst/>
          </a:prstGeom>
          <a:noFill/>
          <a:ln w="9525">
            <a:noFill/>
            <a:miter lim="800000"/>
          </a:ln>
          <a:effectLst/>
        </p:spPr>
        <p:txBody>
          <a:bodyPr vert="horz" wrap="square" lIns="96460" tIns="48230" rIns="96460" bIns="48230" numCol="1" anchor="b" anchorCtr="0" compatLnSpc="1"/>
          <a:lstStyle>
            <a:lvl1pPr algn="r" defTabSz="965200" eaLnBrk="1" hangingPunct="1">
              <a:defRPr sz="1300" smtClean="0">
                <a:latin typeface="Times New Roman" panose="02020603050405020304" pitchFamily="18" charset="0"/>
                <a:ea typeface="宋体" panose="02010600030101010101" pitchFamily="2" charset="-122"/>
              </a:defRPr>
            </a:lvl1pPr>
          </a:lstStyle>
          <a:p>
            <a:pPr>
              <a:defRPr/>
            </a:pPr>
            <a:fld id="{CB921856-8D28-447C-84D8-6D325EE5D971}"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62"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6460" tIns="48230" rIns="96460" bIns="48230" numCol="1" anchor="t" anchorCtr="0" compatLnSpc="1"/>
          <a:lstStyle>
            <a:lvl1pPr defTabSz="965200" eaLnBrk="1" hangingPunct="1">
              <a:defRPr sz="1300">
                <a:latin typeface="Times New Roman" panose="02020603050405020304" pitchFamily="18" charset="0"/>
                <a:ea typeface="宋体" panose="02010600030101010101" pitchFamily="2" charset="-122"/>
              </a:defRPr>
            </a:lvl1pPr>
          </a:lstStyle>
          <a:p>
            <a:pPr>
              <a:defRPr/>
            </a:pPr>
            <a:endParaRPr lang="zh-CN" altLang="en-US"/>
          </a:p>
        </p:txBody>
      </p:sp>
      <p:sp>
        <p:nvSpPr>
          <p:cNvPr id="604163" name="Rectangle 3"/>
          <p:cNvSpPr>
            <a:spLocks noGrp="1" noChangeArrowheads="1"/>
          </p:cNvSpPr>
          <p:nvPr>
            <p:ph type="dt" idx="1"/>
          </p:nvPr>
        </p:nvSpPr>
        <p:spPr bwMode="auto">
          <a:xfrm>
            <a:off x="4021138" y="0"/>
            <a:ext cx="3076575" cy="511175"/>
          </a:xfrm>
          <a:prstGeom prst="rect">
            <a:avLst/>
          </a:prstGeom>
          <a:noFill/>
          <a:ln w="9525">
            <a:noFill/>
            <a:miter lim="800000"/>
          </a:ln>
          <a:effectLst/>
        </p:spPr>
        <p:txBody>
          <a:bodyPr vert="horz" wrap="square" lIns="96460" tIns="48230" rIns="96460" bIns="48230" numCol="1" anchor="t" anchorCtr="0" compatLnSpc="1"/>
          <a:lstStyle>
            <a:lvl1pPr algn="r" defTabSz="965200" eaLnBrk="1" hangingPunct="1">
              <a:defRPr sz="1300">
                <a:latin typeface="Times New Roman" panose="02020603050405020304" pitchFamily="18" charset="0"/>
                <a:ea typeface="宋体" panose="02010600030101010101" pitchFamily="2" charset="-122"/>
              </a:defRPr>
            </a:lvl1pPr>
          </a:lstStyle>
          <a:p>
            <a:pPr>
              <a:defRPr/>
            </a:pPr>
            <a:endParaRPr lang="en-US" altLang="zh-CN"/>
          </a:p>
        </p:txBody>
      </p:sp>
      <p:sp>
        <p:nvSpPr>
          <p:cNvPr id="4100"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604165" name="Rectangle 5"/>
          <p:cNvSpPr>
            <a:spLocks noGrp="1" noChangeArrowheads="1"/>
          </p:cNvSpPr>
          <p:nvPr>
            <p:ph type="body" sz="quarter" idx="3"/>
          </p:nvPr>
        </p:nvSpPr>
        <p:spPr bwMode="auto">
          <a:xfrm>
            <a:off x="709613" y="4860925"/>
            <a:ext cx="5680075" cy="4606925"/>
          </a:xfrm>
          <a:prstGeom prst="rect">
            <a:avLst/>
          </a:prstGeom>
          <a:noFill/>
          <a:ln w="9525">
            <a:noFill/>
            <a:miter lim="800000"/>
          </a:ln>
          <a:effectLst/>
        </p:spPr>
        <p:txBody>
          <a:bodyPr vert="horz" wrap="square" lIns="96460" tIns="48230" rIns="96460" bIns="4823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04166" name="Rectangle 6"/>
          <p:cNvSpPr>
            <a:spLocks noGrp="1" noChangeArrowheads="1"/>
          </p:cNvSpPr>
          <p:nvPr>
            <p:ph type="ftr" sz="quarter" idx="4"/>
          </p:nvPr>
        </p:nvSpPr>
        <p:spPr bwMode="auto">
          <a:xfrm>
            <a:off x="0" y="9721850"/>
            <a:ext cx="3076575" cy="511175"/>
          </a:xfrm>
          <a:prstGeom prst="rect">
            <a:avLst/>
          </a:prstGeom>
          <a:noFill/>
          <a:ln w="9525">
            <a:noFill/>
            <a:miter lim="800000"/>
          </a:ln>
          <a:effectLst/>
        </p:spPr>
        <p:txBody>
          <a:bodyPr vert="horz" wrap="square" lIns="96460" tIns="48230" rIns="96460" bIns="48230" numCol="1" anchor="b" anchorCtr="0" compatLnSpc="1"/>
          <a:lstStyle>
            <a:lvl1pPr defTabSz="965200" eaLnBrk="1" hangingPunct="1">
              <a:defRPr sz="1300">
                <a:latin typeface="Times New Roman" panose="02020603050405020304" pitchFamily="18" charset="0"/>
                <a:ea typeface="宋体" panose="02010600030101010101" pitchFamily="2" charset="-122"/>
              </a:defRPr>
            </a:lvl1pPr>
          </a:lstStyle>
          <a:p>
            <a:pPr>
              <a:defRPr/>
            </a:pPr>
            <a:endParaRPr lang="en-US" altLang="zh-CN"/>
          </a:p>
        </p:txBody>
      </p:sp>
      <p:sp>
        <p:nvSpPr>
          <p:cNvPr id="604167" name="Rectangle 7"/>
          <p:cNvSpPr>
            <a:spLocks noGrp="1" noChangeArrowheads="1"/>
          </p:cNvSpPr>
          <p:nvPr>
            <p:ph type="sldNum" sz="quarter" idx="5"/>
          </p:nvPr>
        </p:nvSpPr>
        <p:spPr bwMode="auto">
          <a:xfrm>
            <a:off x="4021138" y="9721850"/>
            <a:ext cx="3076575" cy="511175"/>
          </a:xfrm>
          <a:prstGeom prst="rect">
            <a:avLst/>
          </a:prstGeom>
          <a:noFill/>
          <a:ln w="9525">
            <a:noFill/>
            <a:miter lim="800000"/>
          </a:ln>
          <a:effectLst/>
        </p:spPr>
        <p:txBody>
          <a:bodyPr vert="horz" wrap="square" lIns="96460" tIns="48230" rIns="96460" bIns="48230" numCol="1" anchor="b" anchorCtr="0" compatLnSpc="1"/>
          <a:lstStyle>
            <a:lvl1pPr algn="r" defTabSz="965200" eaLnBrk="1" hangingPunct="1">
              <a:defRPr sz="1300" smtClean="0">
                <a:latin typeface="Times New Roman" panose="02020603050405020304" pitchFamily="18" charset="0"/>
                <a:ea typeface="宋体" panose="02010600030101010101" pitchFamily="2" charset="-122"/>
              </a:defRPr>
            </a:lvl1pPr>
          </a:lstStyle>
          <a:p>
            <a:pPr>
              <a:defRPr/>
            </a:pPr>
            <a:fld id="{30F4FEE4-9D89-4867-AE0B-1AD9F155E501}"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Narrow"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Narrow"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Narrow"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Narrow"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スライド イメージ プレースホルダ 1"/>
          <p:cNvSpPr>
            <a:spLocks noGrp="1" noRot="1" noChangeAspect="1" noChangeArrowheads="1" noTextEdit="1"/>
          </p:cNvSpPr>
          <p:nvPr>
            <p:ph type="sldImg"/>
          </p:nvPr>
        </p:nvSpPr>
        <p:spPr/>
      </p:sp>
      <p:sp>
        <p:nvSpPr>
          <p:cNvPr id="4099" name="ノート プレースホルダ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smtClean="0"/>
          </a:p>
        </p:txBody>
      </p:sp>
      <p:sp>
        <p:nvSpPr>
          <p:cNvPr id="4100" name="スライド番号プレースホルダ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50000"/>
              </a:spcBef>
            </a:pPr>
            <a:fld id="{4BA78B7C-FBE9-4C66-87F7-7BAB2164E567}" type="slidenum">
              <a:rPr lang="en-US" altLang="zh-CN" sz="1200">
                <a:latin typeface="隶书" panose="02010509060101010101" pitchFamily="49" charset="-122"/>
                <a:ea typeface="隶书" panose="02010509060101010101" pitchFamily="49" charset="-122"/>
              </a:rPr>
            </a:fld>
            <a:endParaRPr lang="en-US" altLang="zh-CN" sz="1200">
              <a:latin typeface="隶书" panose="02010509060101010101" pitchFamily="49" charset="-122"/>
              <a:ea typeface="隶书" panose="02010509060101010101" pitchFamily="49"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スライド イメージ プレースホルダ 1"/>
          <p:cNvSpPr>
            <a:spLocks noGrp="1" noRot="1" noChangeAspect="1" noChangeArrowheads="1" noTextEdit="1"/>
          </p:cNvSpPr>
          <p:nvPr>
            <p:ph type="sldImg"/>
          </p:nvPr>
        </p:nvSpPr>
        <p:spPr/>
      </p:sp>
      <p:sp>
        <p:nvSpPr>
          <p:cNvPr id="4099" name="ノート プレースホルダ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smtClean="0"/>
          </a:p>
        </p:txBody>
      </p:sp>
      <p:sp>
        <p:nvSpPr>
          <p:cNvPr id="4100" name="スライド番号プレースホルダ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50000"/>
              </a:spcBef>
            </a:pPr>
            <a:fld id="{4BA78B7C-FBE9-4C66-87F7-7BAB2164E567}" type="slidenum">
              <a:rPr lang="en-US" altLang="zh-CN" sz="1200">
                <a:latin typeface="隶书" panose="02010509060101010101" pitchFamily="49" charset="-122"/>
                <a:ea typeface="隶书" panose="02010509060101010101" pitchFamily="49" charset="-122"/>
              </a:rPr>
            </a:fld>
            <a:endParaRPr lang="en-US" altLang="zh-CN" sz="1200">
              <a:latin typeface="隶书" panose="02010509060101010101" pitchFamily="49" charset="-122"/>
              <a:ea typeface="隶书" panose="02010509060101010101" pitchFamily="49"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スライド イメージ プレースホルダ 1"/>
          <p:cNvSpPr>
            <a:spLocks noGrp="1" noRot="1" noChangeAspect="1" noChangeArrowheads="1" noTextEdit="1"/>
          </p:cNvSpPr>
          <p:nvPr>
            <p:ph type="sldImg"/>
          </p:nvPr>
        </p:nvSpPr>
        <p:spPr/>
      </p:sp>
      <p:sp>
        <p:nvSpPr>
          <p:cNvPr id="6147" name="ノート プレースホルダ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smtClean="0"/>
          </a:p>
        </p:txBody>
      </p:sp>
      <p:sp>
        <p:nvSpPr>
          <p:cNvPr id="6148" name="スライド番号プレースホルダ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50000"/>
              </a:spcBef>
            </a:pPr>
            <a:fld id="{E7EB8E86-C313-4FFC-85A0-D2592E699438}" type="slidenum">
              <a:rPr lang="en-US" altLang="zh-CN" sz="1200">
                <a:latin typeface="隶书" panose="02010509060101010101" pitchFamily="49" charset="-122"/>
                <a:ea typeface="隶书" panose="02010509060101010101" pitchFamily="49" charset="-122"/>
              </a:rPr>
            </a:fld>
            <a:endParaRPr lang="en-US" altLang="zh-CN" sz="1200">
              <a:latin typeface="隶书" panose="02010509060101010101" pitchFamily="49" charset="-122"/>
              <a:ea typeface="隶书" panose="02010509060101010101" pitchFamily="49"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スライド イメージ プレースホルダ 1"/>
          <p:cNvSpPr>
            <a:spLocks noGrp="1" noRot="1" noChangeAspect="1" noChangeArrowheads="1" noTextEdit="1"/>
          </p:cNvSpPr>
          <p:nvPr>
            <p:ph type="sldImg"/>
          </p:nvPr>
        </p:nvSpPr>
        <p:spPr/>
      </p:sp>
      <p:sp>
        <p:nvSpPr>
          <p:cNvPr id="11267" name="ノート プレースホルダ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smtClean="0"/>
          </a:p>
        </p:txBody>
      </p:sp>
      <p:sp>
        <p:nvSpPr>
          <p:cNvPr id="11268" name="スライド番号プレースホルダ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50000"/>
              </a:spcBef>
            </a:pPr>
            <a:fld id="{66A1DF28-752F-4D95-91CE-01DDAF55E06B}" type="slidenum">
              <a:rPr lang="en-US" altLang="zh-CN" sz="1200">
                <a:latin typeface="隶书" panose="02010509060101010101" pitchFamily="49" charset="-122"/>
                <a:ea typeface="隶书" panose="02010509060101010101" pitchFamily="49" charset="-122"/>
              </a:rPr>
            </a:fld>
            <a:endParaRPr lang="en-US" altLang="zh-CN" sz="1200">
              <a:latin typeface="隶书" panose="02010509060101010101" pitchFamily="49" charset="-122"/>
              <a:ea typeface="隶书" panose="02010509060101010101" pitchFamily="49"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スライド イメージ プレースホルダ 1"/>
          <p:cNvSpPr>
            <a:spLocks noGrp="1" noRot="1" noChangeAspect="1" noChangeArrowheads="1" noTextEdit="1"/>
          </p:cNvSpPr>
          <p:nvPr>
            <p:ph type="sldImg"/>
          </p:nvPr>
        </p:nvSpPr>
        <p:spPr/>
      </p:sp>
      <p:sp>
        <p:nvSpPr>
          <p:cNvPr id="13315" name="ノート プレースホルダ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smtClean="0"/>
          </a:p>
        </p:txBody>
      </p:sp>
      <p:sp>
        <p:nvSpPr>
          <p:cNvPr id="13316" name="スライド番号プレースホルダ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50000"/>
              </a:spcBef>
            </a:pPr>
            <a:fld id="{D5E2F041-D6BD-41EC-8FBE-C4CBDD828C16}" type="slidenum">
              <a:rPr lang="en-US" altLang="zh-CN" sz="1200">
                <a:latin typeface="隶书" panose="02010509060101010101" pitchFamily="49" charset="-122"/>
                <a:ea typeface="隶书" panose="02010509060101010101" pitchFamily="49" charset="-122"/>
              </a:rPr>
            </a:fld>
            <a:endParaRPr lang="en-US" altLang="zh-CN" sz="1200">
              <a:latin typeface="隶书" panose="02010509060101010101" pitchFamily="49" charset="-122"/>
              <a:ea typeface="隶书" panose="02010509060101010101" pitchFamily="49"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スライド イメージ プレースホルダ 1"/>
          <p:cNvSpPr>
            <a:spLocks noGrp="1" noRot="1" noChangeAspect="1" noChangeArrowheads="1" noTextEdit="1"/>
          </p:cNvSpPr>
          <p:nvPr>
            <p:ph type="sldImg"/>
          </p:nvPr>
        </p:nvSpPr>
        <p:spPr/>
      </p:sp>
      <p:sp>
        <p:nvSpPr>
          <p:cNvPr id="15363" name="ノート プレースホルダ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smtClean="0"/>
          </a:p>
        </p:txBody>
      </p:sp>
      <p:sp>
        <p:nvSpPr>
          <p:cNvPr id="15364" name="スライド番号プレースホルダ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50000"/>
              </a:spcBef>
            </a:pPr>
            <a:fld id="{8DF465F8-7CBD-4941-8E7F-9EFE8369DA94}" type="slidenum">
              <a:rPr lang="en-US" altLang="zh-CN" sz="1200">
                <a:latin typeface="隶书" panose="02010509060101010101" pitchFamily="49" charset="-122"/>
                <a:ea typeface="隶书" panose="02010509060101010101" pitchFamily="49" charset="-122"/>
              </a:rPr>
            </a:fld>
            <a:endParaRPr lang="en-US" altLang="zh-CN" sz="1200">
              <a:latin typeface="隶书" panose="02010509060101010101" pitchFamily="49" charset="-122"/>
              <a:ea typeface="隶书" panose="02010509060101010101" pitchFamily="49"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スライド イメージ プレースホルダ 1"/>
          <p:cNvSpPr>
            <a:spLocks noGrp="1" noRot="1" noChangeAspect="1" noChangeArrowheads="1" noTextEdit="1"/>
          </p:cNvSpPr>
          <p:nvPr>
            <p:ph type="sldImg"/>
          </p:nvPr>
        </p:nvSpPr>
        <p:spPr/>
      </p:sp>
      <p:sp>
        <p:nvSpPr>
          <p:cNvPr id="17411" name="ノート プレースホルダ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smtClean="0"/>
          </a:p>
        </p:txBody>
      </p:sp>
      <p:sp>
        <p:nvSpPr>
          <p:cNvPr id="17412" name="スライド番号プレースホルダ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50000"/>
              </a:spcBef>
            </a:pPr>
            <a:fld id="{60811754-211E-440E-90C5-03768F21E46F}" type="slidenum">
              <a:rPr lang="en-US" altLang="zh-CN" sz="1200">
                <a:latin typeface="隶书" panose="02010509060101010101" pitchFamily="49" charset="-122"/>
                <a:ea typeface="隶书" panose="02010509060101010101" pitchFamily="49" charset="-122"/>
              </a:rPr>
            </a:fld>
            <a:endParaRPr lang="en-US" altLang="zh-CN" sz="1200">
              <a:latin typeface="隶书" panose="02010509060101010101" pitchFamily="49" charset="-122"/>
              <a:ea typeface="隶书" panose="02010509060101010101" pitchFamily="49"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スライド イメージ プレースホルダ 1"/>
          <p:cNvSpPr>
            <a:spLocks noGrp="1" noRot="1" noChangeAspect="1" noChangeArrowheads="1" noTextEdit="1"/>
          </p:cNvSpPr>
          <p:nvPr>
            <p:ph type="sldImg"/>
          </p:nvPr>
        </p:nvSpPr>
        <p:spPr/>
      </p:sp>
      <p:sp>
        <p:nvSpPr>
          <p:cNvPr id="4099" name="ノート プレースホルダ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smtClean="0"/>
          </a:p>
        </p:txBody>
      </p:sp>
      <p:sp>
        <p:nvSpPr>
          <p:cNvPr id="4100" name="スライド番号プレースホルダ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50000"/>
              </a:spcBef>
            </a:pPr>
            <a:fld id="{4BA78B7C-FBE9-4C66-87F7-7BAB2164E567}" type="slidenum">
              <a:rPr lang="en-US" altLang="zh-CN" sz="1200">
                <a:latin typeface="隶书" panose="02010509060101010101" pitchFamily="49" charset="-122"/>
                <a:ea typeface="隶书" panose="02010509060101010101" pitchFamily="49" charset="-122"/>
              </a:rPr>
            </a:fld>
            <a:endParaRPr lang="en-US" altLang="zh-CN" sz="1200">
              <a:latin typeface="隶书" panose="02010509060101010101" pitchFamily="49" charset="-122"/>
              <a:ea typeface="隶书" panose="02010509060101010101" pitchFamily="49"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スライド イメージ プレースホルダ 1"/>
          <p:cNvSpPr>
            <a:spLocks noGrp="1" noRot="1" noChangeAspect="1" noChangeArrowheads="1" noTextEdit="1"/>
          </p:cNvSpPr>
          <p:nvPr>
            <p:ph type="sldImg"/>
          </p:nvPr>
        </p:nvSpPr>
        <p:spPr/>
      </p:sp>
      <p:sp>
        <p:nvSpPr>
          <p:cNvPr id="4099" name="ノート プレースホルダ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smtClean="0"/>
          </a:p>
        </p:txBody>
      </p:sp>
      <p:sp>
        <p:nvSpPr>
          <p:cNvPr id="4100" name="スライド番号プレースホルダ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50000"/>
              </a:spcBef>
            </a:pPr>
            <a:fld id="{4BA78B7C-FBE9-4C66-87F7-7BAB2164E567}" type="slidenum">
              <a:rPr lang="en-US" altLang="zh-CN" sz="1200">
                <a:latin typeface="隶书" panose="02010509060101010101" pitchFamily="49" charset="-122"/>
                <a:ea typeface="隶书" panose="02010509060101010101" pitchFamily="49" charset="-122"/>
              </a:rPr>
            </a:fld>
            <a:endParaRPr lang="en-US" altLang="zh-CN" sz="1200">
              <a:latin typeface="隶书" panose="02010509060101010101" pitchFamily="49" charset="-122"/>
              <a:ea typeface="隶书" panose="02010509060101010101" pitchFamily="49"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スライド イメージ プレースホルダ 1"/>
          <p:cNvSpPr>
            <a:spLocks noGrp="1" noRot="1" noChangeAspect="1" noChangeArrowheads="1" noTextEdit="1"/>
          </p:cNvSpPr>
          <p:nvPr>
            <p:ph type="sldImg"/>
          </p:nvPr>
        </p:nvSpPr>
        <p:spPr/>
      </p:sp>
      <p:sp>
        <p:nvSpPr>
          <p:cNvPr id="31747" name="ノート プレースホルダ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smtClean="0"/>
          </a:p>
        </p:txBody>
      </p:sp>
      <p:sp>
        <p:nvSpPr>
          <p:cNvPr id="31748" name="スライド番号プレースホルダ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50000"/>
              </a:spcBef>
            </a:pPr>
            <a:fld id="{23561192-07DA-44A5-A07F-F412D8968425}" type="slidenum">
              <a:rPr lang="ja-JP" altLang="en-US" sz="1200">
                <a:latin typeface="隶书" panose="02010509060101010101" pitchFamily="49" charset="-122"/>
                <a:ea typeface="隶书" panose="02010509060101010101" pitchFamily="49" charset="-122"/>
              </a:rPr>
            </a:fld>
            <a:endParaRPr lang="en-US" altLang="ja-JP" sz="1200">
              <a:latin typeface="隶书" panose="02010509060101010101" pitchFamily="49" charset="-122"/>
              <a:ea typeface="隶书" panose="02010509060101010101" pitchFamily="49"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スライド イメージ プレースホルダ 1"/>
          <p:cNvSpPr>
            <a:spLocks noGrp="1" noRot="1" noChangeAspect="1" noChangeArrowheads="1" noTextEdit="1"/>
          </p:cNvSpPr>
          <p:nvPr>
            <p:ph type="sldImg"/>
          </p:nvPr>
        </p:nvSpPr>
        <p:spPr/>
      </p:sp>
      <p:sp>
        <p:nvSpPr>
          <p:cNvPr id="35843" name="ノート プレースホルダ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smtClean="0"/>
          </a:p>
        </p:txBody>
      </p:sp>
      <p:sp>
        <p:nvSpPr>
          <p:cNvPr id="35844" name="スライド番号プレースホルダ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50000"/>
              </a:spcBef>
            </a:pPr>
            <a:fld id="{64AEAF90-45EA-4FA9-84BC-01D461B63577}" type="slidenum">
              <a:rPr lang="en-US" altLang="zh-CN" sz="1200">
                <a:latin typeface="隶书" panose="02010509060101010101" pitchFamily="49" charset="-122"/>
                <a:ea typeface="隶书" panose="02010509060101010101" pitchFamily="49" charset="-122"/>
              </a:rPr>
            </a:fld>
            <a:endParaRPr lang="en-US" altLang="zh-CN" sz="1200">
              <a:latin typeface="隶书" panose="02010509060101010101" pitchFamily="49" charset="-122"/>
              <a:ea typeface="隶书" panose="02010509060101010101" pitchFamily="49"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スライド イメージ プレースホルダ 1"/>
          <p:cNvSpPr>
            <a:spLocks noGrp="1" noRot="1" noChangeAspect="1" noChangeArrowheads="1" noTextEdit="1"/>
          </p:cNvSpPr>
          <p:nvPr>
            <p:ph type="sldImg"/>
          </p:nvPr>
        </p:nvSpPr>
        <p:spPr/>
      </p:sp>
      <p:sp>
        <p:nvSpPr>
          <p:cNvPr id="52227" name="ノート プレースホルダ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smtClean="0"/>
          </a:p>
        </p:txBody>
      </p:sp>
      <p:sp>
        <p:nvSpPr>
          <p:cNvPr id="52228" name="スライド番号プレースホルダ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50000"/>
              </a:spcBef>
            </a:pPr>
            <a:fld id="{B3950A50-DF7B-4D5F-A10B-BF4584AF835B}" type="slidenum">
              <a:rPr lang="en-US" altLang="zh-CN" sz="1200">
                <a:latin typeface="隶书" panose="02010509060101010101" pitchFamily="49" charset="-122"/>
                <a:ea typeface="隶书" panose="02010509060101010101" pitchFamily="49" charset="-122"/>
              </a:rPr>
            </a:fld>
            <a:endParaRPr lang="en-US" altLang="zh-CN" sz="1200">
              <a:latin typeface="隶书" panose="02010509060101010101" pitchFamily="49" charset="-122"/>
              <a:ea typeface="隶书" panose="02010509060101010101" pitchFamily="49"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スライド イメージ プレースホルダ 1"/>
          <p:cNvSpPr>
            <a:spLocks noGrp="1" noRot="1" noChangeAspect="1" noChangeArrowheads="1" noTextEdit="1"/>
          </p:cNvSpPr>
          <p:nvPr>
            <p:ph type="sldImg"/>
          </p:nvPr>
        </p:nvSpPr>
        <p:spPr/>
      </p:sp>
      <p:sp>
        <p:nvSpPr>
          <p:cNvPr id="4099" name="ノート プレースホルダ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smtClean="0"/>
          </a:p>
        </p:txBody>
      </p:sp>
      <p:sp>
        <p:nvSpPr>
          <p:cNvPr id="4100" name="スライド番号プレースホルダ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50000"/>
              </a:spcBef>
            </a:pPr>
            <a:fld id="{4BA78B7C-FBE9-4C66-87F7-7BAB2164E567}" type="slidenum">
              <a:rPr lang="en-US" altLang="zh-CN" sz="1200">
                <a:latin typeface="隶书" panose="02010509060101010101" pitchFamily="49" charset="-122"/>
                <a:ea typeface="隶书" panose="02010509060101010101" pitchFamily="49" charset="-122"/>
              </a:rPr>
            </a:fld>
            <a:endParaRPr lang="en-US" altLang="zh-CN" sz="1200">
              <a:latin typeface="隶书" panose="02010509060101010101" pitchFamily="49" charset="-122"/>
              <a:ea typeface="隶书" panose="02010509060101010101" pitchFamily="49"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スライド イメージ プレースホルダ 1"/>
          <p:cNvSpPr>
            <a:spLocks noGrp="1" noRot="1" noChangeAspect="1" noChangeArrowheads="1" noTextEdit="1"/>
          </p:cNvSpPr>
          <p:nvPr>
            <p:ph type="sldImg"/>
          </p:nvPr>
        </p:nvSpPr>
        <p:spPr/>
      </p:sp>
      <p:sp>
        <p:nvSpPr>
          <p:cNvPr id="54275" name="ノート プレースホルダ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smtClean="0"/>
          </a:p>
        </p:txBody>
      </p:sp>
      <p:sp>
        <p:nvSpPr>
          <p:cNvPr id="54276" name="スライド番号プレースホルダ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50000"/>
              </a:spcBef>
            </a:pPr>
            <a:fld id="{5B7C4D64-3CC1-43D6-AAA2-0209E782F76F}" type="slidenum">
              <a:rPr lang="en-US" altLang="zh-CN" sz="1200">
                <a:latin typeface="隶书" panose="02010509060101010101" pitchFamily="49" charset="-122"/>
                <a:ea typeface="隶书" panose="02010509060101010101" pitchFamily="49" charset="-122"/>
              </a:rPr>
            </a:fld>
            <a:endParaRPr lang="en-US" altLang="zh-CN" sz="1200">
              <a:latin typeface="隶书" panose="02010509060101010101" pitchFamily="49" charset="-122"/>
              <a:ea typeface="隶书" panose="02010509060101010101" pitchFamily="49"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スライド イメージ プレースホルダ 1"/>
          <p:cNvSpPr>
            <a:spLocks noGrp="1" noRot="1" noChangeAspect="1" noChangeArrowheads="1" noTextEdit="1"/>
          </p:cNvSpPr>
          <p:nvPr>
            <p:ph type="sldImg"/>
          </p:nvPr>
        </p:nvSpPr>
        <p:spPr/>
      </p:sp>
      <p:sp>
        <p:nvSpPr>
          <p:cNvPr id="56323" name="ノート プレースホルダ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smtClean="0"/>
          </a:p>
        </p:txBody>
      </p:sp>
      <p:sp>
        <p:nvSpPr>
          <p:cNvPr id="56324" name="スライド番号プレースホルダ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50000"/>
              </a:spcBef>
            </a:pPr>
            <a:fld id="{798EF45C-B7E9-440D-A1B1-9529CA19A4A1}" type="slidenum">
              <a:rPr lang="en-US" altLang="zh-CN" sz="1200">
                <a:latin typeface="隶书" panose="02010509060101010101" pitchFamily="49" charset="-122"/>
                <a:ea typeface="隶书" panose="02010509060101010101" pitchFamily="49" charset="-122"/>
              </a:rPr>
            </a:fld>
            <a:endParaRPr lang="en-US" altLang="zh-CN" sz="1200">
              <a:latin typeface="隶书" panose="02010509060101010101" pitchFamily="49" charset="-122"/>
              <a:ea typeface="隶书" panose="02010509060101010101" pitchFamily="49"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スライド イメージ プレースホルダ 1"/>
          <p:cNvSpPr>
            <a:spLocks noGrp="1" noRot="1" noChangeAspect="1" noChangeArrowheads="1" noTextEdit="1"/>
          </p:cNvSpPr>
          <p:nvPr>
            <p:ph type="sldImg"/>
          </p:nvPr>
        </p:nvSpPr>
        <p:spPr/>
      </p:sp>
      <p:sp>
        <p:nvSpPr>
          <p:cNvPr id="4099" name="ノート プレースホルダ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smtClean="0"/>
          </a:p>
        </p:txBody>
      </p:sp>
      <p:sp>
        <p:nvSpPr>
          <p:cNvPr id="4100" name="スライド番号プレースホルダ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50000"/>
              </a:spcBef>
            </a:pPr>
            <a:fld id="{4BA78B7C-FBE9-4C66-87F7-7BAB2164E567}" type="slidenum">
              <a:rPr lang="en-US" altLang="zh-CN" sz="1200">
                <a:latin typeface="隶书" panose="02010509060101010101" pitchFamily="49" charset="-122"/>
                <a:ea typeface="隶书" panose="02010509060101010101" pitchFamily="49" charset="-122"/>
              </a:rPr>
            </a:fld>
            <a:endParaRPr lang="en-US" altLang="zh-CN" sz="1200">
              <a:latin typeface="隶书" panose="02010509060101010101" pitchFamily="49" charset="-122"/>
              <a:ea typeface="隶书" panose="02010509060101010101" pitchFamily="49"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スライド イメージ プレースホルダ 1"/>
          <p:cNvSpPr>
            <a:spLocks noGrp="1" noRot="1" noChangeAspect="1" noChangeArrowheads="1" noTextEdit="1"/>
          </p:cNvSpPr>
          <p:nvPr>
            <p:ph type="sldImg"/>
          </p:nvPr>
        </p:nvSpPr>
        <p:spPr/>
      </p:sp>
      <p:sp>
        <p:nvSpPr>
          <p:cNvPr id="62467" name="ノート プレースホルダ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smtClean="0"/>
          </a:p>
        </p:txBody>
      </p:sp>
      <p:sp>
        <p:nvSpPr>
          <p:cNvPr id="62468" name="スライド番号プレースホルダ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50000"/>
              </a:spcBef>
            </a:pPr>
            <a:fld id="{979E9C59-4774-435F-8F8E-5CDD31CFC394}" type="slidenum">
              <a:rPr lang="en-US" altLang="zh-CN" sz="1200">
                <a:latin typeface="隶书" panose="02010509060101010101" pitchFamily="49" charset="-122"/>
                <a:ea typeface="隶书" panose="02010509060101010101" pitchFamily="49" charset="-122"/>
              </a:rPr>
            </a:fld>
            <a:endParaRPr lang="en-US" altLang="zh-CN" sz="1200">
              <a:latin typeface="隶书" panose="02010509060101010101" pitchFamily="49" charset="-122"/>
              <a:ea typeface="隶书" panose="02010509060101010101" pitchFamily="49"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スライド イメージ プレースホルダ 1"/>
          <p:cNvSpPr>
            <a:spLocks noGrp="1" noRot="1" noChangeAspect="1" noChangeArrowheads="1" noTextEdit="1"/>
          </p:cNvSpPr>
          <p:nvPr>
            <p:ph type="sldImg"/>
          </p:nvPr>
        </p:nvSpPr>
        <p:spPr/>
      </p:sp>
      <p:sp>
        <p:nvSpPr>
          <p:cNvPr id="62467" name="ノート プレースホルダ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smtClean="0"/>
          </a:p>
        </p:txBody>
      </p:sp>
      <p:sp>
        <p:nvSpPr>
          <p:cNvPr id="62468" name="スライド番号プレースホルダ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50000"/>
              </a:spcBef>
            </a:pPr>
            <a:fld id="{979E9C59-4774-435F-8F8E-5CDD31CFC394}" type="slidenum">
              <a:rPr lang="en-US" altLang="zh-CN" sz="1200">
                <a:latin typeface="隶书" panose="02010509060101010101" pitchFamily="49" charset="-122"/>
                <a:ea typeface="隶书" panose="02010509060101010101" pitchFamily="49" charset="-122"/>
              </a:rPr>
            </a:fld>
            <a:endParaRPr lang="en-US" altLang="zh-CN" sz="1200">
              <a:latin typeface="隶书" panose="02010509060101010101" pitchFamily="49" charset="-122"/>
              <a:ea typeface="隶书" panose="02010509060101010101" pitchFamily="49"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スライド イメージ プレースホルダ 1"/>
          <p:cNvSpPr>
            <a:spLocks noGrp="1" noRot="1" noChangeAspect="1" noChangeArrowheads="1" noTextEdit="1"/>
          </p:cNvSpPr>
          <p:nvPr>
            <p:ph type="sldImg"/>
          </p:nvPr>
        </p:nvSpPr>
        <p:spPr/>
      </p:sp>
      <p:sp>
        <p:nvSpPr>
          <p:cNvPr id="64515" name="ノート プレースホルダ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smtClean="0"/>
          </a:p>
        </p:txBody>
      </p:sp>
      <p:sp>
        <p:nvSpPr>
          <p:cNvPr id="64516" name="スライド番号プレースホルダ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50000"/>
              </a:spcBef>
            </a:pPr>
            <a:fld id="{85994D36-02AA-4B47-8263-AED2EFE62C9C}" type="slidenum">
              <a:rPr lang="en-US" altLang="zh-CN" sz="1200">
                <a:latin typeface="隶书" panose="02010509060101010101" pitchFamily="49" charset="-122"/>
                <a:ea typeface="隶书" panose="02010509060101010101" pitchFamily="49" charset="-122"/>
              </a:rPr>
            </a:fld>
            <a:endParaRPr lang="en-US" altLang="zh-CN" sz="1200">
              <a:latin typeface="隶书" panose="02010509060101010101" pitchFamily="49" charset="-122"/>
              <a:ea typeface="隶书" panose="02010509060101010101" pitchFamily="49"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スライド イメージ プレースホルダ 1"/>
          <p:cNvSpPr>
            <a:spLocks noGrp="1" noRot="1" noChangeAspect="1" noChangeArrowheads="1" noTextEdit="1"/>
          </p:cNvSpPr>
          <p:nvPr>
            <p:ph type="sldImg"/>
          </p:nvPr>
        </p:nvSpPr>
        <p:spPr/>
      </p:sp>
      <p:sp>
        <p:nvSpPr>
          <p:cNvPr id="66563" name="ノート プレースホルダ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smtClean="0"/>
          </a:p>
        </p:txBody>
      </p:sp>
      <p:sp>
        <p:nvSpPr>
          <p:cNvPr id="66564" name="スライド番号プレースホルダ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50000"/>
              </a:spcBef>
            </a:pPr>
            <a:fld id="{00E76416-D604-421C-B475-43D5353700EC}" type="slidenum">
              <a:rPr lang="en-US" altLang="zh-CN" sz="1200">
                <a:latin typeface="隶书" panose="02010509060101010101" pitchFamily="49" charset="-122"/>
                <a:ea typeface="隶书" panose="02010509060101010101" pitchFamily="49" charset="-122"/>
              </a:rPr>
            </a:fld>
            <a:endParaRPr lang="en-US" altLang="zh-CN" sz="1200">
              <a:latin typeface="隶书" panose="02010509060101010101" pitchFamily="49" charset="-122"/>
              <a:ea typeface="隶书" panose="02010509060101010101" pitchFamily="49"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スライド イメージ プレースホルダ 1"/>
          <p:cNvSpPr>
            <a:spLocks noGrp="1" noRot="1" noChangeAspect="1" noChangeArrowheads="1" noTextEdit="1"/>
          </p:cNvSpPr>
          <p:nvPr>
            <p:ph type="sldImg"/>
          </p:nvPr>
        </p:nvSpPr>
        <p:spPr/>
      </p:sp>
      <p:sp>
        <p:nvSpPr>
          <p:cNvPr id="68611" name="ノート プレースホルダ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smtClean="0"/>
          </a:p>
        </p:txBody>
      </p:sp>
      <p:sp>
        <p:nvSpPr>
          <p:cNvPr id="68612" name="スライド番号プレースホルダ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50000"/>
              </a:spcBef>
            </a:pPr>
            <a:fld id="{523E987D-B25C-4616-895F-35E1EA25B351}" type="slidenum">
              <a:rPr lang="en-US" altLang="zh-CN" sz="1200">
                <a:latin typeface="隶书" panose="02010509060101010101" pitchFamily="49" charset="-122"/>
                <a:ea typeface="隶书" panose="02010509060101010101" pitchFamily="49" charset="-122"/>
              </a:rPr>
            </a:fld>
            <a:endParaRPr lang="en-US" altLang="zh-CN" sz="1200">
              <a:latin typeface="隶书" panose="02010509060101010101" pitchFamily="49" charset="-122"/>
              <a:ea typeface="隶书" panose="02010509060101010101" pitchFamily="49"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スライド イメージ プレースホルダ 1"/>
          <p:cNvSpPr>
            <a:spLocks noGrp="1" noRot="1" noChangeAspect="1" noChangeArrowheads="1" noTextEdit="1"/>
          </p:cNvSpPr>
          <p:nvPr>
            <p:ph type="sldImg"/>
          </p:nvPr>
        </p:nvSpPr>
        <p:spPr/>
      </p:sp>
      <p:sp>
        <p:nvSpPr>
          <p:cNvPr id="70659" name="ノート プレースホルダ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smtClean="0"/>
          </a:p>
        </p:txBody>
      </p:sp>
      <p:sp>
        <p:nvSpPr>
          <p:cNvPr id="70660" name="スライド番号プレースホルダ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50000"/>
              </a:spcBef>
            </a:pPr>
            <a:fld id="{C4830F68-4774-4A3F-8342-9B58CC6BF84B}" type="slidenum">
              <a:rPr lang="en-US" altLang="zh-CN" sz="1200">
                <a:latin typeface="隶书" panose="02010509060101010101" pitchFamily="49" charset="-122"/>
                <a:ea typeface="隶书" panose="02010509060101010101" pitchFamily="49" charset="-122"/>
              </a:rPr>
            </a:fld>
            <a:endParaRPr lang="en-US" altLang="zh-CN" sz="1200">
              <a:latin typeface="隶书" panose="02010509060101010101" pitchFamily="49" charset="-122"/>
              <a:ea typeface="隶书" panose="02010509060101010101" pitchFamily="49"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4A063CA1-AFC1-4E9E-85EA-7CD225CCFFCA}" type="slidenum">
              <a:rPr lang="zh-CN" altLang="en-US"/>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9585BF5F-FFEC-445E-A1BD-F3E58895434C}" type="slidenum">
              <a:rPr lang="zh-CN" altLang="en-US"/>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E4AD6328-84A8-46E0-8920-577F435AE2F0}" type="slidenum">
              <a:rPr lang="zh-CN" altLang="en-US"/>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CA55A6F6-6EA7-4D30-A8CA-B4E3C1BF8F0D}" type="slidenum">
              <a:rPr lang="zh-CN" altLang="en-US"/>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4DD14C45-5E7D-4D16-ACD3-D9E4E38018D1}" type="slidenum">
              <a:rPr lang="zh-CN" altLang="en-US"/>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C3966101-0F7C-4B79-A44F-F4275B83C7BF}" type="slidenum">
              <a:rPr lang="zh-CN" altLang="en-US"/>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BC88FDFF-F4D1-4423-B118-49416D3D5049}" type="slidenum">
              <a:rPr lang="zh-CN" altLang="en-US"/>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B930EAC3-57CB-4645-A4A3-54A02B98DC1C}" type="slidenum">
              <a:rPr lang="zh-CN" altLang="en-US"/>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F53F3C66-44DD-495F-9942-D9D070E928FC}" type="slidenum">
              <a:rPr lang="zh-CN" altLang="en-US"/>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2672CCB6-08BD-4E00-9C8F-5DFEE5E889AA}" type="slidenum">
              <a:rPr lang="zh-CN" altLang="en-US"/>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2BED314D-C6B2-4F17-8B88-DAEE2AE1C595}" type="slidenum">
              <a:rPr lang="zh-CN" altLang="en-US"/>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219200"/>
            <a:ext cx="7924800" cy="914400"/>
          </a:xfrm>
          <a:custGeom>
            <a:avLst/>
            <a:gdLst>
              <a:gd name="T0" fmla="*/ 0 w 1000"/>
              <a:gd name="T1" fmla="*/ 1000 h 1000"/>
              <a:gd name="T2" fmla="*/ 0 w 1000"/>
              <a:gd name="T3" fmla="*/ 0 h 1000"/>
              <a:gd name="T4" fmla="*/ 1000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 name="Line 8"/>
          <p:cNvSpPr>
            <a:spLocks noChangeShapeType="1"/>
          </p:cNvSpPr>
          <p:nvPr/>
        </p:nvSpPr>
        <p:spPr bwMode="auto">
          <a:xfrm>
            <a:off x="1981200" y="3962400"/>
            <a:ext cx="6511925" cy="0"/>
          </a:xfrm>
          <a:prstGeom prst="line">
            <a:avLst/>
          </a:prstGeom>
          <a:noFill/>
          <a:ln w="19050">
            <a:solidFill>
              <a:schemeClr val="accent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2" name="Rectangle 2"/>
          <p:cNvSpPr>
            <a:spLocks noGrp="1" noChangeArrowheads="1"/>
          </p:cNvSpPr>
          <p:nvPr>
            <p:ph type="ctrTitle"/>
          </p:nvPr>
        </p:nvSpPr>
        <p:spPr>
          <a:xfrm>
            <a:off x="914400" y="1524000"/>
            <a:ext cx="7623175" cy="1752600"/>
          </a:xfrm>
        </p:spPr>
        <p:txBody>
          <a:bodyPr/>
          <a:lstStyle>
            <a:lvl1pPr>
              <a:defRPr sz="5000"/>
            </a:lvl1pPr>
          </a:lstStyle>
          <a:p>
            <a:r>
              <a:rPr lang="zh-CN" altLang="en-US"/>
              <a:t>单击此处编辑母版标题样式</a:t>
            </a:r>
            <a:endParaRPr lang="zh-CN" altLang="en-US"/>
          </a:p>
        </p:txBody>
      </p:sp>
      <p:sp>
        <p:nvSpPr>
          <p:cNvPr id="5123" name="Rectangle 3"/>
          <p:cNvSpPr>
            <a:spLocks noGrp="1" noChangeArrowheads="1"/>
          </p:cNvSpPr>
          <p:nvPr>
            <p:ph type="subTitle" idx="1"/>
          </p:nvPr>
        </p:nvSpPr>
        <p:spPr>
          <a:xfrm>
            <a:off x="1981200" y="3962400"/>
            <a:ext cx="6553200" cy="1752600"/>
          </a:xfrm>
        </p:spPr>
        <p:txBody>
          <a:bodyPr/>
          <a:lstStyle>
            <a:lvl1pPr marL="0" indent="0">
              <a:buFont typeface="Wingdings" panose="05000000000000000000" pitchFamily="2" charset="2"/>
              <a:buNone/>
              <a:defRPr sz="2800"/>
            </a:lvl1pPr>
          </a:lstStyle>
          <a:p>
            <a:r>
              <a:rPr lang="zh-CN" altLang="en-US"/>
              <a:t>单击此处编辑母版副标题样式</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smtClean="0"/>
            </a:lvl1pPr>
          </a:lstStyle>
          <a:p>
            <a:pPr>
              <a:defRPr/>
            </a:pPr>
            <a:fld id="{A5A0C473-30B1-4FAD-81EA-88C1DCD0C0AA}" type="slidenum">
              <a:rPr lang="zh-CN" altLang="en-US"/>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B93A7F3C-2558-4387-BD53-CADCA4D14A82}" type="slidenum">
              <a:rPr lang="zh-CN" altLang="en-US"/>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C4D07AD5-5D5B-4395-84CC-260DC76DBF0E}" type="slidenum">
              <a:rPr lang="zh-CN" altLang="en-US"/>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B32766FF-4FE7-4B70-9368-FF6E32FA1F15}" type="slidenum">
              <a:rPr lang="zh-CN" altLang="en-US"/>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D8982541-BDF8-4420-9CF1-AD8D5D7259BC}" type="slidenum">
              <a:rPr lang="zh-CN" altLang="en-US"/>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322D5396-4059-4B0A-8E8E-3660E5748EDC}" type="slidenum">
              <a:rPr lang="zh-CN" altLang="en-US"/>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11ADFA89-EF5D-49F0-969B-D036EFDD2700}" type="slidenum">
              <a:rPr lang="zh-CN" altLang="en-US"/>
            </a:fld>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AACB9E58-99F0-4FA5-8F83-C33507D31A2C}" type="slidenum">
              <a:rPr lang="zh-CN" altLang="en-US"/>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44011EB5-32F2-4E6F-B4AC-3837E0C7CDC7}" type="slidenum">
              <a:rPr lang="zh-CN" altLang="en-US"/>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22EFB173-3F64-4983-AA4F-FB774A24FF47}" type="slidenum">
              <a:rPr lang="zh-CN" altLang="en-US"/>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16A8769B-4F4A-4555-89DB-B3ED8CAB61F5}" type="slidenum">
              <a:rPr lang="zh-CN" altLang="en-US"/>
            </a:fld>
            <a:endParaRPr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600200"/>
            <a:ext cx="4038600" cy="21891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941763"/>
            <a:ext cx="4038600" cy="218916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Rectangle 4"/>
          <p:cNvSpPr>
            <a:spLocks noGrp="1" noChangeArrowheads="1"/>
          </p:cNvSpPr>
          <p:nvPr>
            <p:ph type="dt" sz="half" idx="10"/>
          </p:nvPr>
        </p:nvSpPr>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p:txBody>
          <a:bodyPr/>
          <a:lstStyle>
            <a:lvl1pPr>
              <a:defRPr/>
            </a:lvl1pPr>
          </a:lstStyle>
          <a:p>
            <a:pPr>
              <a:defRPr/>
            </a:pPr>
            <a:fld id="{DEE1C12D-E7A2-44B6-B1F5-C53611C35D88}" type="slidenum">
              <a:rPr lang="zh-CN" altLang="en-US"/>
            </a:fld>
            <a:endParaRPr lang="en-US" altLang="zh-CN"/>
          </a:p>
        </p:txBody>
      </p:sp>
    </p:spTree>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endParaRPr lang="zh-CN" altLang="en-US"/>
          </a:p>
        </p:txBody>
      </p:sp>
      <p:sp>
        <p:nvSpPr>
          <p:cNvPr id="3" name="表格占位符 2"/>
          <p:cNvSpPr>
            <a:spLocks noGrp="1"/>
          </p:cNvSpPr>
          <p:nvPr>
            <p:ph type="tbl" idx="1" hasCustomPrompt="1"/>
          </p:nvPr>
        </p:nvSpPr>
        <p:spPr>
          <a:xfrm>
            <a:off x="457200" y="1600200"/>
            <a:ext cx="8229600" cy="4530725"/>
          </a:xfrm>
        </p:spPr>
        <p:txBody>
          <a:bodyPr/>
          <a:lstStyle/>
          <a:p>
            <a:pPr lvl="0"/>
            <a:r>
              <a:rPr lang="zh-CN" altLang="en-US" noProof="0"/>
              <a:t>单击图标添加表格</a:t>
            </a:r>
            <a:endParaRPr lang="zh-CN" altLang="en-US" noProof="0"/>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3AD39E91-45D6-4E0F-8557-D80D9A0E0FDF}" type="slidenum">
              <a:rPr lang="zh-CN" altLang="en-US"/>
            </a:fld>
            <a:endParaRPr lang="en-US" altLang="zh-CN"/>
          </a:p>
        </p:txBody>
      </p:sp>
    </p:spTree>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7813"/>
            <a:ext cx="8229600" cy="1139825"/>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457200" y="1600200"/>
            <a:ext cx="4038600" cy="21891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600200"/>
            <a:ext cx="4038600" cy="21891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57200" y="3941763"/>
            <a:ext cx="4038600" cy="218916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48200" y="3941763"/>
            <a:ext cx="4038600" cy="218916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76B2DCFB-35BC-44F7-A4C8-0A053FBDCBA1}" type="slidenum">
              <a:rPr lang="zh-CN" altLang="en-US"/>
            </a:fld>
            <a:endParaRPr lang="en-US" altLang="zh-CN"/>
          </a:p>
        </p:txBody>
      </p:sp>
    </p:spTree>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307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593B583B-935C-4EAC-ADD6-6E56259857F3}" type="slidenum">
              <a:rPr lang="zh-CN" altLang="en-US"/>
            </a:fld>
            <a:endParaRPr lang="en-US" altLang="zh-CN"/>
          </a:p>
        </p:txBody>
      </p:sp>
    </p:spTree>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307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600200"/>
            <a:ext cx="4038600" cy="21891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941763"/>
            <a:ext cx="4038600" cy="218916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Rectangle 4"/>
          <p:cNvSpPr>
            <a:spLocks noGrp="1" noChangeArrowheads="1"/>
          </p:cNvSpPr>
          <p:nvPr>
            <p:ph type="dt" sz="half" idx="10"/>
          </p:nvPr>
        </p:nvSpPr>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p:txBody>
          <a:bodyPr/>
          <a:lstStyle>
            <a:lvl1pPr>
              <a:defRPr/>
            </a:lvl1pPr>
          </a:lstStyle>
          <a:p>
            <a:pPr>
              <a:defRPr/>
            </a:pPr>
            <a:fld id="{93781FD3-B108-43D5-8CC2-46AAE699B868}" type="slidenum">
              <a:rPr lang="zh-CN" altLang="en-US"/>
            </a:fld>
            <a:endParaRPr lang="en-US" altLang="zh-CN"/>
          </a:p>
        </p:txBody>
      </p:sp>
    </p:spTree>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7813"/>
            <a:ext cx="8229600" cy="58531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F34754D1-05EB-498D-928F-4758F88D5413}" type="slidenum">
              <a:rPr lang="zh-CN" altLang="en-US"/>
            </a:fld>
            <a:endParaRPr lang="en-US" altLang="zh-CN"/>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8" Type="http://schemas.openxmlformats.org/officeDocument/2006/relationships/theme" Target="../theme/theme2.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17476" name="Rectangle 4"/>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Times New Roman" panose="02020603050405020304" pitchFamily="18" charset="0"/>
                <a:ea typeface="+mn-ea"/>
              </a:defRPr>
            </a:lvl1pPr>
          </a:lstStyle>
          <a:p>
            <a:pPr>
              <a:defRPr/>
            </a:pPr>
            <a:endParaRPr lang="en-US" altLang="zh-CN"/>
          </a:p>
        </p:txBody>
      </p:sp>
      <p:sp>
        <p:nvSpPr>
          <p:cNvPr id="617477"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Times New Roman" panose="02020603050405020304" pitchFamily="18" charset="0"/>
                <a:ea typeface="+mn-ea"/>
              </a:defRPr>
            </a:lvl1pPr>
          </a:lstStyle>
          <a:p>
            <a:pPr>
              <a:defRPr/>
            </a:pPr>
            <a:endParaRPr lang="en-US" altLang="zh-CN"/>
          </a:p>
        </p:txBody>
      </p:sp>
      <p:sp>
        <p:nvSpPr>
          <p:cNvPr id="617478"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smtClean="0">
                <a:latin typeface="Times New Roman" panose="02020603050405020304" pitchFamily="18" charset="0"/>
                <a:ea typeface="宋体" panose="02010600030101010101" pitchFamily="2" charset="-122"/>
              </a:defRPr>
            </a:lvl1pPr>
          </a:lstStyle>
          <a:p>
            <a:pPr>
              <a:defRPr/>
            </a:pPr>
            <a:fld id="{C35CD429-7F72-4899-863E-E90AA81C26AA}" type="slidenum">
              <a:rPr lang="zh-CN" altLang="en-US"/>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单击此处编辑母版标题样式</a:t>
            </a:r>
            <a:endParaRPr lang="zh-CN" altLang="en-US"/>
          </a:p>
        </p:txBody>
      </p:sp>
      <p:sp>
        <p:nvSpPr>
          <p:cNvPr id="2051" name="Rectangle 3"/>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100" name="Rectangle 4"/>
          <p:cNvSpPr>
            <a:spLocks noGrp="1" noChangeArrowheads="1"/>
          </p:cNvSpPr>
          <p:nvPr>
            <p:ph type="dt" sz="half" idx="2"/>
          </p:nvPr>
        </p:nvSpPr>
        <p:spPr bwMode="auto">
          <a:xfrm>
            <a:off x="457200" y="6243638"/>
            <a:ext cx="21336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mj-lt"/>
              </a:defRPr>
            </a:lvl1pPr>
          </a:lstStyle>
          <a:p>
            <a:pPr>
              <a:defRPr/>
            </a:pPr>
            <a:endParaRPr lang="en-US" altLang="zh-CN"/>
          </a:p>
        </p:txBody>
      </p:sp>
      <p:sp>
        <p:nvSpPr>
          <p:cNvPr id="410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sz="1200">
                <a:latin typeface="+mj-lt"/>
              </a:defRPr>
            </a:lvl1pPr>
          </a:lstStyle>
          <a:p>
            <a:pPr>
              <a:defRPr/>
            </a:pPr>
            <a:endParaRPr lang="en-US" altLang="zh-CN"/>
          </a:p>
        </p:txBody>
      </p:sp>
      <p:sp>
        <p:nvSpPr>
          <p:cNvPr id="4102" name="Rectangle 6"/>
          <p:cNvSpPr>
            <a:spLocks noGrp="1" noChangeArrowheads="1"/>
          </p:cNvSpPr>
          <p:nvPr>
            <p:ph type="sldNum" sz="quarter" idx="4"/>
          </p:nvPr>
        </p:nvSpPr>
        <p:spPr bwMode="auto">
          <a:xfrm>
            <a:off x="6553200" y="6243638"/>
            <a:ext cx="21336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smtClean="0">
                <a:latin typeface="Garamond" panose="02020404030301010803" pitchFamily="18" charset="0"/>
              </a:defRPr>
            </a:lvl1pPr>
          </a:lstStyle>
          <a:p>
            <a:pPr>
              <a:defRPr/>
            </a:pPr>
            <a:fld id="{199C6CBC-BA2F-46AA-B4DC-2960C9D3C5F1}" type="slidenum">
              <a:rPr lang="zh-CN" altLang="en-US"/>
            </a:fld>
            <a:endParaRPr lang="en-US" altLang="zh-CN"/>
          </a:p>
        </p:txBody>
      </p:sp>
      <p:sp>
        <p:nvSpPr>
          <p:cNvPr id="2055" name="Freeform 7"/>
          <p:cNvSpPr>
            <a:spLocks noChangeArrowheads="1"/>
          </p:cNvSpPr>
          <p:nvPr/>
        </p:nvSpPr>
        <p:spPr bwMode="auto">
          <a:xfrm>
            <a:off x="381000" y="228600"/>
            <a:ext cx="8229600" cy="609600"/>
          </a:xfrm>
          <a:custGeom>
            <a:avLst/>
            <a:gdLst>
              <a:gd name="T0" fmla="*/ 0 w 1000"/>
              <a:gd name="T1" fmla="*/ 1000 h 1000"/>
              <a:gd name="T2" fmla="*/ 0 w 1000"/>
              <a:gd name="T3" fmla="*/ 0 h 1000"/>
              <a:gd name="T4" fmla="*/ 1000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56" name="Line 8"/>
          <p:cNvSpPr>
            <a:spLocks noChangeShapeType="1"/>
          </p:cNvSpPr>
          <p:nvPr/>
        </p:nvSpPr>
        <p:spPr bwMode="auto">
          <a:xfrm>
            <a:off x="457200" y="6172200"/>
            <a:ext cx="8229600" cy="0"/>
          </a:xfrm>
          <a:prstGeom prst="line">
            <a:avLst/>
          </a:prstGeom>
          <a:noFill/>
          <a:ln w="19050">
            <a:solidFill>
              <a:schemeClr val="accent1"/>
            </a:solidFill>
            <a:round/>
          </a:ln>
          <a:extLst>
            <a:ext uri="{909E8E84-426E-40DD-AFC4-6F175D3DCCD1}">
              <a14:hiddenFill xmlns:a14="http://schemas.microsoft.com/office/drawing/2010/main">
                <a:noFill/>
              </a14:hiddenFill>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dt="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5pPr>
      <a:lvl6pPr marL="457200" algn="l" rtl="0" eaLnBrk="1" fontAlgn="base" hangingPunct="1">
        <a:spcBef>
          <a:spcPct val="0"/>
        </a:spcBef>
        <a:spcAft>
          <a:spcPct val="0"/>
        </a:spcAft>
        <a:defRPr sz="4200">
          <a:solidFill>
            <a:schemeClr val="tx2"/>
          </a:solidFill>
          <a:latin typeface="Garamond" panose="02020404030301010803" pitchFamily="18" charset="0"/>
          <a:ea typeface="宋体" panose="02010600030101010101" pitchFamily="2" charset="-122"/>
        </a:defRPr>
      </a:lvl6pPr>
      <a:lvl7pPr marL="914400" algn="l" rtl="0" eaLnBrk="1" fontAlgn="base" hangingPunct="1">
        <a:spcBef>
          <a:spcPct val="0"/>
        </a:spcBef>
        <a:spcAft>
          <a:spcPct val="0"/>
        </a:spcAft>
        <a:defRPr sz="4200">
          <a:solidFill>
            <a:schemeClr val="tx2"/>
          </a:solidFill>
          <a:latin typeface="Garamond" panose="02020404030301010803" pitchFamily="18" charset="0"/>
          <a:ea typeface="宋体" panose="02010600030101010101" pitchFamily="2" charset="-122"/>
        </a:defRPr>
      </a:lvl7pPr>
      <a:lvl8pPr marL="1371600" algn="l" rtl="0" eaLnBrk="1" fontAlgn="base" hangingPunct="1">
        <a:spcBef>
          <a:spcPct val="0"/>
        </a:spcBef>
        <a:spcAft>
          <a:spcPct val="0"/>
        </a:spcAft>
        <a:defRPr sz="4200">
          <a:solidFill>
            <a:schemeClr val="tx2"/>
          </a:solidFill>
          <a:latin typeface="Garamond" panose="02020404030301010803" pitchFamily="18" charset="0"/>
          <a:ea typeface="宋体" panose="02010600030101010101" pitchFamily="2" charset="-122"/>
        </a:defRPr>
      </a:lvl8pPr>
      <a:lvl9pPr marL="1828800" algn="l" rtl="0" eaLnBrk="1" fontAlgn="base" hangingPunct="1">
        <a:spcBef>
          <a:spcPct val="0"/>
        </a:spcBef>
        <a:spcAft>
          <a:spcPct val="0"/>
        </a:spcAft>
        <a:defRPr sz="4200">
          <a:solidFill>
            <a:schemeClr val="tx2"/>
          </a:solidFill>
          <a:latin typeface="Garamond" panose="02020404030301010803"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vl6pPr marL="2138680" indent="-339725" algn="l" rtl="0" eaLnBrk="1" fontAlgn="base" hangingPunct="1">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6pPr>
      <a:lvl7pPr marL="2595880" indent="-339725" algn="l" rtl="0" eaLnBrk="1" fontAlgn="base" hangingPunct="1">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7pPr>
      <a:lvl8pPr marL="3053080" indent="-339725" algn="l" rtl="0" eaLnBrk="1" fontAlgn="base" hangingPunct="1">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8pPr>
      <a:lvl9pPr marL="3510280" indent="-339725" algn="l" rtl="0" eaLnBrk="1" fontAlgn="base" hangingPunct="1">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jpeg"/><Relationship Id="rId12" Type="http://schemas.openxmlformats.org/officeDocument/2006/relationships/slideLayout" Target="../slideLayouts/slideLayout13.xml"/><Relationship Id="rId11" Type="http://schemas.openxmlformats.org/officeDocument/2006/relationships/image" Target="../media/image11.wmf"/><Relationship Id="rId10" Type="http://schemas.openxmlformats.org/officeDocument/2006/relationships/image" Target="../media/image10.emf"/><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16.jpe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8.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9.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20.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1.jpeg"/></Relationships>
</file>

<file path=ppt/slides/_rels/slide13.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17.xml"/><Relationship Id="rId4" Type="http://schemas.openxmlformats.org/officeDocument/2006/relationships/image" Target="../media/image24.png"/><Relationship Id="rId3" Type="http://schemas.openxmlformats.org/officeDocument/2006/relationships/image" Target="../media/image23.wmf"/><Relationship Id="rId2" Type="http://schemas.openxmlformats.org/officeDocument/2006/relationships/oleObject" Target="../embeddings/oleObject1.bin"/><Relationship Id="rId1" Type="http://schemas.openxmlformats.org/officeDocument/2006/relationships/image" Target="../media/image22.png"/></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image" Target="../media/image27.wmf"/><Relationship Id="rId7" Type="http://schemas.openxmlformats.org/officeDocument/2006/relationships/oleObject" Target="../embeddings/oleObject4.bin"/><Relationship Id="rId6" Type="http://schemas.openxmlformats.org/officeDocument/2006/relationships/image" Target="../media/image26.wmf"/><Relationship Id="rId5" Type="http://schemas.openxmlformats.org/officeDocument/2006/relationships/oleObject" Target="../embeddings/oleObject3.bin"/><Relationship Id="rId4" Type="http://schemas.openxmlformats.org/officeDocument/2006/relationships/image" Target="../media/image14.png"/><Relationship Id="rId3" Type="http://schemas.openxmlformats.org/officeDocument/2006/relationships/image" Target="../media/image7.png"/><Relationship Id="rId2" Type="http://schemas.openxmlformats.org/officeDocument/2006/relationships/image" Target="../media/image25.wmf"/><Relationship Id="rId10" Type="http://schemas.openxmlformats.org/officeDocument/2006/relationships/vmlDrawing" Target="../drawings/vmlDrawing2.vml"/><Relationship Id="rId1" Type="http://schemas.openxmlformats.org/officeDocument/2006/relationships/oleObject" Target="../embeddings/oleObject2.bin"/></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9.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0.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0.png"/></Relationships>
</file>

<file path=ppt/slides/_rels/slide20.xml.rels><?xml version="1.0" encoding="UTF-8" standalone="yes"?>
<Relationships xmlns="http://schemas.openxmlformats.org/package/2006/relationships"><Relationship Id="rId7" Type="http://schemas.openxmlformats.org/officeDocument/2006/relationships/vmlDrawing" Target="../drawings/vmlDrawing3.vml"/><Relationship Id="rId6" Type="http://schemas.openxmlformats.org/officeDocument/2006/relationships/slideLayout" Target="../slideLayouts/slideLayout18.xml"/><Relationship Id="rId5" Type="http://schemas.openxmlformats.org/officeDocument/2006/relationships/image" Target="../media/image32.wmf"/><Relationship Id="rId4" Type="http://schemas.openxmlformats.org/officeDocument/2006/relationships/oleObject" Target="../embeddings/oleObject6.bin"/><Relationship Id="rId3" Type="http://schemas.openxmlformats.org/officeDocument/2006/relationships/image" Target="../media/image31.wmf"/><Relationship Id="rId2" Type="http://schemas.openxmlformats.org/officeDocument/2006/relationships/oleObject" Target="../embeddings/oleObject5.bin"/><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9" Type="http://schemas.openxmlformats.org/officeDocument/2006/relationships/image" Target="../media/image37.png"/><Relationship Id="rId8" Type="http://schemas.openxmlformats.org/officeDocument/2006/relationships/image" Target="../media/image36.wmf"/><Relationship Id="rId7" Type="http://schemas.openxmlformats.org/officeDocument/2006/relationships/oleObject" Target="../embeddings/oleObject10.bin"/><Relationship Id="rId6" Type="http://schemas.openxmlformats.org/officeDocument/2006/relationships/image" Target="../media/image35.wmf"/><Relationship Id="rId5" Type="http://schemas.openxmlformats.org/officeDocument/2006/relationships/oleObject" Target="../embeddings/oleObject9.bin"/><Relationship Id="rId4" Type="http://schemas.openxmlformats.org/officeDocument/2006/relationships/image" Target="../media/image34.wmf"/><Relationship Id="rId3" Type="http://schemas.openxmlformats.org/officeDocument/2006/relationships/oleObject" Target="../embeddings/oleObject8.bin"/><Relationship Id="rId2" Type="http://schemas.openxmlformats.org/officeDocument/2006/relationships/image" Target="../media/image33.wmf"/><Relationship Id="rId13" Type="http://schemas.openxmlformats.org/officeDocument/2006/relationships/vmlDrawing" Target="../drawings/vmlDrawing4.vml"/><Relationship Id="rId12" Type="http://schemas.openxmlformats.org/officeDocument/2006/relationships/slideLayout" Target="../slideLayouts/slideLayout18.xml"/><Relationship Id="rId11" Type="http://schemas.openxmlformats.org/officeDocument/2006/relationships/image" Target="../media/image39.png"/><Relationship Id="rId10" Type="http://schemas.openxmlformats.org/officeDocument/2006/relationships/image" Target="../media/image38.png"/><Relationship Id="rId1" Type="http://schemas.openxmlformats.org/officeDocument/2006/relationships/oleObject" Target="../embeddings/oleObject7.bin"/></Relationships>
</file>

<file path=ppt/slides/_rels/slide22.xml.rels><?xml version="1.0" encoding="UTF-8" standalone="yes"?>
<Relationships xmlns="http://schemas.openxmlformats.org/package/2006/relationships"><Relationship Id="rId9" Type="http://schemas.openxmlformats.org/officeDocument/2006/relationships/image" Target="../media/image44.png"/><Relationship Id="rId8" Type="http://schemas.openxmlformats.org/officeDocument/2006/relationships/image" Target="../media/image43.wmf"/><Relationship Id="rId7" Type="http://schemas.openxmlformats.org/officeDocument/2006/relationships/oleObject" Target="../embeddings/oleObject13.bin"/><Relationship Id="rId6" Type="http://schemas.openxmlformats.org/officeDocument/2006/relationships/image" Target="../media/image42.wmf"/><Relationship Id="rId5" Type="http://schemas.openxmlformats.org/officeDocument/2006/relationships/oleObject" Target="../embeddings/oleObject12.bin"/><Relationship Id="rId4" Type="http://schemas.openxmlformats.org/officeDocument/2006/relationships/image" Target="../media/image41.wmf"/><Relationship Id="rId3" Type="http://schemas.openxmlformats.org/officeDocument/2006/relationships/oleObject" Target="../embeddings/oleObject11.bin"/><Relationship Id="rId2" Type="http://schemas.openxmlformats.org/officeDocument/2006/relationships/image" Target="../media/image37.png"/><Relationship Id="rId11" Type="http://schemas.openxmlformats.org/officeDocument/2006/relationships/vmlDrawing" Target="../drawings/vmlDrawing5.vml"/><Relationship Id="rId10" Type="http://schemas.openxmlformats.org/officeDocument/2006/relationships/slideLayout" Target="../slideLayouts/slideLayout13.xml"/><Relationship Id="rId1" Type="http://schemas.openxmlformats.org/officeDocument/2006/relationships/image" Target="../media/image40.png"/></Relationships>
</file>

<file path=ppt/slides/_rels/slide23.xml.rels><?xml version="1.0" encoding="UTF-8" standalone="yes"?>
<Relationships xmlns="http://schemas.openxmlformats.org/package/2006/relationships"><Relationship Id="rId9" Type="http://schemas.openxmlformats.org/officeDocument/2006/relationships/image" Target="../media/image48.wmf"/><Relationship Id="rId8" Type="http://schemas.openxmlformats.org/officeDocument/2006/relationships/oleObject" Target="../embeddings/oleObject17.bin"/><Relationship Id="rId7" Type="http://schemas.openxmlformats.org/officeDocument/2006/relationships/image" Target="../media/image47.wmf"/><Relationship Id="rId6" Type="http://schemas.openxmlformats.org/officeDocument/2006/relationships/oleObject" Target="../embeddings/oleObject16.bin"/><Relationship Id="rId5" Type="http://schemas.openxmlformats.org/officeDocument/2006/relationships/image" Target="../media/image37.png"/><Relationship Id="rId4" Type="http://schemas.openxmlformats.org/officeDocument/2006/relationships/image" Target="../media/image46.wmf"/><Relationship Id="rId3" Type="http://schemas.openxmlformats.org/officeDocument/2006/relationships/oleObject" Target="../embeddings/oleObject15.bin"/><Relationship Id="rId2" Type="http://schemas.openxmlformats.org/officeDocument/2006/relationships/image" Target="../media/image45.wmf"/><Relationship Id="rId11" Type="http://schemas.openxmlformats.org/officeDocument/2006/relationships/vmlDrawing" Target="../drawings/vmlDrawing6.vml"/><Relationship Id="rId10" Type="http://schemas.openxmlformats.org/officeDocument/2006/relationships/slideLayout" Target="../slideLayouts/slideLayout13.xml"/><Relationship Id="rId1" Type="http://schemas.openxmlformats.org/officeDocument/2006/relationships/oleObject" Target="../embeddings/oleObject14.bin"/></Relationships>
</file>

<file path=ppt/slides/_rels/slide24.xml.rels><?xml version="1.0" encoding="UTF-8" standalone="yes"?>
<Relationships xmlns="http://schemas.openxmlformats.org/package/2006/relationships"><Relationship Id="rId9" Type="http://schemas.openxmlformats.org/officeDocument/2006/relationships/image" Target="../media/image53.png"/><Relationship Id="rId8" Type="http://schemas.openxmlformats.org/officeDocument/2006/relationships/image" Target="../media/image52.wmf"/><Relationship Id="rId7" Type="http://schemas.openxmlformats.org/officeDocument/2006/relationships/oleObject" Target="../embeddings/oleObject21.bin"/><Relationship Id="rId6" Type="http://schemas.openxmlformats.org/officeDocument/2006/relationships/image" Target="../media/image51.wmf"/><Relationship Id="rId5" Type="http://schemas.openxmlformats.org/officeDocument/2006/relationships/oleObject" Target="../embeddings/oleObject20.bin"/><Relationship Id="rId4" Type="http://schemas.openxmlformats.org/officeDocument/2006/relationships/image" Target="../media/image50.wmf"/><Relationship Id="rId3" Type="http://schemas.openxmlformats.org/officeDocument/2006/relationships/oleObject" Target="../embeddings/oleObject19.bin"/><Relationship Id="rId2" Type="http://schemas.openxmlformats.org/officeDocument/2006/relationships/image" Target="../media/image49.wmf"/><Relationship Id="rId11" Type="http://schemas.openxmlformats.org/officeDocument/2006/relationships/vmlDrawing" Target="../drawings/vmlDrawing7.vml"/><Relationship Id="rId10" Type="http://schemas.openxmlformats.org/officeDocument/2006/relationships/slideLayout" Target="../slideLayouts/slideLayout13.xml"/><Relationship Id="rId1" Type="http://schemas.openxmlformats.org/officeDocument/2006/relationships/oleObject" Target="../embeddings/oleObject18.bin"/></Relationships>
</file>

<file path=ppt/slides/_rels/slide25.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57.png"/><Relationship Id="rId7" Type="http://schemas.openxmlformats.org/officeDocument/2006/relationships/image" Target="../media/image56.wmf"/><Relationship Id="rId6" Type="http://schemas.openxmlformats.org/officeDocument/2006/relationships/oleObject" Target="../embeddings/oleObject24.bin"/><Relationship Id="rId5" Type="http://schemas.openxmlformats.org/officeDocument/2006/relationships/image" Target="../media/image55.wmf"/><Relationship Id="rId4" Type="http://schemas.openxmlformats.org/officeDocument/2006/relationships/oleObject" Target="../embeddings/oleObject23.bin"/><Relationship Id="rId3" Type="http://schemas.openxmlformats.org/officeDocument/2006/relationships/image" Target="../media/image54.wmf"/><Relationship Id="rId2" Type="http://schemas.openxmlformats.org/officeDocument/2006/relationships/oleObject" Target="../embeddings/oleObject22.bin"/><Relationship Id="rId10" Type="http://schemas.openxmlformats.org/officeDocument/2006/relationships/vmlDrawing" Target="../drawings/vmlDrawing8.vml"/><Relationship Id="rId1" Type="http://schemas.openxmlformats.org/officeDocument/2006/relationships/image" Target="../media/image37.png"/></Relationships>
</file>

<file path=ppt/slides/_rels/slide26.xml.rels><?xml version="1.0" encoding="UTF-8" standalone="yes"?>
<Relationships xmlns="http://schemas.openxmlformats.org/package/2006/relationships"><Relationship Id="rId9" Type="http://schemas.openxmlformats.org/officeDocument/2006/relationships/oleObject" Target="../embeddings/oleObject29.bin"/><Relationship Id="rId8" Type="http://schemas.openxmlformats.org/officeDocument/2006/relationships/image" Target="../media/image61.wmf"/><Relationship Id="rId7" Type="http://schemas.openxmlformats.org/officeDocument/2006/relationships/oleObject" Target="../embeddings/oleObject28.bin"/><Relationship Id="rId6" Type="http://schemas.openxmlformats.org/officeDocument/2006/relationships/image" Target="../media/image60.wmf"/><Relationship Id="rId5" Type="http://schemas.openxmlformats.org/officeDocument/2006/relationships/oleObject" Target="../embeddings/oleObject27.bin"/><Relationship Id="rId4" Type="http://schemas.openxmlformats.org/officeDocument/2006/relationships/image" Target="../media/image59.wmf"/><Relationship Id="rId3" Type="http://schemas.openxmlformats.org/officeDocument/2006/relationships/oleObject" Target="../embeddings/oleObject26.bin"/><Relationship Id="rId2" Type="http://schemas.openxmlformats.org/officeDocument/2006/relationships/image" Target="../media/image58.wmf"/><Relationship Id="rId12" Type="http://schemas.openxmlformats.org/officeDocument/2006/relationships/vmlDrawing" Target="../drawings/vmlDrawing9.vml"/><Relationship Id="rId11" Type="http://schemas.openxmlformats.org/officeDocument/2006/relationships/slideLayout" Target="../slideLayouts/slideLayout18.xml"/><Relationship Id="rId10" Type="http://schemas.openxmlformats.org/officeDocument/2006/relationships/image" Target="../media/image62.wmf"/><Relationship Id="rId1" Type="http://schemas.openxmlformats.org/officeDocument/2006/relationships/oleObject" Target="../embeddings/oleObject25.bin"/></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64.wmf"/><Relationship Id="rId1" Type="http://schemas.openxmlformats.org/officeDocument/2006/relationships/image" Target="../media/image63.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37.png"/></Relationships>
</file>

<file path=ppt/slides/_rels/slide29.xml.rels><?xml version="1.0" encoding="UTF-8" standalone="yes"?>
<Relationships xmlns="http://schemas.openxmlformats.org/package/2006/relationships"><Relationship Id="rId9" Type="http://schemas.openxmlformats.org/officeDocument/2006/relationships/image" Target="../media/image69.wmf"/><Relationship Id="rId8" Type="http://schemas.openxmlformats.org/officeDocument/2006/relationships/oleObject" Target="../embeddings/oleObject32.bin"/><Relationship Id="rId7" Type="http://schemas.openxmlformats.org/officeDocument/2006/relationships/image" Target="../media/image68.wmf"/><Relationship Id="rId6" Type="http://schemas.openxmlformats.org/officeDocument/2006/relationships/oleObject" Target="../embeddings/oleObject31.bin"/><Relationship Id="rId5" Type="http://schemas.openxmlformats.org/officeDocument/2006/relationships/image" Target="../media/image67.wmf"/><Relationship Id="rId4" Type="http://schemas.openxmlformats.org/officeDocument/2006/relationships/oleObject" Target="../embeddings/oleObject30.bin"/><Relationship Id="rId3" Type="http://schemas.openxmlformats.org/officeDocument/2006/relationships/image" Target="../media/image66.png"/><Relationship Id="rId2" Type="http://schemas.openxmlformats.org/officeDocument/2006/relationships/image" Target="../media/image65.png"/><Relationship Id="rId12" Type="http://schemas.openxmlformats.org/officeDocument/2006/relationships/vmlDrawing" Target="../drawings/vmlDrawing10.vml"/><Relationship Id="rId11" Type="http://schemas.openxmlformats.org/officeDocument/2006/relationships/slideLayout" Target="../slideLayouts/slideLayout18.xml"/><Relationship Id="rId10" Type="http://schemas.openxmlformats.org/officeDocument/2006/relationships/image" Target="../media/image70.png"/><Relationship Id="rId1" Type="http://schemas.openxmlformats.org/officeDocument/2006/relationships/image" Target="../media/image37.png"/></Relationships>
</file>

<file path=ppt/slides/_rels/slide30.xml.rels><?xml version="1.0" encoding="UTF-8" standalone="yes"?>
<Relationships xmlns="http://schemas.openxmlformats.org/package/2006/relationships"><Relationship Id="rId9" Type="http://schemas.openxmlformats.org/officeDocument/2006/relationships/image" Target="../media/image73.wmf"/><Relationship Id="rId8" Type="http://schemas.openxmlformats.org/officeDocument/2006/relationships/oleObject" Target="../embeddings/oleObject35.bin"/><Relationship Id="rId7" Type="http://schemas.openxmlformats.org/officeDocument/2006/relationships/image" Target="../media/image72.wmf"/><Relationship Id="rId6" Type="http://schemas.openxmlformats.org/officeDocument/2006/relationships/oleObject" Target="../embeddings/oleObject34.bin"/><Relationship Id="rId5" Type="http://schemas.openxmlformats.org/officeDocument/2006/relationships/image" Target="../media/image66.png"/><Relationship Id="rId4" Type="http://schemas.openxmlformats.org/officeDocument/2006/relationships/image" Target="../media/image65.png"/><Relationship Id="rId3" Type="http://schemas.openxmlformats.org/officeDocument/2006/relationships/image" Target="../media/image37.png"/><Relationship Id="rId2" Type="http://schemas.openxmlformats.org/officeDocument/2006/relationships/image" Target="../media/image71.wmf"/><Relationship Id="rId13" Type="http://schemas.openxmlformats.org/officeDocument/2006/relationships/vmlDrawing" Target="../drawings/vmlDrawing11.vml"/><Relationship Id="rId12" Type="http://schemas.openxmlformats.org/officeDocument/2006/relationships/slideLayout" Target="../slideLayouts/slideLayout18.xml"/><Relationship Id="rId11" Type="http://schemas.openxmlformats.org/officeDocument/2006/relationships/image" Target="../media/image74.wmf"/><Relationship Id="rId10" Type="http://schemas.openxmlformats.org/officeDocument/2006/relationships/oleObject" Target="../embeddings/oleObject36.bin"/><Relationship Id="rId1" Type="http://schemas.openxmlformats.org/officeDocument/2006/relationships/oleObject" Target="../embeddings/oleObject33.bin"/></Relationships>
</file>

<file path=ppt/slides/_rels/slide31.xml.rels><?xml version="1.0" encoding="UTF-8" standalone="yes"?>
<Relationships xmlns="http://schemas.openxmlformats.org/package/2006/relationships"><Relationship Id="rId9" Type="http://schemas.openxmlformats.org/officeDocument/2006/relationships/image" Target="../media/image79.wmf"/><Relationship Id="rId8" Type="http://schemas.openxmlformats.org/officeDocument/2006/relationships/oleObject" Target="../embeddings/oleObject40.bin"/><Relationship Id="rId7" Type="http://schemas.openxmlformats.org/officeDocument/2006/relationships/image" Target="../media/image78.wmf"/><Relationship Id="rId6" Type="http://schemas.openxmlformats.org/officeDocument/2006/relationships/oleObject" Target="../embeddings/oleObject39.bin"/><Relationship Id="rId5" Type="http://schemas.openxmlformats.org/officeDocument/2006/relationships/image" Target="../media/image77.wmf"/><Relationship Id="rId4" Type="http://schemas.openxmlformats.org/officeDocument/2006/relationships/oleObject" Target="../embeddings/oleObject38.bin"/><Relationship Id="rId3" Type="http://schemas.openxmlformats.org/officeDocument/2006/relationships/image" Target="../media/image76.wmf"/><Relationship Id="rId24" Type="http://schemas.openxmlformats.org/officeDocument/2006/relationships/vmlDrawing" Target="../drawings/vmlDrawing12.vml"/><Relationship Id="rId23" Type="http://schemas.openxmlformats.org/officeDocument/2006/relationships/slideLayout" Target="../slideLayouts/slideLayout18.xml"/><Relationship Id="rId22" Type="http://schemas.openxmlformats.org/officeDocument/2006/relationships/image" Target="../media/image86.png"/><Relationship Id="rId21" Type="http://schemas.openxmlformats.org/officeDocument/2006/relationships/image" Target="../media/image85.wmf"/><Relationship Id="rId20" Type="http://schemas.openxmlformats.org/officeDocument/2006/relationships/oleObject" Target="../embeddings/oleObject46.bin"/><Relationship Id="rId2" Type="http://schemas.openxmlformats.org/officeDocument/2006/relationships/oleObject" Target="../embeddings/oleObject37.bin"/><Relationship Id="rId19" Type="http://schemas.openxmlformats.org/officeDocument/2006/relationships/image" Target="../media/image84.wmf"/><Relationship Id="rId18" Type="http://schemas.openxmlformats.org/officeDocument/2006/relationships/oleObject" Target="../embeddings/oleObject45.bin"/><Relationship Id="rId17" Type="http://schemas.openxmlformats.org/officeDocument/2006/relationships/image" Target="../media/image83.wmf"/><Relationship Id="rId16" Type="http://schemas.openxmlformats.org/officeDocument/2006/relationships/oleObject" Target="../embeddings/oleObject44.bin"/><Relationship Id="rId15" Type="http://schemas.openxmlformats.org/officeDocument/2006/relationships/image" Target="../media/image82.wmf"/><Relationship Id="rId14" Type="http://schemas.openxmlformats.org/officeDocument/2006/relationships/oleObject" Target="../embeddings/oleObject43.bin"/><Relationship Id="rId13" Type="http://schemas.openxmlformats.org/officeDocument/2006/relationships/image" Target="../media/image81.wmf"/><Relationship Id="rId12" Type="http://schemas.openxmlformats.org/officeDocument/2006/relationships/oleObject" Target="../embeddings/oleObject42.bin"/><Relationship Id="rId11" Type="http://schemas.openxmlformats.org/officeDocument/2006/relationships/image" Target="../media/image80.wmf"/><Relationship Id="rId10" Type="http://schemas.openxmlformats.org/officeDocument/2006/relationships/oleObject" Target="../embeddings/oleObject41.bin"/><Relationship Id="rId1" Type="http://schemas.openxmlformats.org/officeDocument/2006/relationships/image" Target="../media/image7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13.xml"/><Relationship Id="rId2" Type="http://schemas.openxmlformats.org/officeDocument/2006/relationships/image" Target="../media/image87.wmf"/><Relationship Id="rId1" Type="http://schemas.openxmlformats.org/officeDocument/2006/relationships/oleObject" Target="../embeddings/oleObject47.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88.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89.jpeg"/><Relationship Id="rId1" Type="http://schemas.openxmlformats.org/officeDocument/2006/relationships/image" Target="../media/image37.png"/></Relationships>
</file>

<file path=ppt/slides/_rels/slide39.xml.rels><?xml version="1.0" encoding="UTF-8" standalone="yes"?>
<Relationships xmlns="http://schemas.openxmlformats.org/package/2006/relationships"><Relationship Id="rId6" Type="http://schemas.openxmlformats.org/officeDocument/2006/relationships/vmlDrawing" Target="../drawings/vmlDrawing14.vml"/><Relationship Id="rId5" Type="http://schemas.openxmlformats.org/officeDocument/2006/relationships/slideLayout" Target="../slideLayouts/slideLayout13.xml"/><Relationship Id="rId4" Type="http://schemas.openxmlformats.org/officeDocument/2006/relationships/image" Target="../media/image91.wmf"/><Relationship Id="rId3" Type="http://schemas.openxmlformats.org/officeDocument/2006/relationships/oleObject" Target="../embeddings/oleObject49.bin"/><Relationship Id="rId2" Type="http://schemas.openxmlformats.org/officeDocument/2006/relationships/image" Target="../media/image90.wmf"/><Relationship Id="rId1" Type="http://schemas.openxmlformats.org/officeDocument/2006/relationships/oleObject" Target="../embeddings/oleObject48.bin"/></Relationships>
</file>

<file path=ppt/slides/_rels/slide40.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95.wmf"/><Relationship Id="rId7" Type="http://schemas.openxmlformats.org/officeDocument/2006/relationships/oleObject" Target="../embeddings/oleObject53.bin"/><Relationship Id="rId6" Type="http://schemas.openxmlformats.org/officeDocument/2006/relationships/image" Target="../media/image94.wmf"/><Relationship Id="rId5" Type="http://schemas.openxmlformats.org/officeDocument/2006/relationships/oleObject" Target="../embeddings/oleObject52.bin"/><Relationship Id="rId4" Type="http://schemas.openxmlformats.org/officeDocument/2006/relationships/image" Target="../media/image93.wmf"/><Relationship Id="rId3" Type="http://schemas.openxmlformats.org/officeDocument/2006/relationships/oleObject" Target="../embeddings/oleObject51.bin"/><Relationship Id="rId2" Type="http://schemas.openxmlformats.org/officeDocument/2006/relationships/image" Target="../media/image92.wmf"/><Relationship Id="rId10" Type="http://schemas.openxmlformats.org/officeDocument/2006/relationships/vmlDrawing" Target="../drawings/vmlDrawing15.vml"/><Relationship Id="rId1" Type="http://schemas.openxmlformats.org/officeDocument/2006/relationships/oleObject" Target="../embeddings/oleObject50.bin"/></Relationships>
</file>

<file path=ppt/slides/_rels/slide41.xml.rels><?xml version="1.0" encoding="UTF-8" standalone="yes"?>
<Relationships xmlns="http://schemas.openxmlformats.org/package/2006/relationships"><Relationship Id="rId6" Type="http://schemas.openxmlformats.org/officeDocument/2006/relationships/vmlDrawing" Target="../drawings/vmlDrawing16.vml"/><Relationship Id="rId5" Type="http://schemas.openxmlformats.org/officeDocument/2006/relationships/slideLayout" Target="../slideLayouts/slideLayout13.xml"/><Relationship Id="rId4" Type="http://schemas.openxmlformats.org/officeDocument/2006/relationships/image" Target="../media/image91.wmf"/><Relationship Id="rId3" Type="http://schemas.openxmlformats.org/officeDocument/2006/relationships/oleObject" Target="../embeddings/oleObject55.bin"/><Relationship Id="rId2" Type="http://schemas.openxmlformats.org/officeDocument/2006/relationships/image" Target="../media/image96.wmf"/><Relationship Id="rId1" Type="http://schemas.openxmlformats.org/officeDocument/2006/relationships/oleObject" Target="../embeddings/oleObject54.bin"/></Relationships>
</file>

<file path=ppt/slides/_rels/slide42.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99.wmf"/><Relationship Id="rId7" Type="http://schemas.openxmlformats.org/officeDocument/2006/relationships/oleObject" Target="../embeddings/oleObject59.bin"/><Relationship Id="rId6" Type="http://schemas.openxmlformats.org/officeDocument/2006/relationships/image" Target="../media/image95.wmf"/><Relationship Id="rId5" Type="http://schemas.openxmlformats.org/officeDocument/2006/relationships/oleObject" Target="../embeddings/oleObject58.bin"/><Relationship Id="rId4" Type="http://schemas.openxmlformats.org/officeDocument/2006/relationships/image" Target="../media/image98.wmf"/><Relationship Id="rId3" Type="http://schemas.openxmlformats.org/officeDocument/2006/relationships/oleObject" Target="../embeddings/oleObject57.bin"/><Relationship Id="rId2" Type="http://schemas.openxmlformats.org/officeDocument/2006/relationships/image" Target="../media/image97.wmf"/><Relationship Id="rId10" Type="http://schemas.openxmlformats.org/officeDocument/2006/relationships/vmlDrawing" Target="../drawings/vmlDrawing17.vml"/><Relationship Id="rId1" Type="http://schemas.openxmlformats.org/officeDocument/2006/relationships/oleObject" Target="../embeddings/oleObject56.bin"/></Relationships>
</file>

<file path=ppt/slides/_rels/slide43.xml.rels><?xml version="1.0" encoding="UTF-8" standalone="yes"?>
<Relationships xmlns="http://schemas.openxmlformats.org/package/2006/relationships"><Relationship Id="rId6" Type="http://schemas.openxmlformats.org/officeDocument/2006/relationships/vmlDrawing" Target="../drawings/vmlDrawing18.vml"/><Relationship Id="rId5" Type="http://schemas.openxmlformats.org/officeDocument/2006/relationships/slideLayout" Target="../slideLayouts/slideLayout18.xml"/><Relationship Id="rId4" Type="http://schemas.openxmlformats.org/officeDocument/2006/relationships/image" Target="../media/image101.emf"/><Relationship Id="rId3" Type="http://schemas.openxmlformats.org/officeDocument/2006/relationships/oleObject" Target="../embeddings/oleObject61.bin"/><Relationship Id="rId2" Type="http://schemas.openxmlformats.org/officeDocument/2006/relationships/image" Target="../media/image100.wmf"/><Relationship Id="rId1" Type="http://schemas.openxmlformats.org/officeDocument/2006/relationships/oleObject" Target="../embeddings/oleObject60.bin"/></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4.wmf"/><Relationship Id="rId1" Type="http://schemas.openxmlformats.org/officeDocument/2006/relationships/image" Target="../media/image102.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4.wmf"/><Relationship Id="rId1" Type="http://schemas.openxmlformats.org/officeDocument/2006/relationships/image" Target="../media/image10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7.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7.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0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image" Target="../media/image105.jpeg"/></Relationships>
</file>

<file path=ppt/slides/_rels/slide60.xml.rels><?xml version="1.0" encoding="UTF-8" standalone="yes"?>
<Relationships xmlns="http://schemas.openxmlformats.org/package/2006/relationships"><Relationship Id="rId4" Type="http://schemas.openxmlformats.org/officeDocument/2006/relationships/vmlDrawing" Target="../drawings/vmlDrawing19.vml"/><Relationship Id="rId3" Type="http://schemas.openxmlformats.org/officeDocument/2006/relationships/slideLayout" Target="../slideLayouts/slideLayout13.xml"/><Relationship Id="rId2" Type="http://schemas.openxmlformats.org/officeDocument/2006/relationships/image" Target="../media/image106.wmf"/><Relationship Id="rId1" Type="http://schemas.openxmlformats.org/officeDocument/2006/relationships/oleObject" Target="../embeddings/oleObject62.bin"/></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image" Target="../media/image107.jpe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audio" Target="../media/audio1.wav"/></Relationships>
</file>

<file path=ppt/slides/_rels/slide64.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vmlDrawing" Target="../drawings/vmlDrawing20.vml"/><Relationship Id="rId3" Type="http://schemas.openxmlformats.org/officeDocument/2006/relationships/slideLayout" Target="../slideLayouts/slideLayout13.xml"/><Relationship Id="rId2" Type="http://schemas.openxmlformats.org/officeDocument/2006/relationships/image" Target="../media/image108.wmf"/><Relationship Id="rId1" Type="http://schemas.openxmlformats.org/officeDocument/2006/relationships/oleObject" Target="../embeddings/oleObject63.bin"/></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image" Target="../media/image109.wmf"/></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113.png"/><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image" Target="../media/image110.png"/></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15.png"/><Relationship Id="rId1" Type="http://schemas.openxmlformats.org/officeDocument/2006/relationships/image" Target="../media/image11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image" Target="../media/image121.png"/><Relationship Id="rId5" Type="http://schemas.openxmlformats.org/officeDocument/2006/relationships/image" Target="../media/image120.png"/><Relationship Id="rId4" Type="http://schemas.openxmlformats.org/officeDocument/2006/relationships/image" Target="../media/image119.png"/><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image" Target="../media/image116.png"/></Relationships>
</file>

<file path=ppt/slides/_rels/slide72.xml.rels><?xml version="1.0" encoding="UTF-8" standalone="yes"?>
<Relationships xmlns="http://schemas.openxmlformats.org/package/2006/relationships"><Relationship Id="rId5" Type="http://schemas.openxmlformats.org/officeDocument/2006/relationships/vmlDrawing" Target="../drawings/vmlDrawing21.vml"/><Relationship Id="rId4" Type="http://schemas.openxmlformats.org/officeDocument/2006/relationships/slideLayout" Target="../slideLayouts/slideLayout13.xml"/><Relationship Id="rId3" Type="http://schemas.openxmlformats.org/officeDocument/2006/relationships/image" Target="../media/image123.png"/><Relationship Id="rId2" Type="http://schemas.openxmlformats.org/officeDocument/2006/relationships/image" Target="../media/image122.wmf"/><Relationship Id="rId1" Type="http://schemas.openxmlformats.org/officeDocument/2006/relationships/oleObject" Target="../embeddings/oleObject64.bin"/></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24.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2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9" Type="http://schemas.openxmlformats.org/officeDocument/2006/relationships/vmlDrawing" Target="../drawings/vmlDrawing22.vml"/><Relationship Id="rId8" Type="http://schemas.openxmlformats.org/officeDocument/2006/relationships/slideLayout" Target="../slideLayouts/slideLayout13.xml"/><Relationship Id="rId7" Type="http://schemas.openxmlformats.org/officeDocument/2006/relationships/image" Target="../media/image131.png"/><Relationship Id="rId6" Type="http://schemas.openxmlformats.org/officeDocument/2006/relationships/image" Target="../media/image130.png"/><Relationship Id="rId5" Type="http://schemas.openxmlformats.org/officeDocument/2006/relationships/image" Target="../media/image129.png"/><Relationship Id="rId4" Type="http://schemas.openxmlformats.org/officeDocument/2006/relationships/image" Target="../media/image128.png"/><Relationship Id="rId3" Type="http://schemas.openxmlformats.org/officeDocument/2006/relationships/image" Target="../media/image127.png"/><Relationship Id="rId2" Type="http://schemas.openxmlformats.org/officeDocument/2006/relationships/image" Target="../media/image126.wmf"/><Relationship Id="rId1" Type="http://schemas.openxmlformats.org/officeDocument/2006/relationships/oleObject" Target="../embeddings/oleObject65.bin"/></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133.png"/><Relationship Id="rId1" Type="http://schemas.openxmlformats.org/officeDocument/2006/relationships/image" Target="../media/image132.png"/></Relationships>
</file>

<file path=ppt/slides/_rels/slide81.xml.rels><?xml version="1.0" encoding="UTF-8" standalone="yes"?>
<Relationships xmlns="http://schemas.openxmlformats.org/package/2006/relationships"><Relationship Id="rId9" Type="http://schemas.openxmlformats.org/officeDocument/2006/relationships/image" Target="../media/image138.wmf"/><Relationship Id="rId8" Type="http://schemas.openxmlformats.org/officeDocument/2006/relationships/oleObject" Target="../embeddings/oleObject69.bin"/><Relationship Id="rId7" Type="http://schemas.openxmlformats.org/officeDocument/2006/relationships/image" Target="../media/image137.png"/><Relationship Id="rId6" Type="http://schemas.openxmlformats.org/officeDocument/2006/relationships/image" Target="../media/image136.wmf"/><Relationship Id="rId5" Type="http://schemas.openxmlformats.org/officeDocument/2006/relationships/oleObject" Target="../embeddings/oleObject68.bin"/><Relationship Id="rId4" Type="http://schemas.openxmlformats.org/officeDocument/2006/relationships/image" Target="../media/image135.wmf"/><Relationship Id="rId3" Type="http://schemas.openxmlformats.org/officeDocument/2006/relationships/oleObject" Target="../embeddings/oleObject67.bin"/><Relationship Id="rId2" Type="http://schemas.openxmlformats.org/officeDocument/2006/relationships/image" Target="../media/image134.wmf"/><Relationship Id="rId12" Type="http://schemas.openxmlformats.org/officeDocument/2006/relationships/notesSlide" Target="../notesSlides/notesSlide10.xml"/><Relationship Id="rId11" Type="http://schemas.openxmlformats.org/officeDocument/2006/relationships/vmlDrawing" Target="../drawings/vmlDrawing23.vml"/><Relationship Id="rId10" Type="http://schemas.openxmlformats.org/officeDocument/2006/relationships/slideLayout" Target="../slideLayouts/slideLayout26.xml"/><Relationship Id="rId1" Type="http://schemas.openxmlformats.org/officeDocument/2006/relationships/oleObject" Target="../embeddings/oleObject66.bin"/></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39.png"/></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41.png"/><Relationship Id="rId1" Type="http://schemas.openxmlformats.org/officeDocument/2006/relationships/image" Target="../media/image140.png"/></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image" Target="../media/image146.png"/><Relationship Id="rId4" Type="http://schemas.openxmlformats.org/officeDocument/2006/relationships/image" Target="../media/image145.png"/><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image" Target="../media/image142.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47.png"/></Relationships>
</file>

<file path=ppt/slides/_rels/slide89.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49.png"/><Relationship Id="rId2" Type="http://schemas.openxmlformats.org/officeDocument/2006/relationships/image" Target="../media/image148.png"/><Relationship Id="rId1" Type="http://schemas.openxmlformats.org/officeDocument/2006/relationships/image" Target="../media/image14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image" Target="../media/image154.png"/><Relationship Id="rId4" Type="http://schemas.openxmlformats.org/officeDocument/2006/relationships/image" Target="../media/image153.png"/><Relationship Id="rId3" Type="http://schemas.openxmlformats.org/officeDocument/2006/relationships/image" Target="../media/image152.png"/><Relationship Id="rId2" Type="http://schemas.openxmlformats.org/officeDocument/2006/relationships/image" Target="../media/image151.png"/><Relationship Id="rId1" Type="http://schemas.openxmlformats.org/officeDocument/2006/relationships/image" Target="../media/image150.png"/></Relationships>
</file>

<file path=ppt/slides/_rels/slide93.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56.png"/><Relationship Id="rId2" Type="http://schemas.openxmlformats.org/officeDocument/2006/relationships/image" Target="../media/image154.png"/><Relationship Id="rId1" Type="http://schemas.openxmlformats.org/officeDocument/2006/relationships/image" Target="../media/image155.png"/></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58.png"/><Relationship Id="rId1" Type="http://schemas.openxmlformats.org/officeDocument/2006/relationships/image" Target="../media/image157.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51.png"/><Relationship Id="rId2" Type="http://schemas.openxmlformats.org/officeDocument/2006/relationships/image" Target="../media/image160.png"/><Relationship Id="rId1" Type="http://schemas.openxmlformats.org/officeDocument/2006/relationships/image" Target="../media/image159.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62.png"/><Relationship Id="rId1" Type="http://schemas.openxmlformats.org/officeDocument/2006/relationships/image" Target="../media/image161.png"/></Relationships>
</file>

<file path=ppt/slides/_rels/slide102.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166.wmf"/><Relationship Id="rId7" Type="http://schemas.openxmlformats.org/officeDocument/2006/relationships/oleObject" Target="../embeddings/oleObject73.bin"/><Relationship Id="rId6" Type="http://schemas.openxmlformats.org/officeDocument/2006/relationships/image" Target="../media/image165.wmf"/><Relationship Id="rId5" Type="http://schemas.openxmlformats.org/officeDocument/2006/relationships/oleObject" Target="../embeddings/oleObject72.bin"/><Relationship Id="rId4" Type="http://schemas.openxmlformats.org/officeDocument/2006/relationships/image" Target="../media/image164.wmf"/><Relationship Id="rId3" Type="http://schemas.openxmlformats.org/officeDocument/2006/relationships/oleObject" Target="../embeddings/oleObject71.bin"/><Relationship Id="rId2" Type="http://schemas.openxmlformats.org/officeDocument/2006/relationships/image" Target="../media/image163.wmf"/><Relationship Id="rId11" Type="http://schemas.openxmlformats.org/officeDocument/2006/relationships/notesSlide" Target="../notesSlides/notesSlide15.xml"/><Relationship Id="rId10" Type="http://schemas.openxmlformats.org/officeDocument/2006/relationships/vmlDrawing" Target="../drawings/vmlDrawing24.vml"/><Relationship Id="rId1" Type="http://schemas.openxmlformats.org/officeDocument/2006/relationships/oleObject" Target="../embeddings/oleObject70.bin"/></Relationships>
</file>

<file path=ppt/slides/_rels/slide10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68.png"/><Relationship Id="rId1" Type="http://schemas.openxmlformats.org/officeDocument/2006/relationships/image" Target="../media/image167.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6" Type="http://schemas.openxmlformats.org/officeDocument/2006/relationships/vmlDrawing" Target="../drawings/vmlDrawing25.vml"/><Relationship Id="rId5" Type="http://schemas.openxmlformats.org/officeDocument/2006/relationships/slideLayout" Target="../slideLayouts/slideLayout13.xml"/><Relationship Id="rId4" Type="http://schemas.openxmlformats.org/officeDocument/2006/relationships/image" Target="../media/image171.png"/><Relationship Id="rId3" Type="http://schemas.openxmlformats.org/officeDocument/2006/relationships/image" Target="../media/image170.png"/><Relationship Id="rId2" Type="http://schemas.openxmlformats.org/officeDocument/2006/relationships/image" Target="../media/image169.wmf"/><Relationship Id="rId1" Type="http://schemas.openxmlformats.org/officeDocument/2006/relationships/oleObject" Target="../embeddings/oleObject74.bin"/></Relationships>
</file>

<file path=ppt/slides/_rels/slide106.xml.rels><?xml version="1.0" encoding="UTF-8" standalone="yes"?>
<Relationships xmlns="http://schemas.openxmlformats.org/package/2006/relationships"><Relationship Id="rId6" Type="http://schemas.openxmlformats.org/officeDocument/2006/relationships/vmlDrawing" Target="../drawings/vmlDrawing26.vml"/><Relationship Id="rId5" Type="http://schemas.openxmlformats.org/officeDocument/2006/relationships/slideLayout" Target="../slideLayouts/slideLayout13.xml"/><Relationship Id="rId4" Type="http://schemas.openxmlformats.org/officeDocument/2006/relationships/image" Target="../media/image172.png"/><Relationship Id="rId3" Type="http://schemas.openxmlformats.org/officeDocument/2006/relationships/image" Target="../media/image170.png"/><Relationship Id="rId2" Type="http://schemas.openxmlformats.org/officeDocument/2006/relationships/image" Target="../media/image169.wmf"/><Relationship Id="rId1" Type="http://schemas.openxmlformats.org/officeDocument/2006/relationships/oleObject" Target="../embeddings/oleObject75.bin"/></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3.xml"/><Relationship Id="rId4" Type="http://schemas.openxmlformats.org/officeDocument/2006/relationships/image" Target="../media/image176.png"/><Relationship Id="rId3" Type="http://schemas.openxmlformats.org/officeDocument/2006/relationships/image" Target="../media/image175.png"/><Relationship Id="rId2" Type="http://schemas.openxmlformats.org/officeDocument/2006/relationships/image" Target="../media/image174.png"/><Relationship Id="rId1" Type="http://schemas.openxmlformats.org/officeDocument/2006/relationships/image" Target="../media/image173.png"/></Relationships>
</file>

<file path=ppt/slides/_rels/slide109.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3.xml"/><Relationship Id="rId3" Type="http://schemas.openxmlformats.org/officeDocument/2006/relationships/image" Target="../media/image179.png"/><Relationship Id="rId2" Type="http://schemas.openxmlformats.org/officeDocument/2006/relationships/image" Target="../media/image178.png"/><Relationship Id="rId1" Type="http://schemas.openxmlformats.org/officeDocument/2006/relationships/image" Target="../media/image177.jpeg"/></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vmlDrawing" Target="../drawings/vmlDrawing27.vml"/><Relationship Id="rId5" Type="http://schemas.openxmlformats.org/officeDocument/2006/relationships/slideLayout" Target="../slideLayouts/slideLayout13.xml"/><Relationship Id="rId4" Type="http://schemas.openxmlformats.org/officeDocument/2006/relationships/image" Target="../media/image181.png"/><Relationship Id="rId3" Type="http://schemas.openxmlformats.org/officeDocument/2006/relationships/oleObject" Target="../embeddings/oleObject77.bin"/><Relationship Id="rId2" Type="http://schemas.openxmlformats.org/officeDocument/2006/relationships/image" Target="../media/image180.png"/><Relationship Id="rId1" Type="http://schemas.openxmlformats.org/officeDocument/2006/relationships/oleObject" Target="../embeddings/oleObject76.bin"/></Relationships>
</file>

<file path=ppt/slides/_rels/slide112.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vmlDrawing" Target="../drawings/vmlDrawing28.vml"/><Relationship Id="rId3" Type="http://schemas.openxmlformats.org/officeDocument/2006/relationships/slideLayout" Target="../slideLayouts/slideLayout13.xml"/><Relationship Id="rId2" Type="http://schemas.openxmlformats.org/officeDocument/2006/relationships/image" Target="../media/image182.png"/><Relationship Id="rId1" Type="http://schemas.openxmlformats.org/officeDocument/2006/relationships/oleObject" Target="../embeddings/oleObject78.bin"/></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image" Target="../media/image183.wmf"/></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619250" y="620713"/>
            <a:ext cx="5232400" cy="911225"/>
          </a:xfrm>
          <a:prstGeom prst="rect">
            <a:avLst/>
          </a:prstGeom>
          <a:solidFill>
            <a:schemeClr val="bg1"/>
          </a:solidFill>
        </p:spPr>
        <p:txBody>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5pPr>
            <a:lvl6pPr marL="457200" algn="l" rtl="0" eaLnBrk="1" fontAlgn="base" hangingPunct="1">
              <a:spcBef>
                <a:spcPct val="0"/>
              </a:spcBef>
              <a:spcAft>
                <a:spcPct val="0"/>
              </a:spcAft>
              <a:defRPr sz="4200">
                <a:solidFill>
                  <a:schemeClr val="tx2"/>
                </a:solidFill>
                <a:latin typeface="Garamond" panose="02020404030301010803" pitchFamily="18" charset="0"/>
                <a:ea typeface="宋体" panose="02010600030101010101" pitchFamily="2" charset="-122"/>
              </a:defRPr>
            </a:lvl6pPr>
            <a:lvl7pPr marL="914400" algn="l" rtl="0" eaLnBrk="1" fontAlgn="base" hangingPunct="1">
              <a:spcBef>
                <a:spcPct val="0"/>
              </a:spcBef>
              <a:spcAft>
                <a:spcPct val="0"/>
              </a:spcAft>
              <a:defRPr sz="4200">
                <a:solidFill>
                  <a:schemeClr val="tx2"/>
                </a:solidFill>
                <a:latin typeface="Garamond" panose="02020404030301010803" pitchFamily="18" charset="0"/>
                <a:ea typeface="宋体" panose="02010600030101010101" pitchFamily="2" charset="-122"/>
              </a:defRPr>
            </a:lvl7pPr>
            <a:lvl8pPr marL="1371600" algn="l" rtl="0" eaLnBrk="1" fontAlgn="base" hangingPunct="1">
              <a:spcBef>
                <a:spcPct val="0"/>
              </a:spcBef>
              <a:spcAft>
                <a:spcPct val="0"/>
              </a:spcAft>
              <a:defRPr sz="4200">
                <a:solidFill>
                  <a:schemeClr val="tx2"/>
                </a:solidFill>
                <a:latin typeface="Garamond" panose="02020404030301010803" pitchFamily="18" charset="0"/>
                <a:ea typeface="宋体" panose="02010600030101010101" pitchFamily="2" charset="-122"/>
              </a:defRPr>
            </a:lvl8pPr>
            <a:lvl9pPr marL="1828800" algn="l" rtl="0" eaLnBrk="1" fontAlgn="base" hangingPunct="1">
              <a:spcBef>
                <a:spcPct val="0"/>
              </a:spcBef>
              <a:spcAft>
                <a:spcPct val="0"/>
              </a:spcAft>
              <a:defRPr sz="4200">
                <a:solidFill>
                  <a:schemeClr val="tx2"/>
                </a:solidFill>
                <a:latin typeface="Garamond" panose="02020404030301010803" pitchFamily="18" charset="0"/>
                <a:ea typeface="宋体" panose="02010600030101010101" pitchFamily="2" charset="-122"/>
              </a:defRPr>
            </a:lvl9pPr>
          </a:lstStyle>
          <a:p>
            <a:pPr eaLnBrk="1" hangingPunct="1">
              <a:defRPr/>
            </a:pPr>
            <a:r>
              <a:rPr kumimoji="0" lang="zh-CN" altLang="en-US" sz="5400" b="1" kern="0" dirty="0" smtClean="0">
                <a:solidFill>
                  <a:srgbClr val="FF0000"/>
                </a:solidFill>
                <a:latin typeface="+mj-ea"/>
                <a:sym typeface="+mn-ea"/>
              </a:rPr>
              <a:t>第六章</a:t>
            </a:r>
            <a:r>
              <a:rPr kumimoji="0" lang="zh-CN" altLang="en-US" sz="5400" b="1" kern="0" dirty="0" smtClean="0">
                <a:solidFill>
                  <a:srgbClr val="FF0000"/>
                </a:solidFill>
                <a:latin typeface="+mj-ea"/>
              </a:rPr>
              <a:t>  土压力</a:t>
            </a:r>
            <a:endParaRPr kumimoji="0" lang="zh-CN" altLang="en-US" sz="5400" b="1" kern="0" dirty="0" smtClean="0">
              <a:solidFill>
                <a:srgbClr val="FF0000"/>
              </a:solidFill>
              <a:latin typeface="+mj-ea"/>
            </a:endParaRPr>
          </a:p>
        </p:txBody>
      </p:sp>
      <p:sp>
        <p:nvSpPr>
          <p:cNvPr id="3" name="矩形 2"/>
          <p:cNvSpPr/>
          <p:nvPr/>
        </p:nvSpPr>
        <p:spPr>
          <a:xfrm>
            <a:off x="1331912" y="1844675"/>
            <a:ext cx="6624463" cy="3322955"/>
          </a:xfrm>
          <a:prstGeom prst="rect">
            <a:avLst/>
          </a:prstGeom>
        </p:spPr>
        <p:txBody>
          <a:bodyPr wrap="square">
            <a:spAutoFit/>
          </a:bodyPr>
          <a:lstStyle/>
          <a:p>
            <a:pPr eaLnBrk="1" hangingPunct="1">
              <a:lnSpc>
                <a:spcPct val="150000"/>
              </a:lnSpc>
              <a:defRPr/>
            </a:pPr>
            <a:r>
              <a:rPr lang="en-US" altLang="zh-CN" dirty="0">
                <a:latin typeface="Times New Roman" panose="02020603050405020304" pitchFamily="18" charset="0"/>
                <a:ea typeface="+mj-ea"/>
                <a:cs typeface="Times New Roman" panose="02020603050405020304" pitchFamily="18" charset="0"/>
              </a:rPr>
              <a:t>§ 6</a:t>
            </a:r>
            <a:r>
              <a:rPr lang="en-US" altLang="zh-CN" b="1" dirty="0">
                <a:latin typeface="Times New Roman" panose="02020603050405020304" pitchFamily="18" charset="0"/>
                <a:ea typeface="+mj-ea"/>
                <a:cs typeface="Times New Roman" panose="02020603050405020304" pitchFamily="18" charset="0"/>
              </a:rPr>
              <a:t>.1 </a:t>
            </a:r>
            <a:r>
              <a:rPr lang="zh-CN" altLang="en-US" b="1" dirty="0">
                <a:latin typeface="Times New Roman" panose="02020603050405020304" pitchFamily="18" charset="0"/>
                <a:ea typeface="+mj-ea"/>
                <a:cs typeface="Times New Roman" panose="02020603050405020304" pitchFamily="18" charset="0"/>
              </a:rPr>
              <a:t>概述</a:t>
            </a:r>
            <a:endParaRPr lang="zh-CN" altLang="en-US" b="1" dirty="0">
              <a:latin typeface="Times New Roman" panose="02020603050405020304" pitchFamily="18" charset="0"/>
              <a:ea typeface="+mj-ea"/>
              <a:cs typeface="Times New Roman" panose="02020603050405020304" pitchFamily="18" charset="0"/>
            </a:endParaRPr>
          </a:p>
          <a:p>
            <a:pPr eaLnBrk="1" hangingPunct="1">
              <a:lnSpc>
                <a:spcPct val="150000"/>
              </a:lnSpc>
              <a:defRPr/>
            </a:pPr>
            <a:r>
              <a:rPr lang="en-US" altLang="zh-CN" dirty="0">
                <a:latin typeface="Times New Roman" panose="02020603050405020304" pitchFamily="18" charset="0"/>
                <a:ea typeface="+mj-ea"/>
                <a:cs typeface="Times New Roman" panose="02020603050405020304" pitchFamily="18" charset="0"/>
              </a:rPr>
              <a:t>§ 6</a:t>
            </a:r>
            <a:r>
              <a:rPr lang="en-US" altLang="zh-CN" b="1" dirty="0">
                <a:latin typeface="Times New Roman" panose="02020603050405020304" pitchFamily="18" charset="0"/>
                <a:ea typeface="+mj-ea"/>
                <a:cs typeface="Times New Roman" panose="02020603050405020304" pitchFamily="18" charset="0"/>
              </a:rPr>
              <a:t>.2 </a:t>
            </a:r>
            <a:r>
              <a:rPr lang="zh-CN" altLang="en-US" b="1" dirty="0">
                <a:latin typeface="Times New Roman" panose="02020603050405020304" pitchFamily="18" charset="0"/>
                <a:ea typeface="+mj-ea"/>
                <a:cs typeface="Times New Roman" panose="02020603050405020304" pitchFamily="18" charset="0"/>
              </a:rPr>
              <a:t>挡土墙侧的土压力</a:t>
            </a:r>
            <a:endParaRPr lang="zh-CN" altLang="en-US" b="1" dirty="0">
              <a:latin typeface="Times New Roman" panose="02020603050405020304" pitchFamily="18" charset="0"/>
              <a:ea typeface="+mj-ea"/>
              <a:cs typeface="Times New Roman" panose="02020603050405020304" pitchFamily="18" charset="0"/>
            </a:endParaRPr>
          </a:p>
          <a:p>
            <a:pPr eaLnBrk="1" hangingPunct="1">
              <a:lnSpc>
                <a:spcPct val="150000"/>
              </a:lnSpc>
              <a:defRPr/>
            </a:pPr>
            <a:r>
              <a:rPr lang="en-US" altLang="zh-CN" dirty="0">
                <a:latin typeface="Times New Roman" panose="02020603050405020304" pitchFamily="18" charset="0"/>
                <a:ea typeface="+mj-ea"/>
                <a:cs typeface="Times New Roman" panose="02020603050405020304" pitchFamily="18" charset="0"/>
              </a:rPr>
              <a:t>§ 6</a:t>
            </a:r>
            <a:r>
              <a:rPr lang="en-US" altLang="zh-CN" b="1" dirty="0">
                <a:latin typeface="Times New Roman" panose="02020603050405020304" pitchFamily="18" charset="0"/>
                <a:ea typeface="+mj-ea"/>
                <a:cs typeface="Times New Roman" panose="02020603050405020304" pitchFamily="18" charset="0"/>
              </a:rPr>
              <a:t>.3 </a:t>
            </a:r>
            <a:r>
              <a:rPr lang="zh-CN" altLang="en-US" b="1" dirty="0">
                <a:latin typeface="Times New Roman" panose="02020603050405020304" pitchFamily="18" charset="0"/>
                <a:ea typeface="+mj-ea"/>
                <a:cs typeface="Times New Roman" panose="02020603050405020304" pitchFamily="18" charset="0"/>
              </a:rPr>
              <a:t>朗肯土压力理论</a:t>
            </a:r>
            <a:endParaRPr lang="zh-CN" altLang="en-US" b="1" dirty="0">
              <a:latin typeface="Times New Roman" panose="02020603050405020304" pitchFamily="18" charset="0"/>
              <a:ea typeface="+mj-ea"/>
              <a:cs typeface="Times New Roman" panose="02020603050405020304" pitchFamily="18" charset="0"/>
            </a:endParaRPr>
          </a:p>
          <a:p>
            <a:pPr eaLnBrk="1" hangingPunct="1">
              <a:lnSpc>
                <a:spcPct val="150000"/>
              </a:lnSpc>
              <a:defRPr/>
            </a:pPr>
            <a:r>
              <a:rPr lang="en-US" altLang="zh-CN" dirty="0">
                <a:latin typeface="Times New Roman" panose="02020603050405020304" pitchFamily="18" charset="0"/>
                <a:ea typeface="+mj-ea"/>
                <a:cs typeface="Times New Roman" panose="02020603050405020304" pitchFamily="18" charset="0"/>
              </a:rPr>
              <a:t>§ 6</a:t>
            </a:r>
            <a:r>
              <a:rPr lang="en-US" altLang="zh-CN" b="1" dirty="0">
                <a:latin typeface="Times New Roman" panose="02020603050405020304" pitchFamily="18" charset="0"/>
                <a:ea typeface="+mj-ea"/>
                <a:cs typeface="Times New Roman" panose="02020603050405020304" pitchFamily="18" charset="0"/>
              </a:rPr>
              <a:t>.4 </a:t>
            </a:r>
            <a:r>
              <a:rPr lang="zh-CN" altLang="en-US" b="1" dirty="0">
                <a:latin typeface="Times New Roman" panose="02020603050405020304" pitchFamily="18" charset="0"/>
                <a:ea typeface="+mj-ea"/>
                <a:cs typeface="Times New Roman" panose="02020603050405020304" pitchFamily="18" charset="0"/>
              </a:rPr>
              <a:t>库仑土压力理论</a:t>
            </a:r>
            <a:endParaRPr lang="zh-CN" altLang="en-US" b="1" dirty="0">
              <a:latin typeface="Times New Roman" panose="02020603050405020304" pitchFamily="18" charset="0"/>
              <a:ea typeface="+mj-ea"/>
              <a:cs typeface="Times New Roman" panose="02020603050405020304" pitchFamily="18" charset="0"/>
            </a:endParaRPr>
          </a:p>
          <a:p>
            <a:pPr eaLnBrk="1" hangingPunct="1">
              <a:lnSpc>
                <a:spcPct val="150000"/>
              </a:lnSpc>
              <a:defRPr/>
            </a:pPr>
            <a:r>
              <a:rPr lang="en-US" altLang="zh-CN" dirty="0">
                <a:latin typeface="Times New Roman" panose="02020603050405020304" pitchFamily="18" charset="0"/>
                <a:ea typeface="+mj-ea"/>
                <a:cs typeface="Times New Roman" panose="02020603050405020304" pitchFamily="18" charset="0"/>
              </a:rPr>
              <a:t>§ 6</a:t>
            </a:r>
            <a:r>
              <a:rPr lang="en-US" altLang="zh-CN" b="1" dirty="0">
                <a:latin typeface="Times New Roman" panose="02020603050405020304" pitchFamily="18" charset="0"/>
                <a:ea typeface="+mj-ea"/>
                <a:cs typeface="Times New Roman" panose="02020603050405020304" pitchFamily="18" charset="0"/>
              </a:rPr>
              <a:t>.5 </a:t>
            </a:r>
            <a:r>
              <a:rPr lang="zh-CN" altLang="en-US" b="1" dirty="0">
                <a:latin typeface="Times New Roman" panose="02020603050405020304" pitchFamily="18" charset="0"/>
                <a:ea typeface="+mj-ea"/>
                <a:cs typeface="Times New Roman" panose="02020603050405020304" pitchFamily="18" charset="0"/>
              </a:rPr>
              <a:t>朗肯理论与库仑理论的比较</a:t>
            </a:r>
            <a:endParaRPr lang="zh-CN" altLang="en-US" b="1" dirty="0">
              <a:latin typeface="Times New Roman" panose="02020603050405020304" pitchFamily="18" charset="0"/>
              <a:ea typeface="+mj-ea"/>
              <a:cs typeface="Times New Roman" panose="02020603050405020304" pitchFamily="18" charset="0"/>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619250" y="620713"/>
            <a:ext cx="5232400" cy="911225"/>
          </a:xfrm>
          <a:prstGeom prst="rect">
            <a:avLst/>
          </a:prstGeom>
          <a:solidFill>
            <a:schemeClr val="bg1"/>
          </a:solidFill>
        </p:spPr>
        <p:txBody>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5pPr>
            <a:lvl6pPr marL="457200" algn="l" rtl="0" eaLnBrk="1" fontAlgn="base" hangingPunct="1">
              <a:spcBef>
                <a:spcPct val="0"/>
              </a:spcBef>
              <a:spcAft>
                <a:spcPct val="0"/>
              </a:spcAft>
              <a:defRPr sz="4200">
                <a:solidFill>
                  <a:schemeClr val="tx2"/>
                </a:solidFill>
                <a:latin typeface="Garamond" panose="02020404030301010803" pitchFamily="18" charset="0"/>
                <a:ea typeface="宋体" panose="02010600030101010101" pitchFamily="2" charset="-122"/>
              </a:defRPr>
            </a:lvl6pPr>
            <a:lvl7pPr marL="914400" algn="l" rtl="0" eaLnBrk="1" fontAlgn="base" hangingPunct="1">
              <a:spcBef>
                <a:spcPct val="0"/>
              </a:spcBef>
              <a:spcAft>
                <a:spcPct val="0"/>
              </a:spcAft>
              <a:defRPr sz="4200">
                <a:solidFill>
                  <a:schemeClr val="tx2"/>
                </a:solidFill>
                <a:latin typeface="Garamond" panose="02020404030301010803" pitchFamily="18" charset="0"/>
                <a:ea typeface="宋体" panose="02010600030101010101" pitchFamily="2" charset="-122"/>
              </a:defRPr>
            </a:lvl7pPr>
            <a:lvl8pPr marL="1371600" algn="l" rtl="0" eaLnBrk="1" fontAlgn="base" hangingPunct="1">
              <a:spcBef>
                <a:spcPct val="0"/>
              </a:spcBef>
              <a:spcAft>
                <a:spcPct val="0"/>
              </a:spcAft>
              <a:defRPr sz="4200">
                <a:solidFill>
                  <a:schemeClr val="tx2"/>
                </a:solidFill>
                <a:latin typeface="Garamond" panose="02020404030301010803" pitchFamily="18" charset="0"/>
                <a:ea typeface="宋体" panose="02010600030101010101" pitchFamily="2" charset="-122"/>
              </a:defRPr>
            </a:lvl8pPr>
            <a:lvl9pPr marL="1828800" algn="l" rtl="0" eaLnBrk="1" fontAlgn="base" hangingPunct="1">
              <a:spcBef>
                <a:spcPct val="0"/>
              </a:spcBef>
              <a:spcAft>
                <a:spcPct val="0"/>
              </a:spcAft>
              <a:defRPr sz="4200">
                <a:solidFill>
                  <a:schemeClr val="tx2"/>
                </a:solidFill>
                <a:latin typeface="Garamond" panose="02020404030301010803" pitchFamily="18" charset="0"/>
                <a:ea typeface="宋体" panose="02010600030101010101" pitchFamily="2" charset="-122"/>
              </a:defRPr>
            </a:lvl9pPr>
          </a:lstStyle>
          <a:p>
            <a:pPr eaLnBrk="1" hangingPunct="1">
              <a:defRPr/>
            </a:pPr>
            <a:r>
              <a:rPr kumimoji="0" lang="zh-CN" altLang="en-US" sz="5400" b="1" kern="0" dirty="0" smtClean="0">
                <a:solidFill>
                  <a:srgbClr val="FF0000"/>
                </a:solidFill>
                <a:latin typeface="+mj-ea"/>
              </a:rPr>
              <a:t>第六章  土压力</a:t>
            </a:r>
            <a:endParaRPr kumimoji="0" lang="zh-CN" altLang="en-US" sz="5400" b="1" kern="0" dirty="0" smtClean="0">
              <a:solidFill>
                <a:srgbClr val="FF0000"/>
              </a:solidFill>
              <a:latin typeface="+mj-ea"/>
            </a:endParaRPr>
          </a:p>
        </p:txBody>
      </p:sp>
      <p:sp>
        <p:nvSpPr>
          <p:cNvPr id="3" name="矩形 2"/>
          <p:cNvSpPr/>
          <p:nvPr/>
        </p:nvSpPr>
        <p:spPr>
          <a:xfrm>
            <a:off x="1331912" y="1844675"/>
            <a:ext cx="6696471" cy="3784600"/>
          </a:xfrm>
          <a:prstGeom prst="rect">
            <a:avLst/>
          </a:prstGeom>
        </p:spPr>
        <p:txBody>
          <a:bodyPr wrap="square">
            <a:spAutoFit/>
          </a:bodyPr>
          <a:lstStyle/>
          <a:p>
            <a:pPr eaLnBrk="1" hangingPunct="1">
              <a:lnSpc>
                <a:spcPct val="150000"/>
              </a:lnSpc>
              <a:defRPr/>
            </a:pPr>
            <a:r>
              <a:rPr lang="en-US" altLang="zh-CN" sz="3200" dirty="0">
                <a:latin typeface="Times New Roman" panose="02020603050405020304" pitchFamily="18" charset="0"/>
                <a:ea typeface="+mj-ea"/>
                <a:cs typeface="Times New Roman" panose="02020603050405020304" pitchFamily="18" charset="0"/>
              </a:rPr>
              <a:t>§ 6</a:t>
            </a:r>
            <a:r>
              <a:rPr lang="en-US" altLang="zh-CN" sz="3200" b="1" dirty="0">
                <a:latin typeface="Times New Roman" panose="02020603050405020304" pitchFamily="18" charset="0"/>
                <a:ea typeface="+mj-ea"/>
                <a:cs typeface="Times New Roman" panose="02020603050405020304" pitchFamily="18" charset="0"/>
              </a:rPr>
              <a:t>.1 </a:t>
            </a:r>
            <a:r>
              <a:rPr lang="zh-CN" altLang="en-US" sz="3200" b="1" dirty="0">
                <a:latin typeface="Times New Roman" panose="02020603050405020304" pitchFamily="18" charset="0"/>
                <a:ea typeface="+mj-ea"/>
                <a:cs typeface="Times New Roman" panose="02020603050405020304" pitchFamily="18" charset="0"/>
              </a:rPr>
              <a:t>概述</a:t>
            </a:r>
            <a:endParaRPr lang="zh-CN" altLang="en-US" sz="3200" b="1" dirty="0">
              <a:latin typeface="Times New Roman" panose="02020603050405020304" pitchFamily="18" charset="0"/>
              <a:ea typeface="+mj-ea"/>
              <a:cs typeface="Times New Roman" panose="02020603050405020304" pitchFamily="18" charset="0"/>
            </a:endParaRPr>
          </a:p>
          <a:p>
            <a:pPr eaLnBrk="1" hangingPunct="1">
              <a:lnSpc>
                <a:spcPct val="150000"/>
              </a:lnSpc>
              <a:defRPr/>
            </a:pPr>
            <a:r>
              <a:rPr lang="en-US" altLang="zh-CN" sz="3200" dirty="0">
                <a:solidFill>
                  <a:schemeClr val="bg1"/>
                </a:solidFill>
                <a:latin typeface="Times New Roman" panose="02020603050405020304" pitchFamily="18" charset="0"/>
                <a:ea typeface="+mj-ea"/>
                <a:cs typeface="Times New Roman" panose="02020603050405020304" pitchFamily="18" charset="0"/>
              </a:rPr>
              <a:t>§ 6</a:t>
            </a:r>
            <a:r>
              <a:rPr lang="en-US" altLang="zh-CN" sz="3200" b="1" dirty="0">
                <a:solidFill>
                  <a:schemeClr val="bg1"/>
                </a:solidFill>
                <a:latin typeface="Times New Roman" panose="02020603050405020304" pitchFamily="18" charset="0"/>
                <a:ea typeface="+mj-ea"/>
                <a:cs typeface="Times New Roman" panose="02020603050405020304" pitchFamily="18" charset="0"/>
              </a:rPr>
              <a:t>.2 </a:t>
            </a:r>
            <a:r>
              <a:rPr lang="zh-CN" altLang="en-US" sz="3200" b="1" dirty="0">
                <a:solidFill>
                  <a:schemeClr val="bg1"/>
                </a:solidFill>
                <a:latin typeface="Times New Roman" panose="02020603050405020304" pitchFamily="18" charset="0"/>
                <a:ea typeface="+mj-ea"/>
                <a:cs typeface="Times New Roman" panose="02020603050405020304" pitchFamily="18" charset="0"/>
              </a:rPr>
              <a:t>挡土墙侧的土压力</a:t>
            </a:r>
            <a:endParaRPr lang="zh-CN" altLang="en-US" sz="3200" b="1" dirty="0">
              <a:solidFill>
                <a:schemeClr val="bg1"/>
              </a:solidFill>
              <a:latin typeface="Times New Roman" panose="02020603050405020304" pitchFamily="18" charset="0"/>
              <a:ea typeface="+mj-ea"/>
              <a:cs typeface="Times New Roman" panose="02020603050405020304" pitchFamily="18" charset="0"/>
            </a:endParaRPr>
          </a:p>
          <a:p>
            <a:pPr eaLnBrk="1" hangingPunct="1">
              <a:lnSpc>
                <a:spcPct val="150000"/>
              </a:lnSpc>
              <a:defRPr/>
            </a:pPr>
            <a:r>
              <a:rPr lang="en-US" altLang="zh-CN" sz="3200" dirty="0">
                <a:solidFill>
                  <a:schemeClr val="bg1"/>
                </a:solidFill>
                <a:latin typeface="Times New Roman" panose="02020603050405020304" pitchFamily="18" charset="0"/>
                <a:ea typeface="+mj-ea"/>
                <a:cs typeface="Times New Roman" panose="02020603050405020304" pitchFamily="18" charset="0"/>
              </a:rPr>
              <a:t>§ 6</a:t>
            </a:r>
            <a:r>
              <a:rPr lang="en-US" altLang="zh-CN" sz="3200" b="1" dirty="0">
                <a:solidFill>
                  <a:schemeClr val="bg1"/>
                </a:solidFill>
                <a:latin typeface="Times New Roman" panose="02020603050405020304" pitchFamily="18" charset="0"/>
                <a:ea typeface="+mj-ea"/>
                <a:cs typeface="Times New Roman" panose="02020603050405020304" pitchFamily="18" charset="0"/>
              </a:rPr>
              <a:t>.3 </a:t>
            </a:r>
            <a:r>
              <a:rPr lang="zh-CN" altLang="en-US" sz="3200" b="1" dirty="0">
                <a:solidFill>
                  <a:schemeClr val="bg1"/>
                </a:solidFill>
                <a:latin typeface="Times New Roman" panose="02020603050405020304" pitchFamily="18" charset="0"/>
                <a:ea typeface="+mj-ea"/>
                <a:cs typeface="Times New Roman" panose="02020603050405020304" pitchFamily="18" charset="0"/>
              </a:rPr>
              <a:t>朗肯土压力理论</a:t>
            </a:r>
            <a:endParaRPr lang="zh-CN" altLang="en-US" sz="3200" b="1" dirty="0">
              <a:solidFill>
                <a:schemeClr val="bg1"/>
              </a:solidFill>
              <a:latin typeface="Times New Roman" panose="02020603050405020304" pitchFamily="18" charset="0"/>
              <a:ea typeface="+mj-ea"/>
              <a:cs typeface="Times New Roman" panose="02020603050405020304" pitchFamily="18" charset="0"/>
            </a:endParaRPr>
          </a:p>
          <a:p>
            <a:pPr eaLnBrk="1" hangingPunct="1">
              <a:lnSpc>
                <a:spcPct val="150000"/>
              </a:lnSpc>
              <a:defRPr/>
            </a:pPr>
            <a:r>
              <a:rPr lang="en-US" altLang="zh-CN" sz="3200" dirty="0">
                <a:solidFill>
                  <a:schemeClr val="bg1"/>
                </a:solidFill>
                <a:latin typeface="Times New Roman" panose="02020603050405020304" pitchFamily="18" charset="0"/>
                <a:ea typeface="+mj-ea"/>
                <a:cs typeface="Times New Roman" panose="02020603050405020304" pitchFamily="18" charset="0"/>
              </a:rPr>
              <a:t>§ 6</a:t>
            </a:r>
            <a:r>
              <a:rPr lang="en-US" altLang="zh-CN" sz="3200" b="1" dirty="0">
                <a:solidFill>
                  <a:schemeClr val="bg1"/>
                </a:solidFill>
                <a:latin typeface="Times New Roman" panose="02020603050405020304" pitchFamily="18" charset="0"/>
                <a:ea typeface="+mj-ea"/>
                <a:cs typeface="Times New Roman" panose="02020603050405020304" pitchFamily="18" charset="0"/>
              </a:rPr>
              <a:t>.4 </a:t>
            </a:r>
            <a:r>
              <a:rPr lang="zh-CN" altLang="en-US" sz="3200" b="1" dirty="0">
                <a:solidFill>
                  <a:schemeClr val="bg1"/>
                </a:solidFill>
                <a:latin typeface="Times New Roman" panose="02020603050405020304" pitchFamily="18" charset="0"/>
                <a:ea typeface="+mj-ea"/>
                <a:cs typeface="Times New Roman" panose="02020603050405020304" pitchFamily="18" charset="0"/>
              </a:rPr>
              <a:t>库仑土压力理论</a:t>
            </a:r>
            <a:endParaRPr lang="zh-CN" altLang="en-US" sz="3200" b="1" dirty="0">
              <a:solidFill>
                <a:schemeClr val="bg1"/>
              </a:solidFill>
              <a:latin typeface="Times New Roman" panose="02020603050405020304" pitchFamily="18" charset="0"/>
              <a:ea typeface="+mj-ea"/>
              <a:cs typeface="Times New Roman" panose="02020603050405020304" pitchFamily="18" charset="0"/>
            </a:endParaRPr>
          </a:p>
          <a:p>
            <a:pPr eaLnBrk="1" hangingPunct="1">
              <a:lnSpc>
                <a:spcPct val="150000"/>
              </a:lnSpc>
              <a:defRPr/>
            </a:pPr>
            <a:r>
              <a:rPr lang="en-US" altLang="zh-CN" sz="3200" dirty="0">
                <a:solidFill>
                  <a:schemeClr val="bg1"/>
                </a:solidFill>
                <a:latin typeface="Times New Roman" panose="02020603050405020304" pitchFamily="18" charset="0"/>
                <a:ea typeface="+mj-ea"/>
                <a:cs typeface="Times New Roman" panose="02020603050405020304" pitchFamily="18" charset="0"/>
              </a:rPr>
              <a:t>§ 6</a:t>
            </a:r>
            <a:r>
              <a:rPr lang="en-US" altLang="zh-CN" sz="3200" b="1" dirty="0">
                <a:solidFill>
                  <a:schemeClr val="bg1"/>
                </a:solidFill>
                <a:latin typeface="Times New Roman" panose="02020603050405020304" pitchFamily="18" charset="0"/>
                <a:ea typeface="+mj-ea"/>
                <a:cs typeface="Times New Roman" panose="02020603050405020304" pitchFamily="18" charset="0"/>
              </a:rPr>
              <a:t>.5 </a:t>
            </a:r>
            <a:r>
              <a:rPr lang="zh-CN" altLang="en-US" sz="3200" b="1" dirty="0">
                <a:solidFill>
                  <a:schemeClr val="bg1"/>
                </a:solidFill>
                <a:latin typeface="Times New Roman" panose="02020603050405020304" pitchFamily="18" charset="0"/>
                <a:ea typeface="+mj-ea"/>
                <a:cs typeface="Times New Roman" panose="02020603050405020304" pitchFamily="18" charset="0"/>
              </a:rPr>
              <a:t>朗肯理论与库仑理论的比较</a:t>
            </a:r>
            <a:endParaRPr lang="zh-CN" altLang="en-US" sz="3200" b="1" dirty="0">
              <a:solidFill>
                <a:schemeClr val="bg1"/>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type="body" idx="1"/>
          </p:nvPr>
        </p:nvSpPr>
        <p:spPr>
          <a:xfrm>
            <a:off x="684213" y="1125538"/>
            <a:ext cx="7921625" cy="4464050"/>
          </a:xfrm>
        </p:spPr>
        <p:txBody>
          <a:bodyPr/>
          <a:lstStyle/>
          <a:p>
            <a:pPr eaLnBrk="1" hangingPunct="1">
              <a:lnSpc>
                <a:spcPct val="150000"/>
              </a:lnSpc>
              <a:spcBef>
                <a:spcPct val="0"/>
              </a:spcBef>
              <a:buFont typeface="Wingdings" panose="05000000000000000000" pitchFamily="2" charset="2"/>
              <a:buChar char="Ø"/>
              <a:defRPr/>
            </a:pPr>
            <a:r>
              <a:rPr lang="zh-CN" altLang="en-US" sz="2400" b="1" dirty="0" smtClean="0">
                <a:solidFill>
                  <a:srgbClr val="FF0000"/>
                </a:solidFill>
                <a:latin typeface="+mn-ea"/>
              </a:rPr>
              <a:t>挡土墙</a:t>
            </a:r>
            <a:r>
              <a:rPr lang="zh-CN" altLang="en-US" sz="2400" b="1" dirty="0" smtClean="0">
                <a:latin typeface="+mn-ea"/>
              </a:rPr>
              <a:t>是一种常见的结构形式，可</a:t>
            </a:r>
            <a:r>
              <a:rPr lang="zh-CN" altLang="en-US" sz="2400" b="1" dirty="0" smtClean="0">
                <a:solidFill>
                  <a:srgbClr val="000000"/>
                </a:solidFill>
                <a:latin typeface="+mn-ea"/>
              </a:rPr>
              <a:t>用来支撑天然或人工斜坡不致坍塌，或使部分侧向荷载传递分散到填土上。</a:t>
            </a:r>
            <a:endParaRPr lang="zh-CN" altLang="en-US" sz="2400" b="1" dirty="0" smtClean="0">
              <a:solidFill>
                <a:srgbClr val="000000"/>
              </a:solidFill>
              <a:latin typeface="+mn-ea"/>
            </a:endParaRPr>
          </a:p>
          <a:p>
            <a:pPr eaLnBrk="1" hangingPunct="1">
              <a:lnSpc>
                <a:spcPct val="150000"/>
              </a:lnSpc>
              <a:spcBef>
                <a:spcPct val="0"/>
              </a:spcBef>
              <a:buFont typeface="Wingdings" panose="05000000000000000000" pitchFamily="2" charset="2"/>
              <a:buChar char="Ø"/>
              <a:defRPr/>
            </a:pPr>
            <a:r>
              <a:rPr lang="zh-CN" altLang="en-US" sz="2400" b="1" dirty="0">
                <a:solidFill>
                  <a:srgbClr val="FF0000"/>
                </a:solidFill>
              </a:rPr>
              <a:t>土压力</a:t>
            </a:r>
            <a:r>
              <a:rPr lang="zh-CN" altLang="en-US" sz="2400" b="1" dirty="0"/>
              <a:t>通常是指挡土墙后的填土因自重或外荷载作用对墙背产生的侧压力。</a:t>
            </a:r>
            <a:endParaRPr lang="zh-CN" altLang="en-US" sz="2400" b="1" dirty="0"/>
          </a:p>
          <a:p>
            <a:pPr eaLnBrk="1" hangingPunct="1">
              <a:lnSpc>
                <a:spcPct val="150000"/>
              </a:lnSpc>
              <a:spcBef>
                <a:spcPct val="0"/>
              </a:spcBef>
              <a:buFont typeface="Wingdings" panose="05000000000000000000" pitchFamily="2" charset="2"/>
              <a:buChar char="Ø"/>
              <a:defRPr/>
            </a:pPr>
            <a:r>
              <a:rPr lang="zh-CN" altLang="en-US" sz="2400" b="1" dirty="0"/>
              <a:t>由于土压力是挡土墙的主要外荷载，因此，设计挡土墙时首先要确定土压力的性质、大小、方向和作用点。</a:t>
            </a:r>
            <a:endParaRPr lang="zh-CN" altLang="en-US" sz="2400" b="1" dirty="0"/>
          </a:p>
          <a:p>
            <a:pPr eaLnBrk="1" hangingPunct="1">
              <a:lnSpc>
                <a:spcPct val="150000"/>
              </a:lnSpc>
              <a:spcBef>
                <a:spcPct val="0"/>
              </a:spcBef>
              <a:buFont typeface="Wingdings" panose="05000000000000000000" pitchFamily="2" charset="2"/>
              <a:buChar char="Ø"/>
              <a:defRPr/>
            </a:pPr>
            <a:r>
              <a:rPr lang="zh-CN" altLang="en-US" sz="2400" b="1" dirty="0" smtClean="0"/>
              <a:t>挡土墙</a:t>
            </a:r>
            <a:r>
              <a:rPr lang="zh-CN" altLang="en-US" sz="2400" b="1" dirty="0"/>
              <a:t>侧作用着土压力，计算中抗倾覆和抗滑移稳定性</a:t>
            </a:r>
            <a:r>
              <a:rPr lang="zh-CN" altLang="en-US" sz="2400" b="1" dirty="0" smtClean="0"/>
              <a:t>验算显得十分重要。</a:t>
            </a:r>
            <a:endParaRPr lang="en-US" altLang="zh-CN" sz="2400" b="1" dirty="0" smtClean="0">
              <a:latin typeface="+mn-ea"/>
            </a:endParaRPr>
          </a:p>
        </p:txBody>
      </p:sp>
      <p:sp>
        <p:nvSpPr>
          <p:cNvPr id="4" name="Rectangle 6"/>
          <p:cNvSpPr>
            <a:spLocks noChangeArrowheads="1"/>
          </p:cNvSpPr>
          <p:nvPr/>
        </p:nvSpPr>
        <p:spPr bwMode="auto">
          <a:xfrm>
            <a:off x="0" y="0"/>
            <a:ext cx="1981200" cy="492125"/>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3200" dirty="0" smtClean="0">
                <a:solidFill>
                  <a:srgbClr val="FF3300"/>
                </a:solidFill>
                <a:latin typeface="Times New Roman" panose="02020603050405020304" pitchFamily="18" charset="0"/>
                <a:ea typeface="+mj-ea"/>
                <a:cs typeface="Times New Roman" panose="02020603050405020304" pitchFamily="18" charset="0"/>
              </a:rPr>
              <a:t>§6.1 </a:t>
            </a:r>
            <a:r>
              <a:rPr lang="zh-CN" altLang="en-US" sz="3200" dirty="0" smtClean="0">
                <a:solidFill>
                  <a:srgbClr val="FF3300"/>
                </a:solidFill>
                <a:latin typeface="Times New Roman" panose="02020603050405020304" pitchFamily="18" charset="0"/>
                <a:ea typeface="+mj-ea"/>
                <a:cs typeface="Times New Roman" panose="02020603050405020304" pitchFamily="18" charset="0"/>
              </a:rPr>
              <a:t>概述</a:t>
            </a:r>
            <a:endParaRPr lang="zh-CN" altLang="en-US" sz="3200"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2"/>
          <p:cNvSpPr txBox="1">
            <a:spLocks noChangeArrowheads="1"/>
          </p:cNvSpPr>
          <p:nvPr/>
        </p:nvSpPr>
        <p:spPr bwMode="auto">
          <a:xfrm>
            <a:off x="2735263" y="863600"/>
            <a:ext cx="30226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sz="2800" b="1" dirty="0" smtClean="0">
                <a:latin typeface="+mn-ea"/>
                <a:ea typeface="+mn-ea"/>
              </a:rPr>
              <a:t>挡土墙的几种类型</a:t>
            </a:r>
            <a:endParaRPr kumimoji="0" lang="zh-CN" altLang="en-US" sz="2800" b="1" dirty="0" smtClean="0">
              <a:latin typeface="+mn-ea"/>
              <a:ea typeface="+mn-ea"/>
            </a:endParaRPr>
          </a:p>
        </p:txBody>
      </p:sp>
      <p:grpSp>
        <p:nvGrpSpPr>
          <p:cNvPr id="2" name="Group 3"/>
          <p:cNvGrpSpPr/>
          <p:nvPr/>
        </p:nvGrpSpPr>
        <p:grpSpPr bwMode="auto">
          <a:xfrm>
            <a:off x="1331913" y="1776413"/>
            <a:ext cx="2273300" cy="1822450"/>
            <a:chOff x="240" y="480"/>
            <a:chExt cx="1458" cy="1969"/>
          </a:xfrm>
        </p:grpSpPr>
        <p:grpSp>
          <p:nvGrpSpPr>
            <p:cNvPr id="9295" name="Group 4"/>
            <p:cNvGrpSpPr/>
            <p:nvPr/>
          </p:nvGrpSpPr>
          <p:grpSpPr bwMode="auto">
            <a:xfrm>
              <a:off x="288" y="1047"/>
              <a:ext cx="372" cy="561"/>
              <a:chOff x="376" y="2618"/>
              <a:chExt cx="372" cy="561"/>
            </a:xfrm>
          </p:grpSpPr>
          <p:sp>
            <p:nvSpPr>
              <p:cNvPr id="9321" name="AutoShape 5"/>
              <p:cNvSpPr>
                <a:spLocks noChangeArrowheads="1"/>
              </p:cNvSpPr>
              <p:nvPr/>
            </p:nvSpPr>
            <p:spPr bwMode="auto">
              <a:xfrm>
                <a:off x="440" y="2943"/>
                <a:ext cx="308" cy="121"/>
              </a:xfrm>
              <a:prstGeom prst="rightArrow">
                <a:avLst>
                  <a:gd name="adj1" fmla="val 50000"/>
                  <a:gd name="adj2" fmla="val 63636"/>
                </a:avLst>
              </a:prstGeom>
              <a:solidFill>
                <a:srgbClr val="C0C0C0"/>
              </a:solidFill>
              <a:ln w="25400" cap="sq">
                <a:solidFill>
                  <a:schemeClr val="tx1"/>
                </a:solidFill>
                <a:miter lim="800000"/>
                <a:headEnd type="none" w="sm" len="sm"/>
                <a:tailEnd type="none" w="sm" len="sm"/>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9322" name="Text Box 6"/>
              <p:cNvSpPr txBox="1">
                <a:spLocks noChangeArrowheads="1"/>
              </p:cNvSpPr>
              <p:nvPr/>
            </p:nvSpPr>
            <p:spPr bwMode="auto">
              <a:xfrm>
                <a:off x="376" y="2618"/>
                <a:ext cx="353" cy="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E</a:t>
                </a:r>
                <a:endParaRPr lang="en-US" altLang="zh-CN" sz="3600"/>
              </a:p>
            </p:txBody>
          </p:sp>
        </p:grpSp>
        <p:grpSp>
          <p:nvGrpSpPr>
            <p:cNvPr id="9296" name="Group 7"/>
            <p:cNvGrpSpPr/>
            <p:nvPr/>
          </p:nvGrpSpPr>
          <p:grpSpPr bwMode="auto">
            <a:xfrm>
              <a:off x="240" y="480"/>
              <a:ext cx="1458" cy="1969"/>
              <a:chOff x="240" y="480"/>
              <a:chExt cx="1458" cy="1969"/>
            </a:xfrm>
          </p:grpSpPr>
          <p:sp>
            <p:nvSpPr>
              <p:cNvPr id="9297" name="Text Box 8"/>
              <p:cNvSpPr txBox="1">
                <a:spLocks noChangeArrowheads="1"/>
              </p:cNvSpPr>
              <p:nvPr/>
            </p:nvSpPr>
            <p:spPr bwMode="auto">
              <a:xfrm>
                <a:off x="1014" y="1153"/>
                <a:ext cx="626" cy="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800" b="1"/>
                  <a:t>地下室</a:t>
                </a:r>
                <a:endParaRPr lang="zh-CN" altLang="en-US" sz="1800" b="1"/>
              </a:p>
            </p:txBody>
          </p:sp>
          <p:grpSp>
            <p:nvGrpSpPr>
              <p:cNvPr id="9298" name="Group 9"/>
              <p:cNvGrpSpPr/>
              <p:nvPr/>
            </p:nvGrpSpPr>
            <p:grpSpPr bwMode="auto">
              <a:xfrm>
                <a:off x="303" y="480"/>
                <a:ext cx="1255" cy="1426"/>
                <a:chOff x="303" y="480"/>
                <a:chExt cx="1255" cy="1426"/>
              </a:xfrm>
            </p:grpSpPr>
            <p:sp>
              <p:nvSpPr>
                <p:cNvPr id="9300" name="Rectangle 10" descr="宽上对角线"/>
                <p:cNvSpPr>
                  <a:spLocks noChangeArrowheads="1"/>
                </p:cNvSpPr>
                <p:nvPr/>
              </p:nvSpPr>
              <p:spPr bwMode="auto">
                <a:xfrm>
                  <a:off x="666" y="885"/>
                  <a:ext cx="327" cy="850"/>
                </a:xfrm>
                <a:prstGeom prst="rect">
                  <a:avLst/>
                </a:prstGeom>
                <a:blipFill dpi="0" rotWithShape="0">
                  <a:blip r:embed="rId1"/>
                  <a:srcRect/>
                  <a:tile tx="0" ty="0" sx="100000" sy="100000" flip="none" algn="tl"/>
                </a:blipFill>
                <a:ln w="25400" cap="sq">
                  <a:solidFill>
                    <a:schemeClr val="tx1"/>
                  </a:solidFill>
                  <a:miter lim="800000"/>
                  <a:headEnd type="none" w="sm" len="sm"/>
                  <a:tailEnd type="none" w="sm" len="sm"/>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9301" name="Rectangle 11" descr="花岗岩"/>
                <p:cNvSpPr>
                  <a:spLocks noChangeArrowheads="1"/>
                </p:cNvSpPr>
                <p:nvPr/>
              </p:nvSpPr>
              <p:spPr bwMode="auto">
                <a:xfrm>
                  <a:off x="604" y="1735"/>
                  <a:ext cx="444" cy="171"/>
                </a:xfrm>
                <a:prstGeom prst="rect">
                  <a:avLst/>
                </a:prstGeom>
                <a:blipFill dpi="0" rotWithShape="0">
                  <a:blip r:embed="rId2"/>
                  <a:srcRect/>
                  <a:tile tx="0" ty="0" sx="100000" sy="100000" flip="none" algn="tl"/>
                </a:blipFill>
                <a:ln w="25400" cap="sq">
                  <a:solidFill>
                    <a:schemeClr val="bg2"/>
                  </a:solidFill>
                  <a:miter lim="800000"/>
                  <a:headEnd type="none" w="sm" len="sm"/>
                  <a:tailEnd type="none" w="sm" len="sm"/>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9302" name="Rectangle 12" descr="宽下对角线"/>
                <p:cNvSpPr>
                  <a:spLocks noChangeArrowheads="1"/>
                </p:cNvSpPr>
                <p:nvPr/>
              </p:nvSpPr>
              <p:spPr bwMode="auto">
                <a:xfrm>
                  <a:off x="993" y="885"/>
                  <a:ext cx="553" cy="101"/>
                </a:xfrm>
                <a:prstGeom prst="rect">
                  <a:avLst/>
                </a:prstGeom>
                <a:blipFill dpi="0" rotWithShape="0">
                  <a:blip r:embed="rId3"/>
                  <a:srcRect/>
                  <a:tile tx="0" ty="0" sx="100000" sy="100000" flip="none" algn="tl"/>
                </a:blipFill>
                <a:ln w="25400">
                  <a:solidFill>
                    <a:schemeClr val="tx1"/>
                  </a:solidFill>
                  <a:miter lim="800000"/>
                  <a:headEnd type="none" w="sm" len="sm"/>
                  <a:tailEnd type="none" w="sm" len="sm"/>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9303" name="Rectangle 13" descr="小网格"/>
                <p:cNvSpPr>
                  <a:spLocks noChangeArrowheads="1"/>
                </p:cNvSpPr>
                <p:nvPr/>
              </p:nvSpPr>
              <p:spPr bwMode="auto">
                <a:xfrm>
                  <a:off x="741" y="480"/>
                  <a:ext cx="248" cy="405"/>
                </a:xfrm>
                <a:prstGeom prst="rect">
                  <a:avLst/>
                </a:prstGeom>
                <a:blipFill dpi="0" rotWithShape="0">
                  <a:blip r:embed="rId4"/>
                  <a:srcRect/>
                  <a:tile tx="0" ty="0" sx="100000" sy="100000" flip="none" algn="tl"/>
                </a:blipFill>
                <a:ln w="25400" cap="sq">
                  <a:solidFill>
                    <a:schemeClr val="tx1"/>
                  </a:solidFill>
                  <a:miter lim="800000"/>
                  <a:headEnd type="none" w="sm" len="sm"/>
                  <a:tailEnd type="none" w="sm" len="sm"/>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9304" name="Rectangle 14" descr="浅色上对角线"/>
                <p:cNvSpPr>
                  <a:spLocks noChangeArrowheads="1"/>
                </p:cNvSpPr>
                <p:nvPr/>
              </p:nvSpPr>
              <p:spPr bwMode="auto">
                <a:xfrm>
                  <a:off x="994" y="1573"/>
                  <a:ext cx="564" cy="164"/>
                </a:xfrm>
                <a:prstGeom prst="rect">
                  <a:avLst/>
                </a:prstGeom>
                <a:blipFill dpi="0" rotWithShape="0">
                  <a:blip r:embed="rId5"/>
                  <a:srcRect/>
                  <a:tile tx="0" ty="0" sx="100000" sy="100000" flip="none" algn="tl"/>
                </a:blipFill>
                <a:ln w="25400" cap="sq">
                  <a:solidFill>
                    <a:srgbClr val="666699"/>
                  </a:solidFill>
                  <a:miter lim="800000"/>
                  <a:headEnd type="none" w="sm" len="sm"/>
                  <a:tailEnd type="none" w="sm" len="sm"/>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9305" name="Line 15"/>
                <p:cNvSpPr>
                  <a:spLocks noChangeShapeType="1"/>
                </p:cNvSpPr>
                <p:nvPr/>
              </p:nvSpPr>
              <p:spPr bwMode="auto">
                <a:xfrm flipH="1" flipV="1">
                  <a:off x="303" y="1008"/>
                  <a:ext cx="359" cy="1"/>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06" name="Line 16"/>
                <p:cNvSpPr>
                  <a:spLocks noChangeShapeType="1"/>
                </p:cNvSpPr>
                <p:nvPr/>
              </p:nvSpPr>
              <p:spPr bwMode="auto">
                <a:xfrm flipH="1">
                  <a:off x="522" y="1012"/>
                  <a:ext cx="40" cy="3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07" name="Line 17"/>
                <p:cNvSpPr>
                  <a:spLocks noChangeShapeType="1"/>
                </p:cNvSpPr>
                <p:nvPr/>
              </p:nvSpPr>
              <p:spPr bwMode="auto">
                <a:xfrm flipH="1">
                  <a:off x="590" y="1016"/>
                  <a:ext cx="40" cy="3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08" name="Line 18"/>
                <p:cNvSpPr>
                  <a:spLocks noChangeShapeType="1"/>
                </p:cNvSpPr>
                <p:nvPr/>
              </p:nvSpPr>
              <p:spPr bwMode="auto">
                <a:xfrm flipH="1">
                  <a:off x="626" y="1068"/>
                  <a:ext cx="40" cy="3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09" name="Line 19"/>
                <p:cNvSpPr>
                  <a:spLocks noChangeShapeType="1"/>
                </p:cNvSpPr>
                <p:nvPr/>
              </p:nvSpPr>
              <p:spPr bwMode="auto">
                <a:xfrm flipH="1">
                  <a:off x="626" y="1140"/>
                  <a:ext cx="40" cy="3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0" name="Line 20"/>
                <p:cNvSpPr>
                  <a:spLocks noChangeShapeType="1"/>
                </p:cNvSpPr>
                <p:nvPr/>
              </p:nvSpPr>
              <p:spPr bwMode="auto">
                <a:xfrm flipH="1">
                  <a:off x="626" y="1212"/>
                  <a:ext cx="40" cy="3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1" name="Line 21"/>
                <p:cNvSpPr>
                  <a:spLocks noChangeShapeType="1"/>
                </p:cNvSpPr>
                <p:nvPr/>
              </p:nvSpPr>
              <p:spPr bwMode="auto">
                <a:xfrm flipH="1">
                  <a:off x="630" y="1280"/>
                  <a:ext cx="40" cy="3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2" name="Line 22"/>
                <p:cNvSpPr>
                  <a:spLocks noChangeShapeType="1"/>
                </p:cNvSpPr>
                <p:nvPr/>
              </p:nvSpPr>
              <p:spPr bwMode="auto">
                <a:xfrm flipH="1">
                  <a:off x="626" y="1360"/>
                  <a:ext cx="40" cy="3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3" name="Line 23"/>
                <p:cNvSpPr>
                  <a:spLocks noChangeShapeType="1"/>
                </p:cNvSpPr>
                <p:nvPr/>
              </p:nvSpPr>
              <p:spPr bwMode="auto">
                <a:xfrm flipH="1">
                  <a:off x="626" y="1432"/>
                  <a:ext cx="40" cy="3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4" name="Line 24"/>
                <p:cNvSpPr>
                  <a:spLocks noChangeShapeType="1"/>
                </p:cNvSpPr>
                <p:nvPr/>
              </p:nvSpPr>
              <p:spPr bwMode="auto">
                <a:xfrm flipH="1">
                  <a:off x="630" y="1500"/>
                  <a:ext cx="40" cy="3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5" name="Line 25"/>
                <p:cNvSpPr>
                  <a:spLocks noChangeShapeType="1"/>
                </p:cNvSpPr>
                <p:nvPr/>
              </p:nvSpPr>
              <p:spPr bwMode="auto">
                <a:xfrm flipH="1">
                  <a:off x="626" y="1572"/>
                  <a:ext cx="40" cy="3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6" name="Line 26"/>
                <p:cNvSpPr>
                  <a:spLocks noChangeShapeType="1"/>
                </p:cNvSpPr>
                <p:nvPr/>
              </p:nvSpPr>
              <p:spPr bwMode="auto">
                <a:xfrm flipH="1">
                  <a:off x="626" y="1644"/>
                  <a:ext cx="40" cy="3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7" name="Line 27"/>
                <p:cNvSpPr>
                  <a:spLocks noChangeShapeType="1"/>
                </p:cNvSpPr>
                <p:nvPr/>
              </p:nvSpPr>
              <p:spPr bwMode="auto">
                <a:xfrm flipH="1">
                  <a:off x="558" y="1772"/>
                  <a:ext cx="40" cy="3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8" name="Line 28"/>
                <p:cNvSpPr>
                  <a:spLocks noChangeShapeType="1"/>
                </p:cNvSpPr>
                <p:nvPr/>
              </p:nvSpPr>
              <p:spPr bwMode="auto">
                <a:xfrm flipH="1">
                  <a:off x="562" y="1840"/>
                  <a:ext cx="40" cy="3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 name="Line 29"/>
                <p:cNvSpPr>
                  <a:spLocks noChangeShapeType="1"/>
                </p:cNvSpPr>
                <p:nvPr/>
              </p:nvSpPr>
              <p:spPr bwMode="auto">
                <a:xfrm flipH="1">
                  <a:off x="370" y="1008"/>
                  <a:ext cx="40" cy="3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0" name="Line 30"/>
                <p:cNvSpPr>
                  <a:spLocks noChangeShapeType="1"/>
                </p:cNvSpPr>
                <p:nvPr/>
              </p:nvSpPr>
              <p:spPr bwMode="auto">
                <a:xfrm flipH="1">
                  <a:off x="438" y="1012"/>
                  <a:ext cx="40" cy="3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179" name="Text Box 31"/>
              <p:cNvSpPr txBox="1">
                <a:spLocks noChangeArrowheads="1"/>
              </p:cNvSpPr>
              <p:nvPr/>
            </p:nvSpPr>
            <p:spPr bwMode="auto">
              <a:xfrm>
                <a:off x="240" y="2017"/>
                <a:ext cx="1458"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defRPr/>
                </a:pPr>
                <a:r>
                  <a:rPr lang="zh-CN" altLang="en-US" sz="2000" b="1" dirty="0" smtClean="0">
                    <a:latin typeface="+mn-ea"/>
                    <a:ea typeface="+mn-ea"/>
                  </a:rPr>
                  <a:t>地下室侧墙</a:t>
                </a:r>
                <a:endParaRPr lang="zh-CN" altLang="en-US" sz="2000" b="1" dirty="0" smtClean="0">
                  <a:latin typeface="+mn-ea"/>
                  <a:ea typeface="+mn-ea"/>
                </a:endParaRPr>
              </a:p>
            </p:txBody>
          </p:sp>
        </p:grpSp>
      </p:grpSp>
      <p:sp>
        <p:nvSpPr>
          <p:cNvPr id="9220" name="AutoShape 34"/>
          <p:cNvSpPr>
            <a:spLocks noChangeArrowheads="1"/>
          </p:cNvSpPr>
          <p:nvPr/>
        </p:nvSpPr>
        <p:spPr bwMode="auto">
          <a:xfrm rot="-1500000">
            <a:off x="6129338" y="2028825"/>
            <a:ext cx="585787" cy="125413"/>
          </a:xfrm>
          <a:prstGeom prst="leftArrow">
            <a:avLst>
              <a:gd name="adj1" fmla="val 50000"/>
              <a:gd name="adj2" fmla="val 116772"/>
            </a:avLst>
          </a:prstGeom>
          <a:solidFill>
            <a:srgbClr val="C0C0C0"/>
          </a:solidFill>
          <a:ln w="25400" cap="sq">
            <a:solidFill>
              <a:schemeClr val="tx1"/>
            </a:solidFill>
            <a:miter lim="800000"/>
            <a:headEnd type="none" w="sm" len="sm"/>
            <a:tailEnd type="none" w="sm" len="sm"/>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9221" name="Text Box 35"/>
          <p:cNvSpPr txBox="1">
            <a:spLocks noChangeArrowheads="1"/>
          </p:cNvSpPr>
          <p:nvPr/>
        </p:nvSpPr>
        <p:spPr bwMode="auto">
          <a:xfrm>
            <a:off x="6156325" y="1700213"/>
            <a:ext cx="6143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E</a:t>
            </a:r>
            <a:endParaRPr lang="en-US" altLang="zh-CN" sz="3600"/>
          </a:p>
        </p:txBody>
      </p:sp>
      <p:grpSp>
        <p:nvGrpSpPr>
          <p:cNvPr id="9222" name="Group 36"/>
          <p:cNvGrpSpPr/>
          <p:nvPr/>
        </p:nvGrpSpPr>
        <p:grpSpPr bwMode="auto">
          <a:xfrm>
            <a:off x="5003800" y="1849438"/>
            <a:ext cx="1849438" cy="1223962"/>
            <a:chOff x="1896" y="816"/>
            <a:chExt cx="1314" cy="1068"/>
          </a:xfrm>
        </p:grpSpPr>
        <p:sp>
          <p:nvSpPr>
            <p:cNvPr id="9263" name="Line 37"/>
            <p:cNvSpPr>
              <a:spLocks noChangeShapeType="1"/>
            </p:cNvSpPr>
            <p:nvPr/>
          </p:nvSpPr>
          <p:spPr bwMode="auto">
            <a:xfrm>
              <a:off x="2616" y="828"/>
              <a:ext cx="594" cy="2"/>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64" name="Rectangle 38" descr="沙滩"/>
            <p:cNvSpPr>
              <a:spLocks noChangeArrowheads="1"/>
            </p:cNvSpPr>
            <p:nvPr/>
          </p:nvSpPr>
          <p:spPr bwMode="auto">
            <a:xfrm>
              <a:off x="2184" y="1722"/>
              <a:ext cx="486" cy="162"/>
            </a:xfrm>
            <a:prstGeom prst="rect">
              <a:avLst/>
            </a:prstGeom>
            <a:blipFill dpi="0" rotWithShape="0">
              <a:blip r:embed="rId6"/>
              <a:srcRect/>
              <a:tile tx="0" ty="0" sx="100000" sy="100000" flip="none" algn="tl"/>
            </a:blipFill>
            <a:ln w="25400" cap="sq">
              <a:solidFill>
                <a:schemeClr val="tx1"/>
              </a:solidFill>
              <a:miter lim="800000"/>
              <a:headEnd type="none" w="sm" len="sm"/>
              <a:tailEnd type="none" w="sm" len="sm"/>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9265" name="Text Box 39"/>
            <p:cNvSpPr txBox="1">
              <a:spLocks noChangeArrowheads="1"/>
            </p:cNvSpPr>
            <p:nvPr/>
          </p:nvSpPr>
          <p:spPr bwMode="auto">
            <a:xfrm>
              <a:off x="2687" y="1119"/>
              <a:ext cx="428"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600" b="1"/>
                <a:t>填土</a:t>
              </a:r>
              <a:endParaRPr lang="zh-CN" altLang="en-US" sz="1600" b="1"/>
            </a:p>
          </p:txBody>
        </p:sp>
        <p:sp>
          <p:nvSpPr>
            <p:cNvPr id="9266" name="Freeform 40" descr="横向砖形"/>
            <p:cNvSpPr/>
            <p:nvPr/>
          </p:nvSpPr>
          <p:spPr bwMode="auto">
            <a:xfrm>
              <a:off x="2249" y="816"/>
              <a:ext cx="378" cy="936"/>
            </a:xfrm>
            <a:custGeom>
              <a:avLst/>
              <a:gdLst>
                <a:gd name="T0" fmla="*/ 1 w 645"/>
                <a:gd name="T1" fmla="*/ 0 h 1104"/>
                <a:gd name="T2" fmla="*/ 0 w 645"/>
                <a:gd name="T3" fmla="*/ 56 h 1104"/>
                <a:gd name="T4" fmla="*/ 1 w 645"/>
                <a:gd name="T5" fmla="*/ 57 h 1104"/>
                <a:gd name="T6" fmla="*/ 1 w 645"/>
                <a:gd name="T7" fmla="*/ 0 h 1104"/>
                <a:gd name="T8" fmla="*/ 1 w 645"/>
                <a:gd name="T9" fmla="*/ 0 h 1104"/>
                <a:gd name="T10" fmla="*/ 0 60000 65536"/>
                <a:gd name="T11" fmla="*/ 0 60000 65536"/>
                <a:gd name="T12" fmla="*/ 0 60000 65536"/>
                <a:gd name="T13" fmla="*/ 0 60000 65536"/>
                <a:gd name="T14" fmla="*/ 0 60000 65536"/>
                <a:gd name="T15" fmla="*/ 0 w 645"/>
                <a:gd name="T16" fmla="*/ 0 h 1104"/>
                <a:gd name="T17" fmla="*/ 645 w 645"/>
                <a:gd name="T18" fmla="*/ 1104 h 1104"/>
              </a:gdLst>
              <a:ahLst/>
              <a:cxnLst>
                <a:cxn ang="T10">
                  <a:pos x="T0" y="T1"/>
                </a:cxn>
                <a:cxn ang="T11">
                  <a:pos x="T2" y="T3"/>
                </a:cxn>
                <a:cxn ang="T12">
                  <a:pos x="T4" y="T5"/>
                </a:cxn>
                <a:cxn ang="T13">
                  <a:pos x="T6" y="T7"/>
                </a:cxn>
                <a:cxn ang="T14">
                  <a:pos x="T8" y="T9"/>
                </a:cxn>
              </a:cxnLst>
              <a:rect l="T15" t="T16" r="T17" b="T18"/>
              <a:pathLst>
                <a:path w="645" h="1104">
                  <a:moveTo>
                    <a:pt x="330" y="0"/>
                  </a:moveTo>
                  <a:lnTo>
                    <a:pt x="0" y="1099"/>
                  </a:lnTo>
                  <a:lnTo>
                    <a:pt x="645" y="1104"/>
                  </a:lnTo>
                  <a:lnTo>
                    <a:pt x="645" y="0"/>
                  </a:lnTo>
                  <a:lnTo>
                    <a:pt x="330" y="0"/>
                  </a:lnTo>
                  <a:close/>
                </a:path>
              </a:pathLst>
            </a:custGeom>
            <a:blipFill dpi="0" rotWithShape="0">
              <a:blip r:embed="rId7"/>
              <a:srcRect/>
              <a:tile tx="0" ty="0" sx="100000" sy="100000" flip="none" algn="tl"/>
            </a:blipFill>
            <a:ln w="25400">
              <a:solidFill>
                <a:schemeClr val="tx1"/>
              </a:solidFill>
              <a:round/>
            </a:ln>
          </p:spPr>
          <p:txBody>
            <a:bodyPr/>
            <a:lstStyle/>
            <a:p>
              <a:endParaRPr lang="zh-CN" altLang="en-US"/>
            </a:p>
          </p:txBody>
        </p:sp>
        <p:sp>
          <p:nvSpPr>
            <p:cNvPr id="9267" name="Line 41"/>
            <p:cNvSpPr>
              <a:spLocks noChangeShapeType="1"/>
            </p:cNvSpPr>
            <p:nvPr/>
          </p:nvSpPr>
          <p:spPr bwMode="auto">
            <a:xfrm flipH="1" flipV="1">
              <a:off x="1908" y="1728"/>
              <a:ext cx="294" cy="0"/>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68" name="Line 42"/>
            <p:cNvSpPr>
              <a:spLocks noChangeShapeType="1"/>
            </p:cNvSpPr>
            <p:nvPr/>
          </p:nvSpPr>
          <p:spPr bwMode="auto">
            <a:xfrm flipH="1">
              <a:off x="1896" y="1734"/>
              <a:ext cx="18" cy="24"/>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69" name="Line 43"/>
            <p:cNvSpPr>
              <a:spLocks noChangeShapeType="1"/>
            </p:cNvSpPr>
            <p:nvPr/>
          </p:nvSpPr>
          <p:spPr bwMode="auto">
            <a:xfrm flipH="1">
              <a:off x="1956" y="1734"/>
              <a:ext cx="18" cy="24"/>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70" name="Line 44"/>
            <p:cNvSpPr>
              <a:spLocks noChangeShapeType="1"/>
            </p:cNvSpPr>
            <p:nvPr/>
          </p:nvSpPr>
          <p:spPr bwMode="auto">
            <a:xfrm flipH="1">
              <a:off x="2070" y="1734"/>
              <a:ext cx="18" cy="24"/>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71" name="Line 45"/>
            <p:cNvSpPr>
              <a:spLocks noChangeShapeType="1"/>
            </p:cNvSpPr>
            <p:nvPr/>
          </p:nvSpPr>
          <p:spPr bwMode="auto">
            <a:xfrm flipH="1">
              <a:off x="2016" y="1734"/>
              <a:ext cx="18" cy="24"/>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72" name="Line 46"/>
            <p:cNvSpPr>
              <a:spLocks noChangeShapeType="1"/>
            </p:cNvSpPr>
            <p:nvPr/>
          </p:nvSpPr>
          <p:spPr bwMode="auto">
            <a:xfrm flipH="1">
              <a:off x="2124" y="1734"/>
              <a:ext cx="18" cy="24"/>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73" name="Line 47"/>
            <p:cNvSpPr>
              <a:spLocks noChangeShapeType="1"/>
            </p:cNvSpPr>
            <p:nvPr/>
          </p:nvSpPr>
          <p:spPr bwMode="auto">
            <a:xfrm flipH="1">
              <a:off x="2632" y="834"/>
              <a:ext cx="18" cy="24"/>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74" name="Line 48"/>
            <p:cNvSpPr>
              <a:spLocks noChangeShapeType="1"/>
            </p:cNvSpPr>
            <p:nvPr/>
          </p:nvSpPr>
          <p:spPr bwMode="auto">
            <a:xfrm flipH="1">
              <a:off x="2708" y="840"/>
              <a:ext cx="18" cy="24"/>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75" name="Line 49"/>
            <p:cNvSpPr>
              <a:spLocks noChangeShapeType="1"/>
            </p:cNvSpPr>
            <p:nvPr/>
          </p:nvSpPr>
          <p:spPr bwMode="auto">
            <a:xfrm flipH="1">
              <a:off x="2854" y="834"/>
              <a:ext cx="18" cy="24"/>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76" name="Line 50"/>
            <p:cNvSpPr>
              <a:spLocks noChangeShapeType="1"/>
            </p:cNvSpPr>
            <p:nvPr/>
          </p:nvSpPr>
          <p:spPr bwMode="auto">
            <a:xfrm flipH="1">
              <a:off x="2784" y="836"/>
              <a:ext cx="18" cy="24"/>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77" name="Line 51"/>
            <p:cNvSpPr>
              <a:spLocks noChangeShapeType="1"/>
            </p:cNvSpPr>
            <p:nvPr/>
          </p:nvSpPr>
          <p:spPr bwMode="auto">
            <a:xfrm flipH="1">
              <a:off x="2940" y="830"/>
              <a:ext cx="18" cy="24"/>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78" name="Line 52"/>
            <p:cNvSpPr>
              <a:spLocks noChangeShapeType="1"/>
            </p:cNvSpPr>
            <p:nvPr/>
          </p:nvSpPr>
          <p:spPr bwMode="auto">
            <a:xfrm flipH="1">
              <a:off x="3024" y="840"/>
              <a:ext cx="18" cy="24"/>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79" name="Line 53"/>
            <p:cNvSpPr>
              <a:spLocks noChangeShapeType="1"/>
            </p:cNvSpPr>
            <p:nvPr/>
          </p:nvSpPr>
          <p:spPr bwMode="auto">
            <a:xfrm flipH="1">
              <a:off x="3092" y="836"/>
              <a:ext cx="18" cy="24"/>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80" name="Line 54"/>
            <p:cNvSpPr>
              <a:spLocks noChangeShapeType="1"/>
            </p:cNvSpPr>
            <p:nvPr/>
          </p:nvSpPr>
          <p:spPr bwMode="auto">
            <a:xfrm flipH="1">
              <a:off x="2630" y="1072"/>
              <a:ext cx="40" cy="3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81" name="Line 55"/>
            <p:cNvSpPr>
              <a:spLocks noChangeShapeType="1"/>
            </p:cNvSpPr>
            <p:nvPr/>
          </p:nvSpPr>
          <p:spPr bwMode="auto">
            <a:xfrm flipH="1">
              <a:off x="2630" y="1144"/>
              <a:ext cx="40" cy="3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82" name="Line 56"/>
            <p:cNvSpPr>
              <a:spLocks noChangeShapeType="1"/>
            </p:cNvSpPr>
            <p:nvPr/>
          </p:nvSpPr>
          <p:spPr bwMode="auto">
            <a:xfrm flipH="1">
              <a:off x="2630" y="1216"/>
              <a:ext cx="40" cy="3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83" name="Line 57"/>
            <p:cNvSpPr>
              <a:spLocks noChangeShapeType="1"/>
            </p:cNvSpPr>
            <p:nvPr/>
          </p:nvSpPr>
          <p:spPr bwMode="auto">
            <a:xfrm flipH="1">
              <a:off x="2634" y="1284"/>
              <a:ext cx="40" cy="3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84" name="Line 58"/>
            <p:cNvSpPr>
              <a:spLocks noChangeShapeType="1"/>
            </p:cNvSpPr>
            <p:nvPr/>
          </p:nvSpPr>
          <p:spPr bwMode="auto">
            <a:xfrm flipH="1">
              <a:off x="2630" y="1364"/>
              <a:ext cx="40" cy="3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85" name="Line 59"/>
            <p:cNvSpPr>
              <a:spLocks noChangeShapeType="1"/>
            </p:cNvSpPr>
            <p:nvPr/>
          </p:nvSpPr>
          <p:spPr bwMode="auto">
            <a:xfrm flipH="1">
              <a:off x="2630" y="1436"/>
              <a:ext cx="40" cy="3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86" name="Line 60"/>
            <p:cNvSpPr>
              <a:spLocks noChangeShapeType="1"/>
            </p:cNvSpPr>
            <p:nvPr/>
          </p:nvSpPr>
          <p:spPr bwMode="auto">
            <a:xfrm flipH="1">
              <a:off x="2634" y="1504"/>
              <a:ext cx="40" cy="3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87" name="Line 61"/>
            <p:cNvSpPr>
              <a:spLocks noChangeShapeType="1"/>
            </p:cNvSpPr>
            <p:nvPr/>
          </p:nvSpPr>
          <p:spPr bwMode="auto">
            <a:xfrm flipH="1">
              <a:off x="2630" y="1576"/>
              <a:ext cx="40" cy="3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88" name="Line 62"/>
            <p:cNvSpPr>
              <a:spLocks noChangeShapeType="1"/>
            </p:cNvSpPr>
            <p:nvPr/>
          </p:nvSpPr>
          <p:spPr bwMode="auto">
            <a:xfrm flipH="1">
              <a:off x="2630" y="1648"/>
              <a:ext cx="40" cy="3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89" name="Line 63"/>
            <p:cNvSpPr>
              <a:spLocks noChangeShapeType="1"/>
            </p:cNvSpPr>
            <p:nvPr/>
          </p:nvSpPr>
          <p:spPr bwMode="auto">
            <a:xfrm flipH="1">
              <a:off x="2630" y="868"/>
              <a:ext cx="40" cy="3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90" name="Line 64"/>
            <p:cNvSpPr>
              <a:spLocks noChangeShapeType="1"/>
            </p:cNvSpPr>
            <p:nvPr/>
          </p:nvSpPr>
          <p:spPr bwMode="auto">
            <a:xfrm flipH="1">
              <a:off x="2630" y="940"/>
              <a:ext cx="40" cy="3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91" name="Line 65"/>
            <p:cNvSpPr>
              <a:spLocks noChangeShapeType="1"/>
            </p:cNvSpPr>
            <p:nvPr/>
          </p:nvSpPr>
          <p:spPr bwMode="auto">
            <a:xfrm flipH="1">
              <a:off x="2630" y="1012"/>
              <a:ext cx="40" cy="3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92" name="Line 66"/>
            <p:cNvSpPr>
              <a:spLocks noChangeShapeType="1"/>
            </p:cNvSpPr>
            <p:nvPr/>
          </p:nvSpPr>
          <p:spPr bwMode="auto">
            <a:xfrm flipH="1">
              <a:off x="2666" y="1702"/>
              <a:ext cx="40" cy="3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93" name="Line 67"/>
            <p:cNvSpPr>
              <a:spLocks noChangeShapeType="1"/>
            </p:cNvSpPr>
            <p:nvPr/>
          </p:nvSpPr>
          <p:spPr bwMode="auto">
            <a:xfrm flipH="1">
              <a:off x="2666" y="1774"/>
              <a:ext cx="40" cy="3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94" name="Line 68"/>
            <p:cNvSpPr>
              <a:spLocks noChangeShapeType="1"/>
            </p:cNvSpPr>
            <p:nvPr/>
          </p:nvSpPr>
          <p:spPr bwMode="auto">
            <a:xfrm flipH="1">
              <a:off x="2666" y="1846"/>
              <a:ext cx="40" cy="3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103" name="Text Box 69"/>
          <p:cNvSpPr txBox="1">
            <a:spLocks noChangeArrowheads="1"/>
          </p:cNvSpPr>
          <p:nvPr/>
        </p:nvSpPr>
        <p:spPr bwMode="auto">
          <a:xfrm>
            <a:off x="5191125" y="3173413"/>
            <a:ext cx="1828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defRPr/>
            </a:pPr>
            <a:r>
              <a:rPr lang="zh-CN" altLang="en-US" sz="2000" b="1" dirty="0" smtClean="0">
                <a:latin typeface="+mn-ea"/>
                <a:ea typeface="+mn-ea"/>
              </a:rPr>
              <a:t>重力式挡土墙</a:t>
            </a:r>
            <a:endParaRPr lang="zh-CN" altLang="en-US" sz="2000" b="1" dirty="0" smtClean="0">
              <a:latin typeface="+mn-ea"/>
              <a:ea typeface="+mn-ea"/>
            </a:endParaRPr>
          </a:p>
        </p:txBody>
      </p:sp>
      <p:sp>
        <p:nvSpPr>
          <p:cNvPr id="9224" name="AutoShape 72"/>
          <p:cNvSpPr>
            <a:spLocks noChangeArrowheads="1"/>
          </p:cNvSpPr>
          <p:nvPr/>
        </p:nvSpPr>
        <p:spPr bwMode="auto">
          <a:xfrm rot="-600000">
            <a:off x="2484438" y="4941888"/>
            <a:ext cx="647700" cy="320675"/>
          </a:xfrm>
          <a:prstGeom prst="leftArrow">
            <a:avLst>
              <a:gd name="adj1" fmla="val 50000"/>
              <a:gd name="adj2" fmla="val 50495"/>
            </a:avLst>
          </a:prstGeom>
          <a:solidFill>
            <a:srgbClr val="C0C0C0"/>
          </a:solidFill>
          <a:ln w="25400" cap="sq">
            <a:solidFill>
              <a:schemeClr val="tx1"/>
            </a:solidFill>
            <a:miter lim="800000"/>
            <a:headEnd type="none" w="sm" len="sm"/>
            <a:tailEnd type="none" w="sm" len="sm"/>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9225" name="Text Box 73"/>
          <p:cNvSpPr txBox="1">
            <a:spLocks noChangeArrowheads="1"/>
          </p:cNvSpPr>
          <p:nvPr/>
        </p:nvSpPr>
        <p:spPr bwMode="auto">
          <a:xfrm>
            <a:off x="2609850" y="4487863"/>
            <a:ext cx="685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E</a:t>
            </a:r>
            <a:endParaRPr lang="en-US" altLang="zh-CN" sz="3600" b="1"/>
          </a:p>
        </p:txBody>
      </p:sp>
      <p:grpSp>
        <p:nvGrpSpPr>
          <p:cNvPr id="9226" name="Group 74"/>
          <p:cNvGrpSpPr/>
          <p:nvPr/>
        </p:nvGrpSpPr>
        <p:grpSpPr bwMode="auto">
          <a:xfrm>
            <a:off x="1565275" y="3849688"/>
            <a:ext cx="2160588" cy="2281237"/>
            <a:chOff x="3696" y="576"/>
            <a:chExt cx="1548" cy="1762"/>
          </a:xfrm>
        </p:grpSpPr>
        <p:sp>
          <p:nvSpPr>
            <p:cNvPr id="9230" name="AutoShape 75"/>
            <p:cNvSpPr>
              <a:spLocks noChangeArrowheads="1"/>
            </p:cNvSpPr>
            <p:nvPr/>
          </p:nvSpPr>
          <p:spPr bwMode="auto">
            <a:xfrm rot="-3000000">
              <a:off x="4161" y="975"/>
              <a:ext cx="59" cy="222"/>
            </a:xfrm>
            <a:prstGeom prst="downArrow">
              <a:avLst>
                <a:gd name="adj1" fmla="val 50000"/>
                <a:gd name="adj2" fmla="val 94068"/>
              </a:avLst>
            </a:prstGeom>
            <a:solidFill>
              <a:srgbClr val="C0C0C0"/>
            </a:solidFill>
            <a:ln w="25400" cap="sq">
              <a:solidFill>
                <a:srgbClr val="000000"/>
              </a:solidFill>
              <a:miter lim="800000"/>
              <a:headEnd type="none" w="sm" len="sm"/>
              <a:tailEnd type="none" w="sm" len="sm"/>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nvGrpSpPr>
            <p:cNvPr id="9231" name="Group 76"/>
            <p:cNvGrpSpPr/>
            <p:nvPr/>
          </p:nvGrpSpPr>
          <p:grpSpPr bwMode="auto">
            <a:xfrm>
              <a:off x="3696" y="576"/>
              <a:ext cx="1548" cy="1762"/>
              <a:chOff x="3696" y="576"/>
              <a:chExt cx="1548" cy="1762"/>
            </a:xfrm>
          </p:grpSpPr>
          <p:grpSp>
            <p:nvGrpSpPr>
              <p:cNvPr id="9232" name="Group 77"/>
              <p:cNvGrpSpPr/>
              <p:nvPr/>
            </p:nvGrpSpPr>
            <p:grpSpPr bwMode="auto">
              <a:xfrm>
                <a:off x="3696" y="576"/>
                <a:ext cx="1105" cy="1381"/>
                <a:chOff x="3696" y="576"/>
                <a:chExt cx="1105" cy="1381"/>
              </a:xfrm>
            </p:grpSpPr>
            <p:sp>
              <p:nvSpPr>
                <p:cNvPr id="9234" name="Line 78"/>
                <p:cNvSpPr>
                  <a:spLocks noChangeShapeType="1"/>
                </p:cNvSpPr>
                <p:nvPr/>
              </p:nvSpPr>
              <p:spPr bwMode="auto">
                <a:xfrm>
                  <a:off x="3712" y="576"/>
                  <a:ext cx="0" cy="227"/>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9235" name="Line 79"/>
                <p:cNvSpPr>
                  <a:spLocks noChangeShapeType="1"/>
                </p:cNvSpPr>
                <p:nvPr/>
              </p:nvSpPr>
              <p:spPr bwMode="auto">
                <a:xfrm>
                  <a:off x="3779" y="576"/>
                  <a:ext cx="0" cy="227"/>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9236" name="Line 80"/>
                <p:cNvSpPr>
                  <a:spLocks noChangeShapeType="1"/>
                </p:cNvSpPr>
                <p:nvPr/>
              </p:nvSpPr>
              <p:spPr bwMode="auto">
                <a:xfrm>
                  <a:off x="3848" y="576"/>
                  <a:ext cx="0" cy="227"/>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9237" name="Line 81"/>
                <p:cNvSpPr>
                  <a:spLocks noChangeShapeType="1"/>
                </p:cNvSpPr>
                <p:nvPr/>
              </p:nvSpPr>
              <p:spPr bwMode="auto">
                <a:xfrm>
                  <a:off x="3915" y="576"/>
                  <a:ext cx="0" cy="227"/>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9238" name="Line 82"/>
                <p:cNvSpPr>
                  <a:spLocks noChangeShapeType="1"/>
                </p:cNvSpPr>
                <p:nvPr/>
              </p:nvSpPr>
              <p:spPr bwMode="auto">
                <a:xfrm>
                  <a:off x="3984" y="576"/>
                  <a:ext cx="0" cy="227"/>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9239" name="Line 83"/>
                <p:cNvSpPr>
                  <a:spLocks noChangeShapeType="1"/>
                </p:cNvSpPr>
                <p:nvPr/>
              </p:nvSpPr>
              <p:spPr bwMode="auto">
                <a:xfrm>
                  <a:off x="4051" y="576"/>
                  <a:ext cx="0" cy="227"/>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9240" name="Line 84"/>
                <p:cNvSpPr>
                  <a:spLocks noChangeShapeType="1"/>
                </p:cNvSpPr>
                <p:nvPr/>
              </p:nvSpPr>
              <p:spPr bwMode="auto">
                <a:xfrm>
                  <a:off x="4120" y="576"/>
                  <a:ext cx="0" cy="227"/>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9241" name="Line 85"/>
                <p:cNvSpPr>
                  <a:spLocks noChangeShapeType="1"/>
                </p:cNvSpPr>
                <p:nvPr/>
              </p:nvSpPr>
              <p:spPr bwMode="auto">
                <a:xfrm>
                  <a:off x="4187" y="576"/>
                  <a:ext cx="0" cy="227"/>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9242" name="Line 86"/>
                <p:cNvSpPr>
                  <a:spLocks noChangeShapeType="1"/>
                </p:cNvSpPr>
                <p:nvPr/>
              </p:nvSpPr>
              <p:spPr bwMode="auto">
                <a:xfrm>
                  <a:off x="4251" y="576"/>
                  <a:ext cx="0" cy="227"/>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9243" name="Line 87"/>
                <p:cNvSpPr>
                  <a:spLocks noChangeShapeType="1"/>
                </p:cNvSpPr>
                <p:nvPr/>
              </p:nvSpPr>
              <p:spPr bwMode="auto">
                <a:xfrm>
                  <a:off x="4318" y="576"/>
                  <a:ext cx="0" cy="227"/>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lIns="0" tIns="0" rIns="0" bIns="0">
                  <a:spAutoFit/>
                </a:bodyPr>
                <a:lstStyle/>
                <a:p>
                  <a:endParaRPr lang="zh-CN" altLang="en-US"/>
                </a:p>
              </p:txBody>
            </p:sp>
            <p:sp>
              <p:nvSpPr>
                <p:cNvPr id="9244" name="Line 88"/>
                <p:cNvSpPr>
                  <a:spLocks noChangeShapeType="1"/>
                </p:cNvSpPr>
                <p:nvPr/>
              </p:nvSpPr>
              <p:spPr bwMode="auto">
                <a:xfrm flipV="1">
                  <a:off x="3702" y="805"/>
                  <a:ext cx="978" cy="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5" name="Line 89"/>
                <p:cNvSpPr>
                  <a:spLocks noChangeShapeType="1"/>
                </p:cNvSpPr>
                <p:nvPr/>
              </p:nvSpPr>
              <p:spPr bwMode="auto">
                <a:xfrm>
                  <a:off x="3984" y="816"/>
                  <a:ext cx="6" cy="25"/>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6" name="Line 90"/>
                <p:cNvSpPr>
                  <a:spLocks noChangeShapeType="1"/>
                </p:cNvSpPr>
                <p:nvPr/>
              </p:nvSpPr>
              <p:spPr bwMode="auto">
                <a:xfrm flipH="1">
                  <a:off x="4050" y="817"/>
                  <a:ext cx="18" cy="24"/>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7" name="Line 91"/>
                <p:cNvSpPr>
                  <a:spLocks noChangeShapeType="1"/>
                </p:cNvSpPr>
                <p:nvPr/>
              </p:nvSpPr>
              <p:spPr bwMode="auto">
                <a:xfrm flipH="1">
                  <a:off x="4164" y="817"/>
                  <a:ext cx="18" cy="24"/>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8" name="Line 92"/>
                <p:cNvSpPr>
                  <a:spLocks noChangeShapeType="1"/>
                </p:cNvSpPr>
                <p:nvPr/>
              </p:nvSpPr>
              <p:spPr bwMode="auto">
                <a:xfrm flipH="1">
                  <a:off x="4110" y="817"/>
                  <a:ext cx="18" cy="24"/>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9" name="Line 93"/>
                <p:cNvSpPr>
                  <a:spLocks noChangeShapeType="1"/>
                </p:cNvSpPr>
                <p:nvPr/>
              </p:nvSpPr>
              <p:spPr bwMode="auto">
                <a:xfrm flipH="1">
                  <a:off x="4218" y="817"/>
                  <a:ext cx="18" cy="24"/>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50" name="Line 94"/>
                <p:cNvSpPr>
                  <a:spLocks noChangeShapeType="1"/>
                </p:cNvSpPr>
                <p:nvPr/>
              </p:nvSpPr>
              <p:spPr bwMode="auto">
                <a:xfrm flipH="1">
                  <a:off x="4272" y="817"/>
                  <a:ext cx="18" cy="24"/>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51" name="Line 95"/>
                <p:cNvSpPr>
                  <a:spLocks noChangeShapeType="1"/>
                </p:cNvSpPr>
                <p:nvPr/>
              </p:nvSpPr>
              <p:spPr bwMode="auto">
                <a:xfrm flipH="1">
                  <a:off x="4332" y="817"/>
                  <a:ext cx="18" cy="24"/>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52" name="Line 96"/>
                <p:cNvSpPr>
                  <a:spLocks noChangeShapeType="1"/>
                </p:cNvSpPr>
                <p:nvPr/>
              </p:nvSpPr>
              <p:spPr bwMode="auto">
                <a:xfrm flipH="1">
                  <a:off x="3696" y="817"/>
                  <a:ext cx="18" cy="24"/>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53" name="Line 97"/>
                <p:cNvSpPr>
                  <a:spLocks noChangeShapeType="1"/>
                </p:cNvSpPr>
                <p:nvPr/>
              </p:nvSpPr>
              <p:spPr bwMode="auto">
                <a:xfrm flipH="1">
                  <a:off x="3750" y="817"/>
                  <a:ext cx="18" cy="24"/>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54" name="Line 98"/>
                <p:cNvSpPr>
                  <a:spLocks noChangeShapeType="1"/>
                </p:cNvSpPr>
                <p:nvPr/>
              </p:nvSpPr>
              <p:spPr bwMode="auto">
                <a:xfrm flipH="1">
                  <a:off x="3804" y="817"/>
                  <a:ext cx="18" cy="24"/>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55" name="Line 99"/>
                <p:cNvSpPr>
                  <a:spLocks noChangeShapeType="1"/>
                </p:cNvSpPr>
                <p:nvPr/>
              </p:nvSpPr>
              <p:spPr bwMode="auto">
                <a:xfrm flipH="1">
                  <a:off x="3864" y="817"/>
                  <a:ext cx="18" cy="24"/>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56" name="Line 100"/>
                <p:cNvSpPr>
                  <a:spLocks noChangeShapeType="1"/>
                </p:cNvSpPr>
                <p:nvPr/>
              </p:nvSpPr>
              <p:spPr bwMode="auto">
                <a:xfrm flipH="1">
                  <a:off x="3924" y="817"/>
                  <a:ext cx="18" cy="24"/>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57" name="Rectangle 101" descr="大纸屑"/>
                <p:cNvSpPr>
                  <a:spLocks noChangeArrowheads="1"/>
                </p:cNvSpPr>
                <p:nvPr/>
              </p:nvSpPr>
              <p:spPr bwMode="auto">
                <a:xfrm>
                  <a:off x="4146" y="1831"/>
                  <a:ext cx="462" cy="126"/>
                </a:xfrm>
                <a:prstGeom prst="rect">
                  <a:avLst/>
                </a:prstGeom>
                <a:blipFill dpi="0" rotWithShape="0">
                  <a:blip r:embed="rId8"/>
                  <a:srcRect/>
                  <a:tile tx="0" ty="0" sx="100000" sy="100000" flip="none" algn="tl"/>
                </a:blipFill>
                <a:ln w="25400" cap="sq">
                  <a:solidFill>
                    <a:schemeClr val="tx1"/>
                  </a:solidFill>
                  <a:miter lim="800000"/>
                  <a:headEnd type="none" w="sm" len="sm"/>
                  <a:tailEnd type="none" w="sm" len="sm"/>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9258" name="AutoShape 102" descr="小棋盘"/>
                <p:cNvSpPr>
                  <a:spLocks noChangeArrowheads="1"/>
                </p:cNvSpPr>
                <p:nvPr/>
              </p:nvSpPr>
              <p:spPr bwMode="auto">
                <a:xfrm rot="10800000">
                  <a:off x="4200" y="1117"/>
                  <a:ext cx="354" cy="72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5431 w 21600"/>
                    <a:gd name="T13" fmla="*/ 5400 h 21600"/>
                    <a:gd name="T14" fmla="*/ 16169 w 21600"/>
                    <a:gd name="T15" fmla="*/ 16200 h 21600"/>
                  </a:gdLst>
                  <a:ahLst/>
                  <a:cxnLst>
                    <a:cxn ang="T8">
                      <a:pos x="T0" y="T1"/>
                    </a:cxn>
                    <a:cxn ang="T9">
                      <a:pos x="T2" y="T3"/>
                    </a:cxn>
                    <a:cxn ang="T10">
                      <a:pos x="T4" y="T5"/>
                    </a:cxn>
                    <a:cxn ang="T11">
                      <a:pos x="T6" y="T7"/>
                    </a:cxn>
                  </a:cxnLst>
                  <a:rect l="T12" t="T13" r="T14" b="T15"/>
                  <a:pathLst>
                    <a:path w="21600" h="21600">
                      <a:moveTo>
                        <a:pt x="0" y="0"/>
                      </a:moveTo>
                      <a:lnTo>
                        <a:pt x="7200" y="21600"/>
                      </a:lnTo>
                      <a:lnTo>
                        <a:pt x="14400" y="21600"/>
                      </a:lnTo>
                      <a:lnTo>
                        <a:pt x="21600" y="0"/>
                      </a:lnTo>
                      <a:lnTo>
                        <a:pt x="0" y="0"/>
                      </a:lnTo>
                      <a:close/>
                    </a:path>
                  </a:pathLst>
                </a:custGeom>
                <a:blipFill dpi="0" rotWithShape="0">
                  <a:blip r:embed="rId9"/>
                  <a:srcRect/>
                  <a:tile tx="0" ty="0" sx="100000" sy="100000" flip="none" algn="tl"/>
                </a:blipFill>
                <a:ln w="25400" cap="sq">
                  <a:solidFill>
                    <a:schemeClr val="tx1"/>
                  </a:solidFill>
                  <a:miter lim="800000"/>
                  <a:headEnd type="none" w="sm" len="sm"/>
                  <a:tailEnd type="none" w="sm" len="sm"/>
                </a:ln>
              </p:spPr>
              <p:txBody>
                <a:bodyPr wrap="none" anchor="ctr"/>
                <a:lstStyle/>
                <a:p>
                  <a:endParaRPr lang="zh-CN" altLang="en-US"/>
                </a:p>
              </p:txBody>
            </p:sp>
            <p:sp>
              <p:nvSpPr>
                <p:cNvPr id="9259" name="Line 103"/>
                <p:cNvSpPr>
                  <a:spLocks noChangeShapeType="1"/>
                </p:cNvSpPr>
                <p:nvPr/>
              </p:nvSpPr>
              <p:spPr bwMode="auto">
                <a:xfrm>
                  <a:off x="3702" y="817"/>
                  <a:ext cx="0" cy="216"/>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60" name="Arc 104"/>
                <p:cNvSpPr/>
                <p:nvPr/>
              </p:nvSpPr>
              <p:spPr bwMode="auto">
                <a:xfrm>
                  <a:off x="3702" y="1032"/>
                  <a:ext cx="593" cy="432"/>
                </a:xfrm>
                <a:custGeom>
                  <a:avLst/>
                  <a:gdLst>
                    <a:gd name="T0" fmla="*/ 0 w 18577"/>
                    <a:gd name="T1" fmla="*/ 0 h 21600"/>
                    <a:gd name="T2" fmla="*/ 0 w 18577"/>
                    <a:gd name="T3" fmla="*/ 0 h 21600"/>
                    <a:gd name="T4" fmla="*/ 0 w 18577"/>
                    <a:gd name="T5" fmla="*/ 0 h 21600"/>
                    <a:gd name="T6" fmla="*/ 0 60000 65536"/>
                    <a:gd name="T7" fmla="*/ 0 60000 65536"/>
                    <a:gd name="T8" fmla="*/ 0 60000 65536"/>
                    <a:gd name="T9" fmla="*/ 0 w 18577"/>
                    <a:gd name="T10" fmla="*/ 0 h 21600"/>
                    <a:gd name="T11" fmla="*/ 18577 w 18577"/>
                    <a:gd name="T12" fmla="*/ 21600 h 21600"/>
                  </a:gdLst>
                  <a:ahLst/>
                  <a:cxnLst>
                    <a:cxn ang="T6">
                      <a:pos x="T0" y="T1"/>
                    </a:cxn>
                    <a:cxn ang="T7">
                      <a:pos x="T2" y="T3"/>
                    </a:cxn>
                    <a:cxn ang="T8">
                      <a:pos x="T4" y="T5"/>
                    </a:cxn>
                  </a:cxnLst>
                  <a:rect l="T9" t="T10" r="T11" b="T12"/>
                  <a:pathLst>
                    <a:path w="18577" h="21600" fill="none" extrusionOk="0">
                      <a:moveTo>
                        <a:pt x="-1" y="0"/>
                      </a:moveTo>
                      <a:cubicBezTo>
                        <a:pt x="7625" y="0"/>
                        <a:pt x="14686" y="4020"/>
                        <a:pt x="18576" y="10579"/>
                      </a:cubicBezTo>
                    </a:path>
                    <a:path w="18577" h="21600" stroke="0" extrusionOk="0">
                      <a:moveTo>
                        <a:pt x="-1" y="0"/>
                      </a:moveTo>
                      <a:cubicBezTo>
                        <a:pt x="7625" y="0"/>
                        <a:pt x="14686" y="4020"/>
                        <a:pt x="18576" y="10579"/>
                      </a:cubicBezTo>
                      <a:lnTo>
                        <a:pt x="0" y="21600"/>
                      </a:lnTo>
                      <a:lnTo>
                        <a:pt x="-1" y="0"/>
                      </a:lnTo>
                      <a:close/>
                    </a:path>
                  </a:pathLst>
                </a:custGeom>
                <a:noFill/>
                <a:ln w="254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261" name="Arc 105"/>
                <p:cNvSpPr/>
                <p:nvPr/>
              </p:nvSpPr>
              <p:spPr bwMode="auto">
                <a:xfrm>
                  <a:off x="3708" y="908"/>
                  <a:ext cx="638" cy="438"/>
                </a:xfrm>
                <a:custGeom>
                  <a:avLst/>
                  <a:gdLst>
                    <a:gd name="T0" fmla="*/ 0 w 18871"/>
                    <a:gd name="T1" fmla="*/ 0 h 21600"/>
                    <a:gd name="T2" fmla="*/ 0 w 18871"/>
                    <a:gd name="T3" fmla="*/ 0 h 21600"/>
                    <a:gd name="T4" fmla="*/ 0 w 18871"/>
                    <a:gd name="T5" fmla="*/ 0 h 21600"/>
                    <a:gd name="T6" fmla="*/ 0 60000 65536"/>
                    <a:gd name="T7" fmla="*/ 0 60000 65536"/>
                    <a:gd name="T8" fmla="*/ 0 60000 65536"/>
                    <a:gd name="T9" fmla="*/ 0 w 18871"/>
                    <a:gd name="T10" fmla="*/ 0 h 21600"/>
                    <a:gd name="T11" fmla="*/ 18871 w 18871"/>
                    <a:gd name="T12" fmla="*/ 21600 h 21600"/>
                  </a:gdLst>
                  <a:ahLst/>
                  <a:cxnLst>
                    <a:cxn ang="T6">
                      <a:pos x="T0" y="T1"/>
                    </a:cxn>
                    <a:cxn ang="T7">
                      <a:pos x="T2" y="T3"/>
                    </a:cxn>
                    <a:cxn ang="T8">
                      <a:pos x="T4" y="T5"/>
                    </a:cxn>
                  </a:cxnLst>
                  <a:rect l="T9" t="T10" r="T11" b="T12"/>
                  <a:pathLst>
                    <a:path w="18871" h="21600" fill="none" extrusionOk="0">
                      <a:moveTo>
                        <a:pt x="-1" y="0"/>
                      </a:moveTo>
                      <a:cubicBezTo>
                        <a:pt x="7836" y="0"/>
                        <a:pt x="15058" y="4244"/>
                        <a:pt x="18871" y="11090"/>
                      </a:cubicBezTo>
                    </a:path>
                    <a:path w="18871" h="21600" stroke="0" extrusionOk="0">
                      <a:moveTo>
                        <a:pt x="-1" y="0"/>
                      </a:moveTo>
                      <a:cubicBezTo>
                        <a:pt x="7836" y="0"/>
                        <a:pt x="15058" y="4244"/>
                        <a:pt x="18871" y="11090"/>
                      </a:cubicBezTo>
                      <a:lnTo>
                        <a:pt x="0" y="21600"/>
                      </a:lnTo>
                      <a:lnTo>
                        <a:pt x="-1" y="0"/>
                      </a:lnTo>
                      <a:close/>
                    </a:path>
                  </a:pathLst>
                </a:custGeom>
                <a:noFill/>
                <a:ln w="254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262" name="Text Box 106"/>
                <p:cNvSpPr txBox="1">
                  <a:spLocks noChangeArrowheads="1"/>
                </p:cNvSpPr>
                <p:nvPr/>
              </p:nvSpPr>
              <p:spPr bwMode="auto">
                <a:xfrm>
                  <a:off x="4347" y="816"/>
                  <a:ext cx="454"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600" b="1"/>
                    <a:t>桥面</a:t>
                  </a:r>
                  <a:endParaRPr lang="zh-CN" altLang="en-US" sz="1600" b="1"/>
                </a:p>
              </p:txBody>
            </p:sp>
          </p:grpSp>
          <p:sp>
            <p:nvSpPr>
              <p:cNvPr id="4113" name="Text Box 107"/>
              <p:cNvSpPr txBox="1">
                <a:spLocks noChangeArrowheads="1"/>
              </p:cNvSpPr>
              <p:nvPr/>
            </p:nvSpPr>
            <p:spPr bwMode="auto">
              <a:xfrm>
                <a:off x="3786" y="2029"/>
                <a:ext cx="1458"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defRPr/>
                </a:pPr>
                <a:r>
                  <a:rPr lang="zh-CN" altLang="en-US" sz="2000" b="1" dirty="0" smtClean="0">
                    <a:latin typeface="+mn-ea"/>
                    <a:ea typeface="+mn-ea"/>
                  </a:rPr>
                  <a:t>拱桥桥台</a:t>
                </a:r>
                <a:endParaRPr lang="zh-CN" altLang="en-US" sz="2000" b="1" dirty="0" smtClean="0">
                  <a:latin typeface="+mn-ea"/>
                  <a:ea typeface="+mn-ea"/>
                </a:endParaRPr>
              </a:p>
            </p:txBody>
          </p:sp>
        </p:grpSp>
      </p:grpSp>
      <p:pic>
        <p:nvPicPr>
          <p:cNvPr id="9227" name="Picture 109" descr="图片2"/>
          <p:cNvPicPr>
            <a:picLocks noChangeAspect="1" noChangeArrowheads="1"/>
          </p:cNvPicPr>
          <p:nvPr/>
        </p:nvPicPr>
        <p:blipFill>
          <a:blip r:embed="rId10">
            <a:extLst>
              <a:ext uri="{28A0092B-C50C-407E-A947-70E740481C1C}">
                <a14:useLocalDpi xmlns:a14="http://schemas.microsoft.com/office/drawing/2010/main" val="0"/>
              </a:ext>
            </a:extLst>
          </a:blip>
          <a:srcRect l="46410" b="51581"/>
          <a:stretch>
            <a:fillRect/>
          </a:stretch>
        </p:blipFill>
        <p:spPr bwMode="auto">
          <a:xfrm>
            <a:off x="4808538" y="4010025"/>
            <a:ext cx="2447925" cy="2170113"/>
          </a:xfrm>
          <a:prstGeom prst="rect">
            <a:avLst/>
          </a:prstGeom>
          <a:solidFill>
            <a:schemeClr val="bg1"/>
          </a:solidFill>
          <a:ln w="9525">
            <a:solidFill>
              <a:srgbClr val="CCFFCC"/>
            </a:solidFill>
            <a:miter lim="800000"/>
            <a:headEnd/>
            <a:tailEnd/>
          </a:ln>
        </p:spPr>
      </p:pic>
      <p:pic>
        <p:nvPicPr>
          <p:cNvPr id="9228" name="Picture 110" descr="j014988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019925" y="4518025"/>
            <a:ext cx="487363" cy="341313"/>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07" name="Rectangle 6"/>
          <p:cNvSpPr>
            <a:spLocks noChangeArrowheads="1"/>
          </p:cNvSpPr>
          <p:nvPr/>
        </p:nvSpPr>
        <p:spPr bwMode="auto">
          <a:xfrm>
            <a:off x="0" y="0"/>
            <a:ext cx="1981200" cy="492125"/>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3200" dirty="0" smtClean="0">
                <a:solidFill>
                  <a:srgbClr val="FF3300"/>
                </a:solidFill>
                <a:latin typeface="Times New Roman" panose="02020603050405020304" pitchFamily="18" charset="0"/>
                <a:ea typeface="+mj-ea"/>
                <a:cs typeface="Times New Roman" panose="02020603050405020304" pitchFamily="18" charset="0"/>
              </a:rPr>
              <a:t>§6.1 </a:t>
            </a:r>
            <a:r>
              <a:rPr lang="zh-CN" altLang="en-US" sz="3200" dirty="0" smtClean="0">
                <a:solidFill>
                  <a:srgbClr val="FF3300"/>
                </a:solidFill>
                <a:latin typeface="Times New Roman" panose="02020603050405020304" pitchFamily="18" charset="0"/>
                <a:ea typeface="+mj-ea"/>
                <a:cs typeface="Times New Roman" panose="02020603050405020304" pitchFamily="18" charset="0"/>
              </a:rPr>
              <a:t>概述</a:t>
            </a:r>
            <a:endParaRPr lang="zh-CN" altLang="en-US" sz="3200"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ChangeArrowheads="1"/>
          </p:cNvSpPr>
          <p:nvPr/>
        </p:nvSpPr>
        <p:spPr bwMode="auto">
          <a:xfrm>
            <a:off x="542925" y="627063"/>
            <a:ext cx="7086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defRPr/>
            </a:pPr>
            <a:r>
              <a:rPr lang="zh-CN" altLang="en-US" sz="2800" b="1" dirty="0" smtClean="0">
                <a:latin typeface="+mj-ea"/>
                <a:ea typeface="+mj-ea"/>
              </a:rPr>
              <a:t>刚性挡土墙：</a:t>
            </a:r>
            <a:r>
              <a:rPr lang="zh-CN" altLang="en-US" b="1" dirty="0" smtClean="0">
                <a:latin typeface="+mn-ea"/>
                <a:ea typeface="+mn-ea"/>
              </a:rPr>
              <a:t>本身变形极小，只能发生整体位移</a:t>
            </a:r>
            <a:r>
              <a:rPr lang="zh-CN" altLang="en-US" dirty="0" smtClean="0">
                <a:latin typeface="宋体" panose="02010600030101010101" pitchFamily="2" charset="-122"/>
              </a:rPr>
              <a:t> </a:t>
            </a:r>
            <a:endParaRPr lang="zh-CN" altLang="en-US" dirty="0" smtClean="0">
              <a:latin typeface="宋体" panose="02010600030101010101" pitchFamily="2" charset="-122"/>
            </a:endParaRPr>
          </a:p>
        </p:txBody>
      </p:sp>
      <p:sp>
        <p:nvSpPr>
          <p:cNvPr id="10243" name="AutoShape 23" descr="棚架"/>
          <p:cNvSpPr>
            <a:spLocks noChangeArrowheads="1"/>
          </p:cNvSpPr>
          <p:nvPr/>
        </p:nvSpPr>
        <p:spPr bwMode="auto">
          <a:xfrm rot="-5400000">
            <a:off x="-460374" y="2413000"/>
            <a:ext cx="2303462" cy="592137"/>
          </a:xfrm>
          <a:prstGeom prst="rtTriangle">
            <a:avLst/>
          </a:prstGeom>
          <a:blipFill dpi="0" rotWithShape="0">
            <a:blip r:embed="rId1"/>
            <a:srcRect/>
            <a:tile tx="0" ty="0" sx="100000" sy="100000" flip="none" algn="tl"/>
          </a:blipFill>
          <a:ln w="9525">
            <a:solidFill>
              <a:schemeClr val="folHlink"/>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nvGrpSpPr>
          <p:cNvPr id="10244" name="Group 72"/>
          <p:cNvGrpSpPr/>
          <p:nvPr/>
        </p:nvGrpSpPr>
        <p:grpSpPr bwMode="auto">
          <a:xfrm>
            <a:off x="395288" y="1557338"/>
            <a:ext cx="2220912" cy="2303462"/>
            <a:chOff x="249" y="754"/>
            <a:chExt cx="1399" cy="1461"/>
          </a:xfrm>
        </p:grpSpPr>
        <p:grpSp>
          <p:nvGrpSpPr>
            <p:cNvPr id="10299" name="Group 24"/>
            <p:cNvGrpSpPr/>
            <p:nvPr/>
          </p:nvGrpSpPr>
          <p:grpSpPr bwMode="auto">
            <a:xfrm>
              <a:off x="249" y="754"/>
              <a:ext cx="1306" cy="1461"/>
              <a:chOff x="384" y="1488"/>
              <a:chExt cx="1344" cy="1008"/>
            </a:xfrm>
          </p:grpSpPr>
          <p:sp>
            <p:nvSpPr>
              <p:cNvPr id="10303" name="Line 25"/>
              <p:cNvSpPr>
                <a:spLocks noChangeShapeType="1"/>
              </p:cNvSpPr>
              <p:nvPr/>
            </p:nvSpPr>
            <p:spPr bwMode="auto">
              <a:xfrm>
                <a:off x="1152" y="1488"/>
                <a:ext cx="576" cy="0"/>
              </a:xfrm>
              <a:prstGeom prst="line">
                <a:avLst/>
              </a:prstGeom>
              <a:noFill/>
              <a:ln w="222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304" name="Line 26"/>
              <p:cNvSpPr>
                <a:spLocks noChangeShapeType="1"/>
              </p:cNvSpPr>
              <p:nvPr/>
            </p:nvSpPr>
            <p:spPr bwMode="auto">
              <a:xfrm flipH="1">
                <a:off x="384" y="1488"/>
                <a:ext cx="384" cy="1008"/>
              </a:xfrm>
              <a:prstGeom prst="line">
                <a:avLst/>
              </a:prstGeom>
              <a:noFill/>
              <a:ln w="222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305" name="Line 27"/>
              <p:cNvSpPr>
                <a:spLocks noChangeShapeType="1"/>
              </p:cNvSpPr>
              <p:nvPr/>
            </p:nvSpPr>
            <p:spPr bwMode="auto">
              <a:xfrm>
                <a:off x="384" y="2496"/>
                <a:ext cx="768" cy="0"/>
              </a:xfrm>
              <a:prstGeom prst="line">
                <a:avLst/>
              </a:prstGeom>
              <a:noFill/>
              <a:ln w="222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306" name="Line 28"/>
              <p:cNvSpPr>
                <a:spLocks noChangeShapeType="1"/>
              </p:cNvSpPr>
              <p:nvPr/>
            </p:nvSpPr>
            <p:spPr bwMode="auto">
              <a:xfrm>
                <a:off x="768" y="1488"/>
                <a:ext cx="384" cy="0"/>
              </a:xfrm>
              <a:prstGeom prst="line">
                <a:avLst/>
              </a:prstGeom>
              <a:noFill/>
              <a:ln w="222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307" name="Line 29"/>
              <p:cNvSpPr>
                <a:spLocks noChangeShapeType="1"/>
              </p:cNvSpPr>
              <p:nvPr/>
            </p:nvSpPr>
            <p:spPr bwMode="auto">
              <a:xfrm>
                <a:off x="1152" y="1488"/>
                <a:ext cx="0" cy="1008"/>
              </a:xfrm>
              <a:prstGeom prst="line">
                <a:avLst/>
              </a:prstGeom>
              <a:noFill/>
              <a:ln w="222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0300" name="Line 30"/>
            <p:cNvSpPr>
              <a:spLocks noChangeShapeType="1"/>
            </p:cNvSpPr>
            <p:nvPr/>
          </p:nvSpPr>
          <p:spPr bwMode="auto">
            <a:xfrm>
              <a:off x="995" y="2215"/>
              <a:ext cx="653" cy="0"/>
            </a:xfrm>
            <a:prstGeom prst="line">
              <a:avLst/>
            </a:prstGeom>
            <a:noFill/>
            <a:ln w="222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301" name="Rectangle 22" descr="棚架"/>
            <p:cNvSpPr>
              <a:spLocks noChangeArrowheads="1"/>
            </p:cNvSpPr>
            <p:nvPr/>
          </p:nvSpPr>
          <p:spPr bwMode="auto">
            <a:xfrm>
              <a:off x="622" y="754"/>
              <a:ext cx="373" cy="1461"/>
            </a:xfrm>
            <a:prstGeom prst="rect">
              <a:avLst/>
            </a:prstGeom>
            <a:blipFill dpi="0" rotWithShape="0">
              <a:blip r:embed="rId1"/>
              <a:srcRect/>
              <a:tile tx="0" ty="0" sx="100000" sy="100000" flip="none" algn="tl"/>
            </a:blipFill>
            <a:ln w="9525">
              <a:solidFill>
                <a:schemeClr val="folHlink"/>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5181" name="Text Box 31"/>
            <p:cNvSpPr txBox="1">
              <a:spLocks noChangeArrowheads="1"/>
            </p:cNvSpPr>
            <p:nvPr/>
          </p:nvSpPr>
          <p:spPr bwMode="auto">
            <a:xfrm>
              <a:off x="1066" y="1240"/>
              <a:ext cx="485" cy="192"/>
            </a:xfrm>
            <a:prstGeom prst="rect">
              <a:avLst/>
            </a:prstGeom>
            <a:noFill/>
            <a:ln w="9525" algn="ctr">
              <a:solidFill>
                <a:srgbClr val="CCFFCC"/>
              </a:solidFill>
              <a:miter lim="800000"/>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sz="2000" b="1" dirty="0" smtClean="0">
                  <a:latin typeface="+mn-ea"/>
                  <a:ea typeface="+mn-ea"/>
                </a:rPr>
                <a:t>重力式</a:t>
              </a:r>
              <a:endParaRPr kumimoji="0" lang="zh-CN" altLang="en-US" sz="2000" b="1" dirty="0" smtClean="0">
                <a:latin typeface="+mn-ea"/>
                <a:ea typeface="+mn-ea"/>
              </a:endParaRPr>
            </a:p>
          </p:txBody>
        </p:sp>
      </p:grpSp>
      <p:grpSp>
        <p:nvGrpSpPr>
          <p:cNvPr id="10245" name="Group 71"/>
          <p:cNvGrpSpPr/>
          <p:nvPr/>
        </p:nvGrpSpPr>
        <p:grpSpPr bwMode="auto">
          <a:xfrm>
            <a:off x="3638550" y="1557338"/>
            <a:ext cx="1665288" cy="2286000"/>
            <a:chOff x="2064" y="754"/>
            <a:chExt cx="1011" cy="1464"/>
          </a:xfrm>
        </p:grpSpPr>
        <p:sp>
          <p:nvSpPr>
            <p:cNvPr id="10297" name="Freeform 33" descr="宽上对角线"/>
            <p:cNvSpPr/>
            <p:nvPr/>
          </p:nvSpPr>
          <p:spPr bwMode="auto">
            <a:xfrm>
              <a:off x="2064" y="754"/>
              <a:ext cx="1011" cy="1464"/>
            </a:xfrm>
            <a:custGeom>
              <a:avLst/>
              <a:gdLst>
                <a:gd name="T0" fmla="*/ 3 w 1011"/>
                <a:gd name="T1" fmla="*/ 1464 h 1464"/>
                <a:gd name="T2" fmla="*/ 1011 w 1011"/>
                <a:gd name="T3" fmla="*/ 1464 h 1464"/>
                <a:gd name="T4" fmla="*/ 1011 w 1011"/>
                <a:gd name="T5" fmla="*/ 1347 h 1464"/>
                <a:gd name="T6" fmla="*/ 939 w 1011"/>
                <a:gd name="T7" fmla="*/ 1344 h 1464"/>
                <a:gd name="T8" fmla="*/ 897 w 1011"/>
                <a:gd name="T9" fmla="*/ 1239 h 1464"/>
                <a:gd name="T10" fmla="*/ 495 w 1011"/>
                <a:gd name="T11" fmla="*/ 1239 h 1464"/>
                <a:gd name="T12" fmla="*/ 402 w 1011"/>
                <a:gd name="T13" fmla="*/ 1113 h 1464"/>
                <a:gd name="T14" fmla="*/ 372 w 1011"/>
                <a:gd name="T15" fmla="*/ 0 h 1464"/>
                <a:gd name="T16" fmla="*/ 237 w 1011"/>
                <a:gd name="T17" fmla="*/ 0 h 1464"/>
                <a:gd name="T18" fmla="*/ 141 w 1011"/>
                <a:gd name="T19" fmla="*/ 1170 h 1464"/>
                <a:gd name="T20" fmla="*/ 0 w 1011"/>
                <a:gd name="T21" fmla="*/ 1314 h 1464"/>
                <a:gd name="T22" fmla="*/ 3 w 1011"/>
                <a:gd name="T23" fmla="*/ 1464 h 14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11"/>
                <a:gd name="T37" fmla="*/ 0 h 1464"/>
                <a:gd name="T38" fmla="*/ 1011 w 1011"/>
                <a:gd name="T39" fmla="*/ 1464 h 14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11" h="1464">
                  <a:moveTo>
                    <a:pt x="3" y="1464"/>
                  </a:moveTo>
                  <a:lnTo>
                    <a:pt x="1011" y="1464"/>
                  </a:lnTo>
                  <a:lnTo>
                    <a:pt x="1011" y="1347"/>
                  </a:lnTo>
                  <a:lnTo>
                    <a:pt x="939" y="1344"/>
                  </a:lnTo>
                  <a:lnTo>
                    <a:pt x="897" y="1239"/>
                  </a:lnTo>
                  <a:lnTo>
                    <a:pt x="495" y="1239"/>
                  </a:lnTo>
                  <a:lnTo>
                    <a:pt x="402" y="1113"/>
                  </a:lnTo>
                  <a:lnTo>
                    <a:pt x="372" y="0"/>
                  </a:lnTo>
                  <a:lnTo>
                    <a:pt x="237" y="0"/>
                  </a:lnTo>
                  <a:lnTo>
                    <a:pt x="141" y="1170"/>
                  </a:lnTo>
                  <a:lnTo>
                    <a:pt x="0" y="1314"/>
                  </a:lnTo>
                  <a:lnTo>
                    <a:pt x="3" y="1464"/>
                  </a:lnTo>
                  <a:close/>
                </a:path>
              </a:pathLst>
            </a:custGeom>
            <a:blipFill dpi="0" rotWithShape="0">
              <a:blip r:embed="rId2"/>
              <a:srcRect/>
              <a:tile tx="0" ty="0" sx="100000" sy="100000" flip="none" algn="tl"/>
            </a:blipFill>
            <a:ln w="28575">
              <a:solidFill>
                <a:schemeClr val="tx1"/>
              </a:solidFill>
              <a:round/>
            </a:ln>
          </p:spPr>
          <p:txBody>
            <a:bodyPr/>
            <a:lstStyle/>
            <a:p>
              <a:endParaRPr lang="zh-CN" altLang="en-US"/>
            </a:p>
          </p:txBody>
        </p:sp>
        <p:sp>
          <p:nvSpPr>
            <p:cNvPr id="5177" name="Text Box 34"/>
            <p:cNvSpPr txBox="1">
              <a:spLocks noChangeArrowheads="1"/>
            </p:cNvSpPr>
            <p:nvPr/>
          </p:nvSpPr>
          <p:spPr bwMode="auto">
            <a:xfrm>
              <a:off x="2562" y="1240"/>
              <a:ext cx="48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sz="2000" b="1" dirty="0" smtClean="0">
                  <a:latin typeface="+mn-ea"/>
                  <a:ea typeface="+mn-ea"/>
                </a:rPr>
                <a:t>悬臂式</a:t>
              </a:r>
              <a:endParaRPr kumimoji="0" lang="zh-CN" altLang="en-US" sz="2000" b="1" dirty="0" smtClean="0">
                <a:latin typeface="+mn-ea"/>
                <a:ea typeface="+mn-ea"/>
              </a:endParaRPr>
            </a:p>
          </p:txBody>
        </p:sp>
      </p:grpSp>
      <p:grpSp>
        <p:nvGrpSpPr>
          <p:cNvPr id="10246" name="Group 75"/>
          <p:cNvGrpSpPr/>
          <p:nvPr/>
        </p:nvGrpSpPr>
        <p:grpSpPr bwMode="auto">
          <a:xfrm>
            <a:off x="1258888" y="4287838"/>
            <a:ext cx="2379662" cy="2165350"/>
            <a:chOff x="612" y="2523"/>
            <a:chExt cx="1680" cy="1542"/>
          </a:xfrm>
        </p:grpSpPr>
        <p:sp>
          <p:nvSpPr>
            <p:cNvPr id="10291" name="Rectangle 60" descr="25%"/>
            <p:cNvSpPr>
              <a:spLocks noChangeArrowheads="1"/>
            </p:cNvSpPr>
            <p:nvPr/>
          </p:nvSpPr>
          <p:spPr bwMode="auto">
            <a:xfrm>
              <a:off x="852" y="2523"/>
              <a:ext cx="144" cy="1542"/>
            </a:xfrm>
            <a:prstGeom prst="rect">
              <a:avLst/>
            </a:prstGeom>
            <a:blipFill dpi="0" rotWithShape="0">
              <a:blip r:embed="rId3"/>
              <a:srcRect/>
              <a:tile tx="0" ty="0" sx="100000" sy="100000" flip="none" algn="tl"/>
            </a:blipFill>
            <a:ln w="22225">
              <a:solidFill>
                <a:schemeClr val="tx1"/>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0292" name="Line 61"/>
            <p:cNvSpPr>
              <a:spLocks noChangeShapeType="1"/>
            </p:cNvSpPr>
            <p:nvPr/>
          </p:nvSpPr>
          <p:spPr bwMode="auto">
            <a:xfrm>
              <a:off x="948" y="2909"/>
              <a:ext cx="1008" cy="0"/>
            </a:xfrm>
            <a:prstGeom prst="line">
              <a:avLst/>
            </a:prstGeom>
            <a:noFill/>
            <a:ln w="349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93" name="Rectangle 62"/>
            <p:cNvSpPr>
              <a:spLocks noChangeArrowheads="1"/>
            </p:cNvSpPr>
            <p:nvPr/>
          </p:nvSpPr>
          <p:spPr bwMode="auto">
            <a:xfrm>
              <a:off x="1956" y="2743"/>
              <a:ext cx="96" cy="441"/>
            </a:xfrm>
            <a:prstGeom prst="rect">
              <a:avLst/>
            </a:prstGeom>
            <a:solidFill>
              <a:srgbClr val="000000"/>
            </a:solidFill>
            <a:ln w="22225">
              <a:solidFill>
                <a:srgbClr val="000000"/>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0294" name="Line 63"/>
            <p:cNvSpPr>
              <a:spLocks noChangeShapeType="1"/>
            </p:cNvSpPr>
            <p:nvPr/>
          </p:nvSpPr>
          <p:spPr bwMode="auto">
            <a:xfrm>
              <a:off x="612" y="4065"/>
              <a:ext cx="1584" cy="0"/>
            </a:xfrm>
            <a:prstGeom prst="line">
              <a:avLst/>
            </a:prstGeom>
            <a:noFill/>
            <a:ln w="222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95" name="Line 64"/>
            <p:cNvSpPr>
              <a:spLocks noChangeShapeType="1"/>
            </p:cNvSpPr>
            <p:nvPr/>
          </p:nvSpPr>
          <p:spPr bwMode="auto">
            <a:xfrm>
              <a:off x="996" y="2633"/>
              <a:ext cx="1296" cy="0"/>
            </a:xfrm>
            <a:prstGeom prst="line">
              <a:avLst/>
            </a:prstGeom>
            <a:noFill/>
            <a:ln w="222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75" name="Text Box 65"/>
            <p:cNvSpPr txBox="1">
              <a:spLocks noChangeArrowheads="1"/>
            </p:cNvSpPr>
            <p:nvPr/>
          </p:nvSpPr>
          <p:spPr bwMode="auto">
            <a:xfrm>
              <a:off x="948" y="3239"/>
              <a:ext cx="808"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sz="3200" dirty="0" smtClean="0">
                  <a:solidFill>
                    <a:srgbClr val="6600FF"/>
                  </a:solidFill>
                  <a:latin typeface="Arial" panose="020B0604020202020204" pitchFamily="34" charset="0"/>
                  <a:ea typeface="隶书" panose="02010509060101010101" pitchFamily="49" charset="-122"/>
                </a:rPr>
                <a:t>   </a:t>
              </a:r>
              <a:r>
                <a:rPr kumimoji="0" lang="zh-CN" altLang="en-US" sz="2000" b="1" dirty="0" smtClean="0">
                  <a:latin typeface="+mn-ea"/>
                  <a:ea typeface="+mn-ea"/>
                </a:rPr>
                <a:t>锚拉式</a:t>
              </a:r>
              <a:endParaRPr kumimoji="0" lang="zh-CN" altLang="en-US" sz="2000" b="1" dirty="0" smtClean="0">
                <a:latin typeface="+mn-ea"/>
                <a:ea typeface="+mn-ea"/>
              </a:endParaRPr>
            </a:p>
            <a:p>
              <a:pPr eaLnBrk="1" hangingPunct="1">
                <a:defRPr/>
              </a:pPr>
              <a:r>
                <a:rPr kumimoji="0" lang="zh-CN" altLang="en-US" sz="2000" b="1" dirty="0" smtClean="0">
                  <a:latin typeface="+mn-ea"/>
                  <a:ea typeface="+mn-ea"/>
                </a:rPr>
                <a:t>（锚碇式）</a:t>
              </a:r>
              <a:endParaRPr kumimoji="0" lang="zh-CN" altLang="en-US" sz="2000" b="1" dirty="0" smtClean="0">
                <a:latin typeface="+mn-ea"/>
                <a:ea typeface="+mn-ea"/>
              </a:endParaRPr>
            </a:p>
          </p:txBody>
        </p:sp>
      </p:grpSp>
      <p:grpSp>
        <p:nvGrpSpPr>
          <p:cNvPr id="10247" name="Group 70"/>
          <p:cNvGrpSpPr/>
          <p:nvPr/>
        </p:nvGrpSpPr>
        <p:grpSpPr bwMode="auto">
          <a:xfrm>
            <a:off x="5775325" y="1700213"/>
            <a:ext cx="2662238" cy="4800600"/>
            <a:chOff x="3334" y="754"/>
            <a:chExt cx="1981" cy="3341"/>
          </a:xfrm>
        </p:grpSpPr>
        <p:grpSp>
          <p:nvGrpSpPr>
            <p:cNvPr id="10250" name="Group 3"/>
            <p:cNvGrpSpPr/>
            <p:nvPr/>
          </p:nvGrpSpPr>
          <p:grpSpPr bwMode="auto">
            <a:xfrm>
              <a:off x="3334" y="2568"/>
              <a:ext cx="1410" cy="1527"/>
              <a:chOff x="1440" y="2745"/>
              <a:chExt cx="1410" cy="1527"/>
            </a:xfrm>
          </p:grpSpPr>
          <p:sp>
            <p:nvSpPr>
              <p:cNvPr id="10276" name="Freeform 4" descr="25%"/>
              <p:cNvSpPr/>
              <p:nvPr/>
            </p:nvSpPr>
            <p:spPr bwMode="auto">
              <a:xfrm>
                <a:off x="1614" y="2745"/>
                <a:ext cx="972" cy="492"/>
              </a:xfrm>
              <a:custGeom>
                <a:avLst/>
                <a:gdLst>
                  <a:gd name="T0" fmla="*/ 909 w 972"/>
                  <a:gd name="T1" fmla="*/ 0 h 492"/>
                  <a:gd name="T2" fmla="*/ 0 w 972"/>
                  <a:gd name="T3" fmla="*/ 474 h 492"/>
                  <a:gd name="T4" fmla="*/ 69 w 972"/>
                  <a:gd name="T5" fmla="*/ 492 h 492"/>
                  <a:gd name="T6" fmla="*/ 972 w 972"/>
                  <a:gd name="T7" fmla="*/ 30 h 492"/>
                  <a:gd name="T8" fmla="*/ 909 w 972"/>
                  <a:gd name="T9" fmla="*/ 0 h 492"/>
                  <a:gd name="T10" fmla="*/ 0 60000 65536"/>
                  <a:gd name="T11" fmla="*/ 0 60000 65536"/>
                  <a:gd name="T12" fmla="*/ 0 60000 65536"/>
                  <a:gd name="T13" fmla="*/ 0 60000 65536"/>
                  <a:gd name="T14" fmla="*/ 0 60000 65536"/>
                  <a:gd name="T15" fmla="*/ 0 w 972"/>
                  <a:gd name="T16" fmla="*/ 0 h 492"/>
                  <a:gd name="T17" fmla="*/ 972 w 972"/>
                  <a:gd name="T18" fmla="*/ 492 h 492"/>
                </a:gdLst>
                <a:ahLst/>
                <a:cxnLst>
                  <a:cxn ang="T10">
                    <a:pos x="T0" y="T1"/>
                  </a:cxn>
                  <a:cxn ang="T11">
                    <a:pos x="T2" y="T3"/>
                  </a:cxn>
                  <a:cxn ang="T12">
                    <a:pos x="T4" y="T5"/>
                  </a:cxn>
                  <a:cxn ang="T13">
                    <a:pos x="T6" y="T7"/>
                  </a:cxn>
                  <a:cxn ang="T14">
                    <a:pos x="T8" y="T9"/>
                  </a:cxn>
                </a:cxnLst>
                <a:rect l="T15" t="T16" r="T17" b="T18"/>
                <a:pathLst>
                  <a:path w="972" h="492">
                    <a:moveTo>
                      <a:pt x="909" y="0"/>
                    </a:moveTo>
                    <a:lnTo>
                      <a:pt x="0" y="474"/>
                    </a:lnTo>
                    <a:lnTo>
                      <a:pt x="69" y="492"/>
                    </a:lnTo>
                    <a:lnTo>
                      <a:pt x="972" y="30"/>
                    </a:lnTo>
                    <a:lnTo>
                      <a:pt x="909" y="0"/>
                    </a:lnTo>
                    <a:close/>
                  </a:path>
                </a:pathLst>
              </a:custGeom>
              <a:blipFill dpi="0" rotWithShape="0">
                <a:blip r:embed="rId3"/>
                <a:srcRect/>
                <a:tile tx="0" ty="0" sx="100000" sy="100000" flip="none" algn="tl"/>
              </a:blipFill>
              <a:ln w="25400">
                <a:solidFill>
                  <a:schemeClr val="tx1"/>
                </a:solidFill>
                <a:round/>
              </a:ln>
            </p:spPr>
            <p:txBody>
              <a:bodyPr/>
              <a:lstStyle/>
              <a:p>
                <a:endParaRPr lang="zh-CN" altLang="en-US"/>
              </a:p>
            </p:txBody>
          </p:sp>
          <p:sp>
            <p:nvSpPr>
              <p:cNvPr id="10277" name="Freeform 5" descr="25%"/>
              <p:cNvSpPr/>
              <p:nvPr/>
            </p:nvSpPr>
            <p:spPr bwMode="auto">
              <a:xfrm>
                <a:off x="1680" y="2775"/>
                <a:ext cx="963" cy="1263"/>
              </a:xfrm>
              <a:custGeom>
                <a:avLst/>
                <a:gdLst>
                  <a:gd name="T0" fmla="*/ 0 w 963"/>
                  <a:gd name="T1" fmla="*/ 441 h 1263"/>
                  <a:gd name="T2" fmla="*/ 3 w 963"/>
                  <a:gd name="T3" fmla="*/ 1263 h 1263"/>
                  <a:gd name="T4" fmla="*/ 963 w 963"/>
                  <a:gd name="T5" fmla="*/ 708 h 1263"/>
                  <a:gd name="T6" fmla="*/ 909 w 963"/>
                  <a:gd name="T7" fmla="*/ 0 h 1263"/>
                  <a:gd name="T8" fmla="*/ 0 w 963"/>
                  <a:gd name="T9" fmla="*/ 468 h 1263"/>
                  <a:gd name="T10" fmla="*/ 0 60000 65536"/>
                  <a:gd name="T11" fmla="*/ 0 60000 65536"/>
                  <a:gd name="T12" fmla="*/ 0 60000 65536"/>
                  <a:gd name="T13" fmla="*/ 0 60000 65536"/>
                  <a:gd name="T14" fmla="*/ 0 60000 65536"/>
                  <a:gd name="T15" fmla="*/ 0 w 963"/>
                  <a:gd name="T16" fmla="*/ 0 h 1263"/>
                  <a:gd name="T17" fmla="*/ 963 w 963"/>
                  <a:gd name="T18" fmla="*/ 1263 h 1263"/>
                </a:gdLst>
                <a:ahLst/>
                <a:cxnLst>
                  <a:cxn ang="T10">
                    <a:pos x="T0" y="T1"/>
                  </a:cxn>
                  <a:cxn ang="T11">
                    <a:pos x="T2" y="T3"/>
                  </a:cxn>
                  <a:cxn ang="T12">
                    <a:pos x="T4" y="T5"/>
                  </a:cxn>
                  <a:cxn ang="T13">
                    <a:pos x="T6" y="T7"/>
                  </a:cxn>
                  <a:cxn ang="T14">
                    <a:pos x="T8" y="T9"/>
                  </a:cxn>
                </a:cxnLst>
                <a:rect l="T15" t="T16" r="T17" b="T18"/>
                <a:pathLst>
                  <a:path w="963" h="1263">
                    <a:moveTo>
                      <a:pt x="0" y="441"/>
                    </a:moveTo>
                    <a:lnTo>
                      <a:pt x="3" y="1263"/>
                    </a:lnTo>
                    <a:lnTo>
                      <a:pt x="963" y="708"/>
                    </a:lnTo>
                    <a:lnTo>
                      <a:pt x="909" y="0"/>
                    </a:lnTo>
                    <a:lnTo>
                      <a:pt x="0" y="468"/>
                    </a:lnTo>
                  </a:path>
                </a:pathLst>
              </a:custGeom>
              <a:blipFill dpi="0" rotWithShape="0">
                <a:blip r:embed="rId3"/>
                <a:srcRect/>
                <a:tile tx="0" ty="0" sx="100000" sy="100000" flip="none" algn="tl"/>
              </a:blipFill>
              <a:ln w="25400">
                <a:solidFill>
                  <a:srgbClr val="000000"/>
                </a:solidFill>
                <a:round/>
              </a:ln>
            </p:spPr>
            <p:txBody>
              <a:bodyPr/>
              <a:lstStyle/>
              <a:p>
                <a:endParaRPr lang="zh-CN" altLang="en-US"/>
              </a:p>
            </p:txBody>
          </p:sp>
          <p:sp>
            <p:nvSpPr>
              <p:cNvPr id="10278" name="Freeform 6" descr="25%"/>
              <p:cNvSpPr/>
              <p:nvPr/>
            </p:nvSpPr>
            <p:spPr bwMode="auto">
              <a:xfrm>
                <a:off x="1611" y="3219"/>
                <a:ext cx="72" cy="813"/>
              </a:xfrm>
              <a:custGeom>
                <a:avLst/>
                <a:gdLst>
                  <a:gd name="T0" fmla="*/ 6 w 72"/>
                  <a:gd name="T1" fmla="*/ 0 h 813"/>
                  <a:gd name="T2" fmla="*/ 69 w 72"/>
                  <a:gd name="T3" fmla="*/ 21 h 813"/>
                  <a:gd name="T4" fmla="*/ 72 w 72"/>
                  <a:gd name="T5" fmla="*/ 813 h 813"/>
                  <a:gd name="T6" fmla="*/ 0 w 72"/>
                  <a:gd name="T7" fmla="*/ 789 h 813"/>
                  <a:gd name="T8" fmla="*/ 6 w 72"/>
                  <a:gd name="T9" fmla="*/ 0 h 813"/>
                  <a:gd name="T10" fmla="*/ 0 60000 65536"/>
                  <a:gd name="T11" fmla="*/ 0 60000 65536"/>
                  <a:gd name="T12" fmla="*/ 0 60000 65536"/>
                  <a:gd name="T13" fmla="*/ 0 60000 65536"/>
                  <a:gd name="T14" fmla="*/ 0 60000 65536"/>
                  <a:gd name="T15" fmla="*/ 0 w 72"/>
                  <a:gd name="T16" fmla="*/ 0 h 813"/>
                  <a:gd name="T17" fmla="*/ 72 w 72"/>
                  <a:gd name="T18" fmla="*/ 813 h 813"/>
                </a:gdLst>
                <a:ahLst/>
                <a:cxnLst>
                  <a:cxn ang="T10">
                    <a:pos x="T0" y="T1"/>
                  </a:cxn>
                  <a:cxn ang="T11">
                    <a:pos x="T2" y="T3"/>
                  </a:cxn>
                  <a:cxn ang="T12">
                    <a:pos x="T4" y="T5"/>
                  </a:cxn>
                  <a:cxn ang="T13">
                    <a:pos x="T6" y="T7"/>
                  </a:cxn>
                  <a:cxn ang="T14">
                    <a:pos x="T8" y="T9"/>
                  </a:cxn>
                </a:cxnLst>
                <a:rect l="T15" t="T16" r="T17" b="T18"/>
                <a:pathLst>
                  <a:path w="72" h="813">
                    <a:moveTo>
                      <a:pt x="6" y="0"/>
                    </a:moveTo>
                    <a:lnTo>
                      <a:pt x="69" y="21"/>
                    </a:lnTo>
                    <a:lnTo>
                      <a:pt x="72" y="813"/>
                    </a:lnTo>
                    <a:lnTo>
                      <a:pt x="0" y="789"/>
                    </a:lnTo>
                    <a:lnTo>
                      <a:pt x="6" y="0"/>
                    </a:lnTo>
                    <a:close/>
                  </a:path>
                </a:pathLst>
              </a:custGeom>
              <a:blipFill dpi="0" rotWithShape="0">
                <a:blip r:embed="rId3"/>
                <a:srcRect/>
                <a:tile tx="0" ty="0" sx="100000" sy="100000" flip="none" algn="tl"/>
              </a:blipFill>
              <a:ln w="25400">
                <a:solidFill>
                  <a:schemeClr val="tx1"/>
                </a:solidFill>
                <a:round/>
              </a:ln>
            </p:spPr>
            <p:txBody>
              <a:bodyPr/>
              <a:lstStyle/>
              <a:p>
                <a:endParaRPr lang="zh-CN" altLang="en-US"/>
              </a:p>
            </p:txBody>
          </p:sp>
          <p:sp>
            <p:nvSpPr>
              <p:cNvPr id="10279" name="Freeform 7" descr="25%"/>
              <p:cNvSpPr/>
              <p:nvPr/>
            </p:nvSpPr>
            <p:spPr bwMode="auto">
              <a:xfrm>
                <a:off x="1689" y="3477"/>
                <a:ext cx="1161" cy="636"/>
              </a:xfrm>
              <a:custGeom>
                <a:avLst/>
                <a:gdLst>
                  <a:gd name="T0" fmla="*/ 0 w 1161"/>
                  <a:gd name="T1" fmla="*/ 558 h 636"/>
                  <a:gd name="T2" fmla="*/ 954 w 1161"/>
                  <a:gd name="T3" fmla="*/ 0 h 636"/>
                  <a:gd name="T4" fmla="*/ 1161 w 1161"/>
                  <a:gd name="T5" fmla="*/ 69 h 636"/>
                  <a:gd name="T6" fmla="*/ 267 w 1161"/>
                  <a:gd name="T7" fmla="*/ 636 h 636"/>
                  <a:gd name="T8" fmla="*/ 0 w 1161"/>
                  <a:gd name="T9" fmla="*/ 558 h 636"/>
                  <a:gd name="T10" fmla="*/ 0 60000 65536"/>
                  <a:gd name="T11" fmla="*/ 0 60000 65536"/>
                  <a:gd name="T12" fmla="*/ 0 60000 65536"/>
                  <a:gd name="T13" fmla="*/ 0 60000 65536"/>
                  <a:gd name="T14" fmla="*/ 0 60000 65536"/>
                  <a:gd name="T15" fmla="*/ 0 w 1161"/>
                  <a:gd name="T16" fmla="*/ 0 h 636"/>
                  <a:gd name="T17" fmla="*/ 1161 w 1161"/>
                  <a:gd name="T18" fmla="*/ 636 h 636"/>
                </a:gdLst>
                <a:ahLst/>
                <a:cxnLst>
                  <a:cxn ang="T10">
                    <a:pos x="T0" y="T1"/>
                  </a:cxn>
                  <a:cxn ang="T11">
                    <a:pos x="T2" y="T3"/>
                  </a:cxn>
                  <a:cxn ang="T12">
                    <a:pos x="T4" y="T5"/>
                  </a:cxn>
                  <a:cxn ang="T13">
                    <a:pos x="T6" y="T7"/>
                  </a:cxn>
                  <a:cxn ang="T14">
                    <a:pos x="T8" y="T9"/>
                  </a:cxn>
                </a:cxnLst>
                <a:rect l="T15" t="T16" r="T17" b="T18"/>
                <a:pathLst>
                  <a:path w="1161" h="636">
                    <a:moveTo>
                      <a:pt x="0" y="558"/>
                    </a:moveTo>
                    <a:lnTo>
                      <a:pt x="954" y="0"/>
                    </a:lnTo>
                    <a:lnTo>
                      <a:pt x="1161" y="69"/>
                    </a:lnTo>
                    <a:lnTo>
                      <a:pt x="267" y="636"/>
                    </a:lnTo>
                    <a:lnTo>
                      <a:pt x="0" y="558"/>
                    </a:lnTo>
                    <a:close/>
                  </a:path>
                </a:pathLst>
              </a:custGeom>
              <a:blipFill dpi="0" rotWithShape="0">
                <a:blip r:embed="rId3"/>
                <a:srcRect/>
                <a:tile tx="0" ty="0" sx="100000" sy="100000" flip="none" algn="tl"/>
              </a:blipFill>
              <a:ln w="25400">
                <a:solidFill>
                  <a:srgbClr val="000000"/>
                </a:solidFill>
                <a:round/>
              </a:ln>
            </p:spPr>
            <p:txBody>
              <a:bodyPr/>
              <a:lstStyle/>
              <a:p>
                <a:endParaRPr lang="zh-CN" altLang="en-US"/>
              </a:p>
            </p:txBody>
          </p:sp>
          <p:grpSp>
            <p:nvGrpSpPr>
              <p:cNvPr id="10280" name="Group 8" descr="25%"/>
              <p:cNvGrpSpPr/>
              <p:nvPr/>
            </p:nvGrpSpPr>
            <p:grpSpPr bwMode="auto">
              <a:xfrm>
                <a:off x="1866" y="3165"/>
                <a:ext cx="306" cy="843"/>
                <a:chOff x="1866" y="3165"/>
                <a:chExt cx="306" cy="843"/>
              </a:xfrm>
            </p:grpSpPr>
            <p:sp>
              <p:nvSpPr>
                <p:cNvPr id="10288" name="Freeform 9" descr="25%"/>
                <p:cNvSpPr/>
                <p:nvPr/>
              </p:nvSpPr>
              <p:spPr bwMode="auto">
                <a:xfrm>
                  <a:off x="1869" y="3192"/>
                  <a:ext cx="249" cy="816"/>
                </a:xfrm>
                <a:custGeom>
                  <a:avLst/>
                  <a:gdLst>
                    <a:gd name="T0" fmla="*/ 0 w 249"/>
                    <a:gd name="T1" fmla="*/ 0 h 816"/>
                    <a:gd name="T2" fmla="*/ 3 w 249"/>
                    <a:gd name="T3" fmla="*/ 741 h 816"/>
                    <a:gd name="T4" fmla="*/ 249 w 249"/>
                    <a:gd name="T5" fmla="*/ 816 h 816"/>
                    <a:gd name="T6" fmla="*/ 33 w 249"/>
                    <a:gd name="T7" fmla="*/ 9 h 816"/>
                    <a:gd name="T8" fmla="*/ 0 w 249"/>
                    <a:gd name="T9" fmla="*/ 0 h 816"/>
                    <a:gd name="T10" fmla="*/ 0 60000 65536"/>
                    <a:gd name="T11" fmla="*/ 0 60000 65536"/>
                    <a:gd name="T12" fmla="*/ 0 60000 65536"/>
                    <a:gd name="T13" fmla="*/ 0 60000 65536"/>
                    <a:gd name="T14" fmla="*/ 0 60000 65536"/>
                    <a:gd name="T15" fmla="*/ 0 w 249"/>
                    <a:gd name="T16" fmla="*/ 0 h 816"/>
                    <a:gd name="T17" fmla="*/ 249 w 249"/>
                    <a:gd name="T18" fmla="*/ 816 h 816"/>
                  </a:gdLst>
                  <a:ahLst/>
                  <a:cxnLst>
                    <a:cxn ang="T10">
                      <a:pos x="T0" y="T1"/>
                    </a:cxn>
                    <a:cxn ang="T11">
                      <a:pos x="T2" y="T3"/>
                    </a:cxn>
                    <a:cxn ang="T12">
                      <a:pos x="T4" y="T5"/>
                    </a:cxn>
                    <a:cxn ang="T13">
                      <a:pos x="T6" y="T7"/>
                    </a:cxn>
                    <a:cxn ang="T14">
                      <a:pos x="T8" y="T9"/>
                    </a:cxn>
                  </a:cxnLst>
                  <a:rect l="T15" t="T16" r="T17" b="T18"/>
                  <a:pathLst>
                    <a:path w="249" h="816">
                      <a:moveTo>
                        <a:pt x="0" y="0"/>
                      </a:moveTo>
                      <a:lnTo>
                        <a:pt x="3" y="741"/>
                      </a:lnTo>
                      <a:lnTo>
                        <a:pt x="249" y="816"/>
                      </a:lnTo>
                      <a:lnTo>
                        <a:pt x="33" y="9"/>
                      </a:lnTo>
                      <a:lnTo>
                        <a:pt x="0" y="0"/>
                      </a:lnTo>
                      <a:close/>
                    </a:path>
                  </a:pathLst>
                </a:custGeom>
                <a:blipFill dpi="0" rotWithShape="0">
                  <a:blip r:embed="rId3"/>
                  <a:srcRect/>
                  <a:tile tx="0" ty="0" sx="100000" sy="100000" flip="none" algn="tl"/>
                </a:blipFill>
                <a:ln w="25400">
                  <a:solidFill>
                    <a:schemeClr val="tx1"/>
                  </a:solidFill>
                  <a:round/>
                </a:ln>
              </p:spPr>
              <p:txBody>
                <a:bodyPr/>
                <a:lstStyle/>
                <a:p>
                  <a:endParaRPr lang="zh-CN" altLang="en-US"/>
                </a:p>
              </p:txBody>
            </p:sp>
            <p:sp>
              <p:nvSpPr>
                <p:cNvPr id="10289" name="Freeform 10" descr="25%"/>
                <p:cNvSpPr/>
                <p:nvPr/>
              </p:nvSpPr>
              <p:spPr bwMode="auto">
                <a:xfrm>
                  <a:off x="1866" y="3165"/>
                  <a:ext cx="84" cy="36"/>
                </a:xfrm>
                <a:custGeom>
                  <a:avLst/>
                  <a:gdLst>
                    <a:gd name="T0" fmla="*/ 0 w 84"/>
                    <a:gd name="T1" fmla="*/ 27 h 36"/>
                    <a:gd name="T2" fmla="*/ 42 w 84"/>
                    <a:gd name="T3" fmla="*/ 0 h 36"/>
                    <a:gd name="T4" fmla="*/ 84 w 84"/>
                    <a:gd name="T5" fmla="*/ 9 h 36"/>
                    <a:gd name="T6" fmla="*/ 36 w 84"/>
                    <a:gd name="T7" fmla="*/ 36 h 36"/>
                    <a:gd name="T8" fmla="*/ 0 w 84"/>
                    <a:gd name="T9" fmla="*/ 27 h 36"/>
                    <a:gd name="T10" fmla="*/ 0 60000 65536"/>
                    <a:gd name="T11" fmla="*/ 0 60000 65536"/>
                    <a:gd name="T12" fmla="*/ 0 60000 65536"/>
                    <a:gd name="T13" fmla="*/ 0 60000 65536"/>
                    <a:gd name="T14" fmla="*/ 0 60000 65536"/>
                    <a:gd name="T15" fmla="*/ 0 w 84"/>
                    <a:gd name="T16" fmla="*/ 0 h 36"/>
                    <a:gd name="T17" fmla="*/ 84 w 84"/>
                    <a:gd name="T18" fmla="*/ 36 h 36"/>
                  </a:gdLst>
                  <a:ahLst/>
                  <a:cxnLst>
                    <a:cxn ang="T10">
                      <a:pos x="T0" y="T1"/>
                    </a:cxn>
                    <a:cxn ang="T11">
                      <a:pos x="T2" y="T3"/>
                    </a:cxn>
                    <a:cxn ang="T12">
                      <a:pos x="T4" y="T5"/>
                    </a:cxn>
                    <a:cxn ang="T13">
                      <a:pos x="T6" y="T7"/>
                    </a:cxn>
                    <a:cxn ang="T14">
                      <a:pos x="T8" y="T9"/>
                    </a:cxn>
                  </a:cxnLst>
                  <a:rect l="T15" t="T16" r="T17" b="T18"/>
                  <a:pathLst>
                    <a:path w="84" h="36">
                      <a:moveTo>
                        <a:pt x="0" y="27"/>
                      </a:moveTo>
                      <a:lnTo>
                        <a:pt x="42" y="0"/>
                      </a:lnTo>
                      <a:lnTo>
                        <a:pt x="84" y="9"/>
                      </a:lnTo>
                      <a:lnTo>
                        <a:pt x="36" y="36"/>
                      </a:lnTo>
                      <a:lnTo>
                        <a:pt x="0" y="27"/>
                      </a:lnTo>
                      <a:close/>
                    </a:path>
                  </a:pathLst>
                </a:custGeom>
                <a:blipFill dpi="0" rotWithShape="0">
                  <a:blip r:embed="rId4"/>
                  <a:srcRect/>
                  <a:tile tx="0" ty="0" sx="100000" sy="100000" flip="none" algn="tl"/>
                </a:blipFill>
                <a:ln w="25400">
                  <a:solidFill>
                    <a:srgbClr val="800000"/>
                  </a:solidFill>
                  <a:round/>
                </a:ln>
              </p:spPr>
              <p:txBody>
                <a:bodyPr/>
                <a:lstStyle/>
                <a:p>
                  <a:endParaRPr lang="zh-CN" altLang="en-US"/>
                </a:p>
              </p:txBody>
            </p:sp>
            <p:sp>
              <p:nvSpPr>
                <p:cNvPr id="10290" name="Freeform 11" descr="25%"/>
                <p:cNvSpPr/>
                <p:nvPr/>
              </p:nvSpPr>
              <p:spPr bwMode="auto">
                <a:xfrm>
                  <a:off x="1908" y="3171"/>
                  <a:ext cx="264" cy="837"/>
                </a:xfrm>
                <a:custGeom>
                  <a:avLst/>
                  <a:gdLst>
                    <a:gd name="T0" fmla="*/ 42 w 264"/>
                    <a:gd name="T1" fmla="*/ 0 h 846"/>
                    <a:gd name="T2" fmla="*/ 264 w 264"/>
                    <a:gd name="T3" fmla="*/ 671 h 846"/>
                    <a:gd name="T4" fmla="*/ 210 w 264"/>
                    <a:gd name="T5" fmla="*/ 697 h 846"/>
                    <a:gd name="T6" fmla="*/ 0 w 264"/>
                    <a:gd name="T7" fmla="*/ 36 h 846"/>
                    <a:gd name="T8" fmla="*/ 42 w 264"/>
                    <a:gd name="T9" fmla="*/ 0 h 846"/>
                    <a:gd name="T10" fmla="*/ 0 60000 65536"/>
                    <a:gd name="T11" fmla="*/ 0 60000 65536"/>
                    <a:gd name="T12" fmla="*/ 0 60000 65536"/>
                    <a:gd name="T13" fmla="*/ 0 60000 65536"/>
                    <a:gd name="T14" fmla="*/ 0 60000 65536"/>
                    <a:gd name="T15" fmla="*/ 0 w 264"/>
                    <a:gd name="T16" fmla="*/ 0 h 846"/>
                    <a:gd name="T17" fmla="*/ 264 w 264"/>
                    <a:gd name="T18" fmla="*/ 846 h 846"/>
                  </a:gdLst>
                  <a:ahLst/>
                  <a:cxnLst>
                    <a:cxn ang="T10">
                      <a:pos x="T0" y="T1"/>
                    </a:cxn>
                    <a:cxn ang="T11">
                      <a:pos x="T2" y="T3"/>
                    </a:cxn>
                    <a:cxn ang="T12">
                      <a:pos x="T4" y="T5"/>
                    </a:cxn>
                    <a:cxn ang="T13">
                      <a:pos x="T6" y="T7"/>
                    </a:cxn>
                    <a:cxn ang="T14">
                      <a:pos x="T8" y="T9"/>
                    </a:cxn>
                  </a:cxnLst>
                  <a:rect l="T15" t="T16" r="T17" b="T18"/>
                  <a:pathLst>
                    <a:path w="264" h="846">
                      <a:moveTo>
                        <a:pt x="42" y="0"/>
                      </a:moveTo>
                      <a:lnTo>
                        <a:pt x="264" y="813"/>
                      </a:lnTo>
                      <a:lnTo>
                        <a:pt x="210" y="846"/>
                      </a:lnTo>
                      <a:lnTo>
                        <a:pt x="0" y="36"/>
                      </a:lnTo>
                      <a:lnTo>
                        <a:pt x="42" y="0"/>
                      </a:lnTo>
                      <a:close/>
                    </a:path>
                  </a:pathLst>
                </a:custGeom>
                <a:blipFill dpi="0" rotWithShape="0">
                  <a:blip r:embed="rId3"/>
                  <a:srcRect/>
                  <a:tile tx="0" ty="0" sx="100000" sy="100000" flip="none" algn="tl"/>
                </a:blipFill>
                <a:ln w="25400">
                  <a:solidFill>
                    <a:srgbClr val="000000"/>
                  </a:solidFill>
                  <a:round/>
                </a:ln>
              </p:spPr>
              <p:txBody>
                <a:bodyPr/>
                <a:lstStyle/>
                <a:p>
                  <a:endParaRPr lang="zh-CN" altLang="en-US"/>
                </a:p>
              </p:txBody>
            </p:sp>
          </p:grpSp>
          <p:grpSp>
            <p:nvGrpSpPr>
              <p:cNvPr id="10281" name="Group 12" descr="25%"/>
              <p:cNvGrpSpPr/>
              <p:nvPr/>
            </p:nvGrpSpPr>
            <p:grpSpPr bwMode="auto">
              <a:xfrm>
                <a:off x="2304" y="2937"/>
                <a:ext cx="285" cy="807"/>
                <a:chOff x="1866" y="3165"/>
                <a:chExt cx="306" cy="843"/>
              </a:xfrm>
            </p:grpSpPr>
            <p:sp>
              <p:nvSpPr>
                <p:cNvPr id="10285" name="Freeform 13" descr="25%"/>
                <p:cNvSpPr/>
                <p:nvPr/>
              </p:nvSpPr>
              <p:spPr bwMode="auto">
                <a:xfrm>
                  <a:off x="1869" y="3192"/>
                  <a:ext cx="249" cy="816"/>
                </a:xfrm>
                <a:custGeom>
                  <a:avLst/>
                  <a:gdLst>
                    <a:gd name="T0" fmla="*/ 0 w 249"/>
                    <a:gd name="T1" fmla="*/ 0 h 816"/>
                    <a:gd name="T2" fmla="*/ 3 w 249"/>
                    <a:gd name="T3" fmla="*/ 741 h 816"/>
                    <a:gd name="T4" fmla="*/ 249 w 249"/>
                    <a:gd name="T5" fmla="*/ 816 h 816"/>
                    <a:gd name="T6" fmla="*/ 33 w 249"/>
                    <a:gd name="T7" fmla="*/ 9 h 816"/>
                    <a:gd name="T8" fmla="*/ 0 w 249"/>
                    <a:gd name="T9" fmla="*/ 0 h 816"/>
                    <a:gd name="T10" fmla="*/ 0 60000 65536"/>
                    <a:gd name="T11" fmla="*/ 0 60000 65536"/>
                    <a:gd name="T12" fmla="*/ 0 60000 65536"/>
                    <a:gd name="T13" fmla="*/ 0 60000 65536"/>
                    <a:gd name="T14" fmla="*/ 0 60000 65536"/>
                    <a:gd name="T15" fmla="*/ 0 w 249"/>
                    <a:gd name="T16" fmla="*/ 0 h 816"/>
                    <a:gd name="T17" fmla="*/ 249 w 249"/>
                    <a:gd name="T18" fmla="*/ 816 h 816"/>
                  </a:gdLst>
                  <a:ahLst/>
                  <a:cxnLst>
                    <a:cxn ang="T10">
                      <a:pos x="T0" y="T1"/>
                    </a:cxn>
                    <a:cxn ang="T11">
                      <a:pos x="T2" y="T3"/>
                    </a:cxn>
                    <a:cxn ang="T12">
                      <a:pos x="T4" y="T5"/>
                    </a:cxn>
                    <a:cxn ang="T13">
                      <a:pos x="T6" y="T7"/>
                    </a:cxn>
                    <a:cxn ang="T14">
                      <a:pos x="T8" y="T9"/>
                    </a:cxn>
                  </a:cxnLst>
                  <a:rect l="T15" t="T16" r="T17" b="T18"/>
                  <a:pathLst>
                    <a:path w="249" h="816">
                      <a:moveTo>
                        <a:pt x="0" y="0"/>
                      </a:moveTo>
                      <a:lnTo>
                        <a:pt x="3" y="741"/>
                      </a:lnTo>
                      <a:lnTo>
                        <a:pt x="249" y="816"/>
                      </a:lnTo>
                      <a:lnTo>
                        <a:pt x="33" y="9"/>
                      </a:lnTo>
                      <a:lnTo>
                        <a:pt x="0" y="0"/>
                      </a:lnTo>
                      <a:close/>
                    </a:path>
                  </a:pathLst>
                </a:custGeom>
                <a:blipFill dpi="0" rotWithShape="0">
                  <a:blip r:embed="rId3"/>
                  <a:srcRect/>
                  <a:tile tx="0" ty="0" sx="100000" sy="100000" flip="none" algn="tl"/>
                </a:blipFill>
                <a:ln w="25400">
                  <a:solidFill>
                    <a:schemeClr val="tx1"/>
                  </a:solidFill>
                  <a:round/>
                </a:ln>
              </p:spPr>
              <p:txBody>
                <a:bodyPr/>
                <a:lstStyle/>
                <a:p>
                  <a:endParaRPr lang="zh-CN" altLang="en-US"/>
                </a:p>
              </p:txBody>
            </p:sp>
            <p:sp>
              <p:nvSpPr>
                <p:cNvPr id="10286" name="Freeform 14" descr="25%"/>
                <p:cNvSpPr/>
                <p:nvPr/>
              </p:nvSpPr>
              <p:spPr bwMode="auto">
                <a:xfrm>
                  <a:off x="1866" y="3165"/>
                  <a:ext cx="84" cy="36"/>
                </a:xfrm>
                <a:custGeom>
                  <a:avLst/>
                  <a:gdLst>
                    <a:gd name="T0" fmla="*/ 0 w 84"/>
                    <a:gd name="T1" fmla="*/ 27 h 36"/>
                    <a:gd name="T2" fmla="*/ 42 w 84"/>
                    <a:gd name="T3" fmla="*/ 0 h 36"/>
                    <a:gd name="T4" fmla="*/ 84 w 84"/>
                    <a:gd name="T5" fmla="*/ 9 h 36"/>
                    <a:gd name="T6" fmla="*/ 36 w 84"/>
                    <a:gd name="T7" fmla="*/ 36 h 36"/>
                    <a:gd name="T8" fmla="*/ 0 w 84"/>
                    <a:gd name="T9" fmla="*/ 27 h 36"/>
                    <a:gd name="T10" fmla="*/ 0 60000 65536"/>
                    <a:gd name="T11" fmla="*/ 0 60000 65536"/>
                    <a:gd name="T12" fmla="*/ 0 60000 65536"/>
                    <a:gd name="T13" fmla="*/ 0 60000 65536"/>
                    <a:gd name="T14" fmla="*/ 0 60000 65536"/>
                    <a:gd name="T15" fmla="*/ 0 w 84"/>
                    <a:gd name="T16" fmla="*/ 0 h 36"/>
                    <a:gd name="T17" fmla="*/ 84 w 84"/>
                    <a:gd name="T18" fmla="*/ 36 h 36"/>
                  </a:gdLst>
                  <a:ahLst/>
                  <a:cxnLst>
                    <a:cxn ang="T10">
                      <a:pos x="T0" y="T1"/>
                    </a:cxn>
                    <a:cxn ang="T11">
                      <a:pos x="T2" y="T3"/>
                    </a:cxn>
                    <a:cxn ang="T12">
                      <a:pos x="T4" y="T5"/>
                    </a:cxn>
                    <a:cxn ang="T13">
                      <a:pos x="T6" y="T7"/>
                    </a:cxn>
                    <a:cxn ang="T14">
                      <a:pos x="T8" y="T9"/>
                    </a:cxn>
                  </a:cxnLst>
                  <a:rect l="T15" t="T16" r="T17" b="T18"/>
                  <a:pathLst>
                    <a:path w="84" h="36">
                      <a:moveTo>
                        <a:pt x="0" y="27"/>
                      </a:moveTo>
                      <a:lnTo>
                        <a:pt x="42" y="0"/>
                      </a:lnTo>
                      <a:lnTo>
                        <a:pt x="84" y="9"/>
                      </a:lnTo>
                      <a:lnTo>
                        <a:pt x="36" y="36"/>
                      </a:lnTo>
                      <a:lnTo>
                        <a:pt x="0" y="27"/>
                      </a:lnTo>
                      <a:close/>
                    </a:path>
                  </a:pathLst>
                </a:custGeom>
                <a:blipFill dpi="0" rotWithShape="0">
                  <a:blip r:embed="rId4"/>
                  <a:srcRect/>
                  <a:tile tx="0" ty="0" sx="100000" sy="100000" flip="none" algn="tl"/>
                </a:blipFill>
                <a:ln w="25400">
                  <a:solidFill>
                    <a:srgbClr val="800000"/>
                  </a:solidFill>
                  <a:round/>
                </a:ln>
              </p:spPr>
              <p:txBody>
                <a:bodyPr/>
                <a:lstStyle/>
                <a:p>
                  <a:endParaRPr lang="zh-CN" altLang="en-US"/>
                </a:p>
              </p:txBody>
            </p:sp>
            <p:sp>
              <p:nvSpPr>
                <p:cNvPr id="10287" name="Freeform 15" descr="25%"/>
                <p:cNvSpPr/>
                <p:nvPr/>
              </p:nvSpPr>
              <p:spPr bwMode="auto">
                <a:xfrm>
                  <a:off x="1908" y="3171"/>
                  <a:ext cx="264" cy="837"/>
                </a:xfrm>
                <a:custGeom>
                  <a:avLst/>
                  <a:gdLst>
                    <a:gd name="T0" fmla="*/ 42 w 264"/>
                    <a:gd name="T1" fmla="*/ 0 h 846"/>
                    <a:gd name="T2" fmla="*/ 264 w 264"/>
                    <a:gd name="T3" fmla="*/ 671 h 846"/>
                    <a:gd name="T4" fmla="*/ 210 w 264"/>
                    <a:gd name="T5" fmla="*/ 697 h 846"/>
                    <a:gd name="T6" fmla="*/ 0 w 264"/>
                    <a:gd name="T7" fmla="*/ 36 h 846"/>
                    <a:gd name="T8" fmla="*/ 42 w 264"/>
                    <a:gd name="T9" fmla="*/ 0 h 846"/>
                    <a:gd name="T10" fmla="*/ 0 60000 65536"/>
                    <a:gd name="T11" fmla="*/ 0 60000 65536"/>
                    <a:gd name="T12" fmla="*/ 0 60000 65536"/>
                    <a:gd name="T13" fmla="*/ 0 60000 65536"/>
                    <a:gd name="T14" fmla="*/ 0 60000 65536"/>
                    <a:gd name="T15" fmla="*/ 0 w 264"/>
                    <a:gd name="T16" fmla="*/ 0 h 846"/>
                    <a:gd name="T17" fmla="*/ 264 w 264"/>
                    <a:gd name="T18" fmla="*/ 846 h 846"/>
                  </a:gdLst>
                  <a:ahLst/>
                  <a:cxnLst>
                    <a:cxn ang="T10">
                      <a:pos x="T0" y="T1"/>
                    </a:cxn>
                    <a:cxn ang="T11">
                      <a:pos x="T2" y="T3"/>
                    </a:cxn>
                    <a:cxn ang="T12">
                      <a:pos x="T4" y="T5"/>
                    </a:cxn>
                    <a:cxn ang="T13">
                      <a:pos x="T6" y="T7"/>
                    </a:cxn>
                    <a:cxn ang="T14">
                      <a:pos x="T8" y="T9"/>
                    </a:cxn>
                  </a:cxnLst>
                  <a:rect l="T15" t="T16" r="T17" b="T18"/>
                  <a:pathLst>
                    <a:path w="264" h="846">
                      <a:moveTo>
                        <a:pt x="42" y="0"/>
                      </a:moveTo>
                      <a:lnTo>
                        <a:pt x="264" y="813"/>
                      </a:lnTo>
                      <a:lnTo>
                        <a:pt x="210" y="846"/>
                      </a:lnTo>
                      <a:lnTo>
                        <a:pt x="0" y="36"/>
                      </a:lnTo>
                      <a:lnTo>
                        <a:pt x="42" y="0"/>
                      </a:lnTo>
                      <a:close/>
                    </a:path>
                  </a:pathLst>
                </a:custGeom>
                <a:blipFill dpi="0" rotWithShape="0">
                  <a:blip r:embed="rId3"/>
                  <a:srcRect/>
                  <a:tile tx="0" ty="0" sx="100000" sy="100000" flip="none" algn="tl"/>
                </a:blipFill>
                <a:ln w="25400">
                  <a:solidFill>
                    <a:srgbClr val="000000"/>
                  </a:solidFill>
                  <a:round/>
                </a:ln>
              </p:spPr>
              <p:txBody>
                <a:bodyPr/>
                <a:lstStyle/>
                <a:p>
                  <a:endParaRPr lang="zh-CN" altLang="en-US"/>
                </a:p>
              </p:txBody>
            </p:sp>
          </p:grpSp>
          <p:sp>
            <p:nvSpPr>
              <p:cNvPr id="10282" name="Freeform 16" descr="25%"/>
              <p:cNvSpPr/>
              <p:nvPr/>
            </p:nvSpPr>
            <p:spPr bwMode="auto">
              <a:xfrm>
                <a:off x="1953" y="3543"/>
                <a:ext cx="897" cy="729"/>
              </a:xfrm>
              <a:custGeom>
                <a:avLst/>
                <a:gdLst>
                  <a:gd name="T0" fmla="*/ 0 w 897"/>
                  <a:gd name="T1" fmla="*/ 729 h 729"/>
                  <a:gd name="T2" fmla="*/ 897 w 897"/>
                  <a:gd name="T3" fmla="*/ 102 h 729"/>
                  <a:gd name="T4" fmla="*/ 897 w 897"/>
                  <a:gd name="T5" fmla="*/ 0 h 729"/>
                  <a:gd name="T6" fmla="*/ 3 w 897"/>
                  <a:gd name="T7" fmla="*/ 570 h 729"/>
                  <a:gd name="T8" fmla="*/ 0 w 897"/>
                  <a:gd name="T9" fmla="*/ 729 h 729"/>
                  <a:gd name="T10" fmla="*/ 0 60000 65536"/>
                  <a:gd name="T11" fmla="*/ 0 60000 65536"/>
                  <a:gd name="T12" fmla="*/ 0 60000 65536"/>
                  <a:gd name="T13" fmla="*/ 0 60000 65536"/>
                  <a:gd name="T14" fmla="*/ 0 60000 65536"/>
                  <a:gd name="T15" fmla="*/ 0 w 897"/>
                  <a:gd name="T16" fmla="*/ 0 h 729"/>
                  <a:gd name="T17" fmla="*/ 897 w 897"/>
                  <a:gd name="T18" fmla="*/ 729 h 729"/>
                </a:gdLst>
                <a:ahLst/>
                <a:cxnLst>
                  <a:cxn ang="T10">
                    <a:pos x="T0" y="T1"/>
                  </a:cxn>
                  <a:cxn ang="T11">
                    <a:pos x="T2" y="T3"/>
                  </a:cxn>
                  <a:cxn ang="T12">
                    <a:pos x="T4" y="T5"/>
                  </a:cxn>
                  <a:cxn ang="T13">
                    <a:pos x="T6" y="T7"/>
                  </a:cxn>
                  <a:cxn ang="T14">
                    <a:pos x="T8" y="T9"/>
                  </a:cxn>
                </a:cxnLst>
                <a:rect l="T15" t="T16" r="T17" b="T18"/>
                <a:pathLst>
                  <a:path w="897" h="729">
                    <a:moveTo>
                      <a:pt x="0" y="729"/>
                    </a:moveTo>
                    <a:lnTo>
                      <a:pt x="897" y="102"/>
                    </a:lnTo>
                    <a:lnTo>
                      <a:pt x="897" y="0"/>
                    </a:lnTo>
                    <a:lnTo>
                      <a:pt x="3" y="570"/>
                    </a:lnTo>
                    <a:lnTo>
                      <a:pt x="0" y="729"/>
                    </a:lnTo>
                    <a:close/>
                  </a:path>
                </a:pathLst>
              </a:custGeom>
              <a:blipFill dpi="0" rotWithShape="0">
                <a:blip r:embed="rId3"/>
                <a:srcRect/>
                <a:tile tx="0" ty="0" sx="100000" sy="100000" flip="none" algn="tl"/>
              </a:blipFill>
              <a:ln w="25400">
                <a:solidFill>
                  <a:srgbClr val="000000"/>
                </a:solidFill>
                <a:round/>
              </a:ln>
            </p:spPr>
            <p:txBody>
              <a:bodyPr/>
              <a:lstStyle/>
              <a:p>
                <a:endParaRPr lang="zh-CN" altLang="en-US"/>
              </a:p>
            </p:txBody>
          </p:sp>
          <p:sp>
            <p:nvSpPr>
              <p:cNvPr id="10283" name="Freeform 17" descr="25%"/>
              <p:cNvSpPr/>
              <p:nvPr/>
            </p:nvSpPr>
            <p:spPr bwMode="auto">
              <a:xfrm>
                <a:off x="1440" y="3873"/>
                <a:ext cx="168" cy="141"/>
              </a:xfrm>
              <a:custGeom>
                <a:avLst/>
                <a:gdLst>
                  <a:gd name="T0" fmla="*/ 0 w 168"/>
                  <a:gd name="T1" fmla="*/ 84 h 141"/>
                  <a:gd name="T2" fmla="*/ 165 w 168"/>
                  <a:gd name="T3" fmla="*/ 0 h 141"/>
                  <a:gd name="T4" fmla="*/ 168 w 168"/>
                  <a:gd name="T5" fmla="*/ 141 h 141"/>
                  <a:gd name="T6" fmla="*/ 0 w 168"/>
                  <a:gd name="T7" fmla="*/ 84 h 141"/>
                  <a:gd name="T8" fmla="*/ 0 60000 65536"/>
                  <a:gd name="T9" fmla="*/ 0 60000 65536"/>
                  <a:gd name="T10" fmla="*/ 0 60000 65536"/>
                  <a:gd name="T11" fmla="*/ 0 60000 65536"/>
                  <a:gd name="T12" fmla="*/ 0 w 168"/>
                  <a:gd name="T13" fmla="*/ 0 h 141"/>
                  <a:gd name="T14" fmla="*/ 168 w 168"/>
                  <a:gd name="T15" fmla="*/ 141 h 141"/>
                </a:gdLst>
                <a:ahLst/>
                <a:cxnLst>
                  <a:cxn ang="T8">
                    <a:pos x="T0" y="T1"/>
                  </a:cxn>
                  <a:cxn ang="T9">
                    <a:pos x="T2" y="T3"/>
                  </a:cxn>
                  <a:cxn ang="T10">
                    <a:pos x="T4" y="T5"/>
                  </a:cxn>
                  <a:cxn ang="T11">
                    <a:pos x="T6" y="T7"/>
                  </a:cxn>
                </a:cxnLst>
                <a:rect l="T12" t="T13" r="T14" b="T15"/>
                <a:pathLst>
                  <a:path w="168" h="141">
                    <a:moveTo>
                      <a:pt x="0" y="84"/>
                    </a:moveTo>
                    <a:lnTo>
                      <a:pt x="165" y="0"/>
                    </a:lnTo>
                    <a:lnTo>
                      <a:pt x="168" y="141"/>
                    </a:lnTo>
                    <a:lnTo>
                      <a:pt x="0" y="84"/>
                    </a:lnTo>
                    <a:close/>
                  </a:path>
                </a:pathLst>
              </a:custGeom>
              <a:blipFill dpi="0" rotWithShape="0">
                <a:blip r:embed="rId3"/>
                <a:srcRect/>
                <a:tile tx="0" ty="0" sx="100000" sy="100000" flip="none" algn="tl"/>
              </a:blipFill>
              <a:ln w="25400">
                <a:solidFill>
                  <a:srgbClr val="000000"/>
                </a:solidFill>
                <a:round/>
              </a:ln>
            </p:spPr>
            <p:txBody>
              <a:bodyPr/>
              <a:lstStyle/>
              <a:p>
                <a:endParaRPr lang="zh-CN" altLang="en-US"/>
              </a:p>
            </p:txBody>
          </p:sp>
          <p:sp>
            <p:nvSpPr>
              <p:cNvPr id="10284" name="Freeform 18" descr="25%"/>
              <p:cNvSpPr/>
              <p:nvPr/>
            </p:nvSpPr>
            <p:spPr bwMode="auto">
              <a:xfrm>
                <a:off x="1443" y="3957"/>
                <a:ext cx="513" cy="312"/>
              </a:xfrm>
              <a:custGeom>
                <a:avLst/>
                <a:gdLst>
                  <a:gd name="T0" fmla="*/ 0 w 513"/>
                  <a:gd name="T1" fmla="*/ 0 h 312"/>
                  <a:gd name="T2" fmla="*/ 513 w 513"/>
                  <a:gd name="T3" fmla="*/ 156 h 312"/>
                  <a:gd name="T4" fmla="*/ 513 w 513"/>
                  <a:gd name="T5" fmla="*/ 312 h 312"/>
                  <a:gd name="T6" fmla="*/ 420 w 513"/>
                  <a:gd name="T7" fmla="*/ 285 h 312"/>
                  <a:gd name="T8" fmla="*/ 423 w 513"/>
                  <a:gd name="T9" fmla="*/ 225 h 312"/>
                  <a:gd name="T10" fmla="*/ 0 w 513"/>
                  <a:gd name="T11" fmla="*/ 93 h 312"/>
                  <a:gd name="T12" fmla="*/ 0 w 513"/>
                  <a:gd name="T13" fmla="*/ 0 h 312"/>
                  <a:gd name="T14" fmla="*/ 0 60000 65536"/>
                  <a:gd name="T15" fmla="*/ 0 60000 65536"/>
                  <a:gd name="T16" fmla="*/ 0 60000 65536"/>
                  <a:gd name="T17" fmla="*/ 0 60000 65536"/>
                  <a:gd name="T18" fmla="*/ 0 60000 65536"/>
                  <a:gd name="T19" fmla="*/ 0 60000 65536"/>
                  <a:gd name="T20" fmla="*/ 0 60000 65536"/>
                  <a:gd name="T21" fmla="*/ 0 w 513"/>
                  <a:gd name="T22" fmla="*/ 0 h 312"/>
                  <a:gd name="T23" fmla="*/ 513 w 513"/>
                  <a:gd name="T24" fmla="*/ 312 h 3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3" h="312">
                    <a:moveTo>
                      <a:pt x="0" y="0"/>
                    </a:moveTo>
                    <a:lnTo>
                      <a:pt x="513" y="156"/>
                    </a:lnTo>
                    <a:lnTo>
                      <a:pt x="513" y="312"/>
                    </a:lnTo>
                    <a:lnTo>
                      <a:pt x="420" y="285"/>
                    </a:lnTo>
                    <a:lnTo>
                      <a:pt x="423" y="225"/>
                    </a:lnTo>
                    <a:lnTo>
                      <a:pt x="0" y="93"/>
                    </a:lnTo>
                    <a:lnTo>
                      <a:pt x="0" y="0"/>
                    </a:lnTo>
                    <a:close/>
                  </a:path>
                </a:pathLst>
              </a:custGeom>
              <a:blipFill dpi="0" rotWithShape="0">
                <a:blip r:embed="rId3"/>
                <a:srcRect/>
                <a:tile tx="0" ty="0" sx="100000" sy="100000" flip="none" algn="tl"/>
              </a:blipFill>
              <a:ln w="25400">
                <a:solidFill>
                  <a:schemeClr val="tx1"/>
                </a:solidFill>
                <a:round/>
              </a:ln>
            </p:spPr>
            <p:txBody>
              <a:bodyPr/>
              <a:lstStyle/>
              <a:p>
                <a:endParaRPr lang="zh-CN" altLang="en-US"/>
              </a:p>
            </p:txBody>
          </p:sp>
        </p:grpSp>
        <p:grpSp>
          <p:nvGrpSpPr>
            <p:cNvPr id="10251" name="Group 36"/>
            <p:cNvGrpSpPr/>
            <p:nvPr/>
          </p:nvGrpSpPr>
          <p:grpSpPr bwMode="auto">
            <a:xfrm>
              <a:off x="3515" y="754"/>
              <a:ext cx="942" cy="1479"/>
              <a:chOff x="1872" y="954"/>
              <a:chExt cx="942" cy="1479"/>
            </a:xfrm>
          </p:grpSpPr>
          <p:sp>
            <p:nvSpPr>
              <p:cNvPr id="10255" name="Line 37"/>
              <p:cNvSpPr>
                <a:spLocks noChangeShapeType="1"/>
              </p:cNvSpPr>
              <p:nvPr/>
            </p:nvSpPr>
            <p:spPr bwMode="auto">
              <a:xfrm flipH="1" flipV="1">
                <a:off x="2216" y="963"/>
                <a:ext cx="568" cy="1320"/>
              </a:xfrm>
              <a:prstGeom prst="line">
                <a:avLst/>
              </a:prstGeom>
              <a:noFill/>
              <a:ln w="28575">
                <a:solidFill>
                  <a:srgbClr val="CC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0256" name="Freeform 38" descr="新闻纸"/>
              <p:cNvSpPr/>
              <p:nvPr/>
            </p:nvSpPr>
            <p:spPr bwMode="auto">
              <a:xfrm>
                <a:off x="2238" y="957"/>
                <a:ext cx="543" cy="1299"/>
              </a:xfrm>
              <a:custGeom>
                <a:avLst/>
                <a:gdLst>
                  <a:gd name="T0" fmla="*/ 0 w 561"/>
                  <a:gd name="T1" fmla="*/ 0 h 1293"/>
                  <a:gd name="T2" fmla="*/ 255 w 561"/>
                  <a:gd name="T3" fmla="*/ 0 h 1293"/>
                  <a:gd name="T4" fmla="*/ 313 w 561"/>
                  <a:gd name="T5" fmla="*/ 1401 h 1293"/>
                  <a:gd name="T6" fmla="*/ 0 w 561"/>
                  <a:gd name="T7" fmla="*/ 0 h 1293"/>
                  <a:gd name="T8" fmla="*/ 0 60000 65536"/>
                  <a:gd name="T9" fmla="*/ 0 60000 65536"/>
                  <a:gd name="T10" fmla="*/ 0 60000 65536"/>
                  <a:gd name="T11" fmla="*/ 0 60000 65536"/>
                  <a:gd name="T12" fmla="*/ 0 w 561"/>
                  <a:gd name="T13" fmla="*/ 0 h 1293"/>
                  <a:gd name="T14" fmla="*/ 561 w 561"/>
                  <a:gd name="T15" fmla="*/ 1293 h 1293"/>
                </a:gdLst>
                <a:ahLst/>
                <a:cxnLst>
                  <a:cxn ang="T8">
                    <a:pos x="T0" y="T1"/>
                  </a:cxn>
                  <a:cxn ang="T9">
                    <a:pos x="T2" y="T3"/>
                  </a:cxn>
                  <a:cxn ang="T10">
                    <a:pos x="T4" y="T5"/>
                  </a:cxn>
                  <a:cxn ang="T11">
                    <a:pos x="T6" y="T7"/>
                  </a:cxn>
                </a:cxnLst>
                <a:rect l="T12" t="T13" r="T14" b="T15"/>
                <a:pathLst>
                  <a:path w="561" h="1293">
                    <a:moveTo>
                      <a:pt x="0" y="0"/>
                    </a:moveTo>
                    <a:lnTo>
                      <a:pt x="459" y="0"/>
                    </a:lnTo>
                    <a:lnTo>
                      <a:pt x="561" y="1293"/>
                    </a:lnTo>
                    <a:lnTo>
                      <a:pt x="0" y="0"/>
                    </a:lnTo>
                    <a:close/>
                  </a:path>
                </a:pathLst>
              </a:custGeom>
              <a:blipFill dpi="0" rotWithShape="0">
                <a:blip r:embed="rId5"/>
                <a:srcRect/>
                <a:tile tx="0" ty="0" sx="100000" sy="100000" flip="none" algn="tl"/>
              </a:blipFill>
              <a:ln w="9525">
                <a:solidFill>
                  <a:srgbClr val="C0C0C0"/>
                </a:solidFill>
                <a:round/>
              </a:ln>
            </p:spPr>
            <p:txBody>
              <a:bodyPr/>
              <a:lstStyle/>
              <a:p>
                <a:endParaRPr lang="zh-CN" altLang="en-US"/>
              </a:p>
            </p:txBody>
          </p:sp>
          <p:sp>
            <p:nvSpPr>
              <p:cNvPr id="10257" name="Freeform 39" descr="大纸屑"/>
              <p:cNvSpPr/>
              <p:nvPr/>
            </p:nvSpPr>
            <p:spPr bwMode="auto">
              <a:xfrm>
                <a:off x="2235" y="954"/>
                <a:ext cx="531" cy="1299"/>
              </a:xfrm>
              <a:custGeom>
                <a:avLst/>
                <a:gdLst>
                  <a:gd name="T0" fmla="*/ 275 w 552"/>
                  <a:gd name="T1" fmla="*/ 1401 h 1293"/>
                  <a:gd name="T2" fmla="*/ 48 w 552"/>
                  <a:gd name="T3" fmla="*/ 1401 h 1293"/>
                  <a:gd name="T4" fmla="*/ 13 w 552"/>
                  <a:gd name="T5" fmla="*/ 1332 h 1293"/>
                  <a:gd name="T6" fmla="*/ 0 w 552"/>
                  <a:gd name="T7" fmla="*/ 0 h 1293"/>
                  <a:gd name="T8" fmla="*/ 275 w 552"/>
                  <a:gd name="T9" fmla="*/ 1401 h 1293"/>
                  <a:gd name="T10" fmla="*/ 0 60000 65536"/>
                  <a:gd name="T11" fmla="*/ 0 60000 65536"/>
                  <a:gd name="T12" fmla="*/ 0 60000 65536"/>
                  <a:gd name="T13" fmla="*/ 0 60000 65536"/>
                  <a:gd name="T14" fmla="*/ 0 60000 65536"/>
                  <a:gd name="T15" fmla="*/ 0 w 552"/>
                  <a:gd name="T16" fmla="*/ 0 h 1293"/>
                  <a:gd name="T17" fmla="*/ 552 w 552"/>
                  <a:gd name="T18" fmla="*/ 1293 h 1293"/>
                </a:gdLst>
                <a:ahLst/>
                <a:cxnLst>
                  <a:cxn ang="T10">
                    <a:pos x="T0" y="T1"/>
                  </a:cxn>
                  <a:cxn ang="T11">
                    <a:pos x="T2" y="T3"/>
                  </a:cxn>
                  <a:cxn ang="T12">
                    <a:pos x="T4" y="T5"/>
                  </a:cxn>
                  <a:cxn ang="T13">
                    <a:pos x="T6" y="T7"/>
                  </a:cxn>
                  <a:cxn ang="T14">
                    <a:pos x="T8" y="T9"/>
                  </a:cxn>
                </a:cxnLst>
                <a:rect l="T15" t="T16" r="T17" b="T18"/>
                <a:pathLst>
                  <a:path w="552" h="1293">
                    <a:moveTo>
                      <a:pt x="552" y="1293"/>
                    </a:moveTo>
                    <a:lnTo>
                      <a:pt x="96" y="1293"/>
                    </a:lnTo>
                    <a:lnTo>
                      <a:pt x="24" y="1224"/>
                    </a:lnTo>
                    <a:lnTo>
                      <a:pt x="0" y="0"/>
                    </a:lnTo>
                    <a:lnTo>
                      <a:pt x="552" y="1293"/>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258" name="Freeform 40" descr="大纸屑"/>
              <p:cNvSpPr/>
              <p:nvPr/>
            </p:nvSpPr>
            <p:spPr bwMode="auto">
              <a:xfrm>
                <a:off x="1872" y="960"/>
                <a:ext cx="942" cy="1473"/>
              </a:xfrm>
              <a:custGeom>
                <a:avLst/>
                <a:gdLst>
                  <a:gd name="T0" fmla="*/ 942 w 942"/>
                  <a:gd name="T1" fmla="*/ 1473 h 1473"/>
                  <a:gd name="T2" fmla="*/ 939 w 942"/>
                  <a:gd name="T3" fmla="*/ 1305 h 1473"/>
                  <a:gd name="T4" fmla="*/ 468 w 942"/>
                  <a:gd name="T5" fmla="*/ 1305 h 1473"/>
                  <a:gd name="T6" fmla="*/ 390 w 942"/>
                  <a:gd name="T7" fmla="*/ 1233 h 1473"/>
                  <a:gd name="T8" fmla="*/ 369 w 942"/>
                  <a:gd name="T9" fmla="*/ 0 h 1473"/>
                  <a:gd name="T10" fmla="*/ 258 w 942"/>
                  <a:gd name="T11" fmla="*/ 0 h 1473"/>
                  <a:gd name="T12" fmla="*/ 192 w 942"/>
                  <a:gd name="T13" fmla="*/ 1317 h 1473"/>
                  <a:gd name="T14" fmla="*/ 0 w 942"/>
                  <a:gd name="T15" fmla="*/ 1317 h 1473"/>
                  <a:gd name="T16" fmla="*/ 0 w 942"/>
                  <a:gd name="T17" fmla="*/ 1467 h 1473"/>
                  <a:gd name="T18" fmla="*/ 942 w 942"/>
                  <a:gd name="T19" fmla="*/ 1473 h 147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42"/>
                  <a:gd name="T31" fmla="*/ 0 h 1473"/>
                  <a:gd name="T32" fmla="*/ 942 w 942"/>
                  <a:gd name="T33" fmla="*/ 1473 h 147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42" h="1473">
                    <a:moveTo>
                      <a:pt x="942" y="1473"/>
                    </a:moveTo>
                    <a:lnTo>
                      <a:pt x="939" y="1305"/>
                    </a:lnTo>
                    <a:lnTo>
                      <a:pt x="468" y="1305"/>
                    </a:lnTo>
                    <a:lnTo>
                      <a:pt x="390" y="1233"/>
                    </a:lnTo>
                    <a:lnTo>
                      <a:pt x="369" y="0"/>
                    </a:lnTo>
                    <a:lnTo>
                      <a:pt x="258" y="0"/>
                    </a:lnTo>
                    <a:lnTo>
                      <a:pt x="192" y="1317"/>
                    </a:lnTo>
                    <a:lnTo>
                      <a:pt x="0" y="1317"/>
                    </a:lnTo>
                    <a:lnTo>
                      <a:pt x="0" y="1467"/>
                    </a:lnTo>
                    <a:lnTo>
                      <a:pt x="942" y="1473"/>
                    </a:lnTo>
                    <a:close/>
                  </a:path>
                </a:pathLst>
              </a:custGeom>
              <a:blipFill dpi="0" rotWithShape="0">
                <a:blip r:embed="rId6"/>
                <a:srcRect/>
                <a:tile tx="0" ty="0" sx="100000" sy="100000" flip="none" algn="tl"/>
              </a:blipFill>
              <a:ln w="31750">
                <a:solidFill>
                  <a:srgbClr val="000000"/>
                </a:solidFill>
                <a:round/>
              </a:ln>
            </p:spPr>
            <p:txBody>
              <a:bodyPr/>
              <a:lstStyle/>
              <a:p>
                <a:endParaRPr lang="zh-CN" altLang="en-US"/>
              </a:p>
            </p:txBody>
          </p:sp>
          <p:sp>
            <p:nvSpPr>
              <p:cNvPr id="10259" name="Freeform 41"/>
              <p:cNvSpPr/>
              <p:nvPr/>
            </p:nvSpPr>
            <p:spPr bwMode="auto">
              <a:xfrm>
                <a:off x="1971" y="1017"/>
                <a:ext cx="228" cy="1365"/>
              </a:xfrm>
              <a:custGeom>
                <a:avLst/>
                <a:gdLst>
                  <a:gd name="T0" fmla="*/ 0 w 228"/>
                  <a:gd name="T1" fmla="*/ 1365 h 1365"/>
                  <a:gd name="T2" fmla="*/ 192 w 228"/>
                  <a:gd name="T3" fmla="*/ 1365 h 1365"/>
                  <a:gd name="T4" fmla="*/ 216 w 228"/>
                  <a:gd name="T5" fmla="*/ 1359 h 1365"/>
                  <a:gd name="T6" fmla="*/ 225 w 228"/>
                  <a:gd name="T7" fmla="*/ 1338 h 1365"/>
                  <a:gd name="T8" fmla="*/ 228 w 228"/>
                  <a:gd name="T9" fmla="*/ 1302 h 1365"/>
                  <a:gd name="T10" fmla="*/ 213 w 228"/>
                  <a:gd name="T11" fmla="*/ 0 h 1365"/>
                  <a:gd name="T12" fmla="*/ 0 60000 65536"/>
                  <a:gd name="T13" fmla="*/ 0 60000 65536"/>
                  <a:gd name="T14" fmla="*/ 0 60000 65536"/>
                  <a:gd name="T15" fmla="*/ 0 60000 65536"/>
                  <a:gd name="T16" fmla="*/ 0 60000 65536"/>
                  <a:gd name="T17" fmla="*/ 0 60000 65536"/>
                  <a:gd name="T18" fmla="*/ 0 w 228"/>
                  <a:gd name="T19" fmla="*/ 0 h 1365"/>
                  <a:gd name="T20" fmla="*/ 228 w 228"/>
                  <a:gd name="T21" fmla="*/ 1365 h 1365"/>
                </a:gdLst>
                <a:ahLst/>
                <a:cxnLst>
                  <a:cxn ang="T12">
                    <a:pos x="T0" y="T1"/>
                  </a:cxn>
                  <a:cxn ang="T13">
                    <a:pos x="T2" y="T3"/>
                  </a:cxn>
                  <a:cxn ang="T14">
                    <a:pos x="T4" y="T5"/>
                  </a:cxn>
                  <a:cxn ang="T15">
                    <a:pos x="T6" y="T7"/>
                  </a:cxn>
                  <a:cxn ang="T16">
                    <a:pos x="T8" y="T9"/>
                  </a:cxn>
                  <a:cxn ang="T17">
                    <a:pos x="T10" y="T11"/>
                  </a:cxn>
                </a:cxnLst>
                <a:rect l="T18" t="T19" r="T20" b="T21"/>
                <a:pathLst>
                  <a:path w="228" h="1365">
                    <a:moveTo>
                      <a:pt x="0" y="1365"/>
                    </a:moveTo>
                    <a:lnTo>
                      <a:pt x="192" y="1365"/>
                    </a:lnTo>
                    <a:lnTo>
                      <a:pt x="216" y="1359"/>
                    </a:lnTo>
                    <a:lnTo>
                      <a:pt x="225" y="1338"/>
                    </a:lnTo>
                    <a:lnTo>
                      <a:pt x="228" y="1302"/>
                    </a:lnTo>
                    <a:lnTo>
                      <a:pt x="213" y="0"/>
                    </a:lnTo>
                  </a:path>
                </a:pathLst>
              </a:cu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260" name="Freeform 42"/>
              <p:cNvSpPr/>
              <p:nvPr/>
            </p:nvSpPr>
            <p:spPr bwMode="auto">
              <a:xfrm>
                <a:off x="2109" y="2295"/>
                <a:ext cx="645" cy="81"/>
              </a:xfrm>
              <a:custGeom>
                <a:avLst/>
                <a:gdLst>
                  <a:gd name="T0" fmla="*/ 0 w 645"/>
                  <a:gd name="T1" fmla="*/ 21 h 81"/>
                  <a:gd name="T2" fmla="*/ 12 w 645"/>
                  <a:gd name="T3" fmla="*/ 0 h 81"/>
                  <a:gd name="T4" fmla="*/ 627 w 645"/>
                  <a:gd name="T5" fmla="*/ 0 h 81"/>
                  <a:gd name="T6" fmla="*/ 645 w 645"/>
                  <a:gd name="T7" fmla="*/ 9 h 81"/>
                  <a:gd name="T8" fmla="*/ 645 w 645"/>
                  <a:gd name="T9" fmla="*/ 33 h 81"/>
                  <a:gd name="T10" fmla="*/ 645 w 645"/>
                  <a:gd name="T11" fmla="*/ 78 h 81"/>
                  <a:gd name="T12" fmla="*/ 624 w 645"/>
                  <a:gd name="T13" fmla="*/ 81 h 81"/>
                  <a:gd name="T14" fmla="*/ 0 60000 65536"/>
                  <a:gd name="T15" fmla="*/ 0 60000 65536"/>
                  <a:gd name="T16" fmla="*/ 0 60000 65536"/>
                  <a:gd name="T17" fmla="*/ 0 60000 65536"/>
                  <a:gd name="T18" fmla="*/ 0 60000 65536"/>
                  <a:gd name="T19" fmla="*/ 0 60000 65536"/>
                  <a:gd name="T20" fmla="*/ 0 60000 65536"/>
                  <a:gd name="T21" fmla="*/ 0 w 645"/>
                  <a:gd name="T22" fmla="*/ 0 h 81"/>
                  <a:gd name="T23" fmla="*/ 645 w 645"/>
                  <a:gd name="T24" fmla="*/ 81 h 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5" h="81">
                    <a:moveTo>
                      <a:pt x="0" y="21"/>
                    </a:moveTo>
                    <a:lnTo>
                      <a:pt x="12" y="0"/>
                    </a:lnTo>
                    <a:lnTo>
                      <a:pt x="627" y="0"/>
                    </a:lnTo>
                    <a:lnTo>
                      <a:pt x="645" y="9"/>
                    </a:lnTo>
                    <a:lnTo>
                      <a:pt x="645" y="33"/>
                    </a:lnTo>
                    <a:lnTo>
                      <a:pt x="645" y="78"/>
                    </a:lnTo>
                    <a:lnTo>
                      <a:pt x="624" y="81"/>
                    </a:lnTo>
                  </a:path>
                </a:pathLst>
              </a:cu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261" name="Oval 43"/>
              <p:cNvSpPr>
                <a:spLocks noChangeArrowheads="1"/>
              </p:cNvSpPr>
              <p:nvPr/>
            </p:nvSpPr>
            <p:spPr bwMode="auto">
              <a:xfrm>
                <a:off x="2160" y="1035"/>
                <a:ext cx="25" cy="25"/>
              </a:xfrm>
              <a:prstGeom prst="ellipse">
                <a:avLst/>
              </a:prstGeom>
              <a:solidFill>
                <a:srgbClr val="800000"/>
              </a:solidFill>
              <a:ln w="9525">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0262" name="Oval 44"/>
              <p:cNvSpPr>
                <a:spLocks noChangeArrowheads="1"/>
              </p:cNvSpPr>
              <p:nvPr/>
            </p:nvSpPr>
            <p:spPr bwMode="auto">
              <a:xfrm>
                <a:off x="2160" y="1132"/>
                <a:ext cx="25" cy="25"/>
              </a:xfrm>
              <a:prstGeom prst="ellipse">
                <a:avLst/>
              </a:prstGeom>
              <a:solidFill>
                <a:srgbClr val="800000"/>
              </a:solidFill>
              <a:ln w="9525">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0263" name="Oval 45"/>
              <p:cNvSpPr>
                <a:spLocks noChangeArrowheads="1"/>
              </p:cNvSpPr>
              <p:nvPr/>
            </p:nvSpPr>
            <p:spPr bwMode="auto">
              <a:xfrm>
                <a:off x="2160" y="1251"/>
                <a:ext cx="25" cy="25"/>
              </a:xfrm>
              <a:prstGeom prst="ellipse">
                <a:avLst/>
              </a:prstGeom>
              <a:solidFill>
                <a:srgbClr val="800000"/>
              </a:solidFill>
              <a:ln w="9525">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0264" name="Oval 46"/>
              <p:cNvSpPr>
                <a:spLocks noChangeArrowheads="1"/>
              </p:cNvSpPr>
              <p:nvPr/>
            </p:nvSpPr>
            <p:spPr bwMode="auto">
              <a:xfrm>
                <a:off x="2160" y="1372"/>
                <a:ext cx="25" cy="25"/>
              </a:xfrm>
              <a:prstGeom prst="ellipse">
                <a:avLst/>
              </a:prstGeom>
              <a:solidFill>
                <a:srgbClr val="800000"/>
              </a:solidFill>
              <a:ln w="9525">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0265" name="Oval 47"/>
              <p:cNvSpPr>
                <a:spLocks noChangeArrowheads="1"/>
              </p:cNvSpPr>
              <p:nvPr/>
            </p:nvSpPr>
            <p:spPr bwMode="auto">
              <a:xfrm>
                <a:off x="2160" y="1467"/>
                <a:ext cx="25" cy="25"/>
              </a:xfrm>
              <a:prstGeom prst="ellipse">
                <a:avLst/>
              </a:prstGeom>
              <a:solidFill>
                <a:srgbClr val="800000"/>
              </a:solidFill>
              <a:ln w="9525">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0266" name="Oval 48"/>
              <p:cNvSpPr>
                <a:spLocks noChangeArrowheads="1"/>
              </p:cNvSpPr>
              <p:nvPr/>
            </p:nvSpPr>
            <p:spPr bwMode="auto">
              <a:xfrm>
                <a:off x="2160" y="1586"/>
                <a:ext cx="25" cy="25"/>
              </a:xfrm>
              <a:prstGeom prst="ellipse">
                <a:avLst/>
              </a:prstGeom>
              <a:solidFill>
                <a:srgbClr val="800000"/>
              </a:solidFill>
              <a:ln w="9525">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0267" name="Oval 49"/>
              <p:cNvSpPr>
                <a:spLocks noChangeArrowheads="1"/>
              </p:cNvSpPr>
              <p:nvPr/>
            </p:nvSpPr>
            <p:spPr bwMode="auto">
              <a:xfrm>
                <a:off x="2160" y="1707"/>
                <a:ext cx="25" cy="25"/>
              </a:xfrm>
              <a:prstGeom prst="ellipse">
                <a:avLst/>
              </a:prstGeom>
              <a:solidFill>
                <a:srgbClr val="800000"/>
              </a:solidFill>
              <a:ln w="9525">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0268" name="Oval 50"/>
              <p:cNvSpPr>
                <a:spLocks noChangeArrowheads="1"/>
              </p:cNvSpPr>
              <p:nvPr/>
            </p:nvSpPr>
            <p:spPr bwMode="auto">
              <a:xfrm>
                <a:off x="2160" y="1826"/>
                <a:ext cx="25" cy="25"/>
              </a:xfrm>
              <a:prstGeom prst="ellipse">
                <a:avLst/>
              </a:prstGeom>
              <a:solidFill>
                <a:srgbClr val="800000"/>
              </a:solidFill>
              <a:ln w="9525">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0269" name="Oval 51"/>
              <p:cNvSpPr>
                <a:spLocks noChangeArrowheads="1"/>
              </p:cNvSpPr>
              <p:nvPr/>
            </p:nvSpPr>
            <p:spPr bwMode="auto">
              <a:xfrm>
                <a:off x="2160" y="1945"/>
                <a:ext cx="25" cy="25"/>
              </a:xfrm>
              <a:prstGeom prst="ellipse">
                <a:avLst/>
              </a:prstGeom>
              <a:solidFill>
                <a:srgbClr val="800000"/>
              </a:solidFill>
              <a:ln w="9525">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0270" name="Oval 52"/>
              <p:cNvSpPr>
                <a:spLocks noChangeArrowheads="1"/>
              </p:cNvSpPr>
              <p:nvPr/>
            </p:nvSpPr>
            <p:spPr bwMode="auto">
              <a:xfrm>
                <a:off x="2160" y="2066"/>
                <a:ext cx="25" cy="25"/>
              </a:xfrm>
              <a:prstGeom prst="ellipse">
                <a:avLst/>
              </a:prstGeom>
              <a:solidFill>
                <a:srgbClr val="800000"/>
              </a:solidFill>
              <a:ln w="9525">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0271" name="Oval 53"/>
              <p:cNvSpPr>
                <a:spLocks noChangeArrowheads="1"/>
              </p:cNvSpPr>
              <p:nvPr/>
            </p:nvSpPr>
            <p:spPr bwMode="auto">
              <a:xfrm>
                <a:off x="2160" y="2210"/>
                <a:ext cx="25" cy="25"/>
              </a:xfrm>
              <a:prstGeom prst="ellipse">
                <a:avLst/>
              </a:prstGeom>
              <a:solidFill>
                <a:srgbClr val="800000"/>
              </a:solidFill>
              <a:ln w="9525">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0272" name="Oval 54"/>
              <p:cNvSpPr>
                <a:spLocks noChangeArrowheads="1"/>
              </p:cNvSpPr>
              <p:nvPr/>
            </p:nvSpPr>
            <p:spPr bwMode="auto">
              <a:xfrm>
                <a:off x="2160" y="2354"/>
                <a:ext cx="25" cy="25"/>
              </a:xfrm>
              <a:prstGeom prst="ellipse">
                <a:avLst/>
              </a:prstGeom>
              <a:solidFill>
                <a:srgbClr val="800000"/>
              </a:solidFill>
              <a:ln w="9525">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0273" name="Oval 55"/>
              <p:cNvSpPr>
                <a:spLocks noChangeArrowheads="1"/>
              </p:cNvSpPr>
              <p:nvPr/>
            </p:nvSpPr>
            <p:spPr bwMode="auto">
              <a:xfrm>
                <a:off x="2016" y="2354"/>
                <a:ext cx="25" cy="25"/>
              </a:xfrm>
              <a:prstGeom prst="ellipse">
                <a:avLst/>
              </a:prstGeom>
              <a:solidFill>
                <a:srgbClr val="800000"/>
              </a:solidFill>
              <a:ln w="9525">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0274" name="Oval 56"/>
              <p:cNvSpPr>
                <a:spLocks noChangeArrowheads="1"/>
              </p:cNvSpPr>
              <p:nvPr/>
            </p:nvSpPr>
            <p:spPr bwMode="auto">
              <a:xfrm>
                <a:off x="2663" y="2283"/>
                <a:ext cx="25" cy="25"/>
              </a:xfrm>
              <a:prstGeom prst="ellipse">
                <a:avLst/>
              </a:prstGeom>
              <a:solidFill>
                <a:srgbClr val="800000"/>
              </a:solidFill>
              <a:ln w="9525">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0275" name="Oval 57"/>
              <p:cNvSpPr>
                <a:spLocks noChangeArrowheads="1"/>
              </p:cNvSpPr>
              <p:nvPr/>
            </p:nvSpPr>
            <p:spPr bwMode="auto">
              <a:xfrm>
                <a:off x="2519" y="2283"/>
                <a:ext cx="25" cy="25"/>
              </a:xfrm>
              <a:prstGeom prst="ellipse">
                <a:avLst/>
              </a:prstGeom>
              <a:solidFill>
                <a:srgbClr val="800000"/>
              </a:solidFill>
              <a:ln w="9525">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sp>
          <p:nvSpPr>
            <p:cNvPr id="5131" name="Text Box 58"/>
            <p:cNvSpPr txBox="1">
              <a:spLocks noChangeArrowheads="1"/>
            </p:cNvSpPr>
            <p:nvPr/>
          </p:nvSpPr>
          <p:spPr bwMode="auto">
            <a:xfrm>
              <a:off x="4829" y="2148"/>
              <a:ext cx="48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sz="2000" b="1" dirty="0" smtClean="0">
                  <a:latin typeface="+mn-ea"/>
                  <a:ea typeface="+mn-ea"/>
                </a:rPr>
                <a:t>扶壁式</a:t>
              </a:r>
              <a:endParaRPr kumimoji="0" lang="zh-CN" altLang="en-US" sz="2000" b="1" dirty="0" smtClean="0">
                <a:latin typeface="+mn-ea"/>
                <a:ea typeface="+mn-ea"/>
              </a:endParaRPr>
            </a:p>
          </p:txBody>
        </p:sp>
        <p:sp>
          <p:nvSpPr>
            <p:cNvPr id="10253" name="AutoShape 67"/>
            <p:cNvSpPr>
              <a:spLocks noChangeArrowheads="1"/>
            </p:cNvSpPr>
            <p:nvPr/>
          </p:nvSpPr>
          <p:spPr bwMode="auto">
            <a:xfrm>
              <a:off x="3878" y="2251"/>
              <a:ext cx="136" cy="499"/>
            </a:xfrm>
            <a:prstGeom prst="downArrow">
              <a:avLst>
                <a:gd name="adj1" fmla="val 50000"/>
                <a:gd name="adj2" fmla="val 91728"/>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0254" name="AutoShape 68"/>
            <p:cNvSpPr/>
            <p:nvPr/>
          </p:nvSpPr>
          <p:spPr bwMode="auto">
            <a:xfrm>
              <a:off x="4604" y="1570"/>
              <a:ext cx="226" cy="1406"/>
            </a:xfrm>
            <a:prstGeom prst="rightBrace">
              <a:avLst>
                <a:gd name="adj1" fmla="val 51844"/>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sp>
        <p:nvSpPr>
          <p:cNvPr id="10248" name="Line 73"/>
          <p:cNvSpPr>
            <a:spLocks noChangeShapeType="1"/>
          </p:cNvSpPr>
          <p:nvPr/>
        </p:nvSpPr>
        <p:spPr bwMode="auto">
          <a:xfrm flipV="1">
            <a:off x="971550" y="1541463"/>
            <a:ext cx="1800225" cy="0"/>
          </a:xfrm>
          <a:prstGeom prst="line">
            <a:avLst/>
          </a:prstGeom>
          <a:noFill/>
          <a:ln w="222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7" name="Rectangle 6"/>
          <p:cNvSpPr>
            <a:spLocks noChangeArrowheads="1"/>
          </p:cNvSpPr>
          <p:nvPr/>
        </p:nvSpPr>
        <p:spPr bwMode="auto">
          <a:xfrm>
            <a:off x="0" y="0"/>
            <a:ext cx="1981200" cy="492125"/>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3200" dirty="0" smtClean="0">
                <a:solidFill>
                  <a:srgbClr val="FF3300"/>
                </a:solidFill>
                <a:latin typeface="Times New Roman" panose="02020603050405020304" pitchFamily="18" charset="0"/>
                <a:ea typeface="+mj-ea"/>
                <a:cs typeface="Times New Roman" panose="02020603050405020304" pitchFamily="18" charset="0"/>
              </a:rPr>
              <a:t>§6.1 </a:t>
            </a:r>
            <a:r>
              <a:rPr lang="zh-CN" altLang="en-US" sz="3200" dirty="0" smtClean="0">
                <a:solidFill>
                  <a:srgbClr val="FF3300"/>
                </a:solidFill>
                <a:latin typeface="Times New Roman" panose="02020603050405020304" pitchFamily="18" charset="0"/>
                <a:ea typeface="+mj-ea"/>
                <a:cs typeface="Times New Roman" panose="02020603050405020304" pitchFamily="18" charset="0"/>
              </a:rPr>
              <a:t>概述</a:t>
            </a:r>
            <a:endParaRPr lang="zh-CN" altLang="en-US" sz="3200"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advClick="0" advTm="0">
    <p:pull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395288" y="760413"/>
            <a:ext cx="7362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defRPr/>
            </a:pPr>
            <a:r>
              <a:rPr lang="zh-CN" altLang="en-US" sz="2800" b="1" dirty="0" smtClean="0">
                <a:latin typeface="+mj-ea"/>
                <a:ea typeface="+mj-ea"/>
              </a:rPr>
              <a:t>柔性挡土墙：</a:t>
            </a:r>
            <a:r>
              <a:rPr lang="zh-CN" altLang="en-US" sz="2000" b="1" dirty="0" smtClean="0">
                <a:latin typeface="+mn-ea"/>
                <a:ea typeface="+mn-ea"/>
              </a:rPr>
              <a:t>本身会发生变形，墙上土压力分布形式复杂</a:t>
            </a:r>
            <a:endParaRPr lang="zh-CN" altLang="en-US" sz="2000" b="1" dirty="0" smtClean="0">
              <a:latin typeface="+mn-ea"/>
              <a:ea typeface="+mn-ea"/>
            </a:endParaRPr>
          </a:p>
        </p:txBody>
      </p:sp>
      <p:grpSp>
        <p:nvGrpSpPr>
          <p:cNvPr id="11267" name="Group 60"/>
          <p:cNvGrpSpPr/>
          <p:nvPr/>
        </p:nvGrpSpPr>
        <p:grpSpPr bwMode="auto">
          <a:xfrm>
            <a:off x="4211638" y="1628775"/>
            <a:ext cx="2881312" cy="2952750"/>
            <a:chOff x="2426" y="1570"/>
            <a:chExt cx="1642" cy="1702"/>
          </a:xfrm>
        </p:grpSpPr>
        <p:grpSp>
          <p:nvGrpSpPr>
            <p:cNvPr id="11325" name="Group 3"/>
            <p:cNvGrpSpPr/>
            <p:nvPr/>
          </p:nvGrpSpPr>
          <p:grpSpPr bwMode="auto">
            <a:xfrm>
              <a:off x="2426" y="1570"/>
              <a:ext cx="1642" cy="1702"/>
              <a:chOff x="1364" y="1184"/>
              <a:chExt cx="1560" cy="1444"/>
            </a:xfrm>
          </p:grpSpPr>
          <p:sp>
            <p:nvSpPr>
              <p:cNvPr id="11328" name="Line 4"/>
              <p:cNvSpPr>
                <a:spLocks noChangeShapeType="1"/>
              </p:cNvSpPr>
              <p:nvPr/>
            </p:nvSpPr>
            <p:spPr bwMode="auto">
              <a:xfrm>
                <a:off x="1516" y="2160"/>
                <a:ext cx="576"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29" name="Line 5"/>
              <p:cNvSpPr>
                <a:spLocks noChangeShapeType="1"/>
              </p:cNvSpPr>
              <p:nvPr/>
            </p:nvSpPr>
            <p:spPr bwMode="auto">
              <a:xfrm flipH="1">
                <a:off x="1658" y="2162"/>
                <a:ext cx="36" cy="4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30" name="Line 6"/>
              <p:cNvSpPr>
                <a:spLocks noChangeShapeType="1"/>
              </p:cNvSpPr>
              <p:nvPr/>
            </p:nvSpPr>
            <p:spPr bwMode="auto">
              <a:xfrm>
                <a:off x="1688" y="2162"/>
                <a:ext cx="40" cy="38"/>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31" name="Line 7"/>
              <p:cNvSpPr>
                <a:spLocks noChangeShapeType="1"/>
              </p:cNvSpPr>
              <p:nvPr/>
            </p:nvSpPr>
            <p:spPr bwMode="auto">
              <a:xfrm>
                <a:off x="1732" y="2166"/>
                <a:ext cx="40" cy="34"/>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32" name="Line 8"/>
              <p:cNvSpPr>
                <a:spLocks noChangeShapeType="1"/>
              </p:cNvSpPr>
              <p:nvPr/>
            </p:nvSpPr>
            <p:spPr bwMode="auto">
              <a:xfrm flipV="1">
                <a:off x="1772" y="2160"/>
                <a:ext cx="46" cy="4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33" name="Rectangle 9" descr="宽上对角线"/>
              <p:cNvSpPr>
                <a:spLocks noChangeArrowheads="1"/>
              </p:cNvSpPr>
              <p:nvPr/>
            </p:nvSpPr>
            <p:spPr bwMode="auto">
              <a:xfrm>
                <a:off x="2100" y="1184"/>
                <a:ext cx="47" cy="1376"/>
              </a:xfrm>
              <a:prstGeom prst="rect">
                <a:avLst/>
              </a:prstGeom>
              <a:blipFill dpi="0" rotWithShape="0">
                <a:blip r:embed="rId1"/>
                <a:srcRect/>
                <a:tile tx="0" ty="0" sx="100000" sy="100000" flip="none" algn="tl"/>
              </a:blipFill>
              <a:ln w="31750">
                <a:solidFill>
                  <a:schemeClr val="tx1"/>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1334" name="Line 10"/>
              <p:cNvSpPr>
                <a:spLocks noChangeShapeType="1"/>
              </p:cNvSpPr>
              <p:nvPr/>
            </p:nvSpPr>
            <p:spPr bwMode="auto">
              <a:xfrm>
                <a:off x="2148" y="1184"/>
                <a:ext cx="628"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35" name="Line 11"/>
              <p:cNvSpPr>
                <a:spLocks noChangeShapeType="1"/>
              </p:cNvSpPr>
              <p:nvPr/>
            </p:nvSpPr>
            <p:spPr bwMode="auto">
              <a:xfrm>
                <a:off x="2152" y="1344"/>
                <a:ext cx="576" cy="0"/>
              </a:xfrm>
              <a:prstGeom prst="line">
                <a:avLst/>
              </a:prstGeom>
              <a:noFill/>
              <a:ln w="28575">
                <a:solidFill>
                  <a:srgbClr val="0000CC"/>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36" name="Freeform 12"/>
              <p:cNvSpPr/>
              <p:nvPr/>
            </p:nvSpPr>
            <p:spPr bwMode="auto">
              <a:xfrm>
                <a:off x="2160" y="1200"/>
                <a:ext cx="764" cy="1380"/>
              </a:xfrm>
              <a:custGeom>
                <a:avLst/>
                <a:gdLst>
                  <a:gd name="T0" fmla="*/ 0 w 764"/>
                  <a:gd name="T1" fmla="*/ 0 h 1380"/>
                  <a:gd name="T2" fmla="*/ 56 w 764"/>
                  <a:gd name="T3" fmla="*/ 36 h 1380"/>
                  <a:gd name="T4" fmla="*/ 112 w 764"/>
                  <a:gd name="T5" fmla="*/ 100 h 1380"/>
                  <a:gd name="T6" fmla="*/ 136 w 764"/>
                  <a:gd name="T7" fmla="*/ 156 h 1380"/>
                  <a:gd name="T8" fmla="*/ 136 w 764"/>
                  <a:gd name="T9" fmla="*/ 220 h 1380"/>
                  <a:gd name="T10" fmla="*/ 120 w 764"/>
                  <a:gd name="T11" fmla="*/ 340 h 1380"/>
                  <a:gd name="T12" fmla="*/ 112 w 764"/>
                  <a:gd name="T13" fmla="*/ 468 h 1380"/>
                  <a:gd name="T14" fmla="*/ 132 w 764"/>
                  <a:gd name="T15" fmla="*/ 584 h 1380"/>
                  <a:gd name="T16" fmla="*/ 188 w 764"/>
                  <a:gd name="T17" fmla="*/ 656 h 1380"/>
                  <a:gd name="T18" fmla="*/ 292 w 764"/>
                  <a:gd name="T19" fmla="*/ 720 h 1380"/>
                  <a:gd name="T20" fmla="*/ 424 w 764"/>
                  <a:gd name="T21" fmla="*/ 792 h 1380"/>
                  <a:gd name="T22" fmla="*/ 516 w 764"/>
                  <a:gd name="T23" fmla="*/ 876 h 1380"/>
                  <a:gd name="T24" fmla="*/ 596 w 764"/>
                  <a:gd name="T25" fmla="*/ 972 h 1380"/>
                  <a:gd name="T26" fmla="*/ 660 w 764"/>
                  <a:gd name="T27" fmla="*/ 1084 h 1380"/>
                  <a:gd name="T28" fmla="*/ 716 w 764"/>
                  <a:gd name="T29" fmla="*/ 1232 h 1380"/>
                  <a:gd name="T30" fmla="*/ 764 w 764"/>
                  <a:gd name="T31" fmla="*/ 1380 h 13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64"/>
                  <a:gd name="T49" fmla="*/ 0 h 1380"/>
                  <a:gd name="T50" fmla="*/ 764 w 764"/>
                  <a:gd name="T51" fmla="*/ 1380 h 138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64" h="1380">
                    <a:moveTo>
                      <a:pt x="0" y="0"/>
                    </a:moveTo>
                    <a:cubicBezTo>
                      <a:pt x="18" y="9"/>
                      <a:pt x="37" y="19"/>
                      <a:pt x="56" y="36"/>
                    </a:cubicBezTo>
                    <a:cubicBezTo>
                      <a:pt x="75" y="53"/>
                      <a:pt x="99" y="80"/>
                      <a:pt x="112" y="100"/>
                    </a:cubicBezTo>
                    <a:cubicBezTo>
                      <a:pt x="125" y="120"/>
                      <a:pt x="132" y="136"/>
                      <a:pt x="136" y="156"/>
                    </a:cubicBezTo>
                    <a:cubicBezTo>
                      <a:pt x="140" y="176"/>
                      <a:pt x="139" y="189"/>
                      <a:pt x="136" y="220"/>
                    </a:cubicBezTo>
                    <a:cubicBezTo>
                      <a:pt x="133" y="251"/>
                      <a:pt x="124" y="299"/>
                      <a:pt x="120" y="340"/>
                    </a:cubicBezTo>
                    <a:cubicBezTo>
                      <a:pt x="116" y="381"/>
                      <a:pt x="110" y="427"/>
                      <a:pt x="112" y="468"/>
                    </a:cubicBezTo>
                    <a:cubicBezTo>
                      <a:pt x="114" y="509"/>
                      <a:pt x="119" y="553"/>
                      <a:pt x="132" y="584"/>
                    </a:cubicBezTo>
                    <a:cubicBezTo>
                      <a:pt x="145" y="615"/>
                      <a:pt x="161" y="633"/>
                      <a:pt x="188" y="656"/>
                    </a:cubicBezTo>
                    <a:cubicBezTo>
                      <a:pt x="215" y="679"/>
                      <a:pt x="253" y="697"/>
                      <a:pt x="292" y="720"/>
                    </a:cubicBezTo>
                    <a:cubicBezTo>
                      <a:pt x="331" y="743"/>
                      <a:pt x="387" y="766"/>
                      <a:pt x="424" y="792"/>
                    </a:cubicBezTo>
                    <a:cubicBezTo>
                      <a:pt x="461" y="818"/>
                      <a:pt x="487" y="846"/>
                      <a:pt x="516" y="876"/>
                    </a:cubicBezTo>
                    <a:cubicBezTo>
                      <a:pt x="545" y="906"/>
                      <a:pt x="572" y="937"/>
                      <a:pt x="596" y="972"/>
                    </a:cubicBezTo>
                    <a:cubicBezTo>
                      <a:pt x="620" y="1007"/>
                      <a:pt x="640" y="1041"/>
                      <a:pt x="660" y="1084"/>
                    </a:cubicBezTo>
                    <a:cubicBezTo>
                      <a:pt x="680" y="1127"/>
                      <a:pt x="699" y="1183"/>
                      <a:pt x="716" y="1232"/>
                    </a:cubicBezTo>
                    <a:cubicBezTo>
                      <a:pt x="733" y="1281"/>
                      <a:pt x="755" y="1352"/>
                      <a:pt x="764" y="1380"/>
                    </a:cubicBezTo>
                  </a:path>
                </a:pathLst>
              </a:custGeom>
              <a:noFill/>
              <a:ln w="28575">
                <a:solidFill>
                  <a:srgbClr val="0099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337" name="Line 13"/>
              <p:cNvSpPr>
                <a:spLocks noChangeShapeType="1"/>
              </p:cNvSpPr>
              <p:nvPr/>
            </p:nvSpPr>
            <p:spPr bwMode="auto">
              <a:xfrm>
                <a:off x="2144" y="1188"/>
                <a:ext cx="728" cy="1440"/>
              </a:xfrm>
              <a:prstGeom prst="line">
                <a:avLst/>
              </a:prstGeom>
              <a:noFill/>
              <a:ln w="38100">
                <a:solidFill>
                  <a:srgbClr val="FF66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1338" name="Freeform 14"/>
              <p:cNvSpPr/>
              <p:nvPr/>
            </p:nvSpPr>
            <p:spPr bwMode="auto">
              <a:xfrm>
                <a:off x="1559" y="2160"/>
                <a:ext cx="505" cy="456"/>
              </a:xfrm>
              <a:custGeom>
                <a:avLst/>
                <a:gdLst>
                  <a:gd name="T0" fmla="*/ 505 w 505"/>
                  <a:gd name="T1" fmla="*/ 0 h 456"/>
                  <a:gd name="T2" fmla="*/ 337 w 505"/>
                  <a:gd name="T3" fmla="*/ 40 h 456"/>
                  <a:gd name="T4" fmla="*/ 161 w 505"/>
                  <a:gd name="T5" fmla="*/ 96 h 456"/>
                  <a:gd name="T6" fmla="*/ 33 w 505"/>
                  <a:gd name="T7" fmla="*/ 172 h 456"/>
                  <a:gd name="T8" fmla="*/ 1 w 505"/>
                  <a:gd name="T9" fmla="*/ 232 h 456"/>
                  <a:gd name="T10" fmla="*/ 25 w 505"/>
                  <a:gd name="T11" fmla="*/ 284 h 456"/>
                  <a:gd name="T12" fmla="*/ 69 w 505"/>
                  <a:gd name="T13" fmla="*/ 340 h 456"/>
                  <a:gd name="T14" fmla="*/ 149 w 505"/>
                  <a:gd name="T15" fmla="*/ 392 h 456"/>
                  <a:gd name="T16" fmla="*/ 261 w 505"/>
                  <a:gd name="T17" fmla="*/ 456 h 4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05"/>
                  <a:gd name="T28" fmla="*/ 0 h 456"/>
                  <a:gd name="T29" fmla="*/ 505 w 505"/>
                  <a:gd name="T30" fmla="*/ 456 h 4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05" h="456">
                    <a:moveTo>
                      <a:pt x="505" y="0"/>
                    </a:moveTo>
                    <a:cubicBezTo>
                      <a:pt x="449" y="12"/>
                      <a:pt x="394" y="24"/>
                      <a:pt x="337" y="40"/>
                    </a:cubicBezTo>
                    <a:cubicBezTo>
                      <a:pt x="280" y="56"/>
                      <a:pt x="212" y="74"/>
                      <a:pt x="161" y="96"/>
                    </a:cubicBezTo>
                    <a:cubicBezTo>
                      <a:pt x="110" y="118"/>
                      <a:pt x="60" y="149"/>
                      <a:pt x="33" y="172"/>
                    </a:cubicBezTo>
                    <a:cubicBezTo>
                      <a:pt x="6" y="195"/>
                      <a:pt x="2" y="213"/>
                      <a:pt x="1" y="232"/>
                    </a:cubicBezTo>
                    <a:cubicBezTo>
                      <a:pt x="0" y="251"/>
                      <a:pt x="14" y="266"/>
                      <a:pt x="25" y="284"/>
                    </a:cubicBezTo>
                    <a:cubicBezTo>
                      <a:pt x="36" y="302"/>
                      <a:pt x="48" y="322"/>
                      <a:pt x="69" y="340"/>
                    </a:cubicBezTo>
                    <a:cubicBezTo>
                      <a:pt x="90" y="358"/>
                      <a:pt x="117" y="373"/>
                      <a:pt x="149" y="392"/>
                    </a:cubicBezTo>
                    <a:cubicBezTo>
                      <a:pt x="181" y="411"/>
                      <a:pt x="239" y="443"/>
                      <a:pt x="261" y="456"/>
                    </a:cubicBezTo>
                  </a:path>
                </a:pathLst>
              </a:custGeom>
              <a:noFill/>
              <a:ln w="28575">
                <a:solidFill>
                  <a:srgbClr val="0099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339" name="Line 15"/>
              <p:cNvSpPr>
                <a:spLocks noChangeShapeType="1"/>
              </p:cNvSpPr>
              <p:nvPr/>
            </p:nvSpPr>
            <p:spPr bwMode="auto">
              <a:xfrm flipH="1">
                <a:off x="1364" y="2152"/>
                <a:ext cx="736" cy="460"/>
              </a:xfrm>
              <a:prstGeom prst="line">
                <a:avLst/>
              </a:prstGeom>
              <a:noFill/>
              <a:ln w="38100">
                <a:solidFill>
                  <a:srgbClr val="FF66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1340" name="Line 16"/>
              <p:cNvSpPr>
                <a:spLocks noChangeShapeType="1"/>
              </p:cNvSpPr>
              <p:nvPr/>
            </p:nvSpPr>
            <p:spPr bwMode="auto">
              <a:xfrm flipV="1">
                <a:off x="1817" y="2160"/>
                <a:ext cx="43" cy="4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1341" name="Group 17"/>
              <p:cNvGrpSpPr/>
              <p:nvPr/>
            </p:nvGrpSpPr>
            <p:grpSpPr bwMode="auto">
              <a:xfrm>
                <a:off x="2274" y="1184"/>
                <a:ext cx="270" cy="44"/>
                <a:chOff x="2274" y="1204"/>
                <a:chExt cx="270" cy="44"/>
              </a:xfrm>
            </p:grpSpPr>
            <p:sp>
              <p:nvSpPr>
                <p:cNvPr id="11342" name="Line 18"/>
                <p:cNvSpPr>
                  <a:spLocks noChangeShapeType="1"/>
                </p:cNvSpPr>
                <p:nvPr/>
              </p:nvSpPr>
              <p:spPr bwMode="auto">
                <a:xfrm flipH="1">
                  <a:off x="2274" y="1210"/>
                  <a:ext cx="28" cy="3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43" name="Line 19"/>
                <p:cNvSpPr>
                  <a:spLocks noChangeShapeType="1"/>
                </p:cNvSpPr>
                <p:nvPr/>
              </p:nvSpPr>
              <p:spPr bwMode="auto">
                <a:xfrm flipH="1">
                  <a:off x="2304" y="1214"/>
                  <a:ext cx="34" cy="3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44" name="Line 20"/>
                <p:cNvSpPr>
                  <a:spLocks noChangeShapeType="1"/>
                </p:cNvSpPr>
                <p:nvPr/>
              </p:nvSpPr>
              <p:spPr bwMode="auto">
                <a:xfrm flipH="1">
                  <a:off x="2346" y="1206"/>
                  <a:ext cx="36" cy="4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45" name="Line 21"/>
                <p:cNvSpPr>
                  <a:spLocks noChangeShapeType="1"/>
                </p:cNvSpPr>
                <p:nvPr/>
              </p:nvSpPr>
              <p:spPr bwMode="auto">
                <a:xfrm>
                  <a:off x="2376" y="1206"/>
                  <a:ext cx="40" cy="3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46" name="Line 22"/>
                <p:cNvSpPr>
                  <a:spLocks noChangeShapeType="1"/>
                </p:cNvSpPr>
                <p:nvPr/>
              </p:nvSpPr>
              <p:spPr bwMode="auto">
                <a:xfrm>
                  <a:off x="2420" y="1210"/>
                  <a:ext cx="40" cy="3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47" name="Line 23"/>
                <p:cNvSpPr>
                  <a:spLocks noChangeShapeType="1"/>
                </p:cNvSpPr>
                <p:nvPr/>
              </p:nvSpPr>
              <p:spPr bwMode="auto">
                <a:xfrm flipV="1">
                  <a:off x="2460" y="1204"/>
                  <a:ext cx="46" cy="4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48" name="Line 24"/>
                <p:cNvSpPr>
                  <a:spLocks noChangeShapeType="1"/>
                </p:cNvSpPr>
                <p:nvPr/>
              </p:nvSpPr>
              <p:spPr bwMode="auto">
                <a:xfrm flipV="1">
                  <a:off x="2512" y="1208"/>
                  <a:ext cx="32" cy="3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11326" name="Line 32"/>
            <p:cNvSpPr>
              <a:spLocks noChangeShapeType="1"/>
            </p:cNvSpPr>
            <p:nvPr/>
          </p:nvSpPr>
          <p:spPr bwMode="auto">
            <a:xfrm flipH="1">
              <a:off x="2744" y="2704"/>
              <a:ext cx="33" cy="4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27" name="Line 33"/>
            <p:cNvSpPr>
              <a:spLocks noChangeShapeType="1"/>
            </p:cNvSpPr>
            <p:nvPr/>
          </p:nvSpPr>
          <p:spPr bwMode="auto">
            <a:xfrm flipH="1">
              <a:off x="2789" y="2704"/>
              <a:ext cx="40" cy="4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1268" name="Group 59"/>
          <p:cNvGrpSpPr/>
          <p:nvPr/>
        </p:nvGrpSpPr>
        <p:grpSpPr bwMode="auto">
          <a:xfrm>
            <a:off x="982663" y="1727200"/>
            <a:ext cx="2436812" cy="2854325"/>
            <a:chOff x="340" y="1117"/>
            <a:chExt cx="1535" cy="1753"/>
          </a:xfrm>
        </p:grpSpPr>
        <p:sp>
          <p:nvSpPr>
            <p:cNvPr id="11300" name="Freeform 26"/>
            <p:cNvSpPr/>
            <p:nvPr/>
          </p:nvSpPr>
          <p:spPr bwMode="auto">
            <a:xfrm>
              <a:off x="696" y="1117"/>
              <a:ext cx="207" cy="1753"/>
            </a:xfrm>
            <a:custGeom>
              <a:avLst/>
              <a:gdLst>
                <a:gd name="T0" fmla="*/ 2699 w 178"/>
                <a:gd name="T1" fmla="*/ 0 h 1408"/>
                <a:gd name="T2" fmla="*/ 2398 w 178"/>
                <a:gd name="T3" fmla="*/ 852 h 1408"/>
                <a:gd name="T4" fmla="*/ 1122 w 178"/>
                <a:gd name="T5" fmla="*/ 12001 h 1408"/>
                <a:gd name="T6" fmla="*/ 160 w 178"/>
                <a:gd name="T7" fmla="*/ 30181 h 1408"/>
                <a:gd name="T8" fmla="*/ 216 w 178"/>
                <a:gd name="T9" fmla="*/ 37375 h 1408"/>
                <a:gd name="T10" fmla="*/ 700 w 178"/>
                <a:gd name="T11" fmla="*/ 47932 h 1408"/>
                <a:gd name="T12" fmla="*/ 1361 w 178"/>
                <a:gd name="T13" fmla="*/ 56855 h 1408"/>
                <a:gd name="T14" fmla="*/ 2025 w 178"/>
                <a:gd name="T15" fmla="*/ 63247 h 1408"/>
                <a:gd name="T16" fmla="*/ 2450 w 178"/>
                <a:gd name="T17" fmla="*/ 67202 h 1408"/>
                <a:gd name="T18" fmla="*/ 2398 w 178"/>
                <a:gd name="T19" fmla="*/ 71498 h 1408"/>
                <a:gd name="T20" fmla="*/ 2025 w 178"/>
                <a:gd name="T21" fmla="*/ 72753 h 140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8"/>
                <a:gd name="T34" fmla="*/ 0 h 1408"/>
                <a:gd name="T35" fmla="*/ 178 w 178"/>
                <a:gd name="T36" fmla="*/ 1408 h 140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8" h="1408">
                  <a:moveTo>
                    <a:pt x="178" y="0"/>
                  </a:moveTo>
                  <a:lnTo>
                    <a:pt x="158" y="16"/>
                  </a:lnTo>
                  <a:cubicBezTo>
                    <a:pt x="141" y="55"/>
                    <a:pt x="99" y="137"/>
                    <a:pt x="74" y="232"/>
                  </a:cubicBezTo>
                  <a:cubicBezTo>
                    <a:pt x="49" y="327"/>
                    <a:pt x="20" y="502"/>
                    <a:pt x="10" y="584"/>
                  </a:cubicBezTo>
                  <a:cubicBezTo>
                    <a:pt x="0" y="666"/>
                    <a:pt x="8" y="667"/>
                    <a:pt x="14" y="724"/>
                  </a:cubicBezTo>
                  <a:cubicBezTo>
                    <a:pt x="20" y="781"/>
                    <a:pt x="33" y="865"/>
                    <a:pt x="46" y="928"/>
                  </a:cubicBezTo>
                  <a:cubicBezTo>
                    <a:pt x="59" y="991"/>
                    <a:pt x="75" y="1051"/>
                    <a:pt x="90" y="1100"/>
                  </a:cubicBezTo>
                  <a:cubicBezTo>
                    <a:pt x="105" y="1149"/>
                    <a:pt x="122" y="1191"/>
                    <a:pt x="134" y="1224"/>
                  </a:cubicBezTo>
                  <a:cubicBezTo>
                    <a:pt x="146" y="1257"/>
                    <a:pt x="158" y="1273"/>
                    <a:pt x="162" y="1300"/>
                  </a:cubicBezTo>
                  <a:cubicBezTo>
                    <a:pt x="166" y="1327"/>
                    <a:pt x="163" y="1366"/>
                    <a:pt x="158" y="1384"/>
                  </a:cubicBezTo>
                  <a:cubicBezTo>
                    <a:pt x="153" y="1402"/>
                    <a:pt x="127" y="1405"/>
                    <a:pt x="134" y="1408"/>
                  </a:cubicBezTo>
                </a:path>
              </a:pathLst>
            </a:custGeom>
            <a:noFill/>
            <a:ln w="28575">
              <a:solidFill>
                <a:srgbClr val="CC0099"/>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1301" name="Group 27"/>
            <p:cNvGrpSpPr/>
            <p:nvPr/>
          </p:nvGrpSpPr>
          <p:grpSpPr bwMode="auto">
            <a:xfrm>
              <a:off x="340" y="1142"/>
              <a:ext cx="1228" cy="1713"/>
              <a:chOff x="284" y="1172"/>
              <a:chExt cx="1056" cy="1376"/>
            </a:xfrm>
          </p:grpSpPr>
          <p:sp>
            <p:nvSpPr>
              <p:cNvPr id="11321" name="Rectangle 28" descr="宽上对角线"/>
              <p:cNvSpPr>
                <a:spLocks noChangeArrowheads="1"/>
              </p:cNvSpPr>
              <p:nvPr/>
            </p:nvSpPr>
            <p:spPr bwMode="auto">
              <a:xfrm>
                <a:off x="664" y="1172"/>
                <a:ext cx="47" cy="1376"/>
              </a:xfrm>
              <a:prstGeom prst="rect">
                <a:avLst/>
              </a:prstGeom>
              <a:blipFill dpi="0" rotWithShape="0">
                <a:blip r:embed="rId1"/>
                <a:srcRect/>
                <a:tile tx="0" ty="0" sx="100000" sy="100000" flip="none" algn="tl"/>
              </a:blipFill>
              <a:ln w="38100">
                <a:solidFill>
                  <a:schemeClr val="tx1"/>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1322" name="Line 29"/>
              <p:cNvSpPr>
                <a:spLocks noChangeShapeType="1"/>
              </p:cNvSpPr>
              <p:nvPr/>
            </p:nvSpPr>
            <p:spPr bwMode="auto">
              <a:xfrm>
                <a:off x="712" y="1172"/>
                <a:ext cx="628"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23" name="Line 30"/>
              <p:cNvSpPr>
                <a:spLocks noChangeShapeType="1"/>
              </p:cNvSpPr>
              <p:nvPr/>
            </p:nvSpPr>
            <p:spPr bwMode="auto">
              <a:xfrm>
                <a:off x="284" y="2148"/>
                <a:ext cx="372"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24" name="Line 31"/>
              <p:cNvSpPr>
                <a:spLocks noChangeShapeType="1"/>
              </p:cNvSpPr>
              <p:nvPr/>
            </p:nvSpPr>
            <p:spPr bwMode="auto">
              <a:xfrm>
                <a:off x="716" y="1332"/>
                <a:ext cx="576" cy="0"/>
              </a:xfrm>
              <a:prstGeom prst="line">
                <a:avLst/>
              </a:prstGeom>
              <a:noFill/>
              <a:ln w="38100">
                <a:solidFill>
                  <a:srgbClr val="0000CC"/>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1302" name="Group 34"/>
            <p:cNvGrpSpPr/>
            <p:nvPr/>
          </p:nvGrpSpPr>
          <p:grpSpPr bwMode="auto">
            <a:xfrm>
              <a:off x="1010" y="1142"/>
              <a:ext cx="314" cy="55"/>
              <a:chOff x="2274" y="1204"/>
              <a:chExt cx="270" cy="44"/>
            </a:xfrm>
          </p:grpSpPr>
          <p:sp>
            <p:nvSpPr>
              <p:cNvPr id="11314" name="Line 35"/>
              <p:cNvSpPr>
                <a:spLocks noChangeShapeType="1"/>
              </p:cNvSpPr>
              <p:nvPr/>
            </p:nvSpPr>
            <p:spPr bwMode="auto">
              <a:xfrm flipH="1">
                <a:off x="2274" y="1210"/>
                <a:ext cx="28" cy="3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15" name="Line 36"/>
              <p:cNvSpPr>
                <a:spLocks noChangeShapeType="1"/>
              </p:cNvSpPr>
              <p:nvPr/>
            </p:nvSpPr>
            <p:spPr bwMode="auto">
              <a:xfrm flipH="1">
                <a:off x="2304" y="1214"/>
                <a:ext cx="34" cy="3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16" name="Line 37"/>
              <p:cNvSpPr>
                <a:spLocks noChangeShapeType="1"/>
              </p:cNvSpPr>
              <p:nvPr/>
            </p:nvSpPr>
            <p:spPr bwMode="auto">
              <a:xfrm flipH="1">
                <a:off x="2346" y="1206"/>
                <a:ext cx="36" cy="4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17" name="Line 38"/>
              <p:cNvSpPr>
                <a:spLocks noChangeShapeType="1"/>
              </p:cNvSpPr>
              <p:nvPr/>
            </p:nvSpPr>
            <p:spPr bwMode="auto">
              <a:xfrm>
                <a:off x="2376" y="1206"/>
                <a:ext cx="40" cy="3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18" name="Line 39"/>
              <p:cNvSpPr>
                <a:spLocks noChangeShapeType="1"/>
              </p:cNvSpPr>
              <p:nvPr/>
            </p:nvSpPr>
            <p:spPr bwMode="auto">
              <a:xfrm>
                <a:off x="2420" y="1210"/>
                <a:ext cx="40" cy="3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19" name="Line 40"/>
              <p:cNvSpPr>
                <a:spLocks noChangeShapeType="1"/>
              </p:cNvSpPr>
              <p:nvPr/>
            </p:nvSpPr>
            <p:spPr bwMode="auto">
              <a:xfrm flipV="1">
                <a:off x="2460" y="1204"/>
                <a:ext cx="46" cy="4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20" name="Line 41"/>
              <p:cNvSpPr>
                <a:spLocks noChangeShapeType="1"/>
              </p:cNvSpPr>
              <p:nvPr/>
            </p:nvSpPr>
            <p:spPr bwMode="auto">
              <a:xfrm flipV="1">
                <a:off x="2512" y="1208"/>
                <a:ext cx="32" cy="3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1303" name="Group 42"/>
            <p:cNvGrpSpPr/>
            <p:nvPr/>
          </p:nvGrpSpPr>
          <p:grpSpPr bwMode="auto">
            <a:xfrm>
              <a:off x="368" y="2347"/>
              <a:ext cx="314" cy="55"/>
              <a:chOff x="2274" y="1204"/>
              <a:chExt cx="270" cy="44"/>
            </a:xfrm>
          </p:grpSpPr>
          <p:sp>
            <p:nvSpPr>
              <p:cNvPr id="11307" name="Line 43"/>
              <p:cNvSpPr>
                <a:spLocks noChangeShapeType="1"/>
              </p:cNvSpPr>
              <p:nvPr/>
            </p:nvSpPr>
            <p:spPr bwMode="auto">
              <a:xfrm flipH="1">
                <a:off x="2274" y="1210"/>
                <a:ext cx="28" cy="3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08" name="Line 44"/>
              <p:cNvSpPr>
                <a:spLocks noChangeShapeType="1"/>
              </p:cNvSpPr>
              <p:nvPr/>
            </p:nvSpPr>
            <p:spPr bwMode="auto">
              <a:xfrm flipH="1">
                <a:off x="2304" y="1214"/>
                <a:ext cx="34" cy="3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09" name="Line 45"/>
              <p:cNvSpPr>
                <a:spLocks noChangeShapeType="1"/>
              </p:cNvSpPr>
              <p:nvPr/>
            </p:nvSpPr>
            <p:spPr bwMode="auto">
              <a:xfrm flipH="1">
                <a:off x="2346" y="1206"/>
                <a:ext cx="36" cy="4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10" name="Line 46"/>
              <p:cNvSpPr>
                <a:spLocks noChangeShapeType="1"/>
              </p:cNvSpPr>
              <p:nvPr/>
            </p:nvSpPr>
            <p:spPr bwMode="auto">
              <a:xfrm>
                <a:off x="2376" y="1206"/>
                <a:ext cx="40" cy="3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11" name="Line 47"/>
              <p:cNvSpPr>
                <a:spLocks noChangeShapeType="1"/>
              </p:cNvSpPr>
              <p:nvPr/>
            </p:nvSpPr>
            <p:spPr bwMode="auto">
              <a:xfrm>
                <a:off x="2420" y="1210"/>
                <a:ext cx="40" cy="3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12" name="Line 48"/>
              <p:cNvSpPr>
                <a:spLocks noChangeShapeType="1"/>
              </p:cNvSpPr>
              <p:nvPr/>
            </p:nvSpPr>
            <p:spPr bwMode="auto">
              <a:xfrm flipV="1">
                <a:off x="2460" y="1204"/>
                <a:ext cx="46" cy="4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13" name="Line 49"/>
              <p:cNvSpPr>
                <a:spLocks noChangeShapeType="1"/>
              </p:cNvSpPr>
              <p:nvPr/>
            </p:nvSpPr>
            <p:spPr bwMode="auto">
              <a:xfrm flipV="1">
                <a:off x="2512" y="1208"/>
                <a:ext cx="32" cy="3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6183" name="Text Box 50"/>
            <p:cNvSpPr txBox="1">
              <a:spLocks noChangeArrowheads="1"/>
            </p:cNvSpPr>
            <p:nvPr/>
          </p:nvSpPr>
          <p:spPr bwMode="auto">
            <a:xfrm>
              <a:off x="1461" y="1117"/>
              <a:ext cx="414"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defRPr/>
              </a:pPr>
              <a:r>
                <a:rPr lang="zh-CN" altLang="en-US" sz="1800" b="1" dirty="0" smtClean="0">
                  <a:solidFill>
                    <a:srgbClr val="000000"/>
                  </a:solidFill>
                  <a:latin typeface="+mn-ea"/>
                  <a:ea typeface="+mn-ea"/>
                </a:rPr>
                <a:t>锚杆</a:t>
              </a:r>
              <a:endParaRPr lang="zh-CN" altLang="en-US" sz="1800" b="1" dirty="0" smtClean="0">
                <a:solidFill>
                  <a:srgbClr val="000000"/>
                </a:solidFill>
                <a:latin typeface="+mn-ea"/>
                <a:ea typeface="+mn-ea"/>
              </a:endParaRPr>
            </a:p>
          </p:txBody>
        </p:sp>
        <p:sp>
          <p:nvSpPr>
            <p:cNvPr id="6184" name="Text Box 51"/>
            <p:cNvSpPr txBox="1">
              <a:spLocks noChangeArrowheads="1"/>
            </p:cNvSpPr>
            <p:nvPr/>
          </p:nvSpPr>
          <p:spPr bwMode="auto">
            <a:xfrm>
              <a:off x="959" y="1547"/>
              <a:ext cx="41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defRPr/>
              </a:pPr>
              <a:r>
                <a:rPr lang="zh-CN" altLang="en-US" sz="1800" b="1" dirty="0" smtClean="0">
                  <a:solidFill>
                    <a:srgbClr val="000000"/>
                  </a:solidFill>
                  <a:latin typeface="+mn-ea"/>
                  <a:ea typeface="+mn-ea"/>
                </a:rPr>
                <a:t>板桩</a:t>
              </a:r>
              <a:endParaRPr lang="zh-CN" altLang="en-US" sz="1800" b="1" dirty="0" smtClean="0">
                <a:solidFill>
                  <a:srgbClr val="000000"/>
                </a:solidFill>
                <a:latin typeface="+mn-ea"/>
                <a:ea typeface="+mn-ea"/>
              </a:endParaRPr>
            </a:p>
          </p:txBody>
        </p:sp>
        <p:sp>
          <p:nvSpPr>
            <p:cNvPr id="11306" name="Line 52"/>
            <p:cNvSpPr>
              <a:spLocks noChangeShapeType="1"/>
            </p:cNvSpPr>
            <p:nvPr/>
          </p:nvSpPr>
          <p:spPr bwMode="auto">
            <a:xfrm flipV="1">
              <a:off x="847" y="1797"/>
              <a:ext cx="161" cy="97"/>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221" name="Text Box 53"/>
          <p:cNvSpPr txBox="1">
            <a:spLocks noChangeArrowheads="1"/>
          </p:cNvSpPr>
          <p:nvPr/>
        </p:nvSpPr>
        <p:spPr bwMode="auto">
          <a:xfrm>
            <a:off x="1227138" y="5067300"/>
            <a:ext cx="1676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defRPr/>
            </a:pPr>
            <a:r>
              <a:rPr lang="zh-CN" altLang="en-US" b="1" dirty="0" smtClean="0">
                <a:solidFill>
                  <a:srgbClr val="000000"/>
                </a:solidFill>
                <a:latin typeface="+mn-ea"/>
                <a:ea typeface="+mn-ea"/>
              </a:rPr>
              <a:t>板桩变形</a:t>
            </a:r>
            <a:endParaRPr lang="zh-CN" altLang="en-US" b="1" dirty="0" smtClean="0">
              <a:solidFill>
                <a:srgbClr val="000000"/>
              </a:solidFill>
              <a:latin typeface="+mn-ea"/>
              <a:ea typeface="+mn-ea"/>
            </a:endParaRPr>
          </a:p>
        </p:txBody>
      </p:sp>
      <p:grpSp>
        <p:nvGrpSpPr>
          <p:cNvPr id="9" name="Group 54"/>
          <p:cNvGrpSpPr/>
          <p:nvPr/>
        </p:nvGrpSpPr>
        <p:grpSpPr bwMode="auto">
          <a:xfrm>
            <a:off x="4787900" y="4868863"/>
            <a:ext cx="2520950" cy="1200150"/>
            <a:chOff x="1488" y="2601"/>
            <a:chExt cx="1588" cy="756"/>
          </a:xfrm>
        </p:grpSpPr>
        <p:sp>
          <p:nvSpPr>
            <p:cNvPr id="6176" name="Text Box 55"/>
            <p:cNvSpPr txBox="1">
              <a:spLocks noChangeArrowheads="1"/>
            </p:cNvSpPr>
            <p:nvPr/>
          </p:nvSpPr>
          <p:spPr bwMode="auto">
            <a:xfrm>
              <a:off x="1488" y="2601"/>
              <a:ext cx="1588"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lang="zh-CN" altLang="en-US" b="1" dirty="0" smtClean="0">
                  <a:solidFill>
                    <a:srgbClr val="000000"/>
                  </a:solidFill>
                  <a:latin typeface="+mn-ea"/>
                  <a:ea typeface="+mn-ea"/>
                </a:rPr>
                <a:t>板桩上土压力</a:t>
              </a:r>
              <a:endParaRPr lang="zh-CN" altLang="en-US" b="1" dirty="0" smtClean="0">
                <a:solidFill>
                  <a:srgbClr val="000000"/>
                </a:solidFill>
                <a:latin typeface="+mn-ea"/>
                <a:ea typeface="+mn-ea"/>
              </a:endParaRPr>
            </a:p>
            <a:p>
              <a:pPr eaLnBrk="1" hangingPunct="1">
                <a:defRPr/>
              </a:pPr>
              <a:r>
                <a:rPr lang="zh-CN" altLang="en-US" b="1" dirty="0" smtClean="0">
                  <a:solidFill>
                    <a:srgbClr val="000000"/>
                  </a:solidFill>
                  <a:latin typeface="+mn-ea"/>
                  <a:ea typeface="+mn-ea"/>
                </a:rPr>
                <a:t>          实测</a:t>
              </a:r>
              <a:endParaRPr lang="zh-CN" altLang="en-US" b="1" dirty="0" smtClean="0">
                <a:solidFill>
                  <a:srgbClr val="000000"/>
                </a:solidFill>
                <a:latin typeface="+mn-ea"/>
                <a:ea typeface="+mn-ea"/>
              </a:endParaRPr>
            </a:p>
            <a:p>
              <a:pPr eaLnBrk="1" hangingPunct="1">
                <a:defRPr/>
              </a:pPr>
              <a:r>
                <a:rPr lang="zh-CN" altLang="en-US" b="1" dirty="0" smtClean="0">
                  <a:solidFill>
                    <a:srgbClr val="000000"/>
                  </a:solidFill>
                  <a:latin typeface="+mn-ea"/>
                  <a:ea typeface="+mn-ea"/>
                </a:rPr>
                <a:t>          计算</a:t>
              </a:r>
              <a:endParaRPr lang="zh-CN" altLang="en-US" b="1" dirty="0" smtClean="0">
                <a:solidFill>
                  <a:srgbClr val="000000"/>
                </a:solidFill>
                <a:latin typeface="+mn-ea"/>
                <a:ea typeface="+mn-ea"/>
              </a:endParaRPr>
            </a:p>
          </p:txBody>
        </p:sp>
        <p:sp>
          <p:nvSpPr>
            <p:cNvPr id="11298" name="Line 56"/>
            <p:cNvSpPr>
              <a:spLocks noChangeShapeType="1"/>
            </p:cNvSpPr>
            <p:nvPr/>
          </p:nvSpPr>
          <p:spPr bwMode="auto">
            <a:xfrm>
              <a:off x="1632" y="3024"/>
              <a:ext cx="720" cy="0"/>
            </a:xfrm>
            <a:prstGeom prst="line">
              <a:avLst/>
            </a:prstGeom>
            <a:noFill/>
            <a:ln w="38100">
              <a:solidFill>
                <a:srgbClr val="0099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9" name="Line 57"/>
            <p:cNvSpPr>
              <a:spLocks noChangeShapeType="1"/>
            </p:cNvSpPr>
            <p:nvPr/>
          </p:nvSpPr>
          <p:spPr bwMode="auto">
            <a:xfrm>
              <a:off x="1632" y="3264"/>
              <a:ext cx="720" cy="0"/>
            </a:xfrm>
            <a:prstGeom prst="line">
              <a:avLst/>
            </a:prstGeom>
            <a:noFill/>
            <a:ln w="38100">
              <a:solidFill>
                <a:srgbClr val="FF3300"/>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1271" name="Group 61"/>
          <p:cNvGrpSpPr/>
          <p:nvPr/>
        </p:nvGrpSpPr>
        <p:grpSpPr bwMode="auto">
          <a:xfrm>
            <a:off x="4211638" y="1628775"/>
            <a:ext cx="2881312" cy="2952750"/>
            <a:chOff x="2426" y="1570"/>
            <a:chExt cx="1642" cy="1702"/>
          </a:xfrm>
        </p:grpSpPr>
        <p:grpSp>
          <p:nvGrpSpPr>
            <p:cNvPr id="11273" name="Group 62"/>
            <p:cNvGrpSpPr/>
            <p:nvPr/>
          </p:nvGrpSpPr>
          <p:grpSpPr bwMode="auto">
            <a:xfrm>
              <a:off x="2426" y="1570"/>
              <a:ext cx="1642" cy="1702"/>
              <a:chOff x="1364" y="1184"/>
              <a:chExt cx="1560" cy="1444"/>
            </a:xfrm>
          </p:grpSpPr>
          <p:sp>
            <p:nvSpPr>
              <p:cNvPr id="11276" name="Line 63"/>
              <p:cNvSpPr>
                <a:spLocks noChangeShapeType="1"/>
              </p:cNvSpPr>
              <p:nvPr/>
            </p:nvSpPr>
            <p:spPr bwMode="auto">
              <a:xfrm>
                <a:off x="1516" y="2160"/>
                <a:ext cx="576"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77" name="Line 64"/>
              <p:cNvSpPr>
                <a:spLocks noChangeShapeType="1"/>
              </p:cNvSpPr>
              <p:nvPr/>
            </p:nvSpPr>
            <p:spPr bwMode="auto">
              <a:xfrm flipH="1">
                <a:off x="1658" y="2162"/>
                <a:ext cx="36" cy="4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78" name="Line 65"/>
              <p:cNvSpPr>
                <a:spLocks noChangeShapeType="1"/>
              </p:cNvSpPr>
              <p:nvPr/>
            </p:nvSpPr>
            <p:spPr bwMode="auto">
              <a:xfrm>
                <a:off x="1688" y="2162"/>
                <a:ext cx="40" cy="3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79" name="Line 66"/>
              <p:cNvSpPr>
                <a:spLocks noChangeShapeType="1"/>
              </p:cNvSpPr>
              <p:nvPr/>
            </p:nvSpPr>
            <p:spPr bwMode="auto">
              <a:xfrm>
                <a:off x="1732" y="2166"/>
                <a:ext cx="40" cy="3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80" name="Line 67"/>
              <p:cNvSpPr>
                <a:spLocks noChangeShapeType="1"/>
              </p:cNvSpPr>
              <p:nvPr/>
            </p:nvSpPr>
            <p:spPr bwMode="auto">
              <a:xfrm flipV="1">
                <a:off x="1772" y="2160"/>
                <a:ext cx="46" cy="4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81" name="Rectangle 68" descr="宽上对角线"/>
              <p:cNvSpPr>
                <a:spLocks noChangeArrowheads="1"/>
              </p:cNvSpPr>
              <p:nvPr/>
            </p:nvSpPr>
            <p:spPr bwMode="auto">
              <a:xfrm>
                <a:off x="2100" y="1184"/>
                <a:ext cx="47" cy="1376"/>
              </a:xfrm>
              <a:prstGeom prst="rect">
                <a:avLst/>
              </a:prstGeom>
              <a:blipFill dpi="0" rotWithShape="0">
                <a:blip r:embed="rId1"/>
                <a:srcRect/>
                <a:tile tx="0" ty="0" sx="100000" sy="100000" flip="none" algn="tl"/>
              </a:blipFill>
              <a:ln w="31750">
                <a:solidFill>
                  <a:schemeClr val="tx1"/>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1282" name="Line 69"/>
              <p:cNvSpPr>
                <a:spLocks noChangeShapeType="1"/>
              </p:cNvSpPr>
              <p:nvPr/>
            </p:nvSpPr>
            <p:spPr bwMode="auto">
              <a:xfrm>
                <a:off x="2148" y="1184"/>
                <a:ext cx="628"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83" name="Line 70"/>
              <p:cNvSpPr>
                <a:spLocks noChangeShapeType="1"/>
              </p:cNvSpPr>
              <p:nvPr/>
            </p:nvSpPr>
            <p:spPr bwMode="auto">
              <a:xfrm>
                <a:off x="2152" y="1344"/>
                <a:ext cx="576" cy="0"/>
              </a:xfrm>
              <a:prstGeom prst="line">
                <a:avLst/>
              </a:prstGeom>
              <a:noFill/>
              <a:ln w="28575">
                <a:solidFill>
                  <a:srgbClr val="0000CC"/>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84" name="Freeform 71"/>
              <p:cNvSpPr/>
              <p:nvPr/>
            </p:nvSpPr>
            <p:spPr bwMode="auto">
              <a:xfrm>
                <a:off x="2160" y="1200"/>
                <a:ext cx="764" cy="1380"/>
              </a:xfrm>
              <a:custGeom>
                <a:avLst/>
                <a:gdLst>
                  <a:gd name="T0" fmla="*/ 0 w 764"/>
                  <a:gd name="T1" fmla="*/ 0 h 1380"/>
                  <a:gd name="T2" fmla="*/ 56 w 764"/>
                  <a:gd name="T3" fmla="*/ 36 h 1380"/>
                  <a:gd name="T4" fmla="*/ 112 w 764"/>
                  <a:gd name="T5" fmla="*/ 100 h 1380"/>
                  <a:gd name="T6" fmla="*/ 136 w 764"/>
                  <a:gd name="T7" fmla="*/ 156 h 1380"/>
                  <a:gd name="T8" fmla="*/ 136 w 764"/>
                  <a:gd name="T9" fmla="*/ 220 h 1380"/>
                  <a:gd name="T10" fmla="*/ 120 w 764"/>
                  <a:gd name="T11" fmla="*/ 340 h 1380"/>
                  <a:gd name="T12" fmla="*/ 112 w 764"/>
                  <a:gd name="T13" fmla="*/ 468 h 1380"/>
                  <a:gd name="T14" fmla="*/ 132 w 764"/>
                  <a:gd name="T15" fmla="*/ 584 h 1380"/>
                  <a:gd name="T16" fmla="*/ 188 w 764"/>
                  <a:gd name="T17" fmla="*/ 656 h 1380"/>
                  <a:gd name="T18" fmla="*/ 292 w 764"/>
                  <a:gd name="T19" fmla="*/ 720 h 1380"/>
                  <a:gd name="T20" fmla="*/ 424 w 764"/>
                  <a:gd name="T21" fmla="*/ 792 h 1380"/>
                  <a:gd name="T22" fmla="*/ 516 w 764"/>
                  <a:gd name="T23" fmla="*/ 876 h 1380"/>
                  <a:gd name="T24" fmla="*/ 596 w 764"/>
                  <a:gd name="T25" fmla="*/ 972 h 1380"/>
                  <a:gd name="T26" fmla="*/ 660 w 764"/>
                  <a:gd name="T27" fmla="*/ 1084 h 1380"/>
                  <a:gd name="T28" fmla="*/ 716 w 764"/>
                  <a:gd name="T29" fmla="*/ 1232 h 1380"/>
                  <a:gd name="T30" fmla="*/ 764 w 764"/>
                  <a:gd name="T31" fmla="*/ 1380 h 13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64"/>
                  <a:gd name="T49" fmla="*/ 0 h 1380"/>
                  <a:gd name="T50" fmla="*/ 764 w 764"/>
                  <a:gd name="T51" fmla="*/ 1380 h 138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64" h="1380">
                    <a:moveTo>
                      <a:pt x="0" y="0"/>
                    </a:moveTo>
                    <a:cubicBezTo>
                      <a:pt x="18" y="9"/>
                      <a:pt x="37" y="19"/>
                      <a:pt x="56" y="36"/>
                    </a:cubicBezTo>
                    <a:cubicBezTo>
                      <a:pt x="75" y="53"/>
                      <a:pt x="99" y="80"/>
                      <a:pt x="112" y="100"/>
                    </a:cubicBezTo>
                    <a:cubicBezTo>
                      <a:pt x="125" y="120"/>
                      <a:pt x="132" y="136"/>
                      <a:pt x="136" y="156"/>
                    </a:cubicBezTo>
                    <a:cubicBezTo>
                      <a:pt x="140" y="176"/>
                      <a:pt x="139" y="189"/>
                      <a:pt x="136" y="220"/>
                    </a:cubicBezTo>
                    <a:cubicBezTo>
                      <a:pt x="133" y="251"/>
                      <a:pt x="124" y="299"/>
                      <a:pt x="120" y="340"/>
                    </a:cubicBezTo>
                    <a:cubicBezTo>
                      <a:pt x="116" y="381"/>
                      <a:pt x="110" y="427"/>
                      <a:pt x="112" y="468"/>
                    </a:cubicBezTo>
                    <a:cubicBezTo>
                      <a:pt x="114" y="509"/>
                      <a:pt x="119" y="553"/>
                      <a:pt x="132" y="584"/>
                    </a:cubicBezTo>
                    <a:cubicBezTo>
                      <a:pt x="145" y="615"/>
                      <a:pt x="161" y="633"/>
                      <a:pt x="188" y="656"/>
                    </a:cubicBezTo>
                    <a:cubicBezTo>
                      <a:pt x="215" y="679"/>
                      <a:pt x="253" y="697"/>
                      <a:pt x="292" y="720"/>
                    </a:cubicBezTo>
                    <a:cubicBezTo>
                      <a:pt x="331" y="743"/>
                      <a:pt x="387" y="766"/>
                      <a:pt x="424" y="792"/>
                    </a:cubicBezTo>
                    <a:cubicBezTo>
                      <a:pt x="461" y="818"/>
                      <a:pt x="487" y="846"/>
                      <a:pt x="516" y="876"/>
                    </a:cubicBezTo>
                    <a:cubicBezTo>
                      <a:pt x="545" y="906"/>
                      <a:pt x="572" y="937"/>
                      <a:pt x="596" y="972"/>
                    </a:cubicBezTo>
                    <a:cubicBezTo>
                      <a:pt x="620" y="1007"/>
                      <a:pt x="640" y="1041"/>
                      <a:pt x="660" y="1084"/>
                    </a:cubicBezTo>
                    <a:cubicBezTo>
                      <a:pt x="680" y="1127"/>
                      <a:pt x="699" y="1183"/>
                      <a:pt x="716" y="1232"/>
                    </a:cubicBezTo>
                    <a:cubicBezTo>
                      <a:pt x="733" y="1281"/>
                      <a:pt x="755" y="1352"/>
                      <a:pt x="764" y="1380"/>
                    </a:cubicBezTo>
                  </a:path>
                </a:pathLst>
              </a:custGeom>
              <a:noFill/>
              <a:ln w="28575">
                <a:solidFill>
                  <a:srgbClr val="0099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285" name="Line 72"/>
              <p:cNvSpPr>
                <a:spLocks noChangeShapeType="1"/>
              </p:cNvSpPr>
              <p:nvPr/>
            </p:nvSpPr>
            <p:spPr bwMode="auto">
              <a:xfrm>
                <a:off x="2144" y="1188"/>
                <a:ext cx="728" cy="1440"/>
              </a:xfrm>
              <a:prstGeom prst="line">
                <a:avLst/>
              </a:prstGeom>
              <a:noFill/>
              <a:ln w="38100">
                <a:solidFill>
                  <a:srgbClr val="FF66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1286" name="Freeform 73"/>
              <p:cNvSpPr/>
              <p:nvPr/>
            </p:nvSpPr>
            <p:spPr bwMode="auto">
              <a:xfrm>
                <a:off x="1559" y="2160"/>
                <a:ext cx="505" cy="456"/>
              </a:xfrm>
              <a:custGeom>
                <a:avLst/>
                <a:gdLst>
                  <a:gd name="T0" fmla="*/ 505 w 505"/>
                  <a:gd name="T1" fmla="*/ 0 h 456"/>
                  <a:gd name="T2" fmla="*/ 337 w 505"/>
                  <a:gd name="T3" fmla="*/ 40 h 456"/>
                  <a:gd name="T4" fmla="*/ 161 w 505"/>
                  <a:gd name="T5" fmla="*/ 96 h 456"/>
                  <a:gd name="T6" fmla="*/ 33 w 505"/>
                  <a:gd name="T7" fmla="*/ 172 h 456"/>
                  <a:gd name="T8" fmla="*/ 1 w 505"/>
                  <a:gd name="T9" fmla="*/ 232 h 456"/>
                  <a:gd name="T10" fmla="*/ 25 w 505"/>
                  <a:gd name="T11" fmla="*/ 284 h 456"/>
                  <a:gd name="T12" fmla="*/ 69 w 505"/>
                  <a:gd name="T13" fmla="*/ 340 h 456"/>
                  <a:gd name="T14" fmla="*/ 149 w 505"/>
                  <a:gd name="T15" fmla="*/ 392 h 456"/>
                  <a:gd name="T16" fmla="*/ 261 w 505"/>
                  <a:gd name="T17" fmla="*/ 456 h 4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05"/>
                  <a:gd name="T28" fmla="*/ 0 h 456"/>
                  <a:gd name="T29" fmla="*/ 505 w 505"/>
                  <a:gd name="T30" fmla="*/ 456 h 4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05" h="456">
                    <a:moveTo>
                      <a:pt x="505" y="0"/>
                    </a:moveTo>
                    <a:cubicBezTo>
                      <a:pt x="449" y="12"/>
                      <a:pt x="394" y="24"/>
                      <a:pt x="337" y="40"/>
                    </a:cubicBezTo>
                    <a:cubicBezTo>
                      <a:pt x="280" y="56"/>
                      <a:pt x="212" y="74"/>
                      <a:pt x="161" y="96"/>
                    </a:cubicBezTo>
                    <a:cubicBezTo>
                      <a:pt x="110" y="118"/>
                      <a:pt x="60" y="149"/>
                      <a:pt x="33" y="172"/>
                    </a:cubicBezTo>
                    <a:cubicBezTo>
                      <a:pt x="6" y="195"/>
                      <a:pt x="2" y="213"/>
                      <a:pt x="1" y="232"/>
                    </a:cubicBezTo>
                    <a:cubicBezTo>
                      <a:pt x="0" y="251"/>
                      <a:pt x="14" y="266"/>
                      <a:pt x="25" y="284"/>
                    </a:cubicBezTo>
                    <a:cubicBezTo>
                      <a:pt x="36" y="302"/>
                      <a:pt x="48" y="322"/>
                      <a:pt x="69" y="340"/>
                    </a:cubicBezTo>
                    <a:cubicBezTo>
                      <a:pt x="90" y="358"/>
                      <a:pt x="117" y="373"/>
                      <a:pt x="149" y="392"/>
                    </a:cubicBezTo>
                    <a:cubicBezTo>
                      <a:pt x="181" y="411"/>
                      <a:pt x="239" y="443"/>
                      <a:pt x="261" y="456"/>
                    </a:cubicBezTo>
                  </a:path>
                </a:pathLst>
              </a:custGeom>
              <a:noFill/>
              <a:ln w="28575">
                <a:solidFill>
                  <a:srgbClr val="0099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287" name="Line 74"/>
              <p:cNvSpPr>
                <a:spLocks noChangeShapeType="1"/>
              </p:cNvSpPr>
              <p:nvPr/>
            </p:nvSpPr>
            <p:spPr bwMode="auto">
              <a:xfrm flipH="1">
                <a:off x="1364" y="2152"/>
                <a:ext cx="736" cy="460"/>
              </a:xfrm>
              <a:prstGeom prst="line">
                <a:avLst/>
              </a:prstGeom>
              <a:noFill/>
              <a:ln w="38100">
                <a:solidFill>
                  <a:srgbClr val="FF66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1288" name="Line 75"/>
              <p:cNvSpPr>
                <a:spLocks noChangeShapeType="1"/>
              </p:cNvSpPr>
              <p:nvPr/>
            </p:nvSpPr>
            <p:spPr bwMode="auto">
              <a:xfrm flipV="1">
                <a:off x="1817" y="2160"/>
                <a:ext cx="43" cy="4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1289" name="Group 76"/>
              <p:cNvGrpSpPr/>
              <p:nvPr/>
            </p:nvGrpSpPr>
            <p:grpSpPr bwMode="auto">
              <a:xfrm>
                <a:off x="2274" y="1184"/>
                <a:ext cx="270" cy="44"/>
                <a:chOff x="2274" y="1204"/>
                <a:chExt cx="270" cy="44"/>
              </a:xfrm>
            </p:grpSpPr>
            <p:sp>
              <p:nvSpPr>
                <p:cNvPr id="11290" name="Line 77"/>
                <p:cNvSpPr>
                  <a:spLocks noChangeShapeType="1"/>
                </p:cNvSpPr>
                <p:nvPr/>
              </p:nvSpPr>
              <p:spPr bwMode="auto">
                <a:xfrm flipH="1">
                  <a:off x="2274" y="1210"/>
                  <a:ext cx="28" cy="3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1" name="Line 78"/>
                <p:cNvSpPr>
                  <a:spLocks noChangeShapeType="1"/>
                </p:cNvSpPr>
                <p:nvPr/>
              </p:nvSpPr>
              <p:spPr bwMode="auto">
                <a:xfrm flipH="1">
                  <a:off x="2304" y="1214"/>
                  <a:ext cx="34" cy="3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2" name="Line 79"/>
                <p:cNvSpPr>
                  <a:spLocks noChangeShapeType="1"/>
                </p:cNvSpPr>
                <p:nvPr/>
              </p:nvSpPr>
              <p:spPr bwMode="auto">
                <a:xfrm flipH="1">
                  <a:off x="2346" y="1206"/>
                  <a:ext cx="36" cy="4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3" name="Line 80"/>
                <p:cNvSpPr>
                  <a:spLocks noChangeShapeType="1"/>
                </p:cNvSpPr>
                <p:nvPr/>
              </p:nvSpPr>
              <p:spPr bwMode="auto">
                <a:xfrm>
                  <a:off x="2376" y="1206"/>
                  <a:ext cx="40" cy="3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4" name="Line 81"/>
                <p:cNvSpPr>
                  <a:spLocks noChangeShapeType="1"/>
                </p:cNvSpPr>
                <p:nvPr/>
              </p:nvSpPr>
              <p:spPr bwMode="auto">
                <a:xfrm>
                  <a:off x="2420" y="1210"/>
                  <a:ext cx="40" cy="3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5" name="Line 82"/>
                <p:cNvSpPr>
                  <a:spLocks noChangeShapeType="1"/>
                </p:cNvSpPr>
                <p:nvPr/>
              </p:nvSpPr>
              <p:spPr bwMode="auto">
                <a:xfrm flipV="1">
                  <a:off x="2460" y="1204"/>
                  <a:ext cx="46" cy="4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6" name="Line 83"/>
                <p:cNvSpPr>
                  <a:spLocks noChangeShapeType="1"/>
                </p:cNvSpPr>
                <p:nvPr/>
              </p:nvSpPr>
              <p:spPr bwMode="auto">
                <a:xfrm flipV="1">
                  <a:off x="2512" y="1208"/>
                  <a:ext cx="32" cy="3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11274" name="Line 84"/>
            <p:cNvSpPr>
              <a:spLocks noChangeShapeType="1"/>
            </p:cNvSpPr>
            <p:nvPr/>
          </p:nvSpPr>
          <p:spPr bwMode="auto">
            <a:xfrm flipH="1">
              <a:off x="2744" y="2704"/>
              <a:ext cx="33" cy="4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75" name="Line 85"/>
            <p:cNvSpPr>
              <a:spLocks noChangeShapeType="1"/>
            </p:cNvSpPr>
            <p:nvPr/>
          </p:nvSpPr>
          <p:spPr bwMode="auto">
            <a:xfrm flipH="1">
              <a:off x="2789" y="2704"/>
              <a:ext cx="40" cy="4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84" name="Rectangle 6"/>
          <p:cNvSpPr>
            <a:spLocks noChangeArrowheads="1"/>
          </p:cNvSpPr>
          <p:nvPr/>
        </p:nvSpPr>
        <p:spPr bwMode="auto">
          <a:xfrm>
            <a:off x="0" y="0"/>
            <a:ext cx="1981200" cy="492125"/>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3200" dirty="0" smtClean="0">
                <a:solidFill>
                  <a:srgbClr val="FF3300"/>
                </a:solidFill>
                <a:latin typeface="Times New Roman" panose="02020603050405020304" pitchFamily="18" charset="0"/>
                <a:ea typeface="+mj-ea"/>
                <a:cs typeface="Times New Roman" panose="02020603050405020304" pitchFamily="18" charset="0"/>
              </a:rPr>
              <a:t>§6.1 </a:t>
            </a:r>
            <a:r>
              <a:rPr lang="zh-CN" altLang="en-US" sz="3200" dirty="0" smtClean="0">
                <a:solidFill>
                  <a:srgbClr val="FF3300"/>
                </a:solidFill>
                <a:latin typeface="Times New Roman" panose="02020603050405020304" pitchFamily="18" charset="0"/>
                <a:ea typeface="+mj-ea"/>
                <a:cs typeface="Times New Roman" panose="02020603050405020304" pitchFamily="18" charset="0"/>
              </a:rPr>
              <a:t>概述</a:t>
            </a:r>
            <a:endParaRPr lang="zh-CN" altLang="en-US" sz="3200"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221"/>
                                        </p:tgtEl>
                                        <p:attrNameLst>
                                          <p:attrName>style.visibility</p:attrName>
                                        </p:attrNameLst>
                                      </p:cBhvr>
                                      <p:to>
                                        <p:strVal val="visible"/>
                                      </p:to>
                                    </p:set>
                                    <p:animEffect transition="in" filter="wipe(left)">
                                      <p:cBhvr>
                                        <p:cTn id="7" dur="500"/>
                                        <p:tgtEl>
                                          <p:spTgt spid="722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21"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图片4"/>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0113" y="1125538"/>
            <a:ext cx="7124700" cy="427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5" name="Rectangle 3"/>
          <p:cNvSpPr>
            <a:spLocks noChangeArrowheads="1"/>
          </p:cNvSpPr>
          <p:nvPr/>
        </p:nvSpPr>
        <p:spPr bwMode="auto">
          <a:xfrm>
            <a:off x="2987675" y="5661025"/>
            <a:ext cx="2659063" cy="461963"/>
          </a:xfrm>
          <a:prstGeom prst="rect">
            <a:avLst/>
          </a:prstGeom>
          <a:noFill/>
          <a:ln w="12700" cap="sq">
            <a:noFill/>
            <a:miter lim="800000"/>
            <a:headEnd type="none" w="sm" len="sm"/>
            <a:tailEnd type="none" w="sm" len="sm"/>
          </a:ln>
          <a:effectLst/>
        </p:spPr>
        <p:txBody>
          <a:bodyPr wrap="none">
            <a:spAutoFit/>
          </a:bodyPr>
          <a:lstStyle/>
          <a:p>
            <a:pPr>
              <a:defRPr/>
            </a:pPr>
            <a:r>
              <a:rPr lang="zh-CN" altLang="en-US" b="1" dirty="0">
                <a:latin typeface="+mj-ea"/>
                <a:ea typeface="+mj-ea"/>
              </a:rPr>
              <a:t>垮塌的重力式挡墙</a:t>
            </a:r>
            <a:endParaRPr lang="zh-CN" altLang="en-US" b="1" dirty="0">
              <a:latin typeface="+mj-ea"/>
              <a:ea typeface="+mj-ea"/>
            </a:endParaRPr>
          </a:p>
        </p:txBody>
      </p:sp>
      <p:sp>
        <p:nvSpPr>
          <p:cNvPr id="4" name="Rectangle 6"/>
          <p:cNvSpPr>
            <a:spLocks noChangeArrowheads="1"/>
          </p:cNvSpPr>
          <p:nvPr/>
        </p:nvSpPr>
        <p:spPr bwMode="auto">
          <a:xfrm>
            <a:off x="0" y="0"/>
            <a:ext cx="1981200" cy="492125"/>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3200" dirty="0" smtClean="0">
                <a:solidFill>
                  <a:srgbClr val="FF3300"/>
                </a:solidFill>
                <a:latin typeface="Times New Roman" panose="02020603050405020304" pitchFamily="18" charset="0"/>
                <a:ea typeface="+mj-ea"/>
                <a:cs typeface="Times New Roman" panose="02020603050405020304" pitchFamily="18" charset="0"/>
              </a:rPr>
              <a:t>§6.1 </a:t>
            </a:r>
            <a:r>
              <a:rPr lang="zh-CN" altLang="en-US" sz="3200" dirty="0" smtClean="0">
                <a:solidFill>
                  <a:srgbClr val="FF3300"/>
                </a:solidFill>
                <a:latin typeface="Times New Roman" panose="02020603050405020304" pitchFamily="18" charset="0"/>
                <a:ea typeface="+mj-ea"/>
                <a:cs typeface="Times New Roman" panose="02020603050405020304" pitchFamily="18" charset="0"/>
              </a:rPr>
              <a:t>概述</a:t>
            </a:r>
            <a:endParaRPr lang="zh-CN" altLang="en-US" sz="3200"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ChangeArrowheads="1"/>
          </p:cNvSpPr>
          <p:nvPr/>
        </p:nvSpPr>
        <p:spPr bwMode="auto">
          <a:xfrm>
            <a:off x="2843213" y="5734050"/>
            <a:ext cx="2351087" cy="461963"/>
          </a:xfrm>
          <a:prstGeom prst="rect">
            <a:avLst/>
          </a:prstGeom>
          <a:noFill/>
          <a:ln w="12700" cap="sq">
            <a:noFill/>
            <a:miter lim="800000"/>
            <a:headEnd type="none" w="sm" len="sm"/>
            <a:tailEnd type="none" w="sm" len="sm"/>
          </a:ln>
          <a:effectLst/>
        </p:spPr>
        <p:txBody>
          <a:bodyPr wrap="none">
            <a:spAutoFit/>
          </a:bodyPr>
          <a:lstStyle/>
          <a:p>
            <a:pPr>
              <a:defRPr/>
            </a:pPr>
            <a:r>
              <a:rPr lang="zh-CN" altLang="en-US" b="1" dirty="0">
                <a:effectLst>
                  <a:outerShdw blurRad="38100" dist="38100" dir="2700000" algn="tl">
                    <a:srgbClr val="FFFFFF"/>
                  </a:outerShdw>
                </a:effectLst>
                <a:latin typeface="+mn-ea"/>
                <a:ea typeface="+mn-ea"/>
              </a:rPr>
              <a:t>垮塌的护坡挡墙</a:t>
            </a:r>
            <a:endParaRPr lang="zh-CN" altLang="en-US" b="1" dirty="0">
              <a:effectLst>
                <a:outerShdw blurRad="38100" dist="38100" dir="2700000" algn="tl">
                  <a:srgbClr val="FFFFFF"/>
                </a:outerShdw>
              </a:effectLst>
              <a:latin typeface="+mn-ea"/>
              <a:ea typeface="+mn-ea"/>
            </a:endParaRPr>
          </a:p>
        </p:txBody>
      </p:sp>
      <p:pic>
        <p:nvPicPr>
          <p:cNvPr id="13315" name="Picture 4" descr="show_watermark"/>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2988" y="1119188"/>
            <a:ext cx="6842125" cy="458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6"/>
          <p:cNvSpPr>
            <a:spLocks noChangeArrowheads="1"/>
          </p:cNvSpPr>
          <p:nvPr/>
        </p:nvSpPr>
        <p:spPr bwMode="auto">
          <a:xfrm>
            <a:off x="0" y="0"/>
            <a:ext cx="1981200" cy="492125"/>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3200" dirty="0" smtClean="0">
                <a:solidFill>
                  <a:srgbClr val="FF3300"/>
                </a:solidFill>
                <a:latin typeface="Times New Roman" panose="02020603050405020304" pitchFamily="18" charset="0"/>
                <a:ea typeface="+mj-ea"/>
                <a:cs typeface="Times New Roman" panose="02020603050405020304" pitchFamily="18" charset="0"/>
              </a:rPr>
              <a:t>§6.1 </a:t>
            </a:r>
            <a:r>
              <a:rPr lang="zh-CN" altLang="en-US" sz="3200" dirty="0" smtClean="0">
                <a:solidFill>
                  <a:srgbClr val="FF3300"/>
                </a:solidFill>
                <a:latin typeface="Times New Roman" panose="02020603050405020304" pitchFamily="18" charset="0"/>
                <a:ea typeface="+mj-ea"/>
                <a:cs typeface="Times New Roman" panose="02020603050405020304" pitchFamily="18" charset="0"/>
              </a:rPr>
              <a:t>概述</a:t>
            </a:r>
            <a:endParaRPr lang="zh-CN" altLang="en-US" sz="3200"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未标题-1"/>
          <p:cNvPicPr>
            <a:picLocks noChangeArrowheads="1"/>
          </p:cNvPicPr>
          <p:nvPr/>
        </p:nvPicPr>
        <p:blipFill>
          <a:blip r:embed="rId1">
            <a:extLst>
              <a:ext uri="{28A0092B-C50C-407E-A947-70E740481C1C}">
                <a14:useLocalDpi xmlns:a14="http://schemas.microsoft.com/office/drawing/2010/main" val="0"/>
              </a:ext>
            </a:extLst>
          </a:blip>
          <a:srcRect t="5226"/>
          <a:stretch>
            <a:fillRect/>
          </a:stretch>
        </p:blipFill>
        <p:spPr bwMode="auto">
          <a:xfrm>
            <a:off x="1042988" y="1052513"/>
            <a:ext cx="7050087" cy="456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Rectangle 3"/>
          <p:cNvSpPr>
            <a:spLocks noChangeArrowheads="1"/>
          </p:cNvSpPr>
          <p:nvPr/>
        </p:nvSpPr>
        <p:spPr bwMode="auto">
          <a:xfrm>
            <a:off x="2195513" y="5732463"/>
            <a:ext cx="3897312" cy="461962"/>
          </a:xfrm>
          <a:prstGeom prst="rect">
            <a:avLst/>
          </a:prstGeom>
          <a:noFill/>
          <a:ln w="12700" cap="sq">
            <a:noFill/>
            <a:miter lim="800000"/>
            <a:headEnd type="none" w="sm" len="sm"/>
            <a:tailEnd type="none" w="sm" len="sm"/>
          </a:ln>
          <a:effectLst/>
        </p:spPr>
        <p:txBody>
          <a:bodyPr wrap="none">
            <a:spAutoFit/>
          </a:bodyPr>
          <a:lstStyle/>
          <a:p>
            <a:pPr>
              <a:defRPr/>
            </a:pPr>
            <a:r>
              <a:rPr kumimoji="0" lang="zh-CN" altLang="en-US" b="1" dirty="0">
                <a:effectLst>
                  <a:outerShdw blurRad="38100" dist="38100" dir="2700000" algn="tl">
                    <a:srgbClr val="FFFFFF"/>
                  </a:outerShdw>
                </a:effectLst>
                <a:latin typeface="+mn-ea"/>
                <a:ea typeface="+mn-ea"/>
              </a:rPr>
              <a:t>失稳的立交桥加筋土挡土墙</a:t>
            </a:r>
            <a:endParaRPr kumimoji="0" lang="zh-CN" altLang="en-US" b="1" dirty="0">
              <a:effectLst>
                <a:outerShdw blurRad="38100" dist="38100" dir="2700000" algn="tl">
                  <a:srgbClr val="FFFFFF"/>
                </a:outerShdw>
              </a:effectLst>
              <a:latin typeface="+mn-ea"/>
              <a:ea typeface="+mn-ea"/>
            </a:endParaRPr>
          </a:p>
        </p:txBody>
      </p:sp>
      <p:sp>
        <p:nvSpPr>
          <p:cNvPr id="4" name="Rectangle 6"/>
          <p:cNvSpPr>
            <a:spLocks noChangeArrowheads="1"/>
          </p:cNvSpPr>
          <p:nvPr/>
        </p:nvSpPr>
        <p:spPr bwMode="auto">
          <a:xfrm>
            <a:off x="0" y="0"/>
            <a:ext cx="1981200" cy="492125"/>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3200" dirty="0" smtClean="0">
                <a:solidFill>
                  <a:srgbClr val="FF3300"/>
                </a:solidFill>
                <a:latin typeface="Times New Roman" panose="02020603050405020304" pitchFamily="18" charset="0"/>
                <a:ea typeface="+mj-ea"/>
                <a:cs typeface="Times New Roman" panose="02020603050405020304" pitchFamily="18" charset="0"/>
              </a:rPr>
              <a:t>§6.1 </a:t>
            </a:r>
            <a:r>
              <a:rPr lang="zh-CN" altLang="en-US" sz="3200" dirty="0" smtClean="0">
                <a:solidFill>
                  <a:srgbClr val="FF3300"/>
                </a:solidFill>
                <a:latin typeface="Times New Roman" panose="02020603050405020304" pitchFamily="18" charset="0"/>
                <a:ea typeface="+mj-ea"/>
                <a:cs typeface="Times New Roman" panose="02020603050405020304" pitchFamily="18" charset="0"/>
              </a:rPr>
              <a:t>概述</a:t>
            </a:r>
            <a:endParaRPr lang="zh-CN" altLang="en-US" sz="3200"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619250" y="620713"/>
            <a:ext cx="5232400" cy="911225"/>
          </a:xfrm>
          <a:prstGeom prst="rect">
            <a:avLst/>
          </a:prstGeom>
          <a:solidFill>
            <a:schemeClr val="bg1"/>
          </a:solidFill>
        </p:spPr>
        <p:txBody>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5pPr>
            <a:lvl6pPr marL="457200" algn="l" rtl="0" eaLnBrk="1" fontAlgn="base" hangingPunct="1">
              <a:spcBef>
                <a:spcPct val="0"/>
              </a:spcBef>
              <a:spcAft>
                <a:spcPct val="0"/>
              </a:spcAft>
              <a:defRPr sz="4200">
                <a:solidFill>
                  <a:schemeClr val="tx2"/>
                </a:solidFill>
                <a:latin typeface="Garamond" panose="02020404030301010803" pitchFamily="18" charset="0"/>
                <a:ea typeface="宋体" panose="02010600030101010101" pitchFamily="2" charset="-122"/>
              </a:defRPr>
            </a:lvl6pPr>
            <a:lvl7pPr marL="914400" algn="l" rtl="0" eaLnBrk="1" fontAlgn="base" hangingPunct="1">
              <a:spcBef>
                <a:spcPct val="0"/>
              </a:spcBef>
              <a:spcAft>
                <a:spcPct val="0"/>
              </a:spcAft>
              <a:defRPr sz="4200">
                <a:solidFill>
                  <a:schemeClr val="tx2"/>
                </a:solidFill>
                <a:latin typeface="Garamond" panose="02020404030301010803" pitchFamily="18" charset="0"/>
                <a:ea typeface="宋体" panose="02010600030101010101" pitchFamily="2" charset="-122"/>
              </a:defRPr>
            </a:lvl7pPr>
            <a:lvl8pPr marL="1371600" algn="l" rtl="0" eaLnBrk="1" fontAlgn="base" hangingPunct="1">
              <a:spcBef>
                <a:spcPct val="0"/>
              </a:spcBef>
              <a:spcAft>
                <a:spcPct val="0"/>
              </a:spcAft>
              <a:defRPr sz="4200">
                <a:solidFill>
                  <a:schemeClr val="tx2"/>
                </a:solidFill>
                <a:latin typeface="Garamond" panose="02020404030301010803" pitchFamily="18" charset="0"/>
                <a:ea typeface="宋体" panose="02010600030101010101" pitchFamily="2" charset="-122"/>
              </a:defRPr>
            </a:lvl8pPr>
            <a:lvl9pPr marL="1828800" algn="l" rtl="0" eaLnBrk="1" fontAlgn="base" hangingPunct="1">
              <a:spcBef>
                <a:spcPct val="0"/>
              </a:spcBef>
              <a:spcAft>
                <a:spcPct val="0"/>
              </a:spcAft>
              <a:defRPr sz="4200">
                <a:solidFill>
                  <a:schemeClr val="tx2"/>
                </a:solidFill>
                <a:latin typeface="Garamond" panose="02020404030301010803" pitchFamily="18" charset="0"/>
                <a:ea typeface="宋体" panose="02010600030101010101" pitchFamily="2" charset="-122"/>
              </a:defRPr>
            </a:lvl9pPr>
          </a:lstStyle>
          <a:p>
            <a:pPr eaLnBrk="1" hangingPunct="1">
              <a:defRPr/>
            </a:pPr>
            <a:r>
              <a:rPr kumimoji="0" lang="zh-CN" altLang="en-US" sz="5400" b="1" kern="0" dirty="0" smtClean="0">
                <a:solidFill>
                  <a:srgbClr val="FF0000"/>
                </a:solidFill>
                <a:latin typeface="+mj-ea"/>
              </a:rPr>
              <a:t>第六章  土压力</a:t>
            </a:r>
            <a:endParaRPr kumimoji="0" lang="zh-CN" altLang="en-US" sz="5400" b="1" kern="0" dirty="0" smtClean="0">
              <a:solidFill>
                <a:srgbClr val="FF0000"/>
              </a:solidFill>
              <a:latin typeface="+mj-ea"/>
            </a:endParaRPr>
          </a:p>
        </p:txBody>
      </p:sp>
      <p:sp>
        <p:nvSpPr>
          <p:cNvPr id="3" name="矩形 2"/>
          <p:cNvSpPr/>
          <p:nvPr/>
        </p:nvSpPr>
        <p:spPr>
          <a:xfrm>
            <a:off x="1331912" y="1844675"/>
            <a:ext cx="6768479" cy="3784600"/>
          </a:xfrm>
          <a:prstGeom prst="rect">
            <a:avLst/>
          </a:prstGeom>
        </p:spPr>
        <p:txBody>
          <a:bodyPr wrap="square">
            <a:spAutoFit/>
          </a:bodyPr>
          <a:lstStyle/>
          <a:p>
            <a:pPr eaLnBrk="1" hangingPunct="1">
              <a:lnSpc>
                <a:spcPct val="150000"/>
              </a:lnSpc>
              <a:defRPr/>
            </a:pPr>
            <a:r>
              <a:rPr lang="en-US" altLang="zh-CN" sz="3200" dirty="0">
                <a:solidFill>
                  <a:schemeClr val="bg1"/>
                </a:solidFill>
                <a:latin typeface="Times New Roman" panose="02020603050405020304" pitchFamily="18" charset="0"/>
                <a:ea typeface="+mj-ea"/>
                <a:cs typeface="Times New Roman" panose="02020603050405020304" pitchFamily="18" charset="0"/>
              </a:rPr>
              <a:t>§ 6</a:t>
            </a:r>
            <a:r>
              <a:rPr lang="en-US" altLang="zh-CN" sz="3200" b="1" dirty="0">
                <a:solidFill>
                  <a:schemeClr val="bg1"/>
                </a:solidFill>
                <a:latin typeface="Times New Roman" panose="02020603050405020304" pitchFamily="18" charset="0"/>
                <a:ea typeface="+mj-ea"/>
                <a:cs typeface="Times New Roman" panose="02020603050405020304" pitchFamily="18" charset="0"/>
              </a:rPr>
              <a:t>.1 </a:t>
            </a:r>
            <a:r>
              <a:rPr lang="zh-CN" altLang="en-US" sz="3200" b="1" dirty="0">
                <a:solidFill>
                  <a:schemeClr val="bg1"/>
                </a:solidFill>
                <a:latin typeface="Times New Roman" panose="02020603050405020304" pitchFamily="18" charset="0"/>
                <a:ea typeface="+mj-ea"/>
                <a:cs typeface="Times New Roman" panose="02020603050405020304" pitchFamily="18" charset="0"/>
              </a:rPr>
              <a:t>概述</a:t>
            </a:r>
            <a:endParaRPr lang="zh-CN" altLang="en-US" sz="3200" b="1" dirty="0">
              <a:solidFill>
                <a:schemeClr val="bg1"/>
              </a:solidFill>
              <a:latin typeface="Times New Roman" panose="02020603050405020304" pitchFamily="18" charset="0"/>
              <a:ea typeface="+mj-ea"/>
              <a:cs typeface="Times New Roman" panose="02020603050405020304" pitchFamily="18" charset="0"/>
            </a:endParaRPr>
          </a:p>
          <a:p>
            <a:pPr eaLnBrk="1" hangingPunct="1">
              <a:lnSpc>
                <a:spcPct val="150000"/>
              </a:lnSpc>
              <a:defRPr/>
            </a:pPr>
            <a:r>
              <a:rPr lang="en-US" altLang="zh-CN" sz="3200" dirty="0">
                <a:latin typeface="Times New Roman" panose="02020603050405020304" pitchFamily="18" charset="0"/>
                <a:ea typeface="+mj-ea"/>
                <a:cs typeface="Times New Roman" panose="02020603050405020304" pitchFamily="18" charset="0"/>
              </a:rPr>
              <a:t>§ 6</a:t>
            </a:r>
            <a:r>
              <a:rPr lang="en-US" altLang="zh-CN" sz="3200" b="1" dirty="0">
                <a:latin typeface="Times New Roman" panose="02020603050405020304" pitchFamily="18" charset="0"/>
                <a:ea typeface="+mj-ea"/>
                <a:cs typeface="Times New Roman" panose="02020603050405020304" pitchFamily="18" charset="0"/>
              </a:rPr>
              <a:t>.2 </a:t>
            </a:r>
            <a:r>
              <a:rPr lang="zh-CN" altLang="en-US" sz="3200" b="1" dirty="0">
                <a:latin typeface="Times New Roman" panose="02020603050405020304" pitchFamily="18" charset="0"/>
                <a:ea typeface="+mj-ea"/>
                <a:cs typeface="Times New Roman" panose="02020603050405020304" pitchFamily="18" charset="0"/>
              </a:rPr>
              <a:t>挡土墙侧的土压力</a:t>
            </a:r>
            <a:endParaRPr lang="zh-CN" altLang="en-US" sz="3200" b="1" dirty="0">
              <a:latin typeface="Times New Roman" panose="02020603050405020304" pitchFamily="18" charset="0"/>
              <a:ea typeface="+mj-ea"/>
              <a:cs typeface="Times New Roman" panose="02020603050405020304" pitchFamily="18" charset="0"/>
            </a:endParaRPr>
          </a:p>
          <a:p>
            <a:pPr eaLnBrk="1" hangingPunct="1">
              <a:lnSpc>
                <a:spcPct val="150000"/>
              </a:lnSpc>
              <a:defRPr/>
            </a:pPr>
            <a:r>
              <a:rPr lang="en-US" altLang="zh-CN" sz="3200" dirty="0">
                <a:solidFill>
                  <a:schemeClr val="bg1"/>
                </a:solidFill>
                <a:latin typeface="Times New Roman" panose="02020603050405020304" pitchFamily="18" charset="0"/>
                <a:ea typeface="+mj-ea"/>
                <a:cs typeface="Times New Roman" panose="02020603050405020304" pitchFamily="18" charset="0"/>
              </a:rPr>
              <a:t>§ 6</a:t>
            </a:r>
            <a:r>
              <a:rPr lang="en-US" altLang="zh-CN" sz="3200" b="1" dirty="0">
                <a:solidFill>
                  <a:schemeClr val="bg1"/>
                </a:solidFill>
                <a:latin typeface="Times New Roman" panose="02020603050405020304" pitchFamily="18" charset="0"/>
                <a:ea typeface="+mj-ea"/>
                <a:cs typeface="Times New Roman" panose="02020603050405020304" pitchFamily="18" charset="0"/>
              </a:rPr>
              <a:t>.3 </a:t>
            </a:r>
            <a:r>
              <a:rPr lang="zh-CN" altLang="en-US" sz="3200" b="1" dirty="0">
                <a:solidFill>
                  <a:schemeClr val="bg1"/>
                </a:solidFill>
                <a:latin typeface="Times New Roman" panose="02020603050405020304" pitchFamily="18" charset="0"/>
                <a:ea typeface="+mj-ea"/>
                <a:cs typeface="Times New Roman" panose="02020603050405020304" pitchFamily="18" charset="0"/>
              </a:rPr>
              <a:t>朗肯土压力理论</a:t>
            </a:r>
            <a:endParaRPr lang="zh-CN" altLang="en-US" sz="3200" b="1" dirty="0">
              <a:solidFill>
                <a:schemeClr val="bg1"/>
              </a:solidFill>
              <a:latin typeface="Times New Roman" panose="02020603050405020304" pitchFamily="18" charset="0"/>
              <a:ea typeface="+mj-ea"/>
              <a:cs typeface="Times New Roman" panose="02020603050405020304" pitchFamily="18" charset="0"/>
            </a:endParaRPr>
          </a:p>
          <a:p>
            <a:pPr eaLnBrk="1" hangingPunct="1">
              <a:lnSpc>
                <a:spcPct val="150000"/>
              </a:lnSpc>
              <a:defRPr/>
            </a:pPr>
            <a:r>
              <a:rPr lang="en-US" altLang="zh-CN" sz="3200" dirty="0">
                <a:solidFill>
                  <a:schemeClr val="bg1"/>
                </a:solidFill>
                <a:latin typeface="Times New Roman" panose="02020603050405020304" pitchFamily="18" charset="0"/>
                <a:ea typeface="+mj-ea"/>
                <a:cs typeface="Times New Roman" panose="02020603050405020304" pitchFamily="18" charset="0"/>
              </a:rPr>
              <a:t>§ 6</a:t>
            </a:r>
            <a:r>
              <a:rPr lang="en-US" altLang="zh-CN" sz="3200" b="1" dirty="0">
                <a:solidFill>
                  <a:schemeClr val="bg1"/>
                </a:solidFill>
                <a:latin typeface="Times New Roman" panose="02020603050405020304" pitchFamily="18" charset="0"/>
                <a:ea typeface="+mj-ea"/>
                <a:cs typeface="Times New Roman" panose="02020603050405020304" pitchFamily="18" charset="0"/>
              </a:rPr>
              <a:t>.4 </a:t>
            </a:r>
            <a:r>
              <a:rPr lang="zh-CN" altLang="en-US" sz="3200" b="1" dirty="0">
                <a:solidFill>
                  <a:schemeClr val="bg1"/>
                </a:solidFill>
                <a:latin typeface="Times New Roman" panose="02020603050405020304" pitchFamily="18" charset="0"/>
                <a:ea typeface="+mj-ea"/>
                <a:cs typeface="Times New Roman" panose="02020603050405020304" pitchFamily="18" charset="0"/>
              </a:rPr>
              <a:t>库仑土压力理论</a:t>
            </a:r>
            <a:endParaRPr lang="zh-CN" altLang="en-US" sz="3200" b="1" dirty="0">
              <a:solidFill>
                <a:schemeClr val="bg1"/>
              </a:solidFill>
              <a:latin typeface="Times New Roman" panose="02020603050405020304" pitchFamily="18" charset="0"/>
              <a:ea typeface="+mj-ea"/>
              <a:cs typeface="Times New Roman" panose="02020603050405020304" pitchFamily="18" charset="0"/>
            </a:endParaRPr>
          </a:p>
          <a:p>
            <a:pPr eaLnBrk="1" hangingPunct="1">
              <a:lnSpc>
                <a:spcPct val="150000"/>
              </a:lnSpc>
              <a:defRPr/>
            </a:pPr>
            <a:r>
              <a:rPr lang="en-US" altLang="zh-CN" sz="3200" dirty="0">
                <a:solidFill>
                  <a:schemeClr val="bg1"/>
                </a:solidFill>
                <a:latin typeface="Times New Roman" panose="02020603050405020304" pitchFamily="18" charset="0"/>
                <a:ea typeface="+mj-ea"/>
                <a:cs typeface="Times New Roman" panose="02020603050405020304" pitchFamily="18" charset="0"/>
              </a:rPr>
              <a:t>§ 6</a:t>
            </a:r>
            <a:r>
              <a:rPr lang="en-US" altLang="zh-CN" sz="3200" b="1" dirty="0">
                <a:solidFill>
                  <a:schemeClr val="bg1"/>
                </a:solidFill>
                <a:latin typeface="Times New Roman" panose="02020603050405020304" pitchFamily="18" charset="0"/>
                <a:ea typeface="+mj-ea"/>
                <a:cs typeface="Times New Roman" panose="02020603050405020304" pitchFamily="18" charset="0"/>
              </a:rPr>
              <a:t>.5 </a:t>
            </a:r>
            <a:r>
              <a:rPr lang="zh-CN" altLang="en-US" sz="3200" b="1" dirty="0">
                <a:solidFill>
                  <a:schemeClr val="bg1"/>
                </a:solidFill>
                <a:latin typeface="Times New Roman" panose="02020603050405020304" pitchFamily="18" charset="0"/>
                <a:ea typeface="+mj-ea"/>
                <a:cs typeface="Times New Roman" panose="02020603050405020304" pitchFamily="18" charset="0"/>
              </a:rPr>
              <a:t>朗肯理论与库仑理论的比较</a:t>
            </a:r>
            <a:endParaRPr lang="zh-CN" altLang="en-US" sz="3200" b="1" dirty="0">
              <a:solidFill>
                <a:schemeClr val="bg1"/>
              </a:solidFill>
              <a:latin typeface="Times New Roman" panose="02020603050405020304" pitchFamily="18" charset="0"/>
              <a:ea typeface="+mj-ea"/>
              <a:cs typeface="Times New Roman" panose="02020603050405020304" pitchFamily="18" charset="0"/>
            </a:endParaRPr>
          </a:p>
        </p:txBody>
      </p:sp>
      <p:sp>
        <p:nvSpPr>
          <p:cNvPr id="4" name="文本框 3"/>
          <p:cNvSpPr txBox="1"/>
          <p:nvPr/>
        </p:nvSpPr>
        <p:spPr>
          <a:xfrm>
            <a:off x="4356100" y="3724275"/>
            <a:ext cx="2663825" cy="1114425"/>
          </a:xfrm>
          <a:prstGeom prst="rect">
            <a:avLst/>
          </a:prstGeom>
          <a:noFill/>
        </p:spPr>
        <p:txBody>
          <a:bodyPr>
            <a:spAutoFit/>
          </a:bodyPr>
          <a:lstStyle/>
          <a:p>
            <a:pPr marL="457200" indent="-457200">
              <a:lnSpc>
                <a:spcPct val="150000"/>
              </a:lnSpc>
              <a:buFontTx/>
              <a:buAutoNum type="arabicPeriod"/>
              <a:defRPr/>
            </a:pPr>
            <a:r>
              <a:rPr lang="zh-CN" altLang="en-US" b="1" dirty="0">
                <a:latin typeface="+mn-ea"/>
                <a:ea typeface="+mn-ea"/>
              </a:rPr>
              <a:t>基本概念</a:t>
            </a:r>
            <a:endParaRPr lang="en-US" altLang="zh-CN" b="1" dirty="0">
              <a:latin typeface="+mn-ea"/>
              <a:ea typeface="+mn-ea"/>
            </a:endParaRPr>
          </a:p>
          <a:p>
            <a:pPr marL="457200" indent="-457200">
              <a:lnSpc>
                <a:spcPct val="150000"/>
              </a:lnSpc>
              <a:buFontTx/>
              <a:buAutoNum type="arabicPeriod"/>
              <a:defRPr/>
            </a:pPr>
            <a:r>
              <a:rPr lang="zh-CN" altLang="en-US" b="1" dirty="0">
                <a:latin typeface="+mn-ea"/>
                <a:ea typeface="+mn-ea"/>
              </a:rPr>
              <a:t>静止土压力</a:t>
            </a:r>
            <a:endParaRPr lang="zh-CN" altLang="en-US" b="1" dirty="0">
              <a:latin typeface="+mn-ea"/>
              <a:ea typeface="+mn-ea"/>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1413" y="692150"/>
            <a:ext cx="3179762" cy="558800"/>
          </a:xfrm>
          <a:solidFill>
            <a:schemeClr val="tx2">
              <a:lumMod val="20000"/>
              <a:lumOff val="80000"/>
            </a:schemeClr>
          </a:solidFill>
        </p:spPr>
        <p:txBody>
          <a:bodyPr/>
          <a:lstStyle/>
          <a:p>
            <a:pPr>
              <a:defRPr/>
            </a:pPr>
            <a:r>
              <a:rPr lang="zh-CN" altLang="en-US" sz="2800" b="1" dirty="0">
                <a:solidFill>
                  <a:schemeClr val="tx1"/>
                </a:solidFill>
                <a:latin typeface="Times New Roman" panose="02020603050405020304" pitchFamily="18" charset="0"/>
              </a:rPr>
              <a:t>三种土压力的</a:t>
            </a:r>
            <a:r>
              <a:rPr lang="zh-CN" altLang="en-US" sz="2800" b="1" dirty="0" smtClean="0">
                <a:solidFill>
                  <a:schemeClr val="tx1"/>
                </a:solidFill>
                <a:latin typeface="Times New Roman" panose="02020603050405020304" pitchFamily="18" charset="0"/>
              </a:rPr>
              <a:t>概念</a:t>
            </a:r>
            <a:endParaRPr lang="zh-CN" altLang="en-US" sz="2800" dirty="0">
              <a:solidFill>
                <a:schemeClr val="tx1"/>
              </a:solidFill>
            </a:endParaRPr>
          </a:p>
        </p:txBody>
      </p:sp>
      <p:sp>
        <p:nvSpPr>
          <p:cNvPr id="16387" name="内容占位符 2"/>
          <p:cNvSpPr>
            <a:spLocks noGrp="1"/>
          </p:cNvSpPr>
          <p:nvPr>
            <p:ph idx="1"/>
          </p:nvPr>
        </p:nvSpPr>
        <p:spPr>
          <a:xfrm>
            <a:off x="179388" y="1341438"/>
            <a:ext cx="8569325" cy="4792662"/>
          </a:xfrm>
        </p:spPr>
        <p:txBody>
          <a:bodyPr/>
          <a:lstStyle/>
          <a:p>
            <a:pPr eaLnBrk="1" hangingPunct="1">
              <a:lnSpc>
                <a:spcPct val="150000"/>
              </a:lnSpc>
              <a:buFont typeface="Wingdings" panose="05000000000000000000" pitchFamily="2" charset="2"/>
              <a:buChar char="Ø"/>
            </a:pPr>
            <a:r>
              <a:rPr lang="zh-CN" altLang="en-US" sz="2200" b="1" smtClean="0">
                <a:latin typeface="Times New Roman" panose="02020603050405020304" pitchFamily="18" charset="0"/>
                <a:cs typeface="Times New Roman" panose="02020603050405020304" pitchFamily="18" charset="0"/>
              </a:rPr>
              <a:t>土压力作用下，挡土墙不发生变形和任何位移，背后填土处于弹性平衡状态，则作用在挡土墙上的土压力称为</a:t>
            </a:r>
            <a:r>
              <a:rPr lang="zh-CN" altLang="en-US" sz="2200" b="1" smtClean="0">
                <a:solidFill>
                  <a:srgbClr val="FF0000"/>
                </a:solidFill>
                <a:latin typeface="Times New Roman" panose="02020603050405020304" pitchFamily="18" charset="0"/>
                <a:cs typeface="Times New Roman" panose="02020603050405020304" pitchFamily="18" charset="0"/>
              </a:rPr>
              <a:t>静止土压力，</a:t>
            </a:r>
            <a:r>
              <a:rPr lang="zh-CN" altLang="en-US" sz="2200" b="1" smtClean="0">
                <a:latin typeface="Times New Roman" panose="02020603050405020304" pitchFamily="18" charset="0"/>
                <a:cs typeface="Times New Roman" panose="02020603050405020304" pitchFamily="18" charset="0"/>
              </a:rPr>
              <a:t>并以E</a:t>
            </a:r>
            <a:r>
              <a:rPr lang="zh-CN" altLang="en-US" sz="2200" b="1" baseline="-25000" smtClean="0">
                <a:latin typeface="Times New Roman" panose="02020603050405020304" pitchFamily="18" charset="0"/>
                <a:cs typeface="Times New Roman" panose="02020603050405020304" pitchFamily="18" charset="0"/>
              </a:rPr>
              <a:t>0</a:t>
            </a:r>
            <a:r>
              <a:rPr lang="zh-CN" altLang="en-US" sz="2200" b="1" smtClean="0">
                <a:latin typeface="Times New Roman" panose="02020603050405020304" pitchFamily="18" charset="0"/>
                <a:cs typeface="Times New Roman" panose="02020603050405020304" pitchFamily="18" charset="0"/>
              </a:rPr>
              <a:t>(</a:t>
            </a:r>
            <a:r>
              <a:rPr lang="el-GR" altLang="en-US" sz="2200" b="1" smtClean="0">
                <a:latin typeface="Times New Roman" panose="02020603050405020304" pitchFamily="18" charset="0"/>
                <a:cs typeface="Times New Roman" panose="02020603050405020304" pitchFamily="18" charset="0"/>
              </a:rPr>
              <a:t>σ</a:t>
            </a:r>
            <a:r>
              <a:rPr lang="zh-CN" altLang="en-US" sz="2200" b="1" baseline="-25000" smtClean="0">
                <a:latin typeface="Times New Roman" panose="02020603050405020304" pitchFamily="18" charset="0"/>
                <a:cs typeface="Times New Roman" panose="02020603050405020304" pitchFamily="18" charset="0"/>
              </a:rPr>
              <a:t>0</a:t>
            </a:r>
            <a:r>
              <a:rPr lang="zh-CN" altLang="en-US" sz="2200" b="1" smtClean="0">
                <a:latin typeface="Times New Roman" panose="02020603050405020304" pitchFamily="18" charset="0"/>
                <a:cs typeface="Times New Roman" panose="02020603050405020304" pitchFamily="18" charset="0"/>
              </a:rPr>
              <a:t>)表示。</a:t>
            </a:r>
            <a:endParaRPr lang="zh-CN" altLang="en-US" sz="2200" b="1" smtClean="0">
              <a:latin typeface="Times New Roman" panose="02020603050405020304" pitchFamily="18" charset="0"/>
              <a:cs typeface="Times New Roman" panose="02020603050405020304" pitchFamily="18" charset="0"/>
            </a:endParaRPr>
          </a:p>
          <a:p>
            <a:pPr eaLnBrk="1" hangingPunct="1">
              <a:lnSpc>
                <a:spcPct val="150000"/>
              </a:lnSpc>
              <a:buFont typeface="Wingdings" panose="05000000000000000000" pitchFamily="2" charset="2"/>
              <a:buChar char="Ø"/>
            </a:pPr>
            <a:r>
              <a:rPr lang="zh-CN" altLang="en-US" sz="2200" b="1" smtClean="0">
                <a:latin typeface="Times New Roman" panose="02020603050405020304" pitchFamily="18" charset="0"/>
                <a:cs typeface="Times New Roman" panose="02020603050405020304" pitchFamily="18" charset="0"/>
              </a:rPr>
              <a:t>土压力作用下，挡土墙离开填土向墙前发生位移时，随着位移的增大，墙后土压力将逐渐减小，当墙后土体达到极限平衡状态时，则作用在挡土墙上的土压力称为</a:t>
            </a:r>
            <a:r>
              <a:rPr lang="zh-CN" altLang="en-US" sz="2200" b="1" smtClean="0">
                <a:solidFill>
                  <a:srgbClr val="FF0000"/>
                </a:solidFill>
                <a:latin typeface="Times New Roman" panose="02020603050405020304" pitchFamily="18" charset="0"/>
                <a:cs typeface="Times New Roman" panose="02020603050405020304" pitchFamily="18" charset="0"/>
              </a:rPr>
              <a:t>主动土压力，</a:t>
            </a:r>
            <a:r>
              <a:rPr lang="zh-CN" altLang="en-US" sz="2200" b="1" smtClean="0">
                <a:latin typeface="Times New Roman" panose="02020603050405020304" pitchFamily="18" charset="0"/>
                <a:cs typeface="Times New Roman" panose="02020603050405020304" pitchFamily="18" charset="0"/>
              </a:rPr>
              <a:t>并以E</a:t>
            </a:r>
            <a:r>
              <a:rPr lang="en-US" altLang="zh-CN" sz="2200" b="1" baseline="-25000" smtClean="0">
                <a:latin typeface="Times New Roman" panose="02020603050405020304" pitchFamily="18" charset="0"/>
                <a:cs typeface="Times New Roman" panose="02020603050405020304" pitchFamily="18" charset="0"/>
              </a:rPr>
              <a:t>a</a:t>
            </a:r>
            <a:r>
              <a:rPr lang="zh-CN" altLang="en-US" sz="2200" b="1" smtClean="0">
                <a:latin typeface="Times New Roman" panose="02020603050405020304" pitchFamily="18" charset="0"/>
                <a:cs typeface="Times New Roman" panose="02020603050405020304" pitchFamily="18" charset="0"/>
              </a:rPr>
              <a:t>(</a:t>
            </a:r>
            <a:r>
              <a:rPr lang="el-GR" altLang="en-US" sz="2200" b="1" smtClean="0">
                <a:latin typeface="Times New Roman" panose="02020603050405020304" pitchFamily="18" charset="0"/>
                <a:cs typeface="Times New Roman" panose="02020603050405020304" pitchFamily="18" charset="0"/>
              </a:rPr>
              <a:t>σ</a:t>
            </a:r>
            <a:r>
              <a:rPr lang="zh-CN" altLang="en-US" sz="2200" b="1" baseline="-25000" smtClean="0">
                <a:latin typeface="Times New Roman" panose="02020603050405020304" pitchFamily="18" charset="0"/>
                <a:cs typeface="Times New Roman" panose="02020603050405020304" pitchFamily="18" charset="0"/>
              </a:rPr>
              <a:t>a</a:t>
            </a:r>
            <a:r>
              <a:rPr lang="zh-CN" altLang="en-US" sz="2200" b="1" smtClean="0">
                <a:latin typeface="Times New Roman" panose="02020603050405020304" pitchFamily="18" charset="0"/>
                <a:cs typeface="Times New Roman" panose="02020603050405020304" pitchFamily="18" charset="0"/>
              </a:rPr>
              <a:t>)表示。</a:t>
            </a:r>
            <a:endParaRPr lang="zh-CN" altLang="en-US" sz="2200" b="1" smtClean="0">
              <a:latin typeface="Times New Roman" panose="02020603050405020304" pitchFamily="18" charset="0"/>
              <a:cs typeface="Times New Roman" panose="02020603050405020304" pitchFamily="18" charset="0"/>
            </a:endParaRPr>
          </a:p>
          <a:p>
            <a:pPr eaLnBrk="1" hangingPunct="1">
              <a:lnSpc>
                <a:spcPct val="150000"/>
              </a:lnSpc>
              <a:buFont typeface="Wingdings" panose="05000000000000000000" pitchFamily="2" charset="2"/>
              <a:buChar char="Ø"/>
            </a:pPr>
            <a:r>
              <a:rPr lang="zh-CN" altLang="en-US" sz="2200" b="1" smtClean="0">
                <a:latin typeface="Times New Roman" panose="02020603050405020304" pitchFamily="18" charset="0"/>
                <a:cs typeface="Times New Roman" panose="02020603050405020304" pitchFamily="18" charset="0"/>
              </a:rPr>
              <a:t>外荷载作用下，使挡土墙向填土方向位移，随着位移的增大，墙受到填土的反作用力逐渐增大，当墙后土体达到极限平衡状态时，则作用在结构上的土压力称为</a:t>
            </a:r>
            <a:r>
              <a:rPr lang="zh-CN" altLang="en-US" sz="2200" b="1" smtClean="0">
                <a:solidFill>
                  <a:srgbClr val="FF0000"/>
                </a:solidFill>
                <a:latin typeface="Times New Roman" panose="02020603050405020304" pitchFamily="18" charset="0"/>
                <a:cs typeface="Times New Roman" panose="02020603050405020304" pitchFamily="18" charset="0"/>
              </a:rPr>
              <a:t>被动土压力，</a:t>
            </a:r>
            <a:r>
              <a:rPr lang="zh-CN" altLang="en-US" sz="2200" b="1" smtClean="0">
                <a:latin typeface="Times New Roman" panose="02020603050405020304" pitchFamily="18" charset="0"/>
                <a:cs typeface="Times New Roman" panose="02020603050405020304" pitchFamily="18" charset="0"/>
              </a:rPr>
              <a:t>并以E</a:t>
            </a:r>
            <a:r>
              <a:rPr lang="zh-CN" altLang="en-US" sz="2200" b="1" baseline="-25000" smtClean="0">
                <a:latin typeface="Times New Roman" panose="02020603050405020304" pitchFamily="18" charset="0"/>
                <a:cs typeface="Times New Roman" panose="02020603050405020304" pitchFamily="18" charset="0"/>
              </a:rPr>
              <a:t>p</a:t>
            </a:r>
            <a:r>
              <a:rPr lang="zh-CN" altLang="en-US" sz="2200" b="1" smtClean="0">
                <a:latin typeface="Times New Roman" panose="02020603050405020304" pitchFamily="18" charset="0"/>
                <a:cs typeface="Times New Roman" panose="02020603050405020304" pitchFamily="18" charset="0"/>
              </a:rPr>
              <a:t>(</a:t>
            </a:r>
            <a:r>
              <a:rPr lang="el-GR" altLang="en-US" sz="2200" b="1" smtClean="0">
                <a:latin typeface="Times New Roman" panose="02020603050405020304" pitchFamily="18" charset="0"/>
                <a:cs typeface="Times New Roman" panose="02020603050405020304" pitchFamily="18" charset="0"/>
              </a:rPr>
              <a:t>σ</a:t>
            </a:r>
            <a:r>
              <a:rPr lang="zh-CN" altLang="en-US" sz="2200" b="1" baseline="-25000" smtClean="0">
                <a:latin typeface="Times New Roman" panose="02020603050405020304" pitchFamily="18" charset="0"/>
                <a:cs typeface="Times New Roman" panose="02020603050405020304" pitchFamily="18" charset="0"/>
              </a:rPr>
              <a:t>p</a:t>
            </a:r>
            <a:r>
              <a:rPr lang="zh-CN" altLang="en-US" sz="2200" b="1" smtClean="0">
                <a:latin typeface="Times New Roman" panose="02020603050405020304" pitchFamily="18" charset="0"/>
                <a:cs typeface="Times New Roman" panose="02020603050405020304" pitchFamily="18" charset="0"/>
              </a:rPr>
              <a:t>)表示。</a:t>
            </a:r>
            <a:endParaRPr lang="zh-CN" altLang="en-US" sz="2200" b="1" smtClean="0">
              <a:latin typeface="Times New Roman" panose="02020603050405020304" pitchFamily="18" charset="0"/>
              <a:cs typeface="Times New Roman" panose="02020603050405020304" pitchFamily="18" charset="0"/>
            </a:endParaRPr>
          </a:p>
        </p:txBody>
      </p:sp>
      <p:sp>
        <p:nvSpPr>
          <p:cNvPr id="4" name="Rectangle 6"/>
          <p:cNvSpPr>
            <a:spLocks noChangeArrowheads="1"/>
          </p:cNvSpPr>
          <p:nvPr/>
        </p:nvSpPr>
        <p:spPr bwMode="auto">
          <a:xfrm>
            <a:off x="0" y="-317"/>
            <a:ext cx="39243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§6.2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挡土墙侧的土压力</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916238" y="692150"/>
            <a:ext cx="2376487" cy="530225"/>
          </a:xfrm>
        </p:spPr>
        <p:txBody>
          <a:bodyPr/>
          <a:lstStyle/>
          <a:p>
            <a:pPr eaLnBrk="1" hangingPunct="1">
              <a:defRPr/>
            </a:pPr>
            <a:r>
              <a:rPr lang="zh-CN" altLang="en-US" sz="2800" b="1" dirty="0" smtClean="0">
                <a:latin typeface="+mn-ea"/>
                <a:ea typeface="+mn-ea"/>
              </a:rPr>
              <a:t>土压力的种类</a:t>
            </a:r>
            <a:endParaRPr lang="zh-CN" altLang="en-US" sz="2800" b="1" dirty="0" smtClean="0">
              <a:latin typeface="+mn-ea"/>
              <a:ea typeface="+mn-ea"/>
            </a:endParaRPr>
          </a:p>
        </p:txBody>
      </p:sp>
      <p:sp>
        <p:nvSpPr>
          <p:cNvPr id="4" name="Rectangle 6"/>
          <p:cNvSpPr>
            <a:spLocks noChangeArrowheads="1"/>
          </p:cNvSpPr>
          <p:nvPr/>
        </p:nvSpPr>
        <p:spPr bwMode="auto">
          <a:xfrm>
            <a:off x="0" y="-317"/>
            <a:ext cx="39243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§6.2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挡土墙侧的土压力</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pic>
        <p:nvPicPr>
          <p:cNvPr id="5" name="Picture 3" descr="ty20"/>
          <p:cNvPicPr>
            <a:picLocks noChangeAspect="1" noChangeArrowheads="1"/>
          </p:cNvPicPr>
          <p:nvPr/>
        </p:nvPicPr>
        <p:blipFill>
          <a:blip r:embed="rId1">
            <a:extLst>
              <a:ext uri="{28A0092B-C50C-407E-A947-70E740481C1C}">
                <a14:useLocalDpi xmlns:a14="http://schemas.microsoft.com/office/drawing/2010/main" val="0"/>
              </a:ext>
            </a:extLst>
          </a:blip>
          <a:srcRect b="8997"/>
          <a:stretch>
            <a:fillRect/>
          </a:stretch>
        </p:blipFill>
        <p:spPr bwMode="auto">
          <a:xfrm>
            <a:off x="323850" y="1773238"/>
            <a:ext cx="8434388" cy="288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矩形 1"/>
          <p:cNvSpPr>
            <a:spLocks noChangeArrowheads="1"/>
          </p:cNvSpPr>
          <p:nvPr/>
        </p:nvSpPr>
        <p:spPr bwMode="auto">
          <a:xfrm>
            <a:off x="900113" y="4868863"/>
            <a:ext cx="71104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a:t>主动土压力              被动土压力               静止土压力</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body" sz="half" idx="4294967295"/>
          </p:nvPr>
        </p:nvSpPr>
        <p:spPr>
          <a:xfrm>
            <a:off x="458788" y="1825625"/>
            <a:ext cx="4105275" cy="3816350"/>
          </a:xfrm>
        </p:spPr>
        <p:txBody>
          <a:bodyPr/>
          <a:lstStyle/>
          <a:p>
            <a:pPr eaLnBrk="1" hangingPunct="1">
              <a:lnSpc>
                <a:spcPct val="150000"/>
              </a:lnSpc>
              <a:buFont typeface="Wingdings" panose="05000000000000000000" pitchFamily="2" charset="2"/>
              <a:buChar char="Ø"/>
            </a:pPr>
            <a:r>
              <a:rPr lang="zh-CN" altLang="en-US" sz="2400" b="1" smtClean="0"/>
              <a:t>在相同条件下，主动土压力小于静止土压力，而静止土压力又小于被动土压力，而且产生被动土压力所需的位移量大大超过产生主动土压力所需的位移量。</a:t>
            </a:r>
            <a:endParaRPr lang="zh-CN" altLang="en-US" sz="2400" smtClean="0"/>
          </a:p>
        </p:txBody>
      </p:sp>
      <p:pic>
        <p:nvPicPr>
          <p:cNvPr id="18435" name="Picture 3" descr="3-2"/>
          <p:cNvPicPr>
            <a:picLocks noGrp="1" noChangeAspect="1" noChangeArrowheads="1"/>
          </p:cNvPicPr>
          <p:nvPr>
            <p:ph sz="quarter" idx="4294967295"/>
          </p:nvPr>
        </p:nvPicPr>
        <p:blipFill>
          <a:blip r:embed="rId1">
            <a:extLst>
              <a:ext uri="{28A0092B-C50C-407E-A947-70E740481C1C}">
                <a14:useLocalDpi xmlns:a14="http://schemas.microsoft.com/office/drawing/2010/main" val="0"/>
              </a:ext>
            </a:extLst>
          </a:blip>
          <a:srcRect b="22716"/>
          <a:stretch>
            <a:fillRect/>
          </a:stretch>
        </p:blipFill>
        <p:spPr>
          <a:xfrm>
            <a:off x="4564063" y="1341438"/>
            <a:ext cx="4454525" cy="3259137"/>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8436" name="Rectangle 4"/>
          <p:cNvSpPr>
            <a:spLocks noChangeArrowheads="1"/>
          </p:cNvSpPr>
          <p:nvPr/>
        </p:nvSpPr>
        <p:spPr bwMode="auto">
          <a:xfrm>
            <a:off x="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800" b="1">
              <a:solidFill>
                <a:schemeClr val="folHlink"/>
              </a:solidFill>
              <a:latin typeface="幼圆" panose="02010509060101010101" pitchFamily="49" charset="-122"/>
              <a:ea typeface="幼圆" panose="02010509060101010101" pitchFamily="49" charset="-122"/>
            </a:endParaRPr>
          </a:p>
        </p:txBody>
      </p:sp>
      <p:graphicFrame>
        <p:nvGraphicFramePr>
          <p:cNvPr id="18437" name="Object 6"/>
          <p:cNvGraphicFramePr>
            <a:graphicFrameLocks noGrp="1" noChangeAspect="1"/>
          </p:cNvGraphicFramePr>
          <p:nvPr>
            <p:ph sz="quarter" idx="4294967295"/>
          </p:nvPr>
        </p:nvGraphicFramePr>
        <p:xfrm>
          <a:off x="5803900" y="5435600"/>
          <a:ext cx="1658938" cy="661988"/>
        </p:xfrm>
        <a:graphic>
          <a:graphicData uri="http://schemas.openxmlformats.org/presentationml/2006/ole">
            <mc:AlternateContent xmlns:mc="http://schemas.openxmlformats.org/markup-compatibility/2006">
              <mc:Choice xmlns:v="urn:schemas-microsoft-com:vml" Requires="v">
                <p:oleObj spid="_x0000_s1032" name="" r:id="rId2" imgW="699770" imgH="280035" progId="Equation.3">
                  <p:embed/>
                </p:oleObj>
              </mc:Choice>
              <mc:Fallback>
                <p:oleObj name="" r:id="rId2" imgW="699770" imgH="280035"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3900" y="5435600"/>
                        <a:ext cx="1658938" cy="6619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文本框 1"/>
          <p:cNvSpPr txBox="1">
            <a:spLocks noRot="1" noChangeAspect="1" noMove="1" noResize="1" noEditPoints="1" noAdjustHandles="1" noChangeArrowheads="1" noChangeShapeType="1" noTextEdit="1"/>
          </p:cNvSpPr>
          <p:nvPr/>
        </p:nvSpPr>
        <p:spPr>
          <a:xfrm>
            <a:off x="5568479" y="4828231"/>
            <a:ext cx="2185342" cy="464101"/>
          </a:xfrm>
          <a:prstGeom prst="rect">
            <a:avLst/>
          </a:prstGeom>
          <a:blipFill>
            <a:blip r:embed="rId4"/>
            <a:stretch>
              <a:fillRect/>
            </a:stretch>
          </a:blipFill>
        </p:spPr>
        <p:txBody>
          <a:bodyPr/>
          <a:lstStyle/>
          <a:p>
            <a:pPr>
              <a:defRPr/>
            </a:pPr>
            <a:r>
              <a:rPr lang="zh-CN" altLang="en-US">
                <a:noFill/>
              </a:rPr>
              <a:t> </a:t>
            </a:r>
            <a:endParaRPr lang="zh-CN" altLang="en-US">
              <a:noFill/>
            </a:endParaRPr>
          </a:p>
        </p:txBody>
      </p:sp>
      <p:sp>
        <p:nvSpPr>
          <p:cNvPr id="10" name="Rectangle 6"/>
          <p:cNvSpPr>
            <a:spLocks noChangeArrowheads="1"/>
          </p:cNvSpPr>
          <p:nvPr/>
        </p:nvSpPr>
        <p:spPr bwMode="auto">
          <a:xfrm>
            <a:off x="0" y="-317"/>
            <a:ext cx="39243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§6.2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挡土墙侧的土压力</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4" presetClass="entr" presetSubtype="0" fill="hold" grpId="0" nodeType="clickEffect">
                                  <p:stCondLst>
                                    <p:cond delay="0"/>
                                  </p:stCondLst>
                                  <p:childTnLst>
                                    <p:set>
                                      <p:cBhvr>
                                        <p:cTn id="6" dur="indefinite" fill="hold">
                                          <p:stCondLst>
                                            <p:cond delay="0"/>
                                          </p:stCondLst>
                                        </p:cTn>
                                        <p:tgtEl>
                                          <p:spTgt spid="18434">
                                            <p:txEl>
                                              <p:pRg st="0" end="0"/>
                                            </p:txEl>
                                          </p:spTgt>
                                        </p:tgtEl>
                                        <p:attrNameLst>
                                          <p:attrName>style.visibility</p:attrName>
                                        </p:attrNameLst>
                                      </p:cBhvr>
                                      <p:to>
                                        <p:strVal val="visible"/>
                                      </p:to>
                                    </p:set>
                                    <p:animEffect transition="in" filter="fade">
                                      <p:cBhvr>
                                        <p:cTn id="7" dur="500"/>
                                        <p:tgtEl>
                                          <p:spTgt spid="18434">
                                            <p:txEl>
                                              <p:pRg st="0" end="0"/>
                                            </p:txEl>
                                          </p:spTgt>
                                        </p:tgtEl>
                                      </p:cBhvr>
                                    </p:animEffect>
                                    <p:anim calcmode="lin" valueType="num">
                                      <p:cBhvr>
                                        <p:cTn id="8" dur="500" fill="hold"/>
                                        <p:tgtEl>
                                          <p:spTgt spid="18434">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18434">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4" presetClass="entr" presetSubtype="0" fill="hold" nodeType="clickEffect">
                                  <p:stCondLst>
                                    <p:cond delay="0"/>
                                  </p:stCondLst>
                                  <p:childTnLst>
                                    <p:set>
                                      <p:cBhvr>
                                        <p:cTn id="13" dur="indefinite" fill="hold">
                                          <p:stCondLst>
                                            <p:cond delay="0"/>
                                          </p:stCondLst>
                                        </p:cTn>
                                        <p:tgtEl>
                                          <p:spTgt spid="18435"/>
                                        </p:tgtEl>
                                        <p:attrNameLst>
                                          <p:attrName>style.visibility</p:attrName>
                                        </p:attrNameLst>
                                      </p:cBhvr>
                                      <p:to>
                                        <p:strVal val="visible"/>
                                      </p:to>
                                    </p:set>
                                    <p:animEffect transition="in" filter="fade">
                                      <p:cBhvr>
                                        <p:cTn id="14" dur="500"/>
                                        <p:tgtEl>
                                          <p:spTgt spid="18435"/>
                                        </p:tgtEl>
                                      </p:cBhvr>
                                    </p:animEffect>
                                    <p:anim calcmode="lin" valueType="num">
                                      <p:cBhvr>
                                        <p:cTn id="15" dur="500" fill="hold"/>
                                        <p:tgtEl>
                                          <p:spTgt spid="18435"/>
                                        </p:tgtEl>
                                        <p:attrNameLst>
                                          <p:attrName>ppt_x</p:attrName>
                                        </p:attrNameLst>
                                      </p:cBhvr>
                                      <p:tavLst>
                                        <p:tav tm="0">
                                          <p:val>
                                            <p:strVal val="#ppt_x"/>
                                          </p:val>
                                        </p:tav>
                                        <p:tav tm="100000">
                                          <p:val>
                                            <p:strVal val="#ppt_x"/>
                                          </p:val>
                                        </p:tav>
                                      </p:tavLst>
                                    </p:anim>
                                    <p:anim calcmode="lin" valueType="num">
                                      <p:cBhvr>
                                        <p:cTn id="16" dur="500" fill="hold"/>
                                        <p:tgtEl>
                                          <p:spTgt spid="18435"/>
                                        </p:tgtEl>
                                        <p:attrNameLst>
                                          <p:attrName>ppt_y</p:attrName>
                                        </p:attrNameLst>
                                      </p:cBhvr>
                                      <p:tavLst>
                                        <p:tav tm="0">
                                          <p:val>
                                            <p:strVal val="#ppt_y+.05"/>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4" presetClass="entr" presetSubtype="0" fill="hold" nodeType="clickEffect">
                                  <p:stCondLst>
                                    <p:cond delay="0"/>
                                  </p:stCondLst>
                                  <p:childTnLst>
                                    <p:set>
                                      <p:cBhvr>
                                        <p:cTn id="20" dur="indefinite" fill="hold">
                                          <p:stCondLst>
                                            <p:cond delay="0"/>
                                          </p:stCondLst>
                                        </p:cTn>
                                        <p:tgtEl>
                                          <p:spTgt spid="18437"/>
                                        </p:tgtEl>
                                        <p:attrNameLst>
                                          <p:attrName>style.visibility</p:attrName>
                                        </p:attrNameLst>
                                      </p:cBhvr>
                                      <p:to>
                                        <p:strVal val="visible"/>
                                      </p:to>
                                    </p:set>
                                    <p:animEffect transition="in" filter="fade">
                                      <p:cBhvr>
                                        <p:cTn id="21" dur="500"/>
                                        <p:tgtEl>
                                          <p:spTgt spid="18437"/>
                                        </p:tgtEl>
                                      </p:cBhvr>
                                    </p:animEffect>
                                    <p:anim calcmode="lin" valueType="num">
                                      <p:cBhvr>
                                        <p:cTn id="22" dur="500" fill="hold"/>
                                        <p:tgtEl>
                                          <p:spTgt spid="18437"/>
                                        </p:tgtEl>
                                        <p:attrNameLst>
                                          <p:attrName>ppt_x</p:attrName>
                                        </p:attrNameLst>
                                      </p:cBhvr>
                                      <p:tavLst>
                                        <p:tav tm="0">
                                          <p:val>
                                            <p:strVal val="#ppt_x"/>
                                          </p:val>
                                        </p:tav>
                                        <p:tav tm="100000">
                                          <p:val>
                                            <p:strVal val="#ppt_x"/>
                                          </p:val>
                                        </p:tav>
                                      </p:tavLst>
                                    </p:anim>
                                    <p:anim calcmode="lin" valueType="num">
                                      <p:cBhvr>
                                        <p:cTn id="23" dur="500" fill="hold"/>
                                        <p:tgtEl>
                                          <p:spTgt spid="18437"/>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build="p"/>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3"/>
          <p:cNvSpPr>
            <a:spLocks noGrp="1" noChangeArrowheads="1"/>
          </p:cNvSpPr>
          <p:nvPr>
            <p:ph type="body" sz="half" idx="4294967295"/>
          </p:nvPr>
        </p:nvSpPr>
        <p:spPr>
          <a:xfrm>
            <a:off x="400050" y="1628775"/>
            <a:ext cx="4171950" cy="3816350"/>
          </a:xfrm>
        </p:spPr>
        <p:txBody>
          <a:bodyPr/>
          <a:lstStyle/>
          <a:p>
            <a:pPr eaLnBrk="1" hangingPunct="1">
              <a:lnSpc>
                <a:spcPct val="150000"/>
              </a:lnSpc>
              <a:buFont typeface="Wingdings" panose="05000000000000000000" pitchFamily="2" charset="2"/>
              <a:buChar char="Ø"/>
            </a:pPr>
            <a:r>
              <a:rPr lang="zh-CN" altLang="en-US" sz="2400" b="1" smtClean="0"/>
              <a:t>挡土墙后的填土处于弹性平衡状态。若假定填土是半无限弹性体，由于墙静止不动，故土体无侧向位移，这时水平向静止土压力按水平向自重应力公式计算</a:t>
            </a:r>
            <a:r>
              <a:rPr lang="zh-CN" altLang="en-US" sz="2400" smtClean="0"/>
              <a:t> </a:t>
            </a:r>
            <a:endParaRPr lang="zh-CN" altLang="en-US" sz="2400" smtClean="0"/>
          </a:p>
        </p:txBody>
      </p:sp>
      <p:sp>
        <p:nvSpPr>
          <p:cNvPr id="19459" name="Rectangle 5"/>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800" b="1">
              <a:solidFill>
                <a:schemeClr val="folHlink"/>
              </a:solidFill>
              <a:latin typeface="幼圆" panose="02010509060101010101" pitchFamily="49" charset="-122"/>
              <a:ea typeface="幼圆" panose="02010509060101010101" pitchFamily="49" charset="-122"/>
            </a:endParaRPr>
          </a:p>
        </p:txBody>
      </p:sp>
      <p:sp>
        <p:nvSpPr>
          <p:cNvPr id="19460" name="Rectangle 7"/>
          <p:cNvSpPr>
            <a:spLocks noChangeArrowheads="1"/>
          </p:cNvSpPr>
          <p:nvPr/>
        </p:nvSpPr>
        <p:spPr bwMode="auto">
          <a:xfrm>
            <a:off x="0" y="32131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800" b="1">
              <a:solidFill>
                <a:schemeClr val="folHlink"/>
              </a:solidFill>
              <a:latin typeface="幼圆" panose="02010509060101010101" pitchFamily="49" charset="-122"/>
              <a:ea typeface="幼圆" panose="02010509060101010101" pitchFamily="49" charset="-122"/>
            </a:endParaRPr>
          </a:p>
        </p:txBody>
      </p:sp>
      <p:graphicFrame>
        <p:nvGraphicFramePr>
          <p:cNvPr id="19461" name="Object 8"/>
          <p:cNvGraphicFramePr>
            <a:graphicFrameLocks noChangeAspect="1"/>
          </p:cNvGraphicFramePr>
          <p:nvPr/>
        </p:nvGraphicFramePr>
        <p:xfrm>
          <a:off x="5421313" y="4622800"/>
          <a:ext cx="2663825" cy="1138238"/>
        </p:xfrm>
        <a:graphic>
          <a:graphicData uri="http://schemas.openxmlformats.org/presentationml/2006/ole">
            <mc:AlternateContent xmlns:mc="http://schemas.openxmlformats.org/markup-compatibility/2006">
              <mc:Choice xmlns:v="urn:schemas-microsoft-com:vml" Requires="v">
                <p:oleObj spid="_x0000_s2068" name="" r:id="rId1" imgW="916305" imgH="394335" progId="Equation.3">
                  <p:embed/>
                </p:oleObj>
              </mc:Choice>
              <mc:Fallback>
                <p:oleObj name="" r:id="rId1" imgW="916305" imgH="394335" progId="Equation.3">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1313" y="4622800"/>
                        <a:ext cx="2663825" cy="113823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2"/>
          <p:cNvSpPr>
            <a:spLocks noRot="1" noChangeArrowheads="1"/>
          </p:cNvSpPr>
          <p:nvPr/>
        </p:nvSpPr>
        <p:spPr bwMode="auto">
          <a:xfrm>
            <a:off x="1476375" y="846138"/>
            <a:ext cx="2192338" cy="449262"/>
          </a:xfrm>
          <a:prstGeom prst="rect">
            <a:avLst/>
          </a:prstGeom>
          <a:solidFill>
            <a:schemeClr val="tx2">
              <a:lumMod val="20000"/>
              <a:lumOff val="80000"/>
            </a:schemeClr>
          </a:solidFill>
          <a:ln>
            <a:noFill/>
          </a:ln>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sz="2800" b="1" dirty="0" smtClean="0">
                <a:latin typeface="+mn-ea"/>
                <a:ea typeface="+mn-ea"/>
              </a:rPr>
              <a:t>静止土压力</a:t>
            </a:r>
            <a:endParaRPr kumimoji="0" lang="zh-CN" altLang="en-US" sz="2800" b="1" dirty="0" smtClean="0">
              <a:latin typeface="+mn-ea"/>
              <a:ea typeface="+mn-ea"/>
            </a:endParaRPr>
          </a:p>
        </p:txBody>
      </p:sp>
      <p:grpSp>
        <p:nvGrpSpPr>
          <p:cNvPr id="19463" name="Group 38"/>
          <p:cNvGrpSpPr/>
          <p:nvPr/>
        </p:nvGrpSpPr>
        <p:grpSpPr bwMode="auto">
          <a:xfrm>
            <a:off x="4500563" y="1052513"/>
            <a:ext cx="4176712" cy="2767012"/>
            <a:chOff x="975" y="572"/>
            <a:chExt cx="2631" cy="1289"/>
          </a:xfrm>
        </p:grpSpPr>
        <p:grpSp>
          <p:nvGrpSpPr>
            <p:cNvPr id="19466" name="Group 36"/>
            <p:cNvGrpSpPr/>
            <p:nvPr/>
          </p:nvGrpSpPr>
          <p:grpSpPr bwMode="auto">
            <a:xfrm>
              <a:off x="975" y="572"/>
              <a:ext cx="2631" cy="1289"/>
              <a:chOff x="1156" y="845"/>
              <a:chExt cx="2631" cy="1289"/>
            </a:xfrm>
          </p:grpSpPr>
          <p:grpSp>
            <p:nvGrpSpPr>
              <p:cNvPr id="19468" name="Group 3"/>
              <p:cNvGrpSpPr/>
              <p:nvPr/>
            </p:nvGrpSpPr>
            <p:grpSpPr bwMode="auto">
              <a:xfrm>
                <a:off x="1156" y="845"/>
                <a:ext cx="2631" cy="1241"/>
                <a:chOff x="1392" y="1056"/>
                <a:chExt cx="2438" cy="1152"/>
              </a:xfrm>
            </p:grpSpPr>
            <p:grpSp>
              <p:nvGrpSpPr>
                <p:cNvPr id="19484" name="Group 4"/>
                <p:cNvGrpSpPr/>
                <p:nvPr/>
              </p:nvGrpSpPr>
              <p:grpSpPr bwMode="auto">
                <a:xfrm>
                  <a:off x="1392" y="1056"/>
                  <a:ext cx="2438" cy="1152"/>
                  <a:chOff x="1392" y="1056"/>
                  <a:chExt cx="2438" cy="1152"/>
                </a:xfrm>
              </p:grpSpPr>
              <p:grpSp>
                <p:nvGrpSpPr>
                  <p:cNvPr id="19486" name="Group 5"/>
                  <p:cNvGrpSpPr/>
                  <p:nvPr/>
                </p:nvGrpSpPr>
                <p:grpSpPr bwMode="auto">
                  <a:xfrm>
                    <a:off x="1968" y="1056"/>
                    <a:ext cx="1862" cy="1152"/>
                    <a:chOff x="1968" y="1056"/>
                    <a:chExt cx="1862" cy="1152"/>
                  </a:xfrm>
                </p:grpSpPr>
                <p:sp>
                  <p:nvSpPr>
                    <p:cNvPr id="19491" name="AutoShape 6" descr="横向砖形"/>
                    <p:cNvSpPr>
                      <a:spLocks noChangeArrowheads="1"/>
                    </p:cNvSpPr>
                    <p:nvPr/>
                  </p:nvSpPr>
                  <p:spPr bwMode="auto">
                    <a:xfrm rot="10800000">
                      <a:off x="1968" y="1056"/>
                      <a:ext cx="624" cy="115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blipFill dpi="0" rotWithShape="0">
                      <a:blip r:embed="rId3"/>
                      <a:srcRect/>
                      <a:tile tx="0" ty="0" sx="100000" sy="100000" flip="none" algn="tl"/>
                    </a:blipFill>
                    <a:ln w="34925">
                      <a:solidFill>
                        <a:srgbClr val="000000"/>
                      </a:solidFill>
                      <a:miter lim="800000"/>
                    </a:ln>
                  </p:spPr>
                  <p:txBody>
                    <a:bodyPr wrap="none" anchor="ctr"/>
                    <a:lstStyle/>
                    <a:p>
                      <a:endParaRPr lang="zh-CN" altLang="en-US"/>
                    </a:p>
                  </p:txBody>
                </p:sp>
                <p:sp>
                  <p:nvSpPr>
                    <p:cNvPr id="19492" name="Rectangle 7" descr="25%"/>
                    <p:cNvSpPr>
                      <a:spLocks noChangeArrowheads="1"/>
                    </p:cNvSpPr>
                    <p:nvPr/>
                  </p:nvSpPr>
                  <p:spPr bwMode="auto">
                    <a:xfrm>
                      <a:off x="2400" y="1056"/>
                      <a:ext cx="1430" cy="1152"/>
                    </a:xfrm>
                    <a:prstGeom prst="rect">
                      <a:avLst/>
                    </a:prstGeom>
                    <a:blipFill dpi="0" rotWithShape="0">
                      <a:blip r:embed="rId4"/>
                      <a:srcRect/>
                      <a:tile tx="0" ty="0" sx="100000" sy="100000" flip="none" algn="tl"/>
                    </a:blipFill>
                    <a:ln w="34925">
                      <a:solidFill>
                        <a:schemeClr val="tx1"/>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sp>
                <p:nvSpPr>
                  <p:cNvPr id="19487" name="Line 8"/>
                  <p:cNvSpPr>
                    <a:spLocks noChangeShapeType="1"/>
                  </p:cNvSpPr>
                  <p:nvPr/>
                </p:nvSpPr>
                <p:spPr bwMode="auto">
                  <a:xfrm>
                    <a:off x="1632" y="1056"/>
                    <a:ext cx="0" cy="1152"/>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488" name="Line 9"/>
                  <p:cNvSpPr>
                    <a:spLocks noChangeShapeType="1"/>
                  </p:cNvSpPr>
                  <p:nvPr/>
                </p:nvSpPr>
                <p:spPr bwMode="auto">
                  <a:xfrm flipH="1">
                    <a:off x="1488" y="1056"/>
                    <a:ext cx="52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489" name="Line 10"/>
                  <p:cNvSpPr>
                    <a:spLocks noChangeShapeType="1"/>
                  </p:cNvSpPr>
                  <p:nvPr/>
                </p:nvSpPr>
                <p:spPr bwMode="auto">
                  <a:xfrm flipH="1">
                    <a:off x="1440" y="2208"/>
                    <a:ext cx="43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490" name="Rectangle 11"/>
                  <p:cNvSpPr>
                    <a:spLocks noChangeArrowheads="1"/>
                  </p:cNvSpPr>
                  <p:nvPr/>
                </p:nvSpPr>
                <p:spPr bwMode="auto">
                  <a:xfrm>
                    <a:off x="1392" y="1488"/>
                    <a:ext cx="246"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kumimoji="0" lang="en-US" altLang="zh-CN" b="1" i="1"/>
                      <a:t>H</a:t>
                    </a:r>
                    <a:endParaRPr kumimoji="0" lang="en-US" altLang="zh-CN" b="1" i="1"/>
                  </a:p>
                </p:txBody>
              </p:sp>
            </p:grpSp>
            <p:sp>
              <p:nvSpPr>
                <p:cNvPr id="19485" name="Line 12"/>
                <p:cNvSpPr>
                  <a:spLocks noChangeShapeType="1"/>
                </p:cNvSpPr>
                <p:nvPr/>
              </p:nvSpPr>
              <p:spPr bwMode="auto">
                <a:xfrm>
                  <a:off x="2400" y="1056"/>
                  <a:ext cx="0" cy="1152"/>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9469" name="AutoShape 13"/>
              <p:cNvSpPr>
                <a:spLocks noChangeArrowheads="1"/>
              </p:cNvSpPr>
              <p:nvPr/>
            </p:nvSpPr>
            <p:spPr bwMode="auto">
              <a:xfrm>
                <a:off x="2606" y="845"/>
                <a:ext cx="52" cy="465"/>
              </a:xfrm>
              <a:prstGeom prst="upDownArrow">
                <a:avLst>
                  <a:gd name="adj1" fmla="val 50000"/>
                  <a:gd name="adj2" fmla="val 178846"/>
                </a:avLst>
              </a:prstGeom>
              <a:solidFill>
                <a:schemeClr val="accent1"/>
              </a:solidFill>
              <a:ln w="12700" cap="sq">
                <a:solidFill>
                  <a:schemeClr val="tx1"/>
                </a:solidFill>
                <a:miter lim="800000"/>
                <a:headEnd type="none" w="sm" len="sm"/>
                <a:tailEnd type="none" w="sm" len="sm"/>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9470" name="Text Box 14"/>
              <p:cNvSpPr txBox="1">
                <a:spLocks noChangeArrowheads="1"/>
              </p:cNvSpPr>
              <p:nvPr/>
            </p:nvSpPr>
            <p:spPr bwMode="auto">
              <a:xfrm>
                <a:off x="2399" y="845"/>
                <a:ext cx="294"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z</a:t>
                </a:r>
                <a:endParaRPr lang="en-US" altLang="zh-CN" sz="3600"/>
              </a:p>
            </p:txBody>
          </p:sp>
          <p:grpSp>
            <p:nvGrpSpPr>
              <p:cNvPr id="19471" name="Group 16"/>
              <p:cNvGrpSpPr/>
              <p:nvPr/>
            </p:nvGrpSpPr>
            <p:grpSpPr bwMode="auto">
              <a:xfrm>
                <a:off x="2244" y="845"/>
                <a:ext cx="621" cy="1275"/>
                <a:chOff x="1608" y="1408"/>
                <a:chExt cx="864" cy="1375"/>
              </a:xfrm>
            </p:grpSpPr>
            <p:sp>
              <p:nvSpPr>
                <p:cNvPr id="19476" name="Line 17"/>
                <p:cNvSpPr>
                  <a:spLocks noChangeShapeType="1"/>
                </p:cNvSpPr>
                <p:nvPr/>
              </p:nvSpPr>
              <p:spPr bwMode="auto">
                <a:xfrm>
                  <a:off x="1648" y="1408"/>
                  <a:ext cx="824" cy="1352"/>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7" name="AutoShape 18"/>
                <p:cNvSpPr>
                  <a:spLocks noChangeArrowheads="1"/>
                </p:cNvSpPr>
                <p:nvPr/>
              </p:nvSpPr>
              <p:spPr bwMode="auto">
                <a:xfrm>
                  <a:off x="1616" y="2728"/>
                  <a:ext cx="832" cy="55"/>
                </a:xfrm>
                <a:prstGeom prst="leftArrow">
                  <a:avLst>
                    <a:gd name="adj1" fmla="val 50000"/>
                    <a:gd name="adj2" fmla="val 378182"/>
                  </a:avLst>
                </a:prstGeom>
                <a:solidFill>
                  <a:srgbClr val="000000"/>
                </a:solidFill>
                <a:ln w="12700" cap="sq">
                  <a:solidFill>
                    <a:schemeClr val="tx1"/>
                  </a:solidFill>
                  <a:miter lim="800000"/>
                  <a:headEnd type="none" w="sm" len="sm"/>
                  <a:tailEnd type="none" w="sm" len="sm"/>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9478" name="AutoShape 19"/>
                <p:cNvSpPr>
                  <a:spLocks noChangeArrowheads="1"/>
                </p:cNvSpPr>
                <p:nvPr/>
              </p:nvSpPr>
              <p:spPr bwMode="auto">
                <a:xfrm>
                  <a:off x="1616" y="2520"/>
                  <a:ext cx="712" cy="47"/>
                </a:xfrm>
                <a:prstGeom prst="leftArrow">
                  <a:avLst>
                    <a:gd name="adj1" fmla="val 50000"/>
                    <a:gd name="adj2" fmla="val 378723"/>
                  </a:avLst>
                </a:prstGeom>
                <a:solidFill>
                  <a:srgbClr val="000000"/>
                </a:solidFill>
                <a:ln w="12700" cap="sq">
                  <a:solidFill>
                    <a:schemeClr val="tx1"/>
                  </a:solidFill>
                  <a:miter lim="800000"/>
                  <a:headEnd type="none" w="sm" len="sm"/>
                  <a:tailEnd type="none" w="sm" len="sm"/>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9479" name="AutoShape 20"/>
                <p:cNvSpPr>
                  <a:spLocks noChangeArrowheads="1"/>
                </p:cNvSpPr>
                <p:nvPr/>
              </p:nvSpPr>
              <p:spPr bwMode="auto">
                <a:xfrm>
                  <a:off x="1616" y="2320"/>
                  <a:ext cx="600" cy="47"/>
                </a:xfrm>
                <a:prstGeom prst="leftArrow">
                  <a:avLst>
                    <a:gd name="adj1" fmla="val 50000"/>
                    <a:gd name="adj2" fmla="val 319149"/>
                  </a:avLst>
                </a:prstGeom>
                <a:solidFill>
                  <a:srgbClr val="0000FF"/>
                </a:solidFill>
                <a:ln w="12700" cap="sq">
                  <a:solidFill>
                    <a:schemeClr val="tx1"/>
                  </a:solidFill>
                  <a:miter lim="800000"/>
                  <a:headEnd type="none" w="sm" len="sm"/>
                  <a:tailEnd type="none" w="sm" len="sm"/>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9480" name="AutoShape 21"/>
                <p:cNvSpPr>
                  <a:spLocks noChangeArrowheads="1"/>
                </p:cNvSpPr>
                <p:nvPr/>
              </p:nvSpPr>
              <p:spPr bwMode="auto">
                <a:xfrm>
                  <a:off x="1608" y="2112"/>
                  <a:ext cx="488" cy="55"/>
                </a:xfrm>
                <a:prstGeom prst="leftArrow">
                  <a:avLst>
                    <a:gd name="adj1" fmla="val 50000"/>
                    <a:gd name="adj2" fmla="val 221818"/>
                  </a:avLst>
                </a:prstGeom>
                <a:solidFill>
                  <a:srgbClr val="000000"/>
                </a:solidFill>
                <a:ln w="12700" cap="sq">
                  <a:solidFill>
                    <a:schemeClr val="tx1"/>
                  </a:solidFill>
                  <a:miter lim="800000"/>
                  <a:headEnd type="none" w="sm" len="sm"/>
                  <a:tailEnd type="none" w="sm" len="sm"/>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9481" name="AutoShape 22"/>
                <p:cNvSpPr>
                  <a:spLocks noChangeArrowheads="1"/>
                </p:cNvSpPr>
                <p:nvPr/>
              </p:nvSpPr>
              <p:spPr bwMode="auto">
                <a:xfrm>
                  <a:off x="1616" y="1912"/>
                  <a:ext cx="344" cy="47"/>
                </a:xfrm>
                <a:prstGeom prst="leftArrow">
                  <a:avLst>
                    <a:gd name="adj1" fmla="val 50000"/>
                    <a:gd name="adj2" fmla="val 182979"/>
                  </a:avLst>
                </a:prstGeom>
                <a:solidFill>
                  <a:srgbClr val="000000"/>
                </a:solidFill>
                <a:ln w="12700" cap="sq">
                  <a:solidFill>
                    <a:schemeClr val="tx1"/>
                  </a:solidFill>
                  <a:miter lim="800000"/>
                  <a:headEnd type="none" w="sm" len="sm"/>
                  <a:tailEnd type="none" w="sm" len="sm"/>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9482" name="AutoShape 23"/>
                <p:cNvSpPr>
                  <a:spLocks noChangeArrowheads="1"/>
                </p:cNvSpPr>
                <p:nvPr/>
              </p:nvSpPr>
              <p:spPr bwMode="auto">
                <a:xfrm flipV="1">
                  <a:off x="1616" y="1767"/>
                  <a:ext cx="256" cy="47"/>
                </a:xfrm>
                <a:prstGeom prst="leftArrow">
                  <a:avLst>
                    <a:gd name="adj1" fmla="val 50000"/>
                    <a:gd name="adj2" fmla="val 136170"/>
                  </a:avLst>
                </a:prstGeom>
                <a:solidFill>
                  <a:srgbClr val="000000"/>
                </a:solidFill>
                <a:ln w="12700" cap="sq">
                  <a:solidFill>
                    <a:schemeClr val="tx1"/>
                  </a:solidFill>
                  <a:miter lim="800000"/>
                  <a:headEnd type="none" w="sm" len="sm"/>
                  <a:tailEnd type="none" w="sm" len="sm"/>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9483" name="AutoShape 24"/>
                <p:cNvSpPr>
                  <a:spLocks noChangeArrowheads="1"/>
                </p:cNvSpPr>
                <p:nvPr/>
              </p:nvSpPr>
              <p:spPr bwMode="auto">
                <a:xfrm flipV="1">
                  <a:off x="1624" y="1591"/>
                  <a:ext cx="144" cy="47"/>
                </a:xfrm>
                <a:prstGeom prst="leftArrow">
                  <a:avLst>
                    <a:gd name="adj1" fmla="val 50000"/>
                    <a:gd name="adj2" fmla="val 76596"/>
                  </a:avLst>
                </a:prstGeom>
                <a:solidFill>
                  <a:srgbClr val="000000"/>
                </a:solidFill>
                <a:ln w="12700" cap="sq">
                  <a:solidFill>
                    <a:schemeClr val="tx1"/>
                  </a:solidFill>
                  <a:miter lim="800000"/>
                  <a:headEnd type="none" w="sm" len="sm"/>
                  <a:tailEnd type="none" w="sm" len="sm"/>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sp>
            <p:nvSpPr>
              <p:cNvPr id="19472" name="AutoShape 25"/>
              <p:cNvSpPr>
                <a:spLocks noChangeArrowheads="1"/>
              </p:cNvSpPr>
              <p:nvPr/>
            </p:nvSpPr>
            <p:spPr bwMode="auto">
              <a:xfrm>
                <a:off x="2969" y="1724"/>
                <a:ext cx="52" cy="362"/>
              </a:xfrm>
              <a:prstGeom prst="upDownArrow">
                <a:avLst>
                  <a:gd name="adj1" fmla="val 50000"/>
                  <a:gd name="adj2" fmla="val 139231"/>
                </a:avLst>
              </a:prstGeom>
              <a:solidFill>
                <a:srgbClr val="969696"/>
              </a:solidFill>
              <a:ln w="12700" cap="sq">
                <a:solidFill>
                  <a:schemeClr val="tx1"/>
                </a:solidFill>
                <a:miter lim="800000"/>
                <a:headEnd type="none" w="sm" len="sm"/>
                <a:tailEnd type="none" w="sm" len="sm"/>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aphicFrame>
            <p:nvGraphicFramePr>
              <p:cNvPr id="19473" name="Object 26"/>
              <p:cNvGraphicFramePr>
                <a:graphicFrameLocks noChangeAspect="1"/>
              </p:cNvGraphicFramePr>
              <p:nvPr/>
            </p:nvGraphicFramePr>
            <p:xfrm>
              <a:off x="3073" y="1724"/>
              <a:ext cx="304" cy="410"/>
            </p:xfrm>
            <a:graphic>
              <a:graphicData uri="http://schemas.openxmlformats.org/presentationml/2006/ole">
                <mc:AlternateContent xmlns:mc="http://schemas.openxmlformats.org/markup-compatibility/2006">
                  <mc:Choice xmlns:v="urn:schemas-microsoft-com:vml" Requires="v">
                    <p:oleObj spid="_x0000_s2069" name="公式" r:id="rId5" imgW="292100" imgH="393700" progId="Equation.3">
                      <p:embed/>
                    </p:oleObj>
                  </mc:Choice>
                  <mc:Fallback>
                    <p:oleObj name="公式" r:id="rId5" imgW="292100" imgH="393700" progId="Equation.3">
                      <p:embed/>
                      <p:pic>
                        <p:nvPicPr>
                          <p:cNvPr id="0" name="Object 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73" y="1724"/>
                            <a:ext cx="304" cy="410"/>
                          </a:xfrm>
                          <a:prstGeom prst="rect">
                            <a:avLst/>
                          </a:prstGeom>
                          <a:noFill/>
                          <a:ln>
                            <a:noFill/>
                          </a:ln>
                          <a:effectLst/>
                          <a:extLst>
                            <a:ext uri="{909E8E84-426E-40DD-AFC4-6F175D3DCCD1}">
                              <a14:hiddenFill xmlns:a14="http://schemas.microsoft.com/office/drawing/2010/main">
                                <a:solidFill>
                                  <a:srgbClr val="CC99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74" name="AutoShape 27"/>
              <p:cNvSpPr>
                <a:spLocks noChangeArrowheads="1"/>
              </p:cNvSpPr>
              <p:nvPr/>
            </p:nvSpPr>
            <p:spPr bwMode="auto">
              <a:xfrm>
                <a:off x="2244" y="1587"/>
                <a:ext cx="810" cy="180"/>
              </a:xfrm>
              <a:prstGeom prst="leftArrow">
                <a:avLst>
                  <a:gd name="adj1" fmla="val 50000"/>
                  <a:gd name="adj2" fmla="val 112500"/>
                </a:avLst>
              </a:prstGeom>
              <a:solidFill>
                <a:srgbClr val="969696"/>
              </a:solidFill>
              <a:ln w="12700" cap="sq">
                <a:solidFill>
                  <a:schemeClr val="tx1"/>
                </a:solidFill>
                <a:miter lim="800000"/>
                <a:headEnd type="none" w="sm" len="sm"/>
                <a:tailEnd type="none" w="sm" len="sm"/>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9475" name="Text Box 28"/>
              <p:cNvSpPr txBox="1">
                <a:spLocks noChangeArrowheads="1"/>
              </p:cNvSpPr>
              <p:nvPr/>
            </p:nvSpPr>
            <p:spPr bwMode="auto">
              <a:xfrm>
                <a:off x="3061" y="1434"/>
                <a:ext cx="55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i="1"/>
                  <a:t>E</a:t>
                </a:r>
                <a:r>
                  <a:rPr lang="en-US" altLang="zh-CN" sz="3200" b="1" i="1" baseline="-25000"/>
                  <a:t>0</a:t>
                </a:r>
                <a:endParaRPr lang="en-US" altLang="zh-CN" sz="3200"/>
              </a:p>
            </p:txBody>
          </p:sp>
        </p:grpSp>
        <p:sp>
          <p:nvSpPr>
            <p:cNvPr id="19467" name="Line 37"/>
            <p:cNvSpPr>
              <a:spLocks noChangeShapeType="1"/>
            </p:cNvSpPr>
            <p:nvPr/>
          </p:nvSpPr>
          <p:spPr bwMode="auto">
            <a:xfrm>
              <a:off x="2336" y="1026"/>
              <a:ext cx="181"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19464" name="Object 6"/>
          <p:cNvGraphicFramePr>
            <a:graphicFrameLocks noChangeAspect="1"/>
          </p:cNvGraphicFramePr>
          <p:nvPr/>
        </p:nvGraphicFramePr>
        <p:xfrm>
          <a:off x="7159625" y="1612900"/>
          <a:ext cx="1368425" cy="461963"/>
        </p:xfrm>
        <a:graphic>
          <a:graphicData uri="http://schemas.openxmlformats.org/presentationml/2006/ole">
            <mc:AlternateContent xmlns:mc="http://schemas.openxmlformats.org/markup-compatibility/2006">
              <mc:Choice xmlns:v="urn:schemas-microsoft-com:vml" Requires="v">
                <p:oleObj spid="_x0000_s2070" name="" r:id="rId7" imgW="674370" imgH="229235" progId="Equation.3">
                  <p:embed/>
                </p:oleObj>
              </mc:Choice>
              <mc:Fallback>
                <p:oleObj name="" r:id="rId7" imgW="674370" imgH="229235"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59625" y="1612900"/>
                        <a:ext cx="1368425" cy="46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 name="Rectangle 6"/>
          <p:cNvSpPr>
            <a:spLocks noChangeArrowheads="1"/>
          </p:cNvSpPr>
          <p:nvPr/>
        </p:nvSpPr>
        <p:spPr bwMode="auto">
          <a:xfrm>
            <a:off x="0" y="-317"/>
            <a:ext cx="39243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§6.2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挡土墙侧的土压力</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4" presetClass="entr" presetSubtype="0" fill="hold" grpId="0" nodeType="clickEffect">
                                  <p:stCondLst>
                                    <p:cond delay="0"/>
                                  </p:stCondLst>
                                  <p:childTnLst>
                                    <p:set>
                                      <p:cBhvr>
                                        <p:cTn id="6" dur="indefinite" fill="hold">
                                          <p:stCondLst>
                                            <p:cond delay="0"/>
                                          </p:stCondLst>
                                        </p:cTn>
                                        <p:tgtEl>
                                          <p:spTgt spid="19458">
                                            <p:txEl>
                                              <p:pRg st="0" end="0"/>
                                            </p:txEl>
                                          </p:spTgt>
                                        </p:tgtEl>
                                        <p:attrNameLst>
                                          <p:attrName>style.visibility</p:attrName>
                                        </p:attrNameLst>
                                      </p:cBhvr>
                                      <p:to>
                                        <p:strVal val="visible"/>
                                      </p:to>
                                    </p:set>
                                    <p:animEffect transition="in" filter="fade">
                                      <p:cBhvr>
                                        <p:cTn id="7" dur="500"/>
                                        <p:tgtEl>
                                          <p:spTgt spid="19458">
                                            <p:txEl>
                                              <p:pRg st="0" end="0"/>
                                            </p:txEl>
                                          </p:spTgt>
                                        </p:tgtEl>
                                      </p:cBhvr>
                                    </p:animEffect>
                                    <p:anim calcmode="lin" valueType="num">
                                      <p:cBhvr>
                                        <p:cTn id="8" dur="500" fill="hold"/>
                                        <p:tgtEl>
                                          <p:spTgt spid="19458">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19458">
                                            <p:txEl>
                                              <p:pRg st="0" end="0"/>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noChangeArrowheads="1"/>
          </p:cNvSpPr>
          <p:nvPr>
            <p:ph type="title"/>
          </p:nvPr>
        </p:nvSpPr>
        <p:spPr>
          <a:xfrm>
            <a:off x="922338" y="788988"/>
            <a:ext cx="3251200" cy="473075"/>
          </a:xfrm>
          <a:solidFill>
            <a:schemeClr val="tx2">
              <a:lumMod val="20000"/>
              <a:lumOff val="80000"/>
            </a:schemeClr>
          </a:solidFill>
        </p:spPr>
        <p:txBody>
          <a:bodyPr/>
          <a:lstStyle/>
          <a:p>
            <a:pPr>
              <a:defRPr/>
            </a:pPr>
            <a:r>
              <a:rPr lang="zh-CN" altLang="en-US" sz="2800" b="1" dirty="0" smtClean="0">
                <a:solidFill>
                  <a:schemeClr val="tx1"/>
                </a:solidFill>
                <a:latin typeface="+mn-ea"/>
                <a:ea typeface="+mn-ea"/>
              </a:rPr>
              <a:t>静止土压力系数 </a:t>
            </a:r>
            <a:r>
              <a:rPr lang="en-US" altLang="zh-CN" sz="2800" b="1" i="1" dirty="0" smtClean="0">
                <a:solidFill>
                  <a:schemeClr val="tx1"/>
                </a:solidFill>
                <a:latin typeface="+mn-ea"/>
                <a:ea typeface="+mn-ea"/>
              </a:rPr>
              <a:t>K</a:t>
            </a:r>
            <a:r>
              <a:rPr lang="en-US" altLang="zh-CN" sz="2800" b="1" baseline="-25000" dirty="0" smtClean="0">
                <a:solidFill>
                  <a:schemeClr val="tx1"/>
                </a:solidFill>
                <a:latin typeface="+mn-ea"/>
                <a:ea typeface="+mn-ea"/>
              </a:rPr>
              <a:t>0</a:t>
            </a:r>
            <a:r>
              <a:rPr lang="en-US" altLang="zh-CN" sz="2800" b="1" dirty="0" smtClean="0">
                <a:solidFill>
                  <a:schemeClr val="tx1"/>
                </a:solidFill>
                <a:latin typeface="+mn-ea"/>
                <a:ea typeface="+mn-ea"/>
              </a:rPr>
              <a:t> </a:t>
            </a:r>
            <a:endParaRPr lang="zh-CN" altLang="en-US" sz="2800" b="1" dirty="0" smtClean="0">
              <a:solidFill>
                <a:schemeClr val="tx1"/>
              </a:solidFill>
              <a:latin typeface="+mn-ea"/>
              <a:ea typeface="+mn-ea"/>
            </a:endParaRPr>
          </a:p>
        </p:txBody>
      </p:sp>
      <p:sp>
        <p:nvSpPr>
          <p:cNvPr id="20483" name="内容占位符 2"/>
          <p:cNvSpPr>
            <a:spLocks noGrp="1" noChangeArrowheads="1"/>
          </p:cNvSpPr>
          <p:nvPr>
            <p:ph idx="1"/>
          </p:nvPr>
        </p:nvSpPr>
        <p:spPr>
          <a:xfrm>
            <a:off x="850900" y="2914650"/>
            <a:ext cx="4530725" cy="2311400"/>
          </a:xfrm>
        </p:spPr>
        <p:txBody>
          <a:bodyPr/>
          <a:lstStyle/>
          <a:p>
            <a:r>
              <a:rPr lang="en-US" altLang="zh-CN" sz="2400" b="1" smtClean="0">
                <a:latin typeface="Times New Roman" panose="02020603050405020304" pitchFamily="18" charset="0"/>
                <a:cs typeface="Times New Roman" panose="02020603050405020304" pitchFamily="18" charset="0"/>
              </a:rPr>
              <a:t>Ja’ky (1948)  </a:t>
            </a:r>
            <a:r>
              <a:rPr lang="zh-CN" altLang="en-US" sz="2400" b="1" smtClean="0">
                <a:latin typeface="Times New Roman" panose="02020603050405020304" pitchFamily="18" charset="0"/>
                <a:cs typeface="Times New Roman" panose="02020603050405020304" pitchFamily="18" charset="0"/>
              </a:rPr>
              <a:t>正常固结土</a:t>
            </a:r>
            <a:endParaRPr lang="en-US" altLang="zh-CN" sz="2400" b="1" smtClean="0">
              <a:latin typeface="Times New Roman" panose="02020603050405020304" pitchFamily="18" charset="0"/>
              <a:cs typeface="Times New Roman" panose="02020603050405020304" pitchFamily="18" charset="0"/>
            </a:endParaRPr>
          </a:p>
          <a:p>
            <a:pPr>
              <a:buFontTx/>
              <a:buNone/>
            </a:pP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endParaRPr lang="en-US" altLang="zh-CN" sz="2400" b="1" smtClean="0">
              <a:latin typeface="Times New Roman" panose="02020603050405020304" pitchFamily="18" charset="0"/>
              <a:cs typeface="Times New Roman" panose="02020603050405020304" pitchFamily="18" charset="0"/>
            </a:endParaRPr>
          </a:p>
          <a:p>
            <a:r>
              <a:rPr lang="en-US" altLang="zh-CN" sz="2400" b="1" smtClean="0">
                <a:latin typeface="Times New Roman" panose="02020603050405020304" pitchFamily="18" charset="0"/>
                <a:cs typeface="Times New Roman" panose="02020603050405020304" pitchFamily="18" charset="0"/>
              </a:rPr>
              <a:t>Kulway</a:t>
            </a:r>
            <a:r>
              <a:rPr lang="zh-CN" altLang="en-US" sz="2400" b="1" smtClean="0">
                <a:latin typeface="Times New Roman" panose="02020603050405020304" pitchFamily="18" charset="0"/>
                <a:cs typeface="Times New Roman" panose="02020603050405020304" pitchFamily="18" charset="0"/>
              </a:rPr>
              <a:t>等</a:t>
            </a:r>
            <a:r>
              <a:rPr lang="en-US" altLang="zh-CN" sz="2400" b="1" smtClean="0">
                <a:latin typeface="Times New Roman" panose="02020603050405020304" pitchFamily="18" charset="0"/>
                <a:cs typeface="Times New Roman" panose="02020603050405020304" pitchFamily="18" charset="0"/>
              </a:rPr>
              <a:t>(1982) </a:t>
            </a:r>
            <a:r>
              <a:rPr lang="zh-CN" altLang="en-US" sz="2400" b="1" smtClean="0">
                <a:latin typeface="Times New Roman" panose="02020603050405020304" pitchFamily="18" charset="0"/>
                <a:cs typeface="Times New Roman" panose="02020603050405020304" pitchFamily="18" charset="0"/>
              </a:rPr>
              <a:t>超固结土</a:t>
            </a:r>
            <a:endParaRPr lang="en-US" altLang="zh-CN" sz="2400" b="1" smtClean="0">
              <a:latin typeface="Times New Roman" panose="02020603050405020304" pitchFamily="18" charset="0"/>
              <a:cs typeface="Times New Roman" panose="02020603050405020304" pitchFamily="18" charset="0"/>
            </a:endParaRPr>
          </a:p>
          <a:p>
            <a:pPr>
              <a:buFontTx/>
              <a:buNone/>
            </a:pP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K</a:t>
            </a:r>
            <a:r>
              <a:rPr lang="en-US" altLang="zh-CN" sz="2400" b="1" i="1" baseline="-25000" smtClean="0">
                <a:latin typeface="Times New Roman" panose="02020603050405020304" pitchFamily="18" charset="0"/>
                <a:cs typeface="Times New Roman" panose="02020603050405020304" pitchFamily="18" charset="0"/>
              </a:rPr>
              <a:t>0</a:t>
            </a:r>
            <a:r>
              <a:rPr lang="en-US" altLang="zh-CN" sz="2400" b="1" smtClean="0">
                <a:latin typeface="Times New Roman" panose="02020603050405020304" pitchFamily="18" charset="0"/>
                <a:cs typeface="Times New Roman" panose="02020603050405020304" pitchFamily="18" charset="0"/>
              </a:rPr>
              <a:t>)</a:t>
            </a:r>
            <a:r>
              <a:rPr lang="en-US" altLang="zh-CN" sz="2400" b="1" baseline="-25000" smtClean="0">
                <a:latin typeface="Times New Roman" panose="02020603050405020304" pitchFamily="18" charset="0"/>
                <a:cs typeface="Times New Roman" panose="02020603050405020304" pitchFamily="18" charset="0"/>
              </a:rPr>
              <a:t>OC</a:t>
            </a:r>
            <a:r>
              <a:rPr lang="en-US" altLang="zh-CN" sz="2400" b="1" smtClean="0">
                <a:latin typeface="Times New Roman" panose="02020603050405020304" pitchFamily="18" charset="0"/>
                <a:cs typeface="Times New Roman" panose="02020603050405020304" pitchFamily="18" charset="0"/>
              </a:rPr>
              <a:t> = (</a:t>
            </a:r>
            <a:r>
              <a:rPr lang="en-US" altLang="zh-CN" sz="2400" b="1" i="1" smtClean="0">
                <a:latin typeface="Times New Roman" panose="02020603050405020304" pitchFamily="18" charset="0"/>
                <a:cs typeface="Times New Roman" panose="02020603050405020304" pitchFamily="18" charset="0"/>
              </a:rPr>
              <a:t>K</a:t>
            </a:r>
            <a:r>
              <a:rPr lang="en-US" altLang="zh-CN" sz="2400" b="1" i="1" baseline="-25000" smtClean="0">
                <a:latin typeface="Times New Roman" panose="02020603050405020304" pitchFamily="18" charset="0"/>
                <a:cs typeface="Times New Roman" panose="02020603050405020304" pitchFamily="18" charset="0"/>
              </a:rPr>
              <a:t>0</a:t>
            </a:r>
            <a:r>
              <a:rPr lang="en-US" altLang="zh-CN" sz="2400" b="1" smtClean="0">
                <a:latin typeface="Times New Roman" panose="02020603050405020304" pitchFamily="18" charset="0"/>
                <a:cs typeface="Times New Roman" panose="02020603050405020304" pitchFamily="18" charset="0"/>
              </a:rPr>
              <a:t>)</a:t>
            </a:r>
            <a:r>
              <a:rPr lang="en-US" altLang="zh-CN" sz="2400" b="1" baseline="-25000" smtClean="0">
                <a:latin typeface="Times New Roman" panose="02020603050405020304" pitchFamily="18" charset="0"/>
                <a:cs typeface="Times New Roman" panose="02020603050405020304" pitchFamily="18" charset="0"/>
              </a:rPr>
              <a:t>NC</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OCR</a:t>
            </a:r>
            <a:r>
              <a:rPr lang="en-US" altLang="zh-CN" sz="2400" b="1" smtClean="0">
                <a:latin typeface="Times New Roman" panose="02020603050405020304" pitchFamily="18" charset="0"/>
                <a:cs typeface="Times New Roman" panose="02020603050405020304" pitchFamily="18" charset="0"/>
              </a:rPr>
              <a:t>)</a:t>
            </a:r>
            <a:r>
              <a:rPr lang="en-US" altLang="zh-CN" sz="2400" b="1" i="1" baseline="30000" smtClean="0">
                <a:latin typeface="Times New Roman" panose="02020603050405020304" pitchFamily="18" charset="0"/>
                <a:cs typeface="Times New Roman" panose="02020603050405020304" pitchFamily="18" charset="0"/>
              </a:rPr>
              <a:t>m</a:t>
            </a:r>
            <a:endParaRPr lang="zh-CN" altLang="en-US" sz="2400" b="1" i="1" baseline="30000" smtClean="0">
              <a:latin typeface="Times New Roman" panose="02020603050405020304" pitchFamily="18" charset="0"/>
              <a:cs typeface="Times New Roman" panose="02020603050405020304" pitchFamily="18" charset="0"/>
            </a:endParaRPr>
          </a:p>
        </p:txBody>
      </p:sp>
      <p:sp>
        <p:nvSpPr>
          <p:cNvPr id="20484" name="TextBox 4"/>
          <p:cNvSpPr txBox="1">
            <a:spLocks noChangeArrowheads="1"/>
          </p:cNvSpPr>
          <p:nvPr/>
        </p:nvSpPr>
        <p:spPr bwMode="auto">
          <a:xfrm>
            <a:off x="1052513" y="5337175"/>
            <a:ext cx="2286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i="1"/>
              <a:t>m</a:t>
            </a:r>
            <a:r>
              <a:rPr lang="en-US" altLang="zh-CN" sz="2800"/>
              <a:t> = 0.41 – 0.5</a:t>
            </a:r>
            <a:endParaRPr lang="zh-CN" altLang="en-US" sz="2800"/>
          </a:p>
        </p:txBody>
      </p:sp>
      <p:cxnSp>
        <p:nvCxnSpPr>
          <p:cNvPr id="20485" name="直接箭头连接符 6"/>
          <p:cNvCxnSpPr>
            <a:cxnSpLocks noChangeShapeType="1"/>
          </p:cNvCxnSpPr>
          <p:nvPr/>
        </p:nvCxnSpPr>
        <p:spPr bwMode="auto">
          <a:xfrm rot="5400000" flipH="1" flipV="1">
            <a:off x="6001544" y="4715669"/>
            <a:ext cx="1857375" cy="1587"/>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20486" name="直接箭头连接符 9"/>
          <p:cNvCxnSpPr>
            <a:cxnSpLocks noChangeShapeType="1"/>
          </p:cNvCxnSpPr>
          <p:nvPr/>
        </p:nvCxnSpPr>
        <p:spPr bwMode="auto">
          <a:xfrm>
            <a:off x="6929438" y="5643563"/>
            <a:ext cx="2000250" cy="1587"/>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sp>
        <p:nvSpPr>
          <p:cNvPr id="20487" name="TextBox 13"/>
          <p:cNvSpPr txBox="1">
            <a:spLocks noChangeArrowheads="1"/>
          </p:cNvSpPr>
          <p:nvPr/>
        </p:nvSpPr>
        <p:spPr bwMode="auto">
          <a:xfrm>
            <a:off x="3992563" y="5357813"/>
            <a:ext cx="17700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t>(</a:t>
            </a:r>
            <a:r>
              <a:rPr lang="en-US" altLang="zh-CN" i="1"/>
              <a:t>K</a:t>
            </a:r>
            <a:r>
              <a:rPr lang="en-US" altLang="zh-CN" baseline="-25000"/>
              <a:t>0</a:t>
            </a:r>
            <a:r>
              <a:rPr lang="en-US" altLang="zh-CN"/>
              <a:t>)</a:t>
            </a:r>
            <a:r>
              <a:rPr lang="en-US" altLang="zh-CN" baseline="-25000"/>
              <a:t>NC</a:t>
            </a:r>
            <a:r>
              <a:rPr lang="en-US" altLang="zh-CN"/>
              <a:t>  &gt; 1.0</a:t>
            </a:r>
            <a:endParaRPr lang="zh-CN" altLang="en-US"/>
          </a:p>
        </p:txBody>
      </p:sp>
      <p:cxnSp>
        <p:nvCxnSpPr>
          <p:cNvPr id="20488" name="直接连接符 15"/>
          <p:cNvCxnSpPr>
            <a:cxnSpLocks noChangeShapeType="1"/>
          </p:cNvCxnSpPr>
          <p:nvPr/>
        </p:nvCxnSpPr>
        <p:spPr bwMode="auto">
          <a:xfrm>
            <a:off x="6786563" y="5143500"/>
            <a:ext cx="285750" cy="1588"/>
          </a:xfrm>
          <a:prstGeom prst="line">
            <a:avLst/>
          </a:prstGeom>
          <a:noFill/>
          <a:ln w="0" algn="ctr">
            <a:solidFill>
              <a:schemeClr val="tx1"/>
            </a:solidFill>
            <a:round/>
          </a:ln>
          <a:extLst>
            <a:ext uri="{909E8E84-426E-40DD-AFC4-6F175D3DCCD1}">
              <a14:hiddenFill xmlns:a14="http://schemas.microsoft.com/office/drawing/2010/main">
                <a:noFill/>
              </a14:hiddenFill>
            </a:ext>
          </a:extLst>
        </p:spPr>
      </p:cxnSp>
      <p:cxnSp>
        <p:nvCxnSpPr>
          <p:cNvPr id="20489" name="直接连接符 16"/>
          <p:cNvCxnSpPr>
            <a:cxnSpLocks noChangeShapeType="1"/>
          </p:cNvCxnSpPr>
          <p:nvPr/>
        </p:nvCxnSpPr>
        <p:spPr bwMode="auto">
          <a:xfrm>
            <a:off x="6786563" y="4643438"/>
            <a:ext cx="285750" cy="1587"/>
          </a:xfrm>
          <a:prstGeom prst="line">
            <a:avLst/>
          </a:prstGeom>
          <a:noFill/>
          <a:ln w="0" algn="ctr">
            <a:solidFill>
              <a:schemeClr val="tx1"/>
            </a:solidFill>
            <a:round/>
          </a:ln>
          <a:extLst>
            <a:ext uri="{909E8E84-426E-40DD-AFC4-6F175D3DCCD1}">
              <a14:hiddenFill xmlns:a14="http://schemas.microsoft.com/office/drawing/2010/main">
                <a:noFill/>
              </a14:hiddenFill>
            </a:ext>
          </a:extLst>
        </p:spPr>
      </p:cxnSp>
      <p:cxnSp>
        <p:nvCxnSpPr>
          <p:cNvPr id="20490" name="直接连接符 17"/>
          <p:cNvCxnSpPr>
            <a:cxnSpLocks noChangeShapeType="1"/>
          </p:cNvCxnSpPr>
          <p:nvPr/>
        </p:nvCxnSpPr>
        <p:spPr bwMode="auto">
          <a:xfrm>
            <a:off x="6786563" y="4141788"/>
            <a:ext cx="285750" cy="1587"/>
          </a:xfrm>
          <a:prstGeom prst="line">
            <a:avLst/>
          </a:prstGeom>
          <a:noFill/>
          <a:ln w="0" algn="ctr">
            <a:solidFill>
              <a:schemeClr val="tx1"/>
            </a:solidFill>
            <a:round/>
          </a:ln>
          <a:extLst>
            <a:ext uri="{909E8E84-426E-40DD-AFC4-6F175D3DCCD1}">
              <a14:hiddenFill xmlns:a14="http://schemas.microsoft.com/office/drawing/2010/main">
                <a:noFill/>
              </a14:hiddenFill>
            </a:ext>
          </a:extLst>
        </p:spPr>
      </p:cxnSp>
      <p:sp>
        <p:nvSpPr>
          <p:cNvPr id="20491" name="TextBox 18"/>
          <p:cNvSpPr txBox="1">
            <a:spLocks noChangeArrowheads="1"/>
          </p:cNvSpPr>
          <p:nvPr/>
        </p:nvSpPr>
        <p:spPr bwMode="auto">
          <a:xfrm>
            <a:off x="6361113" y="4945063"/>
            <a:ext cx="5048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1.0</a:t>
            </a:r>
            <a:endParaRPr lang="zh-CN" altLang="en-US" sz="2000"/>
          </a:p>
        </p:txBody>
      </p:sp>
      <p:sp>
        <p:nvSpPr>
          <p:cNvPr id="20492" name="TextBox 19"/>
          <p:cNvSpPr txBox="1">
            <a:spLocks noChangeArrowheads="1"/>
          </p:cNvSpPr>
          <p:nvPr/>
        </p:nvSpPr>
        <p:spPr bwMode="auto">
          <a:xfrm>
            <a:off x="6357938" y="4457700"/>
            <a:ext cx="5048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2.0</a:t>
            </a:r>
            <a:endParaRPr lang="zh-CN" altLang="en-US" sz="2000"/>
          </a:p>
        </p:txBody>
      </p:sp>
      <p:sp>
        <p:nvSpPr>
          <p:cNvPr id="20493" name="TextBox 20"/>
          <p:cNvSpPr txBox="1">
            <a:spLocks noChangeArrowheads="1"/>
          </p:cNvSpPr>
          <p:nvPr/>
        </p:nvSpPr>
        <p:spPr bwMode="auto">
          <a:xfrm>
            <a:off x="6357938" y="4000500"/>
            <a:ext cx="5048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3.0</a:t>
            </a:r>
            <a:endParaRPr lang="zh-CN" altLang="en-US" sz="2000"/>
          </a:p>
        </p:txBody>
      </p:sp>
      <p:cxnSp>
        <p:nvCxnSpPr>
          <p:cNvPr id="20494" name="直接连接符 26"/>
          <p:cNvCxnSpPr>
            <a:cxnSpLocks noChangeShapeType="1"/>
          </p:cNvCxnSpPr>
          <p:nvPr/>
        </p:nvCxnSpPr>
        <p:spPr bwMode="auto">
          <a:xfrm flipV="1">
            <a:off x="6929438" y="4071938"/>
            <a:ext cx="1571625" cy="1285875"/>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sp>
        <p:nvSpPr>
          <p:cNvPr id="20495" name="TextBox 28"/>
          <p:cNvSpPr txBox="1">
            <a:spLocks noChangeArrowheads="1"/>
          </p:cNvSpPr>
          <p:nvPr/>
        </p:nvSpPr>
        <p:spPr bwMode="auto">
          <a:xfrm>
            <a:off x="6705600" y="3357563"/>
            <a:ext cx="5095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i="1"/>
              <a:t>K</a:t>
            </a:r>
            <a:r>
              <a:rPr lang="en-US" altLang="zh-CN" baseline="-25000"/>
              <a:t>0</a:t>
            </a:r>
            <a:endParaRPr lang="zh-CN" altLang="en-US" baseline="-25000"/>
          </a:p>
        </p:txBody>
      </p:sp>
      <p:sp>
        <p:nvSpPr>
          <p:cNvPr id="20496" name="TextBox 29"/>
          <p:cNvSpPr txBox="1">
            <a:spLocks noChangeArrowheads="1"/>
          </p:cNvSpPr>
          <p:nvPr/>
        </p:nvSpPr>
        <p:spPr bwMode="auto">
          <a:xfrm>
            <a:off x="8031163" y="5861050"/>
            <a:ext cx="8175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i="1"/>
              <a:t>OCR</a:t>
            </a:r>
            <a:endParaRPr lang="zh-CN" altLang="en-US" i="1"/>
          </a:p>
        </p:txBody>
      </p:sp>
      <p:sp>
        <p:nvSpPr>
          <p:cNvPr id="20497" name="TextBox 31"/>
          <p:cNvSpPr txBox="1">
            <a:spLocks noChangeArrowheads="1"/>
          </p:cNvSpPr>
          <p:nvPr/>
        </p:nvSpPr>
        <p:spPr bwMode="auto">
          <a:xfrm>
            <a:off x="6781800" y="5600700"/>
            <a:ext cx="3127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1</a:t>
            </a:r>
            <a:endParaRPr lang="zh-CN" altLang="en-US" sz="2000"/>
          </a:p>
        </p:txBody>
      </p:sp>
      <p:sp>
        <p:nvSpPr>
          <p:cNvPr id="20498" name="TextBox 32"/>
          <p:cNvSpPr txBox="1">
            <a:spLocks noChangeArrowheads="1"/>
          </p:cNvSpPr>
          <p:nvPr/>
        </p:nvSpPr>
        <p:spPr bwMode="auto">
          <a:xfrm>
            <a:off x="7116763" y="5599113"/>
            <a:ext cx="3127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2</a:t>
            </a:r>
            <a:endParaRPr lang="zh-CN" altLang="en-US" sz="2000"/>
          </a:p>
        </p:txBody>
      </p:sp>
      <p:sp>
        <p:nvSpPr>
          <p:cNvPr id="20499" name="TextBox 33"/>
          <p:cNvSpPr txBox="1">
            <a:spLocks noChangeArrowheads="1"/>
          </p:cNvSpPr>
          <p:nvPr/>
        </p:nvSpPr>
        <p:spPr bwMode="auto">
          <a:xfrm>
            <a:off x="7429500" y="5603875"/>
            <a:ext cx="3127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3</a:t>
            </a:r>
            <a:endParaRPr lang="zh-CN" altLang="en-US" sz="2000"/>
          </a:p>
        </p:txBody>
      </p:sp>
      <p:sp>
        <p:nvSpPr>
          <p:cNvPr id="20500" name="TextBox 34"/>
          <p:cNvSpPr txBox="1">
            <a:spLocks noChangeArrowheads="1"/>
          </p:cNvSpPr>
          <p:nvPr/>
        </p:nvSpPr>
        <p:spPr bwMode="auto">
          <a:xfrm flipH="1">
            <a:off x="8643938" y="5600700"/>
            <a:ext cx="5000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32</a:t>
            </a:r>
            <a:endParaRPr lang="zh-CN" altLang="en-US" sz="2000"/>
          </a:p>
        </p:txBody>
      </p:sp>
      <p:sp>
        <p:nvSpPr>
          <p:cNvPr id="2" name="矩形 1"/>
          <p:cNvSpPr/>
          <p:nvPr/>
        </p:nvSpPr>
        <p:spPr>
          <a:xfrm>
            <a:off x="477838" y="1379538"/>
            <a:ext cx="8085137" cy="1200150"/>
          </a:xfrm>
          <a:prstGeom prst="rect">
            <a:avLst/>
          </a:prstGeom>
        </p:spPr>
        <p:txBody>
          <a:bodyPr>
            <a:spAutoFit/>
          </a:bodyPr>
          <a:lstStyle/>
          <a:p>
            <a:pPr marL="342900" indent="-342900" eaLnBrk="1" hangingPunct="1">
              <a:lnSpc>
                <a:spcPct val="150000"/>
              </a:lnSpc>
              <a:buFont typeface="Wingdings" panose="05000000000000000000" pitchFamily="2" charset="2"/>
              <a:buChar char="Ø"/>
              <a:defRPr/>
            </a:pPr>
            <a:r>
              <a:rPr lang="zh-CN" altLang="en-US" b="1" dirty="0">
                <a:ea typeface="+mn-ea"/>
                <a:cs typeface="Times New Roman" panose="02020603050405020304" pitchFamily="18" charset="0"/>
              </a:rPr>
              <a:t>对于侧限应力状态，理论上：</a:t>
            </a:r>
            <a:r>
              <a:rPr lang="en-US" altLang="zh-CN" b="1" i="1" dirty="0">
                <a:ea typeface="+mn-ea"/>
                <a:cs typeface="Times New Roman" panose="02020603050405020304" pitchFamily="18" charset="0"/>
              </a:rPr>
              <a:t>K</a:t>
            </a:r>
            <a:r>
              <a:rPr lang="en-US" altLang="zh-CN" b="1" i="1" baseline="-25000" dirty="0">
                <a:ea typeface="+mn-ea"/>
                <a:cs typeface="Times New Roman" panose="02020603050405020304" pitchFamily="18" charset="0"/>
              </a:rPr>
              <a:t>0</a:t>
            </a:r>
            <a:r>
              <a:rPr lang="en-US" altLang="zh-CN" b="1" i="1" dirty="0">
                <a:ea typeface="+mn-ea"/>
                <a:cs typeface="Times New Roman" panose="02020603050405020304" pitchFamily="18" charset="0"/>
              </a:rPr>
              <a:t>=ν/(1-ν)</a:t>
            </a:r>
            <a:r>
              <a:rPr lang="zh-CN" altLang="en-US" b="1" dirty="0">
                <a:ea typeface="+mn-ea"/>
                <a:cs typeface="Times New Roman" panose="02020603050405020304" pitchFamily="18" charset="0"/>
              </a:rPr>
              <a:t>；</a:t>
            </a:r>
            <a:endParaRPr lang="zh-CN" altLang="en-US" b="1" dirty="0">
              <a:ea typeface="+mn-ea"/>
              <a:cs typeface="Times New Roman" panose="02020603050405020304" pitchFamily="18" charset="0"/>
            </a:endParaRPr>
          </a:p>
          <a:p>
            <a:pPr marL="342900" indent="-342900" eaLnBrk="1" hangingPunct="1">
              <a:lnSpc>
                <a:spcPct val="150000"/>
              </a:lnSpc>
              <a:buFont typeface="Wingdings" panose="05000000000000000000" pitchFamily="2" charset="2"/>
              <a:buChar char="Ø"/>
              <a:defRPr/>
            </a:pPr>
            <a:r>
              <a:rPr kumimoji="0" lang="zh-CN" altLang="en-US" b="1" dirty="0">
                <a:ea typeface="+mn-ea"/>
                <a:cs typeface="Times New Roman" panose="02020603050405020304" pitchFamily="18" charset="0"/>
              </a:rPr>
              <a:t>由于土的 </a:t>
            </a:r>
            <a:r>
              <a:rPr kumimoji="0" lang="en-US" altLang="zh-CN" b="1" i="1" dirty="0">
                <a:ea typeface="+mn-ea"/>
                <a:cs typeface="Times New Roman" panose="02020603050405020304" pitchFamily="18" charset="0"/>
              </a:rPr>
              <a:t>ν</a:t>
            </a:r>
            <a:r>
              <a:rPr kumimoji="0" lang="en-US" altLang="zh-CN" b="1" dirty="0">
                <a:ea typeface="+mn-ea"/>
                <a:cs typeface="Times New Roman" panose="02020603050405020304" pitchFamily="18" charset="0"/>
              </a:rPr>
              <a:t> </a:t>
            </a:r>
            <a:r>
              <a:rPr kumimoji="0" lang="zh-CN" altLang="en-US" b="1" dirty="0">
                <a:ea typeface="+mn-ea"/>
                <a:cs typeface="Times New Roman" panose="02020603050405020304" pitchFamily="18" charset="0"/>
              </a:rPr>
              <a:t>很难确定，</a:t>
            </a:r>
            <a:r>
              <a:rPr kumimoji="0" lang="en-US" altLang="zh-CN" b="1" i="1" dirty="0">
                <a:ea typeface="+mn-ea"/>
                <a:cs typeface="Times New Roman" panose="02020603050405020304" pitchFamily="18" charset="0"/>
              </a:rPr>
              <a:t>K</a:t>
            </a:r>
            <a:r>
              <a:rPr kumimoji="0" lang="en-US" altLang="zh-CN" b="1" i="1" baseline="-25000" dirty="0">
                <a:ea typeface="+mn-ea"/>
                <a:cs typeface="Times New Roman" panose="02020603050405020304" pitchFamily="18" charset="0"/>
              </a:rPr>
              <a:t>0</a:t>
            </a:r>
            <a:r>
              <a:rPr kumimoji="0" lang="en-US" altLang="zh-CN" b="1" i="1" dirty="0">
                <a:ea typeface="+mn-ea"/>
                <a:cs typeface="Times New Roman" panose="02020603050405020304" pitchFamily="18" charset="0"/>
              </a:rPr>
              <a:t> </a:t>
            </a:r>
            <a:r>
              <a:rPr kumimoji="0" lang="zh-CN" altLang="en-US" b="1" dirty="0">
                <a:ea typeface="+mn-ea"/>
                <a:cs typeface="Times New Roman" panose="02020603050405020304" pitchFamily="18" charset="0"/>
              </a:rPr>
              <a:t>常用经验公式计算：</a:t>
            </a:r>
            <a:endParaRPr lang="zh-CN" altLang="en-US" b="1" i="1" baseline="-25000" dirty="0">
              <a:ea typeface="+mn-ea"/>
              <a:cs typeface="Times New Roman" panose="02020603050405020304" pitchFamily="18" charset="0"/>
            </a:endParaRPr>
          </a:p>
        </p:txBody>
      </p:sp>
      <p:sp>
        <p:nvSpPr>
          <p:cNvPr id="3" name="文本框 2"/>
          <p:cNvSpPr txBox="1">
            <a:spLocks noRot="1" noChangeAspect="1" noMove="1" noResize="1" noEditPoints="1" noAdjustHandles="1" noChangeArrowheads="1" noChangeShapeType="1" noTextEdit="1"/>
          </p:cNvSpPr>
          <p:nvPr/>
        </p:nvSpPr>
        <p:spPr>
          <a:xfrm>
            <a:off x="2195736" y="3465508"/>
            <a:ext cx="2105769" cy="369332"/>
          </a:xfrm>
          <a:prstGeom prst="rect">
            <a:avLst/>
          </a:prstGeom>
          <a:blipFill>
            <a:blip r:embed="rId1"/>
            <a:stretch>
              <a:fillRect l="-2601" b="-26230"/>
            </a:stretch>
          </a:blipFill>
        </p:spPr>
        <p:txBody>
          <a:bodyPr/>
          <a:lstStyle/>
          <a:p>
            <a:pPr>
              <a:defRPr/>
            </a:pPr>
            <a:r>
              <a:rPr lang="zh-CN" altLang="en-US">
                <a:noFill/>
              </a:rPr>
              <a:t> </a:t>
            </a:r>
            <a:endParaRPr lang="zh-CN" altLang="en-US">
              <a:noFill/>
            </a:endParaRPr>
          </a:p>
        </p:txBody>
      </p:sp>
      <p:sp>
        <p:nvSpPr>
          <p:cNvPr id="23" name="Rectangle 6"/>
          <p:cNvSpPr>
            <a:spLocks noChangeArrowheads="1"/>
          </p:cNvSpPr>
          <p:nvPr/>
        </p:nvSpPr>
        <p:spPr bwMode="auto">
          <a:xfrm>
            <a:off x="0" y="-317"/>
            <a:ext cx="39243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§6.2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挡土墙侧的土压力</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619250" y="620713"/>
            <a:ext cx="5232400" cy="911225"/>
          </a:xfrm>
          <a:prstGeom prst="rect">
            <a:avLst/>
          </a:prstGeom>
          <a:solidFill>
            <a:schemeClr val="bg1"/>
          </a:solidFill>
        </p:spPr>
        <p:txBody>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5pPr>
            <a:lvl6pPr marL="457200" algn="l" rtl="0" eaLnBrk="1" fontAlgn="base" hangingPunct="1">
              <a:spcBef>
                <a:spcPct val="0"/>
              </a:spcBef>
              <a:spcAft>
                <a:spcPct val="0"/>
              </a:spcAft>
              <a:defRPr sz="4200">
                <a:solidFill>
                  <a:schemeClr val="tx2"/>
                </a:solidFill>
                <a:latin typeface="Garamond" panose="02020404030301010803" pitchFamily="18" charset="0"/>
                <a:ea typeface="宋体" panose="02010600030101010101" pitchFamily="2" charset="-122"/>
              </a:defRPr>
            </a:lvl6pPr>
            <a:lvl7pPr marL="914400" algn="l" rtl="0" eaLnBrk="1" fontAlgn="base" hangingPunct="1">
              <a:spcBef>
                <a:spcPct val="0"/>
              </a:spcBef>
              <a:spcAft>
                <a:spcPct val="0"/>
              </a:spcAft>
              <a:defRPr sz="4200">
                <a:solidFill>
                  <a:schemeClr val="tx2"/>
                </a:solidFill>
                <a:latin typeface="Garamond" panose="02020404030301010803" pitchFamily="18" charset="0"/>
                <a:ea typeface="宋体" panose="02010600030101010101" pitchFamily="2" charset="-122"/>
              </a:defRPr>
            </a:lvl7pPr>
            <a:lvl8pPr marL="1371600" algn="l" rtl="0" eaLnBrk="1" fontAlgn="base" hangingPunct="1">
              <a:spcBef>
                <a:spcPct val="0"/>
              </a:spcBef>
              <a:spcAft>
                <a:spcPct val="0"/>
              </a:spcAft>
              <a:defRPr sz="4200">
                <a:solidFill>
                  <a:schemeClr val="tx2"/>
                </a:solidFill>
                <a:latin typeface="Garamond" panose="02020404030301010803" pitchFamily="18" charset="0"/>
                <a:ea typeface="宋体" panose="02010600030101010101" pitchFamily="2" charset="-122"/>
              </a:defRPr>
            </a:lvl8pPr>
            <a:lvl9pPr marL="1828800" algn="l" rtl="0" eaLnBrk="1" fontAlgn="base" hangingPunct="1">
              <a:spcBef>
                <a:spcPct val="0"/>
              </a:spcBef>
              <a:spcAft>
                <a:spcPct val="0"/>
              </a:spcAft>
              <a:defRPr sz="4200">
                <a:solidFill>
                  <a:schemeClr val="tx2"/>
                </a:solidFill>
                <a:latin typeface="Garamond" panose="02020404030301010803" pitchFamily="18" charset="0"/>
                <a:ea typeface="宋体" panose="02010600030101010101" pitchFamily="2" charset="-122"/>
              </a:defRPr>
            </a:lvl9pPr>
          </a:lstStyle>
          <a:p>
            <a:pPr eaLnBrk="1" hangingPunct="1">
              <a:defRPr/>
            </a:pPr>
            <a:r>
              <a:rPr kumimoji="0" lang="zh-CN" altLang="en-US" sz="5400" b="1" kern="0" dirty="0" smtClean="0">
                <a:solidFill>
                  <a:srgbClr val="FF0000"/>
                </a:solidFill>
                <a:latin typeface="+mj-ea"/>
              </a:rPr>
              <a:t>第六章  土压力</a:t>
            </a:r>
            <a:endParaRPr kumimoji="0" lang="zh-CN" altLang="en-US" sz="5400" b="1" kern="0" dirty="0" smtClean="0">
              <a:solidFill>
                <a:srgbClr val="FF0000"/>
              </a:solidFill>
              <a:latin typeface="+mj-ea"/>
            </a:endParaRPr>
          </a:p>
        </p:txBody>
      </p:sp>
      <p:sp>
        <p:nvSpPr>
          <p:cNvPr id="3" name="矩形 2"/>
          <p:cNvSpPr/>
          <p:nvPr/>
        </p:nvSpPr>
        <p:spPr>
          <a:xfrm>
            <a:off x="1331913" y="1844675"/>
            <a:ext cx="6697662" cy="3784600"/>
          </a:xfrm>
          <a:prstGeom prst="rect">
            <a:avLst/>
          </a:prstGeom>
        </p:spPr>
        <p:txBody>
          <a:bodyPr wrap="square">
            <a:spAutoFit/>
          </a:bodyPr>
          <a:lstStyle/>
          <a:p>
            <a:pPr eaLnBrk="1" hangingPunct="1">
              <a:lnSpc>
                <a:spcPct val="150000"/>
              </a:lnSpc>
              <a:defRPr/>
            </a:pPr>
            <a:r>
              <a:rPr lang="en-US" altLang="zh-CN" sz="3200" dirty="0">
                <a:solidFill>
                  <a:schemeClr val="bg1"/>
                </a:solidFill>
                <a:latin typeface="Times New Roman" panose="02020603050405020304" pitchFamily="18" charset="0"/>
                <a:ea typeface="+mj-ea"/>
                <a:cs typeface="Times New Roman" panose="02020603050405020304" pitchFamily="18" charset="0"/>
              </a:rPr>
              <a:t>§ 6</a:t>
            </a:r>
            <a:r>
              <a:rPr lang="en-US" altLang="zh-CN" sz="3200" b="1" dirty="0">
                <a:solidFill>
                  <a:schemeClr val="bg1"/>
                </a:solidFill>
                <a:latin typeface="Times New Roman" panose="02020603050405020304" pitchFamily="18" charset="0"/>
                <a:ea typeface="+mj-ea"/>
                <a:cs typeface="Times New Roman" panose="02020603050405020304" pitchFamily="18" charset="0"/>
              </a:rPr>
              <a:t>.1 </a:t>
            </a:r>
            <a:r>
              <a:rPr lang="zh-CN" altLang="en-US" sz="3200" b="1" dirty="0">
                <a:solidFill>
                  <a:schemeClr val="bg1"/>
                </a:solidFill>
                <a:latin typeface="Times New Roman" panose="02020603050405020304" pitchFamily="18" charset="0"/>
                <a:ea typeface="+mj-ea"/>
                <a:cs typeface="Times New Roman" panose="02020603050405020304" pitchFamily="18" charset="0"/>
              </a:rPr>
              <a:t>概述</a:t>
            </a:r>
            <a:endParaRPr lang="zh-CN" altLang="en-US" sz="3200" b="1" dirty="0">
              <a:solidFill>
                <a:schemeClr val="bg1"/>
              </a:solidFill>
              <a:latin typeface="Times New Roman" panose="02020603050405020304" pitchFamily="18" charset="0"/>
              <a:ea typeface="+mj-ea"/>
              <a:cs typeface="Times New Roman" panose="02020603050405020304" pitchFamily="18" charset="0"/>
            </a:endParaRPr>
          </a:p>
          <a:p>
            <a:pPr eaLnBrk="1" hangingPunct="1">
              <a:lnSpc>
                <a:spcPct val="150000"/>
              </a:lnSpc>
              <a:defRPr/>
            </a:pPr>
            <a:r>
              <a:rPr lang="en-US" altLang="zh-CN" sz="3200" dirty="0">
                <a:solidFill>
                  <a:schemeClr val="bg1"/>
                </a:solidFill>
                <a:latin typeface="Times New Roman" panose="02020603050405020304" pitchFamily="18" charset="0"/>
                <a:ea typeface="+mj-ea"/>
                <a:cs typeface="Times New Roman" panose="02020603050405020304" pitchFamily="18" charset="0"/>
              </a:rPr>
              <a:t>§ 6</a:t>
            </a:r>
            <a:r>
              <a:rPr lang="en-US" altLang="zh-CN" sz="3200" b="1" dirty="0">
                <a:solidFill>
                  <a:schemeClr val="bg1"/>
                </a:solidFill>
                <a:latin typeface="Times New Roman" panose="02020603050405020304" pitchFamily="18" charset="0"/>
                <a:ea typeface="+mj-ea"/>
                <a:cs typeface="Times New Roman" panose="02020603050405020304" pitchFamily="18" charset="0"/>
              </a:rPr>
              <a:t>.2 </a:t>
            </a:r>
            <a:r>
              <a:rPr lang="zh-CN" altLang="en-US" sz="3200" b="1" dirty="0">
                <a:solidFill>
                  <a:schemeClr val="bg1"/>
                </a:solidFill>
                <a:latin typeface="Times New Roman" panose="02020603050405020304" pitchFamily="18" charset="0"/>
                <a:ea typeface="+mj-ea"/>
                <a:cs typeface="Times New Roman" panose="02020603050405020304" pitchFamily="18" charset="0"/>
              </a:rPr>
              <a:t>挡土墙侧的土压力</a:t>
            </a:r>
            <a:endParaRPr lang="zh-CN" altLang="en-US" sz="3200" b="1" dirty="0">
              <a:solidFill>
                <a:schemeClr val="bg1"/>
              </a:solidFill>
              <a:latin typeface="Times New Roman" panose="02020603050405020304" pitchFamily="18" charset="0"/>
              <a:ea typeface="+mj-ea"/>
              <a:cs typeface="Times New Roman" panose="02020603050405020304" pitchFamily="18" charset="0"/>
            </a:endParaRPr>
          </a:p>
          <a:p>
            <a:pPr eaLnBrk="1" hangingPunct="1">
              <a:lnSpc>
                <a:spcPct val="150000"/>
              </a:lnSpc>
              <a:defRPr/>
            </a:pPr>
            <a:r>
              <a:rPr lang="en-US" altLang="zh-CN" sz="3200" dirty="0">
                <a:latin typeface="Times New Roman" panose="02020603050405020304" pitchFamily="18" charset="0"/>
                <a:ea typeface="+mj-ea"/>
                <a:cs typeface="Times New Roman" panose="02020603050405020304" pitchFamily="18" charset="0"/>
              </a:rPr>
              <a:t>§ 6</a:t>
            </a:r>
            <a:r>
              <a:rPr lang="en-US" altLang="zh-CN" sz="3200" b="1" dirty="0">
                <a:latin typeface="Times New Roman" panose="02020603050405020304" pitchFamily="18" charset="0"/>
                <a:ea typeface="+mj-ea"/>
                <a:cs typeface="Times New Roman" panose="02020603050405020304" pitchFamily="18" charset="0"/>
              </a:rPr>
              <a:t>.3 </a:t>
            </a:r>
            <a:r>
              <a:rPr lang="zh-CN" altLang="en-US" sz="3200" b="1" dirty="0">
                <a:latin typeface="Times New Roman" panose="02020603050405020304" pitchFamily="18" charset="0"/>
                <a:ea typeface="+mj-ea"/>
                <a:cs typeface="Times New Roman" panose="02020603050405020304" pitchFamily="18" charset="0"/>
              </a:rPr>
              <a:t>朗肯土压力理论</a:t>
            </a:r>
            <a:endParaRPr lang="zh-CN" altLang="en-US" sz="3200" b="1" dirty="0">
              <a:latin typeface="Times New Roman" panose="02020603050405020304" pitchFamily="18" charset="0"/>
              <a:ea typeface="+mj-ea"/>
              <a:cs typeface="Times New Roman" panose="02020603050405020304" pitchFamily="18" charset="0"/>
            </a:endParaRPr>
          </a:p>
          <a:p>
            <a:pPr eaLnBrk="1" hangingPunct="1">
              <a:lnSpc>
                <a:spcPct val="150000"/>
              </a:lnSpc>
              <a:defRPr/>
            </a:pPr>
            <a:r>
              <a:rPr lang="en-US" altLang="zh-CN" sz="3200" dirty="0">
                <a:solidFill>
                  <a:schemeClr val="bg1"/>
                </a:solidFill>
                <a:latin typeface="Times New Roman" panose="02020603050405020304" pitchFamily="18" charset="0"/>
                <a:ea typeface="+mj-ea"/>
                <a:cs typeface="Times New Roman" panose="02020603050405020304" pitchFamily="18" charset="0"/>
              </a:rPr>
              <a:t>§ 6</a:t>
            </a:r>
            <a:r>
              <a:rPr lang="en-US" altLang="zh-CN" sz="3200" b="1" dirty="0">
                <a:solidFill>
                  <a:schemeClr val="bg1"/>
                </a:solidFill>
                <a:latin typeface="Times New Roman" panose="02020603050405020304" pitchFamily="18" charset="0"/>
                <a:ea typeface="+mj-ea"/>
                <a:cs typeface="Times New Roman" panose="02020603050405020304" pitchFamily="18" charset="0"/>
              </a:rPr>
              <a:t>.4 </a:t>
            </a:r>
            <a:r>
              <a:rPr lang="zh-CN" altLang="en-US" sz="3200" b="1" dirty="0">
                <a:solidFill>
                  <a:schemeClr val="bg1"/>
                </a:solidFill>
                <a:latin typeface="Times New Roman" panose="02020603050405020304" pitchFamily="18" charset="0"/>
                <a:ea typeface="+mj-ea"/>
                <a:cs typeface="Times New Roman" panose="02020603050405020304" pitchFamily="18" charset="0"/>
              </a:rPr>
              <a:t>库仑土压力理论</a:t>
            </a:r>
            <a:endParaRPr lang="zh-CN" altLang="en-US" sz="3200" b="1" dirty="0">
              <a:solidFill>
                <a:schemeClr val="bg1"/>
              </a:solidFill>
              <a:latin typeface="Times New Roman" panose="02020603050405020304" pitchFamily="18" charset="0"/>
              <a:ea typeface="+mj-ea"/>
              <a:cs typeface="Times New Roman" panose="02020603050405020304" pitchFamily="18" charset="0"/>
            </a:endParaRPr>
          </a:p>
          <a:p>
            <a:pPr eaLnBrk="1" hangingPunct="1">
              <a:lnSpc>
                <a:spcPct val="150000"/>
              </a:lnSpc>
              <a:defRPr/>
            </a:pPr>
            <a:r>
              <a:rPr lang="en-US" altLang="zh-CN" sz="3200" dirty="0">
                <a:solidFill>
                  <a:schemeClr val="bg1"/>
                </a:solidFill>
                <a:latin typeface="Times New Roman" panose="02020603050405020304" pitchFamily="18" charset="0"/>
                <a:ea typeface="+mj-ea"/>
                <a:cs typeface="Times New Roman" panose="02020603050405020304" pitchFamily="18" charset="0"/>
              </a:rPr>
              <a:t>§ 6</a:t>
            </a:r>
            <a:r>
              <a:rPr lang="en-US" altLang="zh-CN" sz="3200" b="1" dirty="0">
                <a:solidFill>
                  <a:schemeClr val="bg1"/>
                </a:solidFill>
                <a:latin typeface="Times New Roman" panose="02020603050405020304" pitchFamily="18" charset="0"/>
                <a:ea typeface="+mj-ea"/>
                <a:cs typeface="Times New Roman" panose="02020603050405020304" pitchFamily="18" charset="0"/>
              </a:rPr>
              <a:t>.5 </a:t>
            </a:r>
            <a:r>
              <a:rPr lang="zh-CN" altLang="en-US" sz="3200" b="1" dirty="0">
                <a:solidFill>
                  <a:schemeClr val="bg1"/>
                </a:solidFill>
                <a:latin typeface="Times New Roman" panose="02020603050405020304" pitchFamily="18" charset="0"/>
                <a:ea typeface="+mj-ea"/>
                <a:cs typeface="Times New Roman" panose="02020603050405020304" pitchFamily="18" charset="0"/>
              </a:rPr>
              <a:t>朗肯理论与库仑理论的比较</a:t>
            </a:r>
            <a:endParaRPr lang="zh-CN" altLang="en-US" sz="3200" b="1" dirty="0">
              <a:solidFill>
                <a:schemeClr val="bg1"/>
              </a:solidFill>
              <a:latin typeface="Times New Roman" panose="02020603050405020304" pitchFamily="18" charset="0"/>
              <a:ea typeface="+mj-ea"/>
              <a:cs typeface="Times New Roman" panose="02020603050405020304" pitchFamily="18" charset="0"/>
            </a:endParaRPr>
          </a:p>
        </p:txBody>
      </p:sp>
      <p:sp>
        <p:nvSpPr>
          <p:cNvPr id="21508" name="文本框 3"/>
          <p:cNvSpPr txBox="1">
            <a:spLocks noChangeArrowheads="1"/>
          </p:cNvSpPr>
          <p:nvPr/>
        </p:nvSpPr>
        <p:spPr bwMode="auto">
          <a:xfrm>
            <a:off x="4356100" y="4221163"/>
            <a:ext cx="3673475" cy="2328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50000"/>
              </a:lnSpc>
              <a:defRPr/>
            </a:pPr>
            <a:r>
              <a:rPr lang="en-US" altLang="zh-CN" sz="2000" b="1" dirty="0" smtClean="0">
                <a:latin typeface="+mn-ea"/>
                <a:ea typeface="+mn-ea"/>
              </a:rPr>
              <a:t>1.</a:t>
            </a:r>
            <a:r>
              <a:rPr lang="zh-CN" altLang="en-US" sz="2000" b="1" dirty="0" smtClean="0">
                <a:latin typeface="+mn-ea"/>
                <a:ea typeface="+mn-ea"/>
              </a:rPr>
              <a:t>基本假定</a:t>
            </a:r>
            <a:endParaRPr lang="en-US" altLang="zh-CN" sz="2000" b="1" dirty="0" smtClean="0">
              <a:latin typeface="+mn-ea"/>
              <a:ea typeface="+mn-ea"/>
            </a:endParaRPr>
          </a:p>
          <a:p>
            <a:pPr>
              <a:lnSpc>
                <a:spcPct val="150000"/>
              </a:lnSpc>
              <a:defRPr/>
            </a:pPr>
            <a:r>
              <a:rPr lang="en-US" altLang="zh-CN" sz="2000" b="1" dirty="0" smtClean="0">
                <a:latin typeface="+mn-ea"/>
                <a:ea typeface="+mn-ea"/>
              </a:rPr>
              <a:t>2.</a:t>
            </a:r>
            <a:r>
              <a:rPr lang="zh-CN" altLang="en-US" sz="2000" b="1" dirty="0" smtClean="0">
                <a:latin typeface="+mn-ea"/>
                <a:ea typeface="+mn-ea"/>
              </a:rPr>
              <a:t>主动土压力</a:t>
            </a:r>
            <a:endParaRPr lang="en-US" altLang="zh-CN" sz="2000" b="1" dirty="0" smtClean="0">
              <a:latin typeface="+mn-ea"/>
              <a:ea typeface="+mn-ea"/>
            </a:endParaRPr>
          </a:p>
          <a:p>
            <a:pPr>
              <a:lnSpc>
                <a:spcPct val="150000"/>
              </a:lnSpc>
              <a:defRPr/>
            </a:pPr>
            <a:r>
              <a:rPr lang="en-US" altLang="zh-CN" sz="2000" b="1" dirty="0" smtClean="0">
                <a:latin typeface="+mn-ea"/>
                <a:ea typeface="+mn-ea"/>
              </a:rPr>
              <a:t>3.</a:t>
            </a:r>
            <a:r>
              <a:rPr lang="zh-CN" altLang="en-US" sz="2000" b="1" dirty="0" smtClean="0">
                <a:latin typeface="+mn-ea"/>
                <a:ea typeface="+mn-ea"/>
              </a:rPr>
              <a:t>被动土压力</a:t>
            </a:r>
            <a:endParaRPr lang="en-US" altLang="zh-CN" sz="2000" b="1" dirty="0" smtClean="0">
              <a:latin typeface="+mn-ea"/>
              <a:ea typeface="+mn-ea"/>
            </a:endParaRPr>
          </a:p>
          <a:p>
            <a:pPr>
              <a:lnSpc>
                <a:spcPct val="150000"/>
              </a:lnSpc>
              <a:defRPr/>
            </a:pPr>
            <a:r>
              <a:rPr lang="en-US" altLang="zh-CN" sz="2000" b="1" dirty="0" smtClean="0">
                <a:latin typeface="+mn-ea"/>
                <a:ea typeface="+mn-ea"/>
              </a:rPr>
              <a:t>4.</a:t>
            </a:r>
            <a:r>
              <a:rPr lang="zh-CN" altLang="en-US" sz="2000" b="1" dirty="0" smtClean="0">
                <a:latin typeface="+mn-ea"/>
                <a:ea typeface="+mn-ea"/>
              </a:rPr>
              <a:t>有超载时的土压力</a:t>
            </a:r>
            <a:endParaRPr lang="en-US" altLang="zh-CN" sz="2000" b="1" dirty="0" smtClean="0">
              <a:latin typeface="+mn-ea"/>
              <a:ea typeface="+mn-ea"/>
            </a:endParaRPr>
          </a:p>
          <a:p>
            <a:pPr>
              <a:lnSpc>
                <a:spcPct val="150000"/>
              </a:lnSpc>
              <a:defRPr/>
            </a:pPr>
            <a:r>
              <a:rPr lang="en-US" altLang="zh-CN" sz="2000" b="1" dirty="0" smtClean="0">
                <a:latin typeface="+mn-ea"/>
                <a:ea typeface="+mn-ea"/>
              </a:rPr>
              <a:t>5.</a:t>
            </a:r>
            <a:r>
              <a:rPr lang="zh-CN" altLang="en-US" sz="2000" b="1" dirty="0" smtClean="0">
                <a:latin typeface="+mn-ea"/>
                <a:ea typeface="+mn-ea"/>
              </a:rPr>
              <a:t>非均质填土时的土压力</a:t>
            </a:r>
            <a:endParaRPr lang="zh-CN" altLang="en-US" sz="2000" b="1" dirty="0" smtClean="0">
              <a:latin typeface="+mn-ea"/>
              <a:ea typeface="+mn-ea"/>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3"/>
          <p:cNvSpPr>
            <a:spLocks noGrp="1" noChangeArrowheads="1"/>
          </p:cNvSpPr>
          <p:nvPr>
            <p:ph type="body" sz="half" idx="4294967295"/>
          </p:nvPr>
        </p:nvSpPr>
        <p:spPr>
          <a:xfrm>
            <a:off x="250825" y="836613"/>
            <a:ext cx="8497888" cy="1223962"/>
          </a:xfrm>
        </p:spPr>
        <p:txBody>
          <a:bodyPr/>
          <a:lstStyle/>
          <a:p>
            <a:pPr eaLnBrk="1" hangingPunct="1">
              <a:lnSpc>
                <a:spcPct val="150000"/>
              </a:lnSpc>
              <a:buFont typeface="Wingdings" panose="05000000000000000000" pitchFamily="2" charset="2"/>
              <a:buChar char="Ø"/>
            </a:pPr>
            <a:r>
              <a:rPr lang="zh-CN" altLang="en-US" sz="2400" b="1" smtClean="0">
                <a:latin typeface="Times New Roman" panose="02020603050405020304" pitchFamily="18" charset="0"/>
                <a:cs typeface="Times New Roman" panose="02020603050405020304" pitchFamily="18" charset="0"/>
              </a:rPr>
              <a:t>古典</a:t>
            </a:r>
            <a:r>
              <a:rPr lang="en-US" altLang="zh-CN" sz="2400" b="1" smtClean="0">
                <a:latin typeface="Times New Roman" panose="02020603050405020304" pitchFamily="18" charset="0"/>
                <a:cs typeface="Times New Roman" panose="02020603050405020304" pitchFamily="18" charset="0"/>
              </a:rPr>
              <a:t>W.J.M.</a:t>
            </a:r>
            <a:r>
              <a:rPr lang="zh-CN" altLang="en-US" sz="2400" b="1" smtClean="0">
                <a:latin typeface="Times New Roman" panose="02020603050405020304" pitchFamily="18" charset="0"/>
                <a:cs typeface="Times New Roman" panose="02020603050405020304" pitchFamily="18" charset="0"/>
              </a:rPr>
              <a:t>朗肯（</a:t>
            </a:r>
            <a:r>
              <a:rPr lang="en-US" altLang="zh-CN" sz="2400" b="1" smtClean="0">
                <a:latin typeface="Times New Roman" panose="02020603050405020304" pitchFamily="18" charset="0"/>
                <a:cs typeface="Times New Roman" panose="02020603050405020304" pitchFamily="18" charset="0"/>
              </a:rPr>
              <a:t>Rankine</a:t>
            </a:r>
            <a:r>
              <a:rPr lang="zh-CN" altLang="en-US"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rPr>
              <a:t>1857</a:t>
            </a:r>
            <a:r>
              <a:rPr lang="zh-CN" altLang="en-US" sz="2400" b="1" smtClean="0">
                <a:latin typeface="Times New Roman" panose="02020603050405020304" pitchFamily="18" charset="0"/>
                <a:cs typeface="Times New Roman" panose="02020603050405020304" pitchFamily="18" charset="0"/>
              </a:rPr>
              <a:t>）土压力理论是根据半空间的应力状态和土的极限平衡条件而得出的土压力计算方法。</a:t>
            </a:r>
            <a:endParaRPr lang="zh-CN" altLang="en-US" sz="2400" b="1" smtClean="0">
              <a:latin typeface="Times New Roman" panose="02020603050405020304" pitchFamily="18" charset="0"/>
              <a:cs typeface="Times New Roman" panose="02020603050405020304" pitchFamily="18" charset="0"/>
            </a:endParaRPr>
          </a:p>
        </p:txBody>
      </p:sp>
      <p:pic>
        <p:nvPicPr>
          <p:cNvPr id="22531" name="Picture 4" descr="ty12"/>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1187450" y="2060575"/>
            <a:ext cx="7346950" cy="4749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2532" name="文本框 2"/>
          <p:cNvSpPr txBox="1">
            <a:spLocks noChangeArrowheads="1"/>
          </p:cNvSpPr>
          <p:nvPr/>
        </p:nvSpPr>
        <p:spPr bwMode="auto">
          <a:xfrm>
            <a:off x="3563938" y="5610225"/>
            <a:ext cx="504825" cy="3397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600"/>
              <a:t>8-5</a:t>
            </a:r>
            <a:endParaRPr lang="zh-CN" altLang="en-US" sz="1600"/>
          </a:p>
        </p:txBody>
      </p:sp>
      <p:sp>
        <p:nvSpPr>
          <p:cNvPr id="7" name="Text Box 2"/>
          <p:cNvSpPr txBox="1">
            <a:spLocks noChangeArrowheads="1"/>
          </p:cNvSpPr>
          <p:nvPr/>
        </p:nvSpPr>
        <p:spPr bwMode="auto">
          <a:xfrm>
            <a:off x="3830638" y="466725"/>
            <a:ext cx="1433512" cy="369888"/>
          </a:xfrm>
          <a:prstGeom prst="rect">
            <a:avLst/>
          </a:prstGeom>
          <a:solidFill>
            <a:srgbClr val="FFC000"/>
          </a:solidFill>
          <a:ln>
            <a:noFill/>
          </a:ln>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b="1" dirty="0" smtClean="0">
                <a:latin typeface="+mn-ea"/>
                <a:ea typeface="+mn-ea"/>
              </a:rPr>
              <a:t>基本假定</a:t>
            </a:r>
            <a:endParaRPr kumimoji="0" lang="zh-CN" altLang="en-US" b="1" dirty="0" smtClean="0">
              <a:latin typeface="+mn-ea"/>
              <a:ea typeface="+mn-ea"/>
            </a:endParaRPr>
          </a:p>
        </p:txBody>
      </p:sp>
      <p:sp>
        <p:nvSpPr>
          <p:cNvPr id="8" name="Rectangle 6"/>
          <p:cNvSpPr>
            <a:spLocks noChangeArrowheads="1"/>
          </p:cNvSpPr>
          <p:nvPr/>
        </p:nvSpPr>
        <p:spPr bwMode="auto">
          <a:xfrm>
            <a:off x="-3175" y="-9842"/>
            <a:ext cx="3617913"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朗肯土压力理论</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4" presetClass="entr" presetSubtype="0" fill="hold" nodeType="clickEffect">
                                  <p:stCondLst>
                                    <p:cond delay="0"/>
                                  </p:stCondLst>
                                  <p:childTnLst>
                                    <p:set>
                                      <p:cBhvr>
                                        <p:cTn id="6" dur="indefinite" fill="hold">
                                          <p:stCondLst>
                                            <p:cond delay="0"/>
                                          </p:stCondLst>
                                        </p:cTn>
                                        <p:tgtEl>
                                          <p:spTgt spid="22531"/>
                                        </p:tgtEl>
                                        <p:attrNameLst>
                                          <p:attrName>style.visibility</p:attrName>
                                        </p:attrNameLst>
                                      </p:cBhvr>
                                      <p:to>
                                        <p:strVal val="visible"/>
                                      </p:to>
                                    </p:set>
                                    <p:animEffect transition="in" filter="fade">
                                      <p:cBhvr>
                                        <p:cTn id="7" dur="500"/>
                                        <p:tgtEl>
                                          <p:spTgt spid="22531"/>
                                        </p:tgtEl>
                                      </p:cBhvr>
                                    </p:animEffect>
                                    <p:anim calcmode="lin" valueType="num">
                                      <p:cBhvr>
                                        <p:cTn id="8" dur="500" fill="hold"/>
                                        <p:tgtEl>
                                          <p:spTgt spid="22531"/>
                                        </p:tgtEl>
                                        <p:attrNameLst>
                                          <p:attrName>ppt_x</p:attrName>
                                        </p:attrNameLst>
                                      </p:cBhvr>
                                      <p:tavLst>
                                        <p:tav tm="0">
                                          <p:val>
                                            <p:strVal val="#ppt_x"/>
                                          </p:val>
                                        </p:tav>
                                        <p:tav tm="100000">
                                          <p:val>
                                            <p:strVal val="#ppt_x"/>
                                          </p:val>
                                        </p:tav>
                                      </p:tavLst>
                                    </p:anim>
                                    <p:anim calcmode="lin" valueType="num">
                                      <p:cBhvr>
                                        <p:cTn id="9" dur="500" fill="hold"/>
                                        <p:tgtEl>
                                          <p:spTgt spid="22531"/>
                                        </p:tgtEl>
                                        <p:attrNameLst>
                                          <p:attrName>ppt_y</p:attrName>
                                        </p:attrNameLst>
                                      </p:cBhvr>
                                      <p:tavLst>
                                        <p:tav tm="0">
                                          <p:val>
                                            <p:strVal val="#ppt_y+.05"/>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4" presetClass="entr" presetSubtype="0" fill="hold" grpId="0" nodeType="clickEffect">
                                  <p:stCondLst>
                                    <p:cond delay="0"/>
                                  </p:stCondLst>
                                  <p:childTnLst>
                                    <p:set>
                                      <p:cBhvr>
                                        <p:cTn id="13" dur="indefinite" fill="hold">
                                          <p:stCondLst>
                                            <p:cond delay="0"/>
                                          </p:stCondLst>
                                        </p:cTn>
                                        <p:tgtEl>
                                          <p:spTgt spid="22530">
                                            <p:txEl>
                                              <p:pRg st="0" end="0"/>
                                            </p:txEl>
                                          </p:spTgt>
                                        </p:tgtEl>
                                        <p:attrNameLst>
                                          <p:attrName>style.visibility</p:attrName>
                                        </p:attrNameLst>
                                      </p:cBhvr>
                                      <p:to>
                                        <p:strVal val="visible"/>
                                      </p:to>
                                    </p:set>
                                    <p:animEffect transition="in" filter="fade">
                                      <p:cBhvr>
                                        <p:cTn id="14" dur="500"/>
                                        <p:tgtEl>
                                          <p:spTgt spid="22530">
                                            <p:txEl>
                                              <p:pRg st="0" end="0"/>
                                            </p:txEl>
                                          </p:spTgt>
                                        </p:tgtEl>
                                      </p:cBhvr>
                                    </p:animEffect>
                                    <p:anim calcmode="lin" valueType="num">
                                      <p:cBhvr>
                                        <p:cTn id="15" dur="500" fill="hold"/>
                                        <p:tgtEl>
                                          <p:spTgt spid="22530">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22530">
                                            <p:txEl>
                                              <p:pRg st="0" end="0"/>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61" name="Rectangle 61"/>
          <p:cNvSpPr>
            <a:spLocks noChangeArrowheads="1"/>
          </p:cNvSpPr>
          <p:nvPr/>
        </p:nvSpPr>
        <p:spPr bwMode="auto">
          <a:xfrm>
            <a:off x="609600" y="3429000"/>
            <a:ext cx="1219200" cy="2209800"/>
          </a:xfrm>
          <a:prstGeom prst="rect">
            <a:avLst/>
          </a:prstGeom>
          <a:solidFill>
            <a:srgbClr val="FFE36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25662" name="Rectangle 62"/>
          <p:cNvSpPr>
            <a:spLocks noChangeArrowheads="1"/>
          </p:cNvSpPr>
          <p:nvPr/>
        </p:nvSpPr>
        <p:spPr bwMode="auto">
          <a:xfrm>
            <a:off x="1828800" y="3429000"/>
            <a:ext cx="3200400" cy="2209800"/>
          </a:xfrm>
          <a:prstGeom prst="rect">
            <a:avLst/>
          </a:prstGeom>
          <a:solidFill>
            <a:srgbClr val="FFE36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22532" name="Text Box 63"/>
          <p:cNvSpPr txBox="1">
            <a:spLocks noChangeArrowheads="1"/>
          </p:cNvSpPr>
          <p:nvPr/>
        </p:nvSpPr>
        <p:spPr bwMode="auto">
          <a:xfrm>
            <a:off x="1127125" y="850900"/>
            <a:ext cx="3094038" cy="368300"/>
          </a:xfrm>
          <a:prstGeom prst="rect">
            <a:avLst/>
          </a:prstGeom>
          <a:solidFill>
            <a:schemeClr val="tx2">
              <a:lumMod val="20000"/>
              <a:lumOff val="80000"/>
            </a:schemeClr>
          </a:solidFill>
          <a:ln>
            <a:noFill/>
          </a:ln>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b="1" dirty="0" smtClean="0">
                <a:latin typeface="+mn-ea"/>
                <a:ea typeface="+mn-ea"/>
              </a:rPr>
              <a:t>朗肯极限平衡应力状态</a:t>
            </a:r>
            <a:endParaRPr kumimoji="0" lang="zh-CN" altLang="en-US" b="1" dirty="0" smtClean="0">
              <a:latin typeface="+mn-ea"/>
              <a:ea typeface="+mn-ea"/>
            </a:endParaRPr>
          </a:p>
        </p:txBody>
      </p:sp>
      <p:sp>
        <p:nvSpPr>
          <p:cNvPr id="25664" name="Rectangle 64"/>
          <p:cNvSpPr>
            <a:spLocks noChangeArrowheads="1"/>
          </p:cNvSpPr>
          <p:nvPr/>
        </p:nvSpPr>
        <p:spPr bwMode="auto">
          <a:xfrm>
            <a:off x="609600" y="1647825"/>
            <a:ext cx="8077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indent="-342900">
              <a:lnSpc>
                <a:spcPct val="150000"/>
              </a:lnSpc>
              <a:spcBef>
                <a:spcPct val="20000"/>
              </a:spcBef>
              <a:buFont typeface="Wingdings" panose="05000000000000000000" pitchFamily="2" charset="2"/>
              <a:buChar char="Ø"/>
              <a:defRPr/>
            </a:pPr>
            <a:r>
              <a:rPr lang="zh-CN" altLang="en-US" b="1" dirty="0" smtClean="0">
                <a:solidFill>
                  <a:srgbClr val="6600FF"/>
                </a:solidFill>
                <a:latin typeface="+mn-ea"/>
                <a:ea typeface="+mn-ea"/>
              </a:rPr>
              <a:t>自重应力作用下，半无限土体内各点的应力从弹性平衡状态发展为极限平衡状态的情况。</a:t>
            </a:r>
            <a:endParaRPr lang="zh-CN" altLang="en-US" b="1" dirty="0" smtClean="0">
              <a:solidFill>
                <a:srgbClr val="6600FF"/>
              </a:solidFill>
              <a:latin typeface="+mn-ea"/>
              <a:ea typeface="+mn-ea"/>
            </a:endParaRPr>
          </a:p>
        </p:txBody>
      </p:sp>
      <p:sp>
        <p:nvSpPr>
          <p:cNvPr id="25665" name="Rectangle 65" descr="棚架"/>
          <p:cNvSpPr>
            <a:spLocks noChangeArrowheads="1"/>
          </p:cNvSpPr>
          <p:nvPr/>
        </p:nvSpPr>
        <p:spPr bwMode="auto">
          <a:xfrm>
            <a:off x="1752600" y="3429000"/>
            <a:ext cx="76200" cy="2209800"/>
          </a:xfrm>
          <a:prstGeom prst="rect">
            <a:avLst/>
          </a:prstGeom>
          <a:blipFill dpi="0" rotWithShape="0">
            <a:blip r:embed="rId1"/>
            <a:srcRect/>
            <a:tile tx="0" ty="0" sx="100000" sy="100000" flip="none" algn="tl"/>
          </a:blipFill>
          <a:ln w="9525">
            <a:solidFill>
              <a:srgbClr val="6600FF"/>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nvGrpSpPr>
          <p:cNvPr id="2" name="Group 66"/>
          <p:cNvGrpSpPr/>
          <p:nvPr/>
        </p:nvGrpSpPr>
        <p:grpSpPr bwMode="auto">
          <a:xfrm>
            <a:off x="1828800" y="3455988"/>
            <a:ext cx="3205163" cy="2176462"/>
            <a:chOff x="1344" y="2129"/>
            <a:chExt cx="2019" cy="1371"/>
          </a:xfrm>
        </p:grpSpPr>
        <p:sp>
          <p:nvSpPr>
            <p:cNvPr id="23586" name="Line 67"/>
            <p:cNvSpPr>
              <a:spLocks noChangeAspect="1" noChangeShapeType="1"/>
            </p:cNvSpPr>
            <p:nvPr/>
          </p:nvSpPr>
          <p:spPr bwMode="auto">
            <a:xfrm flipH="1">
              <a:off x="1507" y="2145"/>
              <a:ext cx="705" cy="1339"/>
            </a:xfrm>
            <a:prstGeom prst="line">
              <a:avLst/>
            </a:prstGeom>
            <a:noFill/>
            <a:ln w="25400">
              <a:solidFill>
                <a:srgbClr val="000066"/>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23587" name="Line 68"/>
            <p:cNvSpPr>
              <a:spLocks noChangeAspect="1" noChangeShapeType="1"/>
            </p:cNvSpPr>
            <p:nvPr/>
          </p:nvSpPr>
          <p:spPr bwMode="auto">
            <a:xfrm flipH="1">
              <a:off x="1960" y="2145"/>
              <a:ext cx="713" cy="1355"/>
            </a:xfrm>
            <a:prstGeom prst="line">
              <a:avLst/>
            </a:prstGeom>
            <a:noFill/>
            <a:ln w="25400">
              <a:solidFill>
                <a:srgbClr val="000066"/>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grpSp>
          <p:nvGrpSpPr>
            <p:cNvPr id="23588" name="Group 69"/>
            <p:cNvGrpSpPr/>
            <p:nvPr/>
          </p:nvGrpSpPr>
          <p:grpSpPr bwMode="auto">
            <a:xfrm>
              <a:off x="1344" y="2129"/>
              <a:ext cx="2019" cy="1371"/>
              <a:chOff x="1434" y="1649"/>
              <a:chExt cx="2019" cy="1371"/>
            </a:xfrm>
          </p:grpSpPr>
          <p:sp>
            <p:nvSpPr>
              <p:cNvPr id="23589" name="Line 70"/>
              <p:cNvSpPr>
                <a:spLocks noChangeAspect="1" noChangeShapeType="1"/>
              </p:cNvSpPr>
              <p:nvPr/>
            </p:nvSpPr>
            <p:spPr bwMode="auto">
              <a:xfrm>
                <a:off x="1434" y="2452"/>
                <a:ext cx="291" cy="552"/>
              </a:xfrm>
              <a:prstGeom prst="line">
                <a:avLst/>
              </a:prstGeom>
              <a:noFill/>
              <a:ln w="25400">
                <a:solidFill>
                  <a:srgbClr val="000066"/>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23590" name="Line 71"/>
              <p:cNvSpPr>
                <a:spLocks noChangeAspect="1" noChangeShapeType="1"/>
              </p:cNvSpPr>
              <p:nvPr/>
            </p:nvSpPr>
            <p:spPr bwMode="auto">
              <a:xfrm>
                <a:off x="2173" y="1669"/>
                <a:ext cx="680" cy="1293"/>
              </a:xfrm>
              <a:prstGeom prst="line">
                <a:avLst/>
              </a:prstGeom>
              <a:noFill/>
              <a:ln w="25400">
                <a:solidFill>
                  <a:srgbClr val="000066"/>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23591" name="Line 72"/>
              <p:cNvSpPr>
                <a:spLocks noChangeAspect="1" noChangeShapeType="1"/>
              </p:cNvSpPr>
              <p:nvPr/>
            </p:nvSpPr>
            <p:spPr bwMode="auto">
              <a:xfrm>
                <a:off x="1820" y="1653"/>
                <a:ext cx="715" cy="1359"/>
              </a:xfrm>
              <a:prstGeom prst="line">
                <a:avLst/>
              </a:prstGeom>
              <a:noFill/>
              <a:ln w="25400">
                <a:solidFill>
                  <a:srgbClr val="000066"/>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23592" name="Line 73"/>
              <p:cNvSpPr>
                <a:spLocks noChangeAspect="1" noChangeShapeType="1"/>
              </p:cNvSpPr>
              <p:nvPr/>
            </p:nvSpPr>
            <p:spPr bwMode="auto">
              <a:xfrm>
                <a:off x="2561" y="1665"/>
                <a:ext cx="708" cy="1346"/>
              </a:xfrm>
              <a:prstGeom prst="line">
                <a:avLst/>
              </a:prstGeom>
              <a:noFill/>
              <a:ln w="25400">
                <a:solidFill>
                  <a:srgbClr val="000066"/>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23593" name="Line 74"/>
              <p:cNvSpPr>
                <a:spLocks noChangeAspect="1" noChangeShapeType="1"/>
              </p:cNvSpPr>
              <p:nvPr/>
            </p:nvSpPr>
            <p:spPr bwMode="auto">
              <a:xfrm>
                <a:off x="1438" y="1665"/>
                <a:ext cx="698" cy="1326"/>
              </a:xfrm>
              <a:prstGeom prst="line">
                <a:avLst/>
              </a:prstGeom>
              <a:noFill/>
              <a:ln w="25400">
                <a:solidFill>
                  <a:srgbClr val="000066"/>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23594" name="Line 75"/>
              <p:cNvSpPr>
                <a:spLocks noChangeAspect="1" noChangeShapeType="1"/>
              </p:cNvSpPr>
              <p:nvPr/>
            </p:nvSpPr>
            <p:spPr bwMode="auto">
              <a:xfrm flipH="1">
                <a:off x="2874" y="2057"/>
                <a:ext cx="503" cy="955"/>
              </a:xfrm>
              <a:prstGeom prst="line">
                <a:avLst/>
              </a:prstGeom>
              <a:noFill/>
              <a:ln w="25400">
                <a:solidFill>
                  <a:srgbClr val="000066"/>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23595" name="Line 76"/>
              <p:cNvSpPr>
                <a:spLocks noChangeAspect="1" noChangeShapeType="1"/>
              </p:cNvSpPr>
              <p:nvPr/>
            </p:nvSpPr>
            <p:spPr bwMode="auto">
              <a:xfrm flipH="1">
                <a:off x="2458" y="1665"/>
                <a:ext cx="713" cy="1355"/>
              </a:xfrm>
              <a:prstGeom prst="line">
                <a:avLst/>
              </a:prstGeom>
              <a:noFill/>
              <a:ln w="25400">
                <a:solidFill>
                  <a:srgbClr val="000066"/>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23596" name="Line 77"/>
              <p:cNvSpPr>
                <a:spLocks noChangeAspect="1" noChangeShapeType="1"/>
              </p:cNvSpPr>
              <p:nvPr/>
            </p:nvSpPr>
            <p:spPr bwMode="auto">
              <a:xfrm>
                <a:off x="2941" y="1677"/>
                <a:ext cx="512" cy="973"/>
              </a:xfrm>
              <a:prstGeom prst="line">
                <a:avLst/>
              </a:prstGeom>
              <a:noFill/>
              <a:ln w="25400">
                <a:solidFill>
                  <a:srgbClr val="000066"/>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23597" name="Line 78"/>
              <p:cNvSpPr>
                <a:spLocks noChangeAspect="1" noChangeShapeType="1"/>
              </p:cNvSpPr>
              <p:nvPr/>
            </p:nvSpPr>
            <p:spPr bwMode="auto">
              <a:xfrm flipH="1">
                <a:off x="1442" y="1649"/>
                <a:ext cx="503" cy="955"/>
              </a:xfrm>
              <a:prstGeom prst="line">
                <a:avLst/>
              </a:prstGeom>
              <a:noFill/>
              <a:ln w="25400">
                <a:solidFill>
                  <a:srgbClr val="000066"/>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25679" name="AutoShape 79"/>
          <p:cNvSpPr>
            <a:spLocks noChangeArrowheads="1"/>
          </p:cNvSpPr>
          <p:nvPr/>
        </p:nvSpPr>
        <p:spPr bwMode="auto">
          <a:xfrm>
            <a:off x="1295400" y="4495800"/>
            <a:ext cx="304800" cy="228600"/>
          </a:xfrm>
          <a:prstGeom prst="leftArrow">
            <a:avLst>
              <a:gd name="adj1" fmla="val 50000"/>
              <a:gd name="adj2" fmla="val 33333"/>
            </a:avLst>
          </a:prstGeom>
          <a:solidFill>
            <a:srgbClr val="FF3300"/>
          </a:solidFill>
          <a:ln w="9525">
            <a:solidFill>
              <a:schemeClr val="folHlink"/>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25680" name="Oval 80"/>
          <p:cNvSpPr>
            <a:spLocks noChangeArrowheads="1"/>
          </p:cNvSpPr>
          <p:nvPr/>
        </p:nvSpPr>
        <p:spPr bwMode="auto">
          <a:xfrm>
            <a:off x="6934200" y="4724400"/>
            <a:ext cx="415925" cy="457200"/>
          </a:xfrm>
          <a:prstGeom prst="ellipse">
            <a:avLst/>
          </a:prstGeom>
          <a:noFill/>
          <a:ln w="22225">
            <a:solidFill>
              <a:srgbClr val="8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25681" name="Oval 81"/>
          <p:cNvSpPr>
            <a:spLocks noChangeArrowheads="1"/>
          </p:cNvSpPr>
          <p:nvPr/>
        </p:nvSpPr>
        <p:spPr bwMode="auto">
          <a:xfrm>
            <a:off x="6096000" y="4267200"/>
            <a:ext cx="1295400" cy="1295400"/>
          </a:xfrm>
          <a:prstGeom prst="ellipse">
            <a:avLst/>
          </a:prstGeom>
          <a:noFill/>
          <a:ln w="22225">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25682" name="Line 82"/>
          <p:cNvSpPr>
            <a:spLocks noChangeShapeType="1"/>
          </p:cNvSpPr>
          <p:nvPr/>
        </p:nvSpPr>
        <p:spPr bwMode="auto">
          <a:xfrm flipV="1">
            <a:off x="5562600" y="3429000"/>
            <a:ext cx="2819400" cy="1295400"/>
          </a:xfrm>
          <a:prstGeom prst="line">
            <a:avLst/>
          </a:prstGeom>
          <a:noFill/>
          <a:ln w="34925">
            <a:solidFill>
              <a:srgbClr val="CC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83" name="Oval 83"/>
          <p:cNvSpPr>
            <a:spLocks noChangeArrowheads="1"/>
          </p:cNvSpPr>
          <p:nvPr/>
        </p:nvSpPr>
        <p:spPr bwMode="auto">
          <a:xfrm>
            <a:off x="6384925" y="4441825"/>
            <a:ext cx="990600" cy="990600"/>
          </a:xfrm>
          <a:prstGeom prst="ellipse">
            <a:avLst/>
          </a:prstGeom>
          <a:noFill/>
          <a:ln w="34925">
            <a:solidFill>
              <a:schemeClr val="folHlink"/>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25684" name="Rectangle 84"/>
          <p:cNvSpPr>
            <a:spLocks noChangeArrowheads="1"/>
          </p:cNvSpPr>
          <p:nvPr/>
        </p:nvSpPr>
        <p:spPr bwMode="auto">
          <a:xfrm>
            <a:off x="5638800" y="5029200"/>
            <a:ext cx="538163"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45000"/>
              </a:lnSpc>
              <a:spcBef>
                <a:spcPct val="20000"/>
              </a:spcBef>
            </a:pPr>
            <a:r>
              <a:rPr kumimoji="0" lang="en-US" altLang="zh-CN" b="1">
                <a:solidFill>
                  <a:srgbClr val="CC0000"/>
                </a:solidFill>
                <a:sym typeface="Symbol" panose="05050102010706020507" pitchFamily="18" charset="2"/>
              </a:rPr>
              <a:t></a:t>
            </a:r>
            <a:r>
              <a:rPr lang="en-US" altLang="zh-CN" b="1" baseline="-25000">
                <a:solidFill>
                  <a:srgbClr val="CC0000"/>
                </a:solidFill>
                <a:sym typeface="Symbol" panose="05050102010706020507" pitchFamily="18" charset="2"/>
              </a:rPr>
              <a:t>3</a:t>
            </a:r>
            <a:r>
              <a:rPr kumimoji="0" lang="en-US" altLang="zh-CN" b="1" i="1" baseline="-25000">
                <a:solidFill>
                  <a:srgbClr val="CC0000"/>
                </a:solidFill>
                <a:sym typeface="Symbol" panose="05050102010706020507" pitchFamily="18" charset="2"/>
              </a:rPr>
              <a:t>f</a:t>
            </a:r>
            <a:endParaRPr kumimoji="0" lang="en-US" altLang="zh-CN" b="1" i="1" baseline="-25000">
              <a:solidFill>
                <a:srgbClr val="CC0000"/>
              </a:solidFill>
              <a:sym typeface="Symbol" panose="05050102010706020507" pitchFamily="18" charset="2"/>
            </a:endParaRPr>
          </a:p>
        </p:txBody>
      </p:sp>
      <p:sp>
        <p:nvSpPr>
          <p:cNvPr id="25685" name="Rectangle 85"/>
          <p:cNvSpPr>
            <a:spLocks noChangeArrowheads="1"/>
          </p:cNvSpPr>
          <p:nvPr/>
        </p:nvSpPr>
        <p:spPr bwMode="auto">
          <a:xfrm>
            <a:off x="7391400" y="5029200"/>
            <a:ext cx="914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45000"/>
              </a:lnSpc>
              <a:spcBef>
                <a:spcPct val="20000"/>
              </a:spcBef>
            </a:pPr>
            <a:r>
              <a:rPr kumimoji="0" lang="en-US" altLang="zh-CN" sz="2000" b="1">
                <a:solidFill>
                  <a:srgbClr val="CC0000"/>
                </a:solidFill>
                <a:sym typeface="Symbol" panose="05050102010706020507" pitchFamily="18" charset="2"/>
              </a:rPr>
              <a:t></a:t>
            </a:r>
            <a:r>
              <a:rPr lang="en-US" altLang="zh-CN" sz="2000" b="1" baseline="-25000">
                <a:solidFill>
                  <a:srgbClr val="CC0000"/>
                </a:solidFill>
                <a:sym typeface="Symbol" panose="05050102010706020507" pitchFamily="18" charset="2"/>
              </a:rPr>
              <a:t>v</a:t>
            </a:r>
            <a:r>
              <a:rPr lang="en-US" altLang="zh-CN" sz="2000" b="1">
                <a:solidFill>
                  <a:srgbClr val="CC0000"/>
                </a:solidFill>
                <a:sym typeface="Symbol" panose="05050102010706020507" pitchFamily="18" charset="2"/>
              </a:rPr>
              <a:t>=z</a:t>
            </a:r>
            <a:endParaRPr kumimoji="0" lang="en-US" altLang="zh-CN" sz="2000" b="1" baseline="-25000">
              <a:solidFill>
                <a:srgbClr val="CC0000"/>
              </a:solidFill>
              <a:sym typeface="Symbol" panose="05050102010706020507" pitchFamily="18" charset="2"/>
            </a:endParaRPr>
          </a:p>
        </p:txBody>
      </p:sp>
      <p:grpSp>
        <p:nvGrpSpPr>
          <p:cNvPr id="4" name="Group 86"/>
          <p:cNvGrpSpPr/>
          <p:nvPr/>
        </p:nvGrpSpPr>
        <p:grpSpPr bwMode="auto">
          <a:xfrm>
            <a:off x="5181600" y="3200400"/>
            <a:ext cx="3644900" cy="2819400"/>
            <a:chOff x="3264" y="2016"/>
            <a:chExt cx="2296" cy="1776"/>
          </a:xfrm>
        </p:grpSpPr>
        <p:sp>
          <p:nvSpPr>
            <p:cNvPr id="23582" name="Line 87"/>
            <p:cNvSpPr>
              <a:spLocks noChangeShapeType="1"/>
            </p:cNvSpPr>
            <p:nvPr/>
          </p:nvSpPr>
          <p:spPr bwMode="auto">
            <a:xfrm>
              <a:off x="3504" y="2112"/>
              <a:ext cx="0" cy="1680"/>
            </a:xfrm>
            <a:prstGeom prst="line">
              <a:avLst/>
            </a:prstGeom>
            <a:noFill/>
            <a:ln w="34925">
              <a:solidFill>
                <a:srgbClr val="0000FF"/>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3" name="Line 88"/>
            <p:cNvSpPr>
              <a:spLocks noChangeShapeType="1"/>
            </p:cNvSpPr>
            <p:nvPr/>
          </p:nvSpPr>
          <p:spPr bwMode="auto">
            <a:xfrm>
              <a:off x="3504" y="3120"/>
              <a:ext cx="1968" cy="1"/>
            </a:xfrm>
            <a:prstGeom prst="line">
              <a:avLst/>
            </a:prstGeom>
            <a:noFill/>
            <a:ln w="34925">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4" name="Rectangle 89"/>
            <p:cNvSpPr>
              <a:spLocks noChangeArrowheads="1"/>
            </p:cNvSpPr>
            <p:nvPr/>
          </p:nvSpPr>
          <p:spPr bwMode="auto">
            <a:xfrm>
              <a:off x="3264" y="2016"/>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FF"/>
                  </a:solidFill>
                  <a:sym typeface="Symbol" panose="05050102010706020507" pitchFamily="18" charset="2"/>
                </a:rPr>
                <a:t></a:t>
              </a:r>
              <a:endParaRPr lang="en-US" altLang="zh-CN" b="1">
                <a:solidFill>
                  <a:srgbClr val="0000FF"/>
                </a:solidFill>
                <a:sym typeface="Symbol" panose="05050102010706020507" pitchFamily="18" charset="2"/>
              </a:endParaRPr>
            </a:p>
          </p:txBody>
        </p:sp>
        <p:sp>
          <p:nvSpPr>
            <p:cNvPr id="23585" name="Rectangle 90"/>
            <p:cNvSpPr>
              <a:spLocks noChangeArrowheads="1"/>
            </p:cNvSpPr>
            <p:nvPr/>
          </p:nvSpPr>
          <p:spPr bwMode="auto">
            <a:xfrm>
              <a:off x="5328" y="3120"/>
              <a:ext cx="2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FF"/>
                  </a:solidFill>
                  <a:sym typeface="Symbol" panose="05050102010706020507" pitchFamily="18" charset="2"/>
                </a:rPr>
                <a:t></a:t>
              </a:r>
              <a:endParaRPr lang="en-US" altLang="zh-CN" b="1">
                <a:solidFill>
                  <a:srgbClr val="0000FF"/>
                </a:solidFill>
                <a:sym typeface="Symbol" panose="05050102010706020507" pitchFamily="18" charset="2"/>
              </a:endParaRPr>
            </a:p>
          </p:txBody>
        </p:sp>
      </p:grpSp>
      <p:sp>
        <p:nvSpPr>
          <p:cNvPr id="25691" name="Rectangle 91"/>
          <p:cNvSpPr>
            <a:spLocks noChangeArrowheads="1"/>
          </p:cNvSpPr>
          <p:nvPr/>
        </p:nvSpPr>
        <p:spPr bwMode="auto">
          <a:xfrm>
            <a:off x="6400800" y="5029200"/>
            <a:ext cx="914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45000"/>
              </a:lnSpc>
              <a:spcBef>
                <a:spcPct val="20000"/>
              </a:spcBef>
            </a:pPr>
            <a:r>
              <a:rPr kumimoji="0" lang="en-US" altLang="zh-CN" sz="2000" b="1">
                <a:solidFill>
                  <a:srgbClr val="CC0000"/>
                </a:solidFill>
                <a:sym typeface="Symbol" panose="05050102010706020507" pitchFamily="18" charset="2"/>
              </a:rPr>
              <a:t>K</a:t>
            </a:r>
            <a:r>
              <a:rPr kumimoji="0" lang="en-US" altLang="zh-CN" sz="2000" b="1" baseline="-25000">
                <a:solidFill>
                  <a:srgbClr val="CC0000"/>
                </a:solidFill>
                <a:sym typeface="Symbol" panose="05050102010706020507" pitchFamily="18" charset="2"/>
              </a:rPr>
              <a:t>0</a:t>
            </a:r>
            <a:r>
              <a:rPr kumimoji="0" lang="en-US" altLang="zh-CN" sz="2000" b="1">
                <a:solidFill>
                  <a:srgbClr val="CC0000"/>
                </a:solidFill>
                <a:sym typeface="Symbol" panose="05050102010706020507" pitchFamily="18" charset="2"/>
              </a:rPr>
              <a:t></a:t>
            </a:r>
            <a:r>
              <a:rPr lang="en-US" altLang="zh-CN" sz="2000" b="1" baseline="-25000">
                <a:solidFill>
                  <a:srgbClr val="CC0000"/>
                </a:solidFill>
                <a:sym typeface="Symbol" panose="05050102010706020507" pitchFamily="18" charset="2"/>
              </a:rPr>
              <a:t>v</a:t>
            </a:r>
            <a:endParaRPr kumimoji="0" lang="en-US" altLang="zh-CN" sz="2000" b="1" baseline="-25000">
              <a:solidFill>
                <a:srgbClr val="CC0000"/>
              </a:solidFill>
              <a:sym typeface="Symbol" panose="05050102010706020507" pitchFamily="18" charset="2"/>
            </a:endParaRPr>
          </a:p>
        </p:txBody>
      </p:sp>
      <p:sp>
        <p:nvSpPr>
          <p:cNvPr id="25692" name="Text Box 92"/>
          <p:cNvSpPr txBox="1">
            <a:spLocks noChangeArrowheads="1"/>
          </p:cNvSpPr>
          <p:nvPr/>
        </p:nvSpPr>
        <p:spPr bwMode="auto">
          <a:xfrm>
            <a:off x="1500188" y="5829300"/>
            <a:ext cx="2581275" cy="306388"/>
          </a:xfrm>
          <a:prstGeom prst="rect">
            <a:avLst/>
          </a:prstGeom>
          <a:solidFill>
            <a:srgbClr val="66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sz="2000" b="1" dirty="0" smtClean="0">
                <a:solidFill>
                  <a:schemeClr val="accent1"/>
                </a:solidFill>
                <a:latin typeface="+mn-ea"/>
                <a:ea typeface="+mn-ea"/>
              </a:rPr>
              <a:t>主动极限平衡应力状态</a:t>
            </a:r>
            <a:endParaRPr kumimoji="0" lang="zh-CN" altLang="en-US" sz="2000" b="1" dirty="0" smtClean="0">
              <a:solidFill>
                <a:schemeClr val="accent1"/>
              </a:solidFill>
              <a:latin typeface="+mn-ea"/>
              <a:ea typeface="+mn-ea"/>
            </a:endParaRPr>
          </a:p>
        </p:txBody>
      </p:sp>
      <p:grpSp>
        <p:nvGrpSpPr>
          <p:cNvPr id="5" name="Group 93"/>
          <p:cNvGrpSpPr/>
          <p:nvPr/>
        </p:nvGrpSpPr>
        <p:grpSpPr bwMode="auto">
          <a:xfrm>
            <a:off x="1905000" y="3733800"/>
            <a:ext cx="1406525" cy="1371600"/>
            <a:chOff x="1200" y="2352"/>
            <a:chExt cx="886" cy="864"/>
          </a:xfrm>
        </p:grpSpPr>
        <p:sp>
          <p:nvSpPr>
            <p:cNvPr id="23575" name="Rectangle 94"/>
            <p:cNvSpPr>
              <a:spLocks noChangeArrowheads="1"/>
            </p:cNvSpPr>
            <p:nvPr/>
          </p:nvSpPr>
          <p:spPr bwMode="auto">
            <a:xfrm>
              <a:off x="1392" y="2832"/>
              <a:ext cx="192" cy="192"/>
            </a:xfrm>
            <a:prstGeom prst="rect">
              <a:avLst/>
            </a:prstGeom>
            <a:solidFill>
              <a:srgbClr val="FFFFFF"/>
            </a:solidFill>
            <a:ln w="9525">
              <a:solidFill>
                <a:srgbClr val="000000"/>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23576" name="Line 95"/>
            <p:cNvSpPr>
              <a:spLocks noChangeShapeType="1"/>
            </p:cNvSpPr>
            <p:nvPr/>
          </p:nvSpPr>
          <p:spPr bwMode="auto">
            <a:xfrm>
              <a:off x="1200" y="2928"/>
              <a:ext cx="192" cy="0"/>
            </a:xfrm>
            <a:prstGeom prst="line">
              <a:avLst/>
            </a:prstGeom>
            <a:noFill/>
            <a:ln w="222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77" name="Line 96"/>
            <p:cNvSpPr>
              <a:spLocks noChangeShapeType="1"/>
            </p:cNvSpPr>
            <p:nvPr/>
          </p:nvSpPr>
          <p:spPr bwMode="auto">
            <a:xfrm rot="10800000">
              <a:off x="1584" y="2928"/>
              <a:ext cx="192" cy="0"/>
            </a:xfrm>
            <a:prstGeom prst="line">
              <a:avLst/>
            </a:prstGeom>
            <a:noFill/>
            <a:ln w="222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78" name="Line 97"/>
            <p:cNvSpPr>
              <a:spLocks noChangeShapeType="1"/>
            </p:cNvSpPr>
            <p:nvPr/>
          </p:nvSpPr>
          <p:spPr bwMode="auto">
            <a:xfrm rot="-5400000">
              <a:off x="1392" y="3120"/>
              <a:ext cx="192" cy="0"/>
            </a:xfrm>
            <a:prstGeom prst="line">
              <a:avLst/>
            </a:prstGeom>
            <a:noFill/>
            <a:ln w="222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79" name="Line 98"/>
            <p:cNvSpPr>
              <a:spLocks noChangeShapeType="1"/>
            </p:cNvSpPr>
            <p:nvPr/>
          </p:nvSpPr>
          <p:spPr bwMode="auto">
            <a:xfrm rot="5400000">
              <a:off x="1392" y="2736"/>
              <a:ext cx="192" cy="0"/>
            </a:xfrm>
            <a:prstGeom prst="line">
              <a:avLst/>
            </a:prstGeom>
            <a:noFill/>
            <a:ln w="222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80" name="Text Box 99"/>
            <p:cNvSpPr txBox="1">
              <a:spLocks noChangeArrowheads="1"/>
            </p:cNvSpPr>
            <p:nvPr/>
          </p:nvSpPr>
          <p:spPr bwMode="auto">
            <a:xfrm>
              <a:off x="1344" y="2352"/>
              <a:ext cx="262" cy="236"/>
            </a:xfrm>
            <a:prstGeom prst="rect">
              <a:avLst/>
            </a:prstGeom>
            <a:solidFill>
              <a:srgbClr val="6600FF"/>
            </a:solidFill>
            <a:ln w="9525">
              <a:solidFill>
                <a:srgbClr val="6600FF"/>
              </a:solidFill>
              <a:miter lim="800000"/>
            </a:ln>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b="1">
                  <a:solidFill>
                    <a:schemeClr val="accent1"/>
                  </a:solidFill>
                  <a:latin typeface="Symbol" panose="05050102010706020507" pitchFamily="18" charset="2"/>
                </a:rPr>
                <a:t>s</a:t>
              </a:r>
              <a:r>
                <a:rPr kumimoji="0" lang="en-US" altLang="zh-CN" sz="1800" b="1" baseline="-25000">
                  <a:solidFill>
                    <a:schemeClr val="accent1"/>
                  </a:solidFill>
                  <a:latin typeface="Arial" panose="020B0604020202020204" pitchFamily="34" charset="0"/>
                </a:rPr>
                <a:t>1</a:t>
              </a:r>
              <a:endParaRPr kumimoji="0" lang="en-US" altLang="zh-CN" sz="1800" b="1" baseline="-25000">
                <a:solidFill>
                  <a:schemeClr val="accent1"/>
                </a:solidFill>
                <a:latin typeface="Arial" panose="020B0604020202020204" pitchFamily="34" charset="0"/>
              </a:endParaRPr>
            </a:p>
          </p:txBody>
        </p:sp>
        <p:sp>
          <p:nvSpPr>
            <p:cNvPr id="23581" name="Text Box 100"/>
            <p:cNvSpPr txBox="1">
              <a:spLocks noChangeArrowheads="1"/>
            </p:cNvSpPr>
            <p:nvPr/>
          </p:nvSpPr>
          <p:spPr bwMode="auto">
            <a:xfrm>
              <a:off x="1824" y="2784"/>
              <a:ext cx="262" cy="236"/>
            </a:xfrm>
            <a:prstGeom prst="rect">
              <a:avLst/>
            </a:prstGeom>
            <a:solidFill>
              <a:srgbClr val="6600FF"/>
            </a:solidFill>
            <a:ln w="9525">
              <a:solidFill>
                <a:srgbClr val="6600FF"/>
              </a:solidFill>
              <a:miter lim="800000"/>
            </a:ln>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b="1">
                  <a:solidFill>
                    <a:schemeClr val="accent1"/>
                  </a:solidFill>
                  <a:latin typeface="Symbol" panose="05050102010706020507" pitchFamily="18" charset="2"/>
                </a:rPr>
                <a:t>s</a:t>
              </a:r>
              <a:r>
                <a:rPr kumimoji="0" lang="en-US" altLang="zh-CN" b="1" baseline="-25000">
                  <a:solidFill>
                    <a:schemeClr val="accent1"/>
                  </a:solidFill>
                </a:rPr>
                <a:t>3</a:t>
              </a:r>
              <a:endParaRPr kumimoji="0" lang="en-US" altLang="zh-CN" b="1" baseline="-25000">
                <a:solidFill>
                  <a:schemeClr val="accent1"/>
                </a:solidFill>
              </a:endParaRPr>
            </a:p>
          </p:txBody>
        </p:sp>
      </p:grpSp>
      <p:sp>
        <p:nvSpPr>
          <p:cNvPr id="25701" name="Rectangle 101"/>
          <p:cNvSpPr>
            <a:spLocks noChangeArrowheads="1"/>
          </p:cNvSpPr>
          <p:nvPr/>
        </p:nvSpPr>
        <p:spPr bwMode="auto">
          <a:xfrm>
            <a:off x="3505200" y="5257800"/>
            <a:ext cx="10144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en-US" altLang="zh-CN" sz="2000" b="1" i="1">
                <a:solidFill>
                  <a:srgbClr val="6600FF"/>
                </a:solidFill>
                <a:ea typeface="楷体_GB2312" pitchFamily="49" charset="-122"/>
              </a:rPr>
              <a:t>45</a:t>
            </a:r>
            <a:r>
              <a:rPr lang="en-US" altLang="zh-CN" sz="2000" b="1" i="1" baseline="30000">
                <a:solidFill>
                  <a:srgbClr val="6600FF"/>
                </a:solidFill>
                <a:sym typeface="Symbol" panose="05050102010706020507" pitchFamily="18" charset="2"/>
              </a:rPr>
              <a:t></a:t>
            </a:r>
            <a:r>
              <a:rPr lang="en-US" altLang="zh-CN" sz="2000" b="1">
                <a:solidFill>
                  <a:srgbClr val="6600FF"/>
                </a:solidFill>
                <a:sym typeface="Symbol" panose="05050102010706020507" pitchFamily="18" charset="2"/>
              </a:rPr>
              <a:t>+</a:t>
            </a:r>
            <a:r>
              <a:rPr lang="el-GR" altLang="zh-CN" sz="2000" b="1">
                <a:solidFill>
                  <a:srgbClr val="6600FF"/>
                </a:solidFill>
                <a:sym typeface="Symbol" panose="05050102010706020507" pitchFamily="18" charset="2"/>
              </a:rPr>
              <a:t>φ</a:t>
            </a:r>
            <a:r>
              <a:rPr lang="en-US" altLang="zh-CN" sz="2000" b="1" i="1">
                <a:solidFill>
                  <a:srgbClr val="6600FF"/>
                </a:solidFill>
                <a:sym typeface="Symbol" panose="05050102010706020507" pitchFamily="18" charset="2"/>
              </a:rPr>
              <a:t>/2</a:t>
            </a:r>
            <a:endParaRPr lang="en-US" altLang="zh-CN" sz="2000" b="1" i="1">
              <a:solidFill>
                <a:srgbClr val="6600FF"/>
              </a:solidFill>
              <a:sym typeface="Symbol" panose="05050102010706020507" pitchFamily="18" charset="2"/>
            </a:endParaRPr>
          </a:p>
        </p:txBody>
      </p:sp>
      <p:sp>
        <p:nvSpPr>
          <p:cNvPr id="23572" name="Text Box 45"/>
          <p:cNvSpPr txBox="1">
            <a:spLocks noChangeArrowheads="1"/>
          </p:cNvSpPr>
          <p:nvPr/>
        </p:nvSpPr>
        <p:spPr bwMode="auto">
          <a:xfrm>
            <a:off x="7451725" y="4005263"/>
            <a:ext cx="14033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a:solidFill>
                  <a:srgbClr val="3333FF"/>
                </a:solidFill>
                <a:ea typeface="隶书" panose="02010509060101010101" pitchFamily="49" charset="-122"/>
              </a:rPr>
              <a:t>竖向应力</a:t>
            </a:r>
            <a:endParaRPr lang="zh-CN" altLang="en-US">
              <a:solidFill>
                <a:srgbClr val="3333FF"/>
              </a:solidFill>
              <a:ea typeface="隶书" panose="02010509060101010101" pitchFamily="49" charset="-122"/>
            </a:endParaRPr>
          </a:p>
          <a:p>
            <a:pPr algn="ctr" eaLnBrk="1" hangingPunct="1"/>
            <a:r>
              <a:rPr lang="zh-CN" altLang="en-US">
                <a:solidFill>
                  <a:srgbClr val="3333FF"/>
                </a:solidFill>
                <a:ea typeface="隶书" panose="02010509060101010101" pitchFamily="49" charset="-122"/>
              </a:rPr>
              <a:t>不变！</a:t>
            </a:r>
            <a:endParaRPr lang="zh-CN" altLang="en-US">
              <a:solidFill>
                <a:srgbClr val="3333FF"/>
              </a:solidFill>
              <a:ea typeface="隶书" panose="02010509060101010101" pitchFamily="49" charset="-122"/>
            </a:endParaRPr>
          </a:p>
        </p:txBody>
      </p:sp>
      <p:sp>
        <p:nvSpPr>
          <p:cNvPr id="23573" name="AutoShape 46"/>
          <p:cNvSpPr>
            <a:spLocks noChangeArrowheads="1"/>
          </p:cNvSpPr>
          <p:nvPr/>
        </p:nvSpPr>
        <p:spPr bwMode="auto">
          <a:xfrm>
            <a:off x="7308850" y="4149725"/>
            <a:ext cx="1511300" cy="649288"/>
          </a:xfrm>
          <a:prstGeom prst="wedgeRectCallout">
            <a:avLst>
              <a:gd name="adj1" fmla="val -43750"/>
              <a:gd name="adj2" fmla="val 70000"/>
            </a:avLst>
          </a:prstGeom>
          <a:solidFill>
            <a:schemeClr val="accent2">
              <a:alpha val="12941"/>
            </a:schemeClr>
          </a:solidFill>
          <a:ln w="9525" algn="ctr">
            <a:solidFill>
              <a:schemeClr val="tx1"/>
            </a:solidFill>
            <a:miter lim="800000"/>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46" name="Rectangle 6"/>
          <p:cNvSpPr>
            <a:spLocks noChangeArrowheads="1"/>
          </p:cNvSpPr>
          <p:nvPr/>
        </p:nvSpPr>
        <p:spPr bwMode="auto">
          <a:xfrm>
            <a:off x="-3175" y="-9842"/>
            <a:ext cx="3617913"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朗肯土压力理论</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664"/>
                                        </p:tgtEl>
                                        <p:attrNameLst>
                                          <p:attrName>style.visibility</p:attrName>
                                        </p:attrNameLst>
                                      </p:cBhvr>
                                      <p:to>
                                        <p:strVal val="visible"/>
                                      </p:to>
                                    </p:set>
                                    <p:animEffect transition="in" filter="wipe(left)">
                                      <p:cBhvr>
                                        <p:cTn id="7" dur="500"/>
                                        <p:tgtEl>
                                          <p:spTgt spid="2566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5662"/>
                                        </p:tgtEl>
                                        <p:attrNameLst>
                                          <p:attrName>style.visibility</p:attrName>
                                        </p:attrNameLst>
                                      </p:cBhvr>
                                      <p:to>
                                        <p:strVal val="visible"/>
                                      </p:to>
                                    </p:set>
                                    <p:animEffect transition="in" filter="dissolve">
                                      <p:cBhvr>
                                        <p:cTn id="12" dur="500"/>
                                        <p:tgtEl>
                                          <p:spTgt spid="25662"/>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25661"/>
                                        </p:tgtEl>
                                        <p:attrNameLst>
                                          <p:attrName>style.visibility</p:attrName>
                                        </p:attrNameLst>
                                      </p:cBhvr>
                                      <p:to>
                                        <p:strVal val="visible"/>
                                      </p:to>
                                    </p:set>
                                    <p:animEffect transition="in" filter="dissolve">
                                      <p:cBhvr>
                                        <p:cTn id="16" dur="500"/>
                                        <p:tgtEl>
                                          <p:spTgt spid="25661"/>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42" fill="hold" grpId="0" nodeType="clickEffect">
                                  <p:stCondLst>
                                    <p:cond delay="0"/>
                                  </p:stCondLst>
                                  <p:childTnLst>
                                    <p:set>
                                      <p:cBhvr>
                                        <p:cTn id="20" dur="1" fill="hold">
                                          <p:stCondLst>
                                            <p:cond delay="0"/>
                                          </p:stCondLst>
                                        </p:cTn>
                                        <p:tgtEl>
                                          <p:spTgt spid="25665"/>
                                        </p:tgtEl>
                                        <p:attrNameLst>
                                          <p:attrName>style.visibility</p:attrName>
                                        </p:attrNameLst>
                                      </p:cBhvr>
                                      <p:to>
                                        <p:strVal val="visible"/>
                                      </p:to>
                                    </p:set>
                                    <p:animEffect transition="in" filter="barn(outHorizontal)">
                                      <p:cBhvr>
                                        <p:cTn id="21" dur="500"/>
                                        <p:tgtEl>
                                          <p:spTgt spid="25665"/>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2" fill="hold" grpId="0" nodeType="clickEffect">
                                  <p:stCondLst>
                                    <p:cond delay="0"/>
                                  </p:stCondLst>
                                  <p:childTnLst>
                                    <p:set>
                                      <p:cBhvr>
                                        <p:cTn id="25" dur="1" fill="hold">
                                          <p:stCondLst>
                                            <p:cond delay="0"/>
                                          </p:stCondLst>
                                        </p:cTn>
                                        <p:tgtEl>
                                          <p:spTgt spid="25679"/>
                                        </p:tgtEl>
                                        <p:attrNameLst>
                                          <p:attrName>style.visibility</p:attrName>
                                        </p:attrNameLst>
                                      </p:cBhvr>
                                      <p:to>
                                        <p:strVal val="visible"/>
                                      </p:to>
                                    </p:set>
                                    <p:animEffect transition="in" filter="slide(fromRight)">
                                      <p:cBhvr>
                                        <p:cTn id="26" dur="500"/>
                                        <p:tgtEl>
                                          <p:spTgt spid="25679"/>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dissolve">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dissolve">
                                      <p:cBhvr>
                                        <p:cTn id="36" dur="500"/>
                                        <p:tgtEl>
                                          <p:spTgt spid="4"/>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25682"/>
                                        </p:tgtEl>
                                        <p:attrNameLst>
                                          <p:attrName>style.visibility</p:attrName>
                                        </p:attrNameLst>
                                      </p:cBhvr>
                                      <p:to>
                                        <p:strVal val="visible"/>
                                      </p:to>
                                    </p:set>
                                    <p:animEffect transition="in" filter="wipe(left)">
                                      <p:cBhvr>
                                        <p:cTn id="40" dur="500"/>
                                        <p:tgtEl>
                                          <p:spTgt spid="25682"/>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25680"/>
                                        </p:tgtEl>
                                        <p:attrNameLst>
                                          <p:attrName>style.visibility</p:attrName>
                                        </p:attrNameLst>
                                      </p:cBhvr>
                                      <p:to>
                                        <p:strVal val="visible"/>
                                      </p:to>
                                    </p:set>
                                    <p:animEffect transition="in" filter="dissolve">
                                      <p:cBhvr>
                                        <p:cTn id="45" dur="500"/>
                                        <p:tgtEl>
                                          <p:spTgt spid="25680"/>
                                        </p:tgtEl>
                                      </p:cBhvr>
                                    </p:animEffect>
                                  </p:childTnLst>
                                </p:cTn>
                              </p:par>
                            </p:childTnLst>
                          </p:cTn>
                        </p:par>
                        <p:par>
                          <p:cTn id="46" fill="hold">
                            <p:stCondLst>
                              <p:cond delay="500"/>
                            </p:stCondLst>
                            <p:childTnLst>
                              <p:par>
                                <p:cTn id="47" presetID="9" presetClass="entr" presetSubtype="0" fill="hold" grpId="0" nodeType="afterEffect">
                                  <p:stCondLst>
                                    <p:cond delay="0"/>
                                  </p:stCondLst>
                                  <p:childTnLst>
                                    <p:set>
                                      <p:cBhvr>
                                        <p:cTn id="48" dur="1" fill="hold">
                                          <p:stCondLst>
                                            <p:cond delay="0"/>
                                          </p:stCondLst>
                                        </p:cTn>
                                        <p:tgtEl>
                                          <p:spTgt spid="25685"/>
                                        </p:tgtEl>
                                        <p:attrNameLst>
                                          <p:attrName>style.visibility</p:attrName>
                                        </p:attrNameLst>
                                      </p:cBhvr>
                                      <p:to>
                                        <p:strVal val="visible"/>
                                      </p:to>
                                    </p:set>
                                    <p:animEffect transition="in" filter="dissolve">
                                      <p:cBhvr>
                                        <p:cTn id="49" dur="500"/>
                                        <p:tgtEl>
                                          <p:spTgt spid="25685"/>
                                        </p:tgtEl>
                                      </p:cBhvr>
                                    </p:animEffect>
                                  </p:childTnLst>
                                </p:cTn>
                              </p:par>
                            </p:childTnLst>
                          </p:cTn>
                        </p:par>
                        <p:par>
                          <p:cTn id="50" fill="hold">
                            <p:stCondLst>
                              <p:cond delay="1000"/>
                            </p:stCondLst>
                            <p:childTnLst>
                              <p:par>
                                <p:cTn id="51" presetID="9" presetClass="entr" presetSubtype="0" fill="hold" grpId="0" nodeType="afterEffect">
                                  <p:stCondLst>
                                    <p:cond delay="0"/>
                                  </p:stCondLst>
                                  <p:childTnLst>
                                    <p:set>
                                      <p:cBhvr>
                                        <p:cTn id="52" dur="1" fill="hold">
                                          <p:stCondLst>
                                            <p:cond delay="0"/>
                                          </p:stCondLst>
                                        </p:cTn>
                                        <p:tgtEl>
                                          <p:spTgt spid="25691"/>
                                        </p:tgtEl>
                                        <p:attrNameLst>
                                          <p:attrName>style.visibility</p:attrName>
                                        </p:attrNameLst>
                                      </p:cBhvr>
                                      <p:to>
                                        <p:strVal val="visible"/>
                                      </p:to>
                                    </p:set>
                                    <p:animEffect transition="in" filter="dissolve">
                                      <p:cBhvr>
                                        <p:cTn id="53" dur="500"/>
                                        <p:tgtEl>
                                          <p:spTgt spid="25691"/>
                                        </p:tgtEl>
                                      </p:cBhvr>
                                    </p:animEffec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25683"/>
                                        </p:tgtEl>
                                        <p:attrNameLst>
                                          <p:attrName>style.visibility</p:attrName>
                                        </p:attrNameLst>
                                      </p:cBhvr>
                                      <p:to>
                                        <p:strVal val="visible"/>
                                      </p:to>
                                    </p:set>
                                    <p:animEffect transition="in" filter="dissolve">
                                      <p:cBhvr>
                                        <p:cTn id="58" dur="500"/>
                                        <p:tgtEl>
                                          <p:spTgt spid="25683"/>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25681"/>
                                        </p:tgtEl>
                                        <p:attrNameLst>
                                          <p:attrName>style.visibility</p:attrName>
                                        </p:attrNameLst>
                                      </p:cBhvr>
                                      <p:to>
                                        <p:strVal val="visible"/>
                                      </p:to>
                                    </p:set>
                                    <p:animEffect transition="in" filter="dissolve">
                                      <p:cBhvr>
                                        <p:cTn id="63" dur="500"/>
                                        <p:tgtEl>
                                          <p:spTgt spid="25681"/>
                                        </p:tgtEl>
                                      </p:cBhvr>
                                    </p:animEffect>
                                  </p:childTnLst>
                                </p:cTn>
                              </p:par>
                            </p:childTnLst>
                          </p:cTn>
                        </p:par>
                        <p:par>
                          <p:cTn id="64" fill="hold">
                            <p:stCondLst>
                              <p:cond delay="500"/>
                            </p:stCondLst>
                            <p:childTnLst>
                              <p:par>
                                <p:cTn id="65" presetID="9" presetClass="entr" presetSubtype="0" fill="hold" grpId="0" nodeType="afterEffect">
                                  <p:stCondLst>
                                    <p:cond delay="0"/>
                                  </p:stCondLst>
                                  <p:childTnLst>
                                    <p:set>
                                      <p:cBhvr>
                                        <p:cTn id="66" dur="1" fill="hold">
                                          <p:stCondLst>
                                            <p:cond delay="0"/>
                                          </p:stCondLst>
                                        </p:cTn>
                                        <p:tgtEl>
                                          <p:spTgt spid="25684"/>
                                        </p:tgtEl>
                                        <p:attrNameLst>
                                          <p:attrName>style.visibility</p:attrName>
                                        </p:attrNameLst>
                                      </p:cBhvr>
                                      <p:to>
                                        <p:strVal val="visible"/>
                                      </p:to>
                                    </p:set>
                                    <p:animEffect transition="in" filter="dissolve">
                                      <p:cBhvr>
                                        <p:cTn id="67" dur="500"/>
                                        <p:tgtEl>
                                          <p:spTgt spid="25684"/>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nodeType="clickEffect">
                                  <p:stCondLst>
                                    <p:cond delay="0"/>
                                  </p:stCondLst>
                                  <p:childTnLst>
                                    <p:set>
                                      <p:cBhvr>
                                        <p:cTn id="71" dur="1" fill="hold">
                                          <p:stCondLst>
                                            <p:cond delay="0"/>
                                          </p:stCondLst>
                                        </p:cTn>
                                        <p:tgtEl>
                                          <p:spTgt spid="2"/>
                                        </p:tgtEl>
                                        <p:attrNameLst>
                                          <p:attrName>style.visibility</p:attrName>
                                        </p:attrNameLst>
                                      </p:cBhvr>
                                      <p:to>
                                        <p:strVal val="visible"/>
                                      </p:to>
                                    </p:set>
                                    <p:animEffect transition="in" filter="dissolve">
                                      <p:cBhvr>
                                        <p:cTn id="72" dur="500"/>
                                        <p:tgtEl>
                                          <p:spTgt spid="2"/>
                                        </p:tgtEl>
                                      </p:cBhvr>
                                    </p:animEffect>
                                  </p:childTnLst>
                                </p:cTn>
                              </p:par>
                            </p:childTnLst>
                          </p:cTn>
                        </p:par>
                      </p:childTnLst>
                    </p:cTn>
                  </p:par>
                  <p:par>
                    <p:cTn id="73" fill="hold">
                      <p:stCondLst>
                        <p:cond delay="indefinite"/>
                      </p:stCondLst>
                      <p:childTnLst>
                        <p:par>
                          <p:cTn id="74" fill="hold">
                            <p:stCondLst>
                              <p:cond delay="0"/>
                            </p:stCondLst>
                            <p:childTnLst>
                              <p:par>
                                <p:cTn id="75" presetID="12" presetClass="entr" presetSubtype="4" fill="hold" grpId="0" nodeType="clickEffect">
                                  <p:stCondLst>
                                    <p:cond delay="0"/>
                                  </p:stCondLst>
                                  <p:childTnLst>
                                    <p:set>
                                      <p:cBhvr>
                                        <p:cTn id="76" dur="1" fill="hold">
                                          <p:stCondLst>
                                            <p:cond delay="0"/>
                                          </p:stCondLst>
                                        </p:cTn>
                                        <p:tgtEl>
                                          <p:spTgt spid="25692"/>
                                        </p:tgtEl>
                                        <p:attrNameLst>
                                          <p:attrName>style.visibility</p:attrName>
                                        </p:attrNameLst>
                                      </p:cBhvr>
                                      <p:to>
                                        <p:strVal val="visible"/>
                                      </p:to>
                                    </p:set>
                                    <p:animEffect transition="in" filter="slide(fromBottom)">
                                      <p:cBhvr>
                                        <p:cTn id="77" dur="500"/>
                                        <p:tgtEl>
                                          <p:spTgt spid="25692"/>
                                        </p:tgtEl>
                                      </p:cBhvr>
                                    </p:animEffect>
                                  </p:childTnLst>
                                </p:cTn>
                              </p:par>
                            </p:childTnLst>
                          </p:cTn>
                        </p:par>
                      </p:childTnLst>
                    </p:cTn>
                  </p:par>
                  <p:par>
                    <p:cTn id="78" fill="hold">
                      <p:stCondLst>
                        <p:cond delay="indefinite"/>
                      </p:stCondLst>
                      <p:childTnLst>
                        <p:par>
                          <p:cTn id="79" fill="hold">
                            <p:stCondLst>
                              <p:cond delay="0"/>
                            </p:stCondLst>
                            <p:childTnLst>
                              <p:par>
                                <p:cTn id="80" presetID="7" presetClass="entr" presetSubtype="4" fill="hold" grpId="0" nodeType="clickEffect">
                                  <p:stCondLst>
                                    <p:cond delay="0"/>
                                  </p:stCondLst>
                                  <p:childTnLst>
                                    <p:set>
                                      <p:cBhvr>
                                        <p:cTn id="81" dur="1" fill="hold">
                                          <p:stCondLst>
                                            <p:cond delay="0"/>
                                          </p:stCondLst>
                                        </p:cTn>
                                        <p:tgtEl>
                                          <p:spTgt spid="25701"/>
                                        </p:tgtEl>
                                        <p:attrNameLst>
                                          <p:attrName>style.visibility</p:attrName>
                                        </p:attrNameLst>
                                      </p:cBhvr>
                                      <p:to>
                                        <p:strVal val="visible"/>
                                      </p:to>
                                    </p:set>
                                    <p:anim calcmode="lin" valueType="num">
                                      <p:cBhvr additive="base">
                                        <p:cTn id="82" dur="5000" fill="hold"/>
                                        <p:tgtEl>
                                          <p:spTgt spid="25701"/>
                                        </p:tgtEl>
                                        <p:attrNameLst>
                                          <p:attrName>ppt_x</p:attrName>
                                        </p:attrNameLst>
                                      </p:cBhvr>
                                      <p:tavLst>
                                        <p:tav tm="0">
                                          <p:val>
                                            <p:strVal val="#ppt_x"/>
                                          </p:val>
                                        </p:tav>
                                        <p:tav tm="100000">
                                          <p:val>
                                            <p:strVal val="#ppt_x"/>
                                          </p:val>
                                        </p:tav>
                                      </p:tavLst>
                                    </p:anim>
                                    <p:anim calcmode="lin" valueType="num">
                                      <p:cBhvr additive="base">
                                        <p:cTn id="83" dur="5000" fill="hold"/>
                                        <p:tgtEl>
                                          <p:spTgt spid="257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61" grpId="0" animBg="1"/>
      <p:bldP spid="25662" grpId="0" animBg="1"/>
      <p:bldP spid="25664" grpId="0" autoUpdateAnimBg="0"/>
      <p:bldP spid="25665" grpId="0" animBg="1"/>
      <p:bldP spid="25679" grpId="0" animBg="1"/>
      <p:bldP spid="25680" grpId="0" animBg="1"/>
      <p:bldP spid="25681" grpId="0" animBg="1"/>
      <p:bldP spid="25683" grpId="0" animBg="1"/>
      <p:bldP spid="25684" grpId="0" autoUpdateAnimBg="0"/>
      <p:bldP spid="25685" grpId="0" autoUpdateAnimBg="0"/>
      <p:bldP spid="25691" grpId="0" autoUpdateAnimBg="0"/>
      <p:bldP spid="25692" grpId="0" animBg="1" autoUpdateAnimBg="0"/>
      <p:bldP spid="25701"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Oval 2"/>
          <p:cNvSpPr>
            <a:spLocks noChangeArrowheads="1"/>
          </p:cNvSpPr>
          <p:nvPr/>
        </p:nvSpPr>
        <p:spPr bwMode="auto">
          <a:xfrm>
            <a:off x="4953000" y="5029200"/>
            <a:ext cx="609600" cy="609600"/>
          </a:xfrm>
          <a:prstGeom prst="ellipse">
            <a:avLst/>
          </a:prstGeom>
          <a:noFill/>
          <a:ln w="22225">
            <a:solidFill>
              <a:srgbClr val="FFE05D"/>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24579" name="Rectangle 3"/>
          <p:cNvSpPr>
            <a:spLocks noChangeArrowheads="1"/>
          </p:cNvSpPr>
          <p:nvPr/>
        </p:nvSpPr>
        <p:spPr bwMode="auto">
          <a:xfrm>
            <a:off x="304800" y="838200"/>
            <a:ext cx="1219200" cy="2209800"/>
          </a:xfrm>
          <a:prstGeom prst="rect">
            <a:avLst/>
          </a:prstGeom>
          <a:solidFill>
            <a:srgbClr val="FFE36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63492" name="Rectangle 4" descr="棚架"/>
          <p:cNvSpPr>
            <a:spLocks noChangeArrowheads="1"/>
          </p:cNvSpPr>
          <p:nvPr/>
        </p:nvSpPr>
        <p:spPr bwMode="auto">
          <a:xfrm>
            <a:off x="1447800" y="838200"/>
            <a:ext cx="76200" cy="2209800"/>
          </a:xfrm>
          <a:prstGeom prst="rect">
            <a:avLst/>
          </a:prstGeom>
          <a:blipFill dpi="0" rotWithShape="0">
            <a:blip r:embed="rId1"/>
            <a:srcRect/>
            <a:tile tx="0" ty="0" sx="100000" sy="100000" flip="none" algn="tl"/>
          </a:blipFill>
          <a:ln w="9525">
            <a:solidFill>
              <a:srgbClr val="6600FF"/>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63493" name="AutoShape 5"/>
          <p:cNvSpPr>
            <a:spLocks noChangeArrowheads="1"/>
          </p:cNvSpPr>
          <p:nvPr/>
        </p:nvSpPr>
        <p:spPr bwMode="auto">
          <a:xfrm rot="10800000">
            <a:off x="990600" y="1905000"/>
            <a:ext cx="304800" cy="228600"/>
          </a:xfrm>
          <a:prstGeom prst="leftArrow">
            <a:avLst>
              <a:gd name="adj1" fmla="val 50000"/>
              <a:gd name="adj2" fmla="val 33333"/>
            </a:avLst>
          </a:prstGeom>
          <a:solidFill>
            <a:srgbClr val="FF3300"/>
          </a:solidFill>
          <a:ln w="9525">
            <a:solidFill>
              <a:schemeClr val="folHlink"/>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63494" name="Oval 6"/>
          <p:cNvSpPr>
            <a:spLocks noChangeArrowheads="1"/>
          </p:cNvSpPr>
          <p:nvPr/>
        </p:nvSpPr>
        <p:spPr bwMode="auto">
          <a:xfrm>
            <a:off x="4495800" y="5105400"/>
            <a:ext cx="457200" cy="457200"/>
          </a:xfrm>
          <a:prstGeom prst="ellipse">
            <a:avLst/>
          </a:prstGeom>
          <a:noFill/>
          <a:ln w="22225">
            <a:solidFill>
              <a:srgbClr val="8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63495" name="Oval 7"/>
          <p:cNvSpPr>
            <a:spLocks noChangeArrowheads="1"/>
          </p:cNvSpPr>
          <p:nvPr/>
        </p:nvSpPr>
        <p:spPr bwMode="auto">
          <a:xfrm>
            <a:off x="4953000" y="3810000"/>
            <a:ext cx="2819400" cy="2895600"/>
          </a:xfrm>
          <a:prstGeom prst="ellipse">
            <a:avLst/>
          </a:prstGeom>
          <a:noFill/>
          <a:ln w="22225">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63496" name="Line 8"/>
          <p:cNvSpPr>
            <a:spLocks noChangeShapeType="1"/>
          </p:cNvSpPr>
          <p:nvPr/>
        </p:nvSpPr>
        <p:spPr bwMode="auto">
          <a:xfrm flipV="1">
            <a:off x="3124200" y="3276600"/>
            <a:ext cx="4038600" cy="1828800"/>
          </a:xfrm>
          <a:prstGeom prst="line">
            <a:avLst/>
          </a:prstGeom>
          <a:noFill/>
          <a:ln w="34925">
            <a:solidFill>
              <a:srgbClr val="CC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497" name="Oval 9"/>
          <p:cNvSpPr>
            <a:spLocks noChangeArrowheads="1"/>
          </p:cNvSpPr>
          <p:nvPr/>
        </p:nvSpPr>
        <p:spPr bwMode="auto">
          <a:xfrm>
            <a:off x="4648200" y="5181600"/>
            <a:ext cx="288925" cy="304800"/>
          </a:xfrm>
          <a:prstGeom prst="ellipse">
            <a:avLst/>
          </a:prstGeom>
          <a:noFill/>
          <a:ln w="34925">
            <a:solidFill>
              <a:schemeClr val="folHlink"/>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63498" name="Rectangle 10"/>
          <p:cNvSpPr>
            <a:spLocks noChangeArrowheads="1"/>
          </p:cNvSpPr>
          <p:nvPr/>
        </p:nvSpPr>
        <p:spPr bwMode="auto">
          <a:xfrm>
            <a:off x="7696200" y="5486400"/>
            <a:ext cx="538163"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45000"/>
              </a:lnSpc>
              <a:spcBef>
                <a:spcPct val="20000"/>
              </a:spcBef>
            </a:pPr>
            <a:r>
              <a:rPr kumimoji="0" lang="en-US" altLang="zh-CN" b="1">
                <a:solidFill>
                  <a:srgbClr val="CC0000"/>
                </a:solidFill>
                <a:sym typeface="Symbol" panose="05050102010706020507" pitchFamily="18" charset="2"/>
              </a:rPr>
              <a:t></a:t>
            </a:r>
            <a:r>
              <a:rPr lang="en-US" altLang="zh-CN" b="1" baseline="-25000">
                <a:solidFill>
                  <a:srgbClr val="CC0000"/>
                </a:solidFill>
                <a:sym typeface="Symbol" panose="05050102010706020507" pitchFamily="18" charset="2"/>
              </a:rPr>
              <a:t>1</a:t>
            </a:r>
            <a:r>
              <a:rPr kumimoji="0" lang="en-US" altLang="zh-CN" b="1" i="1" baseline="-25000">
                <a:solidFill>
                  <a:srgbClr val="CC0000"/>
                </a:solidFill>
                <a:sym typeface="Symbol" panose="05050102010706020507" pitchFamily="18" charset="2"/>
              </a:rPr>
              <a:t>f</a:t>
            </a:r>
            <a:endParaRPr kumimoji="0" lang="en-US" altLang="zh-CN" b="1" i="1" baseline="-25000">
              <a:solidFill>
                <a:srgbClr val="CC0000"/>
              </a:solidFill>
              <a:sym typeface="Symbol" panose="05050102010706020507" pitchFamily="18" charset="2"/>
            </a:endParaRPr>
          </a:p>
        </p:txBody>
      </p:sp>
      <p:sp>
        <p:nvSpPr>
          <p:cNvPr id="63499" name="Rectangle 11"/>
          <p:cNvSpPr>
            <a:spLocks noChangeArrowheads="1"/>
          </p:cNvSpPr>
          <p:nvPr/>
        </p:nvSpPr>
        <p:spPr bwMode="auto">
          <a:xfrm>
            <a:off x="4953000" y="5410200"/>
            <a:ext cx="914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45000"/>
              </a:lnSpc>
              <a:spcBef>
                <a:spcPct val="20000"/>
              </a:spcBef>
            </a:pPr>
            <a:r>
              <a:rPr kumimoji="0" lang="en-US" altLang="zh-CN" sz="2000" b="1">
                <a:solidFill>
                  <a:srgbClr val="CC0000"/>
                </a:solidFill>
                <a:sym typeface="Symbol" panose="05050102010706020507" pitchFamily="18" charset="2"/>
              </a:rPr>
              <a:t></a:t>
            </a:r>
            <a:r>
              <a:rPr lang="en-US" altLang="zh-CN" sz="2000" b="1" baseline="-25000">
                <a:solidFill>
                  <a:srgbClr val="CC0000"/>
                </a:solidFill>
                <a:sym typeface="Symbol" panose="05050102010706020507" pitchFamily="18" charset="2"/>
              </a:rPr>
              <a:t>v</a:t>
            </a:r>
            <a:r>
              <a:rPr lang="en-US" altLang="zh-CN" sz="2000" b="1">
                <a:solidFill>
                  <a:srgbClr val="CC0000"/>
                </a:solidFill>
                <a:sym typeface="Symbol" panose="05050102010706020507" pitchFamily="18" charset="2"/>
              </a:rPr>
              <a:t>=z</a:t>
            </a:r>
            <a:endParaRPr kumimoji="0" lang="en-US" altLang="zh-CN" sz="2000" b="1" baseline="-25000">
              <a:solidFill>
                <a:srgbClr val="CC0000"/>
              </a:solidFill>
              <a:sym typeface="Symbol" panose="05050102010706020507" pitchFamily="18" charset="2"/>
            </a:endParaRPr>
          </a:p>
        </p:txBody>
      </p:sp>
      <p:grpSp>
        <p:nvGrpSpPr>
          <p:cNvPr id="2" name="Group 12"/>
          <p:cNvGrpSpPr/>
          <p:nvPr/>
        </p:nvGrpSpPr>
        <p:grpSpPr bwMode="auto">
          <a:xfrm>
            <a:off x="2743200" y="3581400"/>
            <a:ext cx="5867400" cy="3048000"/>
            <a:chOff x="1728" y="2256"/>
            <a:chExt cx="3696" cy="1920"/>
          </a:xfrm>
        </p:grpSpPr>
        <p:sp>
          <p:nvSpPr>
            <p:cNvPr id="24625" name="Line 13"/>
            <p:cNvSpPr>
              <a:spLocks noChangeShapeType="1"/>
            </p:cNvSpPr>
            <p:nvPr/>
          </p:nvSpPr>
          <p:spPr bwMode="auto">
            <a:xfrm>
              <a:off x="1968" y="2352"/>
              <a:ext cx="0" cy="1824"/>
            </a:xfrm>
            <a:prstGeom prst="line">
              <a:avLst/>
            </a:prstGeom>
            <a:noFill/>
            <a:ln w="34925">
              <a:solidFill>
                <a:srgbClr val="0000FF"/>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26" name="Line 14"/>
            <p:cNvSpPr>
              <a:spLocks noChangeShapeType="1"/>
            </p:cNvSpPr>
            <p:nvPr/>
          </p:nvSpPr>
          <p:spPr bwMode="auto">
            <a:xfrm>
              <a:off x="1968" y="3360"/>
              <a:ext cx="3456" cy="0"/>
            </a:xfrm>
            <a:prstGeom prst="line">
              <a:avLst/>
            </a:prstGeom>
            <a:noFill/>
            <a:ln w="34925">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27" name="Rectangle 15"/>
            <p:cNvSpPr>
              <a:spLocks noChangeArrowheads="1"/>
            </p:cNvSpPr>
            <p:nvPr/>
          </p:nvSpPr>
          <p:spPr bwMode="auto">
            <a:xfrm>
              <a:off x="1728" y="2256"/>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FF"/>
                  </a:solidFill>
                  <a:sym typeface="Symbol" panose="05050102010706020507" pitchFamily="18" charset="2"/>
                </a:rPr>
                <a:t></a:t>
              </a:r>
              <a:endParaRPr lang="en-US" altLang="zh-CN" b="1">
                <a:solidFill>
                  <a:srgbClr val="0000FF"/>
                </a:solidFill>
                <a:sym typeface="Symbol" panose="05050102010706020507" pitchFamily="18" charset="2"/>
              </a:endParaRPr>
            </a:p>
          </p:txBody>
        </p:sp>
        <p:sp>
          <p:nvSpPr>
            <p:cNvPr id="24628" name="Rectangle 16"/>
            <p:cNvSpPr>
              <a:spLocks noChangeArrowheads="1"/>
            </p:cNvSpPr>
            <p:nvPr/>
          </p:nvSpPr>
          <p:spPr bwMode="auto">
            <a:xfrm>
              <a:off x="5184" y="3360"/>
              <a:ext cx="2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FF"/>
                  </a:solidFill>
                  <a:sym typeface="Symbol" panose="05050102010706020507" pitchFamily="18" charset="2"/>
                </a:rPr>
                <a:t></a:t>
              </a:r>
              <a:endParaRPr lang="en-US" altLang="zh-CN" b="1">
                <a:solidFill>
                  <a:srgbClr val="0000FF"/>
                </a:solidFill>
                <a:sym typeface="Symbol" panose="05050102010706020507" pitchFamily="18" charset="2"/>
              </a:endParaRPr>
            </a:p>
          </p:txBody>
        </p:sp>
      </p:grpSp>
      <p:sp>
        <p:nvSpPr>
          <p:cNvPr id="63505" name="Rectangle 17"/>
          <p:cNvSpPr>
            <a:spLocks noChangeArrowheads="1"/>
          </p:cNvSpPr>
          <p:nvPr/>
        </p:nvSpPr>
        <p:spPr bwMode="auto">
          <a:xfrm>
            <a:off x="3962400" y="5410200"/>
            <a:ext cx="914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45000"/>
              </a:lnSpc>
              <a:spcBef>
                <a:spcPct val="20000"/>
              </a:spcBef>
            </a:pPr>
            <a:r>
              <a:rPr kumimoji="0" lang="en-US" altLang="zh-CN" sz="2000" b="1">
                <a:solidFill>
                  <a:srgbClr val="CC0000"/>
                </a:solidFill>
                <a:sym typeface="Symbol" panose="05050102010706020507" pitchFamily="18" charset="2"/>
              </a:rPr>
              <a:t>K</a:t>
            </a:r>
            <a:r>
              <a:rPr kumimoji="0" lang="en-US" altLang="zh-CN" sz="2000" b="1" baseline="-25000">
                <a:solidFill>
                  <a:srgbClr val="CC0000"/>
                </a:solidFill>
                <a:sym typeface="Symbol" panose="05050102010706020507" pitchFamily="18" charset="2"/>
              </a:rPr>
              <a:t>0</a:t>
            </a:r>
            <a:r>
              <a:rPr kumimoji="0" lang="en-US" altLang="zh-CN" sz="2000" b="1">
                <a:solidFill>
                  <a:srgbClr val="CC0000"/>
                </a:solidFill>
                <a:sym typeface="Symbol" panose="05050102010706020507" pitchFamily="18" charset="2"/>
              </a:rPr>
              <a:t></a:t>
            </a:r>
            <a:r>
              <a:rPr lang="en-US" altLang="zh-CN" sz="2000" b="1" baseline="-25000">
                <a:solidFill>
                  <a:srgbClr val="CC0000"/>
                </a:solidFill>
                <a:sym typeface="Symbol" panose="05050102010706020507" pitchFamily="18" charset="2"/>
              </a:rPr>
              <a:t>v</a:t>
            </a:r>
            <a:endParaRPr kumimoji="0" lang="en-US" altLang="zh-CN" sz="2000" b="1" baseline="-25000">
              <a:solidFill>
                <a:srgbClr val="CC0000"/>
              </a:solidFill>
              <a:sym typeface="Symbol" panose="05050102010706020507" pitchFamily="18" charset="2"/>
            </a:endParaRPr>
          </a:p>
        </p:txBody>
      </p:sp>
      <p:sp>
        <p:nvSpPr>
          <p:cNvPr id="63506" name="Text Box 18"/>
          <p:cNvSpPr txBox="1">
            <a:spLocks noChangeArrowheads="1"/>
          </p:cNvSpPr>
          <p:nvPr/>
        </p:nvSpPr>
        <p:spPr bwMode="auto">
          <a:xfrm>
            <a:off x="1031875" y="3198813"/>
            <a:ext cx="2581275" cy="307975"/>
          </a:xfrm>
          <a:prstGeom prst="rect">
            <a:avLst/>
          </a:prstGeom>
          <a:solidFill>
            <a:srgbClr val="66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sz="2000" b="1" dirty="0" smtClean="0">
                <a:solidFill>
                  <a:schemeClr val="accent1"/>
                </a:solidFill>
                <a:latin typeface="+mn-ea"/>
                <a:ea typeface="+mn-ea"/>
              </a:rPr>
              <a:t>被动极限平衡应力状态</a:t>
            </a:r>
            <a:endParaRPr kumimoji="0" lang="zh-CN" altLang="en-US" sz="2000" b="1" dirty="0" smtClean="0">
              <a:solidFill>
                <a:schemeClr val="accent1"/>
              </a:solidFill>
              <a:latin typeface="+mn-ea"/>
              <a:ea typeface="+mn-ea"/>
            </a:endParaRPr>
          </a:p>
        </p:txBody>
      </p:sp>
      <p:sp>
        <p:nvSpPr>
          <p:cNvPr id="24591" name="Rectangle 20"/>
          <p:cNvSpPr>
            <a:spLocks noChangeArrowheads="1"/>
          </p:cNvSpPr>
          <p:nvPr/>
        </p:nvSpPr>
        <p:spPr bwMode="auto">
          <a:xfrm>
            <a:off x="1524000" y="838200"/>
            <a:ext cx="3200400" cy="2209800"/>
          </a:xfrm>
          <a:prstGeom prst="rect">
            <a:avLst/>
          </a:prstGeom>
          <a:solidFill>
            <a:srgbClr val="FFE36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nvGrpSpPr>
          <p:cNvPr id="3" name="Group 21"/>
          <p:cNvGrpSpPr/>
          <p:nvPr/>
        </p:nvGrpSpPr>
        <p:grpSpPr bwMode="auto">
          <a:xfrm>
            <a:off x="1524000" y="838200"/>
            <a:ext cx="3192463" cy="2135188"/>
            <a:chOff x="960" y="528"/>
            <a:chExt cx="2011" cy="1345"/>
          </a:xfrm>
        </p:grpSpPr>
        <p:sp>
          <p:nvSpPr>
            <p:cNvPr id="24609" name="Line 22"/>
            <p:cNvSpPr>
              <a:spLocks noChangeAspect="1" noChangeShapeType="1"/>
            </p:cNvSpPr>
            <p:nvPr/>
          </p:nvSpPr>
          <p:spPr bwMode="auto">
            <a:xfrm>
              <a:off x="2709" y="549"/>
              <a:ext cx="201" cy="117"/>
            </a:xfrm>
            <a:prstGeom prst="line">
              <a:avLst/>
            </a:prstGeom>
            <a:noFill/>
            <a:ln w="25400">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grpSp>
          <p:nvGrpSpPr>
            <p:cNvPr id="24610" name="Group 23"/>
            <p:cNvGrpSpPr/>
            <p:nvPr/>
          </p:nvGrpSpPr>
          <p:grpSpPr bwMode="auto">
            <a:xfrm>
              <a:off x="960" y="528"/>
              <a:ext cx="2011" cy="1345"/>
              <a:chOff x="1163" y="1679"/>
              <a:chExt cx="2011" cy="1345"/>
            </a:xfrm>
          </p:grpSpPr>
          <p:grpSp>
            <p:nvGrpSpPr>
              <p:cNvPr id="24611" name="Group 24"/>
              <p:cNvGrpSpPr/>
              <p:nvPr/>
            </p:nvGrpSpPr>
            <p:grpSpPr bwMode="auto">
              <a:xfrm>
                <a:off x="1163" y="1692"/>
                <a:ext cx="1561" cy="1321"/>
                <a:chOff x="1163" y="1692"/>
                <a:chExt cx="1561" cy="1321"/>
              </a:xfrm>
            </p:grpSpPr>
            <p:sp>
              <p:nvSpPr>
                <p:cNvPr id="24622" name="Line 25"/>
                <p:cNvSpPr>
                  <a:spLocks noChangeAspect="1" noChangeShapeType="1"/>
                </p:cNvSpPr>
                <p:nvPr/>
              </p:nvSpPr>
              <p:spPr bwMode="auto">
                <a:xfrm flipH="1">
                  <a:off x="1163" y="1692"/>
                  <a:ext cx="741" cy="432"/>
                </a:xfrm>
                <a:prstGeom prst="line">
                  <a:avLst/>
                </a:prstGeom>
                <a:noFill/>
                <a:ln w="25400">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24623" name="Line 26"/>
                <p:cNvSpPr>
                  <a:spLocks noChangeAspect="1" noChangeShapeType="1"/>
                </p:cNvSpPr>
                <p:nvPr/>
              </p:nvSpPr>
              <p:spPr bwMode="auto">
                <a:xfrm>
                  <a:off x="1183" y="2550"/>
                  <a:ext cx="755" cy="440"/>
                </a:xfrm>
                <a:prstGeom prst="line">
                  <a:avLst/>
                </a:prstGeom>
                <a:noFill/>
                <a:ln w="25400">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24624" name="Line 27"/>
                <p:cNvSpPr>
                  <a:spLocks noChangeAspect="1" noChangeShapeType="1"/>
                </p:cNvSpPr>
                <p:nvPr/>
              </p:nvSpPr>
              <p:spPr bwMode="auto">
                <a:xfrm>
                  <a:off x="1187" y="2117"/>
                  <a:ext cx="1537" cy="896"/>
                </a:xfrm>
                <a:prstGeom prst="line">
                  <a:avLst/>
                </a:prstGeom>
                <a:noFill/>
                <a:ln w="25400">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24612" name="Group 28"/>
              <p:cNvGrpSpPr/>
              <p:nvPr/>
            </p:nvGrpSpPr>
            <p:grpSpPr bwMode="auto">
              <a:xfrm>
                <a:off x="1166" y="1679"/>
                <a:ext cx="2008" cy="1345"/>
                <a:chOff x="1166" y="1671"/>
                <a:chExt cx="2008" cy="1345"/>
              </a:xfrm>
            </p:grpSpPr>
            <p:sp>
              <p:nvSpPr>
                <p:cNvPr id="24613" name="Line 29"/>
                <p:cNvSpPr>
                  <a:spLocks noChangeAspect="1" noChangeShapeType="1"/>
                </p:cNvSpPr>
                <p:nvPr/>
              </p:nvSpPr>
              <p:spPr bwMode="auto">
                <a:xfrm>
                  <a:off x="1186" y="1727"/>
                  <a:ext cx="1922" cy="1118"/>
                </a:xfrm>
                <a:prstGeom prst="line">
                  <a:avLst/>
                </a:prstGeom>
                <a:noFill/>
                <a:ln w="25400">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24614" name="Line 30"/>
                <p:cNvSpPr>
                  <a:spLocks noChangeAspect="1" noChangeShapeType="1"/>
                </p:cNvSpPr>
                <p:nvPr/>
              </p:nvSpPr>
              <p:spPr bwMode="auto">
                <a:xfrm flipH="1">
                  <a:off x="1166" y="1682"/>
                  <a:ext cx="225" cy="131"/>
                </a:xfrm>
                <a:prstGeom prst="line">
                  <a:avLst/>
                </a:prstGeom>
                <a:noFill/>
                <a:ln w="25400">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24615" name="Line 31"/>
                <p:cNvSpPr>
                  <a:spLocks noChangeAspect="1" noChangeShapeType="1"/>
                </p:cNvSpPr>
                <p:nvPr/>
              </p:nvSpPr>
              <p:spPr bwMode="auto">
                <a:xfrm flipH="1">
                  <a:off x="1178" y="1703"/>
                  <a:ext cx="1249" cy="728"/>
                </a:xfrm>
                <a:prstGeom prst="line">
                  <a:avLst/>
                </a:prstGeom>
                <a:noFill/>
                <a:ln w="25400">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24616" name="Line 32"/>
                <p:cNvSpPr>
                  <a:spLocks noChangeAspect="1" noChangeShapeType="1"/>
                </p:cNvSpPr>
                <p:nvPr/>
              </p:nvSpPr>
              <p:spPr bwMode="auto">
                <a:xfrm>
                  <a:off x="2389" y="1694"/>
                  <a:ext cx="741" cy="432"/>
                </a:xfrm>
                <a:prstGeom prst="line">
                  <a:avLst/>
                </a:prstGeom>
                <a:noFill/>
                <a:ln w="25400">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24617" name="Line 33"/>
                <p:cNvSpPr>
                  <a:spLocks noChangeAspect="1" noChangeShapeType="1"/>
                </p:cNvSpPr>
                <p:nvPr/>
              </p:nvSpPr>
              <p:spPr bwMode="auto">
                <a:xfrm>
                  <a:off x="1799" y="1684"/>
                  <a:ext cx="1353" cy="789"/>
                </a:xfrm>
                <a:prstGeom prst="line">
                  <a:avLst/>
                </a:prstGeom>
                <a:noFill/>
                <a:ln w="25400">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24618" name="Line 34"/>
                <p:cNvSpPr>
                  <a:spLocks noChangeAspect="1" noChangeShapeType="1"/>
                </p:cNvSpPr>
                <p:nvPr/>
              </p:nvSpPr>
              <p:spPr bwMode="auto">
                <a:xfrm flipH="1">
                  <a:off x="1167" y="1671"/>
                  <a:ext cx="1944" cy="1133"/>
                </a:xfrm>
                <a:prstGeom prst="line">
                  <a:avLst/>
                </a:prstGeom>
                <a:noFill/>
                <a:ln w="25400">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24619" name="Line 35"/>
                <p:cNvSpPr>
                  <a:spLocks noChangeAspect="1" noChangeShapeType="1"/>
                </p:cNvSpPr>
                <p:nvPr/>
              </p:nvSpPr>
              <p:spPr bwMode="auto">
                <a:xfrm flipH="1">
                  <a:off x="1441" y="2001"/>
                  <a:ext cx="1703" cy="993"/>
                </a:xfrm>
                <a:prstGeom prst="line">
                  <a:avLst/>
                </a:prstGeom>
                <a:noFill/>
                <a:ln w="25400">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24620" name="Line 36"/>
                <p:cNvSpPr>
                  <a:spLocks noChangeAspect="1" noChangeShapeType="1"/>
                </p:cNvSpPr>
                <p:nvPr/>
              </p:nvSpPr>
              <p:spPr bwMode="auto">
                <a:xfrm flipH="1">
                  <a:off x="2011" y="2339"/>
                  <a:ext cx="1163" cy="677"/>
                </a:xfrm>
                <a:prstGeom prst="line">
                  <a:avLst/>
                </a:prstGeom>
                <a:noFill/>
                <a:ln w="25400">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24621" name="Line 37"/>
                <p:cNvSpPr>
                  <a:spLocks noChangeAspect="1" noChangeShapeType="1"/>
                </p:cNvSpPr>
                <p:nvPr/>
              </p:nvSpPr>
              <p:spPr bwMode="auto">
                <a:xfrm flipH="1">
                  <a:off x="2627" y="2715"/>
                  <a:ext cx="509" cy="297"/>
                </a:xfrm>
                <a:prstGeom prst="line">
                  <a:avLst/>
                </a:prstGeom>
                <a:noFill/>
                <a:ln w="25400">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grpSp>
        </p:grpSp>
      </p:grpSp>
      <p:sp>
        <p:nvSpPr>
          <p:cNvPr id="63526" name="Oval 38"/>
          <p:cNvSpPr>
            <a:spLocks noChangeArrowheads="1"/>
          </p:cNvSpPr>
          <p:nvPr/>
        </p:nvSpPr>
        <p:spPr bwMode="auto">
          <a:xfrm>
            <a:off x="4953000" y="4648200"/>
            <a:ext cx="1371600" cy="1371600"/>
          </a:xfrm>
          <a:prstGeom prst="ellipse">
            <a:avLst/>
          </a:prstGeom>
          <a:noFill/>
          <a:ln w="22225">
            <a:solidFill>
              <a:srgbClr val="00FFFF"/>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63527" name="Oval 39"/>
          <p:cNvSpPr>
            <a:spLocks noChangeArrowheads="1"/>
          </p:cNvSpPr>
          <p:nvPr/>
        </p:nvSpPr>
        <p:spPr bwMode="auto">
          <a:xfrm>
            <a:off x="4953000" y="4267200"/>
            <a:ext cx="2286000" cy="2209800"/>
          </a:xfrm>
          <a:prstGeom prst="ellipse">
            <a:avLst/>
          </a:prstGeom>
          <a:noFill/>
          <a:ln w="22225">
            <a:solidFill>
              <a:srgbClr val="CC0099"/>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nvGrpSpPr>
          <p:cNvPr id="7" name="Group 40"/>
          <p:cNvGrpSpPr/>
          <p:nvPr/>
        </p:nvGrpSpPr>
        <p:grpSpPr bwMode="auto">
          <a:xfrm>
            <a:off x="1600200" y="1600200"/>
            <a:ext cx="914400" cy="914400"/>
            <a:chOff x="1008" y="1008"/>
            <a:chExt cx="576" cy="576"/>
          </a:xfrm>
        </p:grpSpPr>
        <p:sp>
          <p:nvSpPr>
            <p:cNvPr id="24604" name="Rectangle 41"/>
            <p:cNvSpPr>
              <a:spLocks noChangeArrowheads="1"/>
            </p:cNvSpPr>
            <p:nvPr/>
          </p:nvSpPr>
          <p:spPr bwMode="auto">
            <a:xfrm>
              <a:off x="1200" y="1200"/>
              <a:ext cx="192" cy="192"/>
            </a:xfrm>
            <a:prstGeom prst="rect">
              <a:avLst/>
            </a:prstGeom>
            <a:solidFill>
              <a:srgbClr val="FFFFFF"/>
            </a:solidFill>
            <a:ln w="9525">
              <a:solidFill>
                <a:srgbClr val="000000"/>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24605" name="Line 42"/>
            <p:cNvSpPr>
              <a:spLocks noChangeShapeType="1"/>
            </p:cNvSpPr>
            <p:nvPr/>
          </p:nvSpPr>
          <p:spPr bwMode="auto">
            <a:xfrm>
              <a:off x="1008" y="1296"/>
              <a:ext cx="192" cy="0"/>
            </a:xfrm>
            <a:prstGeom prst="line">
              <a:avLst/>
            </a:prstGeom>
            <a:noFill/>
            <a:ln w="222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06" name="Line 43"/>
            <p:cNvSpPr>
              <a:spLocks noChangeShapeType="1"/>
            </p:cNvSpPr>
            <p:nvPr/>
          </p:nvSpPr>
          <p:spPr bwMode="auto">
            <a:xfrm rot="10800000">
              <a:off x="1392" y="1296"/>
              <a:ext cx="192" cy="0"/>
            </a:xfrm>
            <a:prstGeom prst="line">
              <a:avLst/>
            </a:prstGeom>
            <a:noFill/>
            <a:ln w="222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07" name="Line 44"/>
            <p:cNvSpPr>
              <a:spLocks noChangeShapeType="1"/>
            </p:cNvSpPr>
            <p:nvPr/>
          </p:nvSpPr>
          <p:spPr bwMode="auto">
            <a:xfrm rot="-5400000">
              <a:off x="1200" y="1488"/>
              <a:ext cx="192" cy="0"/>
            </a:xfrm>
            <a:prstGeom prst="line">
              <a:avLst/>
            </a:prstGeom>
            <a:noFill/>
            <a:ln w="222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08" name="Line 45"/>
            <p:cNvSpPr>
              <a:spLocks noChangeShapeType="1"/>
            </p:cNvSpPr>
            <p:nvPr/>
          </p:nvSpPr>
          <p:spPr bwMode="auto">
            <a:xfrm rot="5400000">
              <a:off x="1200" y="1104"/>
              <a:ext cx="192" cy="0"/>
            </a:xfrm>
            <a:prstGeom prst="line">
              <a:avLst/>
            </a:prstGeom>
            <a:noFill/>
            <a:ln w="222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3534" name="Text Box 46"/>
          <p:cNvSpPr txBox="1">
            <a:spLocks noChangeArrowheads="1"/>
          </p:cNvSpPr>
          <p:nvPr/>
        </p:nvSpPr>
        <p:spPr bwMode="auto">
          <a:xfrm>
            <a:off x="1828800" y="1143000"/>
            <a:ext cx="415925" cy="374650"/>
          </a:xfrm>
          <a:prstGeom prst="rect">
            <a:avLst/>
          </a:prstGeom>
          <a:solidFill>
            <a:srgbClr val="6600FF"/>
          </a:solidFill>
          <a:ln w="9525">
            <a:solidFill>
              <a:srgbClr val="6600FF"/>
            </a:solidFill>
            <a:miter lim="800000"/>
          </a:ln>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b="1">
                <a:solidFill>
                  <a:schemeClr val="accent1"/>
                </a:solidFill>
                <a:latin typeface="Symbol" panose="05050102010706020507" pitchFamily="18" charset="2"/>
              </a:rPr>
              <a:t>s</a:t>
            </a:r>
            <a:r>
              <a:rPr kumimoji="0" lang="en-US" altLang="zh-CN" sz="1800" b="1" baseline="-25000">
                <a:solidFill>
                  <a:schemeClr val="accent1"/>
                </a:solidFill>
                <a:latin typeface="Arial" panose="020B0604020202020204" pitchFamily="34" charset="0"/>
              </a:rPr>
              <a:t>1</a:t>
            </a:r>
            <a:endParaRPr kumimoji="0" lang="en-US" altLang="zh-CN" sz="1800" b="1" baseline="-25000">
              <a:solidFill>
                <a:schemeClr val="accent1"/>
              </a:solidFill>
              <a:latin typeface="Arial" panose="020B0604020202020204" pitchFamily="34" charset="0"/>
            </a:endParaRPr>
          </a:p>
        </p:txBody>
      </p:sp>
      <p:sp>
        <p:nvSpPr>
          <p:cNvPr id="63535" name="Text Box 47"/>
          <p:cNvSpPr txBox="1">
            <a:spLocks noChangeArrowheads="1"/>
          </p:cNvSpPr>
          <p:nvPr/>
        </p:nvSpPr>
        <p:spPr bwMode="auto">
          <a:xfrm>
            <a:off x="2590800" y="1828800"/>
            <a:ext cx="415925" cy="374650"/>
          </a:xfrm>
          <a:prstGeom prst="rect">
            <a:avLst/>
          </a:prstGeom>
          <a:solidFill>
            <a:srgbClr val="6600FF"/>
          </a:solidFill>
          <a:ln w="9525">
            <a:solidFill>
              <a:srgbClr val="6600FF"/>
            </a:solidFill>
            <a:miter lim="800000"/>
          </a:ln>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b="1">
                <a:solidFill>
                  <a:schemeClr val="accent1"/>
                </a:solidFill>
                <a:latin typeface="Symbol" panose="05050102010706020507" pitchFamily="18" charset="2"/>
              </a:rPr>
              <a:t>s</a:t>
            </a:r>
            <a:r>
              <a:rPr kumimoji="0" lang="en-US" altLang="zh-CN" b="1" baseline="-25000">
                <a:solidFill>
                  <a:schemeClr val="accent1"/>
                </a:solidFill>
              </a:rPr>
              <a:t>3</a:t>
            </a:r>
            <a:endParaRPr kumimoji="0" lang="en-US" altLang="zh-CN" b="1" baseline="-25000">
              <a:solidFill>
                <a:schemeClr val="accent1"/>
              </a:solidFill>
            </a:endParaRPr>
          </a:p>
        </p:txBody>
      </p:sp>
      <p:sp>
        <p:nvSpPr>
          <p:cNvPr id="63536" name="Text Box 48"/>
          <p:cNvSpPr txBox="1">
            <a:spLocks noChangeArrowheads="1"/>
          </p:cNvSpPr>
          <p:nvPr/>
        </p:nvSpPr>
        <p:spPr bwMode="auto">
          <a:xfrm>
            <a:off x="1828800" y="1143000"/>
            <a:ext cx="415925" cy="374650"/>
          </a:xfrm>
          <a:prstGeom prst="rect">
            <a:avLst/>
          </a:prstGeom>
          <a:solidFill>
            <a:srgbClr val="6600FF"/>
          </a:solidFill>
          <a:ln w="9525">
            <a:solidFill>
              <a:srgbClr val="6600FF"/>
            </a:solidFill>
            <a:miter lim="800000"/>
          </a:ln>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b="1">
                <a:solidFill>
                  <a:schemeClr val="accent1"/>
                </a:solidFill>
                <a:latin typeface="Symbol" panose="05050102010706020507" pitchFamily="18" charset="2"/>
              </a:rPr>
              <a:t>s</a:t>
            </a:r>
            <a:r>
              <a:rPr kumimoji="0" lang="en-US" altLang="zh-CN" sz="1800" b="1" baseline="-25000">
                <a:solidFill>
                  <a:schemeClr val="accent1"/>
                </a:solidFill>
                <a:latin typeface="Arial" panose="020B0604020202020204" pitchFamily="34" charset="0"/>
              </a:rPr>
              <a:t>3</a:t>
            </a:r>
            <a:endParaRPr kumimoji="0" lang="en-US" altLang="zh-CN" sz="1800" b="1" baseline="-25000">
              <a:solidFill>
                <a:schemeClr val="accent1"/>
              </a:solidFill>
              <a:latin typeface="Arial" panose="020B0604020202020204" pitchFamily="34" charset="0"/>
            </a:endParaRPr>
          </a:p>
        </p:txBody>
      </p:sp>
      <p:sp>
        <p:nvSpPr>
          <p:cNvPr id="63537" name="Text Box 49"/>
          <p:cNvSpPr txBox="1">
            <a:spLocks noChangeArrowheads="1"/>
          </p:cNvSpPr>
          <p:nvPr/>
        </p:nvSpPr>
        <p:spPr bwMode="auto">
          <a:xfrm>
            <a:off x="2590800" y="1828800"/>
            <a:ext cx="415925" cy="374650"/>
          </a:xfrm>
          <a:prstGeom prst="rect">
            <a:avLst/>
          </a:prstGeom>
          <a:solidFill>
            <a:srgbClr val="6600FF"/>
          </a:solidFill>
          <a:ln w="9525">
            <a:solidFill>
              <a:srgbClr val="6600FF"/>
            </a:solidFill>
            <a:miter lim="800000"/>
          </a:ln>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b="1">
                <a:solidFill>
                  <a:schemeClr val="accent1"/>
                </a:solidFill>
                <a:latin typeface="Symbol" panose="05050102010706020507" pitchFamily="18" charset="2"/>
              </a:rPr>
              <a:t>s</a:t>
            </a:r>
            <a:r>
              <a:rPr kumimoji="0" lang="en-US" altLang="zh-CN" sz="1800" b="1" baseline="-25000">
                <a:solidFill>
                  <a:schemeClr val="accent1"/>
                </a:solidFill>
                <a:latin typeface="Arial" panose="020B0604020202020204" pitchFamily="34" charset="0"/>
              </a:rPr>
              <a:t>1</a:t>
            </a:r>
            <a:endParaRPr kumimoji="0" lang="en-US" altLang="zh-CN" sz="1800" b="1" baseline="-25000">
              <a:solidFill>
                <a:schemeClr val="accent1"/>
              </a:solidFill>
              <a:latin typeface="Arial" panose="020B0604020202020204" pitchFamily="34" charset="0"/>
            </a:endParaRPr>
          </a:p>
        </p:txBody>
      </p:sp>
      <p:sp>
        <p:nvSpPr>
          <p:cNvPr id="63538" name="Rectangle 50"/>
          <p:cNvSpPr>
            <a:spLocks noChangeArrowheads="1"/>
          </p:cNvSpPr>
          <p:nvPr/>
        </p:nvSpPr>
        <p:spPr bwMode="auto">
          <a:xfrm>
            <a:off x="2971800" y="2667000"/>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en-US" altLang="zh-CN" sz="2000" b="1" i="1">
                <a:solidFill>
                  <a:srgbClr val="6600FF"/>
                </a:solidFill>
                <a:ea typeface="楷体_GB2312" pitchFamily="49" charset="-122"/>
              </a:rPr>
              <a:t>45</a:t>
            </a:r>
            <a:r>
              <a:rPr lang="en-US" altLang="zh-CN" sz="2000" b="1" i="1" baseline="30000">
                <a:solidFill>
                  <a:srgbClr val="6600FF"/>
                </a:solidFill>
                <a:sym typeface="Symbol" panose="05050102010706020507" pitchFamily="18" charset="2"/>
              </a:rPr>
              <a:t></a:t>
            </a:r>
            <a:r>
              <a:rPr lang="en-US" altLang="zh-CN" sz="2000" b="1">
                <a:solidFill>
                  <a:srgbClr val="6600FF"/>
                </a:solidFill>
                <a:sym typeface="Symbol" panose="05050102010706020507" pitchFamily="18" charset="2"/>
              </a:rPr>
              <a:t>-</a:t>
            </a:r>
            <a:r>
              <a:rPr lang="el-GR" altLang="zh-CN" sz="2000" b="1">
                <a:solidFill>
                  <a:srgbClr val="6600FF"/>
                </a:solidFill>
                <a:sym typeface="Symbol" panose="05050102010706020507" pitchFamily="18" charset="2"/>
              </a:rPr>
              <a:t>φ</a:t>
            </a:r>
            <a:r>
              <a:rPr lang="en-US" altLang="zh-CN" sz="2000" b="1" i="1">
                <a:solidFill>
                  <a:srgbClr val="6600FF"/>
                </a:solidFill>
                <a:sym typeface="Symbol" panose="05050102010706020507" pitchFamily="18" charset="2"/>
              </a:rPr>
              <a:t>/2</a:t>
            </a:r>
            <a:endParaRPr lang="en-US" altLang="zh-CN" sz="2000" b="1" i="1">
              <a:solidFill>
                <a:srgbClr val="6600FF"/>
              </a:solidFill>
              <a:sym typeface="Symbol" panose="05050102010706020507" pitchFamily="18" charset="2"/>
            </a:endParaRPr>
          </a:p>
        </p:txBody>
      </p:sp>
      <p:sp>
        <p:nvSpPr>
          <p:cNvPr id="24601" name="Text Box 51"/>
          <p:cNvSpPr txBox="1">
            <a:spLocks noChangeArrowheads="1"/>
          </p:cNvSpPr>
          <p:nvPr/>
        </p:nvSpPr>
        <p:spPr bwMode="auto">
          <a:xfrm>
            <a:off x="4859338" y="2708275"/>
            <a:ext cx="2317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a:solidFill>
                  <a:srgbClr val="3333FF"/>
                </a:solidFill>
                <a:ea typeface="隶书" panose="02010509060101010101" pitchFamily="49" charset="-122"/>
              </a:rPr>
              <a:t>竖向应力不变！</a:t>
            </a:r>
            <a:endParaRPr lang="zh-CN" altLang="en-US">
              <a:solidFill>
                <a:srgbClr val="3333FF"/>
              </a:solidFill>
              <a:ea typeface="隶书" panose="02010509060101010101" pitchFamily="49" charset="-122"/>
            </a:endParaRPr>
          </a:p>
        </p:txBody>
      </p:sp>
      <p:sp>
        <p:nvSpPr>
          <p:cNvPr id="24602" name="AutoShape 52"/>
          <p:cNvSpPr>
            <a:spLocks noChangeArrowheads="1"/>
          </p:cNvSpPr>
          <p:nvPr/>
        </p:nvSpPr>
        <p:spPr bwMode="auto">
          <a:xfrm>
            <a:off x="4643438" y="2708275"/>
            <a:ext cx="2449512" cy="576263"/>
          </a:xfrm>
          <a:prstGeom prst="wedgeRoundRectCallout">
            <a:avLst>
              <a:gd name="adj1" fmla="val -38852"/>
              <a:gd name="adj2" fmla="val 394903"/>
              <a:gd name="adj3" fmla="val 16667"/>
            </a:avLst>
          </a:prstGeom>
          <a:solidFill>
            <a:schemeClr val="accent2">
              <a:alpha val="7843"/>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52" name="Rectangle 6"/>
          <p:cNvSpPr>
            <a:spLocks noChangeArrowheads="1"/>
          </p:cNvSpPr>
          <p:nvPr/>
        </p:nvSpPr>
        <p:spPr bwMode="auto">
          <a:xfrm>
            <a:off x="-9525" y="-19367"/>
            <a:ext cx="3617913"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朗肯土压力理论</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63492"/>
                                        </p:tgtEl>
                                        <p:attrNameLst>
                                          <p:attrName>style.visibility</p:attrName>
                                        </p:attrNameLst>
                                      </p:cBhvr>
                                      <p:to>
                                        <p:strVal val="visible"/>
                                      </p:to>
                                    </p:set>
                                    <p:animEffect transition="in" filter="barn(outHorizontal)">
                                      <p:cBhvr>
                                        <p:cTn id="7" dur="500"/>
                                        <p:tgtEl>
                                          <p:spTgt spid="6349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63534"/>
                                        </p:tgtEl>
                                        <p:attrNameLst>
                                          <p:attrName>style.visibility</p:attrName>
                                        </p:attrNameLst>
                                      </p:cBhvr>
                                      <p:to>
                                        <p:strVal val="visible"/>
                                      </p:to>
                                    </p:set>
                                    <p:animEffect transition="in" filter="slide(fromTop)">
                                      <p:cBhvr>
                                        <p:cTn id="17" dur="500"/>
                                        <p:tgtEl>
                                          <p:spTgt spid="63534"/>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2" fill="hold" grpId="0" nodeType="clickEffect">
                                  <p:stCondLst>
                                    <p:cond delay="0"/>
                                  </p:stCondLst>
                                  <p:childTnLst>
                                    <p:set>
                                      <p:cBhvr>
                                        <p:cTn id="21" dur="1" fill="hold">
                                          <p:stCondLst>
                                            <p:cond delay="0"/>
                                          </p:stCondLst>
                                        </p:cTn>
                                        <p:tgtEl>
                                          <p:spTgt spid="63535"/>
                                        </p:tgtEl>
                                        <p:attrNameLst>
                                          <p:attrName>style.visibility</p:attrName>
                                        </p:attrNameLst>
                                      </p:cBhvr>
                                      <p:to>
                                        <p:strVal val="visible"/>
                                      </p:to>
                                    </p:set>
                                    <p:animEffect transition="in" filter="slide(fromRight)">
                                      <p:cBhvr>
                                        <p:cTn id="22" dur="500"/>
                                        <p:tgtEl>
                                          <p:spTgt spid="63535"/>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63493"/>
                                        </p:tgtEl>
                                        <p:attrNameLst>
                                          <p:attrName>style.visibility</p:attrName>
                                        </p:attrNameLst>
                                      </p:cBhvr>
                                      <p:to>
                                        <p:strVal val="visible"/>
                                      </p:to>
                                    </p:set>
                                    <p:animEffect transition="in" filter="slide(fromLeft)">
                                      <p:cBhvr>
                                        <p:cTn id="27" dur="500"/>
                                        <p:tgtEl>
                                          <p:spTgt spid="6349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dissolve">
                                      <p:cBhvr>
                                        <p:cTn id="32" dur="500"/>
                                        <p:tgtEl>
                                          <p:spTgt spid="2"/>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63496"/>
                                        </p:tgtEl>
                                        <p:attrNameLst>
                                          <p:attrName>style.visibility</p:attrName>
                                        </p:attrNameLst>
                                      </p:cBhvr>
                                      <p:to>
                                        <p:strVal val="visible"/>
                                      </p:to>
                                    </p:set>
                                    <p:animEffect transition="in" filter="wipe(left)">
                                      <p:cBhvr>
                                        <p:cTn id="36" dur="500"/>
                                        <p:tgtEl>
                                          <p:spTgt spid="63496"/>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63494"/>
                                        </p:tgtEl>
                                        <p:attrNameLst>
                                          <p:attrName>style.visibility</p:attrName>
                                        </p:attrNameLst>
                                      </p:cBhvr>
                                      <p:to>
                                        <p:strVal val="visible"/>
                                      </p:to>
                                    </p:set>
                                    <p:animEffect transition="in" filter="dissolve">
                                      <p:cBhvr>
                                        <p:cTn id="41" dur="500"/>
                                        <p:tgtEl>
                                          <p:spTgt spid="63494"/>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63499"/>
                                        </p:tgtEl>
                                        <p:attrNameLst>
                                          <p:attrName>style.visibility</p:attrName>
                                        </p:attrNameLst>
                                      </p:cBhvr>
                                      <p:to>
                                        <p:strVal val="visible"/>
                                      </p:to>
                                    </p:set>
                                    <p:animEffect transition="in" filter="dissolve">
                                      <p:cBhvr>
                                        <p:cTn id="46" dur="500"/>
                                        <p:tgtEl>
                                          <p:spTgt spid="63499"/>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63505"/>
                                        </p:tgtEl>
                                        <p:attrNameLst>
                                          <p:attrName>style.visibility</p:attrName>
                                        </p:attrNameLst>
                                      </p:cBhvr>
                                      <p:to>
                                        <p:strVal val="visible"/>
                                      </p:to>
                                    </p:set>
                                    <p:animEffect transition="in" filter="dissolve">
                                      <p:cBhvr>
                                        <p:cTn id="51" dur="500"/>
                                        <p:tgtEl>
                                          <p:spTgt spid="63505"/>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63497"/>
                                        </p:tgtEl>
                                        <p:attrNameLst>
                                          <p:attrName>style.visibility</p:attrName>
                                        </p:attrNameLst>
                                      </p:cBhvr>
                                      <p:to>
                                        <p:strVal val="visible"/>
                                      </p:to>
                                    </p:set>
                                    <p:animEffect transition="in" filter="dissolve">
                                      <p:cBhvr>
                                        <p:cTn id="56" dur="500"/>
                                        <p:tgtEl>
                                          <p:spTgt spid="63497"/>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63490"/>
                                        </p:tgtEl>
                                        <p:attrNameLst>
                                          <p:attrName>style.visibility</p:attrName>
                                        </p:attrNameLst>
                                      </p:cBhvr>
                                      <p:to>
                                        <p:strVal val="visible"/>
                                      </p:to>
                                    </p:set>
                                    <p:animEffect transition="in" filter="dissolve">
                                      <p:cBhvr>
                                        <p:cTn id="61" dur="500"/>
                                        <p:tgtEl>
                                          <p:spTgt spid="63490"/>
                                        </p:tgtEl>
                                      </p:cBhvr>
                                    </p:animEffect>
                                  </p:childTnLst>
                                </p:cTn>
                              </p:par>
                            </p:childTnLst>
                          </p:cTn>
                        </p:par>
                      </p:childTnLst>
                    </p:cTn>
                  </p:par>
                  <p:par>
                    <p:cTn id="62" fill="hold">
                      <p:stCondLst>
                        <p:cond delay="indefinite"/>
                      </p:stCondLst>
                      <p:childTnLst>
                        <p:par>
                          <p:cTn id="63" fill="hold">
                            <p:stCondLst>
                              <p:cond delay="0"/>
                            </p:stCondLst>
                            <p:childTnLst>
                              <p:par>
                                <p:cTn id="64" presetID="7" presetClass="entr" presetSubtype="1" fill="hold" grpId="0" nodeType="clickEffect">
                                  <p:stCondLst>
                                    <p:cond delay="0"/>
                                  </p:stCondLst>
                                  <p:childTnLst>
                                    <p:set>
                                      <p:cBhvr>
                                        <p:cTn id="65" dur="1" fill="hold">
                                          <p:stCondLst>
                                            <p:cond delay="0"/>
                                          </p:stCondLst>
                                        </p:cTn>
                                        <p:tgtEl>
                                          <p:spTgt spid="63536"/>
                                        </p:tgtEl>
                                        <p:attrNameLst>
                                          <p:attrName>style.visibility</p:attrName>
                                        </p:attrNameLst>
                                      </p:cBhvr>
                                      <p:to>
                                        <p:strVal val="visible"/>
                                      </p:to>
                                    </p:set>
                                    <p:anim calcmode="lin" valueType="num">
                                      <p:cBhvr additive="base">
                                        <p:cTn id="66" dur="5000" fill="hold"/>
                                        <p:tgtEl>
                                          <p:spTgt spid="63536"/>
                                        </p:tgtEl>
                                        <p:attrNameLst>
                                          <p:attrName>ppt_x</p:attrName>
                                        </p:attrNameLst>
                                      </p:cBhvr>
                                      <p:tavLst>
                                        <p:tav tm="0">
                                          <p:val>
                                            <p:strVal val="#ppt_x"/>
                                          </p:val>
                                        </p:tav>
                                        <p:tav tm="100000">
                                          <p:val>
                                            <p:strVal val="#ppt_x"/>
                                          </p:val>
                                        </p:tav>
                                      </p:tavLst>
                                    </p:anim>
                                    <p:anim calcmode="lin" valueType="num">
                                      <p:cBhvr additive="base">
                                        <p:cTn id="67" dur="5000" fill="hold"/>
                                        <p:tgtEl>
                                          <p:spTgt spid="63536"/>
                                        </p:tgtEl>
                                        <p:attrNameLst>
                                          <p:attrName>ppt_y</p:attrName>
                                        </p:attrNameLst>
                                      </p:cBhvr>
                                      <p:tavLst>
                                        <p:tav tm="0">
                                          <p:val>
                                            <p:strVal val="0-#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7" presetClass="entr" presetSubtype="2" fill="hold" grpId="0" nodeType="clickEffect">
                                  <p:stCondLst>
                                    <p:cond delay="0"/>
                                  </p:stCondLst>
                                  <p:childTnLst>
                                    <p:set>
                                      <p:cBhvr>
                                        <p:cTn id="71" dur="1" fill="hold">
                                          <p:stCondLst>
                                            <p:cond delay="0"/>
                                          </p:stCondLst>
                                        </p:cTn>
                                        <p:tgtEl>
                                          <p:spTgt spid="63537"/>
                                        </p:tgtEl>
                                        <p:attrNameLst>
                                          <p:attrName>style.visibility</p:attrName>
                                        </p:attrNameLst>
                                      </p:cBhvr>
                                      <p:to>
                                        <p:strVal val="visible"/>
                                      </p:to>
                                    </p:set>
                                    <p:anim calcmode="lin" valueType="num">
                                      <p:cBhvr additive="base">
                                        <p:cTn id="72" dur="5000" fill="hold"/>
                                        <p:tgtEl>
                                          <p:spTgt spid="63537"/>
                                        </p:tgtEl>
                                        <p:attrNameLst>
                                          <p:attrName>ppt_x</p:attrName>
                                        </p:attrNameLst>
                                      </p:cBhvr>
                                      <p:tavLst>
                                        <p:tav tm="0">
                                          <p:val>
                                            <p:strVal val="1+#ppt_w/2"/>
                                          </p:val>
                                        </p:tav>
                                        <p:tav tm="100000">
                                          <p:val>
                                            <p:strVal val="#ppt_x"/>
                                          </p:val>
                                        </p:tav>
                                      </p:tavLst>
                                    </p:anim>
                                    <p:anim calcmode="lin" valueType="num">
                                      <p:cBhvr additive="base">
                                        <p:cTn id="73" dur="5000" fill="hold"/>
                                        <p:tgtEl>
                                          <p:spTgt spid="63537"/>
                                        </p:tgtEl>
                                        <p:attrNameLst>
                                          <p:attrName>ppt_y</p:attrName>
                                        </p:attrNameLst>
                                      </p:cBhvr>
                                      <p:tavLst>
                                        <p:tav tm="0">
                                          <p:val>
                                            <p:strVal val="#ppt_y"/>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9" presetClass="entr" presetSubtype="0" fill="hold" grpId="0" nodeType="clickEffect">
                                  <p:stCondLst>
                                    <p:cond delay="0"/>
                                  </p:stCondLst>
                                  <p:childTnLst>
                                    <p:set>
                                      <p:cBhvr>
                                        <p:cTn id="77" dur="1" fill="hold">
                                          <p:stCondLst>
                                            <p:cond delay="0"/>
                                          </p:stCondLst>
                                        </p:cTn>
                                        <p:tgtEl>
                                          <p:spTgt spid="63526"/>
                                        </p:tgtEl>
                                        <p:attrNameLst>
                                          <p:attrName>style.visibility</p:attrName>
                                        </p:attrNameLst>
                                      </p:cBhvr>
                                      <p:to>
                                        <p:strVal val="visible"/>
                                      </p:to>
                                    </p:set>
                                    <p:animEffect transition="in" filter="dissolve">
                                      <p:cBhvr>
                                        <p:cTn id="78" dur="500"/>
                                        <p:tgtEl>
                                          <p:spTgt spid="63526"/>
                                        </p:tgtEl>
                                      </p:cBhvr>
                                    </p:animEffect>
                                  </p:childTnLst>
                                </p:cTn>
                              </p:par>
                            </p:childTnLst>
                          </p:cTn>
                        </p:par>
                      </p:childTnLst>
                    </p:cTn>
                  </p:par>
                  <p:par>
                    <p:cTn id="79" fill="hold">
                      <p:stCondLst>
                        <p:cond delay="indefinite"/>
                      </p:stCondLst>
                      <p:childTnLst>
                        <p:par>
                          <p:cTn id="80" fill="hold">
                            <p:stCondLst>
                              <p:cond delay="0"/>
                            </p:stCondLst>
                            <p:childTnLst>
                              <p:par>
                                <p:cTn id="81" presetID="9" presetClass="entr" presetSubtype="0" fill="hold" grpId="0" nodeType="clickEffect">
                                  <p:stCondLst>
                                    <p:cond delay="0"/>
                                  </p:stCondLst>
                                  <p:childTnLst>
                                    <p:set>
                                      <p:cBhvr>
                                        <p:cTn id="82" dur="1" fill="hold">
                                          <p:stCondLst>
                                            <p:cond delay="0"/>
                                          </p:stCondLst>
                                        </p:cTn>
                                        <p:tgtEl>
                                          <p:spTgt spid="63527"/>
                                        </p:tgtEl>
                                        <p:attrNameLst>
                                          <p:attrName>style.visibility</p:attrName>
                                        </p:attrNameLst>
                                      </p:cBhvr>
                                      <p:to>
                                        <p:strVal val="visible"/>
                                      </p:to>
                                    </p:set>
                                    <p:animEffect transition="in" filter="dissolve">
                                      <p:cBhvr>
                                        <p:cTn id="83" dur="500"/>
                                        <p:tgtEl>
                                          <p:spTgt spid="63527"/>
                                        </p:tgtEl>
                                      </p:cBhvr>
                                    </p:animEffect>
                                  </p:childTnLst>
                                </p:cTn>
                              </p:par>
                            </p:childTnLst>
                          </p:cTn>
                        </p:par>
                      </p:childTnLst>
                    </p:cTn>
                  </p:par>
                  <p:par>
                    <p:cTn id="84" fill="hold">
                      <p:stCondLst>
                        <p:cond delay="indefinite"/>
                      </p:stCondLst>
                      <p:childTnLst>
                        <p:par>
                          <p:cTn id="85" fill="hold">
                            <p:stCondLst>
                              <p:cond delay="0"/>
                            </p:stCondLst>
                            <p:childTnLst>
                              <p:par>
                                <p:cTn id="86" presetID="9" presetClass="entr" presetSubtype="0" fill="hold" grpId="0" nodeType="clickEffect">
                                  <p:stCondLst>
                                    <p:cond delay="0"/>
                                  </p:stCondLst>
                                  <p:childTnLst>
                                    <p:set>
                                      <p:cBhvr>
                                        <p:cTn id="87" dur="1" fill="hold">
                                          <p:stCondLst>
                                            <p:cond delay="0"/>
                                          </p:stCondLst>
                                        </p:cTn>
                                        <p:tgtEl>
                                          <p:spTgt spid="63495"/>
                                        </p:tgtEl>
                                        <p:attrNameLst>
                                          <p:attrName>style.visibility</p:attrName>
                                        </p:attrNameLst>
                                      </p:cBhvr>
                                      <p:to>
                                        <p:strVal val="visible"/>
                                      </p:to>
                                    </p:set>
                                    <p:animEffect transition="in" filter="dissolve">
                                      <p:cBhvr>
                                        <p:cTn id="88" dur="500"/>
                                        <p:tgtEl>
                                          <p:spTgt spid="63495"/>
                                        </p:tgtEl>
                                      </p:cBhvr>
                                    </p:animEffect>
                                  </p:childTnLst>
                                </p:cTn>
                              </p:par>
                            </p:childTnLst>
                          </p:cTn>
                        </p:par>
                        <p:par>
                          <p:cTn id="89" fill="hold">
                            <p:stCondLst>
                              <p:cond delay="500"/>
                            </p:stCondLst>
                            <p:childTnLst>
                              <p:par>
                                <p:cTn id="90" presetID="9" presetClass="entr" presetSubtype="0" fill="hold" grpId="0" nodeType="afterEffect">
                                  <p:stCondLst>
                                    <p:cond delay="0"/>
                                  </p:stCondLst>
                                  <p:childTnLst>
                                    <p:set>
                                      <p:cBhvr>
                                        <p:cTn id="91" dur="1" fill="hold">
                                          <p:stCondLst>
                                            <p:cond delay="0"/>
                                          </p:stCondLst>
                                        </p:cTn>
                                        <p:tgtEl>
                                          <p:spTgt spid="63498"/>
                                        </p:tgtEl>
                                        <p:attrNameLst>
                                          <p:attrName>style.visibility</p:attrName>
                                        </p:attrNameLst>
                                      </p:cBhvr>
                                      <p:to>
                                        <p:strVal val="visible"/>
                                      </p:to>
                                    </p:set>
                                    <p:animEffect transition="in" filter="dissolve">
                                      <p:cBhvr>
                                        <p:cTn id="92" dur="500"/>
                                        <p:tgtEl>
                                          <p:spTgt spid="63498"/>
                                        </p:tgtEl>
                                      </p:cBhvr>
                                    </p:animEffect>
                                  </p:childTnLst>
                                </p:cTn>
                              </p:par>
                            </p:childTnLst>
                          </p:cTn>
                        </p:par>
                      </p:childTnLst>
                    </p:cTn>
                  </p:par>
                  <p:par>
                    <p:cTn id="93" fill="hold">
                      <p:stCondLst>
                        <p:cond delay="indefinite"/>
                      </p:stCondLst>
                      <p:childTnLst>
                        <p:par>
                          <p:cTn id="94" fill="hold">
                            <p:stCondLst>
                              <p:cond delay="0"/>
                            </p:stCondLst>
                            <p:childTnLst>
                              <p:par>
                                <p:cTn id="95" presetID="12" presetClass="entr" presetSubtype="4" fill="hold" grpId="0" nodeType="clickEffect">
                                  <p:stCondLst>
                                    <p:cond delay="0"/>
                                  </p:stCondLst>
                                  <p:childTnLst>
                                    <p:set>
                                      <p:cBhvr>
                                        <p:cTn id="96" dur="1" fill="hold">
                                          <p:stCondLst>
                                            <p:cond delay="0"/>
                                          </p:stCondLst>
                                        </p:cTn>
                                        <p:tgtEl>
                                          <p:spTgt spid="63506"/>
                                        </p:tgtEl>
                                        <p:attrNameLst>
                                          <p:attrName>style.visibility</p:attrName>
                                        </p:attrNameLst>
                                      </p:cBhvr>
                                      <p:to>
                                        <p:strVal val="visible"/>
                                      </p:to>
                                    </p:set>
                                    <p:animEffect transition="in" filter="slide(fromBottom)">
                                      <p:cBhvr>
                                        <p:cTn id="97" dur="500"/>
                                        <p:tgtEl>
                                          <p:spTgt spid="63506"/>
                                        </p:tgtEl>
                                      </p:cBhvr>
                                    </p:animEffect>
                                  </p:childTnLst>
                                </p:cTn>
                              </p:par>
                            </p:childTnLst>
                          </p:cTn>
                        </p:par>
                      </p:childTnLst>
                    </p:cTn>
                  </p:par>
                  <p:par>
                    <p:cTn id="98" fill="hold">
                      <p:stCondLst>
                        <p:cond delay="indefinite"/>
                      </p:stCondLst>
                      <p:childTnLst>
                        <p:par>
                          <p:cTn id="99" fill="hold">
                            <p:stCondLst>
                              <p:cond delay="0"/>
                            </p:stCondLst>
                            <p:childTnLst>
                              <p:par>
                                <p:cTn id="100" presetID="9" presetClass="entr" presetSubtype="0" fill="hold" nodeType="clickEffect">
                                  <p:stCondLst>
                                    <p:cond delay="0"/>
                                  </p:stCondLst>
                                  <p:childTnLst>
                                    <p:set>
                                      <p:cBhvr>
                                        <p:cTn id="101" dur="1" fill="hold">
                                          <p:stCondLst>
                                            <p:cond delay="0"/>
                                          </p:stCondLst>
                                        </p:cTn>
                                        <p:tgtEl>
                                          <p:spTgt spid="3"/>
                                        </p:tgtEl>
                                        <p:attrNameLst>
                                          <p:attrName>style.visibility</p:attrName>
                                        </p:attrNameLst>
                                      </p:cBhvr>
                                      <p:to>
                                        <p:strVal val="visible"/>
                                      </p:to>
                                    </p:set>
                                    <p:animEffect transition="in" filter="dissolve">
                                      <p:cBhvr>
                                        <p:cTn id="102" dur="500"/>
                                        <p:tgtEl>
                                          <p:spTgt spid="3"/>
                                        </p:tgtEl>
                                      </p:cBhvr>
                                    </p:animEffect>
                                  </p:childTnLst>
                                </p:cTn>
                              </p:par>
                            </p:childTnLst>
                          </p:cTn>
                        </p:par>
                        <p:par>
                          <p:cTn id="103" fill="hold">
                            <p:stCondLst>
                              <p:cond delay="500"/>
                            </p:stCondLst>
                            <p:childTnLst>
                              <p:par>
                                <p:cTn id="104" presetID="7" presetClass="entr" presetSubtype="4" fill="hold" grpId="0" nodeType="afterEffect">
                                  <p:stCondLst>
                                    <p:cond delay="0"/>
                                  </p:stCondLst>
                                  <p:childTnLst>
                                    <p:set>
                                      <p:cBhvr>
                                        <p:cTn id="105" dur="1" fill="hold">
                                          <p:stCondLst>
                                            <p:cond delay="0"/>
                                          </p:stCondLst>
                                        </p:cTn>
                                        <p:tgtEl>
                                          <p:spTgt spid="63538"/>
                                        </p:tgtEl>
                                        <p:attrNameLst>
                                          <p:attrName>style.visibility</p:attrName>
                                        </p:attrNameLst>
                                      </p:cBhvr>
                                      <p:to>
                                        <p:strVal val="visible"/>
                                      </p:to>
                                    </p:set>
                                    <p:anim calcmode="lin" valueType="num">
                                      <p:cBhvr additive="base">
                                        <p:cTn id="106" dur="5000" fill="hold"/>
                                        <p:tgtEl>
                                          <p:spTgt spid="63538"/>
                                        </p:tgtEl>
                                        <p:attrNameLst>
                                          <p:attrName>ppt_x</p:attrName>
                                        </p:attrNameLst>
                                      </p:cBhvr>
                                      <p:tavLst>
                                        <p:tav tm="0">
                                          <p:val>
                                            <p:strVal val="#ppt_x"/>
                                          </p:val>
                                        </p:tav>
                                        <p:tav tm="100000">
                                          <p:val>
                                            <p:strVal val="#ppt_x"/>
                                          </p:val>
                                        </p:tav>
                                      </p:tavLst>
                                    </p:anim>
                                    <p:anim calcmode="lin" valueType="num">
                                      <p:cBhvr additive="base">
                                        <p:cTn id="107" dur="5000" fill="hold"/>
                                        <p:tgtEl>
                                          <p:spTgt spid="635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0" grpId="0" animBg="1"/>
      <p:bldP spid="63492" grpId="0" animBg="1"/>
      <p:bldP spid="63493" grpId="0" animBg="1"/>
      <p:bldP spid="63494" grpId="0" animBg="1"/>
      <p:bldP spid="63495" grpId="0" animBg="1"/>
      <p:bldP spid="63497" grpId="0" animBg="1"/>
      <p:bldP spid="63498" grpId="0" autoUpdateAnimBg="0"/>
      <p:bldP spid="63499" grpId="0" autoUpdateAnimBg="0"/>
      <p:bldP spid="63505" grpId="0" autoUpdateAnimBg="0"/>
      <p:bldP spid="63506" grpId="0" animBg="1" autoUpdateAnimBg="0"/>
      <p:bldP spid="63526" grpId="0" animBg="1"/>
      <p:bldP spid="63527" grpId="0" animBg="1"/>
      <p:bldP spid="63534" grpId="0" animBg="1" autoUpdateAnimBg="0"/>
      <p:bldP spid="63535" grpId="0" animBg="1" autoUpdateAnimBg="0"/>
      <p:bldP spid="63536" grpId="0" animBg="1" autoUpdateAnimBg="0"/>
      <p:bldP spid="63537" grpId="0" animBg="1" autoUpdateAnimBg="0"/>
      <p:bldP spid="63538"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ext Box 3"/>
          <p:cNvSpPr txBox="1">
            <a:spLocks noChangeArrowheads="1"/>
          </p:cNvSpPr>
          <p:nvPr/>
        </p:nvSpPr>
        <p:spPr bwMode="auto">
          <a:xfrm>
            <a:off x="731838" y="852488"/>
            <a:ext cx="2705100"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defRPr/>
            </a:pPr>
            <a:r>
              <a:rPr kumimoji="0" lang="zh-CN" altLang="en-US" b="1" dirty="0" smtClean="0">
                <a:ea typeface="+mn-ea"/>
                <a:cs typeface="Times New Roman" panose="02020603050405020304" pitchFamily="18" charset="0"/>
              </a:rPr>
              <a:t>假定：</a:t>
            </a:r>
            <a:endParaRPr kumimoji="0" lang="zh-CN" altLang="en-US" b="1" dirty="0" smtClean="0">
              <a:ea typeface="+mn-ea"/>
              <a:cs typeface="Times New Roman" panose="02020603050405020304" pitchFamily="18" charset="0"/>
            </a:endParaRPr>
          </a:p>
          <a:p>
            <a:pPr eaLnBrk="1" hangingPunct="1">
              <a:lnSpc>
                <a:spcPct val="150000"/>
              </a:lnSpc>
              <a:defRPr/>
            </a:pPr>
            <a:r>
              <a:rPr kumimoji="0" lang="zh-CN" altLang="en-US" b="1" dirty="0" smtClean="0">
                <a:solidFill>
                  <a:schemeClr val="tx2"/>
                </a:solidFill>
                <a:ea typeface="+mn-ea"/>
                <a:cs typeface="Times New Roman" panose="02020603050405020304" pitchFamily="18" charset="0"/>
              </a:rPr>
              <a:t>     </a:t>
            </a:r>
            <a:r>
              <a:rPr kumimoji="0" lang="en-US" altLang="zh-CN" b="1" dirty="0" smtClean="0">
                <a:solidFill>
                  <a:schemeClr val="tx2"/>
                </a:solidFill>
                <a:ea typeface="+mn-ea"/>
                <a:cs typeface="Times New Roman" panose="02020603050405020304" pitchFamily="18" charset="0"/>
              </a:rPr>
              <a:t>1. </a:t>
            </a:r>
            <a:r>
              <a:rPr kumimoji="0" lang="zh-CN" altLang="en-US" b="1" dirty="0" smtClean="0">
                <a:solidFill>
                  <a:schemeClr val="tx2"/>
                </a:solidFill>
                <a:ea typeface="+mn-ea"/>
                <a:cs typeface="Times New Roman" panose="02020603050405020304" pitchFamily="18" charset="0"/>
              </a:rPr>
              <a:t>墙背垂直</a:t>
            </a:r>
            <a:endParaRPr kumimoji="0" lang="zh-CN" altLang="en-US" b="1" dirty="0" smtClean="0">
              <a:solidFill>
                <a:schemeClr val="tx2"/>
              </a:solidFill>
              <a:ea typeface="+mn-ea"/>
              <a:cs typeface="Times New Roman" panose="02020603050405020304" pitchFamily="18" charset="0"/>
            </a:endParaRPr>
          </a:p>
          <a:p>
            <a:pPr eaLnBrk="1" hangingPunct="1">
              <a:lnSpc>
                <a:spcPct val="150000"/>
              </a:lnSpc>
              <a:defRPr/>
            </a:pPr>
            <a:r>
              <a:rPr kumimoji="0" lang="zh-CN" altLang="en-US" b="1" dirty="0" smtClean="0">
                <a:solidFill>
                  <a:schemeClr val="tx2"/>
                </a:solidFill>
                <a:ea typeface="+mn-ea"/>
                <a:cs typeface="Times New Roman" panose="02020603050405020304" pitchFamily="18" charset="0"/>
              </a:rPr>
              <a:t>     </a:t>
            </a:r>
            <a:r>
              <a:rPr kumimoji="0" lang="en-US" altLang="zh-CN" b="1" dirty="0" smtClean="0">
                <a:solidFill>
                  <a:schemeClr val="tx2"/>
                </a:solidFill>
                <a:ea typeface="+mn-ea"/>
                <a:cs typeface="Times New Roman" panose="02020603050405020304" pitchFamily="18" charset="0"/>
              </a:rPr>
              <a:t>2. </a:t>
            </a:r>
            <a:r>
              <a:rPr kumimoji="0" lang="zh-CN" altLang="en-US" b="1" dirty="0" smtClean="0">
                <a:solidFill>
                  <a:schemeClr val="tx2"/>
                </a:solidFill>
                <a:ea typeface="+mn-ea"/>
                <a:cs typeface="Times New Roman" panose="02020603050405020304" pitchFamily="18" charset="0"/>
              </a:rPr>
              <a:t>墙背光滑</a:t>
            </a:r>
            <a:endParaRPr kumimoji="0" lang="zh-CN" altLang="en-US" b="1" dirty="0" smtClean="0">
              <a:solidFill>
                <a:schemeClr val="tx2"/>
              </a:solidFill>
              <a:ea typeface="+mn-ea"/>
              <a:cs typeface="Times New Roman" panose="02020603050405020304" pitchFamily="18" charset="0"/>
            </a:endParaRPr>
          </a:p>
          <a:p>
            <a:pPr eaLnBrk="1" hangingPunct="1">
              <a:lnSpc>
                <a:spcPct val="150000"/>
              </a:lnSpc>
              <a:defRPr/>
            </a:pPr>
            <a:r>
              <a:rPr kumimoji="0" lang="zh-CN" altLang="en-US" b="1" dirty="0" smtClean="0">
                <a:solidFill>
                  <a:schemeClr val="tx2"/>
                </a:solidFill>
                <a:ea typeface="+mn-ea"/>
                <a:cs typeface="Times New Roman" panose="02020603050405020304" pitchFamily="18" charset="0"/>
              </a:rPr>
              <a:t>     </a:t>
            </a:r>
            <a:r>
              <a:rPr kumimoji="0" lang="en-US" altLang="zh-CN" b="1" dirty="0" smtClean="0">
                <a:solidFill>
                  <a:schemeClr val="tx2"/>
                </a:solidFill>
                <a:ea typeface="+mn-ea"/>
                <a:cs typeface="Times New Roman" panose="02020603050405020304" pitchFamily="18" charset="0"/>
              </a:rPr>
              <a:t>3. </a:t>
            </a:r>
            <a:r>
              <a:rPr kumimoji="0" lang="zh-CN" altLang="en-US" b="1" dirty="0" smtClean="0">
                <a:solidFill>
                  <a:schemeClr val="tx2"/>
                </a:solidFill>
                <a:ea typeface="+mn-ea"/>
                <a:cs typeface="Times New Roman" panose="02020603050405020304" pitchFamily="18" charset="0"/>
              </a:rPr>
              <a:t>填土表面水平</a:t>
            </a:r>
            <a:endParaRPr kumimoji="0" lang="zh-CN" altLang="en-US" b="1" dirty="0" smtClean="0">
              <a:solidFill>
                <a:schemeClr val="tx2"/>
              </a:solidFill>
              <a:ea typeface="+mn-ea"/>
              <a:cs typeface="Times New Roman" panose="02020603050405020304" pitchFamily="18" charset="0"/>
            </a:endParaRPr>
          </a:p>
        </p:txBody>
      </p:sp>
      <p:sp>
        <p:nvSpPr>
          <p:cNvPr id="26645" name="Text Box 21"/>
          <p:cNvSpPr txBox="1">
            <a:spLocks noChangeArrowheads="1"/>
          </p:cNvSpPr>
          <p:nvPr/>
        </p:nvSpPr>
        <p:spPr bwMode="auto">
          <a:xfrm>
            <a:off x="4067175" y="3357563"/>
            <a:ext cx="40338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000" b="1">
                <a:solidFill>
                  <a:schemeClr val="tx2"/>
                </a:solidFill>
                <a:ea typeface="楷体_GB2312" pitchFamily="49" charset="-122"/>
              </a:rPr>
              <a:t>图中</a:t>
            </a:r>
            <a:r>
              <a:rPr kumimoji="0" lang="en-US" altLang="zh-CN" sz="2000" b="1">
                <a:solidFill>
                  <a:schemeClr val="tx2"/>
                </a:solidFill>
                <a:ea typeface="楷体_GB2312" pitchFamily="49" charset="-122"/>
              </a:rPr>
              <a:t>:  </a:t>
            </a:r>
            <a:r>
              <a:rPr kumimoji="0" lang="en-US" altLang="zh-CN" sz="2000" b="1">
                <a:solidFill>
                  <a:schemeClr val="tx2"/>
                </a:solidFill>
                <a:ea typeface="楷体_GB2312" pitchFamily="49" charset="-122"/>
                <a:sym typeface="Symbol" panose="05050102010706020507" pitchFamily="18" charset="2"/>
              </a:rPr>
              <a:t></a:t>
            </a:r>
            <a:r>
              <a:rPr kumimoji="0" lang="en-US" altLang="zh-CN" sz="2000" b="1" baseline="-25000">
                <a:solidFill>
                  <a:schemeClr val="tx2"/>
                </a:solidFill>
                <a:ea typeface="楷体_GB2312" pitchFamily="49" charset="-122"/>
              </a:rPr>
              <a:t>v</a:t>
            </a:r>
            <a:r>
              <a:rPr kumimoji="0" lang="zh-CN" altLang="en-US" sz="2000" b="1">
                <a:solidFill>
                  <a:schemeClr val="tx2"/>
                </a:solidFill>
                <a:ea typeface="楷体_GB2312" pitchFamily="49" charset="-122"/>
              </a:rPr>
              <a:t>、 </a:t>
            </a:r>
            <a:r>
              <a:rPr kumimoji="0" lang="en-US" altLang="zh-CN" sz="2000" b="1">
                <a:solidFill>
                  <a:schemeClr val="tx2"/>
                </a:solidFill>
                <a:ea typeface="楷体_GB2312" pitchFamily="49" charset="-122"/>
                <a:sym typeface="Symbol" panose="05050102010706020507" pitchFamily="18" charset="2"/>
              </a:rPr>
              <a:t> </a:t>
            </a:r>
            <a:r>
              <a:rPr kumimoji="0" lang="en-US" altLang="zh-CN" sz="2000" b="1" baseline="-25000">
                <a:solidFill>
                  <a:schemeClr val="tx2"/>
                </a:solidFill>
                <a:ea typeface="楷体_GB2312" pitchFamily="49" charset="-122"/>
              </a:rPr>
              <a:t>h</a:t>
            </a:r>
            <a:r>
              <a:rPr kumimoji="0" lang="zh-CN" altLang="en-US" sz="2000" b="1">
                <a:solidFill>
                  <a:schemeClr val="tx2"/>
                </a:solidFill>
                <a:ea typeface="楷体_GB2312" pitchFamily="49" charset="-122"/>
              </a:rPr>
              <a:t>为主应力，且</a:t>
            </a:r>
            <a:r>
              <a:rPr kumimoji="0" lang="en-US" altLang="zh-CN" sz="2000" b="1">
                <a:solidFill>
                  <a:schemeClr val="tx2"/>
                </a:solidFill>
                <a:ea typeface="楷体_GB2312" pitchFamily="49" charset="-122"/>
                <a:sym typeface="Symbol" panose="05050102010706020507" pitchFamily="18" charset="2"/>
              </a:rPr>
              <a:t> </a:t>
            </a:r>
            <a:r>
              <a:rPr kumimoji="0" lang="en-US" altLang="zh-CN" sz="2000" b="1" baseline="-25000">
                <a:solidFill>
                  <a:schemeClr val="tx2"/>
                </a:solidFill>
                <a:ea typeface="楷体_GB2312" pitchFamily="49" charset="-122"/>
              </a:rPr>
              <a:t>v</a:t>
            </a:r>
            <a:r>
              <a:rPr kumimoji="0" lang="en-US" altLang="zh-CN" sz="2000" b="1">
                <a:solidFill>
                  <a:schemeClr val="tx2"/>
                </a:solidFill>
                <a:ea typeface="楷体_GB2312" pitchFamily="49" charset="-122"/>
              </a:rPr>
              <a:t>=</a:t>
            </a:r>
            <a:r>
              <a:rPr kumimoji="0" lang="en-US" altLang="zh-CN" sz="2000" b="1">
                <a:solidFill>
                  <a:schemeClr val="tx2"/>
                </a:solidFill>
                <a:ea typeface="楷体_GB2312" pitchFamily="49" charset="-122"/>
                <a:sym typeface="Symbol" panose="05050102010706020507" pitchFamily="18" charset="2"/>
              </a:rPr>
              <a:t></a:t>
            </a:r>
            <a:r>
              <a:rPr kumimoji="0" lang="en-US" altLang="zh-CN" sz="2000" b="1">
                <a:solidFill>
                  <a:schemeClr val="tx2"/>
                </a:solidFill>
                <a:ea typeface="楷体_GB2312" pitchFamily="49" charset="-122"/>
              </a:rPr>
              <a:t>z</a:t>
            </a:r>
            <a:endParaRPr kumimoji="0" lang="en-US" altLang="zh-CN" sz="2000" b="1">
              <a:solidFill>
                <a:schemeClr val="tx2"/>
              </a:solidFill>
              <a:ea typeface="楷体_GB2312" pitchFamily="49" charset="-122"/>
            </a:endParaRPr>
          </a:p>
        </p:txBody>
      </p:sp>
      <p:grpSp>
        <p:nvGrpSpPr>
          <p:cNvPr id="25604" name="Group 39"/>
          <p:cNvGrpSpPr/>
          <p:nvPr/>
        </p:nvGrpSpPr>
        <p:grpSpPr bwMode="auto">
          <a:xfrm>
            <a:off x="3924300" y="1268413"/>
            <a:ext cx="3870325" cy="1800225"/>
            <a:chOff x="2608" y="1389"/>
            <a:chExt cx="2438" cy="1134"/>
          </a:xfrm>
        </p:grpSpPr>
        <p:grpSp>
          <p:nvGrpSpPr>
            <p:cNvPr id="25609" name="Group 28"/>
            <p:cNvGrpSpPr/>
            <p:nvPr/>
          </p:nvGrpSpPr>
          <p:grpSpPr bwMode="auto">
            <a:xfrm>
              <a:off x="2608" y="1389"/>
              <a:ext cx="2438" cy="1134"/>
              <a:chOff x="3024" y="1056"/>
              <a:chExt cx="2438" cy="1152"/>
            </a:xfrm>
          </p:grpSpPr>
          <p:grpSp>
            <p:nvGrpSpPr>
              <p:cNvPr id="25620" name="Group 4"/>
              <p:cNvGrpSpPr/>
              <p:nvPr/>
            </p:nvGrpSpPr>
            <p:grpSpPr bwMode="auto">
              <a:xfrm>
                <a:off x="3024" y="1056"/>
                <a:ext cx="2438" cy="1152"/>
                <a:chOff x="1248" y="1824"/>
                <a:chExt cx="2438" cy="1152"/>
              </a:xfrm>
            </p:grpSpPr>
            <p:grpSp>
              <p:nvGrpSpPr>
                <p:cNvPr id="25625" name="Group 5"/>
                <p:cNvGrpSpPr/>
                <p:nvPr/>
              </p:nvGrpSpPr>
              <p:grpSpPr bwMode="auto">
                <a:xfrm>
                  <a:off x="1824" y="1824"/>
                  <a:ext cx="1862" cy="1152"/>
                  <a:chOff x="1824" y="1824"/>
                  <a:chExt cx="1862" cy="1152"/>
                </a:xfrm>
              </p:grpSpPr>
              <p:sp>
                <p:nvSpPr>
                  <p:cNvPr id="25631" name="AutoShape 6" descr="横向砖形"/>
                  <p:cNvSpPr>
                    <a:spLocks noChangeArrowheads="1"/>
                  </p:cNvSpPr>
                  <p:nvPr/>
                </p:nvSpPr>
                <p:spPr bwMode="auto">
                  <a:xfrm rot="10800000">
                    <a:off x="1824" y="1824"/>
                    <a:ext cx="624" cy="115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blipFill dpi="0" rotWithShape="0">
                    <a:blip r:embed="rId1"/>
                    <a:srcRect/>
                    <a:tile tx="0" ty="0" sx="100000" sy="100000" flip="none" algn="tl"/>
                  </a:blipFill>
                  <a:ln w="34925">
                    <a:solidFill>
                      <a:srgbClr val="000000"/>
                    </a:solidFill>
                    <a:miter lim="800000"/>
                  </a:ln>
                </p:spPr>
                <p:txBody>
                  <a:bodyPr wrap="none" anchor="ctr"/>
                  <a:lstStyle/>
                  <a:p>
                    <a:endParaRPr lang="zh-CN" altLang="en-US"/>
                  </a:p>
                </p:txBody>
              </p:sp>
              <p:sp>
                <p:nvSpPr>
                  <p:cNvPr id="25632" name="Rectangle 7"/>
                  <p:cNvSpPr>
                    <a:spLocks noChangeArrowheads="1"/>
                  </p:cNvSpPr>
                  <p:nvPr/>
                </p:nvSpPr>
                <p:spPr bwMode="auto">
                  <a:xfrm>
                    <a:off x="2256" y="1824"/>
                    <a:ext cx="1430" cy="1152"/>
                  </a:xfrm>
                  <a:prstGeom prst="rect">
                    <a:avLst/>
                  </a:prstGeom>
                  <a:solidFill>
                    <a:srgbClr val="CCFFCC"/>
                  </a:solidFill>
                  <a:ln>
                    <a:noFill/>
                  </a:ln>
                  <a:extLst>
                    <a:ext uri="{91240B29-F687-4F45-9708-019B960494DF}">
                      <a14:hiddenLine xmlns:a14="http://schemas.microsoft.com/office/drawing/2010/main" w="349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sp>
              <p:nvSpPr>
                <p:cNvPr id="25626" name="Line 8"/>
                <p:cNvSpPr>
                  <a:spLocks noChangeShapeType="1"/>
                </p:cNvSpPr>
                <p:nvPr/>
              </p:nvSpPr>
              <p:spPr bwMode="auto">
                <a:xfrm>
                  <a:off x="2256" y="1824"/>
                  <a:ext cx="0" cy="1152"/>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27" name="Line 9"/>
                <p:cNvSpPr>
                  <a:spLocks noChangeShapeType="1"/>
                </p:cNvSpPr>
                <p:nvPr/>
              </p:nvSpPr>
              <p:spPr bwMode="auto">
                <a:xfrm>
                  <a:off x="1488" y="1824"/>
                  <a:ext cx="0" cy="1152"/>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8" name="Line 10"/>
                <p:cNvSpPr>
                  <a:spLocks noChangeShapeType="1"/>
                </p:cNvSpPr>
                <p:nvPr/>
              </p:nvSpPr>
              <p:spPr bwMode="auto">
                <a:xfrm flipH="1">
                  <a:off x="1344" y="1824"/>
                  <a:ext cx="52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29" name="Line 11"/>
                <p:cNvSpPr>
                  <a:spLocks noChangeShapeType="1"/>
                </p:cNvSpPr>
                <p:nvPr/>
              </p:nvSpPr>
              <p:spPr bwMode="auto">
                <a:xfrm flipH="1">
                  <a:off x="1296" y="2976"/>
                  <a:ext cx="43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30" name="Rectangle 12"/>
                <p:cNvSpPr>
                  <a:spLocks noChangeArrowheads="1"/>
                </p:cNvSpPr>
                <p:nvPr/>
              </p:nvSpPr>
              <p:spPr bwMode="auto">
                <a:xfrm>
                  <a:off x="1248" y="2256"/>
                  <a:ext cx="265"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kumimoji="0" lang="en-US" altLang="zh-CN" b="1" i="1"/>
                    <a:t>H</a:t>
                  </a:r>
                  <a:endParaRPr kumimoji="0" lang="en-US" altLang="zh-CN" b="1" i="1"/>
                </a:p>
              </p:txBody>
            </p:sp>
          </p:grpSp>
          <p:grpSp>
            <p:nvGrpSpPr>
              <p:cNvPr id="25621" name="Group 22"/>
              <p:cNvGrpSpPr/>
              <p:nvPr/>
            </p:nvGrpSpPr>
            <p:grpSpPr bwMode="auto">
              <a:xfrm>
                <a:off x="3288" y="1071"/>
                <a:ext cx="336" cy="576"/>
                <a:chOff x="3072" y="1824"/>
                <a:chExt cx="336" cy="576"/>
              </a:xfrm>
            </p:grpSpPr>
            <p:sp>
              <p:nvSpPr>
                <p:cNvPr id="25622" name="Line 23"/>
                <p:cNvSpPr>
                  <a:spLocks noChangeShapeType="1"/>
                </p:cNvSpPr>
                <p:nvPr/>
              </p:nvSpPr>
              <p:spPr bwMode="auto">
                <a:xfrm flipH="1">
                  <a:off x="3072" y="2400"/>
                  <a:ext cx="28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23" name="Line 24"/>
                <p:cNvSpPr>
                  <a:spLocks noChangeShapeType="1"/>
                </p:cNvSpPr>
                <p:nvPr/>
              </p:nvSpPr>
              <p:spPr bwMode="auto">
                <a:xfrm>
                  <a:off x="3216" y="1824"/>
                  <a:ext cx="0" cy="576"/>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4" name="Text Box 25"/>
                <p:cNvSpPr txBox="1">
                  <a:spLocks noChangeArrowheads="1"/>
                </p:cNvSpPr>
                <p:nvPr/>
              </p:nvSpPr>
              <p:spPr bwMode="auto">
                <a:xfrm>
                  <a:off x="3264" y="1968"/>
                  <a:ext cx="144"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b="1"/>
                    <a:t>z</a:t>
                  </a:r>
                  <a:endParaRPr kumimoji="0" lang="en-US" altLang="zh-CN" b="1"/>
                </a:p>
              </p:txBody>
            </p:sp>
          </p:grpSp>
        </p:grpSp>
        <p:grpSp>
          <p:nvGrpSpPr>
            <p:cNvPr id="25610" name="Group 29"/>
            <p:cNvGrpSpPr/>
            <p:nvPr/>
          </p:nvGrpSpPr>
          <p:grpSpPr bwMode="auto">
            <a:xfrm>
              <a:off x="3923" y="1389"/>
              <a:ext cx="886" cy="816"/>
              <a:chOff x="2160" y="1872"/>
              <a:chExt cx="886" cy="816"/>
            </a:xfrm>
          </p:grpSpPr>
          <p:sp>
            <p:nvSpPr>
              <p:cNvPr id="25613" name="Rectangle 30"/>
              <p:cNvSpPr>
                <a:spLocks noChangeArrowheads="1"/>
              </p:cNvSpPr>
              <p:nvPr/>
            </p:nvSpPr>
            <p:spPr bwMode="auto">
              <a:xfrm>
                <a:off x="2352" y="2304"/>
                <a:ext cx="192" cy="192"/>
              </a:xfrm>
              <a:prstGeom prst="rect">
                <a:avLst/>
              </a:prstGeom>
              <a:solidFill>
                <a:srgbClr val="FFFFFF"/>
              </a:solidFill>
              <a:ln w="9525">
                <a:solidFill>
                  <a:srgbClr val="000000"/>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25614" name="Line 31"/>
              <p:cNvSpPr>
                <a:spLocks noChangeShapeType="1"/>
              </p:cNvSpPr>
              <p:nvPr/>
            </p:nvSpPr>
            <p:spPr bwMode="auto">
              <a:xfrm>
                <a:off x="2160" y="2400"/>
                <a:ext cx="192" cy="0"/>
              </a:xfrm>
              <a:prstGeom prst="line">
                <a:avLst/>
              </a:prstGeom>
              <a:noFill/>
              <a:ln w="222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5" name="Line 32"/>
              <p:cNvSpPr>
                <a:spLocks noChangeShapeType="1"/>
              </p:cNvSpPr>
              <p:nvPr/>
            </p:nvSpPr>
            <p:spPr bwMode="auto">
              <a:xfrm rot="10800000">
                <a:off x="2544" y="2400"/>
                <a:ext cx="192" cy="0"/>
              </a:xfrm>
              <a:prstGeom prst="line">
                <a:avLst/>
              </a:prstGeom>
              <a:noFill/>
              <a:ln w="222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6" name="Line 33"/>
              <p:cNvSpPr>
                <a:spLocks noChangeShapeType="1"/>
              </p:cNvSpPr>
              <p:nvPr/>
            </p:nvSpPr>
            <p:spPr bwMode="auto">
              <a:xfrm rot="-5400000">
                <a:off x="2352" y="2592"/>
                <a:ext cx="192" cy="0"/>
              </a:xfrm>
              <a:prstGeom prst="line">
                <a:avLst/>
              </a:prstGeom>
              <a:noFill/>
              <a:ln w="222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7" name="Line 34"/>
              <p:cNvSpPr>
                <a:spLocks noChangeShapeType="1"/>
              </p:cNvSpPr>
              <p:nvPr/>
            </p:nvSpPr>
            <p:spPr bwMode="auto">
              <a:xfrm rot="5400000">
                <a:off x="2352" y="2208"/>
                <a:ext cx="192" cy="0"/>
              </a:xfrm>
              <a:prstGeom prst="line">
                <a:avLst/>
              </a:prstGeom>
              <a:noFill/>
              <a:ln w="222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8" name="Text Box 35"/>
              <p:cNvSpPr txBox="1">
                <a:spLocks noChangeArrowheads="1"/>
              </p:cNvSpPr>
              <p:nvPr/>
            </p:nvSpPr>
            <p:spPr bwMode="auto">
              <a:xfrm>
                <a:off x="2304" y="1872"/>
                <a:ext cx="262" cy="236"/>
              </a:xfrm>
              <a:prstGeom prst="rect">
                <a:avLst/>
              </a:prstGeom>
              <a:solidFill>
                <a:srgbClr val="CCFFCC"/>
              </a:solidFill>
              <a:ln w="9525">
                <a:solidFill>
                  <a:srgbClr val="CCFFCC"/>
                </a:solidFill>
                <a:miter lim="800000"/>
              </a:ln>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b="1">
                    <a:latin typeface="Symbol" panose="05050102010706020507" pitchFamily="18" charset="2"/>
                  </a:rPr>
                  <a:t>s</a:t>
                </a:r>
                <a:r>
                  <a:rPr kumimoji="0" lang="en-US" altLang="zh-CN" sz="1800" b="1" baseline="-25000">
                    <a:latin typeface="Arial" panose="020B0604020202020204" pitchFamily="34" charset="0"/>
                  </a:rPr>
                  <a:t>v</a:t>
                </a:r>
                <a:endParaRPr kumimoji="0" lang="en-US" altLang="zh-CN" sz="1800" b="1" baseline="-25000">
                  <a:latin typeface="Arial" panose="020B0604020202020204" pitchFamily="34" charset="0"/>
                </a:endParaRPr>
              </a:p>
            </p:txBody>
          </p:sp>
          <p:sp>
            <p:nvSpPr>
              <p:cNvPr id="25619" name="Text Box 36"/>
              <p:cNvSpPr txBox="1">
                <a:spLocks noChangeArrowheads="1"/>
              </p:cNvSpPr>
              <p:nvPr/>
            </p:nvSpPr>
            <p:spPr bwMode="auto">
              <a:xfrm>
                <a:off x="2784" y="2256"/>
                <a:ext cx="262" cy="236"/>
              </a:xfrm>
              <a:prstGeom prst="rect">
                <a:avLst/>
              </a:prstGeom>
              <a:solidFill>
                <a:srgbClr val="CCFFCC"/>
              </a:solidFill>
              <a:ln w="9525">
                <a:solidFill>
                  <a:srgbClr val="CCFFCC"/>
                </a:solidFill>
                <a:miter lim="800000"/>
              </a:ln>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b="1">
                    <a:latin typeface="Symbol" panose="05050102010706020507" pitchFamily="18" charset="2"/>
                  </a:rPr>
                  <a:t>s</a:t>
                </a:r>
                <a:r>
                  <a:rPr kumimoji="0" lang="en-US" altLang="zh-CN" b="1" baseline="-25000"/>
                  <a:t>h</a:t>
                </a:r>
                <a:endParaRPr kumimoji="0" lang="en-US" altLang="zh-CN" b="1" baseline="-25000"/>
              </a:p>
            </p:txBody>
          </p:sp>
        </p:grpSp>
        <p:sp>
          <p:nvSpPr>
            <p:cNvPr id="25611" name="Line 37"/>
            <p:cNvSpPr>
              <a:spLocks noChangeShapeType="1"/>
            </p:cNvSpPr>
            <p:nvPr/>
          </p:nvSpPr>
          <p:spPr bwMode="auto">
            <a:xfrm>
              <a:off x="3606" y="1389"/>
              <a:ext cx="1179"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12" name="Line 38"/>
            <p:cNvSpPr>
              <a:spLocks noChangeShapeType="1"/>
            </p:cNvSpPr>
            <p:nvPr/>
          </p:nvSpPr>
          <p:spPr bwMode="auto">
            <a:xfrm>
              <a:off x="3606" y="2523"/>
              <a:ext cx="1179"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4582" name="Rectangle 40"/>
          <p:cNvSpPr>
            <a:spLocks noChangeArrowheads="1"/>
          </p:cNvSpPr>
          <p:nvPr/>
        </p:nvSpPr>
        <p:spPr bwMode="auto">
          <a:xfrm>
            <a:off x="641350" y="3776663"/>
            <a:ext cx="316865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defRPr/>
            </a:pPr>
            <a:r>
              <a:rPr lang="zh-CN" altLang="en-US" b="1" dirty="0" smtClean="0">
                <a:latin typeface="+mn-ea"/>
                <a:ea typeface="+mn-ea"/>
              </a:rPr>
              <a:t>土压力强度计算公式：</a:t>
            </a:r>
            <a:endParaRPr lang="zh-CN" altLang="en-US" b="1" dirty="0" smtClean="0">
              <a:latin typeface="+mn-ea"/>
              <a:ea typeface="+mn-ea"/>
            </a:endParaRPr>
          </a:p>
        </p:txBody>
      </p:sp>
      <p:sp>
        <p:nvSpPr>
          <p:cNvPr id="34" name="Rectangle 6"/>
          <p:cNvSpPr>
            <a:spLocks noChangeArrowheads="1"/>
          </p:cNvSpPr>
          <p:nvPr/>
        </p:nvSpPr>
        <p:spPr bwMode="auto">
          <a:xfrm>
            <a:off x="0" y="-317"/>
            <a:ext cx="3617913"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朗肯土压力理论</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graphicFrame>
        <p:nvGraphicFramePr>
          <p:cNvPr id="25607" name="Object 5"/>
          <p:cNvGraphicFramePr>
            <a:graphicFrameLocks noChangeAspect="1"/>
          </p:cNvGraphicFramePr>
          <p:nvPr/>
        </p:nvGraphicFramePr>
        <p:xfrm>
          <a:off x="2200275" y="4373563"/>
          <a:ext cx="4964113" cy="790575"/>
        </p:xfrm>
        <a:graphic>
          <a:graphicData uri="http://schemas.openxmlformats.org/presentationml/2006/ole">
            <mc:AlternateContent xmlns:mc="http://schemas.openxmlformats.org/markup-compatibility/2006">
              <mc:Choice xmlns:v="urn:schemas-microsoft-com:vml" Requires="v">
                <p:oleObj spid="_x0000_s3086" name="" r:id="rId2" imgW="2414270" imgH="393700" progId="Equation.3">
                  <p:embed/>
                </p:oleObj>
              </mc:Choice>
              <mc:Fallback>
                <p:oleObj name="" r:id="rId2" imgW="2414270" imgH="3937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0275" y="4373563"/>
                        <a:ext cx="4964113" cy="7905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08" name="Object 4"/>
          <p:cNvGraphicFramePr>
            <a:graphicFrameLocks noChangeAspect="1"/>
          </p:cNvGraphicFramePr>
          <p:nvPr/>
        </p:nvGraphicFramePr>
        <p:xfrm>
          <a:off x="2200275" y="5359400"/>
          <a:ext cx="5046663" cy="771525"/>
        </p:xfrm>
        <a:graphic>
          <a:graphicData uri="http://schemas.openxmlformats.org/presentationml/2006/ole">
            <mc:AlternateContent xmlns:mc="http://schemas.openxmlformats.org/markup-compatibility/2006">
              <mc:Choice xmlns:v="urn:schemas-microsoft-com:vml" Requires="v">
                <p:oleObj spid="_x0000_s3087" name="" r:id="rId4" imgW="2387600" imgH="393700" progId="Equation.3">
                  <p:embed/>
                </p:oleObj>
              </mc:Choice>
              <mc:Fallback>
                <p:oleObj name="" r:id="rId4" imgW="2387600" imgH="3937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0275" y="5359400"/>
                        <a:ext cx="5046663" cy="77152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26627"/>
                                        </p:tgtEl>
                                        <p:attrNameLst>
                                          <p:attrName>style.visibility</p:attrName>
                                        </p:attrNameLst>
                                      </p:cBhvr>
                                      <p:to>
                                        <p:strVal val="visible"/>
                                      </p:to>
                                    </p:set>
                                    <p:animEffect transition="in" filter="wipe(left)">
                                      <p:cBhvr>
                                        <p:cTn id="7" dur="300"/>
                                        <p:tgtEl>
                                          <p:spTgt spid="266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26645"/>
                                        </p:tgtEl>
                                        <p:attrNameLst>
                                          <p:attrName>style.visibility</p:attrName>
                                        </p:attrNameLst>
                                      </p:cBhvr>
                                      <p:to>
                                        <p:strVal val="visible"/>
                                      </p:to>
                                    </p:set>
                                    <p:animEffect transition="in" filter="wipe(left)">
                                      <p:cBhvr>
                                        <p:cTn id="12" dur="300"/>
                                        <p:tgtEl>
                                          <p:spTgt spid="266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autoUpdateAnimBg="0"/>
      <p:bldP spid="26645"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02" name="Text Box 30"/>
          <p:cNvSpPr txBox="1">
            <a:spLocks noChangeArrowheads="1"/>
          </p:cNvSpPr>
          <p:nvPr/>
        </p:nvSpPr>
        <p:spPr bwMode="auto">
          <a:xfrm>
            <a:off x="468313" y="1087438"/>
            <a:ext cx="15621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defRPr/>
            </a:pPr>
            <a:r>
              <a:rPr kumimoji="0" lang="en-US" altLang="zh-CN" sz="2000" b="1" dirty="0" smtClean="0">
                <a:latin typeface="+mn-ea"/>
                <a:ea typeface="+mn-ea"/>
              </a:rPr>
              <a:t>1</a:t>
            </a:r>
            <a:r>
              <a:rPr kumimoji="0" lang="zh-CN" altLang="en-US" sz="2000" b="1" dirty="0" smtClean="0">
                <a:latin typeface="+mn-ea"/>
                <a:ea typeface="+mn-ea"/>
              </a:rPr>
              <a:t>）无黏性土</a:t>
            </a:r>
            <a:endParaRPr kumimoji="0" lang="zh-CN" altLang="en-US" sz="2000" b="1" dirty="0" smtClean="0">
              <a:latin typeface="+mn-ea"/>
              <a:ea typeface="+mn-ea"/>
            </a:endParaRPr>
          </a:p>
        </p:txBody>
      </p:sp>
      <p:sp>
        <p:nvSpPr>
          <p:cNvPr id="28714" name="Text Box 42"/>
          <p:cNvSpPr txBox="1">
            <a:spLocks noChangeArrowheads="1"/>
          </p:cNvSpPr>
          <p:nvPr/>
        </p:nvSpPr>
        <p:spPr bwMode="auto">
          <a:xfrm>
            <a:off x="806450" y="4256088"/>
            <a:ext cx="26733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defRPr/>
            </a:pPr>
            <a:r>
              <a:rPr kumimoji="0" lang="zh-CN" altLang="en-US" sz="2000" b="1" dirty="0">
                <a:latin typeface="+mn-ea"/>
                <a:ea typeface="+mn-ea"/>
              </a:rPr>
              <a:t>总主动土压力</a:t>
            </a:r>
            <a:r>
              <a:rPr kumimoji="0" lang="en-US" altLang="zh-CN" sz="2000" b="1" i="1" dirty="0" err="1">
                <a:latin typeface="+mn-ea"/>
                <a:ea typeface="+mn-ea"/>
              </a:rPr>
              <a:t>E</a:t>
            </a:r>
            <a:r>
              <a:rPr kumimoji="0" lang="en-US" altLang="zh-CN" sz="2000" b="1" baseline="-25000" dirty="0" err="1">
                <a:latin typeface="+mn-ea"/>
                <a:ea typeface="+mn-ea"/>
              </a:rPr>
              <a:t>a</a:t>
            </a:r>
            <a:r>
              <a:rPr kumimoji="0" lang="en-US" altLang="zh-CN" sz="2000" b="1" dirty="0">
                <a:latin typeface="+mn-ea"/>
                <a:ea typeface="+mn-ea"/>
              </a:rPr>
              <a:t> (</a:t>
            </a:r>
            <a:r>
              <a:rPr kumimoji="0" lang="en-US" altLang="zh-CN" sz="2000" b="1" dirty="0" err="1">
                <a:latin typeface="+mn-ea"/>
                <a:ea typeface="+mn-ea"/>
              </a:rPr>
              <a:t>kN</a:t>
            </a:r>
            <a:r>
              <a:rPr kumimoji="0" lang="en-US" altLang="zh-CN" sz="2000" b="1" dirty="0">
                <a:latin typeface="+mn-ea"/>
                <a:ea typeface="+mn-ea"/>
              </a:rPr>
              <a:t>/m)</a:t>
            </a:r>
            <a:endParaRPr kumimoji="0" lang="zh-CN" altLang="en-US" sz="2000" b="1" dirty="0">
              <a:latin typeface="+mn-ea"/>
              <a:ea typeface="+mn-ea"/>
            </a:endParaRPr>
          </a:p>
        </p:txBody>
      </p:sp>
      <p:graphicFrame>
        <p:nvGraphicFramePr>
          <p:cNvPr id="28715" name="Object 43"/>
          <p:cNvGraphicFramePr>
            <a:graphicFrameLocks noChangeAspect="1"/>
          </p:cNvGraphicFramePr>
          <p:nvPr/>
        </p:nvGraphicFramePr>
        <p:xfrm>
          <a:off x="1074738" y="5151438"/>
          <a:ext cx="2246312" cy="949325"/>
        </p:xfrm>
        <a:graphic>
          <a:graphicData uri="http://schemas.openxmlformats.org/presentationml/2006/ole">
            <mc:AlternateContent xmlns:mc="http://schemas.openxmlformats.org/markup-compatibility/2006">
              <mc:Choice xmlns:v="urn:schemas-microsoft-com:vml" Requires="v">
                <p:oleObj spid="_x0000_s4122" name="公式" r:id="rId1" imgW="926465" imgH="393700" progId="Equation.3">
                  <p:embed/>
                </p:oleObj>
              </mc:Choice>
              <mc:Fallback>
                <p:oleObj name="公式" r:id="rId1" imgW="926465" imgH="393700" progId="Equation.3">
                  <p:embed/>
                  <p:pic>
                    <p:nvPicPr>
                      <p:cNvPr id="0" name="Object 4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4738" y="5151438"/>
                        <a:ext cx="2246312" cy="949325"/>
                      </a:xfrm>
                      <a:prstGeom prst="rect">
                        <a:avLst/>
                      </a:prstGeom>
                      <a:solidFill>
                        <a:srgbClr val="CCFFCC"/>
                      </a:solidFill>
                      <a:ln w="38100">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9" name="Object 35"/>
          <p:cNvGraphicFramePr>
            <a:graphicFrameLocks noChangeAspect="1"/>
          </p:cNvGraphicFramePr>
          <p:nvPr/>
        </p:nvGraphicFramePr>
        <p:xfrm>
          <a:off x="6313488" y="5849938"/>
          <a:ext cx="1289050" cy="422275"/>
        </p:xfrm>
        <a:graphic>
          <a:graphicData uri="http://schemas.openxmlformats.org/presentationml/2006/ole">
            <mc:AlternateContent xmlns:mc="http://schemas.openxmlformats.org/markup-compatibility/2006">
              <mc:Choice xmlns:v="urn:schemas-microsoft-com:vml" Requires="v">
                <p:oleObj spid="_x0000_s4123" name="公式" r:id="rId3" imgW="698500" imgH="228600" progId="Equation.3">
                  <p:embed/>
                </p:oleObj>
              </mc:Choice>
              <mc:Fallback>
                <p:oleObj name="公式" r:id="rId3" imgW="698500" imgH="228600" progId="Equation.3">
                  <p:embed/>
                  <p:pic>
                    <p:nvPicPr>
                      <p:cNvPr id="0" name="Object 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13488" y="5849938"/>
                        <a:ext cx="1289050" cy="422275"/>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30" name="Object 36"/>
          <p:cNvGraphicFramePr>
            <a:graphicFrameLocks noChangeAspect="1"/>
          </p:cNvGraphicFramePr>
          <p:nvPr/>
        </p:nvGraphicFramePr>
        <p:xfrm>
          <a:off x="6735763" y="4325938"/>
          <a:ext cx="2214562" cy="490537"/>
        </p:xfrm>
        <a:graphic>
          <a:graphicData uri="http://schemas.openxmlformats.org/presentationml/2006/ole">
            <mc:AlternateContent xmlns:mc="http://schemas.openxmlformats.org/markup-compatibility/2006">
              <mc:Choice xmlns:v="urn:schemas-microsoft-com:vml" Requires="v">
                <p:oleObj spid="_x0000_s4124" name="公式" r:id="rId5" imgW="1078865" imgH="241300" progId="Equation.3">
                  <p:embed/>
                </p:oleObj>
              </mc:Choice>
              <mc:Fallback>
                <p:oleObj name="公式" r:id="rId5" imgW="1078865" imgH="241300" progId="Equation.3">
                  <p:embed/>
                  <p:pic>
                    <p:nvPicPr>
                      <p:cNvPr id="0" name="Object 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35763" y="4325938"/>
                        <a:ext cx="2214562" cy="490537"/>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6631" name="Group 37"/>
          <p:cNvGrpSpPr/>
          <p:nvPr/>
        </p:nvGrpSpPr>
        <p:grpSpPr bwMode="auto">
          <a:xfrm>
            <a:off x="7527925" y="5151438"/>
            <a:ext cx="939800" cy="671512"/>
            <a:chOff x="4627" y="3448"/>
            <a:chExt cx="592" cy="423"/>
          </a:xfrm>
        </p:grpSpPr>
        <p:sp>
          <p:nvSpPr>
            <p:cNvPr id="26673" name="Line 38"/>
            <p:cNvSpPr>
              <a:spLocks noChangeShapeType="1"/>
            </p:cNvSpPr>
            <p:nvPr/>
          </p:nvSpPr>
          <p:spPr bwMode="auto">
            <a:xfrm rot="16222883" flipV="1">
              <a:off x="4771" y="3722"/>
              <a:ext cx="1" cy="289"/>
            </a:xfrm>
            <a:prstGeom prst="line">
              <a:avLst/>
            </a:prstGeom>
            <a:noFill/>
            <a:ln w="25400">
              <a:solidFill>
                <a:srgbClr val="969696"/>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74" name="Line 39"/>
            <p:cNvSpPr>
              <a:spLocks noChangeShapeType="1"/>
            </p:cNvSpPr>
            <p:nvPr/>
          </p:nvSpPr>
          <p:spPr bwMode="auto">
            <a:xfrm rot="-5377117">
              <a:off x="4788" y="3354"/>
              <a:ext cx="0" cy="288"/>
            </a:xfrm>
            <a:prstGeom prst="line">
              <a:avLst/>
            </a:prstGeom>
            <a:noFill/>
            <a:ln w="25400">
              <a:solidFill>
                <a:srgbClr val="969696"/>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75" name="Line 40"/>
            <p:cNvSpPr>
              <a:spLocks noChangeShapeType="1"/>
            </p:cNvSpPr>
            <p:nvPr/>
          </p:nvSpPr>
          <p:spPr bwMode="auto">
            <a:xfrm rot="-5377117">
              <a:off x="4618" y="3686"/>
              <a:ext cx="367" cy="3"/>
            </a:xfrm>
            <a:prstGeom prst="line">
              <a:avLst/>
            </a:prstGeom>
            <a:noFill/>
            <a:ln w="25400">
              <a:solidFill>
                <a:srgbClr val="969696"/>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6676" name="Object 41"/>
            <p:cNvGraphicFramePr>
              <a:graphicFrameLocks noChangeAspect="1"/>
            </p:cNvGraphicFramePr>
            <p:nvPr/>
          </p:nvGraphicFramePr>
          <p:xfrm>
            <a:off x="4900" y="3448"/>
            <a:ext cx="319" cy="409"/>
          </p:xfrm>
          <a:graphic>
            <a:graphicData uri="http://schemas.openxmlformats.org/presentationml/2006/ole">
              <mc:AlternateContent xmlns:mc="http://schemas.openxmlformats.org/markup-compatibility/2006">
                <mc:Choice xmlns:v="urn:schemas-microsoft-com:vml" Requires="v">
                  <p:oleObj spid="_x0000_s4125" name="公式" r:id="rId7" imgW="317500" imgH="405765" progId="Equation.3">
                    <p:embed/>
                  </p:oleObj>
                </mc:Choice>
                <mc:Fallback>
                  <p:oleObj name="公式" r:id="rId7" imgW="317500" imgH="405765" progId="Equation.3">
                    <p:embed/>
                    <p:pic>
                      <p:nvPicPr>
                        <p:cNvPr id="0" name="Object 4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00" y="3448"/>
                          <a:ext cx="319" cy="4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6632" name="AutoShape 45" descr="横向砖形"/>
          <p:cNvSpPr>
            <a:spLocks noChangeArrowheads="1"/>
          </p:cNvSpPr>
          <p:nvPr/>
        </p:nvSpPr>
        <p:spPr bwMode="auto">
          <a:xfrm rot="10800000">
            <a:off x="5364163" y="3671888"/>
            <a:ext cx="990600" cy="213360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blipFill dpi="0" rotWithShape="0">
            <a:blip r:embed="rId9"/>
            <a:srcRect/>
            <a:tile tx="0" ty="0" sx="100000" sy="100000" flip="none" algn="tl"/>
          </a:blipFill>
          <a:ln w="34925">
            <a:solidFill>
              <a:srgbClr val="000000"/>
            </a:solidFill>
            <a:miter lim="800000"/>
          </a:ln>
        </p:spPr>
        <p:txBody>
          <a:bodyPr wrap="none" anchor="ctr"/>
          <a:lstStyle/>
          <a:p>
            <a:endParaRPr lang="zh-CN" altLang="en-US"/>
          </a:p>
        </p:txBody>
      </p:sp>
      <p:sp>
        <p:nvSpPr>
          <p:cNvPr id="26633" name="Freeform 46" descr="深色横线"/>
          <p:cNvSpPr/>
          <p:nvPr/>
        </p:nvSpPr>
        <p:spPr bwMode="auto">
          <a:xfrm>
            <a:off x="6107113" y="3644900"/>
            <a:ext cx="1128712" cy="2185988"/>
          </a:xfrm>
          <a:custGeom>
            <a:avLst/>
            <a:gdLst>
              <a:gd name="T0" fmla="*/ 0 w 576"/>
              <a:gd name="T1" fmla="*/ 0 h 1104"/>
              <a:gd name="T2" fmla="*/ 2147483646 w 576"/>
              <a:gd name="T3" fmla="*/ 2147483646 h 1104"/>
              <a:gd name="T4" fmla="*/ 0 w 576"/>
              <a:gd name="T5" fmla="*/ 2147483646 h 1104"/>
              <a:gd name="T6" fmla="*/ 0 w 576"/>
              <a:gd name="T7" fmla="*/ 0 h 1104"/>
              <a:gd name="T8" fmla="*/ 0 60000 65536"/>
              <a:gd name="T9" fmla="*/ 0 60000 65536"/>
              <a:gd name="T10" fmla="*/ 0 60000 65536"/>
              <a:gd name="T11" fmla="*/ 0 60000 65536"/>
              <a:gd name="T12" fmla="*/ 0 w 576"/>
              <a:gd name="T13" fmla="*/ 0 h 1104"/>
              <a:gd name="T14" fmla="*/ 576 w 576"/>
              <a:gd name="T15" fmla="*/ 1104 h 1104"/>
            </a:gdLst>
            <a:ahLst/>
            <a:cxnLst>
              <a:cxn ang="T8">
                <a:pos x="T0" y="T1"/>
              </a:cxn>
              <a:cxn ang="T9">
                <a:pos x="T2" y="T3"/>
              </a:cxn>
              <a:cxn ang="T10">
                <a:pos x="T4" y="T5"/>
              </a:cxn>
              <a:cxn ang="T11">
                <a:pos x="T6" y="T7"/>
              </a:cxn>
            </a:cxnLst>
            <a:rect l="T12" t="T13" r="T14" b="T15"/>
            <a:pathLst>
              <a:path w="576" h="1104">
                <a:moveTo>
                  <a:pt x="0" y="0"/>
                </a:moveTo>
                <a:lnTo>
                  <a:pt x="576" y="1104"/>
                </a:lnTo>
                <a:lnTo>
                  <a:pt x="0" y="1104"/>
                </a:lnTo>
                <a:lnTo>
                  <a:pt x="0" y="0"/>
                </a:lnTo>
                <a:close/>
              </a:path>
            </a:pathLst>
          </a:custGeom>
          <a:blipFill dpi="0" rotWithShape="0">
            <a:blip r:embed="rId10"/>
            <a:srcRect/>
            <a:tile tx="0" ty="0" sx="100000" sy="100000" flip="none" algn="tl"/>
          </a:blipFill>
          <a:ln w="9525">
            <a:solidFill>
              <a:schemeClr val="tx1"/>
            </a:solidFill>
            <a:round/>
          </a:ln>
        </p:spPr>
        <p:txBody>
          <a:bodyPr/>
          <a:lstStyle/>
          <a:p>
            <a:endParaRPr lang="zh-CN" altLang="en-US"/>
          </a:p>
        </p:txBody>
      </p:sp>
      <p:sp>
        <p:nvSpPr>
          <p:cNvPr id="26634" name="Line 47"/>
          <p:cNvSpPr>
            <a:spLocks noChangeShapeType="1"/>
          </p:cNvSpPr>
          <p:nvPr/>
        </p:nvSpPr>
        <p:spPr bwMode="auto">
          <a:xfrm>
            <a:off x="6126163" y="3716338"/>
            <a:ext cx="0" cy="2133600"/>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35" name="AutoShape 48"/>
          <p:cNvSpPr>
            <a:spLocks noChangeArrowheads="1"/>
          </p:cNvSpPr>
          <p:nvPr/>
        </p:nvSpPr>
        <p:spPr bwMode="auto">
          <a:xfrm>
            <a:off x="6126163" y="5087938"/>
            <a:ext cx="1422400" cy="203200"/>
          </a:xfrm>
          <a:prstGeom prst="leftArrow">
            <a:avLst>
              <a:gd name="adj1" fmla="val 50000"/>
              <a:gd name="adj2" fmla="val 175000"/>
            </a:avLst>
          </a:prstGeom>
          <a:solidFill>
            <a:srgbClr val="C0C0C0"/>
          </a:solidFill>
          <a:ln w="12700" cap="sq">
            <a:solidFill>
              <a:srgbClr val="969696"/>
            </a:solidFill>
            <a:miter lim="800000"/>
            <a:headEnd type="none" w="sm" len="sm"/>
            <a:tailEnd type="none" w="sm" len="sm"/>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nvGrpSpPr>
          <p:cNvPr id="26636" name="Group 55"/>
          <p:cNvGrpSpPr/>
          <p:nvPr/>
        </p:nvGrpSpPr>
        <p:grpSpPr bwMode="auto">
          <a:xfrm>
            <a:off x="5264150" y="914400"/>
            <a:ext cx="3124200" cy="2233613"/>
            <a:chOff x="3107" y="300"/>
            <a:chExt cx="1968" cy="1407"/>
          </a:xfrm>
        </p:grpSpPr>
        <p:grpSp>
          <p:nvGrpSpPr>
            <p:cNvPr id="26643" name="Group 54"/>
            <p:cNvGrpSpPr/>
            <p:nvPr/>
          </p:nvGrpSpPr>
          <p:grpSpPr bwMode="auto">
            <a:xfrm>
              <a:off x="3107" y="300"/>
              <a:ext cx="1968" cy="1407"/>
              <a:chOff x="3216" y="240"/>
              <a:chExt cx="1968" cy="1403"/>
            </a:xfrm>
          </p:grpSpPr>
          <p:sp>
            <p:nvSpPr>
              <p:cNvPr id="26646" name="AutoShape 3" descr="横向砖形"/>
              <p:cNvSpPr>
                <a:spLocks noChangeArrowheads="1"/>
              </p:cNvSpPr>
              <p:nvPr/>
            </p:nvSpPr>
            <p:spPr bwMode="auto">
              <a:xfrm rot="10800000">
                <a:off x="3504" y="24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blipFill dpi="0" rotWithShape="0">
                <a:blip r:embed="rId9"/>
                <a:srcRect/>
                <a:tile tx="0" ty="0" sx="100000" sy="100000" flip="none" algn="tl"/>
              </a:blipFill>
              <a:ln w="34925">
                <a:solidFill>
                  <a:srgbClr val="000000"/>
                </a:solidFill>
                <a:miter lim="800000"/>
              </a:ln>
            </p:spPr>
            <p:txBody>
              <a:bodyPr wrap="none" anchor="ctr"/>
              <a:lstStyle/>
              <a:p>
                <a:endParaRPr lang="zh-CN" altLang="en-US"/>
              </a:p>
            </p:txBody>
          </p:sp>
          <p:sp>
            <p:nvSpPr>
              <p:cNvPr id="26647" name="Rectangle 4"/>
              <p:cNvSpPr>
                <a:spLocks noChangeArrowheads="1"/>
              </p:cNvSpPr>
              <p:nvPr/>
            </p:nvSpPr>
            <p:spPr bwMode="auto">
              <a:xfrm>
                <a:off x="3936" y="240"/>
                <a:ext cx="1248" cy="1392"/>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nvGrpSpPr>
              <p:cNvPr id="26648" name="Group 5"/>
              <p:cNvGrpSpPr/>
              <p:nvPr/>
            </p:nvGrpSpPr>
            <p:grpSpPr bwMode="auto">
              <a:xfrm>
                <a:off x="3937" y="240"/>
                <a:ext cx="863" cy="1398"/>
                <a:chOff x="3361" y="1056"/>
                <a:chExt cx="863" cy="1398"/>
              </a:xfrm>
            </p:grpSpPr>
            <p:sp>
              <p:nvSpPr>
                <p:cNvPr id="26662" name="Line 6"/>
                <p:cNvSpPr>
                  <a:spLocks noChangeShapeType="1"/>
                </p:cNvSpPr>
                <p:nvPr/>
              </p:nvSpPr>
              <p:spPr bwMode="auto">
                <a:xfrm flipV="1">
                  <a:off x="3361" y="1063"/>
                  <a:ext cx="863" cy="139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26663" name="Group 7"/>
                <p:cNvGrpSpPr/>
                <p:nvPr/>
              </p:nvGrpSpPr>
              <p:grpSpPr bwMode="auto">
                <a:xfrm>
                  <a:off x="3361" y="1056"/>
                  <a:ext cx="757" cy="1166"/>
                  <a:chOff x="3361" y="1056"/>
                  <a:chExt cx="757" cy="1166"/>
                </a:xfrm>
              </p:grpSpPr>
              <p:sp>
                <p:nvSpPr>
                  <p:cNvPr id="26664" name="Line 8"/>
                  <p:cNvSpPr>
                    <a:spLocks noChangeShapeType="1"/>
                  </p:cNvSpPr>
                  <p:nvPr/>
                </p:nvSpPr>
                <p:spPr bwMode="auto">
                  <a:xfrm flipV="1">
                    <a:off x="3361" y="1063"/>
                    <a:ext cx="621" cy="1000"/>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26665" name="Line 9"/>
                  <p:cNvSpPr>
                    <a:spLocks noChangeShapeType="1"/>
                  </p:cNvSpPr>
                  <p:nvPr/>
                </p:nvSpPr>
                <p:spPr bwMode="auto">
                  <a:xfrm flipV="1">
                    <a:off x="3361" y="1056"/>
                    <a:ext cx="371" cy="623"/>
                  </a:xfrm>
                  <a:prstGeom prst="line">
                    <a:avLst/>
                  </a:prstGeom>
                  <a:noFill/>
                  <a:ln w="38100">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26666" name="Line 10"/>
                  <p:cNvSpPr>
                    <a:spLocks noChangeShapeType="1"/>
                  </p:cNvSpPr>
                  <p:nvPr/>
                </p:nvSpPr>
                <p:spPr bwMode="auto">
                  <a:xfrm flipV="1">
                    <a:off x="3361" y="1063"/>
                    <a:ext cx="121" cy="218"/>
                  </a:xfrm>
                  <a:prstGeom prst="line">
                    <a:avLst/>
                  </a:prstGeom>
                  <a:noFill/>
                  <a:ln w="38100">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26667" name="Line 11"/>
                  <p:cNvSpPr>
                    <a:spLocks noChangeShapeType="1"/>
                  </p:cNvSpPr>
                  <p:nvPr/>
                </p:nvSpPr>
                <p:spPr bwMode="auto">
                  <a:xfrm>
                    <a:off x="3361" y="1259"/>
                    <a:ext cx="394" cy="565"/>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26668" name="Line 12"/>
                  <p:cNvSpPr>
                    <a:spLocks noChangeShapeType="1"/>
                  </p:cNvSpPr>
                  <p:nvPr/>
                </p:nvSpPr>
                <p:spPr bwMode="auto">
                  <a:xfrm>
                    <a:off x="3505" y="1070"/>
                    <a:ext cx="363" cy="529"/>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26669" name="Line 13"/>
                  <p:cNvSpPr>
                    <a:spLocks noChangeShapeType="1"/>
                  </p:cNvSpPr>
                  <p:nvPr/>
                </p:nvSpPr>
                <p:spPr bwMode="auto">
                  <a:xfrm>
                    <a:off x="3739" y="1063"/>
                    <a:ext cx="265" cy="370"/>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26670" name="Line 14"/>
                  <p:cNvSpPr>
                    <a:spLocks noChangeShapeType="1"/>
                  </p:cNvSpPr>
                  <p:nvPr/>
                </p:nvSpPr>
                <p:spPr bwMode="auto">
                  <a:xfrm>
                    <a:off x="3369" y="1643"/>
                    <a:ext cx="264" cy="398"/>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26671" name="Line 15"/>
                  <p:cNvSpPr>
                    <a:spLocks noChangeShapeType="1"/>
                  </p:cNvSpPr>
                  <p:nvPr/>
                </p:nvSpPr>
                <p:spPr bwMode="auto">
                  <a:xfrm>
                    <a:off x="3361" y="2005"/>
                    <a:ext cx="151" cy="217"/>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26672" name="Line 16"/>
                  <p:cNvSpPr>
                    <a:spLocks noChangeShapeType="1"/>
                  </p:cNvSpPr>
                  <p:nvPr/>
                </p:nvSpPr>
                <p:spPr bwMode="auto">
                  <a:xfrm>
                    <a:off x="3997" y="1056"/>
                    <a:ext cx="121" cy="181"/>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26649" name="AutoShape 17"/>
              <p:cNvSpPr>
                <a:spLocks noChangeArrowheads="1"/>
              </p:cNvSpPr>
              <p:nvPr/>
            </p:nvSpPr>
            <p:spPr bwMode="auto">
              <a:xfrm>
                <a:off x="3216" y="768"/>
                <a:ext cx="192" cy="336"/>
              </a:xfrm>
              <a:prstGeom prst="leftArrow">
                <a:avLst>
                  <a:gd name="adj1" fmla="val 50000"/>
                  <a:gd name="adj2" fmla="val 25000"/>
                </a:avLst>
              </a:prstGeom>
              <a:solidFill>
                <a:srgbClr val="000000"/>
              </a:solidFill>
              <a:ln w="9525">
                <a:solidFill>
                  <a:schemeClr val="folHlink"/>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26650" name="Rectangle 18"/>
              <p:cNvSpPr>
                <a:spLocks noChangeArrowheads="1"/>
              </p:cNvSpPr>
              <p:nvPr/>
            </p:nvSpPr>
            <p:spPr bwMode="auto">
              <a:xfrm>
                <a:off x="4176" y="912"/>
                <a:ext cx="192" cy="192"/>
              </a:xfrm>
              <a:prstGeom prst="rect">
                <a:avLst/>
              </a:prstGeom>
              <a:solidFill>
                <a:srgbClr val="FFFFFF"/>
              </a:solidFill>
              <a:ln w="9525">
                <a:solidFill>
                  <a:srgbClr val="000000"/>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26651" name="Line 19"/>
              <p:cNvSpPr>
                <a:spLocks noChangeShapeType="1"/>
              </p:cNvSpPr>
              <p:nvPr/>
            </p:nvSpPr>
            <p:spPr bwMode="auto">
              <a:xfrm>
                <a:off x="3984" y="1008"/>
                <a:ext cx="192" cy="0"/>
              </a:xfrm>
              <a:prstGeom prst="line">
                <a:avLst/>
              </a:prstGeom>
              <a:noFill/>
              <a:ln w="222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52" name="Line 20"/>
              <p:cNvSpPr>
                <a:spLocks noChangeShapeType="1"/>
              </p:cNvSpPr>
              <p:nvPr/>
            </p:nvSpPr>
            <p:spPr bwMode="auto">
              <a:xfrm rot="10800000">
                <a:off x="4368" y="1008"/>
                <a:ext cx="192" cy="0"/>
              </a:xfrm>
              <a:prstGeom prst="line">
                <a:avLst/>
              </a:prstGeom>
              <a:noFill/>
              <a:ln w="222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53" name="Line 21"/>
              <p:cNvSpPr>
                <a:spLocks noChangeShapeType="1"/>
              </p:cNvSpPr>
              <p:nvPr/>
            </p:nvSpPr>
            <p:spPr bwMode="auto">
              <a:xfrm rot="-5400000">
                <a:off x="4176" y="1200"/>
                <a:ext cx="192" cy="0"/>
              </a:xfrm>
              <a:prstGeom prst="line">
                <a:avLst/>
              </a:prstGeom>
              <a:noFill/>
              <a:ln w="222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54" name="Line 22"/>
              <p:cNvSpPr>
                <a:spLocks noChangeShapeType="1"/>
              </p:cNvSpPr>
              <p:nvPr/>
            </p:nvSpPr>
            <p:spPr bwMode="auto">
              <a:xfrm rot="5400000">
                <a:off x="4176" y="816"/>
                <a:ext cx="192" cy="0"/>
              </a:xfrm>
              <a:prstGeom prst="line">
                <a:avLst/>
              </a:prstGeom>
              <a:noFill/>
              <a:ln w="222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55" name="Text Box 23"/>
              <p:cNvSpPr txBox="1">
                <a:spLocks noChangeArrowheads="1"/>
              </p:cNvSpPr>
              <p:nvPr/>
            </p:nvSpPr>
            <p:spPr bwMode="auto">
              <a:xfrm>
                <a:off x="4128" y="432"/>
                <a:ext cx="262" cy="236"/>
              </a:xfrm>
              <a:prstGeom prst="rect">
                <a:avLst/>
              </a:prstGeom>
              <a:solidFill>
                <a:srgbClr val="C0C0C0"/>
              </a:solidFill>
              <a:ln w="9525">
                <a:solidFill>
                  <a:srgbClr val="C0C0C0"/>
                </a:solidFill>
                <a:miter lim="800000"/>
              </a:ln>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b="1">
                    <a:latin typeface="Symbol" panose="05050102010706020507" pitchFamily="18" charset="2"/>
                  </a:rPr>
                  <a:t>s</a:t>
                </a:r>
                <a:r>
                  <a:rPr kumimoji="0" lang="en-US" altLang="zh-CN" sz="1800" b="1" baseline="-25000">
                    <a:latin typeface="Arial" panose="020B0604020202020204" pitchFamily="34" charset="0"/>
                  </a:rPr>
                  <a:t>1</a:t>
                </a:r>
                <a:endParaRPr kumimoji="0" lang="en-US" altLang="zh-CN" sz="1800" b="1" baseline="-25000">
                  <a:latin typeface="Arial" panose="020B0604020202020204" pitchFamily="34" charset="0"/>
                </a:endParaRPr>
              </a:p>
            </p:txBody>
          </p:sp>
          <p:sp>
            <p:nvSpPr>
              <p:cNvPr id="26656" name="Rectangle 24"/>
              <p:cNvSpPr>
                <a:spLocks noChangeArrowheads="1"/>
              </p:cNvSpPr>
              <p:nvPr/>
            </p:nvSpPr>
            <p:spPr bwMode="auto">
              <a:xfrm>
                <a:off x="4032" y="1392"/>
                <a:ext cx="63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en-US" altLang="zh-CN" sz="2000" b="1" i="1">
                    <a:ea typeface="楷体_GB2312" pitchFamily="49" charset="-122"/>
                  </a:rPr>
                  <a:t>45</a:t>
                </a:r>
                <a:r>
                  <a:rPr lang="en-US" altLang="zh-CN" sz="2000" b="1" i="1" baseline="30000">
                    <a:sym typeface="Symbol" panose="05050102010706020507" pitchFamily="18" charset="2"/>
                  </a:rPr>
                  <a:t></a:t>
                </a:r>
                <a:r>
                  <a:rPr lang="en-US" altLang="zh-CN" sz="2000" b="1">
                    <a:sym typeface="Symbol" panose="05050102010706020507" pitchFamily="18" charset="2"/>
                  </a:rPr>
                  <a:t>+</a:t>
                </a:r>
                <a:r>
                  <a:rPr lang="el-GR" altLang="zh-CN" sz="2000" b="1">
                    <a:sym typeface="Symbol" panose="05050102010706020507" pitchFamily="18" charset="2"/>
                  </a:rPr>
                  <a:t>φ</a:t>
                </a:r>
                <a:r>
                  <a:rPr lang="en-US" altLang="zh-CN" sz="2000" b="1" i="1">
                    <a:sym typeface="Symbol" panose="05050102010706020507" pitchFamily="18" charset="2"/>
                  </a:rPr>
                  <a:t>/2</a:t>
                </a:r>
                <a:endParaRPr lang="en-US" altLang="zh-CN" sz="2000" b="1" i="1">
                  <a:sym typeface="Symbol" panose="05050102010706020507" pitchFamily="18" charset="2"/>
                </a:endParaRPr>
              </a:p>
            </p:txBody>
          </p:sp>
          <p:sp>
            <p:nvSpPr>
              <p:cNvPr id="26657" name="Line 25"/>
              <p:cNvSpPr>
                <a:spLocks noChangeShapeType="1"/>
              </p:cNvSpPr>
              <p:nvPr/>
            </p:nvSpPr>
            <p:spPr bwMode="auto">
              <a:xfrm>
                <a:off x="3936" y="240"/>
                <a:ext cx="0" cy="1392"/>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58" name="Text Box 26"/>
              <p:cNvSpPr txBox="1">
                <a:spLocks noChangeArrowheads="1"/>
              </p:cNvSpPr>
              <p:nvPr/>
            </p:nvSpPr>
            <p:spPr bwMode="auto">
              <a:xfrm>
                <a:off x="3456" y="864"/>
                <a:ext cx="528" cy="232"/>
              </a:xfrm>
              <a:prstGeom prst="rect">
                <a:avLst/>
              </a:prstGeom>
              <a:solidFill>
                <a:srgbClr val="C0C0C0"/>
              </a:solidFill>
              <a:ln w="9525">
                <a:solidFill>
                  <a:srgbClr val="969696"/>
                </a:solidFill>
                <a:miter lim="800000"/>
              </a:ln>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b="1" i="1">
                    <a:solidFill>
                      <a:schemeClr val="accent1"/>
                    </a:solidFill>
                  </a:rPr>
                  <a:t> </a:t>
                </a:r>
                <a:r>
                  <a:rPr kumimoji="0" lang="en-US" altLang="zh-CN" b="1" i="1">
                    <a:sym typeface="Symbol" panose="05050102010706020507" pitchFamily="18" charset="2"/>
                  </a:rPr>
                  <a:t></a:t>
                </a:r>
                <a:r>
                  <a:rPr kumimoji="0" lang="en-US" altLang="zh-CN" b="1" i="1" baseline="-25000"/>
                  <a:t>a</a:t>
                </a:r>
                <a:r>
                  <a:rPr kumimoji="0" lang="en-US" altLang="zh-CN" b="1"/>
                  <a:t>=</a:t>
                </a:r>
                <a:r>
                  <a:rPr kumimoji="0" lang="en-US" altLang="zh-CN" b="1">
                    <a:latin typeface="Symbol" panose="05050102010706020507" pitchFamily="18" charset="2"/>
                  </a:rPr>
                  <a:t>s</a:t>
                </a:r>
                <a:r>
                  <a:rPr kumimoji="0" lang="en-US" altLang="zh-CN" b="1" baseline="-25000"/>
                  <a:t>3</a:t>
                </a:r>
                <a:endParaRPr kumimoji="0" lang="en-US" altLang="zh-CN" b="1" baseline="-25000"/>
              </a:p>
            </p:txBody>
          </p:sp>
          <p:sp>
            <p:nvSpPr>
              <p:cNvPr id="26659" name="Line 27"/>
              <p:cNvSpPr>
                <a:spLocks noChangeShapeType="1"/>
              </p:cNvSpPr>
              <p:nvPr/>
            </p:nvSpPr>
            <p:spPr bwMode="auto">
              <a:xfrm>
                <a:off x="4848" y="240"/>
                <a:ext cx="0" cy="768"/>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60" name="Text Box 28"/>
              <p:cNvSpPr txBox="1">
                <a:spLocks noChangeArrowheads="1"/>
              </p:cNvSpPr>
              <p:nvPr/>
            </p:nvSpPr>
            <p:spPr bwMode="auto">
              <a:xfrm>
                <a:off x="4896" y="432"/>
                <a:ext cx="14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sz="2800" b="1"/>
                  <a:t>z</a:t>
                </a:r>
                <a:endParaRPr kumimoji="0" lang="en-US" altLang="zh-CN" sz="2800" b="1"/>
              </a:p>
            </p:txBody>
          </p:sp>
          <p:sp>
            <p:nvSpPr>
              <p:cNvPr id="26661" name="Line 29"/>
              <p:cNvSpPr>
                <a:spLocks noChangeShapeType="1"/>
              </p:cNvSpPr>
              <p:nvPr/>
            </p:nvSpPr>
            <p:spPr bwMode="auto">
              <a:xfrm>
                <a:off x="4656" y="1008"/>
                <a:ext cx="384"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6644" name="Line 52"/>
            <p:cNvSpPr>
              <a:spLocks noChangeShapeType="1"/>
            </p:cNvSpPr>
            <p:nvPr/>
          </p:nvSpPr>
          <p:spPr bwMode="auto">
            <a:xfrm>
              <a:off x="3833" y="300"/>
              <a:ext cx="998" cy="0"/>
            </a:xfrm>
            <a:prstGeom prst="line">
              <a:avLst/>
            </a:prstGeom>
            <a:noFill/>
            <a:ln w="317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45" name="Line 53"/>
            <p:cNvSpPr>
              <a:spLocks noChangeShapeType="1"/>
            </p:cNvSpPr>
            <p:nvPr/>
          </p:nvSpPr>
          <p:spPr bwMode="auto">
            <a:xfrm>
              <a:off x="3787" y="1706"/>
              <a:ext cx="998" cy="0"/>
            </a:xfrm>
            <a:prstGeom prst="line">
              <a:avLst/>
            </a:prstGeom>
            <a:noFill/>
            <a:ln w="317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114" name="Text Box 58"/>
          <p:cNvSpPr txBox="1">
            <a:spLocks noChangeArrowheads="1"/>
          </p:cNvSpPr>
          <p:nvPr/>
        </p:nvSpPr>
        <p:spPr bwMode="auto">
          <a:xfrm>
            <a:off x="596900" y="3068638"/>
            <a:ext cx="3756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zh-CN" altLang="en-US" sz="2000" b="1" dirty="0" smtClean="0">
                <a:latin typeface="+mn-ea"/>
                <a:ea typeface="+mn-ea"/>
              </a:rPr>
              <a:t>式中</a:t>
            </a:r>
            <a:r>
              <a:rPr lang="zh-CN" altLang="en-US" sz="2000" b="1" dirty="0">
                <a:latin typeface="+mn-ea"/>
                <a:ea typeface="+mn-ea"/>
              </a:rPr>
              <a:t>：</a:t>
            </a:r>
            <a:r>
              <a:rPr lang="en-US" altLang="zh-CN" sz="2000" b="1" dirty="0" err="1">
                <a:latin typeface="+mn-ea"/>
                <a:ea typeface="+mn-ea"/>
              </a:rPr>
              <a:t>K</a:t>
            </a:r>
            <a:r>
              <a:rPr lang="en-US" altLang="zh-CN" sz="2000" b="1" i="1" baseline="-25000" dirty="0" err="1">
                <a:latin typeface="+mn-ea"/>
                <a:ea typeface="+mn-ea"/>
              </a:rPr>
              <a:t>a</a:t>
            </a:r>
            <a:r>
              <a:rPr lang="zh-CN" altLang="en-US" sz="2000" b="1" dirty="0">
                <a:latin typeface="+mn-ea"/>
                <a:ea typeface="+mn-ea"/>
              </a:rPr>
              <a:t>为</a:t>
            </a:r>
            <a:r>
              <a:rPr kumimoji="0" lang="zh-CN" altLang="en-US" sz="2000" b="1" dirty="0">
                <a:latin typeface="+mn-ea"/>
                <a:ea typeface="+mn-ea"/>
              </a:rPr>
              <a:t>朗肯主动土压力系数</a:t>
            </a:r>
            <a:endParaRPr kumimoji="0" lang="zh-CN" altLang="en-US" sz="2000" b="1" dirty="0">
              <a:latin typeface="+mn-ea"/>
              <a:ea typeface="+mn-ea"/>
            </a:endParaRPr>
          </a:p>
        </p:txBody>
      </p:sp>
      <p:sp>
        <p:nvSpPr>
          <p:cNvPr id="25620" name="矩形 1"/>
          <p:cNvSpPr>
            <a:spLocks noChangeArrowheads="1"/>
          </p:cNvSpPr>
          <p:nvPr/>
        </p:nvSpPr>
        <p:spPr bwMode="auto">
          <a:xfrm>
            <a:off x="3397250" y="5818188"/>
            <a:ext cx="1800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defRPr/>
            </a:pPr>
            <a:r>
              <a:rPr kumimoji="0" lang="zh-CN" altLang="en-US" sz="1800" b="1" dirty="0" smtClean="0">
                <a:latin typeface="+mn-ea"/>
                <a:ea typeface="+mn-ea"/>
              </a:rPr>
              <a:t>沿墙体高度方向</a:t>
            </a:r>
            <a:endParaRPr lang="zh-CN" altLang="en-US" sz="1800" b="1" dirty="0" smtClean="0">
              <a:latin typeface="+mn-ea"/>
              <a:ea typeface="+mn-ea"/>
            </a:endParaRPr>
          </a:p>
        </p:txBody>
      </p:sp>
      <p:sp>
        <p:nvSpPr>
          <p:cNvPr id="55" name="Rectangle 6"/>
          <p:cNvSpPr>
            <a:spLocks noChangeArrowheads="1"/>
          </p:cNvSpPr>
          <p:nvPr/>
        </p:nvSpPr>
        <p:spPr bwMode="auto">
          <a:xfrm>
            <a:off x="0" y="-317"/>
            <a:ext cx="3617913"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朗肯土压力理论</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
        <p:nvSpPr>
          <p:cNvPr id="2" name="矩形 1"/>
          <p:cNvSpPr/>
          <p:nvPr/>
        </p:nvSpPr>
        <p:spPr>
          <a:xfrm>
            <a:off x="2828925" y="539750"/>
            <a:ext cx="2175123" cy="523220"/>
          </a:xfrm>
          <a:prstGeom prst="rect">
            <a:avLst/>
          </a:prstGeom>
          <a:solidFill>
            <a:srgbClr val="FFC000"/>
          </a:solidFill>
        </p:spPr>
        <p:txBody>
          <a:bodyPr wrap="square">
            <a:spAutoFit/>
          </a:bodyPr>
          <a:lstStyle/>
          <a:p>
            <a:pPr>
              <a:defRPr/>
            </a:pPr>
            <a:r>
              <a:rPr kumimoji="0" lang="zh-CN" altLang="en-US" b="1" dirty="0">
                <a:latin typeface="+mn-ea"/>
                <a:ea typeface="+mn-ea"/>
              </a:rPr>
              <a:t>主动土压力</a:t>
            </a:r>
            <a:endParaRPr lang="zh-CN" altLang="en-US" b="1" dirty="0">
              <a:latin typeface="+mn-ea"/>
              <a:ea typeface="+mn-ea"/>
            </a:endParaRPr>
          </a:p>
        </p:txBody>
      </p:sp>
      <p:sp>
        <p:nvSpPr>
          <p:cNvPr id="3" name="文本框 2"/>
          <p:cNvSpPr txBox="1">
            <a:spLocks noRot="1" noChangeAspect="1" noMove="1" noResize="1" noEditPoints="1" noAdjustHandles="1" noChangeArrowheads="1" noChangeShapeType="1" noTextEdit="1"/>
          </p:cNvSpPr>
          <p:nvPr/>
        </p:nvSpPr>
        <p:spPr>
          <a:xfrm>
            <a:off x="356564" y="2245310"/>
            <a:ext cx="4883848" cy="630429"/>
          </a:xfrm>
          <a:prstGeom prst="rect">
            <a:avLst/>
          </a:prstGeom>
          <a:blipFill>
            <a:blip r:embed="rId11"/>
            <a:stretch>
              <a:fillRect/>
            </a:stretch>
          </a:blipFill>
        </p:spPr>
        <p:txBody>
          <a:bodyPr/>
          <a:lstStyle/>
          <a:p>
            <a:r>
              <a:rPr lang="zh-CN" altLang="en-US">
                <a:noFill/>
              </a:rPr>
              <a:t> </a:t>
            </a:r>
            <a:endParaRPr lang="zh-CN" altLang="en-US">
              <a:noFill/>
            </a:endParaRPr>
          </a:p>
        </p:txBody>
      </p:sp>
      <p:sp>
        <p:nvSpPr>
          <p:cNvPr id="26642" name="文本框 3"/>
          <p:cNvSpPr txBox="1">
            <a:spLocks noChangeArrowheads="1"/>
          </p:cNvSpPr>
          <p:nvPr/>
        </p:nvSpPr>
        <p:spPr bwMode="auto">
          <a:xfrm>
            <a:off x="900113" y="1631950"/>
            <a:ext cx="2054225"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000" b="1"/>
              <a:t>主动土压力强度</a:t>
            </a:r>
            <a:endParaRPr lang="zh-CN" altLang="en-US" sz="2000" b="1"/>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28702"/>
                                        </p:tgtEl>
                                        <p:attrNameLst>
                                          <p:attrName>style.visibility</p:attrName>
                                        </p:attrNameLst>
                                      </p:cBhvr>
                                      <p:to>
                                        <p:strVal val="visible"/>
                                      </p:to>
                                    </p:set>
                                    <p:animEffect transition="in" filter="wipe(left)">
                                      <p:cBhvr>
                                        <p:cTn id="7" dur="300"/>
                                        <p:tgtEl>
                                          <p:spTgt spid="2870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28714"/>
                                        </p:tgtEl>
                                        <p:attrNameLst>
                                          <p:attrName>style.visibility</p:attrName>
                                        </p:attrNameLst>
                                      </p:cBhvr>
                                      <p:to>
                                        <p:strVal val="visible"/>
                                      </p:to>
                                    </p:set>
                                    <p:animEffect transition="in" filter="wipe(left)">
                                      <p:cBhvr>
                                        <p:cTn id="12" dur="300"/>
                                        <p:tgtEl>
                                          <p:spTgt spid="28714"/>
                                        </p:tgtEl>
                                      </p:cBhvr>
                                    </p:animEffect>
                                  </p:childTnLst>
                                </p:cTn>
                              </p:par>
                            </p:childTnLst>
                          </p:cTn>
                        </p:par>
                        <p:par>
                          <p:cTn id="13" fill="hold">
                            <p:stCondLst>
                              <p:cond delay="4500"/>
                            </p:stCondLst>
                            <p:childTnLst>
                              <p:par>
                                <p:cTn id="14" presetID="22" presetClass="entr" presetSubtype="8" fill="hold" nodeType="afterEffect">
                                  <p:stCondLst>
                                    <p:cond delay="0"/>
                                  </p:stCondLst>
                                  <p:childTnLst>
                                    <p:set>
                                      <p:cBhvr>
                                        <p:cTn id="15" dur="1" fill="hold">
                                          <p:stCondLst>
                                            <p:cond delay="0"/>
                                          </p:stCondLst>
                                        </p:cTn>
                                        <p:tgtEl>
                                          <p:spTgt spid="28715"/>
                                        </p:tgtEl>
                                        <p:attrNameLst>
                                          <p:attrName>style.visibility</p:attrName>
                                        </p:attrNameLst>
                                      </p:cBhvr>
                                      <p:to>
                                        <p:strVal val="visible"/>
                                      </p:to>
                                    </p:set>
                                    <p:animEffect transition="in" filter="wipe(left)">
                                      <p:cBhvr>
                                        <p:cTn id="16" dur="500"/>
                                        <p:tgtEl>
                                          <p:spTgt spid="287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02" grpId="0" autoUpdateAnimBg="0"/>
      <p:bldP spid="28714"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468313" y="765175"/>
            <a:ext cx="1439862"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lang="en-US" altLang="zh-CN" sz="2000" b="1" dirty="0" smtClean="0">
                <a:ea typeface="+mn-ea"/>
                <a:cs typeface="Times New Roman" panose="02020603050405020304" pitchFamily="18" charset="0"/>
              </a:rPr>
              <a:t>2</a:t>
            </a:r>
            <a:r>
              <a:rPr lang="zh-CN" altLang="en-US" sz="2000" b="1" dirty="0" smtClean="0">
                <a:ea typeface="+mn-ea"/>
                <a:cs typeface="Times New Roman" panose="02020603050405020304" pitchFamily="18" charset="0"/>
              </a:rPr>
              <a:t>）黏性土</a:t>
            </a:r>
            <a:endParaRPr lang="zh-CN" altLang="en-US" sz="2000" b="1" dirty="0" smtClean="0">
              <a:ea typeface="+mn-ea"/>
              <a:cs typeface="Times New Roman" panose="02020603050405020304" pitchFamily="18" charset="0"/>
            </a:endParaRPr>
          </a:p>
        </p:txBody>
      </p:sp>
      <p:grpSp>
        <p:nvGrpSpPr>
          <p:cNvPr id="27651" name="Group 87"/>
          <p:cNvGrpSpPr/>
          <p:nvPr/>
        </p:nvGrpSpPr>
        <p:grpSpPr bwMode="auto">
          <a:xfrm>
            <a:off x="5357813" y="4097338"/>
            <a:ext cx="2667000" cy="2305050"/>
            <a:chOff x="3334" y="2614"/>
            <a:chExt cx="1680" cy="1452"/>
          </a:xfrm>
        </p:grpSpPr>
        <p:sp>
          <p:nvSpPr>
            <p:cNvPr id="27712" name="AutoShape 9" descr="25%"/>
            <p:cNvSpPr>
              <a:spLocks noChangeArrowheads="1"/>
            </p:cNvSpPr>
            <p:nvPr/>
          </p:nvSpPr>
          <p:spPr bwMode="auto">
            <a:xfrm rot="10800000">
              <a:off x="3334" y="2662"/>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blipFill dpi="0" rotWithShape="0">
              <a:blip r:embed="rId1"/>
              <a:srcRect/>
              <a:tile tx="0" ty="0" sx="100000" sy="100000" flip="none" algn="tl"/>
            </a:blipFill>
            <a:ln w="34925">
              <a:solidFill>
                <a:srgbClr val="000000"/>
              </a:solidFill>
              <a:miter lim="800000"/>
            </a:ln>
          </p:spPr>
          <p:txBody>
            <a:bodyPr wrap="none" anchor="ctr"/>
            <a:lstStyle/>
            <a:p>
              <a:endParaRPr lang="zh-CN" altLang="en-US"/>
            </a:p>
          </p:txBody>
        </p:sp>
        <p:sp>
          <p:nvSpPr>
            <p:cNvPr id="27713" name="Rectangle 10" descr="25%"/>
            <p:cNvSpPr>
              <a:spLocks noChangeArrowheads="1"/>
            </p:cNvSpPr>
            <p:nvPr/>
          </p:nvSpPr>
          <p:spPr bwMode="auto">
            <a:xfrm>
              <a:off x="3766" y="2662"/>
              <a:ext cx="1248" cy="1392"/>
            </a:xfrm>
            <a:prstGeom prst="rect">
              <a:avLst/>
            </a:prstGeom>
            <a:blipFill dpi="0" rotWithShape="0">
              <a:blip r:embed="rId1"/>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nvGrpSpPr>
            <p:cNvPr id="27714" name="Group 11"/>
            <p:cNvGrpSpPr/>
            <p:nvPr/>
          </p:nvGrpSpPr>
          <p:grpSpPr bwMode="auto">
            <a:xfrm>
              <a:off x="3767" y="2998"/>
              <a:ext cx="671" cy="1062"/>
              <a:chOff x="3361" y="1056"/>
              <a:chExt cx="863" cy="1398"/>
            </a:xfrm>
          </p:grpSpPr>
          <p:sp>
            <p:nvSpPr>
              <p:cNvPr id="27722" name="Line 12"/>
              <p:cNvSpPr>
                <a:spLocks noChangeShapeType="1"/>
              </p:cNvSpPr>
              <p:nvPr/>
            </p:nvSpPr>
            <p:spPr bwMode="auto">
              <a:xfrm flipV="1">
                <a:off x="3361" y="1063"/>
                <a:ext cx="863" cy="1391"/>
              </a:xfrm>
              <a:prstGeom prst="line">
                <a:avLst/>
              </a:prstGeom>
              <a:noFill/>
              <a:ln w="38100">
                <a:solidFill>
                  <a:srgbClr val="8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27723" name="Group 13"/>
              <p:cNvGrpSpPr/>
              <p:nvPr/>
            </p:nvGrpSpPr>
            <p:grpSpPr bwMode="auto">
              <a:xfrm>
                <a:off x="3361" y="1056"/>
                <a:ext cx="757" cy="1166"/>
                <a:chOff x="3361" y="1056"/>
                <a:chExt cx="757" cy="1166"/>
              </a:xfrm>
            </p:grpSpPr>
            <p:sp>
              <p:nvSpPr>
                <p:cNvPr id="27724" name="Line 14"/>
                <p:cNvSpPr>
                  <a:spLocks noChangeShapeType="1"/>
                </p:cNvSpPr>
                <p:nvPr/>
              </p:nvSpPr>
              <p:spPr bwMode="auto">
                <a:xfrm flipV="1">
                  <a:off x="3361" y="1063"/>
                  <a:ext cx="621" cy="1000"/>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27725" name="Line 15"/>
                <p:cNvSpPr>
                  <a:spLocks noChangeShapeType="1"/>
                </p:cNvSpPr>
                <p:nvPr/>
              </p:nvSpPr>
              <p:spPr bwMode="auto">
                <a:xfrm flipV="1">
                  <a:off x="3361" y="1056"/>
                  <a:ext cx="371" cy="623"/>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27726" name="Line 16"/>
                <p:cNvSpPr>
                  <a:spLocks noChangeShapeType="1"/>
                </p:cNvSpPr>
                <p:nvPr/>
              </p:nvSpPr>
              <p:spPr bwMode="auto">
                <a:xfrm flipV="1">
                  <a:off x="3361" y="1063"/>
                  <a:ext cx="121" cy="218"/>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27727" name="Line 17"/>
                <p:cNvSpPr>
                  <a:spLocks noChangeShapeType="1"/>
                </p:cNvSpPr>
                <p:nvPr/>
              </p:nvSpPr>
              <p:spPr bwMode="auto">
                <a:xfrm>
                  <a:off x="3361" y="1259"/>
                  <a:ext cx="394" cy="565"/>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27728" name="Line 18"/>
                <p:cNvSpPr>
                  <a:spLocks noChangeShapeType="1"/>
                </p:cNvSpPr>
                <p:nvPr/>
              </p:nvSpPr>
              <p:spPr bwMode="auto">
                <a:xfrm>
                  <a:off x="3505" y="1070"/>
                  <a:ext cx="363" cy="529"/>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27729" name="Line 19"/>
                <p:cNvSpPr>
                  <a:spLocks noChangeShapeType="1"/>
                </p:cNvSpPr>
                <p:nvPr/>
              </p:nvSpPr>
              <p:spPr bwMode="auto">
                <a:xfrm>
                  <a:off x="3739" y="1063"/>
                  <a:ext cx="265" cy="370"/>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27730" name="Line 20"/>
                <p:cNvSpPr>
                  <a:spLocks noChangeShapeType="1"/>
                </p:cNvSpPr>
                <p:nvPr/>
              </p:nvSpPr>
              <p:spPr bwMode="auto">
                <a:xfrm>
                  <a:off x="3369" y="1643"/>
                  <a:ext cx="264" cy="398"/>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27731" name="Line 21"/>
                <p:cNvSpPr>
                  <a:spLocks noChangeShapeType="1"/>
                </p:cNvSpPr>
                <p:nvPr/>
              </p:nvSpPr>
              <p:spPr bwMode="auto">
                <a:xfrm>
                  <a:off x="3361" y="2005"/>
                  <a:ext cx="151" cy="217"/>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27732" name="Line 22"/>
                <p:cNvSpPr>
                  <a:spLocks noChangeShapeType="1"/>
                </p:cNvSpPr>
                <p:nvPr/>
              </p:nvSpPr>
              <p:spPr bwMode="auto">
                <a:xfrm>
                  <a:off x="3997" y="1056"/>
                  <a:ext cx="121" cy="181"/>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27715" name="Rectangle 23"/>
            <p:cNvSpPr>
              <a:spLocks noChangeArrowheads="1"/>
            </p:cNvSpPr>
            <p:nvPr/>
          </p:nvSpPr>
          <p:spPr bwMode="auto">
            <a:xfrm>
              <a:off x="3862" y="3814"/>
              <a:ext cx="639" cy="25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en-US" altLang="zh-CN" sz="2000" b="1" i="1">
                  <a:ea typeface="楷体_GB2312" pitchFamily="49" charset="-122"/>
                </a:rPr>
                <a:t>45</a:t>
              </a:r>
              <a:r>
                <a:rPr lang="en-US" altLang="zh-CN" sz="2000" b="1" i="1" baseline="30000">
                  <a:sym typeface="Symbol" panose="05050102010706020507" pitchFamily="18" charset="2"/>
                </a:rPr>
                <a:t></a:t>
              </a:r>
              <a:r>
                <a:rPr lang="en-US" altLang="zh-CN" sz="2000" b="1">
                  <a:sym typeface="Symbol" panose="05050102010706020507" pitchFamily="18" charset="2"/>
                </a:rPr>
                <a:t>+</a:t>
              </a:r>
              <a:r>
                <a:rPr lang="el-GR" altLang="zh-CN" sz="2000" b="1">
                  <a:sym typeface="Symbol" panose="05050102010706020507" pitchFamily="18" charset="2"/>
                </a:rPr>
                <a:t>φ</a:t>
              </a:r>
              <a:r>
                <a:rPr lang="en-US" altLang="zh-CN" sz="2000" b="1" i="1">
                  <a:sym typeface="Symbol" panose="05050102010706020507" pitchFamily="18" charset="2"/>
                </a:rPr>
                <a:t>/2</a:t>
              </a:r>
              <a:endParaRPr lang="en-US" altLang="zh-CN" sz="2000" b="1" i="1">
                <a:sym typeface="Symbol" panose="05050102010706020507" pitchFamily="18" charset="2"/>
              </a:endParaRPr>
            </a:p>
          </p:txBody>
        </p:sp>
        <p:sp>
          <p:nvSpPr>
            <p:cNvPr id="27716" name="Line 24"/>
            <p:cNvSpPr>
              <a:spLocks noChangeShapeType="1"/>
            </p:cNvSpPr>
            <p:nvPr/>
          </p:nvSpPr>
          <p:spPr bwMode="auto">
            <a:xfrm>
              <a:off x="3766" y="2662"/>
              <a:ext cx="0" cy="1392"/>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17" name="Line 25"/>
            <p:cNvSpPr>
              <a:spLocks noChangeShapeType="1"/>
            </p:cNvSpPr>
            <p:nvPr/>
          </p:nvSpPr>
          <p:spPr bwMode="auto">
            <a:xfrm>
              <a:off x="4678" y="2662"/>
              <a:ext cx="0" cy="336"/>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718" name="Text Box 26"/>
            <p:cNvSpPr txBox="1">
              <a:spLocks noChangeArrowheads="1"/>
            </p:cNvSpPr>
            <p:nvPr/>
          </p:nvSpPr>
          <p:spPr bwMode="auto">
            <a:xfrm>
              <a:off x="4726" y="2662"/>
              <a:ext cx="240" cy="26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sz="2800" b="1"/>
                <a:t>z</a:t>
              </a:r>
              <a:r>
                <a:rPr kumimoji="0" lang="en-US" altLang="zh-CN" sz="2800" b="1" baseline="-25000"/>
                <a:t>0</a:t>
              </a:r>
              <a:endParaRPr kumimoji="0" lang="en-US" altLang="zh-CN" sz="2800" b="1"/>
            </a:p>
          </p:txBody>
        </p:sp>
        <p:sp>
          <p:nvSpPr>
            <p:cNvPr id="27719" name="Line 27"/>
            <p:cNvSpPr>
              <a:spLocks noChangeShapeType="1"/>
            </p:cNvSpPr>
            <p:nvPr/>
          </p:nvSpPr>
          <p:spPr bwMode="auto">
            <a:xfrm>
              <a:off x="4486" y="2998"/>
              <a:ext cx="384"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20" name="Freeform 28" descr="25%"/>
            <p:cNvSpPr/>
            <p:nvPr/>
          </p:nvSpPr>
          <p:spPr bwMode="auto">
            <a:xfrm>
              <a:off x="3766" y="2614"/>
              <a:ext cx="1248" cy="427"/>
            </a:xfrm>
            <a:custGeom>
              <a:avLst/>
              <a:gdLst>
                <a:gd name="T0" fmla="*/ 0 w 1118"/>
                <a:gd name="T1" fmla="*/ 3241 h 379"/>
                <a:gd name="T2" fmla="*/ 495 w 1118"/>
                <a:gd name="T3" fmla="*/ 1919 h 379"/>
                <a:gd name="T4" fmla="*/ 883 w 1118"/>
                <a:gd name="T5" fmla="*/ 294 h 379"/>
                <a:gd name="T6" fmla="*/ 2613 w 1118"/>
                <a:gd name="T7" fmla="*/ 158 h 379"/>
                <a:gd name="T8" fmla="*/ 3613 w 1118"/>
                <a:gd name="T9" fmla="*/ 294 h 379"/>
                <a:gd name="T10" fmla="*/ 3364 w 1118"/>
                <a:gd name="T11" fmla="*/ 2217 h 379"/>
                <a:gd name="T12" fmla="*/ 3613 w 1118"/>
                <a:gd name="T13" fmla="*/ 2217 h 379"/>
                <a:gd name="T14" fmla="*/ 3859 w 1118"/>
                <a:gd name="T15" fmla="*/ 2078 h 379"/>
                <a:gd name="T16" fmla="*/ 4357 w 1118"/>
                <a:gd name="T17" fmla="*/ 294 h 379"/>
                <a:gd name="T18" fmla="*/ 6982 w 1118"/>
                <a:gd name="T19" fmla="*/ 158 h 379"/>
                <a:gd name="T20" fmla="*/ 7852 w 1118"/>
                <a:gd name="T21" fmla="*/ 294 h 379"/>
                <a:gd name="T22" fmla="*/ 8100 w 1118"/>
                <a:gd name="T23" fmla="*/ 442 h 37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18"/>
                <a:gd name="T37" fmla="*/ 0 h 379"/>
                <a:gd name="T38" fmla="*/ 1118 w 1118"/>
                <a:gd name="T39" fmla="*/ 379 h 37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18" h="379">
                  <a:moveTo>
                    <a:pt x="0" y="379"/>
                  </a:moveTo>
                  <a:cubicBezTo>
                    <a:pt x="25" y="329"/>
                    <a:pt x="56" y="279"/>
                    <a:pt x="69" y="224"/>
                  </a:cubicBezTo>
                  <a:cubicBezTo>
                    <a:pt x="111" y="37"/>
                    <a:pt x="60" y="93"/>
                    <a:pt x="121" y="35"/>
                  </a:cubicBezTo>
                  <a:cubicBezTo>
                    <a:pt x="216" y="48"/>
                    <a:pt x="275" y="61"/>
                    <a:pt x="361" y="18"/>
                  </a:cubicBezTo>
                  <a:cubicBezTo>
                    <a:pt x="407" y="24"/>
                    <a:pt x="468" y="0"/>
                    <a:pt x="499" y="35"/>
                  </a:cubicBezTo>
                  <a:cubicBezTo>
                    <a:pt x="502" y="39"/>
                    <a:pt x="467" y="246"/>
                    <a:pt x="465" y="259"/>
                  </a:cubicBezTo>
                  <a:cubicBezTo>
                    <a:pt x="496" y="353"/>
                    <a:pt x="468" y="301"/>
                    <a:pt x="499" y="259"/>
                  </a:cubicBezTo>
                  <a:cubicBezTo>
                    <a:pt x="507" y="249"/>
                    <a:pt x="522" y="248"/>
                    <a:pt x="533" y="242"/>
                  </a:cubicBezTo>
                  <a:cubicBezTo>
                    <a:pt x="555" y="176"/>
                    <a:pt x="572" y="97"/>
                    <a:pt x="602" y="35"/>
                  </a:cubicBezTo>
                  <a:cubicBezTo>
                    <a:pt x="721" y="50"/>
                    <a:pt x="850" y="75"/>
                    <a:pt x="963" y="18"/>
                  </a:cubicBezTo>
                  <a:cubicBezTo>
                    <a:pt x="1003" y="24"/>
                    <a:pt x="1044" y="26"/>
                    <a:pt x="1084" y="35"/>
                  </a:cubicBezTo>
                  <a:cubicBezTo>
                    <a:pt x="1096" y="38"/>
                    <a:pt x="1118" y="52"/>
                    <a:pt x="1118" y="52"/>
                  </a:cubicBezTo>
                </a:path>
              </a:pathLst>
            </a:custGeom>
            <a:blipFill dpi="0" rotWithShape="0">
              <a:blip r:embed="rId1"/>
              <a:srcRect/>
              <a:tile tx="0" ty="0" sx="100000" sy="100000" flip="none" algn="tl"/>
            </a:blipFill>
            <a:ln w="22225">
              <a:solidFill>
                <a:schemeClr val="tx1"/>
              </a:solidFill>
              <a:round/>
            </a:ln>
          </p:spPr>
          <p:txBody>
            <a:bodyPr/>
            <a:lstStyle/>
            <a:p>
              <a:endParaRPr lang="zh-CN" altLang="en-US"/>
            </a:p>
          </p:txBody>
        </p:sp>
        <p:sp>
          <p:nvSpPr>
            <p:cNvPr id="27721" name="Line 29"/>
            <p:cNvSpPr>
              <a:spLocks noChangeShapeType="1"/>
            </p:cNvSpPr>
            <p:nvPr/>
          </p:nvSpPr>
          <p:spPr bwMode="auto">
            <a:xfrm>
              <a:off x="3766" y="2998"/>
              <a:ext cx="720" cy="0"/>
            </a:xfrm>
            <a:prstGeom prst="line">
              <a:avLst/>
            </a:prstGeom>
            <a:noFill/>
            <a:ln w="9525">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7652" name="Group 86"/>
          <p:cNvGrpSpPr/>
          <p:nvPr/>
        </p:nvGrpSpPr>
        <p:grpSpPr bwMode="auto">
          <a:xfrm>
            <a:off x="5129213" y="1574800"/>
            <a:ext cx="3546475" cy="2286000"/>
            <a:chOff x="3024" y="960"/>
            <a:chExt cx="2234" cy="1440"/>
          </a:xfrm>
        </p:grpSpPr>
        <p:grpSp>
          <p:nvGrpSpPr>
            <p:cNvPr id="27666" name="Group 30"/>
            <p:cNvGrpSpPr/>
            <p:nvPr/>
          </p:nvGrpSpPr>
          <p:grpSpPr bwMode="auto">
            <a:xfrm>
              <a:off x="3024" y="960"/>
              <a:ext cx="672" cy="1440"/>
              <a:chOff x="3024" y="816"/>
              <a:chExt cx="672" cy="1440"/>
            </a:xfrm>
          </p:grpSpPr>
          <p:sp>
            <p:nvSpPr>
              <p:cNvPr id="27709" name="AutoShape 31" descr="横向砖形"/>
              <p:cNvSpPr>
                <a:spLocks noChangeArrowheads="1"/>
              </p:cNvSpPr>
              <p:nvPr/>
            </p:nvSpPr>
            <p:spPr bwMode="auto">
              <a:xfrm rot="10800000">
                <a:off x="3024" y="864"/>
                <a:ext cx="624" cy="134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blipFill dpi="0" rotWithShape="0">
                <a:blip r:embed="rId2"/>
                <a:srcRect/>
                <a:tile tx="0" ty="0" sx="100000" sy="100000" flip="none" algn="tl"/>
              </a:blipFill>
              <a:ln w="34925">
                <a:solidFill>
                  <a:srgbClr val="000000"/>
                </a:solidFill>
                <a:miter lim="800000"/>
              </a:ln>
            </p:spPr>
            <p:txBody>
              <a:bodyPr wrap="none" anchor="ctr"/>
              <a:lstStyle/>
              <a:p>
                <a:endParaRPr lang="zh-CN" altLang="en-US"/>
              </a:p>
            </p:txBody>
          </p:sp>
          <p:sp useBgFill="1">
            <p:nvSpPr>
              <p:cNvPr id="27710" name="Rectangle 32"/>
              <p:cNvSpPr>
                <a:spLocks noChangeArrowheads="1"/>
              </p:cNvSpPr>
              <p:nvPr/>
            </p:nvSpPr>
            <p:spPr bwMode="auto">
              <a:xfrm>
                <a:off x="3456" y="816"/>
                <a:ext cx="240" cy="144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27711" name="Line 33"/>
              <p:cNvSpPr>
                <a:spLocks noChangeShapeType="1"/>
              </p:cNvSpPr>
              <p:nvPr/>
            </p:nvSpPr>
            <p:spPr bwMode="auto">
              <a:xfrm>
                <a:off x="3456" y="864"/>
                <a:ext cx="0" cy="1344"/>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7667" name="Group 34"/>
            <p:cNvGrpSpPr/>
            <p:nvPr/>
          </p:nvGrpSpPr>
          <p:grpSpPr bwMode="auto">
            <a:xfrm>
              <a:off x="3560" y="1026"/>
              <a:ext cx="698" cy="1344"/>
              <a:chOff x="3552" y="1008"/>
              <a:chExt cx="698" cy="1344"/>
            </a:xfrm>
          </p:grpSpPr>
          <p:grpSp>
            <p:nvGrpSpPr>
              <p:cNvPr id="27691" name="Group 35"/>
              <p:cNvGrpSpPr/>
              <p:nvPr/>
            </p:nvGrpSpPr>
            <p:grpSpPr bwMode="auto">
              <a:xfrm>
                <a:off x="3744" y="1344"/>
                <a:ext cx="506" cy="1008"/>
                <a:chOff x="1200" y="1776"/>
                <a:chExt cx="528" cy="1200"/>
              </a:xfrm>
            </p:grpSpPr>
            <p:sp>
              <p:nvSpPr>
                <p:cNvPr id="27696" name="Line 36"/>
                <p:cNvSpPr>
                  <a:spLocks noChangeShapeType="1"/>
                </p:cNvSpPr>
                <p:nvPr/>
              </p:nvSpPr>
              <p:spPr bwMode="auto">
                <a:xfrm>
                  <a:off x="1200" y="1776"/>
                  <a:ext cx="528" cy="1200"/>
                </a:xfrm>
                <a:prstGeom prst="line">
                  <a:avLst/>
                </a:prstGeom>
                <a:noFill/>
                <a:ln w="349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97" name="Line 37"/>
                <p:cNvSpPr>
                  <a:spLocks noChangeShapeType="1"/>
                </p:cNvSpPr>
                <p:nvPr/>
              </p:nvSpPr>
              <p:spPr bwMode="auto">
                <a:xfrm rot="10800000">
                  <a:off x="1200" y="2976"/>
                  <a:ext cx="528"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7698" name="Line 38"/>
                <p:cNvSpPr>
                  <a:spLocks noChangeShapeType="1"/>
                </p:cNvSpPr>
                <p:nvPr/>
              </p:nvSpPr>
              <p:spPr bwMode="auto">
                <a:xfrm>
                  <a:off x="1200" y="2016"/>
                  <a:ext cx="96" cy="0"/>
                </a:xfrm>
                <a:prstGeom prst="line">
                  <a:avLst/>
                </a:prstGeom>
                <a:noFill/>
                <a:ln w="34925">
                  <a:solidFill>
                    <a:schemeClr val="tx1"/>
                  </a:solidFill>
                  <a:round/>
                  <a:head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7699" name="Line 39"/>
                <p:cNvSpPr>
                  <a:spLocks noChangeShapeType="1"/>
                </p:cNvSpPr>
                <p:nvPr/>
              </p:nvSpPr>
              <p:spPr bwMode="auto">
                <a:xfrm>
                  <a:off x="1200" y="2112"/>
                  <a:ext cx="144" cy="0"/>
                </a:xfrm>
                <a:prstGeom prst="line">
                  <a:avLst/>
                </a:prstGeom>
                <a:noFill/>
                <a:ln w="34925">
                  <a:solidFill>
                    <a:schemeClr val="tx1"/>
                  </a:solidFill>
                  <a:round/>
                  <a:head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7700" name="Line 40"/>
                <p:cNvSpPr>
                  <a:spLocks noChangeShapeType="1"/>
                </p:cNvSpPr>
                <p:nvPr/>
              </p:nvSpPr>
              <p:spPr bwMode="auto">
                <a:xfrm flipH="1">
                  <a:off x="1200" y="1920"/>
                  <a:ext cx="48"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7701" name="Line 41"/>
                <p:cNvSpPr>
                  <a:spLocks noChangeShapeType="1"/>
                </p:cNvSpPr>
                <p:nvPr/>
              </p:nvSpPr>
              <p:spPr bwMode="auto">
                <a:xfrm rot="10800000" flipH="1">
                  <a:off x="1200" y="2208"/>
                  <a:ext cx="192" cy="0"/>
                </a:xfrm>
                <a:prstGeom prst="line">
                  <a:avLst/>
                </a:prstGeom>
                <a:noFill/>
                <a:ln w="34925">
                  <a:solidFill>
                    <a:schemeClr val="tx1"/>
                  </a:solidFill>
                  <a:round/>
                  <a:head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7702" name="Line 42"/>
                <p:cNvSpPr>
                  <a:spLocks noChangeShapeType="1"/>
                </p:cNvSpPr>
                <p:nvPr/>
              </p:nvSpPr>
              <p:spPr bwMode="auto">
                <a:xfrm flipH="1">
                  <a:off x="1200" y="2304"/>
                  <a:ext cx="240"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7703" name="Line 43"/>
                <p:cNvSpPr>
                  <a:spLocks noChangeShapeType="1"/>
                </p:cNvSpPr>
                <p:nvPr/>
              </p:nvSpPr>
              <p:spPr bwMode="auto">
                <a:xfrm flipH="1">
                  <a:off x="1200" y="2400"/>
                  <a:ext cx="288"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7704" name="Line 44"/>
                <p:cNvSpPr>
                  <a:spLocks noChangeShapeType="1"/>
                </p:cNvSpPr>
                <p:nvPr/>
              </p:nvSpPr>
              <p:spPr bwMode="auto">
                <a:xfrm flipH="1">
                  <a:off x="1200" y="2496"/>
                  <a:ext cx="288"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7705" name="Line 45"/>
                <p:cNvSpPr>
                  <a:spLocks noChangeShapeType="1"/>
                </p:cNvSpPr>
                <p:nvPr/>
              </p:nvSpPr>
              <p:spPr bwMode="auto">
                <a:xfrm flipH="1">
                  <a:off x="1200" y="2592"/>
                  <a:ext cx="336"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7706" name="Line 46"/>
                <p:cNvSpPr>
                  <a:spLocks noChangeShapeType="1"/>
                </p:cNvSpPr>
                <p:nvPr/>
              </p:nvSpPr>
              <p:spPr bwMode="auto">
                <a:xfrm flipH="1">
                  <a:off x="1200" y="2688"/>
                  <a:ext cx="384"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7707" name="Line 47"/>
                <p:cNvSpPr>
                  <a:spLocks noChangeShapeType="1"/>
                </p:cNvSpPr>
                <p:nvPr/>
              </p:nvSpPr>
              <p:spPr bwMode="auto">
                <a:xfrm flipH="1">
                  <a:off x="1200" y="2784"/>
                  <a:ext cx="432"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7708" name="Line 48"/>
                <p:cNvSpPr>
                  <a:spLocks noChangeShapeType="1"/>
                </p:cNvSpPr>
                <p:nvPr/>
              </p:nvSpPr>
              <p:spPr bwMode="auto">
                <a:xfrm flipH="1">
                  <a:off x="1200" y="2880"/>
                  <a:ext cx="480"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grpSp>
          <p:sp>
            <p:nvSpPr>
              <p:cNvPr id="27692" name="Line 49"/>
              <p:cNvSpPr>
                <a:spLocks noChangeShapeType="1"/>
              </p:cNvSpPr>
              <p:nvPr/>
            </p:nvSpPr>
            <p:spPr bwMode="auto">
              <a:xfrm flipV="1">
                <a:off x="3744" y="1008"/>
                <a:ext cx="0" cy="1344"/>
              </a:xfrm>
              <a:prstGeom prst="line">
                <a:avLst/>
              </a:prstGeom>
              <a:noFill/>
              <a:ln w="476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27693" name="Group 50"/>
              <p:cNvGrpSpPr/>
              <p:nvPr/>
            </p:nvGrpSpPr>
            <p:grpSpPr bwMode="auto">
              <a:xfrm>
                <a:off x="3552" y="1008"/>
                <a:ext cx="192" cy="336"/>
                <a:chOff x="3792" y="960"/>
                <a:chExt cx="192" cy="336"/>
              </a:xfrm>
            </p:grpSpPr>
            <p:sp>
              <p:nvSpPr>
                <p:cNvPr id="27694" name="Line 51"/>
                <p:cNvSpPr>
                  <a:spLocks noChangeShapeType="1"/>
                </p:cNvSpPr>
                <p:nvPr/>
              </p:nvSpPr>
              <p:spPr bwMode="auto">
                <a:xfrm flipH="1" flipV="1">
                  <a:off x="3792" y="960"/>
                  <a:ext cx="192" cy="336"/>
                </a:xfrm>
                <a:prstGeom prst="line">
                  <a:avLst/>
                </a:prstGeom>
                <a:noFill/>
                <a:ln w="222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95" name="Line 52"/>
                <p:cNvSpPr>
                  <a:spLocks noChangeShapeType="1"/>
                </p:cNvSpPr>
                <p:nvPr/>
              </p:nvSpPr>
              <p:spPr bwMode="auto">
                <a:xfrm>
                  <a:off x="3792" y="960"/>
                  <a:ext cx="192" cy="0"/>
                </a:xfrm>
                <a:prstGeom prst="line">
                  <a:avLst/>
                </a:prstGeom>
                <a:noFill/>
                <a:ln w="222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27668" name="Oval 53"/>
            <p:cNvSpPr>
              <a:spLocks noChangeArrowheads="1"/>
            </p:cNvSpPr>
            <p:nvPr/>
          </p:nvSpPr>
          <p:spPr bwMode="auto">
            <a:xfrm>
              <a:off x="3600" y="1056"/>
              <a:ext cx="176" cy="184"/>
            </a:xfrm>
            <a:prstGeom prst="ellipse">
              <a:avLst/>
            </a:prstGeom>
            <a:solidFill>
              <a:srgbClr val="00CCFF"/>
            </a:solidFill>
            <a:ln w="9525">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a:ea typeface="仿宋_GB2312" pitchFamily="49" charset="-122"/>
                </a:rPr>
                <a:t>－</a:t>
              </a:r>
              <a:endParaRPr lang="zh-CN" altLang="en-US" sz="2000" b="1">
                <a:ea typeface="仿宋_GB2312" pitchFamily="49" charset="-122"/>
              </a:endParaRPr>
            </a:p>
          </p:txBody>
        </p:sp>
        <p:grpSp>
          <p:nvGrpSpPr>
            <p:cNvPr id="27669" name="Group 54"/>
            <p:cNvGrpSpPr/>
            <p:nvPr/>
          </p:nvGrpSpPr>
          <p:grpSpPr bwMode="auto">
            <a:xfrm>
              <a:off x="4752" y="1008"/>
              <a:ext cx="506" cy="1344"/>
              <a:chOff x="4752" y="1008"/>
              <a:chExt cx="506" cy="1344"/>
            </a:xfrm>
          </p:grpSpPr>
          <p:grpSp>
            <p:nvGrpSpPr>
              <p:cNvPr id="27676" name="Group 55"/>
              <p:cNvGrpSpPr/>
              <p:nvPr/>
            </p:nvGrpSpPr>
            <p:grpSpPr bwMode="auto">
              <a:xfrm>
                <a:off x="4752" y="1344"/>
                <a:ext cx="506" cy="1008"/>
                <a:chOff x="1200" y="1776"/>
                <a:chExt cx="528" cy="1200"/>
              </a:xfrm>
            </p:grpSpPr>
            <p:sp>
              <p:nvSpPr>
                <p:cNvPr id="27678" name="Line 56"/>
                <p:cNvSpPr>
                  <a:spLocks noChangeShapeType="1"/>
                </p:cNvSpPr>
                <p:nvPr/>
              </p:nvSpPr>
              <p:spPr bwMode="auto">
                <a:xfrm>
                  <a:off x="1200" y="1776"/>
                  <a:ext cx="528" cy="1200"/>
                </a:xfrm>
                <a:prstGeom prst="line">
                  <a:avLst/>
                </a:prstGeom>
                <a:noFill/>
                <a:ln w="349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79" name="Line 57"/>
                <p:cNvSpPr>
                  <a:spLocks noChangeShapeType="1"/>
                </p:cNvSpPr>
                <p:nvPr/>
              </p:nvSpPr>
              <p:spPr bwMode="auto">
                <a:xfrm rot="10800000">
                  <a:off x="1200" y="2976"/>
                  <a:ext cx="528"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7680" name="Line 58"/>
                <p:cNvSpPr>
                  <a:spLocks noChangeShapeType="1"/>
                </p:cNvSpPr>
                <p:nvPr/>
              </p:nvSpPr>
              <p:spPr bwMode="auto">
                <a:xfrm>
                  <a:off x="1200" y="2016"/>
                  <a:ext cx="96" cy="0"/>
                </a:xfrm>
                <a:prstGeom prst="line">
                  <a:avLst/>
                </a:prstGeom>
                <a:noFill/>
                <a:ln w="34925">
                  <a:solidFill>
                    <a:schemeClr val="tx1"/>
                  </a:solidFill>
                  <a:round/>
                  <a:head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7681" name="Line 59"/>
                <p:cNvSpPr>
                  <a:spLocks noChangeShapeType="1"/>
                </p:cNvSpPr>
                <p:nvPr/>
              </p:nvSpPr>
              <p:spPr bwMode="auto">
                <a:xfrm>
                  <a:off x="1200" y="2112"/>
                  <a:ext cx="144" cy="0"/>
                </a:xfrm>
                <a:prstGeom prst="line">
                  <a:avLst/>
                </a:prstGeom>
                <a:noFill/>
                <a:ln w="34925">
                  <a:solidFill>
                    <a:schemeClr val="tx1"/>
                  </a:solidFill>
                  <a:round/>
                  <a:head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7682" name="Line 60"/>
                <p:cNvSpPr>
                  <a:spLocks noChangeShapeType="1"/>
                </p:cNvSpPr>
                <p:nvPr/>
              </p:nvSpPr>
              <p:spPr bwMode="auto">
                <a:xfrm flipH="1">
                  <a:off x="1200" y="1920"/>
                  <a:ext cx="48"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7683" name="Line 61"/>
                <p:cNvSpPr>
                  <a:spLocks noChangeShapeType="1"/>
                </p:cNvSpPr>
                <p:nvPr/>
              </p:nvSpPr>
              <p:spPr bwMode="auto">
                <a:xfrm rot="10800000" flipH="1">
                  <a:off x="1200" y="2208"/>
                  <a:ext cx="192" cy="0"/>
                </a:xfrm>
                <a:prstGeom prst="line">
                  <a:avLst/>
                </a:prstGeom>
                <a:noFill/>
                <a:ln w="34925">
                  <a:solidFill>
                    <a:schemeClr val="tx1"/>
                  </a:solidFill>
                  <a:round/>
                  <a:head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7684" name="Line 62"/>
                <p:cNvSpPr>
                  <a:spLocks noChangeShapeType="1"/>
                </p:cNvSpPr>
                <p:nvPr/>
              </p:nvSpPr>
              <p:spPr bwMode="auto">
                <a:xfrm flipH="1">
                  <a:off x="1200" y="2304"/>
                  <a:ext cx="240"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7685" name="Line 63"/>
                <p:cNvSpPr>
                  <a:spLocks noChangeShapeType="1"/>
                </p:cNvSpPr>
                <p:nvPr/>
              </p:nvSpPr>
              <p:spPr bwMode="auto">
                <a:xfrm flipH="1">
                  <a:off x="1200" y="2400"/>
                  <a:ext cx="288"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7686" name="Line 64"/>
                <p:cNvSpPr>
                  <a:spLocks noChangeShapeType="1"/>
                </p:cNvSpPr>
                <p:nvPr/>
              </p:nvSpPr>
              <p:spPr bwMode="auto">
                <a:xfrm flipH="1">
                  <a:off x="1200" y="2496"/>
                  <a:ext cx="288"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7687" name="Line 65"/>
                <p:cNvSpPr>
                  <a:spLocks noChangeShapeType="1"/>
                </p:cNvSpPr>
                <p:nvPr/>
              </p:nvSpPr>
              <p:spPr bwMode="auto">
                <a:xfrm flipH="1">
                  <a:off x="1200" y="2592"/>
                  <a:ext cx="336"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7688" name="Line 66"/>
                <p:cNvSpPr>
                  <a:spLocks noChangeShapeType="1"/>
                </p:cNvSpPr>
                <p:nvPr/>
              </p:nvSpPr>
              <p:spPr bwMode="auto">
                <a:xfrm flipH="1">
                  <a:off x="1200" y="2688"/>
                  <a:ext cx="384"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7689" name="Line 67"/>
                <p:cNvSpPr>
                  <a:spLocks noChangeShapeType="1"/>
                </p:cNvSpPr>
                <p:nvPr/>
              </p:nvSpPr>
              <p:spPr bwMode="auto">
                <a:xfrm flipH="1">
                  <a:off x="1200" y="2784"/>
                  <a:ext cx="432"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7690" name="Line 68"/>
                <p:cNvSpPr>
                  <a:spLocks noChangeShapeType="1"/>
                </p:cNvSpPr>
                <p:nvPr/>
              </p:nvSpPr>
              <p:spPr bwMode="auto">
                <a:xfrm flipH="1">
                  <a:off x="1200" y="2880"/>
                  <a:ext cx="480"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grpSp>
          <p:sp>
            <p:nvSpPr>
              <p:cNvPr id="27677" name="Line 69"/>
              <p:cNvSpPr>
                <a:spLocks noChangeShapeType="1"/>
              </p:cNvSpPr>
              <p:nvPr/>
            </p:nvSpPr>
            <p:spPr bwMode="auto">
              <a:xfrm flipV="1">
                <a:off x="4752" y="1008"/>
                <a:ext cx="0" cy="1344"/>
              </a:xfrm>
              <a:prstGeom prst="line">
                <a:avLst/>
              </a:prstGeom>
              <a:noFill/>
              <a:ln w="476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7670" name="Group 70"/>
            <p:cNvGrpSpPr/>
            <p:nvPr/>
          </p:nvGrpSpPr>
          <p:grpSpPr bwMode="auto">
            <a:xfrm>
              <a:off x="3792" y="1008"/>
              <a:ext cx="480" cy="336"/>
              <a:chOff x="3792" y="1008"/>
              <a:chExt cx="480" cy="336"/>
            </a:xfrm>
          </p:grpSpPr>
          <p:sp>
            <p:nvSpPr>
              <p:cNvPr id="27672" name="Line 71"/>
              <p:cNvSpPr>
                <a:spLocks noChangeShapeType="1"/>
              </p:cNvSpPr>
              <p:nvPr/>
            </p:nvSpPr>
            <p:spPr bwMode="auto">
              <a:xfrm>
                <a:off x="3984" y="1008"/>
                <a:ext cx="0" cy="336"/>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73" name="Text Box 72"/>
              <p:cNvSpPr txBox="1">
                <a:spLocks noChangeArrowheads="1"/>
              </p:cNvSpPr>
              <p:nvPr/>
            </p:nvSpPr>
            <p:spPr bwMode="auto">
              <a:xfrm>
                <a:off x="4032" y="1008"/>
                <a:ext cx="24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sz="2800" b="1"/>
                  <a:t>z</a:t>
                </a:r>
                <a:r>
                  <a:rPr kumimoji="0" lang="en-US" altLang="zh-CN" sz="2800" b="1" baseline="-25000"/>
                  <a:t>0</a:t>
                </a:r>
                <a:endParaRPr kumimoji="0" lang="en-US" altLang="zh-CN" sz="2800" b="1"/>
              </a:p>
            </p:txBody>
          </p:sp>
          <p:sp>
            <p:nvSpPr>
              <p:cNvPr id="27674" name="Line 73"/>
              <p:cNvSpPr>
                <a:spLocks noChangeShapeType="1"/>
              </p:cNvSpPr>
              <p:nvPr/>
            </p:nvSpPr>
            <p:spPr bwMode="auto">
              <a:xfrm>
                <a:off x="3792" y="1344"/>
                <a:ext cx="384"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75" name="Line 74"/>
              <p:cNvSpPr>
                <a:spLocks noChangeShapeType="1"/>
              </p:cNvSpPr>
              <p:nvPr/>
            </p:nvSpPr>
            <p:spPr bwMode="auto">
              <a:xfrm>
                <a:off x="3792" y="1008"/>
                <a:ext cx="33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7671" name="AutoShape 75"/>
            <p:cNvSpPr>
              <a:spLocks noChangeArrowheads="1"/>
            </p:cNvSpPr>
            <p:nvPr/>
          </p:nvSpPr>
          <p:spPr bwMode="auto">
            <a:xfrm rot="10800000">
              <a:off x="4195" y="1680"/>
              <a:ext cx="317" cy="117"/>
            </a:xfrm>
            <a:prstGeom prst="leftArrow">
              <a:avLst>
                <a:gd name="adj1" fmla="val 50000"/>
                <a:gd name="adj2" fmla="val 67735"/>
              </a:avLst>
            </a:prstGeom>
            <a:solidFill>
              <a:schemeClr val="tx1"/>
            </a:solidFill>
            <a:ln w="9525">
              <a:solidFill>
                <a:schemeClr val="folHlink"/>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graphicFrame>
        <p:nvGraphicFramePr>
          <p:cNvPr id="29772" name="Object 76"/>
          <p:cNvGraphicFramePr>
            <a:graphicFrameLocks noChangeAspect="1"/>
          </p:cNvGraphicFramePr>
          <p:nvPr/>
        </p:nvGraphicFramePr>
        <p:xfrm>
          <a:off x="2451100" y="2921000"/>
          <a:ext cx="1414463" cy="879475"/>
        </p:xfrm>
        <a:graphic>
          <a:graphicData uri="http://schemas.openxmlformats.org/presentationml/2006/ole">
            <mc:AlternateContent xmlns:mc="http://schemas.openxmlformats.org/markup-compatibility/2006">
              <mc:Choice xmlns:v="urn:schemas-microsoft-com:vml" Requires="v">
                <p:oleObj spid="_x0000_s5140" name="Equation" r:id="rId3" imgW="736600" imgH="457200" progId="Equation.3">
                  <p:embed/>
                </p:oleObj>
              </mc:Choice>
              <mc:Fallback>
                <p:oleObj name="Equation" r:id="rId3" imgW="736600" imgH="457200" progId="Equation.3">
                  <p:embed/>
                  <p:pic>
                    <p:nvPicPr>
                      <p:cNvPr id="0" name="Object 7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1100" y="2921000"/>
                        <a:ext cx="1414463" cy="879475"/>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7654" name="Group 90"/>
          <p:cNvGrpSpPr/>
          <p:nvPr/>
        </p:nvGrpSpPr>
        <p:grpSpPr bwMode="auto">
          <a:xfrm>
            <a:off x="963613" y="4584700"/>
            <a:ext cx="3363912" cy="1257300"/>
            <a:chOff x="975" y="3249"/>
            <a:chExt cx="2119" cy="792"/>
          </a:xfrm>
        </p:grpSpPr>
        <p:grpSp>
          <p:nvGrpSpPr>
            <p:cNvPr id="27659" name="Group 88"/>
            <p:cNvGrpSpPr/>
            <p:nvPr/>
          </p:nvGrpSpPr>
          <p:grpSpPr bwMode="auto">
            <a:xfrm>
              <a:off x="1544" y="3249"/>
              <a:ext cx="1550" cy="792"/>
              <a:chOff x="1544" y="3249"/>
              <a:chExt cx="1550" cy="792"/>
            </a:xfrm>
          </p:grpSpPr>
          <p:graphicFrame>
            <p:nvGraphicFramePr>
              <p:cNvPr id="27664" name="Object 78"/>
              <p:cNvGraphicFramePr>
                <a:graphicFrameLocks noChangeAspect="1"/>
              </p:cNvGraphicFramePr>
              <p:nvPr/>
            </p:nvGraphicFramePr>
            <p:xfrm>
              <a:off x="1544" y="3681"/>
              <a:ext cx="1550" cy="360"/>
            </p:xfrm>
            <a:graphic>
              <a:graphicData uri="http://schemas.openxmlformats.org/presentationml/2006/ole">
                <mc:AlternateContent xmlns:mc="http://schemas.openxmlformats.org/markup-compatibility/2006">
                  <mc:Choice xmlns:v="urn:schemas-microsoft-com:vml" Requires="v">
                    <p:oleObj spid="_x0000_s5141" name="数式" r:id="rId5" imgW="1434465" imgH="266700" progId="Equation.3">
                      <p:embed/>
                    </p:oleObj>
                  </mc:Choice>
                  <mc:Fallback>
                    <p:oleObj name="数式" r:id="rId5" imgW="1434465" imgH="266700" progId="Equation.3">
                      <p:embed/>
                      <p:pic>
                        <p:nvPicPr>
                          <p:cNvPr id="0" name="Object 7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4" y="3681"/>
                            <a:ext cx="1550" cy="360"/>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65" name="Object 80"/>
              <p:cNvGraphicFramePr>
                <a:graphicFrameLocks noChangeAspect="1"/>
              </p:cNvGraphicFramePr>
              <p:nvPr/>
            </p:nvGraphicFramePr>
            <p:xfrm>
              <a:off x="1551" y="3249"/>
              <a:ext cx="506" cy="339"/>
            </p:xfrm>
            <a:graphic>
              <a:graphicData uri="http://schemas.openxmlformats.org/presentationml/2006/ole">
                <mc:AlternateContent xmlns:mc="http://schemas.openxmlformats.org/markup-compatibility/2006">
                  <mc:Choice xmlns:v="urn:schemas-microsoft-com:vml" Requires="v">
                    <p:oleObj spid="_x0000_s5142" name="数式" r:id="rId7" imgW="431800" imgH="228600" progId="Equation.3">
                      <p:embed/>
                    </p:oleObj>
                  </mc:Choice>
                  <mc:Fallback>
                    <p:oleObj name="数式" r:id="rId7" imgW="431800" imgH="228600" progId="Equation.3">
                      <p:embed/>
                      <p:pic>
                        <p:nvPicPr>
                          <p:cNvPr id="0" name="Object 8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51" y="3249"/>
                            <a:ext cx="506" cy="339"/>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7660" name="Group 89"/>
            <p:cNvGrpSpPr/>
            <p:nvPr/>
          </p:nvGrpSpPr>
          <p:grpSpPr bwMode="auto">
            <a:xfrm>
              <a:off x="975" y="3249"/>
              <a:ext cx="672" cy="720"/>
              <a:chOff x="975" y="3249"/>
              <a:chExt cx="672" cy="720"/>
            </a:xfrm>
          </p:grpSpPr>
          <p:sp>
            <p:nvSpPr>
              <p:cNvPr id="27661" name="Text Box 77"/>
              <p:cNvSpPr txBox="1">
                <a:spLocks noChangeArrowheads="1"/>
              </p:cNvSpPr>
              <p:nvPr/>
            </p:nvSpPr>
            <p:spPr bwMode="auto">
              <a:xfrm>
                <a:off x="1023" y="3681"/>
                <a:ext cx="5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t>z&gt;z</a:t>
                </a:r>
                <a:r>
                  <a:rPr lang="en-US" altLang="zh-CN" b="1" baseline="-25000"/>
                  <a:t>0</a:t>
                </a:r>
                <a:r>
                  <a:rPr lang="en-US" altLang="zh-CN" b="1"/>
                  <a:t>  </a:t>
                </a:r>
                <a:endParaRPr lang="en-US" altLang="zh-CN" b="1"/>
              </a:p>
            </p:txBody>
          </p:sp>
          <p:sp>
            <p:nvSpPr>
              <p:cNvPr id="27662" name="Text Box 79"/>
              <p:cNvSpPr txBox="1">
                <a:spLocks noChangeArrowheads="1"/>
              </p:cNvSpPr>
              <p:nvPr/>
            </p:nvSpPr>
            <p:spPr bwMode="auto">
              <a:xfrm>
                <a:off x="1023" y="3249"/>
                <a:ext cx="6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ea typeface="楷体_GB2312" pitchFamily="49" charset="-122"/>
                  </a:rPr>
                  <a:t>z&lt;z</a:t>
                </a:r>
                <a:r>
                  <a:rPr lang="en-US" altLang="zh-CN" b="1" baseline="-25000">
                    <a:ea typeface="楷体_GB2312" pitchFamily="49" charset="-122"/>
                  </a:rPr>
                  <a:t>0</a:t>
                </a:r>
                <a:r>
                  <a:rPr lang="en-US" altLang="zh-CN" b="1">
                    <a:ea typeface="楷体_GB2312" pitchFamily="49" charset="-122"/>
                  </a:rPr>
                  <a:t> </a:t>
                </a:r>
                <a:r>
                  <a:rPr lang="en-US" altLang="zh-CN" b="1">
                    <a:solidFill>
                      <a:srgbClr val="3333FF"/>
                    </a:solidFill>
                    <a:ea typeface="楷体_GB2312" pitchFamily="49" charset="-122"/>
                  </a:rPr>
                  <a:t> </a:t>
                </a:r>
                <a:endParaRPr lang="en-US" altLang="zh-CN" sz="2800" b="1">
                  <a:solidFill>
                    <a:srgbClr val="3333FF"/>
                  </a:solidFill>
                </a:endParaRPr>
              </a:p>
            </p:txBody>
          </p:sp>
          <p:sp>
            <p:nvSpPr>
              <p:cNvPr id="27663" name="AutoShape 81"/>
              <p:cNvSpPr/>
              <p:nvPr/>
            </p:nvSpPr>
            <p:spPr bwMode="auto">
              <a:xfrm>
                <a:off x="975" y="3297"/>
                <a:ext cx="48" cy="672"/>
              </a:xfrm>
              <a:prstGeom prst="leftBrace">
                <a:avLst>
                  <a:gd name="adj1" fmla="val 116667"/>
                  <a:gd name="adj2" fmla="val 50000"/>
                </a:avLst>
              </a:prstGeom>
              <a:noFill/>
              <a:ln w="222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grpSp>
      <p:sp>
        <p:nvSpPr>
          <p:cNvPr id="26635" name="Text Box 84"/>
          <p:cNvSpPr txBox="1">
            <a:spLocks noChangeArrowheads="1"/>
          </p:cNvSpPr>
          <p:nvPr/>
        </p:nvSpPr>
        <p:spPr bwMode="auto">
          <a:xfrm>
            <a:off x="2393950" y="1890713"/>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zh-CN" altLang="en-US" sz="2000" dirty="0" smtClean="0">
                <a:latin typeface="+mn-ea"/>
                <a:ea typeface="+mn-ea"/>
              </a:rPr>
              <a:t>如右图：</a:t>
            </a:r>
            <a:endParaRPr lang="zh-CN" altLang="en-US" sz="2000" dirty="0" smtClean="0">
              <a:latin typeface="+mn-ea"/>
              <a:ea typeface="+mn-ea"/>
            </a:endParaRPr>
          </a:p>
        </p:txBody>
      </p:sp>
      <p:sp>
        <p:nvSpPr>
          <p:cNvPr id="2" name="文本框 1"/>
          <p:cNvSpPr txBox="1">
            <a:spLocks noRot="1" noChangeAspect="1" noMove="1" noResize="1" noEditPoints="1" noAdjustHandles="1" noChangeArrowheads="1" noChangeShapeType="1" noTextEdit="1"/>
          </p:cNvSpPr>
          <p:nvPr/>
        </p:nvSpPr>
        <p:spPr>
          <a:xfrm>
            <a:off x="2065338" y="879465"/>
            <a:ext cx="6685810" cy="525337"/>
          </a:xfrm>
          <a:prstGeom prst="rect">
            <a:avLst/>
          </a:prstGeom>
          <a:blipFill>
            <a:blip r:embed="rId9"/>
            <a:stretch>
              <a:fillRect/>
            </a:stretch>
          </a:blipFill>
        </p:spPr>
        <p:txBody>
          <a:bodyPr/>
          <a:lstStyle/>
          <a:p>
            <a:r>
              <a:rPr lang="zh-CN" altLang="en-US">
                <a:noFill/>
              </a:rPr>
              <a:t> </a:t>
            </a:r>
            <a:endParaRPr lang="zh-CN" altLang="en-US">
              <a:noFill/>
            </a:endParaRPr>
          </a:p>
        </p:txBody>
      </p:sp>
      <p:sp>
        <p:nvSpPr>
          <p:cNvPr id="27657" name="文本框 2"/>
          <p:cNvSpPr txBox="1">
            <a:spLocks noChangeArrowheads="1"/>
          </p:cNvSpPr>
          <p:nvPr/>
        </p:nvSpPr>
        <p:spPr bwMode="auto">
          <a:xfrm>
            <a:off x="900113" y="2917825"/>
            <a:ext cx="1236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000" b="1"/>
              <a:t>临界深度</a:t>
            </a:r>
            <a:endParaRPr lang="zh-CN" altLang="en-US" sz="2000" b="1"/>
          </a:p>
        </p:txBody>
      </p:sp>
      <p:sp>
        <p:nvSpPr>
          <p:cNvPr id="91" name="Rectangle 6"/>
          <p:cNvSpPr>
            <a:spLocks noChangeArrowheads="1"/>
          </p:cNvSpPr>
          <p:nvPr/>
        </p:nvSpPr>
        <p:spPr bwMode="auto">
          <a:xfrm>
            <a:off x="-3175" y="-9842"/>
            <a:ext cx="3617913"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朗肯土压力理论</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9772"/>
                                        </p:tgtEl>
                                        <p:attrNameLst>
                                          <p:attrName>style.visibility</p:attrName>
                                        </p:attrNameLst>
                                      </p:cBhvr>
                                      <p:to>
                                        <p:strVal val="visible"/>
                                      </p:to>
                                    </p:set>
                                    <p:anim calcmode="lin" valueType="num">
                                      <p:cBhvr additive="base">
                                        <p:cTn id="7" dur="500" fill="hold"/>
                                        <p:tgtEl>
                                          <p:spTgt spid="29772"/>
                                        </p:tgtEl>
                                        <p:attrNameLst>
                                          <p:attrName>ppt_x</p:attrName>
                                        </p:attrNameLst>
                                      </p:cBhvr>
                                      <p:tavLst>
                                        <p:tav tm="0">
                                          <p:val>
                                            <p:strVal val="0-#ppt_w/2"/>
                                          </p:val>
                                        </p:tav>
                                        <p:tav tm="100000">
                                          <p:val>
                                            <p:strVal val="#ppt_x"/>
                                          </p:val>
                                        </p:tav>
                                      </p:tavLst>
                                    </p:anim>
                                    <p:anim calcmode="lin" valueType="num">
                                      <p:cBhvr additive="base">
                                        <p:cTn id="8" dur="500" fill="hold"/>
                                        <p:tgtEl>
                                          <p:spTgt spid="2977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7" name="Text Box 37"/>
          <p:cNvSpPr txBox="1">
            <a:spLocks noChangeArrowheads="1"/>
          </p:cNvSpPr>
          <p:nvPr/>
        </p:nvSpPr>
        <p:spPr bwMode="auto">
          <a:xfrm>
            <a:off x="1227138" y="4032250"/>
            <a:ext cx="23082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defRPr/>
            </a:pPr>
            <a:r>
              <a:rPr kumimoji="0" lang="zh-CN" altLang="en-US" sz="2000" b="1" dirty="0">
                <a:latin typeface="+mn-ea"/>
                <a:ea typeface="+mn-ea"/>
              </a:rPr>
              <a:t>总主动土压力</a:t>
            </a:r>
            <a:r>
              <a:rPr kumimoji="0" lang="en-US" altLang="zh-CN" sz="2000" b="1" dirty="0">
                <a:latin typeface="+mn-ea"/>
                <a:ea typeface="+mn-ea"/>
              </a:rPr>
              <a:t>(</a:t>
            </a:r>
            <a:r>
              <a:rPr kumimoji="0" lang="en-US" altLang="zh-CN" sz="2000" b="1" dirty="0" err="1">
                <a:latin typeface="+mn-ea"/>
                <a:ea typeface="+mn-ea"/>
              </a:rPr>
              <a:t>kN</a:t>
            </a:r>
            <a:r>
              <a:rPr kumimoji="0" lang="en-US" altLang="zh-CN" sz="2000" b="1" dirty="0">
                <a:latin typeface="+mn-ea"/>
                <a:ea typeface="+mn-ea"/>
              </a:rPr>
              <a:t>/m)</a:t>
            </a:r>
            <a:endParaRPr kumimoji="0" lang="zh-CN" altLang="en-US" sz="2000" b="1" dirty="0">
              <a:latin typeface="+mn-ea"/>
              <a:ea typeface="+mn-ea"/>
            </a:endParaRPr>
          </a:p>
        </p:txBody>
      </p:sp>
      <p:graphicFrame>
        <p:nvGraphicFramePr>
          <p:cNvPr id="30758" name="Object 38"/>
          <p:cNvGraphicFramePr>
            <a:graphicFrameLocks noChangeAspect="1"/>
          </p:cNvGraphicFramePr>
          <p:nvPr/>
        </p:nvGraphicFramePr>
        <p:xfrm>
          <a:off x="3048000" y="4648200"/>
          <a:ext cx="3744913" cy="1609725"/>
        </p:xfrm>
        <a:graphic>
          <a:graphicData uri="http://schemas.openxmlformats.org/presentationml/2006/ole">
            <mc:AlternateContent xmlns:mc="http://schemas.openxmlformats.org/markup-compatibility/2006">
              <mc:Choice xmlns:v="urn:schemas-microsoft-com:vml" Requires="v">
                <p:oleObj spid="_x0000_s6170" name="Equation" r:id="rId1" imgW="2005965" imgH="862965" progId="Equation.3">
                  <p:embed/>
                </p:oleObj>
              </mc:Choice>
              <mc:Fallback>
                <p:oleObj name="Equation" r:id="rId1" imgW="2005965" imgH="862965" progId="Equation.3">
                  <p:embed/>
                  <p:pic>
                    <p:nvPicPr>
                      <p:cNvPr id="0" name="Object 3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4648200"/>
                        <a:ext cx="3744913" cy="1609725"/>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8676" name="Group 3"/>
          <p:cNvGrpSpPr/>
          <p:nvPr/>
        </p:nvGrpSpPr>
        <p:grpSpPr bwMode="auto">
          <a:xfrm>
            <a:off x="4800600" y="914400"/>
            <a:ext cx="803275" cy="2133600"/>
            <a:chOff x="3168" y="960"/>
            <a:chExt cx="506" cy="1344"/>
          </a:xfrm>
        </p:grpSpPr>
        <p:grpSp>
          <p:nvGrpSpPr>
            <p:cNvPr id="28721" name="Group 4"/>
            <p:cNvGrpSpPr/>
            <p:nvPr/>
          </p:nvGrpSpPr>
          <p:grpSpPr bwMode="auto">
            <a:xfrm>
              <a:off x="3168" y="1296"/>
              <a:ext cx="506" cy="1008"/>
              <a:chOff x="1200" y="1776"/>
              <a:chExt cx="528" cy="1200"/>
            </a:xfrm>
          </p:grpSpPr>
          <p:sp>
            <p:nvSpPr>
              <p:cNvPr id="28723" name="Line 5"/>
              <p:cNvSpPr>
                <a:spLocks noChangeShapeType="1"/>
              </p:cNvSpPr>
              <p:nvPr/>
            </p:nvSpPr>
            <p:spPr bwMode="auto">
              <a:xfrm>
                <a:off x="1200" y="1776"/>
                <a:ext cx="528" cy="1200"/>
              </a:xfrm>
              <a:prstGeom prst="line">
                <a:avLst/>
              </a:prstGeom>
              <a:noFill/>
              <a:ln w="349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724" name="Line 6"/>
              <p:cNvSpPr>
                <a:spLocks noChangeShapeType="1"/>
              </p:cNvSpPr>
              <p:nvPr/>
            </p:nvSpPr>
            <p:spPr bwMode="auto">
              <a:xfrm rot="10800000">
                <a:off x="1200" y="2976"/>
                <a:ext cx="528"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8725" name="Line 7"/>
              <p:cNvSpPr>
                <a:spLocks noChangeShapeType="1"/>
              </p:cNvSpPr>
              <p:nvPr/>
            </p:nvSpPr>
            <p:spPr bwMode="auto">
              <a:xfrm>
                <a:off x="1200" y="2016"/>
                <a:ext cx="96" cy="0"/>
              </a:xfrm>
              <a:prstGeom prst="line">
                <a:avLst/>
              </a:prstGeom>
              <a:noFill/>
              <a:ln w="34925">
                <a:solidFill>
                  <a:schemeClr val="tx1"/>
                </a:solidFill>
                <a:round/>
                <a:head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8726" name="Line 8"/>
              <p:cNvSpPr>
                <a:spLocks noChangeShapeType="1"/>
              </p:cNvSpPr>
              <p:nvPr/>
            </p:nvSpPr>
            <p:spPr bwMode="auto">
              <a:xfrm>
                <a:off x="1200" y="2112"/>
                <a:ext cx="144" cy="0"/>
              </a:xfrm>
              <a:prstGeom prst="line">
                <a:avLst/>
              </a:prstGeom>
              <a:noFill/>
              <a:ln w="34925">
                <a:solidFill>
                  <a:schemeClr val="tx1"/>
                </a:solidFill>
                <a:round/>
                <a:head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8727" name="Line 9"/>
              <p:cNvSpPr>
                <a:spLocks noChangeShapeType="1"/>
              </p:cNvSpPr>
              <p:nvPr/>
            </p:nvSpPr>
            <p:spPr bwMode="auto">
              <a:xfrm flipH="1">
                <a:off x="1200" y="1920"/>
                <a:ext cx="48"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8728" name="Line 10"/>
              <p:cNvSpPr>
                <a:spLocks noChangeShapeType="1"/>
              </p:cNvSpPr>
              <p:nvPr/>
            </p:nvSpPr>
            <p:spPr bwMode="auto">
              <a:xfrm rot="10800000" flipH="1">
                <a:off x="1200" y="2208"/>
                <a:ext cx="192" cy="0"/>
              </a:xfrm>
              <a:prstGeom prst="line">
                <a:avLst/>
              </a:prstGeom>
              <a:noFill/>
              <a:ln w="34925">
                <a:solidFill>
                  <a:schemeClr val="tx1"/>
                </a:solidFill>
                <a:round/>
                <a:head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8729" name="Line 11"/>
              <p:cNvSpPr>
                <a:spLocks noChangeShapeType="1"/>
              </p:cNvSpPr>
              <p:nvPr/>
            </p:nvSpPr>
            <p:spPr bwMode="auto">
              <a:xfrm flipH="1">
                <a:off x="1200" y="2304"/>
                <a:ext cx="240"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8730" name="Line 12"/>
              <p:cNvSpPr>
                <a:spLocks noChangeShapeType="1"/>
              </p:cNvSpPr>
              <p:nvPr/>
            </p:nvSpPr>
            <p:spPr bwMode="auto">
              <a:xfrm flipH="1">
                <a:off x="1200" y="2400"/>
                <a:ext cx="288"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8731" name="Line 13"/>
              <p:cNvSpPr>
                <a:spLocks noChangeShapeType="1"/>
              </p:cNvSpPr>
              <p:nvPr/>
            </p:nvSpPr>
            <p:spPr bwMode="auto">
              <a:xfrm flipH="1">
                <a:off x="1200" y="2496"/>
                <a:ext cx="288"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8732" name="Line 14"/>
              <p:cNvSpPr>
                <a:spLocks noChangeShapeType="1"/>
              </p:cNvSpPr>
              <p:nvPr/>
            </p:nvSpPr>
            <p:spPr bwMode="auto">
              <a:xfrm flipH="1">
                <a:off x="1200" y="2592"/>
                <a:ext cx="336"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8733" name="Line 15"/>
              <p:cNvSpPr>
                <a:spLocks noChangeShapeType="1"/>
              </p:cNvSpPr>
              <p:nvPr/>
            </p:nvSpPr>
            <p:spPr bwMode="auto">
              <a:xfrm flipH="1">
                <a:off x="1200" y="2688"/>
                <a:ext cx="384"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8734" name="Line 16"/>
              <p:cNvSpPr>
                <a:spLocks noChangeShapeType="1"/>
              </p:cNvSpPr>
              <p:nvPr/>
            </p:nvSpPr>
            <p:spPr bwMode="auto">
              <a:xfrm flipH="1">
                <a:off x="1200" y="2784"/>
                <a:ext cx="432"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8735" name="Line 17"/>
              <p:cNvSpPr>
                <a:spLocks noChangeShapeType="1"/>
              </p:cNvSpPr>
              <p:nvPr/>
            </p:nvSpPr>
            <p:spPr bwMode="auto">
              <a:xfrm flipH="1">
                <a:off x="1200" y="2880"/>
                <a:ext cx="480"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grpSp>
        <p:sp>
          <p:nvSpPr>
            <p:cNvPr id="28722" name="Line 18"/>
            <p:cNvSpPr>
              <a:spLocks noChangeShapeType="1"/>
            </p:cNvSpPr>
            <p:nvPr/>
          </p:nvSpPr>
          <p:spPr bwMode="auto">
            <a:xfrm flipV="1">
              <a:off x="3168" y="960"/>
              <a:ext cx="0" cy="1344"/>
            </a:xfrm>
            <a:prstGeom prst="line">
              <a:avLst/>
            </a:prstGeom>
            <a:noFill/>
            <a:ln w="476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8677" name="AutoShape 19"/>
          <p:cNvSpPr>
            <a:spLocks noChangeArrowheads="1"/>
          </p:cNvSpPr>
          <p:nvPr/>
        </p:nvSpPr>
        <p:spPr bwMode="auto">
          <a:xfrm rot="10800000">
            <a:off x="3911600" y="2027238"/>
            <a:ext cx="508000" cy="182562"/>
          </a:xfrm>
          <a:prstGeom prst="leftArrow">
            <a:avLst>
              <a:gd name="adj1" fmla="val 50000"/>
              <a:gd name="adj2" fmla="val 69565"/>
            </a:avLst>
          </a:prstGeom>
          <a:solidFill>
            <a:srgbClr val="000000"/>
          </a:solidFill>
          <a:ln w="9525">
            <a:solidFill>
              <a:schemeClr val="folHlink"/>
            </a:solidFill>
            <a:miter lim="800000"/>
          </a:ln>
        </p:spPr>
        <p:txBody>
          <a:bodyPr rot="10800000"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aphicFrame>
        <p:nvGraphicFramePr>
          <p:cNvPr id="28678" name="Object 20"/>
          <p:cNvGraphicFramePr>
            <a:graphicFrameLocks noChangeAspect="1"/>
          </p:cNvGraphicFramePr>
          <p:nvPr/>
        </p:nvGraphicFramePr>
        <p:xfrm>
          <a:off x="4038600" y="3276600"/>
          <a:ext cx="2365375" cy="492125"/>
        </p:xfrm>
        <a:graphic>
          <a:graphicData uri="http://schemas.openxmlformats.org/presentationml/2006/ole">
            <mc:AlternateContent xmlns:mc="http://schemas.openxmlformats.org/markup-compatibility/2006">
              <mc:Choice xmlns:v="urn:schemas-microsoft-com:vml" Requires="v">
                <p:oleObj spid="_x0000_s6171" name="公式" r:id="rId3" imgW="1282700" imgH="266700" progId="Equation.3">
                  <p:embed/>
                </p:oleObj>
              </mc:Choice>
              <mc:Fallback>
                <p:oleObj name="公式" r:id="rId3" imgW="1282700" imgH="266700" progId="Equation.3">
                  <p:embed/>
                  <p:pic>
                    <p:nvPicPr>
                      <p:cNvPr id="0"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8600" y="3276600"/>
                        <a:ext cx="2365375" cy="492125"/>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679" name="AutoShape 21"/>
          <p:cNvSpPr>
            <a:spLocks noChangeArrowheads="1"/>
          </p:cNvSpPr>
          <p:nvPr/>
        </p:nvSpPr>
        <p:spPr bwMode="auto">
          <a:xfrm>
            <a:off x="4800600" y="2438400"/>
            <a:ext cx="914400" cy="292100"/>
          </a:xfrm>
          <a:prstGeom prst="leftArrow">
            <a:avLst>
              <a:gd name="adj1" fmla="val 50000"/>
              <a:gd name="adj2" fmla="val 78261"/>
            </a:avLst>
          </a:prstGeom>
          <a:solidFill>
            <a:srgbClr val="C0C0C0"/>
          </a:solidFill>
          <a:ln w="12700" cap="sq">
            <a:solidFill>
              <a:schemeClr val="tx1"/>
            </a:solidFill>
            <a:miter lim="800000"/>
            <a:headEnd type="none" w="sm" len="sm"/>
            <a:tailEnd type="none" w="sm" len="sm"/>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nvGrpSpPr>
          <p:cNvPr id="28680" name="Group 22"/>
          <p:cNvGrpSpPr/>
          <p:nvPr/>
        </p:nvGrpSpPr>
        <p:grpSpPr bwMode="auto">
          <a:xfrm>
            <a:off x="1371600" y="838200"/>
            <a:ext cx="1752600" cy="2286000"/>
            <a:chOff x="1008" y="912"/>
            <a:chExt cx="1104" cy="1440"/>
          </a:xfrm>
        </p:grpSpPr>
        <p:grpSp>
          <p:nvGrpSpPr>
            <p:cNvPr id="28713" name="Group 23"/>
            <p:cNvGrpSpPr/>
            <p:nvPr/>
          </p:nvGrpSpPr>
          <p:grpSpPr bwMode="auto">
            <a:xfrm>
              <a:off x="1440" y="912"/>
              <a:ext cx="672" cy="1440"/>
              <a:chOff x="3024" y="816"/>
              <a:chExt cx="672" cy="1440"/>
            </a:xfrm>
          </p:grpSpPr>
          <p:sp>
            <p:nvSpPr>
              <p:cNvPr id="28718" name="AutoShape 24" descr="横向砖形"/>
              <p:cNvSpPr>
                <a:spLocks noChangeArrowheads="1"/>
              </p:cNvSpPr>
              <p:nvPr/>
            </p:nvSpPr>
            <p:spPr bwMode="auto">
              <a:xfrm rot="10800000">
                <a:off x="3024" y="864"/>
                <a:ext cx="624" cy="134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blipFill dpi="0" rotWithShape="0">
                <a:blip r:embed="rId5"/>
                <a:srcRect/>
                <a:tile tx="0" ty="0" sx="100000" sy="100000" flip="none" algn="tl"/>
              </a:blipFill>
              <a:ln w="34925">
                <a:solidFill>
                  <a:srgbClr val="000000"/>
                </a:solidFill>
                <a:miter lim="800000"/>
              </a:ln>
            </p:spPr>
            <p:txBody>
              <a:bodyPr wrap="none" anchor="ctr"/>
              <a:lstStyle/>
              <a:p>
                <a:endParaRPr lang="zh-CN" altLang="en-US"/>
              </a:p>
            </p:txBody>
          </p:sp>
          <p:sp useBgFill="1">
            <p:nvSpPr>
              <p:cNvPr id="28719" name="Rectangle 25"/>
              <p:cNvSpPr>
                <a:spLocks noChangeArrowheads="1"/>
              </p:cNvSpPr>
              <p:nvPr/>
            </p:nvSpPr>
            <p:spPr bwMode="auto">
              <a:xfrm>
                <a:off x="3456" y="816"/>
                <a:ext cx="240" cy="144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28720" name="Line 26"/>
              <p:cNvSpPr>
                <a:spLocks noChangeShapeType="1"/>
              </p:cNvSpPr>
              <p:nvPr/>
            </p:nvSpPr>
            <p:spPr bwMode="auto">
              <a:xfrm>
                <a:off x="3456" y="864"/>
                <a:ext cx="0" cy="1344"/>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8714" name="Line 27"/>
            <p:cNvSpPr>
              <a:spLocks noChangeShapeType="1"/>
            </p:cNvSpPr>
            <p:nvPr/>
          </p:nvSpPr>
          <p:spPr bwMode="auto">
            <a:xfrm>
              <a:off x="1104" y="960"/>
              <a:ext cx="43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715" name="Line 28"/>
            <p:cNvSpPr>
              <a:spLocks noChangeShapeType="1"/>
            </p:cNvSpPr>
            <p:nvPr/>
          </p:nvSpPr>
          <p:spPr bwMode="auto">
            <a:xfrm flipH="1">
              <a:off x="1008" y="2304"/>
              <a:ext cx="384"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716" name="Line 29"/>
            <p:cNvSpPr>
              <a:spLocks noChangeShapeType="1"/>
            </p:cNvSpPr>
            <p:nvPr/>
          </p:nvSpPr>
          <p:spPr bwMode="auto">
            <a:xfrm>
              <a:off x="1296" y="960"/>
              <a:ext cx="0" cy="1344"/>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17" name="Rectangle 30"/>
            <p:cNvSpPr>
              <a:spLocks noChangeArrowheads="1"/>
            </p:cNvSpPr>
            <p:nvPr/>
          </p:nvSpPr>
          <p:spPr bwMode="auto">
            <a:xfrm>
              <a:off x="1008" y="1488"/>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kumimoji="0" lang="en-US" altLang="zh-CN" b="1" i="1"/>
                <a:t>H</a:t>
              </a:r>
              <a:endParaRPr kumimoji="0" lang="en-US" altLang="zh-CN" b="1" i="1"/>
            </a:p>
          </p:txBody>
        </p:sp>
      </p:grpSp>
      <p:grpSp>
        <p:nvGrpSpPr>
          <p:cNvPr id="28681" name="Group 31"/>
          <p:cNvGrpSpPr/>
          <p:nvPr/>
        </p:nvGrpSpPr>
        <p:grpSpPr bwMode="auto">
          <a:xfrm>
            <a:off x="5715000" y="2514600"/>
            <a:ext cx="1743075" cy="628650"/>
            <a:chOff x="3744" y="1968"/>
            <a:chExt cx="1098" cy="396"/>
          </a:xfrm>
        </p:grpSpPr>
        <p:sp>
          <p:nvSpPr>
            <p:cNvPr id="28709" name="Line 32"/>
            <p:cNvSpPr>
              <a:spLocks noChangeShapeType="1"/>
            </p:cNvSpPr>
            <p:nvPr/>
          </p:nvSpPr>
          <p:spPr bwMode="auto">
            <a:xfrm>
              <a:off x="3792" y="2016"/>
              <a:ext cx="384"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710" name="Line 33"/>
            <p:cNvSpPr>
              <a:spLocks noChangeShapeType="1"/>
            </p:cNvSpPr>
            <p:nvPr/>
          </p:nvSpPr>
          <p:spPr bwMode="auto">
            <a:xfrm>
              <a:off x="3744" y="2304"/>
              <a:ext cx="43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711" name="Line 34"/>
            <p:cNvSpPr>
              <a:spLocks noChangeShapeType="1"/>
            </p:cNvSpPr>
            <p:nvPr/>
          </p:nvSpPr>
          <p:spPr bwMode="auto">
            <a:xfrm>
              <a:off x="4080" y="2016"/>
              <a:ext cx="0" cy="288"/>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8712" name="Object 35"/>
            <p:cNvGraphicFramePr>
              <a:graphicFrameLocks noChangeAspect="1"/>
            </p:cNvGraphicFramePr>
            <p:nvPr/>
          </p:nvGraphicFramePr>
          <p:xfrm>
            <a:off x="4176" y="1968"/>
            <a:ext cx="666" cy="396"/>
          </p:xfrm>
          <a:graphic>
            <a:graphicData uri="http://schemas.openxmlformats.org/presentationml/2006/ole">
              <mc:AlternateContent xmlns:mc="http://schemas.openxmlformats.org/markup-compatibility/2006">
                <mc:Choice xmlns:v="urn:schemas-microsoft-com:vml" Requires="v">
                  <p:oleObj spid="_x0000_s6172" name="Equation" r:id="rId6" imgW="660400" imgH="393700" progId="Equation.3">
                    <p:embed/>
                  </p:oleObj>
                </mc:Choice>
                <mc:Fallback>
                  <p:oleObj name="Equation" r:id="rId6" imgW="660400" imgH="393700" progId="Equation.3">
                    <p:embed/>
                    <p:pic>
                      <p:nvPicPr>
                        <p:cNvPr id="0" name="Object 3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76" y="1968"/>
                          <a:ext cx="666" cy="3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8682" name="Text Box 36"/>
          <p:cNvSpPr txBox="1">
            <a:spLocks noChangeArrowheads="1"/>
          </p:cNvSpPr>
          <p:nvPr/>
        </p:nvSpPr>
        <p:spPr bwMode="auto">
          <a:xfrm>
            <a:off x="5334000" y="1981200"/>
            <a:ext cx="8143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E</a:t>
            </a:r>
            <a:r>
              <a:rPr lang="en-US" altLang="zh-CN" sz="2800" b="1" i="1" baseline="-25000"/>
              <a:t>a</a:t>
            </a:r>
            <a:endParaRPr lang="en-US" altLang="zh-CN" sz="2800"/>
          </a:p>
        </p:txBody>
      </p:sp>
      <p:grpSp>
        <p:nvGrpSpPr>
          <p:cNvPr id="28683" name="Group 39"/>
          <p:cNvGrpSpPr/>
          <p:nvPr/>
        </p:nvGrpSpPr>
        <p:grpSpPr bwMode="auto">
          <a:xfrm>
            <a:off x="2903538" y="947738"/>
            <a:ext cx="1143000" cy="2133600"/>
            <a:chOff x="1968" y="960"/>
            <a:chExt cx="720" cy="1344"/>
          </a:xfrm>
        </p:grpSpPr>
        <p:grpSp>
          <p:nvGrpSpPr>
            <p:cNvPr id="28686" name="Group 40"/>
            <p:cNvGrpSpPr/>
            <p:nvPr/>
          </p:nvGrpSpPr>
          <p:grpSpPr bwMode="auto">
            <a:xfrm>
              <a:off x="2160" y="1296"/>
              <a:ext cx="506" cy="1008"/>
              <a:chOff x="1200" y="1776"/>
              <a:chExt cx="528" cy="1200"/>
            </a:xfrm>
          </p:grpSpPr>
          <p:sp>
            <p:nvSpPr>
              <p:cNvPr id="28696" name="Line 41"/>
              <p:cNvSpPr>
                <a:spLocks noChangeShapeType="1"/>
              </p:cNvSpPr>
              <p:nvPr/>
            </p:nvSpPr>
            <p:spPr bwMode="auto">
              <a:xfrm>
                <a:off x="1200" y="1776"/>
                <a:ext cx="528" cy="1200"/>
              </a:xfrm>
              <a:prstGeom prst="line">
                <a:avLst/>
              </a:prstGeom>
              <a:noFill/>
              <a:ln w="349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697" name="Line 42"/>
              <p:cNvSpPr>
                <a:spLocks noChangeShapeType="1"/>
              </p:cNvSpPr>
              <p:nvPr/>
            </p:nvSpPr>
            <p:spPr bwMode="auto">
              <a:xfrm rot="10800000">
                <a:off x="1200" y="2976"/>
                <a:ext cx="528"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8698" name="Line 43"/>
              <p:cNvSpPr>
                <a:spLocks noChangeShapeType="1"/>
              </p:cNvSpPr>
              <p:nvPr/>
            </p:nvSpPr>
            <p:spPr bwMode="auto">
              <a:xfrm>
                <a:off x="1200" y="2016"/>
                <a:ext cx="96" cy="0"/>
              </a:xfrm>
              <a:prstGeom prst="line">
                <a:avLst/>
              </a:prstGeom>
              <a:noFill/>
              <a:ln w="34925">
                <a:solidFill>
                  <a:schemeClr val="tx1"/>
                </a:solidFill>
                <a:round/>
                <a:head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8699" name="Line 44"/>
              <p:cNvSpPr>
                <a:spLocks noChangeShapeType="1"/>
              </p:cNvSpPr>
              <p:nvPr/>
            </p:nvSpPr>
            <p:spPr bwMode="auto">
              <a:xfrm>
                <a:off x="1200" y="2112"/>
                <a:ext cx="144" cy="0"/>
              </a:xfrm>
              <a:prstGeom prst="line">
                <a:avLst/>
              </a:prstGeom>
              <a:noFill/>
              <a:ln w="34925">
                <a:solidFill>
                  <a:schemeClr val="tx1"/>
                </a:solidFill>
                <a:round/>
                <a:head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8700" name="Line 45"/>
              <p:cNvSpPr>
                <a:spLocks noChangeShapeType="1"/>
              </p:cNvSpPr>
              <p:nvPr/>
            </p:nvSpPr>
            <p:spPr bwMode="auto">
              <a:xfrm flipH="1">
                <a:off x="1200" y="1920"/>
                <a:ext cx="48"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8701" name="Line 46"/>
              <p:cNvSpPr>
                <a:spLocks noChangeShapeType="1"/>
              </p:cNvSpPr>
              <p:nvPr/>
            </p:nvSpPr>
            <p:spPr bwMode="auto">
              <a:xfrm rot="10800000" flipH="1">
                <a:off x="1200" y="2208"/>
                <a:ext cx="192" cy="0"/>
              </a:xfrm>
              <a:prstGeom prst="line">
                <a:avLst/>
              </a:prstGeom>
              <a:noFill/>
              <a:ln w="34925">
                <a:solidFill>
                  <a:schemeClr val="tx1"/>
                </a:solidFill>
                <a:round/>
                <a:head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8702" name="Line 47"/>
              <p:cNvSpPr>
                <a:spLocks noChangeShapeType="1"/>
              </p:cNvSpPr>
              <p:nvPr/>
            </p:nvSpPr>
            <p:spPr bwMode="auto">
              <a:xfrm flipH="1">
                <a:off x="1200" y="2304"/>
                <a:ext cx="240"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8703" name="Line 48"/>
              <p:cNvSpPr>
                <a:spLocks noChangeShapeType="1"/>
              </p:cNvSpPr>
              <p:nvPr/>
            </p:nvSpPr>
            <p:spPr bwMode="auto">
              <a:xfrm flipH="1">
                <a:off x="1200" y="2400"/>
                <a:ext cx="288"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8704" name="Line 49"/>
              <p:cNvSpPr>
                <a:spLocks noChangeShapeType="1"/>
              </p:cNvSpPr>
              <p:nvPr/>
            </p:nvSpPr>
            <p:spPr bwMode="auto">
              <a:xfrm flipH="1">
                <a:off x="1200" y="2496"/>
                <a:ext cx="288"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8705" name="Line 50"/>
              <p:cNvSpPr>
                <a:spLocks noChangeShapeType="1"/>
              </p:cNvSpPr>
              <p:nvPr/>
            </p:nvSpPr>
            <p:spPr bwMode="auto">
              <a:xfrm flipH="1">
                <a:off x="1200" y="2592"/>
                <a:ext cx="336"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8706" name="Line 51"/>
              <p:cNvSpPr>
                <a:spLocks noChangeShapeType="1"/>
              </p:cNvSpPr>
              <p:nvPr/>
            </p:nvSpPr>
            <p:spPr bwMode="auto">
              <a:xfrm flipH="1">
                <a:off x="1200" y="2688"/>
                <a:ext cx="384"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8707" name="Line 52"/>
              <p:cNvSpPr>
                <a:spLocks noChangeShapeType="1"/>
              </p:cNvSpPr>
              <p:nvPr/>
            </p:nvSpPr>
            <p:spPr bwMode="auto">
              <a:xfrm flipH="1">
                <a:off x="1200" y="2784"/>
                <a:ext cx="432"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8708" name="Line 53"/>
              <p:cNvSpPr>
                <a:spLocks noChangeShapeType="1"/>
              </p:cNvSpPr>
              <p:nvPr/>
            </p:nvSpPr>
            <p:spPr bwMode="auto">
              <a:xfrm flipH="1">
                <a:off x="1200" y="2880"/>
                <a:ext cx="480" cy="0"/>
              </a:xfrm>
              <a:prstGeom prst="line">
                <a:avLst/>
              </a:prstGeom>
              <a:noFill/>
              <a:ln w="34925">
                <a:solidFill>
                  <a:schemeClr val="tx1"/>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grpSp>
        <p:sp>
          <p:nvSpPr>
            <p:cNvPr id="28687" name="Line 54"/>
            <p:cNvSpPr>
              <a:spLocks noChangeShapeType="1"/>
            </p:cNvSpPr>
            <p:nvPr/>
          </p:nvSpPr>
          <p:spPr bwMode="auto">
            <a:xfrm flipV="1">
              <a:off x="2160" y="960"/>
              <a:ext cx="0" cy="1344"/>
            </a:xfrm>
            <a:prstGeom prst="line">
              <a:avLst/>
            </a:prstGeom>
            <a:noFill/>
            <a:ln w="476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28688" name="Group 55"/>
            <p:cNvGrpSpPr/>
            <p:nvPr/>
          </p:nvGrpSpPr>
          <p:grpSpPr bwMode="auto">
            <a:xfrm>
              <a:off x="1968" y="960"/>
              <a:ext cx="192" cy="336"/>
              <a:chOff x="3792" y="960"/>
              <a:chExt cx="192" cy="336"/>
            </a:xfrm>
          </p:grpSpPr>
          <p:sp>
            <p:nvSpPr>
              <p:cNvPr id="28694" name="Line 56"/>
              <p:cNvSpPr>
                <a:spLocks noChangeShapeType="1"/>
              </p:cNvSpPr>
              <p:nvPr/>
            </p:nvSpPr>
            <p:spPr bwMode="auto">
              <a:xfrm flipH="1" flipV="1">
                <a:off x="3792" y="960"/>
                <a:ext cx="192" cy="336"/>
              </a:xfrm>
              <a:prstGeom prst="line">
                <a:avLst/>
              </a:prstGeom>
              <a:noFill/>
              <a:ln w="222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695" name="Line 57"/>
              <p:cNvSpPr>
                <a:spLocks noChangeShapeType="1"/>
              </p:cNvSpPr>
              <p:nvPr/>
            </p:nvSpPr>
            <p:spPr bwMode="auto">
              <a:xfrm>
                <a:off x="3792" y="960"/>
                <a:ext cx="192" cy="0"/>
              </a:xfrm>
              <a:prstGeom prst="line">
                <a:avLst/>
              </a:prstGeom>
              <a:noFill/>
              <a:ln w="222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8689" name="Oval 58"/>
            <p:cNvSpPr>
              <a:spLocks noChangeArrowheads="1"/>
            </p:cNvSpPr>
            <p:nvPr/>
          </p:nvSpPr>
          <p:spPr bwMode="auto">
            <a:xfrm>
              <a:off x="2016" y="1008"/>
              <a:ext cx="176" cy="184"/>
            </a:xfrm>
            <a:prstGeom prst="ellipse">
              <a:avLst/>
            </a:prstGeom>
            <a:solidFill>
              <a:srgbClr val="00CCFF"/>
            </a:solidFill>
            <a:ln w="9525">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a:ea typeface="仿宋_GB2312" pitchFamily="49" charset="-122"/>
                </a:rPr>
                <a:t>－</a:t>
              </a:r>
              <a:endParaRPr lang="zh-CN" altLang="en-US" sz="2000" b="1">
                <a:ea typeface="仿宋_GB2312" pitchFamily="49" charset="-122"/>
              </a:endParaRPr>
            </a:p>
          </p:txBody>
        </p:sp>
        <p:sp>
          <p:nvSpPr>
            <p:cNvPr id="28690" name="Line 59"/>
            <p:cNvSpPr>
              <a:spLocks noChangeShapeType="1"/>
            </p:cNvSpPr>
            <p:nvPr/>
          </p:nvSpPr>
          <p:spPr bwMode="auto">
            <a:xfrm>
              <a:off x="2400" y="960"/>
              <a:ext cx="0" cy="336"/>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91" name="Text Box 60"/>
            <p:cNvSpPr txBox="1">
              <a:spLocks noChangeArrowheads="1"/>
            </p:cNvSpPr>
            <p:nvPr/>
          </p:nvSpPr>
          <p:spPr bwMode="auto">
            <a:xfrm>
              <a:off x="2448" y="960"/>
              <a:ext cx="240" cy="275"/>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sz="2800" b="1"/>
                <a:t>z</a:t>
              </a:r>
              <a:r>
                <a:rPr kumimoji="0" lang="en-US" altLang="zh-CN" sz="2800" b="1" baseline="-25000"/>
                <a:t>0</a:t>
              </a:r>
              <a:endParaRPr kumimoji="0" lang="en-US" altLang="zh-CN" sz="2800" b="1"/>
            </a:p>
          </p:txBody>
        </p:sp>
        <p:sp>
          <p:nvSpPr>
            <p:cNvPr id="28692" name="Line 61"/>
            <p:cNvSpPr>
              <a:spLocks noChangeShapeType="1"/>
            </p:cNvSpPr>
            <p:nvPr/>
          </p:nvSpPr>
          <p:spPr bwMode="auto">
            <a:xfrm>
              <a:off x="2208" y="1296"/>
              <a:ext cx="38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693" name="Line 62"/>
            <p:cNvSpPr>
              <a:spLocks noChangeShapeType="1"/>
            </p:cNvSpPr>
            <p:nvPr/>
          </p:nvSpPr>
          <p:spPr bwMode="auto">
            <a:xfrm>
              <a:off x="2208" y="960"/>
              <a:ext cx="33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28684" name="Object 63"/>
          <p:cNvGraphicFramePr>
            <a:graphicFrameLocks noChangeAspect="1"/>
          </p:cNvGraphicFramePr>
          <p:nvPr/>
        </p:nvGraphicFramePr>
        <p:xfrm>
          <a:off x="4929188" y="762000"/>
          <a:ext cx="1462087" cy="879475"/>
        </p:xfrm>
        <a:graphic>
          <a:graphicData uri="http://schemas.openxmlformats.org/presentationml/2006/ole">
            <mc:AlternateContent xmlns:mc="http://schemas.openxmlformats.org/markup-compatibility/2006">
              <mc:Choice xmlns:v="urn:schemas-microsoft-com:vml" Requires="v">
                <p:oleObj spid="_x0000_s6173" name="公式" r:id="rId8" imgW="762000" imgH="457200" progId="Equation.3">
                  <p:embed/>
                </p:oleObj>
              </mc:Choice>
              <mc:Fallback>
                <p:oleObj name="公式" r:id="rId8" imgW="762000" imgH="457200" progId="Equation.3">
                  <p:embed/>
                  <p:pic>
                    <p:nvPicPr>
                      <p:cNvPr id="0" name="Object 6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29188" y="762000"/>
                        <a:ext cx="1462087" cy="879475"/>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4" name="Rectangle 6"/>
          <p:cNvSpPr>
            <a:spLocks noChangeArrowheads="1"/>
          </p:cNvSpPr>
          <p:nvPr/>
        </p:nvSpPr>
        <p:spPr bwMode="auto">
          <a:xfrm>
            <a:off x="-3175" y="-9842"/>
            <a:ext cx="3617913"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朗肯土压力理论</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57"/>
                                        </p:tgtEl>
                                        <p:attrNameLst>
                                          <p:attrName>style.visibility</p:attrName>
                                        </p:attrNameLst>
                                      </p:cBhvr>
                                      <p:to>
                                        <p:strVal val="visible"/>
                                      </p:to>
                                    </p:set>
                                    <p:animEffect transition="in" filter="wipe(left)">
                                      <p:cBhvr>
                                        <p:cTn id="7" dur="500"/>
                                        <p:tgtEl>
                                          <p:spTgt spid="3075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0758"/>
                                        </p:tgtEl>
                                        <p:attrNameLst>
                                          <p:attrName>style.visibility</p:attrName>
                                        </p:attrNameLst>
                                      </p:cBhvr>
                                      <p:to>
                                        <p:strVal val="visible"/>
                                      </p:to>
                                    </p:set>
                                    <p:animEffect transition="in" filter="wipe(up)">
                                      <p:cBhvr>
                                        <p:cTn id="12" dur="500"/>
                                        <p:tgtEl>
                                          <p:spTgt spid="307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7"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458788" y="790575"/>
            <a:ext cx="16002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lang="en-US" altLang="zh-CN" sz="2000" b="1" dirty="0" smtClean="0">
                <a:ea typeface="+mn-ea"/>
                <a:cs typeface="Times New Roman" panose="02020603050405020304" pitchFamily="18" charset="0"/>
              </a:rPr>
              <a:t>1</a:t>
            </a:r>
            <a:r>
              <a:rPr lang="zh-CN" altLang="en-US" sz="2000" b="1" dirty="0" smtClean="0">
                <a:ea typeface="+mn-ea"/>
                <a:cs typeface="Times New Roman" panose="02020603050405020304" pitchFamily="18" charset="0"/>
              </a:rPr>
              <a:t>）无黏性土</a:t>
            </a:r>
            <a:endParaRPr lang="zh-CN" altLang="en-US" sz="2000" b="1" dirty="0" smtClean="0">
              <a:ea typeface="+mn-ea"/>
              <a:cs typeface="Times New Roman" panose="02020603050405020304" pitchFamily="18" charset="0"/>
            </a:endParaRPr>
          </a:p>
        </p:txBody>
      </p:sp>
      <p:sp>
        <p:nvSpPr>
          <p:cNvPr id="31775" name="Text Box 31"/>
          <p:cNvSpPr txBox="1">
            <a:spLocks noChangeArrowheads="1"/>
          </p:cNvSpPr>
          <p:nvPr/>
        </p:nvSpPr>
        <p:spPr bwMode="auto">
          <a:xfrm>
            <a:off x="795338" y="1592263"/>
            <a:ext cx="18065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sz="2000" b="1" dirty="0" smtClean="0">
                <a:latin typeface="+mn-ea"/>
                <a:ea typeface="+mn-ea"/>
              </a:rPr>
              <a:t>被动土压力强度</a:t>
            </a:r>
            <a:endParaRPr kumimoji="0" lang="zh-CN" altLang="en-US" sz="2000" b="1" dirty="0" smtClean="0">
              <a:latin typeface="+mn-ea"/>
              <a:ea typeface="+mn-ea"/>
            </a:endParaRPr>
          </a:p>
        </p:txBody>
      </p:sp>
      <p:sp>
        <p:nvSpPr>
          <p:cNvPr id="31780" name="Text Box 36"/>
          <p:cNvSpPr txBox="1">
            <a:spLocks noChangeArrowheads="1"/>
          </p:cNvSpPr>
          <p:nvPr/>
        </p:nvSpPr>
        <p:spPr bwMode="auto">
          <a:xfrm>
            <a:off x="1116013" y="4205288"/>
            <a:ext cx="15478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sz="2000" b="1" dirty="0" smtClean="0">
                <a:latin typeface="+mn-ea"/>
                <a:ea typeface="+mn-ea"/>
              </a:rPr>
              <a:t>总被动土压力</a:t>
            </a:r>
            <a:endParaRPr kumimoji="0" lang="zh-CN" altLang="en-US" sz="2000" b="1" dirty="0" smtClean="0">
              <a:latin typeface="+mn-ea"/>
              <a:ea typeface="+mn-ea"/>
            </a:endParaRPr>
          </a:p>
        </p:txBody>
      </p:sp>
      <p:graphicFrame>
        <p:nvGraphicFramePr>
          <p:cNvPr id="31781" name="Object 37"/>
          <p:cNvGraphicFramePr>
            <a:graphicFrameLocks noChangeAspect="1"/>
          </p:cNvGraphicFramePr>
          <p:nvPr/>
        </p:nvGraphicFramePr>
        <p:xfrm>
          <a:off x="1092200" y="4918075"/>
          <a:ext cx="2216150" cy="949325"/>
        </p:xfrm>
        <a:graphic>
          <a:graphicData uri="http://schemas.openxmlformats.org/presentationml/2006/ole">
            <mc:AlternateContent xmlns:mc="http://schemas.openxmlformats.org/markup-compatibility/2006">
              <mc:Choice xmlns:v="urn:schemas-microsoft-com:vml" Requires="v">
                <p:oleObj spid="_x0000_s7194" name="Equation" r:id="rId1" imgW="914400" imgH="393700" progId="Equation.3">
                  <p:embed/>
                </p:oleObj>
              </mc:Choice>
              <mc:Fallback>
                <p:oleObj name="Equation" r:id="rId1" imgW="914400" imgH="393700" progId="Equation.3">
                  <p:embed/>
                  <p:pic>
                    <p:nvPicPr>
                      <p:cNvPr id="0" name="Object 3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200" y="4918075"/>
                        <a:ext cx="2216150" cy="949325"/>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9702" name="Group 56"/>
          <p:cNvGrpSpPr/>
          <p:nvPr/>
        </p:nvGrpSpPr>
        <p:grpSpPr bwMode="auto">
          <a:xfrm>
            <a:off x="5073650" y="1844675"/>
            <a:ext cx="3602038" cy="1755775"/>
            <a:chOff x="3107" y="1162"/>
            <a:chExt cx="2269" cy="1106"/>
          </a:xfrm>
        </p:grpSpPr>
        <p:sp>
          <p:nvSpPr>
            <p:cNvPr id="29721" name="AutoShape 4"/>
            <p:cNvSpPr>
              <a:spLocks noChangeArrowheads="1"/>
            </p:cNvSpPr>
            <p:nvPr/>
          </p:nvSpPr>
          <p:spPr bwMode="auto">
            <a:xfrm rot="10800000">
              <a:off x="3120" y="1200"/>
              <a:ext cx="624" cy="105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CCFFCC"/>
            </a:solidFill>
            <a:ln w="34925">
              <a:solidFill>
                <a:srgbClr val="000000"/>
              </a:solidFill>
              <a:miter lim="800000"/>
            </a:ln>
          </p:spPr>
          <p:txBody>
            <a:bodyPr wrap="none" anchor="ctr"/>
            <a:lstStyle/>
            <a:p>
              <a:endParaRPr lang="zh-CN" altLang="en-US"/>
            </a:p>
          </p:txBody>
        </p:sp>
        <p:sp>
          <p:nvSpPr>
            <p:cNvPr id="29722" name="Rectangle 5"/>
            <p:cNvSpPr>
              <a:spLocks noChangeArrowheads="1"/>
            </p:cNvSpPr>
            <p:nvPr/>
          </p:nvSpPr>
          <p:spPr bwMode="auto">
            <a:xfrm>
              <a:off x="3552" y="1200"/>
              <a:ext cx="1824" cy="1056"/>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29723" name="Line 6"/>
            <p:cNvSpPr>
              <a:spLocks noChangeShapeType="1"/>
            </p:cNvSpPr>
            <p:nvPr/>
          </p:nvSpPr>
          <p:spPr bwMode="auto">
            <a:xfrm>
              <a:off x="3600" y="1632"/>
              <a:ext cx="192" cy="0"/>
            </a:xfrm>
            <a:prstGeom prst="line">
              <a:avLst/>
            </a:prstGeom>
            <a:noFill/>
            <a:ln w="222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24" name="Line 7"/>
            <p:cNvSpPr>
              <a:spLocks noChangeShapeType="1"/>
            </p:cNvSpPr>
            <p:nvPr/>
          </p:nvSpPr>
          <p:spPr bwMode="auto">
            <a:xfrm rot="10800000">
              <a:off x="3984" y="1632"/>
              <a:ext cx="192" cy="0"/>
            </a:xfrm>
            <a:prstGeom prst="line">
              <a:avLst/>
            </a:prstGeom>
            <a:noFill/>
            <a:ln w="222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25" name="Line 8"/>
            <p:cNvSpPr>
              <a:spLocks noChangeShapeType="1"/>
            </p:cNvSpPr>
            <p:nvPr/>
          </p:nvSpPr>
          <p:spPr bwMode="auto">
            <a:xfrm rot="-5400000">
              <a:off x="3792" y="1824"/>
              <a:ext cx="192" cy="0"/>
            </a:xfrm>
            <a:prstGeom prst="line">
              <a:avLst/>
            </a:prstGeom>
            <a:noFill/>
            <a:ln w="222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26" name="Line 9"/>
            <p:cNvSpPr>
              <a:spLocks noChangeShapeType="1"/>
            </p:cNvSpPr>
            <p:nvPr/>
          </p:nvSpPr>
          <p:spPr bwMode="auto">
            <a:xfrm rot="5400000">
              <a:off x="3792" y="1440"/>
              <a:ext cx="192" cy="0"/>
            </a:xfrm>
            <a:prstGeom prst="line">
              <a:avLst/>
            </a:prstGeom>
            <a:noFill/>
            <a:ln w="222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27" name="Rectangle 10"/>
            <p:cNvSpPr>
              <a:spLocks noChangeArrowheads="1"/>
            </p:cNvSpPr>
            <p:nvPr/>
          </p:nvSpPr>
          <p:spPr bwMode="auto">
            <a:xfrm>
              <a:off x="3696" y="2016"/>
              <a:ext cx="601" cy="252"/>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en-US" altLang="zh-CN" sz="2000" b="1" i="1">
                  <a:ea typeface="楷体_GB2312" pitchFamily="49" charset="-122"/>
                </a:rPr>
                <a:t>45</a:t>
              </a:r>
              <a:r>
                <a:rPr lang="en-US" altLang="zh-CN" sz="2000" b="1" i="1" baseline="30000">
                  <a:sym typeface="Symbol" panose="05050102010706020507" pitchFamily="18" charset="2"/>
                </a:rPr>
                <a:t></a:t>
              </a:r>
              <a:r>
                <a:rPr lang="en-US" altLang="zh-CN" sz="2000" b="1">
                  <a:sym typeface="Symbol" panose="05050102010706020507" pitchFamily="18" charset="2"/>
                </a:rPr>
                <a:t>-</a:t>
              </a:r>
              <a:r>
                <a:rPr lang="el-GR" altLang="zh-CN" sz="2000" b="1">
                  <a:sym typeface="Symbol" panose="05050102010706020507" pitchFamily="18" charset="2"/>
                </a:rPr>
                <a:t>φ</a:t>
              </a:r>
              <a:r>
                <a:rPr lang="en-US" altLang="zh-CN" sz="2000" b="1" i="1">
                  <a:sym typeface="Symbol" panose="05050102010706020507" pitchFamily="18" charset="2"/>
                </a:rPr>
                <a:t>/2</a:t>
              </a:r>
              <a:endParaRPr lang="en-US" altLang="zh-CN" sz="2000" b="1" i="1">
                <a:sym typeface="Symbol" panose="05050102010706020507" pitchFamily="18" charset="2"/>
              </a:endParaRPr>
            </a:p>
          </p:txBody>
        </p:sp>
        <p:sp>
          <p:nvSpPr>
            <p:cNvPr id="29728" name="Line 11"/>
            <p:cNvSpPr>
              <a:spLocks noChangeShapeType="1"/>
            </p:cNvSpPr>
            <p:nvPr/>
          </p:nvSpPr>
          <p:spPr bwMode="auto">
            <a:xfrm>
              <a:off x="3552" y="1248"/>
              <a:ext cx="0" cy="1008"/>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29" name="Text Box 12"/>
            <p:cNvSpPr txBox="1">
              <a:spLocks noChangeArrowheads="1"/>
            </p:cNvSpPr>
            <p:nvPr/>
          </p:nvSpPr>
          <p:spPr bwMode="auto">
            <a:xfrm>
              <a:off x="3107" y="1480"/>
              <a:ext cx="499" cy="236"/>
            </a:xfrm>
            <a:prstGeom prst="rect">
              <a:avLst/>
            </a:prstGeom>
            <a:solidFill>
              <a:srgbClr val="C0C0C0"/>
            </a:solidFill>
            <a:ln w="9525">
              <a:solidFill>
                <a:srgbClr val="CCFFCC"/>
              </a:solidFill>
              <a:miter lim="800000"/>
            </a:ln>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i="1"/>
                <a:t> </a:t>
              </a:r>
              <a:r>
                <a:rPr kumimoji="0" lang="en-US" altLang="zh-CN" sz="2000" b="1" i="1"/>
                <a:t>p</a:t>
              </a:r>
              <a:r>
                <a:rPr kumimoji="0" lang="en-US" altLang="zh-CN" sz="2000" b="1" i="1" baseline="-25000"/>
                <a:t>p</a:t>
              </a:r>
              <a:r>
                <a:rPr kumimoji="0" lang="en-US" altLang="zh-CN" sz="2000" b="1"/>
                <a:t>=</a:t>
              </a:r>
              <a:r>
                <a:rPr kumimoji="0" lang="en-US" altLang="zh-CN" sz="2000" b="1">
                  <a:latin typeface="Symbol" panose="05050102010706020507" pitchFamily="18" charset="2"/>
                </a:rPr>
                <a:t>s</a:t>
              </a:r>
              <a:r>
                <a:rPr kumimoji="0" lang="en-US" altLang="zh-CN" sz="2000" b="1" baseline="-25000"/>
                <a:t>1</a:t>
              </a:r>
              <a:endParaRPr kumimoji="0" lang="en-US" altLang="zh-CN" sz="2000" b="1" baseline="-25000"/>
            </a:p>
          </p:txBody>
        </p:sp>
        <p:grpSp>
          <p:nvGrpSpPr>
            <p:cNvPr id="29730" name="Group 13"/>
            <p:cNvGrpSpPr/>
            <p:nvPr/>
          </p:nvGrpSpPr>
          <p:grpSpPr bwMode="auto">
            <a:xfrm>
              <a:off x="3560" y="1207"/>
              <a:ext cx="1680" cy="1040"/>
              <a:chOff x="3173" y="1582"/>
              <a:chExt cx="2584" cy="1568"/>
            </a:xfrm>
          </p:grpSpPr>
          <p:sp>
            <p:nvSpPr>
              <p:cNvPr id="29738" name="Line 14"/>
              <p:cNvSpPr>
                <a:spLocks noChangeShapeType="1"/>
              </p:cNvSpPr>
              <p:nvPr/>
            </p:nvSpPr>
            <p:spPr bwMode="auto">
              <a:xfrm flipV="1">
                <a:off x="3189" y="1590"/>
                <a:ext cx="2568" cy="156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29739" name="Group 15"/>
              <p:cNvGrpSpPr/>
              <p:nvPr/>
            </p:nvGrpSpPr>
            <p:grpSpPr bwMode="auto">
              <a:xfrm>
                <a:off x="3173" y="1582"/>
                <a:ext cx="2244" cy="1344"/>
                <a:chOff x="3173" y="1582"/>
                <a:chExt cx="2244" cy="1344"/>
              </a:xfrm>
            </p:grpSpPr>
            <p:sp>
              <p:nvSpPr>
                <p:cNvPr id="29740" name="Line 16"/>
                <p:cNvSpPr>
                  <a:spLocks noChangeShapeType="1"/>
                </p:cNvSpPr>
                <p:nvPr/>
              </p:nvSpPr>
              <p:spPr bwMode="auto">
                <a:xfrm flipV="1">
                  <a:off x="3189" y="1590"/>
                  <a:ext cx="1952" cy="1128"/>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29741" name="Line 17"/>
                <p:cNvSpPr>
                  <a:spLocks noChangeShapeType="1"/>
                </p:cNvSpPr>
                <p:nvPr/>
              </p:nvSpPr>
              <p:spPr bwMode="auto">
                <a:xfrm flipV="1">
                  <a:off x="3189" y="1590"/>
                  <a:ext cx="1304" cy="736"/>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29742" name="Line 18"/>
                <p:cNvSpPr>
                  <a:spLocks noChangeShapeType="1"/>
                </p:cNvSpPr>
                <p:nvPr/>
              </p:nvSpPr>
              <p:spPr bwMode="auto">
                <a:xfrm flipV="1">
                  <a:off x="3197" y="1582"/>
                  <a:ext cx="623" cy="346"/>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29743" name="Line 19"/>
                <p:cNvSpPr>
                  <a:spLocks noChangeShapeType="1"/>
                </p:cNvSpPr>
                <p:nvPr/>
              </p:nvSpPr>
              <p:spPr bwMode="auto">
                <a:xfrm>
                  <a:off x="3213" y="1614"/>
                  <a:ext cx="1232" cy="754"/>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29744" name="Line 20"/>
                <p:cNvSpPr>
                  <a:spLocks noChangeShapeType="1"/>
                </p:cNvSpPr>
                <p:nvPr/>
              </p:nvSpPr>
              <p:spPr bwMode="auto">
                <a:xfrm>
                  <a:off x="3813" y="1598"/>
                  <a:ext cx="952" cy="570"/>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29745" name="Line 21"/>
                <p:cNvSpPr>
                  <a:spLocks noChangeShapeType="1"/>
                </p:cNvSpPr>
                <p:nvPr/>
              </p:nvSpPr>
              <p:spPr bwMode="auto">
                <a:xfrm>
                  <a:off x="5089" y="1590"/>
                  <a:ext cx="328" cy="184"/>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29746" name="Line 22"/>
                <p:cNvSpPr>
                  <a:spLocks noChangeShapeType="1"/>
                </p:cNvSpPr>
                <p:nvPr/>
              </p:nvSpPr>
              <p:spPr bwMode="auto">
                <a:xfrm>
                  <a:off x="3173" y="1950"/>
                  <a:ext cx="992" cy="600"/>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29747" name="Line 23"/>
                <p:cNvSpPr>
                  <a:spLocks noChangeShapeType="1"/>
                </p:cNvSpPr>
                <p:nvPr/>
              </p:nvSpPr>
              <p:spPr bwMode="auto">
                <a:xfrm>
                  <a:off x="3173" y="2350"/>
                  <a:ext cx="664" cy="392"/>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29748" name="Line 24"/>
                <p:cNvSpPr>
                  <a:spLocks noChangeShapeType="1"/>
                </p:cNvSpPr>
                <p:nvPr/>
              </p:nvSpPr>
              <p:spPr bwMode="auto">
                <a:xfrm>
                  <a:off x="4493" y="1590"/>
                  <a:ext cx="632" cy="402"/>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29749" name="Line 25"/>
                <p:cNvSpPr>
                  <a:spLocks noChangeShapeType="1"/>
                </p:cNvSpPr>
                <p:nvPr/>
              </p:nvSpPr>
              <p:spPr bwMode="auto">
                <a:xfrm>
                  <a:off x="3205" y="2742"/>
                  <a:ext cx="312" cy="184"/>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29731" name="Line 26"/>
            <p:cNvSpPr>
              <a:spLocks noChangeShapeType="1"/>
            </p:cNvSpPr>
            <p:nvPr/>
          </p:nvSpPr>
          <p:spPr bwMode="auto">
            <a:xfrm>
              <a:off x="4656" y="1200"/>
              <a:ext cx="0" cy="432"/>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32" name="Line 27"/>
            <p:cNvSpPr>
              <a:spLocks noChangeShapeType="1"/>
            </p:cNvSpPr>
            <p:nvPr/>
          </p:nvSpPr>
          <p:spPr bwMode="auto">
            <a:xfrm>
              <a:off x="4320" y="1632"/>
              <a:ext cx="43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33" name="Rectangle 28"/>
            <p:cNvSpPr>
              <a:spLocks noChangeArrowheads="1"/>
            </p:cNvSpPr>
            <p:nvPr/>
          </p:nvSpPr>
          <p:spPr bwMode="auto">
            <a:xfrm>
              <a:off x="3792" y="1536"/>
              <a:ext cx="192" cy="192"/>
            </a:xfrm>
            <a:prstGeom prst="rect">
              <a:avLst/>
            </a:prstGeom>
            <a:solidFill>
              <a:srgbClr val="CCFFCC"/>
            </a:solidFill>
            <a:ln w="9525">
              <a:solidFill>
                <a:srgbClr val="000000"/>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29734" name="Text Box 29"/>
            <p:cNvSpPr txBox="1">
              <a:spLocks noChangeArrowheads="1"/>
            </p:cNvSpPr>
            <p:nvPr/>
          </p:nvSpPr>
          <p:spPr bwMode="auto">
            <a:xfrm>
              <a:off x="3792" y="1162"/>
              <a:ext cx="262" cy="179"/>
            </a:xfrm>
            <a:prstGeom prst="rect">
              <a:avLst/>
            </a:prstGeom>
            <a:solidFill>
              <a:srgbClr val="C0C0C0"/>
            </a:solidFill>
            <a:ln w="9525">
              <a:solidFill>
                <a:srgbClr val="CCFFCC"/>
              </a:solidFill>
              <a:miter lim="800000"/>
            </a:ln>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sz="1800" b="1">
                  <a:latin typeface="Symbol" panose="05050102010706020507" pitchFamily="18" charset="2"/>
                </a:rPr>
                <a:t>s</a:t>
              </a:r>
              <a:r>
                <a:rPr kumimoji="0" lang="en-US" altLang="zh-CN" sz="1800" b="1" baseline="-25000">
                  <a:latin typeface="Arial" panose="020B0604020202020204" pitchFamily="34" charset="0"/>
                </a:rPr>
                <a:t>3</a:t>
              </a:r>
              <a:endParaRPr kumimoji="0" lang="en-US" altLang="zh-CN" sz="1800" b="1" baseline="-25000">
                <a:latin typeface="Arial" panose="020B0604020202020204" pitchFamily="34" charset="0"/>
              </a:endParaRPr>
            </a:p>
          </p:txBody>
        </p:sp>
        <p:sp>
          <p:nvSpPr>
            <p:cNvPr id="29735" name="Text Box 30"/>
            <p:cNvSpPr txBox="1">
              <a:spLocks noChangeArrowheads="1"/>
            </p:cNvSpPr>
            <p:nvPr/>
          </p:nvSpPr>
          <p:spPr bwMode="auto">
            <a:xfrm>
              <a:off x="4694" y="1253"/>
              <a:ext cx="91" cy="19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sz="2000" b="1"/>
                <a:t>z</a:t>
              </a:r>
              <a:endParaRPr kumimoji="0" lang="en-US" altLang="zh-CN" sz="2000" b="1"/>
            </a:p>
          </p:txBody>
        </p:sp>
        <p:sp>
          <p:nvSpPr>
            <p:cNvPr id="29736" name="Line 52"/>
            <p:cNvSpPr>
              <a:spLocks noChangeShapeType="1"/>
            </p:cNvSpPr>
            <p:nvPr/>
          </p:nvSpPr>
          <p:spPr bwMode="auto">
            <a:xfrm>
              <a:off x="3560" y="1207"/>
              <a:ext cx="1679"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37" name="Line 53"/>
            <p:cNvSpPr>
              <a:spLocks noChangeShapeType="1"/>
            </p:cNvSpPr>
            <p:nvPr/>
          </p:nvSpPr>
          <p:spPr bwMode="auto">
            <a:xfrm>
              <a:off x="3470" y="2251"/>
              <a:ext cx="1679"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9703" name="Group 57"/>
          <p:cNvGrpSpPr/>
          <p:nvPr/>
        </p:nvGrpSpPr>
        <p:grpSpPr bwMode="auto">
          <a:xfrm>
            <a:off x="4800600" y="4191000"/>
            <a:ext cx="3838575" cy="2274888"/>
            <a:chOff x="3024" y="2640"/>
            <a:chExt cx="2418" cy="1433"/>
          </a:xfrm>
        </p:grpSpPr>
        <p:graphicFrame>
          <p:nvGraphicFramePr>
            <p:cNvPr id="29708" name="Object 39"/>
            <p:cNvGraphicFramePr>
              <a:graphicFrameLocks noChangeAspect="1"/>
            </p:cNvGraphicFramePr>
            <p:nvPr/>
          </p:nvGraphicFramePr>
          <p:xfrm>
            <a:off x="4176" y="3792"/>
            <a:ext cx="856" cy="281"/>
          </p:xfrm>
          <a:graphic>
            <a:graphicData uri="http://schemas.openxmlformats.org/presentationml/2006/ole">
              <mc:AlternateContent xmlns:mc="http://schemas.openxmlformats.org/markup-compatibility/2006">
                <mc:Choice xmlns:v="urn:schemas-microsoft-com:vml" Requires="v">
                  <p:oleObj spid="_x0000_s7195" name="Equation" r:id="rId3" imgW="736600" imgH="241300" progId="Equation.3">
                    <p:embed/>
                  </p:oleObj>
                </mc:Choice>
                <mc:Fallback>
                  <p:oleObj name="Equation" r:id="rId3" imgW="736600" imgH="241300" progId="Equation.3">
                    <p:embed/>
                    <p:pic>
                      <p:nvPicPr>
                        <p:cNvPr id="0" name="Object 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76" y="3792"/>
                          <a:ext cx="856" cy="281"/>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09" name="Object 40"/>
            <p:cNvGraphicFramePr>
              <a:graphicFrameLocks noChangeAspect="1"/>
            </p:cNvGraphicFramePr>
            <p:nvPr/>
          </p:nvGraphicFramePr>
          <p:xfrm>
            <a:off x="4080" y="2880"/>
            <a:ext cx="1362" cy="325"/>
          </p:xfrm>
          <a:graphic>
            <a:graphicData uri="http://schemas.openxmlformats.org/presentationml/2006/ole">
              <mc:AlternateContent xmlns:mc="http://schemas.openxmlformats.org/markup-compatibility/2006">
                <mc:Choice xmlns:v="urn:schemas-microsoft-com:vml" Requires="v">
                  <p:oleObj spid="_x0000_s7196" name="Equation" r:id="rId5" imgW="1054100" imgH="254000" progId="Equation.3">
                    <p:embed/>
                  </p:oleObj>
                </mc:Choice>
                <mc:Fallback>
                  <p:oleObj name="Equation" r:id="rId5" imgW="1054100" imgH="254000" progId="Equation.3">
                    <p:embed/>
                    <p:pic>
                      <p:nvPicPr>
                        <p:cNvPr id="0" name="Object 4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80" y="2880"/>
                          <a:ext cx="1362" cy="325"/>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710" name="Line 42"/>
            <p:cNvSpPr>
              <a:spLocks noChangeShapeType="1"/>
            </p:cNvSpPr>
            <p:nvPr/>
          </p:nvSpPr>
          <p:spPr bwMode="auto">
            <a:xfrm rot="16222883" flipV="1">
              <a:off x="4771" y="3578"/>
              <a:ext cx="1" cy="289"/>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11" name="Line 43"/>
            <p:cNvSpPr>
              <a:spLocks noChangeShapeType="1"/>
            </p:cNvSpPr>
            <p:nvPr/>
          </p:nvSpPr>
          <p:spPr bwMode="auto">
            <a:xfrm rot="-5377117">
              <a:off x="4788" y="3210"/>
              <a:ext cx="0" cy="288"/>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12" name="Line 44"/>
            <p:cNvSpPr>
              <a:spLocks noChangeShapeType="1"/>
            </p:cNvSpPr>
            <p:nvPr/>
          </p:nvSpPr>
          <p:spPr bwMode="auto">
            <a:xfrm rot="-5377117">
              <a:off x="4618" y="3542"/>
              <a:ext cx="367" cy="3"/>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9713" name="Object 45"/>
            <p:cNvGraphicFramePr>
              <a:graphicFrameLocks noChangeAspect="1"/>
            </p:cNvGraphicFramePr>
            <p:nvPr/>
          </p:nvGraphicFramePr>
          <p:xfrm>
            <a:off x="4913" y="3310"/>
            <a:ext cx="293" cy="396"/>
          </p:xfrm>
          <a:graphic>
            <a:graphicData uri="http://schemas.openxmlformats.org/presentationml/2006/ole">
              <mc:AlternateContent xmlns:mc="http://schemas.openxmlformats.org/markup-compatibility/2006">
                <mc:Choice xmlns:v="urn:schemas-microsoft-com:vml" Requires="v">
                  <p:oleObj spid="_x0000_s7197" name="公式" r:id="rId7" imgW="292100" imgH="393700" progId="Equation.3">
                    <p:embed/>
                  </p:oleObj>
                </mc:Choice>
                <mc:Fallback>
                  <p:oleObj name="公式" r:id="rId7" imgW="292100" imgH="393700" progId="Equation.3">
                    <p:embed/>
                    <p:pic>
                      <p:nvPicPr>
                        <p:cNvPr id="0" name="Object 4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13" y="3310"/>
                          <a:ext cx="293" cy="396"/>
                        </a:xfrm>
                        <a:prstGeom prst="rect">
                          <a:avLst/>
                        </a:prstGeom>
                        <a:noFill/>
                        <a:ln w="9525">
                          <a:solidFill>
                            <a:srgbClr val="CCFFCC"/>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9714" name="Group 46"/>
            <p:cNvGrpSpPr/>
            <p:nvPr/>
          </p:nvGrpSpPr>
          <p:grpSpPr bwMode="auto">
            <a:xfrm>
              <a:off x="3024" y="2640"/>
              <a:ext cx="1536" cy="1104"/>
              <a:chOff x="3024" y="2640"/>
              <a:chExt cx="1536" cy="1104"/>
            </a:xfrm>
          </p:grpSpPr>
          <p:sp>
            <p:nvSpPr>
              <p:cNvPr id="29718" name="AutoShape 47"/>
              <p:cNvSpPr>
                <a:spLocks noChangeArrowheads="1"/>
              </p:cNvSpPr>
              <p:nvPr/>
            </p:nvSpPr>
            <p:spPr bwMode="auto">
              <a:xfrm rot="10800000">
                <a:off x="3024" y="2640"/>
                <a:ext cx="624" cy="110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CCFFCC"/>
              </a:solidFill>
              <a:ln w="34925">
                <a:solidFill>
                  <a:srgbClr val="000000"/>
                </a:solidFill>
                <a:miter lim="800000"/>
              </a:ln>
            </p:spPr>
            <p:txBody>
              <a:bodyPr wrap="none" anchor="ctr"/>
              <a:lstStyle/>
              <a:p>
                <a:endParaRPr lang="zh-CN" altLang="en-US"/>
              </a:p>
            </p:txBody>
          </p:sp>
          <p:sp>
            <p:nvSpPr>
              <p:cNvPr id="29719" name="Freeform 48"/>
              <p:cNvSpPr/>
              <p:nvPr/>
            </p:nvSpPr>
            <p:spPr bwMode="auto">
              <a:xfrm>
                <a:off x="3504" y="2640"/>
                <a:ext cx="1056" cy="1088"/>
              </a:xfrm>
              <a:custGeom>
                <a:avLst/>
                <a:gdLst>
                  <a:gd name="T0" fmla="*/ 0 w 576"/>
                  <a:gd name="T1" fmla="*/ 0 h 1104"/>
                  <a:gd name="T2" fmla="*/ 31528416 w 576"/>
                  <a:gd name="T3" fmla="*/ 849 h 1104"/>
                  <a:gd name="T4" fmla="*/ 0 w 576"/>
                  <a:gd name="T5" fmla="*/ 849 h 1104"/>
                  <a:gd name="T6" fmla="*/ 0 w 576"/>
                  <a:gd name="T7" fmla="*/ 0 h 1104"/>
                  <a:gd name="T8" fmla="*/ 0 60000 65536"/>
                  <a:gd name="T9" fmla="*/ 0 60000 65536"/>
                  <a:gd name="T10" fmla="*/ 0 60000 65536"/>
                  <a:gd name="T11" fmla="*/ 0 60000 65536"/>
                  <a:gd name="T12" fmla="*/ 0 w 576"/>
                  <a:gd name="T13" fmla="*/ 0 h 1104"/>
                  <a:gd name="T14" fmla="*/ 576 w 576"/>
                  <a:gd name="T15" fmla="*/ 1104 h 1104"/>
                </a:gdLst>
                <a:ahLst/>
                <a:cxnLst>
                  <a:cxn ang="T8">
                    <a:pos x="T0" y="T1"/>
                  </a:cxn>
                  <a:cxn ang="T9">
                    <a:pos x="T2" y="T3"/>
                  </a:cxn>
                  <a:cxn ang="T10">
                    <a:pos x="T4" y="T5"/>
                  </a:cxn>
                  <a:cxn ang="T11">
                    <a:pos x="T6" y="T7"/>
                  </a:cxn>
                </a:cxnLst>
                <a:rect l="T12" t="T13" r="T14" b="T15"/>
                <a:pathLst>
                  <a:path w="576" h="1104">
                    <a:moveTo>
                      <a:pt x="0" y="0"/>
                    </a:moveTo>
                    <a:lnTo>
                      <a:pt x="576" y="1104"/>
                    </a:lnTo>
                    <a:lnTo>
                      <a:pt x="0" y="1104"/>
                    </a:lnTo>
                    <a:lnTo>
                      <a:pt x="0" y="0"/>
                    </a:lnTo>
                    <a:close/>
                  </a:path>
                </a:pathLst>
              </a:custGeom>
              <a:solidFill>
                <a:srgbClr val="CCFFCC"/>
              </a:solidFill>
              <a:ln w="9525">
                <a:solidFill>
                  <a:srgbClr val="000000"/>
                </a:solidFill>
                <a:round/>
              </a:ln>
            </p:spPr>
            <p:txBody>
              <a:bodyPr/>
              <a:lstStyle/>
              <a:p>
                <a:endParaRPr lang="zh-CN" altLang="en-US"/>
              </a:p>
            </p:txBody>
          </p:sp>
          <p:sp>
            <p:nvSpPr>
              <p:cNvPr id="29720" name="Line 49"/>
              <p:cNvSpPr>
                <a:spLocks noChangeShapeType="1"/>
              </p:cNvSpPr>
              <p:nvPr/>
            </p:nvSpPr>
            <p:spPr bwMode="auto">
              <a:xfrm>
                <a:off x="3504" y="2640"/>
                <a:ext cx="0" cy="1104"/>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9715" name="AutoShape 50"/>
            <p:cNvSpPr>
              <a:spLocks noChangeArrowheads="1"/>
            </p:cNvSpPr>
            <p:nvPr/>
          </p:nvSpPr>
          <p:spPr bwMode="auto">
            <a:xfrm>
              <a:off x="3504" y="3264"/>
              <a:ext cx="1056" cy="128"/>
            </a:xfrm>
            <a:prstGeom prst="leftArrow">
              <a:avLst>
                <a:gd name="adj1" fmla="val 50000"/>
                <a:gd name="adj2" fmla="val 206250"/>
              </a:avLst>
            </a:prstGeom>
            <a:solidFill>
              <a:srgbClr val="C0C0C0"/>
            </a:solidFill>
            <a:ln w="12700" cap="sq">
              <a:solidFill>
                <a:schemeClr val="tx1"/>
              </a:solidFill>
              <a:miter lim="800000"/>
              <a:headEnd type="none" w="sm" len="sm"/>
              <a:tailEnd type="none" w="sm" len="sm"/>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29716" name="Line 54"/>
            <p:cNvSpPr>
              <a:spLocks noChangeShapeType="1"/>
            </p:cNvSpPr>
            <p:nvPr/>
          </p:nvSpPr>
          <p:spPr bwMode="auto">
            <a:xfrm>
              <a:off x="3470" y="2659"/>
              <a:ext cx="1451"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17" name="Line 55"/>
            <p:cNvSpPr>
              <a:spLocks noChangeShapeType="1"/>
            </p:cNvSpPr>
            <p:nvPr/>
          </p:nvSpPr>
          <p:spPr bwMode="auto">
            <a:xfrm>
              <a:off x="3470" y="3748"/>
              <a:ext cx="1451"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8683" name="Text Box 58"/>
          <p:cNvSpPr txBox="1">
            <a:spLocks noChangeArrowheads="1"/>
          </p:cNvSpPr>
          <p:nvPr/>
        </p:nvSpPr>
        <p:spPr bwMode="auto">
          <a:xfrm>
            <a:off x="869950" y="3481388"/>
            <a:ext cx="37893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zh-CN" altLang="en-US" sz="2000" dirty="0" smtClean="0">
                <a:ea typeface="+mn-ea"/>
                <a:cs typeface="Times New Roman" panose="02020603050405020304" pitchFamily="18" charset="0"/>
              </a:rPr>
              <a:t>式中：</a:t>
            </a:r>
            <a:r>
              <a:rPr lang="en-US" altLang="zh-CN" sz="2000" i="1" dirty="0" err="1" smtClean="0">
                <a:ea typeface="+mn-ea"/>
                <a:cs typeface="Times New Roman" panose="02020603050405020304" pitchFamily="18" charset="0"/>
              </a:rPr>
              <a:t>K</a:t>
            </a:r>
            <a:r>
              <a:rPr lang="en-US" altLang="zh-CN" sz="2000" baseline="-25000" dirty="0" err="1" smtClean="0">
                <a:ea typeface="+mn-ea"/>
                <a:cs typeface="Times New Roman" panose="02020603050405020304" pitchFamily="18" charset="0"/>
              </a:rPr>
              <a:t>p</a:t>
            </a:r>
            <a:r>
              <a:rPr lang="zh-CN" altLang="en-US" sz="2000" dirty="0" smtClean="0">
                <a:ea typeface="+mn-ea"/>
                <a:cs typeface="Times New Roman" panose="02020603050405020304" pitchFamily="18" charset="0"/>
              </a:rPr>
              <a:t>为</a:t>
            </a:r>
            <a:r>
              <a:rPr kumimoji="0" lang="zh-CN" altLang="en-US" sz="2000" b="1" dirty="0" smtClean="0">
                <a:ea typeface="+mn-ea"/>
                <a:cs typeface="Times New Roman" panose="02020603050405020304" pitchFamily="18" charset="0"/>
              </a:rPr>
              <a:t>朗肯被动土压力系数</a:t>
            </a:r>
            <a:endParaRPr kumimoji="0" lang="zh-CN" altLang="en-US" sz="2000" b="1" dirty="0" smtClean="0">
              <a:ea typeface="+mn-ea"/>
              <a:cs typeface="Times New Roman" panose="02020603050405020304" pitchFamily="18" charset="0"/>
            </a:endParaRPr>
          </a:p>
        </p:txBody>
      </p:sp>
      <p:sp>
        <p:nvSpPr>
          <p:cNvPr id="2" name="矩形 1"/>
          <p:cNvSpPr/>
          <p:nvPr/>
        </p:nvSpPr>
        <p:spPr>
          <a:xfrm>
            <a:off x="3060700" y="566738"/>
            <a:ext cx="2012950" cy="523220"/>
          </a:xfrm>
          <a:prstGeom prst="rect">
            <a:avLst/>
          </a:prstGeom>
          <a:solidFill>
            <a:srgbClr val="FFC000"/>
          </a:solidFill>
        </p:spPr>
        <p:txBody>
          <a:bodyPr wrap="square">
            <a:spAutoFit/>
          </a:bodyPr>
          <a:lstStyle/>
          <a:p>
            <a:pPr eaLnBrk="1" hangingPunct="1">
              <a:defRPr/>
            </a:pPr>
            <a:r>
              <a:rPr lang="zh-CN" altLang="en-US" b="1" dirty="0">
                <a:latin typeface="+mj-ea"/>
                <a:ea typeface="+mj-ea"/>
              </a:rPr>
              <a:t>被动土压力</a:t>
            </a:r>
            <a:endParaRPr lang="zh-CN" altLang="en-US" b="1" dirty="0">
              <a:latin typeface="+mj-ea"/>
              <a:ea typeface="+mj-ea"/>
            </a:endParaRPr>
          </a:p>
        </p:txBody>
      </p:sp>
      <p:sp>
        <p:nvSpPr>
          <p:cNvPr id="56" name="文本框 55"/>
          <p:cNvSpPr txBox="1">
            <a:spLocks noRot="1" noChangeAspect="1" noMove="1" noResize="1" noEditPoints="1" noAdjustHandles="1" noChangeArrowheads="1" noChangeShapeType="1" noTextEdit="1"/>
          </p:cNvSpPr>
          <p:nvPr/>
        </p:nvSpPr>
        <p:spPr>
          <a:xfrm>
            <a:off x="460003" y="2353975"/>
            <a:ext cx="4282728" cy="630429"/>
          </a:xfrm>
          <a:prstGeom prst="rect">
            <a:avLst/>
          </a:prstGeom>
          <a:blipFill>
            <a:blip r:embed="rId9"/>
            <a:stretch>
              <a:fillRect/>
            </a:stretch>
          </a:blipFill>
        </p:spPr>
        <p:txBody>
          <a:bodyPr/>
          <a:lstStyle/>
          <a:p>
            <a:r>
              <a:rPr lang="zh-CN" altLang="en-US">
                <a:noFill/>
              </a:rPr>
              <a:t> </a:t>
            </a:r>
            <a:endParaRPr lang="zh-CN" altLang="en-US">
              <a:noFill/>
            </a:endParaRPr>
          </a:p>
        </p:txBody>
      </p:sp>
      <p:sp>
        <p:nvSpPr>
          <p:cNvPr id="57" name="Rectangle 6"/>
          <p:cNvSpPr>
            <a:spLocks noChangeArrowheads="1"/>
          </p:cNvSpPr>
          <p:nvPr/>
        </p:nvSpPr>
        <p:spPr bwMode="auto">
          <a:xfrm>
            <a:off x="-3175" y="-9842"/>
            <a:ext cx="3617913"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朗肯土压力理论</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31775"/>
                                        </p:tgtEl>
                                        <p:attrNameLst>
                                          <p:attrName>style.visibility</p:attrName>
                                        </p:attrNameLst>
                                      </p:cBhvr>
                                      <p:to>
                                        <p:strVal val="visible"/>
                                      </p:to>
                                    </p:set>
                                    <p:animEffect transition="in" filter="wipe(left)">
                                      <p:cBhvr>
                                        <p:cTn id="7" dur="300"/>
                                        <p:tgtEl>
                                          <p:spTgt spid="317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1780"/>
                                        </p:tgtEl>
                                        <p:attrNameLst>
                                          <p:attrName>style.visibility</p:attrName>
                                        </p:attrNameLst>
                                      </p:cBhvr>
                                      <p:to>
                                        <p:strVal val="visible"/>
                                      </p:to>
                                    </p:set>
                                    <p:animEffect transition="in" filter="wipe(left)">
                                      <p:cBhvr>
                                        <p:cTn id="12" dur="500"/>
                                        <p:tgtEl>
                                          <p:spTgt spid="3178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1781"/>
                                        </p:tgtEl>
                                        <p:attrNameLst>
                                          <p:attrName>style.visibility</p:attrName>
                                        </p:attrNameLst>
                                      </p:cBhvr>
                                      <p:to>
                                        <p:strVal val="visible"/>
                                      </p:to>
                                    </p:set>
                                    <p:animEffect transition="in" filter="wipe(left)">
                                      <p:cBhvr>
                                        <p:cTn id="17" dur="500"/>
                                        <p:tgtEl>
                                          <p:spTgt spid="317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75" grpId="0" autoUpdateAnimBg="0"/>
      <p:bldP spid="31780"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323850" y="717550"/>
            <a:ext cx="145415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lang="en-US" altLang="zh-CN" sz="2000" b="1" dirty="0" smtClean="0">
                <a:ea typeface="+mn-ea"/>
                <a:cs typeface="Times New Roman" panose="02020603050405020304" pitchFamily="18" charset="0"/>
              </a:rPr>
              <a:t>2</a:t>
            </a:r>
            <a:r>
              <a:rPr lang="zh-CN" altLang="en-US" sz="2000" b="1" dirty="0" smtClean="0">
                <a:ea typeface="+mn-ea"/>
                <a:cs typeface="Times New Roman" panose="02020603050405020304" pitchFamily="18" charset="0"/>
              </a:rPr>
              <a:t>）黏性土</a:t>
            </a:r>
            <a:endParaRPr lang="zh-CN" altLang="en-US" sz="2000" b="1" dirty="0" smtClean="0">
              <a:ea typeface="+mn-ea"/>
              <a:cs typeface="Times New Roman" panose="02020603050405020304" pitchFamily="18" charset="0"/>
            </a:endParaRPr>
          </a:p>
        </p:txBody>
      </p:sp>
      <p:sp>
        <p:nvSpPr>
          <p:cNvPr id="32771" name="Text Box 3"/>
          <p:cNvSpPr txBox="1">
            <a:spLocks noChangeArrowheads="1"/>
          </p:cNvSpPr>
          <p:nvPr/>
        </p:nvSpPr>
        <p:spPr bwMode="auto">
          <a:xfrm>
            <a:off x="2438400" y="823913"/>
            <a:ext cx="17954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sz="2000" b="1" dirty="0" smtClean="0">
                <a:latin typeface="+mn-ea"/>
                <a:ea typeface="+mn-ea"/>
              </a:rPr>
              <a:t>被动土压力强度</a:t>
            </a:r>
            <a:endParaRPr kumimoji="0" lang="zh-CN" altLang="en-US" sz="2000" b="1" dirty="0" smtClean="0">
              <a:latin typeface="+mn-ea"/>
              <a:ea typeface="+mn-ea"/>
            </a:endParaRPr>
          </a:p>
        </p:txBody>
      </p:sp>
      <p:grpSp>
        <p:nvGrpSpPr>
          <p:cNvPr id="30724" name="Group 40"/>
          <p:cNvGrpSpPr/>
          <p:nvPr/>
        </p:nvGrpSpPr>
        <p:grpSpPr bwMode="auto">
          <a:xfrm>
            <a:off x="4427538" y="2627313"/>
            <a:ext cx="4090987" cy="3105150"/>
            <a:chOff x="3024" y="1008"/>
            <a:chExt cx="2577" cy="1956"/>
          </a:xfrm>
        </p:grpSpPr>
        <p:grpSp>
          <p:nvGrpSpPr>
            <p:cNvPr id="30729" name="Group 8"/>
            <p:cNvGrpSpPr/>
            <p:nvPr/>
          </p:nvGrpSpPr>
          <p:grpSpPr bwMode="auto">
            <a:xfrm>
              <a:off x="3600" y="1008"/>
              <a:ext cx="672" cy="1488"/>
              <a:chOff x="3024" y="816"/>
              <a:chExt cx="672" cy="1440"/>
            </a:xfrm>
          </p:grpSpPr>
          <p:sp>
            <p:nvSpPr>
              <p:cNvPr id="30755" name="AutoShape 9" descr="横向砖形"/>
              <p:cNvSpPr>
                <a:spLocks noChangeArrowheads="1"/>
              </p:cNvSpPr>
              <p:nvPr/>
            </p:nvSpPr>
            <p:spPr bwMode="auto">
              <a:xfrm rot="10800000">
                <a:off x="3024" y="864"/>
                <a:ext cx="624" cy="134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blipFill dpi="0" rotWithShape="0">
                <a:blip r:embed="rId1"/>
                <a:srcRect/>
                <a:tile tx="0" ty="0" sx="100000" sy="100000" flip="none" algn="tl"/>
              </a:blipFill>
              <a:ln w="34925">
                <a:solidFill>
                  <a:srgbClr val="000000"/>
                </a:solidFill>
                <a:miter lim="800000"/>
              </a:ln>
            </p:spPr>
            <p:txBody>
              <a:bodyPr wrap="none" anchor="ctr"/>
              <a:lstStyle/>
              <a:p>
                <a:endParaRPr lang="zh-CN" altLang="en-US"/>
              </a:p>
            </p:txBody>
          </p:sp>
          <p:sp useBgFill="1">
            <p:nvSpPr>
              <p:cNvPr id="30756" name="Rectangle 10"/>
              <p:cNvSpPr>
                <a:spLocks noChangeArrowheads="1"/>
              </p:cNvSpPr>
              <p:nvPr/>
            </p:nvSpPr>
            <p:spPr bwMode="auto">
              <a:xfrm>
                <a:off x="3456" y="816"/>
                <a:ext cx="240" cy="144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30757" name="Line 11"/>
              <p:cNvSpPr>
                <a:spLocks noChangeShapeType="1"/>
              </p:cNvSpPr>
              <p:nvPr/>
            </p:nvSpPr>
            <p:spPr bwMode="auto">
              <a:xfrm>
                <a:off x="3456" y="864"/>
                <a:ext cx="0" cy="1344"/>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0730" name="Rectangle 12"/>
            <p:cNvSpPr>
              <a:spLocks noChangeArrowheads="1"/>
            </p:cNvSpPr>
            <p:nvPr/>
          </p:nvSpPr>
          <p:spPr bwMode="auto">
            <a:xfrm>
              <a:off x="4014" y="1071"/>
              <a:ext cx="436" cy="1392"/>
            </a:xfrm>
            <a:prstGeom prst="rect">
              <a:avLst/>
            </a:prstGeom>
            <a:solidFill>
              <a:srgbClr val="CCFFCC">
                <a:alpha val="89803"/>
              </a:srgbClr>
            </a:solidFill>
            <a:ln w="9525">
              <a:solidFill>
                <a:srgbClr val="000000"/>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nvGrpSpPr>
            <p:cNvPr id="30731" name="Group 13"/>
            <p:cNvGrpSpPr/>
            <p:nvPr/>
          </p:nvGrpSpPr>
          <p:grpSpPr bwMode="auto">
            <a:xfrm>
              <a:off x="4014" y="1071"/>
              <a:ext cx="1344" cy="1392"/>
              <a:chOff x="3648" y="1440"/>
              <a:chExt cx="1344" cy="1392"/>
            </a:xfrm>
          </p:grpSpPr>
          <p:sp>
            <p:nvSpPr>
              <p:cNvPr id="30743" name="Line 14"/>
              <p:cNvSpPr>
                <a:spLocks noChangeShapeType="1"/>
              </p:cNvSpPr>
              <p:nvPr/>
            </p:nvSpPr>
            <p:spPr bwMode="auto">
              <a:xfrm flipH="1">
                <a:off x="3648" y="2832"/>
                <a:ext cx="1344" cy="0"/>
              </a:xfrm>
              <a:prstGeom prst="line">
                <a:avLst/>
              </a:prstGeom>
              <a:noFill/>
              <a:ln w="349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44" name="Line 15"/>
              <p:cNvSpPr>
                <a:spLocks noChangeShapeType="1"/>
              </p:cNvSpPr>
              <p:nvPr/>
            </p:nvSpPr>
            <p:spPr bwMode="auto">
              <a:xfrm flipH="1">
                <a:off x="3648" y="1440"/>
                <a:ext cx="480" cy="0"/>
              </a:xfrm>
              <a:prstGeom prst="line">
                <a:avLst/>
              </a:prstGeom>
              <a:noFill/>
              <a:ln w="349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45" name="Line 16"/>
              <p:cNvSpPr>
                <a:spLocks noChangeShapeType="1"/>
              </p:cNvSpPr>
              <p:nvPr/>
            </p:nvSpPr>
            <p:spPr bwMode="auto">
              <a:xfrm>
                <a:off x="4128" y="1440"/>
                <a:ext cx="864" cy="1392"/>
              </a:xfrm>
              <a:prstGeom prst="line">
                <a:avLst/>
              </a:prstGeom>
              <a:noFill/>
              <a:ln w="349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746" name="Line 17"/>
              <p:cNvSpPr>
                <a:spLocks noChangeShapeType="1"/>
              </p:cNvSpPr>
              <p:nvPr/>
            </p:nvSpPr>
            <p:spPr bwMode="auto">
              <a:xfrm flipH="1">
                <a:off x="3648" y="1584"/>
                <a:ext cx="528" cy="0"/>
              </a:xfrm>
              <a:prstGeom prst="line">
                <a:avLst/>
              </a:prstGeom>
              <a:noFill/>
              <a:ln w="349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47" name="Line 18"/>
              <p:cNvSpPr>
                <a:spLocks noChangeShapeType="1"/>
              </p:cNvSpPr>
              <p:nvPr/>
            </p:nvSpPr>
            <p:spPr bwMode="auto">
              <a:xfrm flipH="1">
                <a:off x="3648" y="1728"/>
                <a:ext cx="672" cy="0"/>
              </a:xfrm>
              <a:prstGeom prst="line">
                <a:avLst/>
              </a:prstGeom>
              <a:noFill/>
              <a:ln w="349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48" name="Line 19"/>
              <p:cNvSpPr>
                <a:spLocks noChangeShapeType="1"/>
              </p:cNvSpPr>
              <p:nvPr/>
            </p:nvSpPr>
            <p:spPr bwMode="auto">
              <a:xfrm flipH="1">
                <a:off x="3648" y="2016"/>
                <a:ext cx="816" cy="0"/>
              </a:xfrm>
              <a:prstGeom prst="line">
                <a:avLst/>
              </a:prstGeom>
              <a:noFill/>
              <a:ln w="349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49" name="Line 20"/>
              <p:cNvSpPr>
                <a:spLocks noChangeShapeType="1"/>
              </p:cNvSpPr>
              <p:nvPr/>
            </p:nvSpPr>
            <p:spPr bwMode="auto">
              <a:xfrm flipH="1">
                <a:off x="3648" y="1872"/>
                <a:ext cx="720" cy="0"/>
              </a:xfrm>
              <a:prstGeom prst="line">
                <a:avLst/>
              </a:prstGeom>
              <a:noFill/>
              <a:ln w="349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50" name="Line 21"/>
              <p:cNvSpPr>
                <a:spLocks noChangeShapeType="1"/>
              </p:cNvSpPr>
              <p:nvPr/>
            </p:nvSpPr>
            <p:spPr bwMode="auto">
              <a:xfrm flipH="1">
                <a:off x="3648" y="2160"/>
                <a:ext cx="912" cy="0"/>
              </a:xfrm>
              <a:prstGeom prst="line">
                <a:avLst/>
              </a:prstGeom>
              <a:noFill/>
              <a:ln w="349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51" name="Line 22"/>
              <p:cNvSpPr>
                <a:spLocks noChangeShapeType="1"/>
              </p:cNvSpPr>
              <p:nvPr/>
            </p:nvSpPr>
            <p:spPr bwMode="auto">
              <a:xfrm flipH="1">
                <a:off x="3648" y="2304"/>
                <a:ext cx="1008" cy="0"/>
              </a:xfrm>
              <a:prstGeom prst="line">
                <a:avLst/>
              </a:prstGeom>
              <a:noFill/>
              <a:ln w="349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52" name="Line 23"/>
              <p:cNvSpPr>
                <a:spLocks noChangeShapeType="1"/>
              </p:cNvSpPr>
              <p:nvPr/>
            </p:nvSpPr>
            <p:spPr bwMode="auto">
              <a:xfrm flipH="1">
                <a:off x="3648" y="2448"/>
                <a:ext cx="1104" cy="0"/>
              </a:xfrm>
              <a:prstGeom prst="line">
                <a:avLst/>
              </a:prstGeom>
              <a:noFill/>
              <a:ln w="349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53" name="Line 24"/>
              <p:cNvSpPr>
                <a:spLocks noChangeShapeType="1"/>
              </p:cNvSpPr>
              <p:nvPr/>
            </p:nvSpPr>
            <p:spPr bwMode="auto">
              <a:xfrm flipH="1">
                <a:off x="3648" y="2592"/>
                <a:ext cx="1200" cy="0"/>
              </a:xfrm>
              <a:prstGeom prst="line">
                <a:avLst/>
              </a:prstGeom>
              <a:noFill/>
              <a:ln w="349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54" name="Line 25"/>
              <p:cNvSpPr>
                <a:spLocks noChangeShapeType="1"/>
              </p:cNvSpPr>
              <p:nvPr/>
            </p:nvSpPr>
            <p:spPr bwMode="auto">
              <a:xfrm flipH="1">
                <a:off x="3648" y="2736"/>
                <a:ext cx="1296" cy="0"/>
              </a:xfrm>
              <a:prstGeom prst="line">
                <a:avLst/>
              </a:prstGeom>
              <a:noFill/>
              <a:ln w="349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0732" name="AutoShape 26"/>
            <p:cNvSpPr/>
            <p:nvPr/>
          </p:nvSpPr>
          <p:spPr bwMode="auto">
            <a:xfrm rot="-5400000">
              <a:off x="4248" y="2328"/>
              <a:ext cx="96" cy="528"/>
            </a:xfrm>
            <a:prstGeom prst="leftBrace">
              <a:avLst>
                <a:gd name="adj1" fmla="val 45833"/>
                <a:gd name="adj2" fmla="val 50000"/>
              </a:avLst>
            </a:prstGeom>
            <a:noFill/>
            <a:ln w="222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30733" name="AutoShape 27"/>
            <p:cNvSpPr/>
            <p:nvPr/>
          </p:nvSpPr>
          <p:spPr bwMode="auto">
            <a:xfrm rot="-5400000">
              <a:off x="4968" y="2184"/>
              <a:ext cx="96" cy="816"/>
            </a:xfrm>
            <a:prstGeom prst="leftBrace">
              <a:avLst>
                <a:gd name="adj1" fmla="val 70833"/>
                <a:gd name="adj2" fmla="val 50000"/>
              </a:avLst>
            </a:prstGeom>
            <a:noFill/>
            <a:ln w="222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aphicFrame>
          <p:nvGraphicFramePr>
            <p:cNvPr id="30734" name="Object 28"/>
            <p:cNvGraphicFramePr>
              <a:graphicFrameLocks noChangeAspect="1"/>
            </p:cNvGraphicFramePr>
            <p:nvPr/>
          </p:nvGraphicFramePr>
          <p:xfrm>
            <a:off x="4800" y="2688"/>
            <a:ext cx="472" cy="271"/>
          </p:xfrm>
          <a:graphic>
            <a:graphicData uri="http://schemas.openxmlformats.org/presentationml/2006/ole">
              <mc:AlternateContent xmlns:mc="http://schemas.openxmlformats.org/markup-compatibility/2006">
                <mc:Choice xmlns:v="urn:schemas-microsoft-com:vml" Requires="v">
                  <p:oleObj spid="_x0000_s8212" name="Equation" r:id="rId2" imgW="419100" imgH="241300" progId="Equation.3">
                    <p:embed/>
                  </p:oleObj>
                </mc:Choice>
                <mc:Fallback>
                  <p:oleObj name="Equation" r:id="rId2" imgW="419100" imgH="241300" progId="Equation.3">
                    <p:embed/>
                    <p:pic>
                      <p:nvPicPr>
                        <p:cNvPr id="0" name="Object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 y="2688"/>
                          <a:ext cx="472" cy="271"/>
                        </a:xfrm>
                        <a:prstGeom prst="rect">
                          <a:avLst/>
                        </a:prstGeom>
                        <a:noFill/>
                        <a:ln>
                          <a:noFill/>
                        </a:ln>
                        <a:effectLst/>
                        <a:extLst>
                          <a:ext uri="{909E8E84-426E-40DD-AFC4-6F175D3DCCD1}">
                            <a14:hiddenFill xmlns:a14="http://schemas.microsoft.com/office/drawing/2010/main">
                              <a:solidFill>
                                <a:srgbClr val="CC99FF">
                                  <a:alpha val="50195"/>
                                </a:srgbClr>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35" name="Object 29"/>
            <p:cNvGraphicFramePr>
              <a:graphicFrameLocks noChangeAspect="1"/>
            </p:cNvGraphicFramePr>
            <p:nvPr/>
          </p:nvGraphicFramePr>
          <p:xfrm>
            <a:off x="4080" y="2688"/>
            <a:ext cx="502" cy="276"/>
          </p:xfrm>
          <a:graphic>
            <a:graphicData uri="http://schemas.openxmlformats.org/presentationml/2006/ole">
              <mc:AlternateContent xmlns:mc="http://schemas.openxmlformats.org/markup-compatibility/2006">
                <mc:Choice xmlns:v="urn:schemas-microsoft-com:vml" Requires="v">
                  <p:oleObj spid="_x0000_s8213" name="Equation" r:id="rId4" imgW="508000" imgH="279400" progId="Equation.3">
                    <p:embed/>
                  </p:oleObj>
                </mc:Choice>
                <mc:Fallback>
                  <p:oleObj name="Equation" r:id="rId4" imgW="508000" imgH="279400" progId="Equation.3">
                    <p:embed/>
                    <p:pic>
                      <p:nvPicPr>
                        <p:cNvPr id="0" name="Object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80" y="2688"/>
                          <a:ext cx="502" cy="276"/>
                        </a:xfrm>
                        <a:prstGeom prst="rect">
                          <a:avLst/>
                        </a:prstGeom>
                        <a:noFill/>
                        <a:ln>
                          <a:noFill/>
                        </a:ln>
                        <a:effectLst/>
                        <a:extLst>
                          <a:ext uri="{909E8E84-426E-40DD-AFC4-6F175D3DCCD1}">
                            <a14:hiddenFill xmlns:a14="http://schemas.microsoft.com/office/drawing/2010/main">
                              <a:solidFill>
                                <a:srgbClr val="66FF66">
                                  <a:alpha val="50195"/>
                                </a:srgbClr>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36" name="AutoShape 30"/>
            <p:cNvSpPr>
              <a:spLocks noChangeArrowheads="1"/>
            </p:cNvSpPr>
            <p:nvPr/>
          </p:nvSpPr>
          <p:spPr bwMode="auto">
            <a:xfrm>
              <a:off x="4032" y="1728"/>
              <a:ext cx="1296" cy="136"/>
            </a:xfrm>
            <a:prstGeom prst="leftArrow">
              <a:avLst>
                <a:gd name="adj1" fmla="val 50000"/>
                <a:gd name="adj2" fmla="val 238235"/>
              </a:avLst>
            </a:prstGeom>
            <a:solidFill>
              <a:srgbClr val="C0C0C0"/>
            </a:solidFill>
            <a:ln w="12700" cap="sq">
              <a:solidFill>
                <a:schemeClr val="tx1"/>
              </a:solidFill>
              <a:miter lim="800000"/>
              <a:headEnd type="none" w="sm" len="sm"/>
              <a:tailEnd type="none" w="sm" len="sm"/>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30737" name="Text Box 31"/>
            <p:cNvSpPr txBox="1">
              <a:spLocks noChangeArrowheads="1"/>
            </p:cNvSpPr>
            <p:nvPr/>
          </p:nvSpPr>
          <p:spPr bwMode="auto">
            <a:xfrm>
              <a:off x="5088" y="1392"/>
              <a:ext cx="513" cy="335"/>
            </a:xfrm>
            <a:prstGeom prst="rect">
              <a:avLst/>
            </a:prstGeom>
            <a:solidFill>
              <a:srgbClr val="CCFFCC"/>
            </a:solidFill>
            <a:ln w="12700" cap="sq">
              <a:solidFill>
                <a:srgbClr val="CCFFCC"/>
              </a:solidFill>
              <a:miter lim="800000"/>
              <a:headEnd type="none" w="sm" len="sm"/>
              <a:tailEnd type="none" w="sm" len="sm"/>
            </a:ln>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E</a:t>
              </a:r>
              <a:r>
                <a:rPr lang="en-US" altLang="zh-CN" sz="2800" b="1" i="1" baseline="-25000"/>
                <a:t>p</a:t>
              </a:r>
              <a:endParaRPr lang="en-US" altLang="zh-CN" sz="2800"/>
            </a:p>
          </p:txBody>
        </p:sp>
        <p:grpSp>
          <p:nvGrpSpPr>
            <p:cNvPr id="30738" name="Group 32"/>
            <p:cNvGrpSpPr/>
            <p:nvPr/>
          </p:nvGrpSpPr>
          <p:grpSpPr bwMode="auto">
            <a:xfrm>
              <a:off x="3024" y="1056"/>
              <a:ext cx="528" cy="1392"/>
              <a:chOff x="3024" y="1056"/>
              <a:chExt cx="528" cy="1392"/>
            </a:xfrm>
          </p:grpSpPr>
          <p:sp>
            <p:nvSpPr>
              <p:cNvPr id="30739" name="Line 33"/>
              <p:cNvSpPr>
                <a:spLocks noChangeShapeType="1"/>
              </p:cNvSpPr>
              <p:nvPr/>
            </p:nvSpPr>
            <p:spPr bwMode="auto">
              <a:xfrm>
                <a:off x="3120" y="1056"/>
                <a:ext cx="43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740" name="Line 34"/>
              <p:cNvSpPr>
                <a:spLocks noChangeShapeType="1"/>
              </p:cNvSpPr>
              <p:nvPr/>
            </p:nvSpPr>
            <p:spPr bwMode="auto">
              <a:xfrm flipH="1">
                <a:off x="3024" y="2448"/>
                <a:ext cx="384"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741" name="Line 35"/>
              <p:cNvSpPr>
                <a:spLocks noChangeShapeType="1"/>
              </p:cNvSpPr>
              <p:nvPr/>
            </p:nvSpPr>
            <p:spPr bwMode="auto">
              <a:xfrm>
                <a:off x="3312" y="1056"/>
                <a:ext cx="0" cy="1392"/>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42" name="Rectangle 36"/>
              <p:cNvSpPr>
                <a:spLocks noChangeArrowheads="1"/>
              </p:cNvSpPr>
              <p:nvPr/>
            </p:nvSpPr>
            <p:spPr bwMode="auto">
              <a:xfrm>
                <a:off x="3024" y="1584"/>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kumimoji="0" lang="en-US" altLang="zh-CN" b="1" i="1"/>
                  <a:t>H</a:t>
                </a:r>
                <a:endParaRPr kumimoji="0" lang="en-US" altLang="zh-CN" b="1" i="1"/>
              </a:p>
            </p:txBody>
          </p:sp>
        </p:grpSp>
      </p:grpSp>
      <p:sp>
        <p:nvSpPr>
          <p:cNvPr id="32805" name="Text Box 37"/>
          <p:cNvSpPr txBox="1">
            <a:spLocks noChangeArrowheads="1"/>
          </p:cNvSpPr>
          <p:nvPr/>
        </p:nvSpPr>
        <p:spPr bwMode="auto">
          <a:xfrm>
            <a:off x="1022350" y="2935288"/>
            <a:ext cx="15398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sz="2000" b="1" dirty="0" smtClean="0">
                <a:latin typeface="+mn-ea"/>
                <a:ea typeface="+mn-ea"/>
              </a:rPr>
              <a:t>总被动土压力</a:t>
            </a:r>
            <a:endParaRPr kumimoji="0" lang="zh-CN" altLang="en-US" sz="2000" b="1" dirty="0" smtClean="0">
              <a:latin typeface="+mn-ea"/>
              <a:ea typeface="+mn-ea"/>
            </a:endParaRPr>
          </a:p>
        </p:txBody>
      </p:sp>
      <p:graphicFrame>
        <p:nvGraphicFramePr>
          <p:cNvPr id="32806" name="Object 38"/>
          <p:cNvGraphicFramePr>
            <a:graphicFrameLocks noChangeAspect="1"/>
          </p:cNvGraphicFramePr>
          <p:nvPr/>
        </p:nvGraphicFramePr>
        <p:xfrm>
          <a:off x="673100" y="3979863"/>
          <a:ext cx="3230563" cy="766762"/>
        </p:xfrm>
        <a:graphic>
          <a:graphicData uri="http://schemas.openxmlformats.org/presentationml/2006/ole">
            <mc:AlternateContent xmlns:mc="http://schemas.openxmlformats.org/markup-compatibility/2006">
              <mc:Choice xmlns:v="urn:schemas-microsoft-com:vml" Requires="v">
                <p:oleObj spid="_x0000_s8214" name="Equation" r:id="rId6" imgW="1651000" imgH="393700" progId="Equation.3">
                  <p:embed/>
                </p:oleObj>
              </mc:Choice>
              <mc:Fallback>
                <p:oleObj name="Equation" r:id="rId6" imgW="1651000" imgH="393700" progId="Equation.3">
                  <p:embed/>
                  <p:pic>
                    <p:nvPicPr>
                      <p:cNvPr id="0" name="Object 3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3100" y="3979863"/>
                        <a:ext cx="3230563" cy="766762"/>
                      </a:xfrm>
                      <a:prstGeom prst="rect">
                        <a:avLst/>
                      </a:prstGeom>
                      <a:solidFill>
                        <a:srgbClr val="CCFFCC"/>
                      </a:solidFill>
                      <a:ln w="12700" cap="sq">
                        <a:solidFill>
                          <a:srgbClr val="CCFFCC"/>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 name="文本框 39"/>
          <p:cNvSpPr txBox="1">
            <a:spLocks noRot="1" noChangeAspect="1" noMove="1" noResize="1" noEditPoints="1" noAdjustHandles="1" noChangeArrowheads="1" noChangeShapeType="1" noTextEdit="1"/>
          </p:cNvSpPr>
          <p:nvPr/>
        </p:nvSpPr>
        <p:spPr>
          <a:xfrm>
            <a:off x="913999" y="1414029"/>
            <a:ext cx="6685810" cy="525337"/>
          </a:xfrm>
          <a:prstGeom prst="rect">
            <a:avLst/>
          </a:prstGeom>
          <a:blipFill>
            <a:blip r:embed="rId8"/>
            <a:stretch>
              <a:fillRect/>
            </a:stretch>
          </a:blipFill>
        </p:spPr>
        <p:txBody>
          <a:bodyPr/>
          <a:lstStyle/>
          <a:p>
            <a:r>
              <a:rPr lang="zh-CN" altLang="en-US">
                <a:noFill/>
              </a:rPr>
              <a:t> </a:t>
            </a:r>
            <a:endParaRPr lang="zh-CN" altLang="en-US">
              <a:noFill/>
            </a:endParaRPr>
          </a:p>
        </p:txBody>
      </p:sp>
      <p:sp>
        <p:nvSpPr>
          <p:cNvPr id="41" name="Rectangle 6"/>
          <p:cNvSpPr>
            <a:spLocks noChangeArrowheads="1"/>
          </p:cNvSpPr>
          <p:nvPr/>
        </p:nvSpPr>
        <p:spPr bwMode="auto">
          <a:xfrm>
            <a:off x="-3175" y="-9842"/>
            <a:ext cx="3617913"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朗肯土压力理论</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771"/>
                                        </p:tgtEl>
                                        <p:attrNameLst>
                                          <p:attrName>style.visibility</p:attrName>
                                        </p:attrNameLst>
                                      </p:cBhvr>
                                      <p:to>
                                        <p:strVal val="visible"/>
                                      </p:to>
                                    </p:set>
                                    <p:anim calcmode="lin" valueType="num">
                                      <p:cBhvr additive="base">
                                        <p:cTn id="7" dur="500" fill="hold"/>
                                        <p:tgtEl>
                                          <p:spTgt spid="32771"/>
                                        </p:tgtEl>
                                        <p:attrNameLst>
                                          <p:attrName>ppt_x</p:attrName>
                                        </p:attrNameLst>
                                      </p:cBhvr>
                                      <p:tavLst>
                                        <p:tav tm="0">
                                          <p:val>
                                            <p:strVal val="0-#ppt_w/2"/>
                                          </p:val>
                                        </p:tav>
                                        <p:tav tm="100000">
                                          <p:val>
                                            <p:strVal val="#ppt_x"/>
                                          </p:val>
                                        </p:tav>
                                      </p:tavLst>
                                    </p:anim>
                                    <p:anim calcmode="lin" valueType="num">
                                      <p:cBhvr additive="base">
                                        <p:cTn id="8" dur="500" fill="hold"/>
                                        <p:tgtEl>
                                          <p:spTgt spid="3277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2805"/>
                                        </p:tgtEl>
                                        <p:attrNameLst>
                                          <p:attrName>style.visibility</p:attrName>
                                        </p:attrNameLst>
                                      </p:cBhvr>
                                      <p:to>
                                        <p:strVal val="visible"/>
                                      </p:to>
                                    </p:set>
                                    <p:animEffect transition="in" filter="wipe(left)">
                                      <p:cBhvr>
                                        <p:cTn id="13" dur="500"/>
                                        <p:tgtEl>
                                          <p:spTgt spid="3280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32806"/>
                                        </p:tgtEl>
                                        <p:attrNameLst>
                                          <p:attrName>style.visibility</p:attrName>
                                        </p:attrNameLst>
                                      </p:cBhvr>
                                      <p:to>
                                        <p:strVal val="visible"/>
                                      </p:to>
                                    </p:set>
                                    <p:animEffect transition="in" filter="wipe(left)">
                                      <p:cBhvr>
                                        <p:cTn id="18" dur="500"/>
                                        <p:tgtEl>
                                          <p:spTgt spid="328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autoUpdateAnimBg="0"/>
      <p:bldP spid="32805"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7"/>
          <p:cNvSpPr txBox="1">
            <a:spLocks noChangeArrowheads="1"/>
          </p:cNvSpPr>
          <p:nvPr/>
        </p:nvSpPr>
        <p:spPr bwMode="auto">
          <a:xfrm>
            <a:off x="1012825" y="622300"/>
            <a:ext cx="2614613" cy="369888"/>
          </a:xfrm>
          <a:prstGeom prst="rect">
            <a:avLst/>
          </a:prstGeom>
          <a:solidFill>
            <a:srgbClr val="FFC000"/>
          </a:solidFill>
          <a:ln>
            <a:noFill/>
          </a:ln>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b="1" dirty="0" smtClean="0">
                <a:latin typeface="+mn-ea"/>
                <a:ea typeface="+mn-ea"/>
              </a:rPr>
              <a:t>有超载时的土压力</a:t>
            </a:r>
            <a:endParaRPr kumimoji="0" lang="zh-CN" altLang="en-US" b="1" dirty="0" smtClean="0">
              <a:latin typeface="+mn-ea"/>
              <a:ea typeface="+mn-ea"/>
            </a:endParaRPr>
          </a:p>
        </p:txBody>
      </p:sp>
      <p:grpSp>
        <p:nvGrpSpPr>
          <p:cNvPr id="31747" name="Group 104"/>
          <p:cNvGrpSpPr/>
          <p:nvPr/>
        </p:nvGrpSpPr>
        <p:grpSpPr bwMode="auto">
          <a:xfrm>
            <a:off x="596900" y="3863975"/>
            <a:ext cx="3735388" cy="2036763"/>
            <a:chOff x="158" y="1501"/>
            <a:chExt cx="2584" cy="1248"/>
          </a:xfrm>
        </p:grpSpPr>
        <p:graphicFrame>
          <p:nvGraphicFramePr>
            <p:cNvPr id="31838" name="Object 64"/>
            <p:cNvGraphicFramePr>
              <a:graphicFrameLocks noChangeAspect="1"/>
            </p:cNvGraphicFramePr>
            <p:nvPr/>
          </p:nvGraphicFramePr>
          <p:xfrm>
            <a:off x="158" y="1933"/>
            <a:ext cx="2450" cy="362"/>
          </p:xfrm>
          <a:graphic>
            <a:graphicData uri="http://schemas.openxmlformats.org/presentationml/2006/ole">
              <mc:AlternateContent xmlns:mc="http://schemas.openxmlformats.org/markup-compatibility/2006">
                <mc:Choice xmlns:v="urn:schemas-microsoft-com:vml" Requires="v">
                  <p:oleObj spid="_x0000_s9248" name="数式" r:id="rId1" imgW="1879600" imgH="266700" progId="Equation.3">
                    <p:embed/>
                  </p:oleObj>
                </mc:Choice>
                <mc:Fallback>
                  <p:oleObj name="数式" r:id="rId1" imgW="1879600" imgH="266700" progId="Equation.3">
                    <p:embed/>
                    <p:pic>
                      <p:nvPicPr>
                        <p:cNvPr id="0" name="Object 6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 y="1933"/>
                          <a:ext cx="2450" cy="362"/>
                        </a:xfrm>
                        <a:prstGeom prst="rect">
                          <a:avLst/>
                        </a:prstGeom>
                        <a:noFill/>
                        <a:ln w="25400" cap="sq">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839" name="Object 65"/>
            <p:cNvGraphicFramePr>
              <a:graphicFrameLocks noChangeAspect="1"/>
            </p:cNvGraphicFramePr>
            <p:nvPr/>
          </p:nvGraphicFramePr>
          <p:xfrm>
            <a:off x="158" y="1501"/>
            <a:ext cx="1097" cy="293"/>
          </p:xfrm>
          <a:graphic>
            <a:graphicData uri="http://schemas.openxmlformats.org/presentationml/2006/ole">
              <mc:AlternateContent xmlns:mc="http://schemas.openxmlformats.org/markup-compatibility/2006">
                <mc:Choice xmlns:v="urn:schemas-microsoft-com:vml" Requires="v">
                  <p:oleObj spid="_x0000_s9249" name="Equation" r:id="rId3" imgW="799465" imgH="215900" progId="Equation.3">
                    <p:embed/>
                  </p:oleObj>
                </mc:Choice>
                <mc:Fallback>
                  <p:oleObj name="Equation" r:id="rId3" imgW="799465" imgH="215900" progId="Equation.3">
                    <p:embed/>
                    <p:pic>
                      <p:nvPicPr>
                        <p:cNvPr id="0" name="Object 6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 y="1501"/>
                          <a:ext cx="1097" cy="293"/>
                        </a:xfrm>
                        <a:prstGeom prst="rect">
                          <a:avLst/>
                        </a:prstGeom>
                        <a:noFill/>
                        <a:ln w="25400" cap="sq">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840" name="Object 66"/>
            <p:cNvGraphicFramePr>
              <a:graphicFrameLocks noChangeAspect="1"/>
            </p:cNvGraphicFramePr>
            <p:nvPr/>
          </p:nvGraphicFramePr>
          <p:xfrm>
            <a:off x="793" y="2387"/>
            <a:ext cx="1949" cy="362"/>
          </p:xfrm>
          <a:graphic>
            <a:graphicData uri="http://schemas.openxmlformats.org/presentationml/2006/ole">
              <mc:AlternateContent xmlns:mc="http://schemas.openxmlformats.org/markup-compatibility/2006">
                <mc:Choice xmlns:v="urn:schemas-microsoft-com:vml" Requires="v">
                  <p:oleObj spid="_x0000_s9250" name="Equation" r:id="rId5" imgW="1422400" imgH="266700" progId="Equation.3">
                    <p:embed/>
                  </p:oleObj>
                </mc:Choice>
                <mc:Fallback>
                  <p:oleObj name="Equation" r:id="rId5" imgW="1422400" imgH="266700" progId="Equation.3">
                    <p:embed/>
                    <p:pic>
                      <p:nvPicPr>
                        <p:cNvPr id="0" name="Object 6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3" y="2387"/>
                          <a:ext cx="1949" cy="362"/>
                        </a:xfrm>
                        <a:prstGeom prst="rect">
                          <a:avLst/>
                        </a:prstGeom>
                        <a:noFill/>
                        <a:ln w="25400" cap="sq">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1748" name="Group 105"/>
          <p:cNvGrpSpPr/>
          <p:nvPr/>
        </p:nvGrpSpPr>
        <p:grpSpPr bwMode="auto">
          <a:xfrm>
            <a:off x="4419600" y="841375"/>
            <a:ext cx="4113213" cy="2919413"/>
            <a:chOff x="2426" y="119"/>
            <a:chExt cx="3068" cy="2041"/>
          </a:xfrm>
        </p:grpSpPr>
        <p:graphicFrame>
          <p:nvGraphicFramePr>
            <p:cNvPr id="31768" name="Object 81"/>
            <p:cNvGraphicFramePr>
              <a:graphicFrameLocks noChangeAspect="1"/>
            </p:cNvGraphicFramePr>
            <p:nvPr/>
          </p:nvGraphicFramePr>
          <p:xfrm>
            <a:off x="3885" y="1863"/>
            <a:ext cx="681" cy="297"/>
          </p:xfrm>
          <a:graphic>
            <a:graphicData uri="http://schemas.openxmlformats.org/presentationml/2006/ole">
              <mc:AlternateContent xmlns:mc="http://schemas.openxmlformats.org/markup-compatibility/2006">
                <mc:Choice xmlns:v="urn:schemas-microsoft-com:vml" Requires="v">
                  <p:oleObj spid="_x0000_s9251" name="公式" r:id="rId7" imgW="913765" imgH="266700" progId="Equation.3">
                    <p:embed/>
                  </p:oleObj>
                </mc:Choice>
                <mc:Fallback>
                  <p:oleObj name="公式" r:id="rId7" imgW="913765" imgH="266700" progId="Equation.3">
                    <p:embed/>
                    <p:pic>
                      <p:nvPicPr>
                        <p:cNvPr id="0" name="Object 8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85" y="1863"/>
                          <a:ext cx="681" cy="297"/>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69" name="Object 82"/>
            <p:cNvGraphicFramePr>
              <a:graphicFrameLocks noChangeAspect="1"/>
            </p:cNvGraphicFramePr>
            <p:nvPr/>
          </p:nvGraphicFramePr>
          <p:xfrm>
            <a:off x="4694" y="1863"/>
            <a:ext cx="425" cy="290"/>
          </p:xfrm>
          <a:graphic>
            <a:graphicData uri="http://schemas.openxmlformats.org/presentationml/2006/ole">
              <mc:AlternateContent xmlns:mc="http://schemas.openxmlformats.org/markup-compatibility/2006">
                <mc:Choice xmlns:v="urn:schemas-microsoft-com:vml" Requires="v">
                  <p:oleObj spid="_x0000_s9252" name="公式" r:id="rId9" imgW="330200" imgH="228600" progId="Equation.3">
                    <p:embed/>
                  </p:oleObj>
                </mc:Choice>
                <mc:Fallback>
                  <p:oleObj name="公式" r:id="rId9" imgW="330200" imgH="228600" progId="Equation.3">
                    <p:embed/>
                    <p:pic>
                      <p:nvPicPr>
                        <p:cNvPr id="0" name="Object 8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94" y="1863"/>
                          <a:ext cx="425" cy="290"/>
                        </a:xfrm>
                        <a:prstGeom prst="rect">
                          <a:avLst/>
                        </a:prstGeom>
                        <a:solidFill>
                          <a:srgbClr val="CCFFCC"/>
                        </a:solidFill>
                        <a:ln w="12700" cap="sq">
                          <a:solidFill>
                            <a:srgbClr val="CCFFCC"/>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1770" name="Group 2"/>
            <p:cNvGrpSpPr/>
            <p:nvPr/>
          </p:nvGrpSpPr>
          <p:grpSpPr bwMode="auto">
            <a:xfrm>
              <a:off x="2836" y="416"/>
              <a:ext cx="2388" cy="1318"/>
              <a:chOff x="2832" y="912"/>
              <a:chExt cx="2544" cy="1392"/>
            </a:xfrm>
          </p:grpSpPr>
          <p:grpSp>
            <p:nvGrpSpPr>
              <p:cNvPr id="31834" name="Group 3"/>
              <p:cNvGrpSpPr/>
              <p:nvPr/>
            </p:nvGrpSpPr>
            <p:grpSpPr bwMode="auto">
              <a:xfrm>
                <a:off x="2832" y="912"/>
                <a:ext cx="2544" cy="1392"/>
                <a:chOff x="2832" y="912"/>
                <a:chExt cx="2544" cy="1392"/>
              </a:xfrm>
            </p:grpSpPr>
            <p:sp>
              <p:nvSpPr>
                <p:cNvPr id="31836" name="AutoShape 4"/>
                <p:cNvSpPr>
                  <a:spLocks noChangeArrowheads="1"/>
                </p:cNvSpPr>
                <p:nvPr/>
              </p:nvSpPr>
              <p:spPr bwMode="auto">
                <a:xfrm rot="10800000">
                  <a:off x="2832" y="912"/>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CCFFCC"/>
                </a:solidFill>
                <a:ln w="34925">
                  <a:solidFill>
                    <a:schemeClr val="tx1"/>
                  </a:solidFill>
                  <a:miter lim="800000"/>
                </a:ln>
              </p:spPr>
              <p:txBody>
                <a:bodyPr wrap="none" anchor="ctr"/>
                <a:lstStyle/>
                <a:p>
                  <a:endParaRPr lang="zh-CN" altLang="en-US"/>
                </a:p>
              </p:txBody>
            </p:sp>
            <p:sp>
              <p:nvSpPr>
                <p:cNvPr id="31837" name="Rectangle 5"/>
                <p:cNvSpPr>
                  <a:spLocks noChangeArrowheads="1"/>
                </p:cNvSpPr>
                <p:nvPr/>
              </p:nvSpPr>
              <p:spPr bwMode="auto">
                <a:xfrm>
                  <a:off x="3264" y="912"/>
                  <a:ext cx="2112" cy="1392"/>
                </a:xfrm>
                <a:prstGeom prst="rect">
                  <a:avLst/>
                </a:prstGeom>
                <a:solidFill>
                  <a:srgbClr val="CCFFCC"/>
                </a:solidFill>
                <a:ln w="9525">
                  <a:solidFill>
                    <a:srgbClr val="CCFFCC"/>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sp>
            <p:nvSpPr>
              <p:cNvPr id="31835" name="Line 6"/>
              <p:cNvSpPr>
                <a:spLocks noChangeShapeType="1"/>
              </p:cNvSpPr>
              <p:nvPr/>
            </p:nvSpPr>
            <p:spPr bwMode="auto">
              <a:xfrm>
                <a:off x="3264" y="912"/>
                <a:ext cx="0" cy="1392"/>
              </a:xfrm>
              <a:prstGeom prst="line">
                <a:avLst/>
              </a:prstGeom>
              <a:noFill/>
              <a:ln w="349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1771" name="Group 8"/>
            <p:cNvGrpSpPr/>
            <p:nvPr/>
          </p:nvGrpSpPr>
          <p:grpSpPr bwMode="auto">
            <a:xfrm>
              <a:off x="3240" y="395"/>
              <a:ext cx="811" cy="1310"/>
              <a:chOff x="3361" y="1056"/>
              <a:chExt cx="863" cy="1398"/>
            </a:xfrm>
          </p:grpSpPr>
          <p:sp>
            <p:nvSpPr>
              <p:cNvPr id="31823" name="Line 9"/>
              <p:cNvSpPr>
                <a:spLocks noChangeShapeType="1"/>
              </p:cNvSpPr>
              <p:nvPr/>
            </p:nvSpPr>
            <p:spPr bwMode="auto">
              <a:xfrm flipV="1">
                <a:off x="3361" y="1063"/>
                <a:ext cx="863" cy="139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31824" name="Group 10"/>
              <p:cNvGrpSpPr/>
              <p:nvPr/>
            </p:nvGrpSpPr>
            <p:grpSpPr bwMode="auto">
              <a:xfrm>
                <a:off x="3361" y="1056"/>
                <a:ext cx="757" cy="1166"/>
                <a:chOff x="3361" y="1056"/>
                <a:chExt cx="757" cy="1166"/>
              </a:xfrm>
            </p:grpSpPr>
            <p:sp>
              <p:nvSpPr>
                <p:cNvPr id="31825" name="Line 11"/>
                <p:cNvSpPr>
                  <a:spLocks noChangeShapeType="1"/>
                </p:cNvSpPr>
                <p:nvPr/>
              </p:nvSpPr>
              <p:spPr bwMode="auto">
                <a:xfrm flipV="1">
                  <a:off x="3361" y="1063"/>
                  <a:ext cx="621" cy="1000"/>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31826" name="Line 12"/>
                <p:cNvSpPr>
                  <a:spLocks noChangeShapeType="1"/>
                </p:cNvSpPr>
                <p:nvPr/>
              </p:nvSpPr>
              <p:spPr bwMode="auto">
                <a:xfrm flipV="1">
                  <a:off x="3361" y="1056"/>
                  <a:ext cx="371" cy="623"/>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31827" name="Line 13"/>
                <p:cNvSpPr>
                  <a:spLocks noChangeShapeType="1"/>
                </p:cNvSpPr>
                <p:nvPr/>
              </p:nvSpPr>
              <p:spPr bwMode="auto">
                <a:xfrm flipV="1">
                  <a:off x="3361" y="1063"/>
                  <a:ext cx="121" cy="218"/>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31828" name="Line 14"/>
                <p:cNvSpPr>
                  <a:spLocks noChangeShapeType="1"/>
                </p:cNvSpPr>
                <p:nvPr/>
              </p:nvSpPr>
              <p:spPr bwMode="auto">
                <a:xfrm>
                  <a:off x="3361" y="1259"/>
                  <a:ext cx="394" cy="565"/>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31829" name="Line 15"/>
                <p:cNvSpPr>
                  <a:spLocks noChangeShapeType="1"/>
                </p:cNvSpPr>
                <p:nvPr/>
              </p:nvSpPr>
              <p:spPr bwMode="auto">
                <a:xfrm>
                  <a:off x="3505" y="1070"/>
                  <a:ext cx="363" cy="529"/>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31830" name="Line 16"/>
                <p:cNvSpPr>
                  <a:spLocks noChangeShapeType="1"/>
                </p:cNvSpPr>
                <p:nvPr/>
              </p:nvSpPr>
              <p:spPr bwMode="auto">
                <a:xfrm>
                  <a:off x="3739" y="1063"/>
                  <a:ext cx="265" cy="370"/>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31831" name="Line 17"/>
                <p:cNvSpPr>
                  <a:spLocks noChangeShapeType="1"/>
                </p:cNvSpPr>
                <p:nvPr/>
              </p:nvSpPr>
              <p:spPr bwMode="auto">
                <a:xfrm>
                  <a:off x="3369" y="1643"/>
                  <a:ext cx="264" cy="398"/>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31832" name="Line 18"/>
                <p:cNvSpPr>
                  <a:spLocks noChangeShapeType="1"/>
                </p:cNvSpPr>
                <p:nvPr/>
              </p:nvSpPr>
              <p:spPr bwMode="auto">
                <a:xfrm>
                  <a:off x="3361" y="2005"/>
                  <a:ext cx="151" cy="217"/>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31833" name="Line 19"/>
                <p:cNvSpPr>
                  <a:spLocks noChangeShapeType="1"/>
                </p:cNvSpPr>
                <p:nvPr/>
              </p:nvSpPr>
              <p:spPr bwMode="auto">
                <a:xfrm>
                  <a:off x="3997" y="1056"/>
                  <a:ext cx="121" cy="181"/>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31772" name="AutoShape 20"/>
            <p:cNvSpPr>
              <a:spLocks noChangeArrowheads="1"/>
            </p:cNvSpPr>
            <p:nvPr/>
          </p:nvSpPr>
          <p:spPr bwMode="auto">
            <a:xfrm>
              <a:off x="2426" y="889"/>
              <a:ext cx="316" cy="315"/>
            </a:xfrm>
            <a:prstGeom prst="leftArrow">
              <a:avLst>
                <a:gd name="adj1" fmla="val 50000"/>
                <a:gd name="adj2" fmla="val 25079"/>
              </a:avLst>
            </a:prstGeom>
            <a:solidFill>
              <a:srgbClr val="C0C0C0"/>
            </a:solidFill>
            <a:ln w="9525">
              <a:solidFill>
                <a:schemeClr val="folHlink"/>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nvGrpSpPr>
            <p:cNvPr id="31773" name="Group 21"/>
            <p:cNvGrpSpPr/>
            <p:nvPr/>
          </p:nvGrpSpPr>
          <p:grpSpPr bwMode="auto">
            <a:xfrm>
              <a:off x="3284" y="844"/>
              <a:ext cx="541" cy="540"/>
              <a:chOff x="3312" y="1392"/>
              <a:chExt cx="576" cy="576"/>
            </a:xfrm>
          </p:grpSpPr>
          <p:sp>
            <p:nvSpPr>
              <p:cNvPr id="31818" name="Rectangle 22"/>
              <p:cNvSpPr>
                <a:spLocks noChangeArrowheads="1"/>
              </p:cNvSpPr>
              <p:nvPr/>
            </p:nvSpPr>
            <p:spPr bwMode="auto">
              <a:xfrm>
                <a:off x="3504" y="1584"/>
                <a:ext cx="192" cy="192"/>
              </a:xfrm>
              <a:prstGeom prst="rect">
                <a:avLst/>
              </a:prstGeom>
              <a:solidFill>
                <a:srgbClr val="FFFFFF"/>
              </a:solidFill>
              <a:ln w="9525">
                <a:solidFill>
                  <a:srgbClr val="000000"/>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31819" name="Line 23"/>
              <p:cNvSpPr>
                <a:spLocks noChangeShapeType="1"/>
              </p:cNvSpPr>
              <p:nvPr/>
            </p:nvSpPr>
            <p:spPr bwMode="auto">
              <a:xfrm>
                <a:off x="3312" y="1680"/>
                <a:ext cx="192" cy="0"/>
              </a:xfrm>
              <a:prstGeom prst="line">
                <a:avLst/>
              </a:prstGeom>
              <a:noFill/>
              <a:ln w="222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820" name="Line 24"/>
              <p:cNvSpPr>
                <a:spLocks noChangeShapeType="1"/>
              </p:cNvSpPr>
              <p:nvPr/>
            </p:nvSpPr>
            <p:spPr bwMode="auto">
              <a:xfrm rot="10800000">
                <a:off x="3696" y="1680"/>
                <a:ext cx="192" cy="0"/>
              </a:xfrm>
              <a:prstGeom prst="line">
                <a:avLst/>
              </a:prstGeom>
              <a:noFill/>
              <a:ln w="222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821" name="Line 25"/>
              <p:cNvSpPr>
                <a:spLocks noChangeShapeType="1"/>
              </p:cNvSpPr>
              <p:nvPr/>
            </p:nvSpPr>
            <p:spPr bwMode="auto">
              <a:xfrm rot="-5400000">
                <a:off x="3504" y="1872"/>
                <a:ext cx="192" cy="0"/>
              </a:xfrm>
              <a:prstGeom prst="line">
                <a:avLst/>
              </a:prstGeom>
              <a:noFill/>
              <a:ln w="222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822" name="Line 26"/>
              <p:cNvSpPr>
                <a:spLocks noChangeShapeType="1"/>
              </p:cNvSpPr>
              <p:nvPr/>
            </p:nvSpPr>
            <p:spPr bwMode="auto">
              <a:xfrm rot="5400000">
                <a:off x="3504" y="1488"/>
                <a:ext cx="192" cy="0"/>
              </a:xfrm>
              <a:prstGeom prst="line">
                <a:avLst/>
              </a:prstGeom>
              <a:noFill/>
              <a:ln w="222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1774" name="Text Box 27"/>
            <p:cNvSpPr txBox="1">
              <a:spLocks noChangeArrowheads="1"/>
            </p:cNvSpPr>
            <p:nvPr/>
          </p:nvSpPr>
          <p:spPr bwMode="auto">
            <a:xfrm>
              <a:off x="3418" y="575"/>
              <a:ext cx="248" cy="183"/>
            </a:xfrm>
            <a:prstGeom prst="rect">
              <a:avLst/>
            </a:prstGeom>
            <a:solidFill>
              <a:srgbClr val="C0C0C0"/>
            </a:solidFill>
            <a:ln w="9525">
              <a:solidFill>
                <a:srgbClr val="CCFFCC"/>
              </a:solidFill>
              <a:miter lim="800000"/>
            </a:ln>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sz="1800">
                  <a:latin typeface="Symbol" panose="05050102010706020507" pitchFamily="18" charset="2"/>
                </a:rPr>
                <a:t> s</a:t>
              </a:r>
              <a:r>
                <a:rPr kumimoji="0" lang="en-US" altLang="zh-CN" sz="1800" baseline="-25000">
                  <a:latin typeface="Arial" panose="020B0604020202020204" pitchFamily="34" charset="0"/>
                </a:rPr>
                <a:t>1</a:t>
              </a:r>
              <a:endParaRPr kumimoji="0" lang="en-US" altLang="zh-CN" sz="1800" baseline="-25000">
                <a:latin typeface="Arial" panose="020B0604020202020204" pitchFamily="34" charset="0"/>
              </a:endParaRPr>
            </a:p>
          </p:txBody>
        </p:sp>
        <p:sp>
          <p:nvSpPr>
            <p:cNvPr id="31775" name="Rectangle 28"/>
            <p:cNvSpPr>
              <a:spLocks noChangeArrowheads="1"/>
            </p:cNvSpPr>
            <p:nvPr/>
          </p:nvSpPr>
          <p:spPr bwMode="auto">
            <a:xfrm>
              <a:off x="3329" y="1474"/>
              <a:ext cx="679"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en-US" altLang="zh-CN" sz="2000" i="1">
                  <a:ea typeface="楷体_GB2312" pitchFamily="49" charset="-122"/>
                </a:rPr>
                <a:t>45</a:t>
              </a:r>
              <a:r>
                <a:rPr lang="en-US" altLang="zh-CN" sz="2000" i="1" baseline="30000">
                  <a:sym typeface="Symbol" panose="05050102010706020507" pitchFamily="18" charset="2"/>
                </a:rPr>
                <a:t></a:t>
              </a:r>
              <a:r>
                <a:rPr lang="en-US" altLang="zh-CN" sz="2000">
                  <a:sym typeface="Symbol" panose="05050102010706020507" pitchFamily="18" charset="2"/>
                </a:rPr>
                <a:t>+</a:t>
              </a:r>
              <a:r>
                <a:rPr lang="el-GR" altLang="zh-CN" sz="2000">
                  <a:sym typeface="Symbol" panose="05050102010706020507" pitchFamily="18" charset="2"/>
                </a:rPr>
                <a:t>φ</a:t>
              </a:r>
              <a:r>
                <a:rPr lang="en-US" altLang="zh-CN" sz="2000" i="1">
                  <a:sym typeface="Symbol" panose="05050102010706020507" pitchFamily="18" charset="2"/>
                </a:rPr>
                <a:t>/2</a:t>
              </a:r>
              <a:endParaRPr lang="en-US" altLang="zh-CN" sz="2000" i="1">
                <a:sym typeface="Symbol" panose="05050102010706020507" pitchFamily="18" charset="2"/>
              </a:endParaRPr>
            </a:p>
          </p:txBody>
        </p:sp>
        <p:sp>
          <p:nvSpPr>
            <p:cNvPr id="31776" name="Text Box 40"/>
            <p:cNvSpPr txBox="1">
              <a:spLocks noChangeArrowheads="1"/>
            </p:cNvSpPr>
            <p:nvPr/>
          </p:nvSpPr>
          <p:spPr bwMode="auto">
            <a:xfrm>
              <a:off x="3986" y="587"/>
              <a:ext cx="128"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sz="3200"/>
                <a:t>z</a:t>
              </a:r>
              <a:endParaRPr kumimoji="0" lang="en-US" altLang="zh-CN" sz="3200"/>
            </a:p>
          </p:txBody>
        </p:sp>
        <p:grpSp>
          <p:nvGrpSpPr>
            <p:cNvPr id="31777" name="Group 41"/>
            <p:cNvGrpSpPr/>
            <p:nvPr/>
          </p:nvGrpSpPr>
          <p:grpSpPr bwMode="auto">
            <a:xfrm>
              <a:off x="3916" y="395"/>
              <a:ext cx="361" cy="719"/>
              <a:chOff x="3984" y="912"/>
              <a:chExt cx="384" cy="768"/>
            </a:xfrm>
          </p:grpSpPr>
          <p:sp>
            <p:nvSpPr>
              <p:cNvPr id="31816" name="Line 42"/>
              <p:cNvSpPr>
                <a:spLocks noChangeShapeType="1"/>
              </p:cNvSpPr>
              <p:nvPr/>
            </p:nvSpPr>
            <p:spPr bwMode="auto">
              <a:xfrm>
                <a:off x="4176" y="912"/>
                <a:ext cx="0" cy="768"/>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817" name="Line 43"/>
              <p:cNvSpPr>
                <a:spLocks noChangeShapeType="1"/>
              </p:cNvSpPr>
              <p:nvPr/>
            </p:nvSpPr>
            <p:spPr bwMode="auto">
              <a:xfrm>
                <a:off x="3984" y="1680"/>
                <a:ext cx="384"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1778" name="Text Box 46"/>
            <p:cNvSpPr txBox="1">
              <a:spLocks noChangeArrowheads="1"/>
            </p:cNvSpPr>
            <p:nvPr/>
          </p:nvSpPr>
          <p:spPr bwMode="auto">
            <a:xfrm>
              <a:off x="2788" y="979"/>
              <a:ext cx="496" cy="242"/>
            </a:xfrm>
            <a:prstGeom prst="rect">
              <a:avLst/>
            </a:prstGeom>
            <a:solidFill>
              <a:srgbClr val="C0C0C0"/>
            </a:solidFill>
            <a:ln w="9525">
              <a:solidFill>
                <a:srgbClr val="CCFFCC"/>
              </a:solidFill>
              <a:miter lim="800000"/>
            </a:ln>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i="1">
                  <a:solidFill>
                    <a:schemeClr val="accent1"/>
                  </a:solidFill>
                </a:rPr>
                <a:t> </a:t>
              </a:r>
              <a:r>
                <a:rPr kumimoji="0" lang="en-US" altLang="zh-CN" sz="2000" i="1"/>
                <a:t>p</a:t>
              </a:r>
              <a:r>
                <a:rPr kumimoji="0" lang="en-US" altLang="zh-CN" sz="2000" i="1" baseline="-25000"/>
                <a:t>a</a:t>
              </a:r>
              <a:r>
                <a:rPr kumimoji="0" lang="en-US" altLang="zh-CN" sz="2000"/>
                <a:t>=</a:t>
              </a:r>
              <a:r>
                <a:rPr kumimoji="0" lang="en-US" altLang="zh-CN" sz="2000">
                  <a:latin typeface="Symbol" panose="05050102010706020507" pitchFamily="18" charset="2"/>
                </a:rPr>
                <a:t>s</a:t>
              </a:r>
              <a:r>
                <a:rPr kumimoji="0" lang="en-US" altLang="zh-CN" sz="2000" baseline="-25000"/>
                <a:t>3</a:t>
              </a:r>
              <a:endParaRPr kumimoji="0" lang="en-US" altLang="zh-CN" sz="2000" baseline="-25000"/>
            </a:p>
          </p:txBody>
        </p:sp>
        <p:sp>
          <p:nvSpPr>
            <p:cNvPr id="31779" name="Rectangle 48"/>
            <p:cNvSpPr>
              <a:spLocks noChangeArrowheads="1"/>
            </p:cNvSpPr>
            <p:nvPr/>
          </p:nvSpPr>
          <p:spPr bwMode="auto">
            <a:xfrm>
              <a:off x="3219" y="161"/>
              <a:ext cx="1985" cy="233"/>
            </a:xfrm>
            <a:prstGeom prst="rect">
              <a:avLst/>
            </a:prstGeom>
            <a:solidFill>
              <a:srgbClr val="CCFFCC">
                <a:alpha val="50195"/>
              </a:srgbClr>
            </a:solidFill>
            <a:ln w="38100">
              <a:solidFill>
                <a:srgbClr val="CCFFCC"/>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31780" name="Rectangle 63"/>
            <p:cNvSpPr>
              <a:spLocks noChangeArrowheads="1"/>
            </p:cNvSpPr>
            <p:nvPr/>
          </p:nvSpPr>
          <p:spPr bwMode="auto">
            <a:xfrm>
              <a:off x="5266" y="119"/>
              <a:ext cx="228"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en-US" altLang="zh-CN">
                  <a:sym typeface="Symbol" panose="05050102010706020507" pitchFamily="18" charset="2"/>
                </a:rPr>
                <a:t>q</a:t>
              </a:r>
              <a:endParaRPr lang="en-US" altLang="zh-CN">
                <a:sym typeface="Symbol" panose="05050102010706020507" pitchFamily="18" charset="2"/>
              </a:endParaRPr>
            </a:p>
          </p:txBody>
        </p:sp>
        <p:grpSp>
          <p:nvGrpSpPr>
            <p:cNvPr id="31781" name="Group 68"/>
            <p:cNvGrpSpPr/>
            <p:nvPr/>
          </p:nvGrpSpPr>
          <p:grpSpPr bwMode="auto">
            <a:xfrm>
              <a:off x="4157" y="416"/>
              <a:ext cx="1034" cy="1305"/>
              <a:chOff x="3648" y="1440"/>
              <a:chExt cx="1344" cy="1392"/>
            </a:xfrm>
          </p:grpSpPr>
          <p:sp>
            <p:nvSpPr>
              <p:cNvPr id="31804" name="Line 69"/>
              <p:cNvSpPr>
                <a:spLocks noChangeShapeType="1"/>
              </p:cNvSpPr>
              <p:nvPr/>
            </p:nvSpPr>
            <p:spPr bwMode="auto">
              <a:xfrm flipH="1">
                <a:off x="3648" y="2832"/>
                <a:ext cx="1344" cy="0"/>
              </a:xfrm>
              <a:prstGeom prst="line">
                <a:avLst/>
              </a:prstGeom>
              <a:noFill/>
              <a:ln w="349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805" name="Line 70"/>
              <p:cNvSpPr>
                <a:spLocks noChangeShapeType="1"/>
              </p:cNvSpPr>
              <p:nvPr/>
            </p:nvSpPr>
            <p:spPr bwMode="auto">
              <a:xfrm flipH="1">
                <a:off x="3648" y="1440"/>
                <a:ext cx="480" cy="0"/>
              </a:xfrm>
              <a:prstGeom prst="line">
                <a:avLst/>
              </a:prstGeom>
              <a:noFill/>
              <a:ln w="349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806" name="Line 71"/>
              <p:cNvSpPr>
                <a:spLocks noChangeShapeType="1"/>
              </p:cNvSpPr>
              <p:nvPr/>
            </p:nvSpPr>
            <p:spPr bwMode="auto">
              <a:xfrm>
                <a:off x="4128" y="1440"/>
                <a:ext cx="864" cy="1392"/>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807" name="Line 72"/>
              <p:cNvSpPr>
                <a:spLocks noChangeShapeType="1"/>
              </p:cNvSpPr>
              <p:nvPr/>
            </p:nvSpPr>
            <p:spPr bwMode="auto">
              <a:xfrm flipH="1">
                <a:off x="3648" y="1584"/>
                <a:ext cx="528" cy="0"/>
              </a:xfrm>
              <a:prstGeom prst="line">
                <a:avLst/>
              </a:prstGeom>
              <a:noFill/>
              <a:ln w="349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808" name="Line 73"/>
              <p:cNvSpPr>
                <a:spLocks noChangeShapeType="1"/>
              </p:cNvSpPr>
              <p:nvPr/>
            </p:nvSpPr>
            <p:spPr bwMode="auto">
              <a:xfrm flipH="1">
                <a:off x="3648" y="1728"/>
                <a:ext cx="672" cy="0"/>
              </a:xfrm>
              <a:prstGeom prst="line">
                <a:avLst/>
              </a:prstGeom>
              <a:noFill/>
              <a:ln w="349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809" name="Line 74"/>
              <p:cNvSpPr>
                <a:spLocks noChangeShapeType="1"/>
              </p:cNvSpPr>
              <p:nvPr/>
            </p:nvSpPr>
            <p:spPr bwMode="auto">
              <a:xfrm flipH="1">
                <a:off x="3648" y="2016"/>
                <a:ext cx="816" cy="0"/>
              </a:xfrm>
              <a:prstGeom prst="line">
                <a:avLst/>
              </a:prstGeom>
              <a:noFill/>
              <a:ln w="349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810" name="Line 75"/>
              <p:cNvSpPr>
                <a:spLocks noChangeShapeType="1"/>
              </p:cNvSpPr>
              <p:nvPr/>
            </p:nvSpPr>
            <p:spPr bwMode="auto">
              <a:xfrm flipH="1">
                <a:off x="3648" y="1872"/>
                <a:ext cx="720" cy="0"/>
              </a:xfrm>
              <a:prstGeom prst="line">
                <a:avLst/>
              </a:prstGeom>
              <a:noFill/>
              <a:ln w="349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811" name="Line 76"/>
              <p:cNvSpPr>
                <a:spLocks noChangeShapeType="1"/>
              </p:cNvSpPr>
              <p:nvPr/>
            </p:nvSpPr>
            <p:spPr bwMode="auto">
              <a:xfrm flipH="1">
                <a:off x="3648" y="2160"/>
                <a:ext cx="912" cy="0"/>
              </a:xfrm>
              <a:prstGeom prst="line">
                <a:avLst/>
              </a:prstGeom>
              <a:noFill/>
              <a:ln w="349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812" name="Line 77"/>
              <p:cNvSpPr>
                <a:spLocks noChangeShapeType="1"/>
              </p:cNvSpPr>
              <p:nvPr/>
            </p:nvSpPr>
            <p:spPr bwMode="auto">
              <a:xfrm flipH="1">
                <a:off x="3648" y="2304"/>
                <a:ext cx="1008" cy="0"/>
              </a:xfrm>
              <a:prstGeom prst="line">
                <a:avLst/>
              </a:prstGeom>
              <a:noFill/>
              <a:ln w="349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813" name="Line 78"/>
              <p:cNvSpPr>
                <a:spLocks noChangeShapeType="1"/>
              </p:cNvSpPr>
              <p:nvPr/>
            </p:nvSpPr>
            <p:spPr bwMode="auto">
              <a:xfrm flipH="1">
                <a:off x="3648" y="2448"/>
                <a:ext cx="1104" cy="0"/>
              </a:xfrm>
              <a:prstGeom prst="line">
                <a:avLst/>
              </a:prstGeom>
              <a:noFill/>
              <a:ln w="349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814" name="Line 79"/>
              <p:cNvSpPr>
                <a:spLocks noChangeShapeType="1"/>
              </p:cNvSpPr>
              <p:nvPr/>
            </p:nvSpPr>
            <p:spPr bwMode="auto">
              <a:xfrm flipH="1">
                <a:off x="3648" y="2592"/>
                <a:ext cx="1200" cy="0"/>
              </a:xfrm>
              <a:prstGeom prst="line">
                <a:avLst/>
              </a:prstGeom>
              <a:noFill/>
              <a:ln w="349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815" name="Line 80"/>
              <p:cNvSpPr>
                <a:spLocks noChangeShapeType="1"/>
              </p:cNvSpPr>
              <p:nvPr/>
            </p:nvSpPr>
            <p:spPr bwMode="auto">
              <a:xfrm flipH="1">
                <a:off x="3648" y="2736"/>
                <a:ext cx="1296" cy="0"/>
              </a:xfrm>
              <a:prstGeom prst="line">
                <a:avLst/>
              </a:prstGeom>
              <a:noFill/>
              <a:ln w="349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1782" name="Group 87"/>
            <p:cNvGrpSpPr/>
            <p:nvPr/>
          </p:nvGrpSpPr>
          <p:grpSpPr bwMode="auto">
            <a:xfrm>
              <a:off x="3219" y="161"/>
              <a:ext cx="2047" cy="255"/>
              <a:chOff x="3243" y="663"/>
              <a:chExt cx="2177" cy="272"/>
            </a:xfrm>
          </p:grpSpPr>
          <p:sp>
            <p:nvSpPr>
              <p:cNvPr id="31788" name="Line 49"/>
              <p:cNvSpPr>
                <a:spLocks noChangeShapeType="1"/>
              </p:cNvSpPr>
              <p:nvPr/>
            </p:nvSpPr>
            <p:spPr bwMode="auto">
              <a:xfrm>
                <a:off x="3450" y="672"/>
                <a:ext cx="0" cy="258"/>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89" name="Line 50"/>
              <p:cNvSpPr>
                <a:spLocks noChangeShapeType="1"/>
              </p:cNvSpPr>
              <p:nvPr/>
            </p:nvSpPr>
            <p:spPr bwMode="auto">
              <a:xfrm>
                <a:off x="3625" y="672"/>
                <a:ext cx="0" cy="258"/>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90" name="Line 51"/>
              <p:cNvSpPr>
                <a:spLocks noChangeShapeType="1"/>
              </p:cNvSpPr>
              <p:nvPr/>
            </p:nvSpPr>
            <p:spPr bwMode="auto">
              <a:xfrm>
                <a:off x="3779" y="672"/>
                <a:ext cx="0" cy="258"/>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91" name="Line 52"/>
              <p:cNvSpPr>
                <a:spLocks noChangeShapeType="1"/>
              </p:cNvSpPr>
              <p:nvPr/>
            </p:nvSpPr>
            <p:spPr bwMode="auto">
              <a:xfrm>
                <a:off x="3934" y="672"/>
                <a:ext cx="0" cy="258"/>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92" name="Line 53"/>
              <p:cNvSpPr>
                <a:spLocks noChangeShapeType="1"/>
              </p:cNvSpPr>
              <p:nvPr/>
            </p:nvSpPr>
            <p:spPr bwMode="auto">
              <a:xfrm>
                <a:off x="4088" y="672"/>
                <a:ext cx="0" cy="258"/>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93" name="Line 54"/>
              <p:cNvSpPr>
                <a:spLocks noChangeShapeType="1"/>
              </p:cNvSpPr>
              <p:nvPr/>
            </p:nvSpPr>
            <p:spPr bwMode="auto">
              <a:xfrm>
                <a:off x="4243" y="672"/>
                <a:ext cx="0" cy="258"/>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94" name="Line 55"/>
              <p:cNvSpPr>
                <a:spLocks noChangeShapeType="1"/>
              </p:cNvSpPr>
              <p:nvPr/>
            </p:nvSpPr>
            <p:spPr bwMode="auto">
              <a:xfrm>
                <a:off x="4428" y="672"/>
                <a:ext cx="0" cy="258"/>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95" name="Line 56"/>
              <p:cNvSpPr>
                <a:spLocks noChangeShapeType="1"/>
              </p:cNvSpPr>
              <p:nvPr/>
            </p:nvSpPr>
            <p:spPr bwMode="auto">
              <a:xfrm>
                <a:off x="4603" y="672"/>
                <a:ext cx="0" cy="258"/>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96" name="Line 57"/>
              <p:cNvSpPr>
                <a:spLocks noChangeShapeType="1"/>
              </p:cNvSpPr>
              <p:nvPr/>
            </p:nvSpPr>
            <p:spPr bwMode="auto">
              <a:xfrm>
                <a:off x="4758" y="672"/>
                <a:ext cx="0" cy="258"/>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97" name="Line 58"/>
              <p:cNvSpPr>
                <a:spLocks noChangeShapeType="1"/>
              </p:cNvSpPr>
              <p:nvPr/>
            </p:nvSpPr>
            <p:spPr bwMode="auto">
              <a:xfrm>
                <a:off x="4911" y="672"/>
                <a:ext cx="0" cy="258"/>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98" name="Line 59"/>
              <p:cNvSpPr>
                <a:spLocks noChangeShapeType="1"/>
              </p:cNvSpPr>
              <p:nvPr/>
            </p:nvSpPr>
            <p:spPr bwMode="auto">
              <a:xfrm>
                <a:off x="5066" y="672"/>
                <a:ext cx="0" cy="258"/>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99" name="Line 60"/>
              <p:cNvSpPr>
                <a:spLocks noChangeShapeType="1"/>
              </p:cNvSpPr>
              <p:nvPr/>
            </p:nvSpPr>
            <p:spPr bwMode="auto">
              <a:xfrm>
                <a:off x="5221" y="672"/>
                <a:ext cx="0" cy="258"/>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800" name="Line 61"/>
              <p:cNvSpPr>
                <a:spLocks noChangeShapeType="1"/>
              </p:cNvSpPr>
              <p:nvPr/>
            </p:nvSpPr>
            <p:spPr bwMode="auto">
              <a:xfrm>
                <a:off x="5375" y="663"/>
                <a:ext cx="0" cy="258"/>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801" name="Line 62"/>
              <p:cNvSpPr>
                <a:spLocks noChangeShapeType="1"/>
              </p:cNvSpPr>
              <p:nvPr/>
            </p:nvSpPr>
            <p:spPr bwMode="auto">
              <a:xfrm>
                <a:off x="3243" y="663"/>
                <a:ext cx="0" cy="258"/>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802" name="Line 84"/>
              <p:cNvSpPr>
                <a:spLocks noChangeShapeType="1"/>
              </p:cNvSpPr>
              <p:nvPr/>
            </p:nvSpPr>
            <p:spPr bwMode="auto">
              <a:xfrm>
                <a:off x="3243" y="663"/>
                <a:ext cx="2132"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803" name="Line 85"/>
              <p:cNvSpPr>
                <a:spLocks noChangeShapeType="1"/>
              </p:cNvSpPr>
              <p:nvPr/>
            </p:nvSpPr>
            <p:spPr bwMode="auto">
              <a:xfrm>
                <a:off x="3288" y="935"/>
                <a:ext cx="21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1783" name="Line 88"/>
            <p:cNvSpPr>
              <a:spLocks noChangeShapeType="1"/>
            </p:cNvSpPr>
            <p:nvPr/>
          </p:nvSpPr>
          <p:spPr bwMode="auto">
            <a:xfrm>
              <a:off x="3219" y="1734"/>
              <a:ext cx="2004"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784" name="Line 90"/>
            <p:cNvSpPr>
              <a:spLocks noChangeShapeType="1"/>
            </p:cNvSpPr>
            <p:nvPr/>
          </p:nvSpPr>
          <p:spPr bwMode="auto">
            <a:xfrm>
              <a:off x="4157" y="416"/>
              <a:ext cx="0" cy="1318"/>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785" name="AutoShape 94"/>
            <p:cNvSpPr/>
            <p:nvPr/>
          </p:nvSpPr>
          <p:spPr bwMode="auto">
            <a:xfrm rot="5400000">
              <a:off x="4289" y="1628"/>
              <a:ext cx="86" cy="384"/>
            </a:xfrm>
            <a:prstGeom prst="rightBrace">
              <a:avLst>
                <a:gd name="adj1" fmla="val 37209"/>
                <a:gd name="adj2" fmla="val 50000"/>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31786" name="AutoShape 95"/>
            <p:cNvSpPr/>
            <p:nvPr/>
          </p:nvSpPr>
          <p:spPr bwMode="auto">
            <a:xfrm rot="5400000">
              <a:off x="4822" y="1479"/>
              <a:ext cx="86" cy="682"/>
            </a:xfrm>
            <a:prstGeom prst="rightBrace">
              <a:avLst>
                <a:gd name="adj1" fmla="val 66085"/>
                <a:gd name="adj2" fmla="val 50000"/>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31787" name="Line 92"/>
            <p:cNvSpPr>
              <a:spLocks noChangeShapeType="1"/>
            </p:cNvSpPr>
            <p:nvPr/>
          </p:nvSpPr>
          <p:spPr bwMode="auto">
            <a:xfrm>
              <a:off x="4524" y="416"/>
              <a:ext cx="0" cy="1318"/>
            </a:xfrm>
            <a:prstGeom prst="line">
              <a:avLst/>
            </a:prstGeom>
            <a:noFill/>
            <a:ln w="222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1749" name="Group 103"/>
          <p:cNvGrpSpPr/>
          <p:nvPr/>
        </p:nvGrpSpPr>
        <p:grpSpPr bwMode="auto">
          <a:xfrm>
            <a:off x="4616450" y="3917950"/>
            <a:ext cx="3608388" cy="2698750"/>
            <a:chOff x="2971" y="2205"/>
            <a:chExt cx="2493" cy="1816"/>
          </a:xfrm>
        </p:grpSpPr>
        <p:sp>
          <p:nvSpPr>
            <p:cNvPr id="31753" name="Rectangle 37"/>
            <p:cNvSpPr>
              <a:spLocks noChangeArrowheads="1"/>
            </p:cNvSpPr>
            <p:nvPr/>
          </p:nvSpPr>
          <p:spPr bwMode="auto">
            <a:xfrm>
              <a:off x="2971" y="2205"/>
              <a:ext cx="200" cy="294"/>
            </a:xfrm>
            <a:prstGeom prst="rect">
              <a:avLst/>
            </a:prstGeom>
            <a:solidFill>
              <a:srgbClr val="CCFFCC"/>
            </a:solidFill>
            <a:ln w="9525">
              <a:solidFill>
                <a:srgbClr val="CCFFCC"/>
              </a:solidFill>
              <a:miter lim="800000"/>
            </a:ln>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ym typeface="Symbol" panose="05050102010706020507" pitchFamily="18" charset="2"/>
                </a:rPr>
                <a:t></a:t>
              </a:r>
              <a:endParaRPr lang="en-US" altLang="zh-CN" b="1">
                <a:sym typeface="Symbol" panose="05050102010706020507" pitchFamily="18" charset="2"/>
              </a:endParaRPr>
            </a:p>
          </p:txBody>
        </p:sp>
        <p:grpSp>
          <p:nvGrpSpPr>
            <p:cNvPr id="31754" name="Group 101"/>
            <p:cNvGrpSpPr/>
            <p:nvPr/>
          </p:nvGrpSpPr>
          <p:grpSpPr bwMode="auto">
            <a:xfrm>
              <a:off x="3198" y="2341"/>
              <a:ext cx="2266" cy="1680"/>
              <a:chOff x="3211" y="2301"/>
              <a:chExt cx="2266" cy="1680"/>
            </a:xfrm>
          </p:grpSpPr>
          <p:sp>
            <p:nvSpPr>
              <p:cNvPr id="31756" name="Oval 29"/>
              <p:cNvSpPr>
                <a:spLocks noChangeArrowheads="1"/>
              </p:cNvSpPr>
              <p:nvPr/>
            </p:nvSpPr>
            <p:spPr bwMode="auto">
              <a:xfrm>
                <a:off x="4267" y="3165"/>
                <a:ext cx="262" cy="288"/>
              </a:xfrm>
              <a:prstGeom prst="ellipse">
                <a:avLst/>
              </a:prstGeom>
              <a:solidFill>
                <a:srgbClr val="CCFFCC"/>
              </a:solidFill>
              <a:ln w="22225">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31757" name="Oval 30"/>
              <p:cNvSpPr>
                <a:spLocks noChangeArrowheads="1"/>
              </p:cNvSpPr>
              <p:nvPr/>
            </p:nvSpPr>
            <p:spPr bwMode="auto">
              <a:xfrm>
                <a:off x="3739" y="2877"/>
                <a:ext cx="816" cy="816"/>
              </a:xfrm>
              <a:prstGeom prst="ellipse">
                <a:avLst/>
              </a:prstGeom>
              <a:solidFill>
                <a:srgbClr val="CCFFCC"/>
              </a:solidFill>
              <a:ln w="22225">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31758" name="Line 31"/>
              <p:cNvSpPr>
                <a:spLocks noChangeShapeType="1"/>
              </p:cNvSpPr>
              <p:nvPr/>
            </p:nvSpPr>
            <p:spPr bwMode="auto">
              <a:xfrm flipV="1">
                <a:off x="3211" y="2493"/>
                <a:ext cx="1776" cy="720"/>
              </a:xfrm>
              <a:prstGeom prst="line">
                <a:avLst/>
              </a:prstGeom>
              <a:noFill/>
              <a:ln w="349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59" name="Rectangle 32"/>
              <p:cNvSpPr>
                <a:spLocks noChangeArrowheads="1"/>
              </p:cNvSpPr>
              <p:nvPr/>
            </p:nvSpPr>
            <p:spPr bwMode="auto">
              <a:xfrm>
                <a:off x="3211" y="3339"/>
                <a:ext cx="531" cy="137"/>
              </a:xfrm>
              <a:prstGeom prst="rect">
                <a:avLst/>
              </a:prstGeom>
              <a:solidFill>
                <a:srgbClr val="CCFFCC"/>
              </a:solidFill>
              <a:ln w="9525">
                <a:solidFill>
                  <a:srgbClr val="CCFFCC"/>
                </a:solidFill>
                <a:miter lim="800000"/>
              </a:ln>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45000"/>
                  </a:lnSpc>
                  <a:spcBef>
                    <a:spcPct val="20000"/>
                  </a:spcBef>
                </a:pPr>
                <a:r>
                  <a:rPr kumimoji="0" lang="en-US" altLang="zh-CN" sz="1800" b="1" i="1">
                    <a:sym typeface="Symbol" panose="05050102010706020507" pitchFamily="18" charset="2"/>
                  </a:rPr>
                  <a:t></a:t>
                </a:r>
                <a:r>
                  <a:rPr kumimoji="0" lang="en-US" altLang="zh-CN" sz="1800" b="1" i="1" baseline="-25000">
                    <a:sym typeface="Symbol" panose="05050102010706020507" pitchFamily="18" charset="2"/>
                  </a:rPr>
                  <a:t>a</a:t>
                </a:r>
                <a:r>
                  <a:rPr kumimoji="0" lang="en-US" altLang="zh-CN" sz="1800" b="1">
                    <a:sym typeface="Symbol" panose="05050102010706020507" pitchFamily="18" charset="2"/>
                  </a:rPr>
                  <a:t>=</a:t>
                </a:r>
                <a:r>
                  <a:rPr lang="en-US" altLang="zh-CN" sz="1800" b="1" baseline="-25000">
                    <a:sym typeface="Symbol" panose="05050102010706020507" pitchFamily="18" charset="2"/>
                  </a:rPr>
                  <a:t>3</a:t>
                </a:r>
                <a:r>
                  <a:rPr kumimoji="0" lang="en-US" altLang="zh-CN" sz="1800" b="1" i="1" baseline="-25000">
                    <a:sym typeface="Symbol" panose="05050102010706020507" pitchFamily="18" charset="2"/>
                  </a:rPr>
                  <a:t>f</a:t>
                </a:r>
                <a:endParaRPr kumimoji="0" lang="en-US" altLang="zh-CN" sz="1800" b="1" i="1" baseline="-25000">
                  <a:sym typeface="Symbol" panose="05050102010706020507" pitchFamily="18" charset="2"/>
                </a:endParaRPr>
              </a:p>
            </p:txBody>
          </p:sp>
          <p:sp>
            <p:nvSpPr>
              <p:cNvPr id="31760" name="Rectangle 33"/>
              <p:cNvSpPr>
                <a:spLocks noChangeArrowheads="1"/>
              </p:cNvSpPr>
              <p:nvPr/>
            </p:nvSpPr>
            <p:spPr bwMode="auto">
              <a:xfrm>
                <a:off x="4558" y="3385"/>
                <a:ext cx="681" cy="142"/>
              </a:xfrm>
              <a:prstGeom prst="rect">
                <a:avLst/>
              </a:prstGeom>
              <a:solidFill>
                <a:srgbClr val="CCFFCC"/>
              </a:solidFill>
              <a:ln w="9525">
                <a:solidFill>
                  <a:srgbClr val="CCFFCC"/>
                </a:solidFill>
                <a:miter lim="800000"/>
              </a:ln>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45000"/>
                  </a:lnSpc>
                  <a:spcBef>
                    <a:spcPct val="20000"/>
                  </a:spcBef>
                </a:pPr>
                <a:r>
                  <a:rPr kumimoji="0" lang="en-US" altLang="zh-CN" sz="1800" b="1">
                    <a:sym typeface="Symbol" panose="05050102010706020507" pitchFamily="18" charset="2"/>
                  </a:rPr>
                  <a:t></a:t>
                </a:r>
                <a:r>
                  <a:rPr lang="en-US" altLang="zh-CN" sz="1800" b="1" baseline="-25000">
                    <a:sym typeface="Symbol" panose="05050102010706020507" pitchFamily="18" charset="2"/>
                  </a:rPr>
                  <a:t>v</a:t>
                </a:r>
                <a:r>
                  <a:rPr lang="en-US" altLang="zh-CN" sz="1800" b="1">
                    <a:sym typeface="Symbol" panose="05050102010706020507" pitchFamily="18" charset="2"/>
                  </a:rPr>
                  <a:t>=z+q</a:t>
                </a:r>
                <a:endParaRPr kumimoji="0" lang="en-US" altLang="zh-CN" sz="1800" b="1" baseline="-25000">
                  <a:sym typeface="Symbol" panose="05050102010706020507" pitchFamily="18" charset="2"/>
                </a:endParaRPr>
              </a:p>
            </p:txBody>
          </p:sp>
          <p:sp>
            <p:nvSpPr>
              <p:cNvPr id="31761" name="Line 35"/>
              <p:cNvSpPr>
                <a:spLocks noChangeShapeType="1"/>
              </p:cNvSpPr>
              <p:nvPr/>
            </p:nvSpPr>
            <p:spPr bwMode="auto">
              <a:xfrm>
                <a:off x="3211" y="2301"/>
                <a:ext cx="0" cy="1680"/>
              </a:xfrm>
              <a:prstGeom prst="line">
                <a:avLst/>
              </a:prstGeom>
              <a:noFill/>
              <a:ln w="34925">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62" name="Line 36"/>
              <p:cNvSpPr>
                <a:spLocks noChangeShapeType="1"/>
              </p:cNvSpPr>
              <p:nvPr/>
            </p:nvSpPr>
            <p:spPr bwMode="auto">
              <a:xfrm>
                <a:off x="3211" y="3309"/>
                <a:ext cx="2064" cy="0"/>
              </a:xfrm>
              <a:prstGeom prst="line">
                <a:avLst/>
              </a:prstGeom>
              <a:noFill/>
              <a:ln w="349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63" name="Rectangle 38"/>
              <p:cNvSpPr>
                <a:spLocks noChangeArrowheads="1"/>
              </p:cNvSpPr>
              <p:nvPr/>
            </p:nvSpPr>
            <p:spPr bwMode="auto">
              <a:xfrm>
                <a:off x="5239" y="3249"/>
                <a:ext cx="238" cy="294"/>
              </a:xfrm>
              <a:prstGeom prst="rect">
                <a:avLst/>
              </a:prstGeom>
              <a:solidFill>
                <a:srgbClr val="CCFFCC"/>
              </a:solidFill>
              <a:ln w="9525">
                <a:solidFill>
                  <a:srgbClr val="CCFFCC"/>
                </a:solidFill>
                <a:miter lim="800000"/>
              </a:ln>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ym typeface="Symbol" panose="05050102010706020507" pitchFamily="18" charset="2"/>
                  </a:rPr>
                  <a:t></a:t>
                </a:r>
                <a:endParaRPr lang="en-US" altLang="zh-CN" b="1">
                  <a:sym typeface="Symbol" panose="05050102010706020507" pitchFamily="18" charset="2"/>
                </a:endParaRPr>
              </a:p>
            </p:txBody>
          </p:sp>
          <p:sp>
            <p:nvSpPr>
              <p:cNvPr id="31764" name="Rectangle 39"/>
              <p:cNvSpPr>
                <a:spLocks noChangeArrowheads="1"/>
              </p:cNvSpPr>
              <p:nvPr/>
            </p:nvSpPr>
            <p:spPr bwMode="auto">
              <a:xfrm>
                <a:off x="3833" y="3339"/>
                <a:ext cx="453" cy="142"/>
              </a:xfrm>
              <a:prstGeom prst="rect">
                <a:avLst/>
              </a:prstGeom>
              <a:solidFill>
                <a:srgbClr val="CCFFCC"/>
              </a:solidFill>
              <a:ln w="9525">
                <a:solidFill>
                  <a:srgbClr val="CCFFCC"/>
                </a:solidFill>
                <a:miter lim="800000"/>
              </a:ln>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45000"/>
                  </a:lnSpc>
                  <a:spcBef>
                    <a:spcPct val="20000"/>
                  </a:spcBef>
                </a:pPr>
                <a:r>
                  <a:rPr kumimoji="0" lang="en-US" altLang="zh-CN" sz="1800" b="1">
                    <a:sym typeface="Symbol" panose="05050102010706020507" pitchFamily="18" charset="2"/>
                  </a:rPr>
                  <a:t>K</a:t>
                </a:r>
                <a:r>
                  <a:rPr kumimoji="0" lang="en-US" altLang="zh-CN" sz="1800" b="1" baseline="-25000">
                    <a:sym typeface="Symbol" panose="05050102010706020507" pitchFamily="18" charset="2"/>
                  </a:rPr>
                  <a:t>0</a:t>
                </a:r>
                <a:r>
                  <a:rPr kumimoji="0" lang="en-US" altLang="zh-CN" sz="1800" b="1">
                    <a:sym typeface="Symbol" panose="05050102010706020507" pitchFamily="18" charset="2"/>
                  </a:rPr>
                  <a:t></a:t>
                </a:r>
                <a:r>
                  <a:rPr lang="en-US" altLang="zh-CN" sz="1800" b="1" baseline="-25000">
                    <a:sym typeface="Symbol" panose="05050102010706020507" pitchFamily="18" charset="2"/>
                  </a:rPr>
                  <a:t>v</a:t>
                </a:r>
                <a:endParaRPr kumimoji="0" lang="en-US" altLang="zh-CN" sz="1800" b="1" baseline="-25000">
                  <a:sym typeface="Symbol" panose="05050102010706020507" pitchFamily="18" charset="2"/>
                </a:endParaRPr>
              </a:p>
            </p:txBody>
          </p:sp>
          <p:sp>
            <p:nvSpPr>
              <p:cNvPr id="31765" name="Line 44"/>
              <p:cNvSpPr>
                <a:spLocks noChangeShapeType="1"/>
              </p:cNvSpPr>
              <p:nvPr/>
            </p:nvSpPr>
            <p:spPr bwMode="auto">
              <a:xfrm>
                <a:off x="4286" y="2795"/>
                <a:ext cx="57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1766" name="Text Box 99"/>
              <p:cNvSpPr txBox="1">
                <a:spLocks noChangeArrowheads="1"/>
              </p:cNvSpPr>
              <p:nvPr/>
            </p:nvSpPr>
            <p:spPr bwMode="auto">
              <a:xfrm>
                <a:off x="4729" y="2523"/>
                <a:ext cx="23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l-GR" altLang="zh-CN" b="1">
                    <a:sym typeface="Symbol" panose="05050102010706020507" pitchFamily="18" charset="2"/>
                  </a:rPr>
                  <a:t>φ</a:t>
                </a:r>
                <a:endParaRPr lang="en-US" altLang="zh-CN" b="1">
                  <a:sym typeface="Symbol" panose="05050102010706020507" pitchFamily="18" charset="2"/>
                </a:endParaRPr>
              </a:p>
            </p:txBody>
          </p:sp>
          <p:sp>
            <p:nvSpPr>
              <p:cNvPr id="31767" name="Arc 100"/>
              <p:cNvSpPr/>
              <p:nvPr/>
            </p:nvSpPr>
            <p:spPr bwMode="auto">
              <a:xfrm>
                <a:off x="4468" y="2704"/>
                <a:ext cx="45" cy="9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31755" name="Oval 102"/>
            <p:cNvSpPr>
              <a:spLocks noChangeArrowheads="1"/>
            </p:cNvSpPr>
            <p:nvPr/>
          </p:nvSpPr>
          <p:spPr bwMode="auto">
            <a:xfrm>
              <a:off x="4286" y="3203"/>
              <a:ext cx="262" cy="288"/>
            </a:xfrm>
            <a:prstGeom prst="ellipse">
              <a:avLst/>
            </a:prstGeom>
            <a:noFill/>
            <a:ln w="222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sp>
        <p:nvSpPr>
          <p:cNvPr id="31751" name="Text Box 107"/>
          <p:cNvSpPr txBox="1">
            <a:spLocks noChangeArrowheads="1"/>
          </p:cNvSpPr>
          <p:nvPr/>
        </p:nvSpPr>
        <p:spPr bwMode="auto">
          <a:xfrm>
            <a:off x="768350" y="1397000"/>
            <a:ext cx="12112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zh-CN" altLang="en-US" sz="2000" b="1" dirty="0" smtClean="0">
                <a:latin typeface="+mn-ea"/>
                <a:ea typeface="+mn-ea"/>
              </a:rPr>
              <a:t>均布荷载</a:t>
            </a:r>
            <a:endParaRPr lang="zh-CN" altLang="en-US" sz="2000" b="1" dirty="0" smtClean="0">
              <a:latin typeface="+mn-ea"/>
              <a:ea typeface="+mn-ea"/>
            </a:endParaRPr>
          </a:p>
        </p:txBody>
      </p:sp>
      <p:sp>
        <p:nvSpPr>
          <p:cNvPr id="2" name="矩形 1"/>
          <p:cNvSpPr>
            <a:spLocks noChangeArrowheads="1"/>
          </p:cNvSpPr>
          <p:nvPr/>
        </p:nvSpPr>
        <p:spPr bwMode="auto">
          <a:xfrm>
            <a:off x="274638" y="1960563"/>
            <a:ext cx="3779837"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buFont typeface="Wingdings" panose="05000000000000000000" pitchFamily="2" charset="2"/>
              <a:buChar char="Ø"/>
            </a:pPr>
            <a:r>
              <a:rPr lang="zh-CN" altLang="en-US" sz="2000" b="1"/>
              <a:t>将均布荷载换算成为当量土重，即用假想土重代替均布荷载</a:t>
            </a:r>
            <a:r>
              <a:rPr lang="zh-CN" altLang="en-US" b="1"/>
              <a:t>。</a:t>
            </a:r>
            <a:endParaRPr lang="zh-CN" altLang="en-US" b="1"/>
          </a:p>
        </p:txBody>
      </p:sp>
      <p:sp>
        <p:nvSpPr>
          <p:cNvPr id="98" name="Rectangle 6"/>
          <p:cNvSpPr>
            <a:spLocks noChangeArrowheads="1"/>
          </p:cNvSpPr>
          <p:nvPr/>
        </p:nvSpPr>
        <p:spPr bwMode="auto">
          <a:xfrm>
            <a:off x="-3175" y="-9842"/>
            <a:ext cx="3617913"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朗肯土压力理论</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770" name="Group 8"/>
          <p:cNvGrpSpPr/>
          <p:nvPr/>
        </p:nvGrpSpPr>
        <p:grpSpPr bwMode="auto">
          <a:xfrm>
            <a:off x="479425" y="809625"/>
            <a:ext cx="3228975" cy="739775"/>
            <a:chOff x="-840" y="201"/>
            <a:chExt cx="2502" cy="1216"/>
          </a:xfrm>
        </p:grpSpPr>
        <p:sp>
          <p:nvSpPr>
            <p:cNvPr id="2" name="Text Box 2"/>
            <p:cNvSpPr txBox="1">
              <a:spLocks noChangeArrowheads="1"/>
            </p:cNvSpPr>
            <p:nvPr/>
          </p:nvSpPr>
          <p:spPr bwMode="auto">
            <a:xfrm>
              <a:off x="-840" y="201"/>
              <a:ext cx="2502" cy="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b="1" dirty="0" smtClean="0">
                  <a:latin typeface="+mn-ea"/>
                  <a:ea typeface="+mn-ea"/>
                </a:rPr>
                <a:t>局部荷载</a:t>
              </a:r>
              <a:r>
                <a:rPr kumimoji="0" lang="en-US" altLang="zh-CN" sz="2000" b="1" dirty="0" smtClean="0">
                  <a:latin typeface="+mn-ea"/>
                </a:rPr>
                <a:t>——</a:t>
              </a:r>
              <a:r>
                <a:rPr kumimoji="0" lang="zh-CN" altLang="en-US" sz="2000" b="1" dirty="0" smtClean="0">
                  <a:latin typeface="+mn-ea"/>
                </a:rPr>
                <a:t>朗肯理论</a:t>
              </a:r>
              <a:r>
                <a:rPr kumimoji="0" lang="zh-CN" altLang="en-US" sz="2000" b="1" dirty="0" smtClean="0">
                  <a:solidFill>
                    <a:srgbClr val="0000FF"/>
                  </a:solidFill>
                  <a:latin typeface="+mn-ea"/>
                </a:rPr>
                <a:t> </a:t>
              </a:r>
              <a:endParaRPr kumimoji="0" lang="zh-CN" altLang="en-US" sz="2000" b="1" dirty="0" smtClean="0">
                <a:solidFill>
                  <a:srgbClr val="0000FF"/>
                </a:solidFill>
                <a:latin typeface="+mn-ea"/>
              </a:endParaRPr>
            </a:p>
            <a:p>
              <a:pPr eaLnBrk="1" hangingPunct="1">
                <a:defRPr/>
              </a:pPr>
              <a:endParaRPr kumimoji="0" lang="zh-CN" altLang="en-US" b="1" dirty="0" smtClean="0">
                <a:latin typeface="+mn-ea"/>
                <a:ea typeface="+mn-ea"/>
              </a:endParaRPr>
            </a:p>
          </p:txBody>
        </p:sp>
        <p:sp>
          <p:nvSpPr>
            <p:cNvPr id="32774" name="AutoShape 3"/>
            <p:cNvSpPr>
              <a:spLocks noChangeArrowheads="1"/>
            </p:cNvSpPr>
            <p:nvPr/>
          </p:nvSpPr>
          <p:spPr bwMode="auto">
            <a:xfrm>
              <a:off x="1383" y="483"/>
              <a:ext cx="129" cy="264"/>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defRPr/>
              </a:pPr>
              <a:endParaRPr kumimoji="0" lang="zh-CN" altLang="en-US" sz="2000" b="1" dirty="0" smtClean="0">
                <a:solidFill>
                  <a:srgbClr val="0000FF"/>
                </a:solidFill>
                <a:latin typeface="+mn-ea"/>
                <a:ea typeface="+mn-ea"/>
              </a:endParaRPr>
            </a:p>
          </p:txBody>
        </p:sp>
      </p:grpSp>
      <p:pic>
        <p:nvPicPr>
          <p:cNvPr id="32771" name="Picture 11" descr="未命名"/>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96900" y="1785938"/>
            <a:ext cx="6221413" cy="430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2" name="Text Box 12"/>
          <p:cNvSpPr txBox="1">
            <a:spLocks noChangeArrowheads="1"/>
          </p:cNvSpPr>
          <p:nvPr/>
        </p:nvSpPr>
        <p:spPr bwMode="auto">
          <a:xfrm>
            <a:off x="6708775" y="2133600"/>
            <a:ext cx="20955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t>【</a:t>
            </a:r>
            <a:r>
              <a:rPr lang="zh-CN" altLang="en-US"/>
              <a:t>自学</a:t>
            </a:r>
            <a:r>
              <a:rPr lang="en-US" altLang="zh-CN"/>
              <a:t>】P219</a:t>
            </a:r>
            <a:endParaRPr lang="en-US" altLang="zh-CN"/>
          </a:p>
        </p:txBody>
      </p:sp>
      <p:pic>
        <p:nvPicPr>
          <p:cNvPr id="32773" name="Picture 14" descr="j041644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5463" y="3860800"/>
            <a:ext cx="2100262"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6"/>
          <p:cNvSpPr>
            <a:spLocks noChangeArrowheads="1"/>
          </p:cNvSpPr>
          <p:nvPr/>
        </p:nvSpPr>
        <p:spPr bwMode="auto">
          <a:xfrm>
            <a:off x="-3175" y="-9842"/>
            <a:ext cx="3617913"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朗肯土压力理论</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p:cNvSpPr txBox="1">
            <a:spLocks noChangeArrowheads="1"/>
          </p:cNvSpPr>
          <p:nvPr/>
        </p:nvSpPr>
        <p:spPr bwMode="auto">
          <a:xfrm>
            <a:off x="684213" y="687388"/>
            <a:ext cx="3167062" cy="368300"/>
          </a:xfrm>
          <a:prstGeom prst="rect">
            <a:avLst/>
          </a:prstGeom>
          <a:solidFill>
            <a:srgbClr val="FFC000"/>
          </a:solidFill>
          <a:ln>
            <a:noFill/>
          </a:ln>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b="1" dirty="0" smtClean="0">
                <a:latin typeface="+mn-ea"/>
                <a:ea typeface="+mn-ea"/>
              </a:rPr>
              <a:t>非均质填土时的土压力</a:t>
            </a:r>
            <a:endParaRPr kumimoji="0" lang="zh-CN" altLang="en-US" b="1" dirty="0" smtClean="0">
              <a:latin typeface="+mn-ea"/>
              <a:ea typeface="+mn-ea"/>
            </a:endParaRPr>
          </a:p>
        </p:txBody>
      </p:sp>
      <p:grpSp>
        <p:nvGrpSpPr>
          <p:cNvPr id="33795" name="Group 21"/>
          <p:cNvGrpSpPr/>
          <p:nvPr/>
        </p:nvGrpSpPr>
        <p:grpSpPr bwMode="auto">
          <a:xfrm>
            <a:off x="5292725" y="2395538"/>
            <a:ext cx="3527425" cy="2219325"/>
            <a:chOff x="1104" y="1056"/>
            <a:chExt cx="2519" cy="1488"/>
          </a:xfrm>
        </p:grpSpPr>
        <p:sp>
          <p:nvSpPr>
            <p:cNvPr id="33799" name="Text Box 3"/>
            <p:cNvSpPr txBox="1">
              <a:spLocks noChangeArrowheads="1"/>
            </p:cNvSpPr>
            <p:nvPr/>
          </p:nvSpPr>
          <p:spPr bwMode="auto">
            <a:xfrm>
              <a:off x="1680" y="1296"/>
              <a:ext cx="116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latin typeface="Symbol" panose="05050102010706020507" pitchFamily="18" charset="2"/>
                </a:rPr>
                <a:t>g</a:t>
              </a:r>
              <a:r>
                <a:rPr lang="en-US" altLang="zh-CN" sz="2800" b="1" baseline="-25000"/>
                <a:t>1</a:t>
              </a:r>
              <a:r>
                <a:rPr lang="en-US" altLang="zh-CN" sz="2800" b="1" i="1"/>
                <a:t>   </a:t>
              </a:r>
              <a:r>
                <a:rPr lang="en-US" altLang="zh-CN" sz="2800" b="1" i="1">
                  <a:latin typeface="Symbol" panose="05050102010706020507" pitchFamily="18" charset="2"/>
                </a:rPr>
                <a:t>f</a:t>
              </a:r>
              <a:r>
                <a:rPr lang="en-US" altLang="zh-CN" sz="2800" b="1" baseline="-25000"/>
                <a:t>1</a:t>
              </a:r>
              <a:r>
                <a:rPr lang="en-US" altLang="zh-CN" sz="2800" b="1" i="1"/>
                <a:t>   c</a:t>
              </a:r>
              <a:r>
                <a:rPr lang="en-US" altLang="zh-CN" sz="2800" b="1" baseline="-25000"/>
                <a:t>1</a:t>
              </a:r>
              <a:endParaRPr lang="en-US" altLang="zh-CN" sz="2800" b="1"/>
            </a:p>
          </p:txBody>
        </p:sp>
        <p:grpSp>
          <p:nvGrpSpPr>
            <p:cNvPr id="33800" name="Group 5"/>
            <p:cNvGrpSpPr/>
            <p:nvPr/>
          </p:nvGrpSpPr>
          <p:grpSpPr bwMode="auto">
            <a:xfrm>
              <a:off x="1104" y="1056"/>
              <a:ext cx="2400" cy="1488"/>
              <a:chOff x="1104" y="1056"/>
              <a:chExt cx="2400" cy="1488"/>
            </a:xfrm>
          </p:grpSpPr>
          <p:grpSp>
            <p:nvGrpSpPr>
              <p:cNvPr id="33807" name="Group 6"/>
              <p:cNvGrpSpPr/>
              <p:nvPr/>
            </p:nvGrpSpPr>
            <p:grpSpPr bwMode="auto">
              <a:xfrm>
                <a:off x="1104" y="1056"/>
                <a:ext cx="672" cy="1488"/>
                <a:chOff x="3024" y="816"/>
                <a:chExt cx="672" cy="1440"/>
              </a:xfrm>
            </p:grpSpPr>
            <p:sp>
              <p:nvSpPr>
                <p:cNvPr id="33810" name="AutoShape 7" descr="横向砖形"/>
                <p:cNvSpPr>
                  <a:spLocks noChangeArrowheads="1"/>
                </p:cNvSpPr>
                <p:nvPr/>
              </p:nvSpPr>
              <p:spPr bwMode="auto">
                <a:xfrm rot="10800000">
                  <a:off x="3024" y="864"/>
                  <a:ext cx="624" cy="134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blipFill dpi="0" rotWithShape="0">
                  <a:blip r:embed="rId1"/>
                  <a:srcRect/>
                  <a:tile tx="0" ty="0" sx="100000" sy="100000" flip="none" algn="tl"/>
                </a:blipFill>
                <a:ln w="34925">
                  <a:solidFill>
                    <a:srgbClr val="000000"/>
                  </a:solidFill>
                  <a:miter lim="800000"/>
                </a:ln>
              </p:spPr>
              <p:txBody>
                <a:bodyPr wrap="none" anchor="ctr"/>
                <a:lstStyle/>
                <a:p>
                  <a:endParaRPr lang="zh-CN" altLang="en-US"/>
                </a:p>
              </p:txBody>
            </p:sp>
            <p:sp useBgFill="1">
              <p:nvSpPr>
                <p:cNvPr id="33811" name="Rectangle 8"/>
                <p:cNvSpPr>
                  <a:spLocks noChangeArrowheads="1"/>
                </p:cNvSpPr>
                <p:nvPr/>
              </p:nvSpPr>
              <p:spPr bwMode="auto">
                <a:xfrm>
                  <a:off x="3456" y="816"/>
                  <a:ext cx="240" cy="144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33812" name="Line 9"/>
                <p:cNvSpPr>
                  <a:spLocks noChangeShapeType="1"/>
                </p:cNvSpPr>
                <p:nvPr/>
              </p:nvSpPr>
              <p:spPr bwMode="auto">
                <a:xfrm>
                  <a:off x="3456" y="864"/>
                  <a:ext cx="0" cy="1344"/>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3808" name="Line 10"/>
              <p:cNvSpPr>
                <a:spLocks noChangeShapeType="1"/>
              </p:cNvSpPr>
              <p:nvPr/>
            </p:nvSpPr>
            <p:spPr bwMode="auto">
              <a:xfrm>
                <a:off x="1536" y="2496"/>
                <a:ext cx="1968" cy="0"/>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09" name="Line 11"/>
              <p:cNvSpPr>
                <a:spLocks noChangeShapeType="1"/>
              </p:cNvSpPr>
              <p:nvPr/>
            </p:nvSpPr>
            <p:spPr bwMode="auto">
              <a:xfrm>
                <a:off x="1536" y="1104"/>
                <a:ext cx="1968" cy="0"/>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3801" name="Text Box 12"/>
            <p:cNvSpPr txBox="1">
              <a:spLocks noChangeArrowheads="1"/>
            </p:cNvSpPr>
            <p:nvPr/>
          </p:nvSpPr>
          <p:spPr bwMode="auto">
            <a:xfrm>
              <a:off x="1632" y="1968"/>
              <a:ext cx="116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latin typeface="Symbol" panose="05050102010706020507" pitchFamily="18" charset="2"/>
                </a:rPr>
                <a:t>g</a:t>
              </a:r>
              <a:r>
                <a:rPr lang="en-US" altLang="zh-CN" sz="2800" b="1" baseline="-25000"/>
                <a:t>2</a:t>
              </a:r>
              <a:r>
                <a:rPr lang="en-US" altLang="zh-CN" sz="2800" b="1" i="1"/>
                <a:t>   </a:t>
              </a:r>
              <a:r>
                <a:rPr lang="en-US" altLang="zh-CN" sz="2800" b="1" i="1">
                  <a:latin typeface="Symbol" panose="05050102010706020507" pitchFamily="18" charset="2"/>
                </a:rPr>
                <a:t>f</a:t>
              </a:r>
              <a:r>
                <a:rPr lang="en-US" altLang="zh-CN" sz="2800" b="1" baseline="-25000"/>
                <a:t>2</a:t>
              </a:r>
              <a:r>
                <a:rPr lang="en-US" altLang="zh-CN" sz="2800" b="1" i="1"/>
                <a:t>   c</a:t>
              </a:r>
              <a:r>
                <a:rPr lang="en-US" altLang="zh-CN" sz="2800" b="1" baseline="-25000"/>
                <a:t>2</a:t>
              </a:r>
              <a:endParaRPr lang="en-US" altLang="zh-CN" sz="2800" b="1"/>
            </a:p>
          </p:txBody>
        </p:sp>
        <p:sp>
          <p:nvSpPr>
            <p:cNvPr id="33802" name="Line 13"/>
            <p:cNvSpPr>
              <a:spLocks noChangeShapeType="1"/>
            </p:cNvSpPr>
            <p:nvPr/>
          </p:nvSpPr>
          <p:spPr bwMode="auto">
            <a:xfrm>
              <a:off x="2976" y="1104"/>
              <a:ext cx="0" cy="672"/>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03" name="Line 14"/>
            <p:cNvSpPr>
              <a:spLocks noChangeShapeType="1"/>
            </p:cNvSpPr>
            <p:nvPr/>
          </p:nvSpPr>
          <p:spPr bwMode="auto">
            <a:xfrm>
              <a:off x="2976" y="1776"/>
              <a:ext cx="0" cy="72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04" name="Text Box 15"/>
            <p:cNvSpPr txBox="1">
              <a:spLocks noChangeArrowheads="1"/>
            </p:cNvSpPr>
            <p:nvPr/>
          </p:nvSpPr>
          <p:spPr bwMode="auto">
            <a:xfrm>
              <a:off x="3072" y="1296"/>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H</a:t>
              </a:r>
              <a:r>
                <a:rPr lang="en-US" altLang="zh-CN" sz="2800" b="1" baseline="-25000"/>
                <a:t>1</a:t>
              </a:r>
              <a:endParaRPr lang="en-US" altLang="zh-CN" sz="2800" b="1"/>
            </a:p>
          </p:txBody>
        </p:sp>
        <p:sp>
          <p:nvSpPr>
            <p:cNvPr id="33805" name="Text Box 16"/>
            <p:cNvSpPr txBox="1">
              <a:spLocks noChangeArrowheads="1"/>
            </p:cNvSpPr>
            <p:nvPr/>
          </p:nvSpPr>
          <p:spPr bwMode="auto">
            <a:xfrm>
              <a:off x="3024" y="196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H</a:t>
              </a:r>
              <a:r>
                <a:rPr lang="en-US" altLang="zh-CN" sz="2800" b="1" baseline="-25000"/>
                <a:t>2</a:t>
              </a:r>
              <a:endParaRPr lang="en-US" altLang="zh-CN" sz="2800" b="1"/>
            </a:p>
          </p:txBody>
        </p:sp>
        <p:sp>
          <p:nvSpPr>
            <p:cNvPr id="33806" name="Line 18"/>
            <p:cNvSpPr>
              <a:spLocks noChangeShapeType="1"/>
            </p:cNvSpPr>
            <p:nvPr/>
          </p:nvSpPr>
          <p:spPr bwMode="auto">
            <a:xfrm>
              <a:off x="1519" y="1797"/>
              <a:ext cx="1968" cy="0"/>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1" name="Rectangle 3"/>
          <p:cNvSpPr txBox="1">
            <a:spLocks noChangeArrowheads="1"/>
          </p:cNvSpPr>
          <p:nvPr/>
        </p:nvSpPr>
        <p:spPr bwMode="auto">
          <a:xfrm>
            <a:off x="303213" y="2395538"/>
            <a:ext cx="4910137" cy="333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vl6pPr marL="2138680" indent="-339725" algn="l" rtl="0" eaLnBrk="1" fontAlgn="base" hangingPunct="1">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6pPr>
            <a:lvl7pPr marL="2595880" indent="-339725" algn="l" rtl="0" eaLnBrk="1" fontAlgn="base" hangingPunct="1">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7pPr>
            <a:lvl8pPr marL="3053080" indent="-339725" algn="l" rtl="0" eaLnBrk="1" fontAlgn="base" hangingPunct="1">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8pPr>
            <a:lvl9pPr marL="3510280" indent="-339725" algn="l" rtl="0" eaLnBrk="1" fontAlgn="base" hangingPunct="1">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9pPr>
          </a:lstStyle>
          <a:p>
            <a:pPr eaLnBrk="1" hangingPunct="1">
              <a:lnSpc>
                <a:spcPct val="150000"/>
              </a:lnSpc>
              <a:buFont typeface="Wingdings" panose="05000000000000000000" pitchFamily="2" charset="2"/>
              <a:buChar char="Ø"/>
              <a:defRPr/>
            </a:pPr>
            <a:r>
              <a:rPr kumimoji="0" lang="zh-CN" altLang="en-US" sz="2000" b="1" kern="0" dirty="0" smtClean="0">
                <a:latin typeface="+mn-ea"/>
              </a:rPr>
              <a:t>第一层的土压力按均质土计算，计算第二层土压力时，将第一层土按重度换算成与第二层土相同的当量土层，在第二层土层厚度范围内，按均质土计算土压力有效。</a:t>
            </a:r>
            <a:endParaRPr kumimoji="0" lang="zh-CN" altLang="en-US" sz="2000" b="1" kern="0" dirty="0" smtClean="0">
              <a:latin typeface="+mn-ea"/>
            </a:endParaRPr>
          </a:p>
          <a:p>
            <a:pPr eaLnBrk="1" hangingPunct="1">
              <a:lnSpc>
                <a:spcPct val="150000"/>
              </a:lnSpc>
              <a:buFont typeface="Wingdings" panose="05000000000000000000" pitchFamily="2" charset="2"/>
              <a:buChar char="Ø"/>
              <a:defRPr/>
            </a:pPr>
            <a:r>
              <a:rPr kumimoji="0" lang="zh-CN" altLang="en-US" sz="2000" b="1" kern="0" dirty="0" smtClean="0">
                <a:solidFill>
                  <a:srgbClr val="FF0000"/>
                </a:solidFill>
                <a:latin typeface="+mn-ea"/>
              </a:rPr>
              <a:t>必须注意：</a:t>
            </a:r>
            <a:r>
              <a:rPr kumimoji="0" lang="zh-CN" altLang="en-US" sz="2000" b="1" kern="0" dirty="0" smtClean="0">
                <a:latin typeface="+mn-ea"/>
              </a:rPr>
              <a:t>各层土的性质不同，主动土压力系数</a:t>
            </a:r>
            <a:r>
              <a:rPr kumimoji="0" lang="zh-CN" altLang="en-US" sz="2000" b="1" i="1" kern="0" dirty="0" smtClean="0">
                <a:latin typeface="+mn-ea"/>
              </a:rPr>
              <a:t>Ka</a:t>
            </a:r>
            <a:r>
              <a:rPr kumimoji="0" lang="zh-CN" altLang="en-US" sz="2000" b="1" kern="0" dirty="0" smtClean="0">
                <a:latin typeface="+mn-ea"/>
              </a:rPr>
              <a:t>也不同。</a:t>
            </a:r>
            <a:endParaRPr kumimoji="0" lang="zh-CN" altLang="en-US" sz="2800" b="1" kern="0" dirty="0" smtClean="0">
              <a:latin typeface="Times New Roman" panose="02020603050405020304" pitchFamily="18" charset="0"/>
            </a:endParaRPr>
          </a:p>
        </p:txBody>
      </p:sp>
      <p:sp>
        <p:nvSpPr>
          <p:cNvPr id="2" name="矩形 1"/>
          <p:cNvSpPr/>
          <p:nvPr/>
        </p:nvSpPr>
        <p:spPr>
          <a:xfrm>
            <a:off x="539750" y="1465263"/>
            <a:ext cx="1889125" cy="423862"/>
          </a:xfrm>
          <a:prstGeom prst="rect">
            <a:avLst/>
          </a:prstGeom>
        </p:spPr>
        <p:txBody>
          <a:bodyPr wrap="none">
            <a:spAutoFit/>
          </a:bodyPr>
          <a:lstStyle/>
          <a:p>
            <a:pPr eaLnBrk="1" hangingPunct="1">
              <a:lnSpc>
                <a:spcPct val="90000"/>
              </a:lnSpc>
              <a:buFont typeface="Wingdings" panose="05000000000000000000" pitchFamily="2" charset="2"/>
              <a:buNone/>
              <a:defRPr/>
            </a:pPr>
            <a:r>
              <a:rPr kumimoji="0" lang="en-US" altLang="zh-CN" b="1" kern="0" dirty="0">
                <a:solidFill>
                  <a:schemeClr val="tx2"/>
                </a:solidFill>
                <a:latin typeface="+mn-ea"/>
                <a:ea typeface="+mn-ea"/>
              </a:rPr>
              <a:t>1</a:t>
            </a:r>
            <a:r>
              <a:rPr kumimoji="0" lang="zh-CN" altLang="en-US" b="1" kern="0" dirty="0">
                <a:solidFill>
                  <a:schemeClr val="tx2"/>
                </a:solidFill>
                <a:latin typeface="+mn-ea"/>
                <a:ea typeface="+mn-ea"/>
              </a:rPr>
              <a:t>. 成层填土</a:t>
            </a:r>
            <a:endParaRPr kumimoji="0" lang="zh-CN" altLang="en-US" b="1" kern="0" dirty="0">
              <a:solidFill>
                <a:schemeClr val="tx2"/>
              </a:solidFill>
              <a:latin typeface="+mn-ea"/>
              <a:ea typeface="+mn-ea"/>
            </a:endParaRPr>
          </a:p>
        </p:txBody>
      </p:sp>
      <p:sp>
        <p:nvSpPr>
          <p:cNvPr id="23" name="Rectangle 6"/>
          <p:cNvSpPr>
            <a:spLocks noChangeArrowheads="1"/>
          </p:cNvSpPr>
          <p:nvPr/>
        </p:nvSpPr>
        <p:spPr bwMode="auto">
          <a:xfrm>
            <a:off x="-3175" y="-9842"/>
            <a:ext cx="3617913"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朗肯土压力理论</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Text Box 3"/>
          <p:cNvSpPr txBox="1">
            <a:spLocks noChangeArrowheads="1"/>
          </p:cNvSpPr>
          <p:nvPr/>
        </p:nvSpPr>
        <p:spPr bwMode="auto">
          <a:xfrm>
            <a:off x="4648200" y="5105400"/>
            <a:ext cx="1066800" cy="400050"/>
          </a:xfrm>
          <a:prstGeom prst="rect">
            <a:avLst/>
          </a:prstGeom>
          <a:solidFill>
            <a:schemeClr val="accent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l-GR" altLang="zh-CN" sz="2000" b="1" i="1"/>
              <a:t>φ</a:t>
            </a:r>
            <a:r>
              <a:rPr lang="en-US" altLang="zh-CN" sz="2000" b="1" baseline="-25000"/>
              <a:t>2</a:t>
            </a:r>
            <a:r>
              <a:rPr lang="en-US" altLang="zh-CN" sz="2000" b="1" i="1" baseline="-25000"/>
              <a:t> </a:t>
            </a:r>
            <a:r>
              <a:rPr lang="en-US" altLang="zh-CN" sz="2000" b="1" i="1">
                <a:sym typeface="Symbol" panose="05050102010706020507" pitchFamily="18" charset="2"/>
              </a:rPr>
              <a:t>&gt;</a:t>
            </a:r>
            <a:r>
              <a:rPr lang="en-US" altLang="zh-CN" sz="2000" b="1" i="1"/>
              <a:t> </a:t>
            </a:r>
            <a:r>
              <a:rPr lang="el-GR" altLang="zh-CN" sz="2000" b="1" i="1"/>
              <a:t>φ </a:t>
            </a:r>
            <a:r>
              <a:rPr lang="en-US" altLang="zh-CN" sz="2000" b="1" baseline="-25000"/>
              <a:t>1</a:t>
            </a:r>
            <a:endParaRPr lang="en-US" altLang="zh-CN" sz="2000" b="1" baseline="-25000"/>
          </a:p>
        </p:txBody>
      </p:sp>
      <p:sp>
        <p:nvSpPr>
          <p:cNvPr id="34819" name="Text Box 6"/>
          <p:cNvSpPr txBox="1">
            <a:spLocks noChangeArrowheads="1"/>
          </p:cNvSpPr>
          <p:nvPr/>
        </p:nvSpPr>
        <p:spPr bwMode="auto">
          <a:xfrm>
            <a:off x="762000" y="750888"/>
            <a:ext cx="2057400" cy="519112"/>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olidFill>
                  <a:schemeClr val="accent1"/>
                </a:solidFill>
              </a:rPr>
              <a:t>c</a:t>
            </a:r>
            <a:r>
              <a:rPr lang="en-US" altLang="zh-CN" sz="2800" b="1" baseline="-25000">
                <a:solidFill>
                  <a:schemeClr val="accent1"/>
                </a:solidFill>
              </a:rPr>
              <a:t>1</a:t>
            </a:r>
            <a:r>
              <a:rPr lang="en-US" altLang="zh-CN" sz="2800" b="1" i="1">
                <a:solidFill>
                  <a:schemeClr val="accent1"/>
                </a:solidFill>
              </a:rPr>
              <a:t>= c</a:t>
            </a:r>
            <a:r>
              <a:rPr lang="en-US" altLang="zh-CN" sz="2800" b="1" baseline="-25000">
                <a:solidFill>
                  <a:schemeClr val="accent1"/>
                </a:solidFill>
              </a:rPr>
              <a:t>2</a:t>
            </a:r>
            <a:r>
              <a:rPr lang="en-US" altLang="zh-CN" sz="2800" b="1" i="1">
                <a:solidFill>
                  <a:schemeClr val="accent1"/>
                </a:solidFill>
              </a:rPr>
              <a:t>=</a:t>
            </a:r>
            <a:r>
              <a:rPr lang="en-US" altLang="zh-CN" sz="2800" b="1">
                <a:solidFill>
                  <a:schemeClr val="accent1"/>
                </a:solidFill>
              </a:rPr>
              <a:t>0 </a:t>
            </a:r>
            <a:r>
              <a:rPr lang="zh-CN" altLang="en-US" sz="2800" b="1">
                <a:solidFill>
                  <a:schemeClr val="accent1"/>
                </a:solidFill>
              </a:rPr>
              <a:t>时</a:t>
            </a:r>
            <a:endParaRPr lang="zh-CN" altLang="en-US" sz="2800" b="1" baseline="-25000">
              <a:solidFill>
                <a:schemeClr val="accent1"/>
              </a:solidFill>
            </a:endParaRPr>
          </a:p>
        </p:txBody>
      </p:sp>
      <p:grpSp>
        <p:nvGrpSpPr>
          <p:cNvPr id="34820" name="Group 7"/>
          <p:cNvGrpSpPr/>
          <p:nvPr/>
        </p:nvGrpSpPr>
        <p:grpSpPr bwMode="auto">
          <a:xfrm>
            <a:off x="990600" y="1393825"/>
            <a:ext cx="1066800" cy="1828800"/>
            <a:chOff x="3024" y="816"/>
            <a:chExt cx="672" cy="1440"/>
          </a:xfrm>
        </p:grpSpPr>
        <p:sp>
          <p:nvSpPr>
            <p:cNvPr id="34867" name="AutoShape 8" descr="横向砖形"/>
            <p:cNvSpPr>
              <a:spLocks noChangeArrowheads="1"/>
            </p:cNvSpPr>
            <p:nvPr/>
          </p:nvSpPr>
          <p:spPr bwMode="auto">
            <a:xfrm rot="10800000">
              <a:off x="3024" y="864"/>
              <a:ext cx="624" cy="134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blipFill dpi="0" rotWithShape="0">
              <a:blip r:embed="rId1"/>
              <a:srcRect/>
              <a:tile tx="0" ty="0" sx="100000" sy="100000" flip="none" algn="tl"/>
            </a:blipFill>
            <a:ln w="34925">
              <a:solidFill>
                <a:srgbClr val="000000"/>
              </a:solidFill>
              <a:miter lim="800000"/>
            </a:ln>
          </p:spPr>
          <p:txBody>
            <a:bodyPr wrap="none" anchor="ctr"/>
            <a:lstStyle/>
            <a:p>
              <a:endParaRPr lang="zh-CN" altLang="en-US"/>
            </a:p>
          </p:txBody>
        </p:sp>
        <p:sp useBgFill="1">
          <p:nvSpPr>
            <p:cNvPr id="34868" name="Rectangle 9"/>
            <p:cNvSpPr>
              <a:spLocks noChangeArrowheads="1"/>
            </p:cNvSpPr>
            <p:nvPr/>
          </p:nvSpPr>
          <p:spPr bwMode="auto">
            <a:xfrm>
              <a:off x="3456" y="816"/>
              <a:ext cx="240" cy="144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34869" name="Line 10"/>
            <p:cNvSpPr>
              <a:spLocks noChangeShapeType="1"/>
            </p:cNvSpPr>
            <p:nvPr/>
          </p:nvSpPr>
          <p:spPr bwMode="auto">
            <a:xfrm>
              <a:off x="3456" y="864"/>
              <a:ext cx="0" cy="1344"/>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4821" name="Line 11"/>
          <p:cNvSpPr>
            <a:spLocks noChangeShapeType="1"/>
          </p:cNvSpPr>
          <p:nvPr/>
        </p:nvSpPr>
        <p:spPr bwMode="auto">
          <a:xfrm>
            <a:off x="1676400" y="2278063"/>
            <a:ext cx="4648200" cy="1587"/>
          </a:xfrm>
          <a:prstGeom prst="line">
            <a:avLst/>
          </a:prstGeom>
          <a:noFill/>
          <a:ln w="349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22" name="Line 12"/>
          <p:cNvSpPr>
            <a:spLocks noChangeShapeType="1"/>
          </p:cNvSpPr>
          <p:nvPr/>
        </p:nvSpPr>
        <p:spPr bwMode="auto">
          <a:xfrm>
            <a:off x="1676400" y="3163888"/>
            <a:ext cx="4648200" cy="1587"/>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23" name="Line 13"/>
          <p:cNvSpPr>
            <a:spLocks noChangeShapeType="1"/>
          </p:cNvSpPr>
          <p:nvPr/>
        </p:nvSpPr>
        <p:spPr bwMode="auto">
          <a:xfrm>
            <a:off x="1676400" y="1452563"/>
            <a:ext cx="4648200" cy="1587"/>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24" name="Text Box 14"/>
          <p:cNvSpPr txBox="1">
            <a:spLocks noChangeArrowheads="1"/>
          </p:cNvSpPr>
          <p:nvPr/>
        </p:nvSpPr>
        <p:spPr bwMode="auto">
          <a:xfrm>
            <a:off x="1676400" y="2514600"/>
            <a:ext cx="18446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olidFill>
                  <a:srgbClr val="0000FF"/>
                </a:solidFill>
                <a:latin typeface="Symbol" panose="05050102010706020507" pitchFamily="18" charset="2"/>
              </a:rPr>
              <a:t>g</a:t>
            </a:r>
            <a:r>
              <a:rPr lang="en-US" altLang="zh-CN" sz="2800" b="1" baseline="-25000">
                <a:solidFill>
                  <a:srgbClr val="0000FF"/>
                </a:solidFill>
              </a:rPr>
              <a:t>2</a:t>
            </a:r>
            <a:r>
              <a:rPr lang="en-US" altLang="zh-CN" sz="2800" b="1" i="1">
                <a:solidFill>
                  <a:srgbClr val="0000FF"/>
                </a:solidFill>
              </a:rPr>
              <a:t>  </a:t>
            </a:r>
            <a:r>
              <a:rPr lang="el-GR" altLang="zh-CN" sz="2800" b="1" i="1">
                <a:solidFill>
                  <a:srgbClr val="0000FF"/>
                </a:solidFill>
              </a:rPr>
              <a:t>φ</a:t>
            </a:r>
            <a:r>
              <a:rPr lang="en-US" altLang="zh-CN" sz="2800" b="1" baseline="-25000">
                <a:solidFill>
                  <a:srgbClr val="0000FF"/>
                </a:solidFill>
              </a:rPr>
              <a:t>2</a:t>
            </a:r>
            <a:r>
              <a:rPr lang="en-US" altLang="zh-CN" sz="2800" b="1" i="1">
                <a:solidFill>
                  <a:srgbClr val="0000FF"/>
                </a:solidFill>
              </a:rPr>
              <a:t> </a:t>
            </a:r>
            <a:endParaRPr lang="en-US" altLang="zh-CN" sz="2800" b="1" i="1">
              <a:solidFill>
                <a:srgbClr val="0000FF"/>
              </a:solidFill>
            </a:endParaRPr>
          </a:p>
        </p:txBody>
      </p:sp>
      <p:sp>
        <p:nvSpPr>
          <p:cNvPr id="34825" name="Line 15"/>
          <p:cNvSpPr>
            <a:spLocks noChangeShapeType="1"/>
          </p:cNvSpPr>
          <p:nvPr/>
        </p:nvSpPr>
        <p:spPr bwMode="auto">
          <a:xfrm>
            <a:off x="2743200" y="1452563"/>
            <a:ext cx="1588" cy="8255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26" name="Line 16"/>
          <p:cNvSpPr>
            <a:spLocks noChangeShapeType="1"/>
          </p:cNvSpPr>
          <p:nvPr/>
        </p:nvSpPr>
        <p:spPr bwMode="auto">
          <a:xfrm>
            <a:off x="2743200" y="2278063"/>
            <a:ext cx="1588" cy="885825"/>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27" name="Text Box 17"/>
          <p:cNvSpPr txBox="1">
            <a:spLocks noChangeArrowheads="1"/>
          </p:cNvSpPr>
          <p:nvPr/>
        </p:nvSpPr>
        <p:spPr bwMode="auto">
          <a:xfrm>
            <a:off x="2895600" y="1689100"/>
            <a:ext cx="874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H</a:t>
            </a:r>
            <a:r>
              <a:rPr lang="en-US" altLang="zh-CN" sz="2800" b="1" baseline="-25000"/>
              <a:t>1</a:t>
            </a:r>
            <a:endParaRPr lang="en-US" altLang="zh-CN" sz="2800" b="1"/>
          </a:p>
        </p:txBody>
      </p:sp>
      <p:sp>
        <p:nvSpPr>
          <p:cNvPr id="34828" name="Text Box 18"/>
          <p:cNvSpPr txBox="1">
            <a:spLocks noChangeArrowheads="1"/>
          </p:cNvSpPr>
          <p:nvPr/>
        </p:nvSpPr>
        <p:spPr bwMode="auto">
          <a:xfrm>
            <a:off x="2819400" y="2514600"/>
            <a:ext cx="874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H</a:t>
            </a:r>
            <a:r>
              <a:rPr lang="en-US" altLang="zh-CN" sz="2800" b="1" baseline="-25000"/>
              <a:t>2</a:t>
            </a:r>
            <a:endParaRPr lang="en-US" altLang="zh-CN" sz="2800" b="1"/>
          </a:p>
        </p:txBody>
      </p:sp>
      <p:sp>
        <p:nvSpPr>
          <p:cNvPr id="34829" name="Text Box 19"/>
          <p:cNvSpPr txBox="1">
            <a:spLocks noChangeArrowheads="1"/>
          </p:cNvSpPr>
          <p:nvPr/>
        </p:nvSpPr>
        <p:spPr bwMode="auto">
          <a:xfrm>
            <a:off x="1676400" y="1689100"/>
            <a:ext cx="18446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olidFill>
                  <a:srgbClr val="0000FF"/>
                </a:solidFill>
                <a:latin typeface="Symbol" panose="05050102010706020507" pitchFamily="18" charset="2"/>
              </a:rPr>
              <a:t>g</a:t>
            </a:r>
            <a:r>
              <a:rPr lang="en-US" altLang="zh-CN" sz="2800" b="1" baseline="-25000">
                <a:solidFill>
                  <a:srgbClr val="0000FF"/>
                </a:solidFill>
              </a:rPr>
              <a:t>1</a:t>
            </a:r>
            <a:r>
              <a:rPr lang="en-US" altLang="zh-CN" sz="2800" b="1" i="1">
                <a:solidFill>
                  <a:srgbClr val="0000FF"/>
                </a:solidFill>
              </a:rPr>
              <a:t>   </a:t>
            </a:r>
            <a:r>
              <a:rPr lang="el-GR" altLang="zh-CN" sz="2800" b="1" i="1">
                <a:solidFill>
                  <a:srgbClr val="0000FF"/>
                </a:solidFill>
              </a:rPr>
              <a:t>φ</a:t>
            </a:r>
            <a:r>
              <a:rPr lang="en-US" altLang="zh-CN" sz="2800" b="1" baseline="-25000">
                <a:solidFill>
                  <a:srgbClr val="0000FF"/>
                </a:solidFill>
              </a:rPr>
              <a:t>1</a:t>
            </a:r>
            <a:r>
              <a:rPr lang="en-US" altLang="zh-CN" sz="2800" b="1">
                <a:solidFill>
                  <a:srgbClr val="0000FF"/>
                </a:solidFill>
              </a:rPr>
              <a:t> </a:t>
            </a:r>
            <a:endParaRPr lang="en-US" altLang="zh-CN" sz="2800" b="1" i="1">
              <a:solidFill>
                <a:srgbClr val="0000FF"/>
              </a:solidFill>
            </a:endParaRPr>
          </a:p>
        </p:txBody>
      </p:sp>
      <p:sp>
        <p:nvSpPr>
          <p:cNvPr id="77844" name="Line 20"/>
          <p:cNvSpPr>
            <a:spLocks noChangeShapeType="1"/>
          </p:cNvSpPr>
          <p:nvPr/>
        </p:nvSpPr>
        <p:spPr bwMode="auto">
          <a:xfrm>
            <a:off x="3733800" y="1452563"/>
            <a:ext cx="1588" cy="1711325"/>
          </a:xfrm>
          <a:prstGeom prst="line">
            <a:avLst/>
          </a:prstGeom>
          <a:noFill/>
          <a:ln w="22225">
            <a:solidFill>
              <a:srgbClr val="3333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77845" name="Freeform 21" descr="深色横线"/>
          <p:cNvSpPr/>
          <p:nvPr/>
        </p:nvSpPr>
        <p:spPr bwMode="auto">
          <a:xfrm>
            <a:off x="3733800" y="1452563"/>
            <a:ext cx="762000" cy="825500"/>
          </a:xfrm>
          <a:custGeom>
            <a:avLst/>
            <a:gdLst>
              <a:gd name="T0" fmla="*/ 0 w 576"/>
              <a:gd name="T1" fmla="*/ 0 h 1104"/>
              <a:gd name="T2" fmla="*/ 2147483646 w 576"/>
              <a:gd name="T3" fmla="*/ 2147483646 h 1104"/>
              <a:gd name="T4" fmla="*/ 0 w 576"/>
              <a:gd name="T5" fmla="*/ 2147483646 h 1104"/>
              <a:gd name="T6" fmla="*/ 0 w 576"/>
              <a:gd name="T7" fmla="*/ 0 h 1104"/>
              <a:gd name="T8" fmla="*/ 0 60000 65536"/>
              <a:gd name="T9" fmla="*/ 0 60000 65536"/>
              <a:gd name="T10" fmla="*/ 0 60000 65536"/>
              <a:gd name="T11" fmla="*/ 0 60000 65536"/>
              <a:gd name="T12" fmla="*/ 0 w 576"/>
              <a:gd name="T13" fmla="*/ 0 h 1104"/>
              <a:gd name="T14" fmla="*/ 576 w 576"/>
              <a:gd name="T15" fmla="*/ 1104 h 1104"/>
            </a:gdLst>
            <a:ahLst/>
            <a:cxnLst>
              <a:cxn ang="T8">
                <a:pos x="T0" y="T1"/>
              </a:cxn>
              <a:cxn ang="T9">
                <a:pos x="T2" y="T3"/>
              </a:cxn>
              <a:cxn ang="T10">
                <a:pos x="T4" y="T5"/>
              </a:cxn>
              <a:cxn ang="T11">
                <a:pos x="T6" y="T7"/>
              </a:cxn>
            </a:cxnLst>
            <a:rect l="T12" t="T13" r="T14" b="T15"/>
            <a:pathLst>
              <a:path w="576" h="1104">
                <a:moveTo>
                  <a:pt x="0" y="0"/>
                </a:moveTo>
                <a:lnTo>
                  <a:pt x="576" y="1104"/>
                </a:lnTo>
                <a:lnTo>
                  <a:pt x="0" y="1104"/>
                </a:lnTo>
                <a:lnTo>
                  <a:pt x="0" y="0"/>
                </a:lnTo>
                <a:close/>
              </a:path>
            </a:pathLst>
          </a:custGeom>
          <a:blipFill dpi="0" rotWithShape="0">
            <a:blip r:embed="rId2"/>
            <a:srcRect/>
            <a:tile tx="0" ty="0" sx="100000" sy="100000" flip="none" algn="tl"/>
          </a:blipFill>
          <a:ln w="9525">
            <a:solidFill>
              <a:schemeClr val="tx1"/>
            </a:solidFill>
            <a:round/>
          </a:ln>
        </p:spPr>
        <p:txBody>
          <a:bodyPr/>
          <a:lstStyle/>
          <a:p>
            <a:endParaRPr lang="zh-CN" altLang="en-US"/>
          </a:p>
        </p:txBody>
      </p:sp>
      <p:sp>
        <p:nvSpPr>
          <p:cNvPr id="77846" name="Freeform 22" descr="深色横线"/>
          <p:cNvSpPr/>
          <p:nvPr/>
        </p:nvSpPr>
        <p:spPr bwMode="auto">
          <a:xfrm>
            <a:off x="3733800" y="2278063"/>
            <a:ext cx="2133600" cy="885825"/>
          </a:xfrm>
          <a:custGeom>
            <a:avLst/>
            <a:gdLst>
              <a:gd name="T0" fmla="*/ 0 w 1056"/>
              <a:gd name="T1" fmla="*/ 0 h 632"/>
              <a:gd name="T2" fmla="*/ 2147483646 w 1056"/>
              <a:gd name="T3" fmla="*/ 0 h 632"/>
              <a:gd name="T4" fmla="*/ 2147483646 w 1056"/>
              <a:gd name="T5" fmla="*/ 2147483646 h 632"/>
              <a:gd name="T6" fmla="*/ 0 w 1056"/>
              <a:gd name="T7" fmla="*/ 2147483646 h 632"/>
              <a:gd name="T8" fmla="*/ 0 w 1056"/>
              <a:gd name="T9" fmla="*/ 0 h 632"/>
              <a:gd name="T10" fmla="*/ 0 60000 65536"/>
              <a:gd name="T11" fmla="*/ 0 60000 65536"/>
              <a:gd name="T12" fmla="*/ 0 60000 65536"/>
              <a:gd name="T13" fmla="*/ 0 60000 65536"/>
              <a:gd name="T14" fmla="*/ 0 60000 65536"/>
              <a:gd name="T15" fmla="*/ 0 w 1056"/>
              <a:gd name="T16" fmla="*/ 0 h 632"/>
              <a:gd name="T17" fmla="*/ 1056 w 1056"/>
              <a:gd name="T18" fmla="*/ 632 h 632"/>
            </a:gdLst>
            <a:ahLst/>
            <a:cxnLst>
              <a:cxn ang="T10">
                <a:pos x="T0" y="T1"/>
              </a:cxn>
              <a:cxn ang="T11">
                <a:pos x="T2" y="T3"/>
              </a:cxn>
              <a:cxn ang="T12">
                <a:pos x="T4" y="T5"/>
              </a:cxn>
              <a:cxn ang="T13">
                <a:pos x="T6" y="T7"/>
              </a:cxn>
              <a:cxn ang="T14">
                <a:pos x="T8" y="T9"/>
              </a:cxn>
            </a:cxnLst>
            <a:rect l="T15" t="T16" r="T17" b="T18"/>
            <a:pathLst>
              <a:path w="1056" h="632">
                <a:moveTo>
                  <a:pt x="0" y="0"/>
                </a:moveTo>
                <a:lnTo>
                  <a:pt x="496" y="0"/>
                </a:lnTo>
                <a:lnTo>
                  <a:pt x="1056" y="632"/>
                </a:lnTo>
                <a:lnTo>
                  <a:pt x="0" y="632"/>
                </a:lnTo>
                <a:lnTo>
                  <a:pt x="0" y="0"/>
                </a:lnTo>
                <a:close/>
              </a:path>
            </a:pathLst>
          </a:custGeom>
          <a:blipFill dpi="0" rotWithShape="0">
            <a:blip r:embed="rId3"/>
            <a:srcRect/>
            <a:tile tx="0" ty="0" sx="100000" sy="100000" flip="none" algn="tl"/>
          </a:blipFill>
          <a:ln w="12700" cap="sq">
            <a:solidFill>
              <a:schemeClr val="tx1"/>
            </a:solidFill>
            <a:round/>
            <a:headEnd type="none" w="sm" len="sm"/>
            <a:tailEnd type="none" w="sm" len="sm"/>
          </a:ln>
        </p:spPr>
        <p:txBody>
          <a:bodyPr wrap="none" anchor="ctr"/>
          <a:lstStyle/>
          <a:p>
            <a:endParaRPr lang="zh-CN" altLang="en-US"/>
          </a:p>
        </p:txBody>
      </p:sp>
      <p:graphicFrame>
        <p:nvGraphicFramePr>
          <p:cNvPr id="77847" name="Object 23"/>
          <p:cNvGraphicFramePr>
            <a:graphicFrameLocks noChangeAspect="1"/>
          </p:cNvGraphicFramePr>
          <p:nvPr/>
        </p:nvGraphicFramePr>
        <p:xfrm>
          <a:off x="4114800" y="1698625"/>
          <a:ext cx="1025525" cy="449263"/>
        </p:xfrm>
        <a:graphic>
          <a:graphicData uri="http://schemas.openxmlformats.org/presentationml/2006/ole">
            <mc:AlternateContent xmlns:mc="http://schemas.openxmlformats.org/markup-compatibility/2006">
              <mc:Choice xmlns:v="urn:schemas-microsoft-com:vml" Requires="v">
                <p:oleObj spid="_x0000_s10260" name="Equation" r:id="rId4" imgW="520700" imgH="228600" progId="Equation.3">
                  <p:embed/>
                </p:oleObj>
              </mc:Choice>
              <mc:Fallback>
                <p:oleObj name="Equation" r:id="rId4" imgW="520700" imgH="228600" progId="Equation.3">
                  <p:embed/>
                  <p:pic>
                    <p:nvPicPr>
                      <p:cNvPr id="0" name="Object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1698625"/>
                        <a:ext cx="1025525" cy="449263"/>
                      </a:xfrm>
                      <a:prstGeom prst="rect">
                        <a:avLst/>
                      </a:prstGeom>
                      <a:solidFill>
                        <a:srgbClr val="FFFF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48" name="Object 24"/>
          <p:cNvGraphicFramePr>
            <a:graphicFrameLocks noChangeAspect="1"/>
          </p:cNvGraphicFramePr>
          <p:nvPr/>
        </p:nvGraphicFramePr>
        <p:xfrm>
          <a:off x="4660900" y="2308225"/>
          <a:ext cx="1100138" cy="449263"/>
        </p:xfrm>
        <a:graphic>
          <a:graphicData uri="http://schemas.openxmlformats.org/presentationml/2006/ole">
            <mc:AlternateContent xmlns:mc="http://schemas.openxmlformats.org/markup-compatibility/2006">
              <mc:Choice xmlns:v="urn:schemas-microsoft-com:vml" Requires="v">
                <p:oleObj spid="_x0000_s10261" name="公式" r:id="rId6" imgW="558800" imgH="228600" progId="Equation.3">
                  <p:embed/>
                </p:oleObj>
              </mc:Choice>
              <mc:Fallback>
                <p:oleObj name="公式" r:id="rId6" imgW="558800" imgH="228600" progId="Equation.3">
                  <p:embed/>
                  <p:pic>
                    <p:nvPicPr>
                      <p:cNvPr id="0" name="Object 2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60900" y="2308225"/>
                        <a:ext cx="1100138" cy="449263"/>
                      </a:xfrm>
                      <a:prstGeom prst="rect">
                        <a:avLst/>
                      </a:prstGeom>
                      <a:solidFill>
                        <a:srgbClr val="00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49" name="Object 25"/>
          <p:cNvGraphicFramePr>
            <a:graphicFrameLocks noChangeAspect="1"/>
          </p:cNvGraphicFramePr>
          <p:nvPr/>
        </p:nvGraphicFramePr>
        <p:xfrm>
          <a:off x="5334000" y="3048000"/>
          <a:ext cx="2301875" cy="449263"/>
        </p:xfrm>
        <a:graphic>
          <a:graphicData uri="http://schemas.openxmlformats.org/presentationml/2006/ole">
            <mc:AlternateContent xmlns:mc="http://schemas.openxmlformats.org/markup-compatibility/2006">
              <mc:Choice xmlns:v="urn:schemas-microsoft-com:vml" Requires="v">
                <p:oleObj spid="_x0000_s10262" name="公式" r:id="rId8" imgW="1168400" imgH="228600" progId="Equation.3">
                  <p:embed/>
                </p:oleObj>
              </mc:Choice>
              <mc:Fallback>
                <p:oleObj name="公式" r:id="rId8" imgW="1168400" imgH="228600" progId="Equation.3">
                  <p:embed/>
                  <p:pic>
                    <p:nvPicPr>
                      <p:cNvPr id="0" name="Object 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34000" y="3048000"/>
                        <a:ext cx="2301875" cy="449263"/>
                      </a:xfrm>
                      <a:prstGeom prst="rect">
                        <a:avLst/>
                      </a:prstGeom>
                      <a:solidFill>
                        <a:srgbClr val="00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850" name="Line 26"/>
          <p:cNvSpPr>
            <a:spLocks noChangeShapeType="1"/>
          </p:cNvSpPr>
          <p:nvPr/>
        </p:nvSpPr>
        <p:spPr bwMode="auto">
          <a:xfrm>
            <a:off x="2667000" y="4038600"/>
            <a:ext cx="1588" cy="1711325"/>
          </a:xfrm>
          <a:prstGeom prst="line">
            <a:avLst/>
          </a:prstGeom>
          <a:noFill/>
          <a:ln w="22225">
            <a:solidFill>
              <a:srgbClr val="3333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77851" name="Line 27"/>
          <p:cNvSpPr>
            <a:spLocks noChangeShapeType="1"/>
          </p:cNvSpPr>
          <p:nvPr/>
        </p:nvSpPr>
        <p:spPr bwMode="auto">
          <a:xfrm>
            <a:off x="4664075" y="4003675"/>
            <a:ext cx="1588" cy="1711325"/>
          </a:xfrm>
          <a:prstGeom prst="line">
            <a:avLst/>
          </a:prstGeom>
          <a:noFill/>
          <a:ln w="22225">
            <a:solidFill>
              <a:srgbClr val="3333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77852" name="Line 28"/>
          <p:cNvSpPr>
            <a:spLocks noChangeShapeType="1"/>
          </p:cNvSpPr>
          <p:nvPr/>
        </p:nvSpPr>
        <p:spPr bwMode="auto">
          <a:xfrm>
            <a:off x="6248400" y="4038600"/>
            <a:ext cx="1588" cy="1711325"/>
          </a:xfrm>
          <a:prstGeom prst="line">
            <a:avLst/>
          </a:prstGeom>
          <a:noFill/>
          <a:ln w="22225">
            <a:solidFill>
              <a:srgbClr val="3333FF"/>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3" name="Group 29"/>
          <p:cNvGrpSpPr/>
          <p:nvPr/>
        </p:nvGrpSpPr>
        <p:grpSpPr bwMode="auto">
          <a:xfrm>
            <a:off x="609600" y="3962400"/>
            <a:ext cx="7086600" cy="1828800"/>
            <a:chOff x="384" y="2496"/>
            <a:chExt cx="4464" cy="1152"/>
          </a:xfrm>
        </p:grpSpPr>
        <p:grpSp>
          <p:nvGrpSpPr>
            <p:cNvPr id="34859" name="Group 30"/>
            <p:cNvGrpSpPr/>
            <p:nvPr/>
          </p:nvGrpSpPr>
          <p:grpSpPr bwMode="auto">
            <a:xfrm>
              <a:off x="384" y="2496"/>
              <a:ext cx="672" cy="1152"/>
              <a:chOff x="3024" y="816"/>
              <a:chExt cx="672" cy="1440"/>
            </a:xfrm>
          </p:grpSpPr>
          <p:sp>
            <p:nvSpPr>
              <p:cNvPr id="34864" name="AutoShape 31" descr="横向砖形"/>
              <p:cNvSpPr>
                <a:spLocks noChangeArrowheads="1"/>
              </p:cNvSpPr>
              <p:nvPr/>
            </p:nvSpPr>
            <p:spPr bwMode="auto">
              <a:xfrm rot="10800000">
                <a:off x="3024" y="864"/>
                <a:ext cx="624" cy="134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blipFill dpi="0" rotWithShape="0">
                <a:blip r:embed="rId1"/>
                <a:srcRect/>
                <a:tile tx="0" ty="0" sx="100000" sy="100000" flip="none" algn="tl"/>
              </a:blipFill>
              <a:ln w="34925">
                <a:solidFill>
                  <a:srgbClr val="000000"/>
                </a:solidFill>
                <a:miter lim="800000"/>
              </a:ln>
            </p:spPr>
            <p:txBody>
              <a:bodyPr wrap="none" anchor="ctr"/>
              <a:lstStyle/>
              <a:p>
                <a:endParaRPr lang="zh-CN" altLang="en-US"/>
              </a:p>
            </p:txBody>
          </p:sp>
          <p:sp useBgFill="1">
            <p:nvSpPr>
              <p:cNvPr id="34865" name="Rectangle 32"/>
              <p:cNvSpPr>
                <a:spLocks noChangeArrowheads="1"/>
              </p:cNvSpPr>
              <p:nvPr/>
            </p:nvSpPr>
            <p:spPr bwMode="auto">
              <a:xfrm>
                <a:off x="3456" y="816"/>
                <a:ext cx="240" cy="144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34866" name="Line 33"/>
              <p:cNvSpPr>
                <a:spLocks noChangeShapeType="1"/>
              </p:cNvSpPr>
              <p:nvPr/>
            </p:nvSpPr>
            <p:spPr bwMode="auto">
              <a:xfrm>
                <a:off x="3456" y="864"/>
                <a:ext cx="0" cy="1344"/>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4860" name="Line 34"/>
            <p:cNvSpPr>
              <a:spLocks noChangeShapeType="1"/>
            </p:cNvSpPr>
            <p:nvPr/>
          </p:nvSpPr>
          <p:spPr bwMode="auto">
            <a:xfrm>
              <a:off x="816" y="2544"/>
              <a:ext cx="1" cy="1078"/>
            </a:xfrm>
            <a:prstGeom prst="line">
              <a:avLst/>
            </a:prstGeom>
            <a:noFill/>
            <a:ln w="22225">
              <a:solidFill>
                <a:srgbClr val="3333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61" name="Line 35"/>
            <p:cNvSpPr>
              <a:spLocks noChangeShapeType="1"/>
            </p:cNvSpPr>
            <p:nvPr/>
          </p:nvSpPr>
          <p:spPr bwMode="auto">
            <a:xfrm>
              <a:off x="816" y="3600"/>
              <a:ext cx="4032" cy="0"/>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62" name="Line 36"/>
            <p:cNvSpPr>
              <a:spLocks noChangeShapeType="1"/>
            </p:cNvSpPr>
            <p:nvPr/>
          </p:nvSpPr>
          <p:spPr bwMode="auto">
            <a:xfrm>
              <a:off x="816" y="3072"/>
              <a:ext cx="4032" cy="0"/>
            </a:xfrm>
            <a:prstGeom prst="line">
              <a:avLst/>
            </a:prstGeom>
            <a:noFill/>
            <a:ln w="9525">
              <a:solidFill>
                <a:srgbClr val="FF66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63" name="Line 37"/>
            <p:cNvSpPr>
              <a:spLocks noChangeShapeType="1"/>
            </p:cNvSpPr>
            <p:nvPr/>
          </p:nvSpPr>
          <p:spPr bwMode="auto">
            <a:xfrm>
              <a:off x="816" y="2544"/>
              <a:ext cx="4032" cy="0"/>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7862" name="Text Box 38"/>
          <p:cNvSpPr txBox="1">
            <a:spLocks noChangeArrowheads="1"/>
          </p:cNvSpPr>
          <p:nvPr/>
        </p:nvSpPr>
        <p:spPr bwMode="auto">
          <a:xfrm>
            <a:off x="1447800" y="5867400"/>
            <a:ext cx="1981200" cy="6461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l-GR" altLang="zh-CN" sz="3600" b="1" i="1"/>
              <a:t>φ</a:t>
            </a:r>
            <a:r>
              <a:rPr lang="en-US" altLang="zh-CN" sz="3400" b="1" baseline="-25000"/>
              <a:t>1</a:t>
            </a:r>
            <a:r>
              <a:rPr lang="en-US" altLang="zh-CN" sz="3400" b="1" i="1" baseline="-25000"/>
              <a:t> </a:t>
            </a:r>
            <a:r>
              <a:rPr lang="en-US" altLang="zh-CN" sz="3400" b="1" i="1">
                <a:sym typeface="Symbol" panose="05050102010706020507" pitchFamily="18" charset="2"/>
              </a:rPr>
              <a:t>=</a:t>
            </a:r>
            <a:r>
              <a:rPr lang="en-US" altLang="zh-CN" sz="3400" b="1" i="1"/>
              <a:t> </a:t>
            </a:r>
            <a:r>
              <a:rPr lang="el-GR" altLang="zh-CN" sz="3600" b="1" i="1"/>
              <a:t>φ</a:t>
            </a:r>
            <a:r>
              <a:rPr lang="en-US" altLang="zh-CN" sz="3400" b="1" baseline="-25000"/>
              <a:t>2</a:t>
            </a:r>
            <a:r>
              <a:rPr lang="en-US" altLang="zh-CN" sz="3400" b="1"/>
              <a:t> </a:t>
            </a:r>
            <a:r>
              <a:rPr lang="zh-CN" altLang="en-US" sz="3400" b="1"/>
              <a:t>时</a:t>
            </a:r>
            <a:endParaRPr lang="zh-CN" altLang="en-US" sz="3400" b="1"/>
          </a:p>
        </p:txBody>
      </p:sp>
      <p:sp>
        <p:nvSpPr>
          <p:cNvPr id="77863" name="Line 39"/>
          <p:cNvSpPr>
            <a:spLocks noChangeShapeType="1"/>
          </p:cNvSpPr>
          <p:nvPr/>
        </p:nvSpPr>
        <p:spPr bwMode="auto">
          <a:xfrm>
            <a:off x="1600200" y="4876800"/>
            <a:ext cx="685800" cy="838200"/>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77864" name="Line 40"/>
          <p:cNvSpPr>
            <a:spLocks noChangeShapeType="1"/>
          </p:cNvSpPr>
          <p:nvPr/>
        </p:nvSpPr>
        <p:spPr bwMode="auto">
          <a:xfrm>
            <a:off x="2667000" y="4038600"/>
            <a:ext cx="609600" cy="838200"/>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77865" name="Line 41"/>
          <p:cNvSpPr>
            <a:spLocks noChangeShapeType="1"/>
          </p:cNvSpPr>
          <p:nvPr/>
        </p:nvSpPr>
        <p:spPr bwMode="auto">
          <a:xfrm>
            <a:off x="3276600" y="4876800"/>
            <a:ext cx="228600" cy="838200"/>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77866" name="Text Box 42"/>
          <p:cNvSpPr txBox="1">
            <a:spLocks noChangeArrowheads="1"/>
          </p:cNvSpPr>
          <p:nvPr/>
        </p:nvSpPr>
        <p:spPr bwMode="auto">
          <a:xfrm>
            <a:off x="1066800" y="510540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solidFill>
                  <a:srgbClr val="993300"/>
                </a:solidFill>
                <a:latin typeface="Symbol" panose="05050102010706020507" pitchFamily="18" charset="2"/>
              </a:rPr>
              <a:t>  g</a:t>
            </a:r>
            <a:r>
              <a:rPr lang="en-US" altLang="zh-CN" b="1" baseline="-25000">
                <a:solidFill>
                  <a:srgbClr val="993300"/>
                </a:solidFill>
              </a:rPr>
              <a:t>2</a:t>
            </a:r>
            <a:r>
              <a:rPr lang="en-US" altLang="zh-CN" b="1" i="1">
                <a:solidFill>
                  <a:srgbClr val="993300"/>
                </a:solidFill>
              </a:rPr>
              <a:t> </a:t>
            </a:r>
            <a:r>
              <a:rPr lang="en-US" altLang="zh-CN" b="1">
                <a:solidFill>
                  <a:srgbClr val="993300"/>
                </a:solidFill>
                <a:sym typeface="Symbol" panose="05050102010706020507" pitchFamily="18" charset="2"/>
              </a:rPr>
              <a:t>&gt;</a:t>
            </a:r>
            <a:r>
              <a:rPr lang="en-US" altLang="zh-CN" b="1" i="1">
                <a:solidFill>
                  <a:srgbClr val="993300"/>
                </a:solidFill>
              </a:rPr>
              <a:t> </a:t>
            </a:r>
            <a:r>
              <a:rPr lang="en-US" altLang="zh-CN" b="1" i="1">
                <a:solidFill>
                  <a:srgbClr val="993300"/>
                </a:solidFill>
                <a:latin typeface="Symbol" panose="05050102010706020507" pitchFamily="18" charset="2"/>
              </a:rPr>
              <a:t>g</a:t>
            </a:r>
            <a:r>
              <a:rPr lang="en-US" altLang="zh-CN" b="1" baseline="-25000">
                <a:solidFill>
                  <a:srgbClr val="993300"/>
                </a:solidFill>
              </a:rPr>
              <a:t>1</a:t>
            </a:r>
            <a:endParaRPr lang="en-US" altLang="zh-CN" b="1" baseline="-25000">
              <a:solidFill>
                <a:srgbClr val="993300"/>
              </a:solidFill>
            </a:endParaRPr>
          </a:p>
        </p:txBody>
      </p:sp>
      <p:sp>
        <p:nvSpPr>
          <p:cNvPr id="77867" name="Line 43"/>
          <p:cNvSpPr>
            <a:spLocks noChangeShapeType="1"/>
          </p:cNvSpPr>
          <p:nvPr/>
        </p:nvSpPr>
        <p:spPr bwMode="auto">
          <a:xfrm>
            <a:off x="1295400" y="4038600"/>
            <a:ext cx="304800" cy="838200"/>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77868" name="Text Box 44"/>
          <p:cNvSpPr txBox="1">
            <a:spLocks noChangeArrowheads="1"/>
          </p:cNvSpPr>
          <p:nvPr/>
        </p:nvSpPr>
        <p:spPr bwMode="auto">
          <a:xfrm>
            <a:off x="2438400" y="510540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solidFill>
                  <a:srgbClr val="993300"/>
                </a:solidFill>
                <a:latin typeface="Symbol" panose="05050102010706020507" pitchFamily="18" charset="2"/>
              </a:rPr>
              <a:t>  g</a:t>
            </a:r>
            <a:r>
              <a:rPr lang="en-US" altLang="zh-CN" b="1" baseline="-25000">
                <a:solidFill>
                  <a:srgbClr val="993300"/>
                </a:solidFill>
              </a:rPr>
              <a:t>2</a:t>
            </a:r>
            <a:r>
              <a:rPr lang="en-US" altLang="zh-CN" b="1" i="1">
                <a:solidFill>
                  <a:srgbClr val="993300"/>
                </a:solidFill>
              </a:rPr>
              <a:t> </a:t>
            </a:r>
            <a:r>
              <a:rPr lang="en-US" altLang="zh-CN" b="1">
                <a:solidFill>
                  <a:srgbClr val="993300"/>
                </a:solidFill>
                <a:sym typeface="Symbol" panose="05050102010706020507" pitchFamily="18" charset="2"/>
              </a:rPr>
              <a:t>&lt;</a:t>
            </a:r>
            <a:r>
              <a:rPr lang="en-US" altLang="zh-CN" b="1" i="1">
                <a:solidFill>
                  <a:srgbClr val="993300"/>
                </a:solidFill>
              </a:rPr>
              <a:t> </a:t>
            </a:r>
            <a:r>
              <a:rPr lang="en-US" altLang="zh-CN" b="1" i="1">
                <a:solidFill>
                  <a:srgbClr val="993300"/>
                </a:solidFill>
                <a:latin typeface="Symbol" panose="05050102010706020507" pitchFamily="18" charset="2"/>
              </a:rPr>
              <a:t>g</a:t>
            </a:r>
            <a:r>
              <a:rPr lang="en-US" altLang="zh-CN" b="1" baseline="-25000">
                <a:solidFill>
                  <a:srgbClr val="993300"/>
                </a:solidFill>
              </a:rPr>
              <a:t>1</a:t>
            </a:r>
            <a:endParaRPr lang="en-US" altLang="zh-CN" b="1" baseline="-25000">
              <a:solidFill>
                <a:srgbClr val="993300"/>
              </a:solidFill>
            </a:endParaRPr>
          </a:p>
        </p:txBody>
      </p:sp>
      <p:sp>
        <p:nvSpPr>
          <p:cNvPr id="77869" name="Text Box 45"/>
          <p:cNvSpPr txBox="1">
            <a:spLocks noChangeArrowheads="1"/>
          </p:cNvSpPr>
          <p:nvPr/>
        </p:nvSpPr>
        <p:spPr bwMode="auto">
          <a:xfrm>
            <a:off x="4953000" y="5867400"/>
            <a:ext cx="2057400" cy="609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3400" b="1" i="1">
                <a:latin typeface="Symbol" panose="05050102010706020507" pitchFamily="18" charset="2"/>
              </a:rPr>
              <a:t>g</a:t>
            </a:r>
            <a:r>
              <a:rPr lang="en-US" altLang="zh-CN" sz="3400" b="1" baseline="-25000"/>
              <a:t>1</a:t>
            </a:r>
            <a:r>
              <a:rPr lang="en-US" altLang="zh-CN" sz="3400" b="1" i="1"/>
              <a:t> </a:t>
            </a:r>
            <a:r>
              <a:rPr lang="en-US" altLang="zh-CN" sz="3400" b="1">
                <a:sym typeface="Symbol" panose="05050102010706020507" pitchFamily="18" charset="2"/>
              </a:rPr>
              <a:t>=</a:t>
            </a:r>
            <a:r>
              <a:rPr lang="en-US" altLang="zh-CN" sz="3400" b="1" i="1"/>
              <a:t> </a:t>
            </a:r>
            <a:r>
              <a:rPr lang="en-US" altLang="zh-CN" sz="3400" b="1" i="1">
                <a:latin typeface="Symbol" panose="05050102010706020507" pitchFamily="18" charset="2"/>
              </a:rPr>
              <a:t>g</a:t>
            </a:r>
            <a:r>
              <a:rPr lang="en-US" altLang="zh-CN" sz="3400" b="1" baseline="-25000"/>
              <a:t>2</a:t>
            </a:r>
            <a:r>
              <a:rPr lang="en-US" altLang="zh-CN" sz="3400" b="1"/>
              <a:t> </a:t>
            </a:r>
            <a:r>
              <a:rPr lang="zh-CN" altLang="en-US" sz="3400" b="1"/>
              <a:t>时</a:t>
            </a:r>
            <a:endParaRPr lang="zh-CN" altLang="en-US" sz="3400" b="1"/>
          </a:p>
        </p:txBody>
      </p:sp>
      <p:sp>
        <p:nvSpPr>
          <p:cNvPr id="77871" name="Line 47"/>
          <p:cNvSpPr>
            <a:spLocks noChangeShapeType="1"/>
          </p:cNvSpPr>
          <p:nvPr/>
        </p:nvSpPr>
        <p:spPr bwMode="auto">
          <a:xfrm>
            <a:off x="4724400" y="4038600"/>
            <a:ext cx="685800" cy="838200"/>
          </a:xfrm>
          <a:prstGeom prst="line">
            <a:avLst/>
          </a:prstGeom>
          <a:noFill/>
          <a:ln w="34925">
            <a:solidFill>
              <a:srgbClr val="99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7872" name="Line 48"/>
          <p:cNvSpPr>
            <a:spLocks noChangeShapeType="1"/>
          </p:cNvSpPr>
          <p:nvPr/>
        </p:nvSpPr>
        <p:spPr bwMode="auto">
          <a:xfrm>
            <a:off x="5029200" y="4876800"/>
            <a:ext cx="381000" cy="838200"/>
          </a:xfrm>
          <a:prstGeom prst="line">
            <a:avLst/>
          </a:prstGeom>
          <a:noFill/>
          <a:ln w="34925">
            <a:solidFill>
              <a:srgbClr val="99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7873" name="Line 49"/>
          <p:cNvSpPr>
            <a:spLocks noChangeShapeType="1"/>
          </p:cNvSpPr>
          <p:nvPr/>
        </p:nvSpPr>
        <p:spPr bwMode="auto">
          <a:xfrm>
            <a:off x="4724400" y="4038600"/>
            <a:ext cx="304800" cy="838200"/>
          </a:xfrm>
          <a:prstGeom prst="line">
            <a:avLst/>
          </a:prstGeom>
          <a:noFill/>
          <a:ln w="22225">
            <a:solidFill>
              <a:schemeClr val="folHlink"/>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77874" name="Line 50"/>
          <p:cNvSpPr>
            <a:spLocks noChangeShapeType="1"/>
          </p:cNvSpPr>
          <p:nvPr/>
        </p:nvSpPr>
        <p:spPr bwMode="auto">
          <a:xfrm flipH="1">
            <a:off x="5029200" y="4876800"/>
            <a:ext cx="381000" cy="0"/>
          </a:xfrm>
          <a:prstGeom prst="line">
            <a:avLst/>
          </a:prstGeom>
          <a:noFill/>
          <a:ln w="34925">
            <a:solidFill>
              <a:srgbClr val="99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7875" name="Line 51"/>
          <p:cNvSpPr>
            <a:spLocks noChangeShapeType="1"/>
          </p:cNvSpPr>
          <p:nvPr/>
        </p:nvSpPr>
        <p:spPr bwMode="auto">
          <a:xfrm>
            <a:off x="6248400" y="4038600"/>
            <a:ext cx="457200" cy="838200"/>
          </a:xfrm>
          <a:prstGeom prst="line">
            <a:avLst/>
          </a:prstGeom>
          <a:noFill/>
          <a:ln w="22225">
            <a:solidFill>
              <a:schemeClr val="folHlink"/>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77876" name="Line 52"/>
          <p:cNvSpPr>
            <a:spLocks noChangeShapeType="1"/>
          </p:cNvSpPr>
          <p:nvPr/>
        </p:nvSpPr>
        <p:spPr bwMode="auto">
          <a:xfrm>
            <a:off x="6248400" y="4038600"/>
            <a:ext cx="228600" cy="838200"/>
          </a:xfrm>
          <a:prstGeom prst="line">
            <a:avLst/>
          </a:prstGeom>
          <a:noFill/>
          <a:ln w="34925">
            <a:solidFill>
              <a:srgbClr val="99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7877" name="Line 53"/>
          <p:cNvSpPr>
            <a:spLocks noChangeShapeType="1"/>
          </p:cNvSpPr>
          <p:nvPr/>
        </p:nvSpPr>
        <p:spPr bwMode="auto">
          <a:xfrm flipH="1">
            <a:off x="6477000" y="4876800"/>
            <a:ext cx="228600" cy="0"/>
          </a:xfrm>
          <a:prstGeom prst="line">
            <a:avLst/>
          </a:prstGeom>
          <a:noFill/>
          <a:ln w="34925">
            <a:solidFill>
              <a:srgbClr val="99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7878" name="Line 54"/>
          <p:cNvSpPr>
            <a:spLocks noChangeShapeType="1"/>
          </p:cNvSpPr>
          <p:nvPr/>
        </p:nvSpPr>
        <p:spPr bwMode="auto">
          <a:xfrm>
            <a:off x="6705600" y="4876800"/>
            <a:ext cx="457200" cy="838200"/>
          </a:xfrm>
          <a:prstGeom prst="line">
            <a:avLst/>
          </a:prstGeom>
          <a:noFill/>
          <a:ln w="34925">
            <a:solidFill>
              <a:srgbClr val="99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4" name="文本框 53"/>
          <p:cNvSpPr txBox="1">
            <a:spLocks noRot="1" noChangeAspect="1" noMove="1" noResize="1" noEditPoints="1" noAdjustHandles="1" noChangeArrowheads="1" noChangeShapeType="1" noTextEdit="1"/>
          </p:cNvSpPr>
          <p:nvPr/>
        </p:nvSpPr>
        <p:spPr>
          <a:xfrm>
            <a:off x="3709736" y="698627"/>
            <a:ext cx="3567364" cy="525337"/>
          </a:xfrm>
          <a:prstGeom prst="rect">
            <a:avLst/>
          </a:prstGeom>
          <a:blipFill>
            <a:blip r:embed="rId10"/>
            <a:stretch>
              <a:fillRect/>
            </a:stretch>
          </a:blipFill>
        </p:spPr>
        <p:txBody>
          <a:bodyPr/>
          <a:lstStyle/>
          <a:p>
            <a:r>
              <a:rPr lang="zh-CN" altLang="en-US">
                <a:noFill/>
              </a:rPr>
              <a:t> </a:t>
            </a:r>
            <a:endParaRPr lang="zh-CN" altLang="en-US">
              <a:noFill/>
            </a:endParaRPr>
          </a:p>
        </p:txBody>
      </p:sp>
      <p:sp>
        <p:nvSpPr>
          <p:cNvPr id="55" name="Text Box 3"/>
          <p:cNvSpPr txBox="1">
            <a:spLocks noChangeArrowheads="1"/>
          </p:cNvSpPr>
          <p:nvPr/>
        </p:nvSpPr>
        <p:spPr bwMode="auto">
          <a:xfrm>
            <a:off x="6200775" y="5149850"/>
            <a:ext cx="1066800" cy="400050"/>
          </a:xfrm>
          <a:prstGeom prst="rect">
            <a:avLst/>
          </a:prstGeom>
          <a:solidFill>
            <a:schemeClr val="accent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l-GR" altLang="zh-CN" sz="2000" b="1" i="1"/>
              <a:t>φ</a:t>
            </a:r>
            <a:r>
              <a:rPr lang="en-US" altLang="zh-CN" sz="2000" b="1" baseline="-25000"/>
              <a:t>2</a:t>
            </a:r>
            <a:r>
              <a:rPr lang="en-US" altLang="zh-CN" sz="2000" b="1" i="1" baseline="-25000"/>
              <a:t> </a:t>
            </a:r>
            <a:r>
              <a:rPr lang="en-US" altLang="zh-CN" sz="2000" b="1" i="1">
                <a:sym typeface="Symbol" panose="05050102010706020507" pitchFamily="18" charset="2"/>
              </a:rPr>
              <a:t>&lt;</a:t>
            </a:r>
            <a:r>
              <a:rPr lang="en-US" altLang="zh-CN" sz="2000" b="1" i="1"/>
              <a:t> </a:t>
            </a:r>
            <a:r>
              <a:rPr lang="el-GR" altLang="zh-CN" sz="2000" b="1" i="1"/>
              <a:t>φ </a:t>
            </a:r>
            <a:r>
              <a:rPr lang="en-US" altLang="zh-CN" sz="2000" b="1" baseline="-25000"/>
              <a:t>1</a:t>
            </a:r>
            <a:endParaRPr lang="en-US" altLang="zh-CN" sz="2000" b="1" baseline="-25000"/>
          </a:p>
        </p:txBody>
      </p:sp>
      <p:sp>
        <p:nvSpPr>
          <p:cNvPr id="56" name="Rectangle 6"/>
          <p:cNvSpPr>
            <a:spLocks noChangeArrowheads="1"/>
          </p:cNvSpPr>
          <p:nvPr/>
        </p:nvSpPr>
        <p:spPr bwMode="auto">
          <a:xfrm>
            <a:off x="-3175" y="-9842"/>
            <a:ext cx="3617913"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朗肯土压力理论</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7844"/>
                                        </p:tgtEl>
                                        <p:attrNameLst>
                                          <p:attrName>style.visibility</p:attrName>
                                        </p:attrNameLst>
                                      </p:cBhvr>
                                      <p:to>
                                        <p:strVal val="visible"/>
                                      </p:to>
                                    </p:set>
                                    <p:animEffect transition="in" filter="wipe(up)">
                                      <p:cBhvr>
                                        <p:cTn id="7" dur="500"/>
                                        <p:tgtEl>
                                          <p:spTgt spid="7784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7845"/>
                                        </p:tgtEl>
                                        <p:attrNameLst>
                                          <p:attrName>style.visibility</p:attrName>
                                        </p:attrNameLst>
                                      </p:cBhvr>
                                      <p:to>
                                        <p:strVal val="visible"/>
                                      </p:to>
                                    </p:set>
                                    <p:animEffect transition="in" filter="wipe(up)">
                                      <p:cBhvr>
                                        <p:cTn id="12" dur="500"/>
                                        <p:tgtEl>
                                          <p:spTgt spid="7784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7847"/>
                                        </p:tgtEl>
                                        <p:attrNameLst>
                                          <p:attrName>style.visibility</p:attrName>
                                        </p:attrNameLst>
                                      </p:cBhvr>
                                      <p:to>
                                        <p:strVal val="visible"/>
                                      </p:to>
                                    </p:set>
                                    <p:animEffect transition="in" filter="dissolve">
                                      <p:cBhvr>
                                        <p:cTn id="17" dur="500"/>
                                        <p:tgtEl>
                                          <p:spTgt spid="7784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77846"/>
                                        </p:tgtEl>
                                        <p:attrNameLst>
                                          <p:attrName>style.visibility</p:attrName>
                                        </p:attrNameLst>
                                      </p:cBhvr>
                                      <p:to>
                                        <p:strVal val="visible"/>
                                      </p:to>
                                    </p:set>
                                    <p:animEffect transition="in" filter="wipe(up)">
                                      <p:cBhvr>
                                        <p:cTn id="22" dur="500"/>
                                        <p:tgtEl>
                                          <p:spTgt spid="7784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77848"/>
                                        </p:tgtEl>
                                        <p:attrNameLst>
                                          <p:attrName>style.visibility</p:attrName>
                                        </p:attrNameLst>
                                      </p:cBhvr>
                                      <p:to>
                                        <p:strVal val="visible"/>
                                      </p:to>
                                    </p:set>
                                    <p:animEffect transition="in" filter="dissolve">
                                      <p:cBhvr>
                                        <p:cTn id="27" dur="500"/>
                                        <p:tgtEl>
                                          <p:spTgt spid="7784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77849"/>
                                        </p:tgtEl>
                                        <p:attrNameLst>
                                          <p:attrName>style.visibility</p:attrName>
                                        </p:attrNameLst>
                                      </p:cBhvr>
                                      <p:to>
                                        <p:strVal val="visible"/>
                                      </p:to>
                                    </p:set>
                                    <p:animEffect transition="in" filter="dissolve">
                                      <p:cBhvr>
                                        <p:cTn id="32" dur="500"/>
                                        <p:tgtEl>
                                          <p:spTgt spid="7784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dissolve">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77862"/>
                                        </p:tgtEl>
                                        <p:attrNameLst>
                                          <p:attrName>style.visibility</p:attrName>
                                        </p:attrNameLst>
                                      </p:cBhvr>
                                      <p:to>
                                        <p:strVal val="visible"/>
                                      </p:to>
                                    </p:set>
                                    <p:animEffect transition="in" filter="slide(fromBottom)">
                                      <p:cBhvr>
                                        <p:cTn id="42" dur="500"/>
                                        <p:tgtEl>
                                          <p:spTgt spid="77862"/>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77866"/>
                                        </p:tgtEl>
                                        <p:attrNameLst>
                                          <p:attrName>style.visibility</p:attrName>
                                        </p:attrNameLst>
                                      </p:cBhvr>
                                      <p:to>
                                        <p:strVal val="visible"/>
                                      </p:to>
                                    </p:set>
                                    <p:animEffect transition="in" filter="dissolve">
                                      <p:cBhvr>
                                        <p:cTn id="47" dur="500"/>
                                        <p:tgtEl>
                                          <p:spTgt spid="7786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77867"/>
                                        </p:tgtEl>
                                        <p:attrNameLst>
                                          <p:attrName>style.visibility</p:attrName>
                                        </p:attrNameLst>
                                      </p:cBhvr>
                                      <p:to>
                                        <p:strVal val="visible"/>
                                      </p:to>
                                    </p:set>
                                    <p:animEffect transition="in" filter="wipe(up)">
                                      <p:cBhvr>
                                        <p:cTn id="52" dur="500"/>
                                        <p:tgtEl>
                                          <p:spTgt spid="7786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77863"/>
                                        </p:tgtEl>
                                        <p:attrNameLst>
                                          <p:attrName>style.visibility</p:attrName>
                                        </p:attrNameLst>
                                      </p:cBhvr>
                                      <p:to>
                                        <p:strVal val="visible"/>
                                      </p:to>
                                    </p:set>
                                    <p:animEffect transition="in" filter="wipe(up)">
                                      <p:cBhvr>
                                        <p:cTn id="57" dur="500"/>
                                        <p:tgtEl>
                                          <p:spTgt spid="77863"/>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77868"/>
                                        </p:tgtEl>
                                        <p:attrNameLst>
                                          <p:attrName>style.visibility</p:attrName>
                                        </p:attrNameLst>
                                      </p:cBhvr>
                                      <p:to>
                                        <p:strVal val="visible"/>
                                      </p:to>
                                    </p:set>
                                    <p:animEffect transition="in" filter="dissolve">
                                      <p:cBhvr>
                                        <p:cTn id="62" dur="500"/>
                                        <p:tgtEl>
                                          <p:spTgt spid="7786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77850"/>
                                        </p:tgtEl>
                                        <p:attrNameLst>
                                          <p:attrName>style.visibility</p:attrName>
                                        </p:attrNameLst>
                                      </p:cBhvr>
                                      <p:to>
                                        <p:strVal val="visible"/>
                                      </p:to>
                                    </p:set>
                                    <p:animEffect transition="in" filter="wipe(up)">
                                      <p:cBhvr>
                                        <p:cTn id="67" dur="500"/>
                                        <p:tgtEl>
                                          <p:spTgt spid="77850"/>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nodeType="clickEffect">
                                  <p:stCondLst>
                                    <p:cond delay="0"/>
                                  </p:stCondLst>
                                  <p:childTnLst>
                                    <p:set>
                                      <p:cBhvr>
                                        <p:cTn id="71" dur="1" fill="hold">
                                          <p:stCondLst>
                                            <p:cond delay="0"/>
                                          </p:stCondLst>
                                        </p:cTn>
                                        <p:tgtEl>
                                          <p:spTgt spid="77864"/>
                                        </p:tgtEl>
                                        <p:attrNameLst>
                                          <p:attrName>style.visibility</p:attrName>
                                        </p:attrNameLst>
                                      </p:cBhvr>
                                      <p:to>
                                        <p:strVal val="visible"/>
                                      </p:to>
                                    </p:set>
                                    <p:animEffect transition="in" filter="wipe(up)">
                                      <p:cBhvr>
                                        <p:cTn id="72" dur="500"/>
                                        <p:tgtEl>
                                          <p:spTgt spid="77864"/>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nodeType="clickEffect">
                                  <p:stCondLst>
                                    <p:cond delay="0"/>
                                  </p:stCondLst>
                                  <p:childTnLst>
                                    <p:set>
                                      <p:cBhvr>
                                        <p:cTn id="76" dur="1" fill="hold">
                                          <p:stCondLst>
                                            <p:cond delay="0"/>
                                          </p:stCondLst>
                                        </p:cTn>
                                        <p:tgtEl>
                                          <p:spTgt spid="77865"/>
                                        </p:tgtEl>
                                        <p:attrNameLst>
                                          <p:attrName>style.visibility</p:attrName>
                                        </p:attrNameLst>
                                      </p:cBhvr>
                                      <p:to>
                                        <p:strVal val="visible"/>
                                      </p:to>
                                    </p:set>
                                    <p:animEffect transition="in" filter="wipe(up)">
                                      <p:cBhvr>
                                        <p:cTn id="77" dur="500"/>
                                        <p:tgtEl>
                                          <p:spTgt spid="77865"/>
                                        </p:tgtEl>
                                      </p:cBhvr>
                                    </p:animEffect>
                                  </p:childTnLst>
                                </p:cTn>
                              </p:par>
                            </p:childTnLst>
                          </p:cTn>
                        </p:par>
                      </p:childTnLst>
                    </p:cTn>
                  </p:par>
                  <p:par>
                    <p:cTn id="78" fill="hold">
                      <p:stCondLst>
                        <p:cond delay="indefinite"/>
                      </p:stCondLst>
                      <p:childTnLst>
                        <p:par>
                          <p:cTn id="79" fill="hold">
                            <p:stCondLst>
                              <p:cond delay="0"/>
                            </p:stCondLst>
                            <p:childTnLst>
                              <p:par>
                                <p:cTn id="80" presetID="12" presetClass="entr" presetSubtype="4" fill="hold" grpId="0" nodeType="clickEffect">
                                  <p:stCondLst>
                                    <p:cond delay="0"/>
                                  </p:stCondLst>
                                  <p:childTnLst>
                                    <p:set>
                                      <p:cBhvr>
                                        <p:cTn id="81" dur="1" fill="hold">
                                          <p:stCondLst>
                                            <p:cond delay="0"/>
                                          </p:stCondLst>
                                        </p:cTn>
                                        <p:tgtEl>
                                          <p:spTgt spid="77869"/>
                                        </p:tgtEl>
                                        <p:attrNameLst>
                                          <p:attrName>style.visibility</p:attrName>
                                        </p:attrNameLst>
                                      </p:cBhvr>
                                      <p:to>
                                        <p:strVal val="visible"/>
                                      </p:to>
                                    </p:set>
                                    <p:animEffect transition="in" filter="slide(fromBottom)">
                                      <p:cBhvr>
                                        <p:cTn id="82" dur="500"/>
                                        <p:tgtEl>
                                          <p:spTgt spid="77869"/>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ntr" presetSubtype="0" fill="hold" grpId="0" nodeType="clickEffect">
                                  <p:stCondLst>
                                    <p:cond delay="0"/>
                                  </p:stCondLst>
                                  <p:childTnLst>
                                    <p:set>
                                      <p:cBhvr>
                                        <p:cTn id="86" dur="1" fill="hold">
                                          <p:stCondLst>
                                            <p:cond delay="0"/>
                                          </p:stCondLst>
                                        </p:cTn>
                                        <p:tgtEl>
                                          <p:spTgt spid="77827"/>
                                        </p:tgtEl>
                                        <p:attrNameLst>
                                          <p:attrName>style.visibility</p:attrName>
                                        </p:attrNameLst>
                                      </p:cBhvr>
                                      <p:to>
                                        <p:strVal val="visible"/>
                                      </p:to>
                                    </p:set>
                                    <p:animEffect transition="in" filter="dissolve">
                                      <p:cBhvr>
                                        <p:cTn id="87" dur="500"/>
                                        <p:tgtEl>
                                          <p:spTgt spid="77827"/>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1" fill="hold" nodeType="clickEffect">
                                  <p:stCondLst>
                                    <p:cond delay="0"/>
                                  </p:stCondLst>
                                  <p:childTnLst>
                                    <p:set>
                                      <p:cBhvr>
                                        <p:cTn id="91" dur="1" fill="hold">
                                          <p:stCondLst>
                                            <p:cond delay="0"/>
                                          </p:stCondLst>
                                        </p:cTn>
                                        <p:tgtEl>
                                          <p:spTgt spid="77851"/>
                                        </p:tgtEl>
                                        <p:attrNameLst>
                                          <p:attrName>style.visibility</p:attrName>
                                        </p:attrNameLst>
                                      </p:cBhvr>
                                      <p:to>
                                        <p:strVal val="visible"/>
                                      </p:to>
                                    </p:set>
                                    <p:animEffect transition="in" filter="wipe(up)">
                                      <p:cBhvr>
                                        <p:cTn id="92" dur="500"/>
                                        <p:tgtEl>
                                          <p:spTgt spid="77851"/>
                                        </p:tgtEl>
                                      </p:cBhvr>
                                    </p:animEffect>
                                  </p:childTnLst>
                                </p:cTn>
                              </p:par>
                            </p:childTnLst>
                          </p:cTn>
                        </p:par>
                        <p:par>
                          <p:cTn id="93" fill="hold">
                            <p:stCondLst>
                              <p:cond delay="500"/>
                            </p:stCondLst>
                            <p:childTnLst>
                              <p:par>
                                <p:cTn id="94" presetID="22" presetClass="entr" presetSubtype="1" fill="hold" nodeType="afterEffect">
                                  <p:stCondLst>
                                    <p:cond delay="0"/>
                                  </p:stCondLst>
                                  <p:childTnLst>
                                    <p:set>
                                      <p:cBhvr>
                                        <p:cTn id="95" dur="1" fill="hold">
                                          <p:stCondLst>
                                            <p:cond delay="0"/>
                                          </p:stCondLst>
                                        </p:cTn>
                                        <p:tgtEl>
                                          <p:spTgt spid="77871"/>
                                        </p:tgtEl>
                                        <p:attrNameLst>
                                          <p:attrName>style.visibility</p:attrName>
                                        </p:attrNameLst>
                                      </p:cBhvr>
                                      <p:to>
                                        <p:strVal val="visible"/>
                                      </p:to>
                                    </p:set>
                                    <p:animEffect transition="in" filter="wipe(up)">
                                      <p:cBhvr>
                                        <p:cTn id="96" dur="500"/>
                                        <p:tgtEl>
                                          <p:spTgt spid="77871"/>
                                        </p:tgtEl>
                                      </p:cBhvr>
                                    </p:animEffect>
                                  </p:childTnLst>
                                </p:cTn>
                              </p:par>
                            </p:childTnLst>
                          </p:cTn>
                        </p:par>
                        <p:par>
                          <p:cTn id="97" fill="hold">
                            <p:stCondLst>
                              <p:cond delay="1000"/>
                            </p:stCondLst>
                            <p:childTnLst>
                              <p:par>
                                <p:cTn id="98" presetID="22" presetClass="entr" presetSubtype="2" fill="hold" nodeType="afterEffect">
                                  <p:stCondLst>
                                    <p:cond delay="0"/>
                                  </p:stCondLst>
                                  <p:childTnLst>
                                    <p:set>
                                      <p:cBhvr>
                                        <p:cTn id="99" dur="1" fill="hold">
                                          <p:stCondLst>
                                            <p:cond delay="0"/>
                                          </p:stCondLst>
                                        </p:cTn>
                                        <p:tgtEl>
                                          <p:spTgt spid="77874"/>
                                        </p:tgtEl>
                                        <p:attrNameLst>
                                          <p:attrName>style.visibility</p:attrName>
                                        </p:attrNameLst>
                                      </p:cBhvr>
                                      <p:to>
                                        <p:strVal val="visible"/>
                                      </p:to>
                                    </p:set>
                                    <p:animEffect transition="in" filter="wipe(right)">
                                      <p:cBhvr>
                                        <p:cTn id="100" dur="500"/>
                                        <p:tgtEl>
                                          <p:spTgt spid="77874"/>
                                        </p:tgtEl>
                                      </p:cBhvr>
                                    </p:animEffect>
                                  </p:childTnLst>
                                </p:cTn>
                              </p:par>
                            </p:childTnLst>
                          </p:cTn>
                        </p:par>
                        <p:par>
                          <p:cTn id="101" fill="hold">
                            <p:stCondLst>
                              <p:cond delay="1500"/>
                            </p:stCondLst>
                            <p:childTnLst>
                              <p:par>
                                <p:cTn id="102" presetID="22" presetClass="entr" presetSubtype="1" fill="hold" nodeType="afterEffect">
                                  <p:stCondLst>
                                    <p:cond delay="0"/>
                                  </p:stCondLst>
                                  <p:childTnLst>
                                    <p:set>
                                      <p:cBhvr>
                                        <p:cTn id="103" dur="1" fill="hold">
                                          <p:stCondLst>
                                            <p:cond delay="0"/>
                                          </p:stCondLst>
                                        </p:cTn>
                                        <p:tgtEl>
                                          <p:spTgt spid="77872"/>
                                        </p:tgtEl>
                                        <p:attrNameLst>
                                          <p:attrName>style.visibility</p:attrName>
                                        </p:attrNameLst>
                                      </p:cBhvr>
                                      <p:to>
                                        <p:strVal val="visible"/>
                                      </p:to>
                                    </p:set>
                                    <p:animEffect transition="in" filter="wipe(up)">
                                      <p:cBhvr>
                                        <p:cTn id="104" dur="500"/>
                                        <p:tgtEl>
                                          <p:spTgt spid="77872"/>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4" fill="hold" nodeType="clickEffect">
                                  <p:stCondLst>
                                    <p:cond delay="0"/>
                                  </p:stCondLst>
                                  <p:childTnLst>
                                    <p:set>
                                      <p:cBhvr>
                                        <p:cTn id="108" dur="1" fill="hold">
                                          <p:stCondLst>
                                            <p:cond delay="0"/>
                                          </p:stCondLst>
                                        </p:cTn>
                                        <p:tgtEl>
                                          <p:spTgt spid="77873"/>
                                        </p:tgtEl>
                                        <p:attrNameLst>
                                          <p:attrName>style.visibility</p:attrName>
                                        </p:attrNameLst>
                                      </p:cBhvr>
                                      <p:to>
                                        <p:strVal val="visible"/>
                                      </p:to>
                                    </p:set>
                                    <p:animEffect transition="in" filter="wipe(down)">
                                      <p:cBhvr>
                                        <p:cTn id="109" dur="500"/>
                                        <p:tgtEl>
                                          <p:spTgt spid="77873"/>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1" fill="hold" nodeType="clickEffect">
                                  <p:stCondLst>
                                    <p:cond delay="0"/>
                                  </p:stCondLst>
                                  <p:childTnLst>
                                    <p:set>
                                      <p:cBhvr>
                                        <p:cTn id="113" dur="1" fill="hold">
                                          <p:stCondLst>
                                            <p:cond delay="0"/>
                                          </p:stCondLst>
                                        </p:cTn>
                                        <p:tgtEl>
                                          <p:spTgt spid="77852"/>
                                        </p:tgtEl>
                                        <p:attrNameLst>
                                          <p:attrName>style.visibility</p:attrName>
                                        </p:attrNameLst>
                                      </p:cBhvr>
                                      <p:to>
                                        <p:strVal val="visible"/>
                                      </p:to>
                                    </p:set>
                                    <p:animEffect transition="in" filter="wipe(up)">
                                      <p:cBhvr>
                                        <p:cTn id="114" dur="500"/>
                                        <p:tgtEl>
                                          <p:spTgt spid="77852"/>
                                        </p:tgtEl>
                                      </p:cBhvr>
                                    </p:animEffect>
                                  </p:childTnLst>
                                </p:cTn>
                              </p:par>
                            </p:childTnLst>
                          </p:cTn>
                        </p:par>
                        <p:par>
                          <p:cTn id="115" fill="hold">
                            <p:stCondLst>
                              <p:cond delay="500"/>
                            </p:stCondLst>
                            <p:childTnLst>
                              <p:par>
                                <p:cTn id="116" presetID="22" presetClass="entr" presetSubtype="1" fill="hold" nodeType="afterEffect">
                                  <p:stCondLst>
                                    <p:cond delay="0"/>
                                  </p:stCondLst>
                                  <p:childTnLst>
                                    <p:set>
                                      <p:cBhvr>
                                        <p:cTn id="117" dur="1" fill="hold">
                                          <p:stCondLst>
                                            <p:cond delay="0"/>
                                          </p:stCondLst>
                                        </p:cTn>
                                        <p:tgtEl>
                                          <p:spTgt spid="77876"/>
                                        </p:tgtEl>
                                        <p:attrNameLst>
                                          <p:attrName>style.visibility</p:attrName>
                                        </p:attrNameLst>
                                      </p:cBhvr>
                                      <p:to>
                                        <p:strVal val="visible"/>
                                      </p:to>
                                    </p:set>
                                    <p:animEffect transition="in" filter="wipe(up)">
                                      <p:cBhvr>
                                        <p:cTn id="118" dur="500"/>
                                        <p:tgtEl>
                                          <p:spTgt spid="77876"/>
                                        </p:tgtEl>
                                      </p:cBhvr>
                                    </p:animEffect>
                                  </p:childTnLst>
                                </p:cTn>
                              </p:par>
                            </p:childTnLst>
                          </p:cTn>
                        </p:par>
                        <p:par>
                          <p:cTn id="119" fill="hold">
                            <p:stCondLst>
                              <p:cond delay="1000"/>
                            </p:stCondLst>
                            <p:childTnLst>
                              <p:par>
                                <p:cTn id="120" presetID="22" presetClass="entr" presetSubtype="8" fill="hold" nodeType="afterEffect">
                                  <p:stCondLst>
                                    <p:cond delay="0"/>
                                  </p:stCondLst>
                                  <p:childTnLst>
                                    <p:set>
                                      <p:cBhvr>
                                        <p:cTn id="121" dur="1" fill="hold">
                                          <p:stCondLst>
                                            <p:cond delay="0"/>
                                          </p:stCondLst>
                                        </p:cTn>
                                        <p:tgtEl>
                                          <p:spTgt spid="77877"/>
                                        </p:tgtEl>
                                        <p:attrNameLst>
                                          <p:attrName>style.visibility</p:attrName>
                                        </p:attrNameLst>
                                      </p:cBhvr>
                                      <p:to>
                                        <p:strVal val="visible"/>
                                      </p:to>
                                    </p:set>
                                    <p:animEffect transition="in" filter="wipe(left)">
                                      <p:cBhvr>
                                        <p:cTn id="122" dur="500"/>
                                        <p:tgtEl>
                                          <p:spTgt spid="77877"/>
                                        </p:tgtEl>
                                      </p:cBhvr>
                                    </p:animEffect>
                                  </p:childTnLst>
                                </p:cTn>
                              </p:par>
                            </p:childTnLst>
                          </p:cTn>
                        </p:par>
                        <p:par>
                          <p:cTn id="123" fill="hold">
                            <p:stCondLst>
                              <p:cond delay="1500"/>
                            </p:stCondLst>
                            <p:childTnLst>
                              <p:par>
                                <p:cTn id="124" presetID="22" presetClass="entr" presetSubtype="1" fill="hold" nodeType="afterEffect">
                                  <p:stCondLst>
                                    <p:cond delay="0"/>
                                  </p:stCondLst>
                                  <p:childTnLst>
                                    <p:set>
                                      <p:cBhvr>
                                        <p:cTn id="125" dur="1" fill="hold">
                                          <p:stCondLst>
                                            <p:cond delay="0"/>
                                          </p:stCondLst>
                                        </p:cTn>
                                        <p:tgtEl>
                                          <p:spTgt spid="77878"/>
                                        </p:tgtEl>
                                        <p:attrNameLst>
                                          <p:attrName>style.visibility</p:attrName>
                                        </p:attrNameLst>
                                      </p:cBhvr>
                                      <p:to>
                                        <p:strVal val="visible"/>
                                      </p:to>
                                    </p:set>
                                    <p:animEffect transition="in" filter="wipe(up)">
                                      <p:cBhvr>
                                        <p:cTn id="126" dur="500"/>
                                        <p:tgtEl>
                                          <p:spTgt spid="77878"/>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4" fill="hold" nodeType="clickEffect">
                                  <p:stCondLst>
                                    <p:cond delay="0"/>
                                  </p:stCondLst>
                                  <p:childTnLst>
                                    <p:set>
                                      <p:cBhvr>
                                        <p:cTn id="130" dur="1" fill="hold">
                                          <p:stCondLst>
                                            <p:cond delay="0"/>
                                          </p:stCondLst>
                                        </p:cTn>
                                        <p:tgtEl>
                                          <p:spTgt spid="77875"/>
                                        </p:tgtEl>
                                        <p:attrNameLst>
                                          <p:attrName>style.visibility</p:attrName>
                                        </p:attrNameLst>
                                      </p:cBhvr>
                                      <p:to>
                                        <p:strVal val="visible"/>
                                      </p:to>
                                    </p:set>
                                    <p:animEffect transition="in" filter="wipe(down)">
                                      <p:cBhvr>
                                        <p:cTn id="131" dur="500"/>
                                        <p:tgtEl>
                                          <p:spTgt spid="77875"/>
                                        </p:tgtEl>
                                      </p:cBhvr>
                                    </p:animEffect>
                                  </p:childTnLst>
                                </p:cTn>
                              </p:par>
                            </p:childTnLst>
                          </p:cTn>
                        </p:par>
                      </p:childTnLst>
                    </p:cTn>
                  </p:par>
                  <p:par>
                    <p:cTn id="132" fill="hold">
                      <p:stCondLst>
                        <p:cond delay="indefinite"/>
                      </p:stCondLst>
                      <p:childTnLst>
                        <p:par>
                          <p:cTn id="133" fill="hold">
                            <p:stCondLst>
                              <p:cond delay="0"/>
                            </p:stCondLst>
                            <p:childTnLst>
                              <p:par>
                                <p:cTn id="134" presetID="9" presetClass="entr" presetSubtype="0" fill="hold" grpId="0" nodeType="clickEffect">
                                  <p:stCondLst>
                                    <p:cond delay="0"/>
                                  </p:stCondLst>
                                  <p:childTnLst>
                                    <p:set>
                                      <p:cBhvr>
                                        <p:cTn id="135" dur="1" fill="hold">
                                          <p:stCondLst>
                                            <p:cond delay="0"/>
                                          </p:stCondLst>
                                        </p:cTn>
                                        <p:tgtEl>
                                          <p:spTgt spid="55"/>
                                        </p:tgtEl>
                                        <p:attrNameLst>
                                          <p:attrName>style.visibility</p:attrName>
                                        </p:attrNameLst>
                                      </p:cBhvr>
                                      <p:to>
                                        <p:strVal val="visible"/>
                                      </p:to>
                                    </p:set>
                                    <p:animEffect transition="in" filter="dissolve">
                                      <p:cBhvr>
                                        <p:cTn id="136"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animBg="1" autoUpdateAnimBg="0"/>
      <p:bldP spid="77862" grpId="0" animBg="1" autoUpdateAnimBg="0"/>
      <p:bldP spid="77866" grpId="0" autoUpdateAnimBg="0"/>
      <p:bldP spid="77868" grpId="0" autoUpdateAnimBg="0"/>
      <p:bldP spid="77869" grpId="0" animBg="1" autoUpdateAnimBg="0"/>
      <p:bldP spid="55" grpId="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
          <p:cNvSpPr txBox="1">
            <a:spLocks noChangeArrowheads="1"/>
          </p:cNvSpPr>
          <p:nvPr/>
        </p:nvSpPr>
        <p:spPr bwMode="auto">
          <a:xfrm>
            <a:off x="4343400" y="5105400"/>
            <a:ext cx="1981200" cy="45720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Symbol" panose="05050102010706020507" pitchFamily="18" charset="2"/>
              <a:buChar char=" "/>
            </a:pPr>
            <a:r>
              <a:rPr lang="en-US" altLang="zh-CN" b="1" i="1">
                <a:solidFill>
                  <a:srgbClr val="993300"/>
                </a:solidFill>
              </a:rPr>
              <a:t>c</a:t>
            </a:r>
            <a:r>
              <a:rPr lang="en-US" altLang="zh-CN" b="1" baseline="-25000">
                <a:solidFill>
                  <a:srgbClr val="993300"/>
                </a:solidFill>
              </a:rPr>
              <a:t>1</a:t>
            </a:r>
            <a:r>
              <a:rPr lang="en-US" altLang="zh-CN" b="1" i="1">
                <a:solidFill>
                  <a:srgbClr val="993300"/>
                </a:solidFill>
              </a:rPr>
              <a:t> </a:t>
            </a:r>
            <a:r>
              <a:rPr lang="en-US" altLang="zh-CN" b="1">
                <a:solidFill>
                  <a:srgbClr val="993300"/>
                </a:solidFill>
                <a:sym typeface="Symbol" panose="05050102010706020507" pitchFamily="18" charset="2"/>
              </a:rPr>
              <a:t>=</a:t>
            </a:r>
            <a:r>
              <a:rPr lang="en-US" altLang="zh-CN" b="1" i="1">
                <a:solidFill>
                  <a:srgbClr val="993300"/>
                </a:solidFill>
              </a:rPr>
              <a:t> </a:t>
            </a:r>
            <a:r>
              <a:rPr lang="en-US" altLang="zh-CN" b="1">
                <a:solidFill>
                  <a:srgbClr val="993300"/>
                </a:solidFill>
              </a:rPr>
              <a:t>0 </a:t>
            </a:r>
            <a:r>
              <a:rPr lang="en-US" altLang="zh-CN" b="1" i="1">
                <a:solidFill>
                  <a:srgbClr val="993300"/>
                </a:solidFill>
              </a:rPr>
              <a:t>c</a:t>
            </a:r>
            <a:r>
              <a:rPr lang="en-US" altLang="zh-CN" b="1" baseline="-25000">
                <a:solidFill>
                  <a:srgbClr val="993300"/>
                </a:solidFill>
              </a:rPr>
              <a:t>2</a:t>
            </a:r>
            <a:r>
              <a:rPr lang="en-US" altLang="zh-CN" b="1" i="1">
                <a:solidFill>
                  <a:srgbClr val="993300"/>
                </a:solidFill>
              </a:rPr>
              <a:t> &gt; </a:t>
            </a:r>
            <a:r>
              <a:rPr lang="en-US" altLang="zh-CN" b="1">
                <a:solidFill>
                  <a:srgbClr val="993300"/>
                </a:solidFill>
              </a:rPr>
              <a:t>0</a:t>
            </a:r>
            <a:endParaRPr lang="en-US" altLang="zh-CN" b="1">
              <a:solidFill>
                <a:srgbClr val="993300"/>
              </a:solidFill>
            </a:endParaRPr>
          </a:p>
        </p:txBody>
      </p:sp>
      <p:sp>
        <p:nvSpPr>
          <p:cNvPr id="78851" name="Text Box 3"/>
          <p:cNvSpPr txBox="1">
            <a:spLocks noChangeArrowheads="1"/>
          </p:cNvSpPr>
          <p:nvPr/>
        </p:nvSpPr>
        <p:spPr bwMode="auto">
          <a:xfrm>
            <a:off x="2133600" y="5105400"/>
            <a:ext cx="1981200" cy="45720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Symbol" panose="05050102010706020507" pitchFamily="18" charset="2"/>
              <a:buChar char=" "/>
            </a:pPr>
            <a:r>
              <a:rPr lang="en-US" altLang="zh-CN" b="1" i="1">
                <a:solidFill>
                  <a:srgbClr val="993300"/>
                </a:solidFill>
              </a:rPr>
              <a:t>c</a:t>
            </a:r>
            <a:r>
              <a:rPr lang="en-US" altLang="zh-CN" b="1" baseline="-25000">
                <a:solidFill>
                  <a:srgbClr val="993300"/>
                </a:solidFill>
              </a:rPr>
              <a:t>1</a:t>
            </a:r>
            <a:r>
              <a:rPr lang="en-US" altLang="zh-CN" b="1" i="1">
                <a:solidFill>
                  <a:srgbClr val="993300"/>
                </a:solidFill>
              </a:rPr>
              <a:t> </a:t>
            </a:r>
            <a:r>
              <a:rPr lang="en-US" altLang="zh-CN" b="1">
                <a:solidFill>
                  <a:srgbClr val="993300"/>
                </a:solidFill>
                <a:sym typeface="Symbol" panose="05050102010706020507" pitchFamily="18" charset="2"/>
              </a:rPr>
              <a:t>&gt;</a:t>
            </a:r>
            <a:r>
              <a:rPr lang="en-US" altLang="zh-CN" b="1" i="1">
                <a:solidFill>
                  <a:srgbClr val="993300"/>
                </a:solidFill>
              </a:rPr>
              <a:t> </a:t>
            </a:r>
            <a:r>
              <a:rPr lang="en-US" altLang="zh-CN" b="1">
                <a:solidFill>
                  <a:srgbClr val="993300"/>
                </a:solidFill>
              </a:rPr>
              <a:t>0 </a:t>
            </a:r>
            <a:r>
              <a:rPr lang="en-US" altLang="zh-CN" b="1" i="1">
                <a:solidFill>
                  <a:srgbClr val="993300"/>
                </a:solidFill>
              </a:rPr>
              <a:t>c</a:t>
            </a:r>
            <a:r>
              <a:rPr lang="en-US" altLang="zh-CN" b="1" baseline="-25000">
                <a:solidFill>
                  <a:srgbClr val="993300"/>
                </a:solidFill>
              </a:rPr>
              <a:t>2</a:t>
            </a:r>
            <a:r>
              <a:rPr lang="en-US" altLang="zh-CN" b="1" i="1">
                <a:solidFill>
                  <a:srgbClr val="993300"/>
                </a:solidFill>
              </a:rPr>
              <a:t> = </a:t>
            </a:r>
            <a:r>
              <a:rPr lang="en-US" altLang="zh-CN" b="1">
                <a:solidFill>
                  <a:srgbClr val="993300"/>
                </a:solidFill>
              </a:rPr>
              <a:t>0</a:t>
            </a:r>
            <a:endParaRPr lang="en-US" altLang="zh-CN" b="1">
              <a:solidFill>
                <a:srgbClr val="993300"/>
              </a:solidFill>
            </a:endParaRPr>
          </a:p>
        </p:txBody>
      </p:sp>
      <p:graphicFrame>
        <p:nvGraphicFramePr>
          <p:cNvPr id="78853" name="Object 5"/>
          <p:cNvGraphicFramePr>
            <a:graphicFrameLocks noChangeAspect="1"/>
          </p:cNvGraphicFramePr>
          <p:nvPr/>
        </p:nvGraphicFramePr>
        <p:xfrm>
          <a:off x="4116388" y="669925"/>
          <a:ext cx="3057525" cy="657225"/>
        </p:xfrm>
        <a:graphic>
          <a:graphicData uri="http://schemas.openxmlformats.org/presentationml/2006/ole">
            <mc:AlternateContent xmlns:mc="http://schemas.openxmlformats.org/markup-compatibility/2006">
              <mc:Choice xmlns:v="urn:schemas-microsoft-com:vml" Requires="v">
                <p:oleObj spid="_x0000_s11290" name="数式" r:id="rId1" imgW="1231265" imgH="266700" progId="Equation.3">
                  <p:embed/>
                </p:oleObj>
              </mc:Choice>
              <mc:Fallback>
                <p:oleObj name="数式" r:id="rId1" imgW="1231265" imgH="2667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6388" y="669925"/>
                        <a:ext cx="3057525" cy="657225"/>
                      </a:xfrm>
                      <a:prstGeom prst="rect">
                        <a:avLst/>
                      </a:prstGeom>
                      <a:solidFill>
                        <a:srgbClr val="7BFAFD"/>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5" name="Text Box 6"/>
          <p:cNvSpPr txBox="1">
            <a:spLocks noChangeArrowheads="1"/>
          </p:cNvSpPr>
          <p:nvPr/>
        </p:nvSpPr>
        <p:spPr bwMode="auto">
          <a:xfrm>
            <a:off x="908050" y="722313"/>
            <a:ext cx="2743200" cy="519112"/>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olidFill>
                  <a:schemeClr val="accent1"/>
                </a:solidFill>
              </a:rPr>
              <a:t>c</a:t>
            </a:r>
            <a:r>
              <a:rPr lang="en-US" altLang="zh-CN" sz="2800" b="1" baseline="-25000">
                <a:solidFill>
                  <a:schemeClr val="accent1"/>
                </a:solidFill>
              </a:rPr>
              <a:t>1</a:t>
            </a:r>
            <a:r>
              <a:rPr lang="zh-CN" altLang="en-US" sz="2800" b="1">
                <a:solidFill>
                  <a:schemeClr val="accent1"/>
                </a:solidFill>
              </a:rPr>
              <a:t>、</a:t>
            </a:r>
            <a:r>
              <a:rPr lang="zh-CN" altLang="en-US" sz="2800" b="1" i="1">
                <a:solidFill>
                  <a:schemeClr val="accent1"/>
                </a:solidFill>
              </a:rPr>
              <a:t> </a:t>
            </a:r>
            <a:r>
              <a:rPr lang="en-US" altLang="zh-CN" sz="2800" b="1" i="1">
                <a:solidFill>
                  <a:schemeClr val="accent1"/>
                </a:solidFill>
              </a:rPr>
              <a:t>c</a:t>
            </a:r>
            <a:r>
              <a:rPr lang="en-US" altLang="zh-CN" sz="2800" b="1" baseline="-25000">
                <a:solidFill>
                  <a:schemeClr val="accent1"/>
                </a:solidFill>
              </a:rPr>
              <a:t>2</a:t>
            </a:r>
            <a:r>
              <a:rPr lang="zh-CN" altLang="en-US" sz="2800" b="1">
                <a:solidFill>
                  <a:schemeClr val="accent1"/>
                </a:solidFill>
              </a:rPr>
              <a:t>不为</a:t>
            </a:r>
            <a:r>
              <a:rPr lang="en-US" altLang="zh-CN" sz="2800" b="1">
                <a:solidFill>
                  <a:schemeClr val="accent1"/>
                </a:solidFill>
              </a:rPr>
              <a:t>0 </a:t>
            </a:r>
            <a:r>
              <a:rPr lang="zh-CN" altLang="en-US" sz="2800" b="1">
                <a:solidFill>
                  <a:schemeClr val="accent1"/>
                </a:solidFill>
              </a:rPr>
              <a:t>时</a:t>
            </a:r>
            <a:endParaRPr lang="zh-CN" altLang="en-US" sz="2800" b="1" baseline="-25000">
              <a:solidFill>
                <a:schemeClr val="accent1"/>
              </a:solidFill>
            </a:endParaRPr>
          </a:p>
        </p:txBody>
      </p:sp>
      <p:grpSp>
        <p:nvGrpSpPr>
          <p:cNvPr id="35846" name="Group 7"/>
          <p:cNvGrpSpPr/>
          <p:nvPr/>
        </p:nvGrpSpPr>
        <p:grpSpPr bwMode="auto">
          <a:xfrm>
            <a:off x="990600" y="1393825"/>
            <a:ext cx="5334000" cy="1828800"/>
            <a:chOff x="624" y="878"/>
            <a:chExt cx="3360" cy="1152"/>
          </a:xfrm>
        </p:grpSpPr>
        <p:grpSp>
          <p:nvGrpSpPr>
            <p:cNvPr id="35873" name="Group 8"/>
            <p:cNvGrpSpPr/>
            <p:nvPr/>
          </p:nvGrpSpPr>
          <p:grpSpPr bwMode="auto">
            <a:xfrm>
              <a:off x="624" y="878"/>
              <a:ext cx="672" cy="1152"/>
              <a:chOff x="3024" y="816"/>
              <a:chExt cx="672" cy="1440"/>
            </a:xfrm>
          </p:grpSpPr>
          <p:sp>
            <p:nvSpPr>
              <p:cNvPr id="35883" name="AutoShape 9" descr="横向砖形"/>
              <p:cNvSpPr>
                <a:spLocks noChangeArrowheads="1"/>
              </p:cNvSpPr>
              <p:nvPr/>
            </p:nvSpPr>
            <p:spPr bwMode="auto">
              <a:xfrm rot="10800000">
                <a:off x="3024" y="864"/>
                <a:ext cx="624" cy="134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blipFill dpi="0" rotWithShape="0">
                <a:blip r:embed="rId3"/>
                <a:srcRect/>
                <a:tile tx="0" ty="0" sx="100000" sy="100000" flip="none" algn="tl"/>
              </a:blipFill>
              <a:ln w="34925">
                <a:solidFill>
                  <a:srgbClr val="000000"/>
                </a:solidFill>
                <a:miter lim="800000"/>
              </a:ln>
            </p:spPr>
            <p:txBody>
              <a:bodyPr wrap="none" anchor="ctr"/>
              <a:lstStyle/>
              <a:p>
                <a:endParaRPr lang="zh-CN" altLang="en-US"/>
              </a:p>
            </p:txBody>
          </p:sp>
          <p:sp useBgFill="1">
            <p:nvSpPr>
              <p:cNvPr id="35884" name="Rectangle 10"/>
              <p:cNvSpPr>
                <a:spLocks noChangeArrowheads="1"/>
              </p:cNvSpPr>
              <p:nvPr/>
            </p:nvSpPr>
            <p:spPr bwMode="auto">
              <a:xfrm>
                <a:off x="3456" y="816"/>
                <a:ext cx="240" cy="144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35885" name="Line 11"/>
              <p:cNvSpPr>
                <a:spLocks noChangeShapeType="1"/>
              </p:cNvSpPr>
              <p:nvPr/>
            </p:nvSpPr>
            <p:spPr bwMode="auto">
              <a:xfrm>
                <a:off x="3456" y="864"/>
                <a:ext cx="0" cy="1344"/>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5874" name="Line 12"/>
            <p:cNvSpPr>
              <a:spLocks noChangeShapeType="1"/>
            </p:cNvSpPr>
            <p:nvPr/>
          </p:nvSpPr>
          <p:spPr bwMode="auto">
            <a:xfrm>
              <a:off x="1056" y="1435"/>
              <a:ext cx="2928" cy="1"/>
            </a:xfrm>
            <a:prstGeom prst="line">
              <a:avLst/>
            </a:prstGeom>
            <a:noFill/>
            <a:ln w="349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75" name="Line 13"/>
            <p:cNvSpPr>
              <a:spLocks noChangeShapeType="1"/>
            </p:cNvSpPr>
            <p:nvPr/>
          </p:nvSpPr>
          <p:spPr bwMode="auto">
            <a:xfrm>
              <a:off x="1056" y="1993"/>
              <a:ext cx="2928" cy="1"/>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76" name="Line 14"/>
            <p:cNvSpPr>
              <a:spLocks noChangeShapeType="1"/>
            </p:cNvSpPr>
            <p:nvPr/>
          </p:nvSpPr>
          <p:spPr bwMode="auto">
            <a:xfrm>
              <a:off x="1056" y="915"/>
              <a:ext cx="2928" cy="1"/>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77" name="Text Box 15"/>
            <p:cNvSpPr txBox="1">
              <a:spLocks noChangeArrowheads="1"/>
            </p:cNvSpPr>
            <p:nvPr/>
          </p:nvSpPr>
          <p:spPr bwMode="auto">
            <a:xfrm>
              <a:off x="1056" y="1584"/>
              <a:ext cx="116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olidFill>
                    <a:srgbClr val="0000FF"/>
                  </a:solidFill>
                  <a:latin typeface="Symbol" panose="05050102010706020507" pitchFamily="18" charset="2"/>
                </a:rPr>
                <a:t>g</a:t>
              </a:r>
              <a:r>
                <a:rPr lang="en-US" altLang="zh-CN" sz="2800" b="1" baseline="-25000">
                  <a:solidFill>
                    <a:srgbClr val="0000FF"/>
                  </a:solidFill>
                </a:rPr>
                <a:t>2</a:t>
              </a:r>
              <a:r>
                <a:rPr lang="en-US" altLang="zh-CN" sz="2800" b="1" i="1">
                  <a:solidFill>
                    <a:srgbClr val="0000FF"/>
                  </a:solidFill>
                </a:rPr>
                <a:t>   </a:t>
              </a:r>
              <a:r>
                <a:rPr lang="el-GR" altLang="zh-CN" sz="2800" b="1" i="1">
                  <a:solidFill>
                    <a:srgbClr val="0000FF"/>
                  </a:solidFill>
                </a:rPr>
                <a:t>φ</a:t>
              </a:r>
              <a:r>
                <a:rPr lang="en-US" altLang="zh-CN" sz="2800" b="1" baseline="-25000">
                  <a:solidFill>
                    <a:srgbClr val="0000FF"/>
                  </a:solidFill>
                </a:rPr>
                <a:t>2</a:t>
              </a:r>
              <a:r>
                <a:rPr lang="en-US" altLang="zh-CN" sz="2800" b="1" i="1">
                  <a:solidFill>
                    <a:srgbClr val="0000FF"/>
                  </a:solidFill>
                </a:rPr>
                <a:t> </a:t>
              </a:r>
              <a:endParaRPr lang="en-US" altLang="zh-CN" sz="2800" b="1" i="1">
                <a:solidFill>
                  <a:srgbClr val="0000FF"/>
                </a:solidFill>
              </a:endParaRPr>
            </a:p>
          </p:txBody>
        </p:sp>
        <p:sp>
          <p:nvSpPr>
            <p:cNvPr id="35878" name="Line 16"/>
            <p:cNvSpPr>
              <a:spLocks noChangeShapeType="1"/>
            </p:cNvSpPr>
            <p:nvPr/>
          </p:nvSpPr>
          <p:spPr bwMode="auto">
            <a:xfrm>
              <a:off x="1728" y="915"/>
              <a:ext cx="1" cy="52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79" name="Line 17"/>
            <p:cNvSpPr>
              <a:spLocks noChangeShapeType="1"/>
            </p:cNvSpPr>
            <p:nvPr/>
          </p:nvSpPr>
          <p:spPr bwMode="auto">
            <a:xfrm>
              <a:off x="1728" y="1435"/>
              <a:ext cx="1" cy="558"/>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80" name="Text Box 18"/>
            <p:cNvSpPr txBox="1">
              <a:spLocks noChangeArrowheads="1"/>
            </p:cNvSpPr>
            <p:nvPr/>
          </p:nvSpPr>
          <p:spPr bwMode="auto">
            <a:xfrm>
              <a:off x="1824" y="1064"/>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H</a:t>
              </a:r>
              <a:r>
                <a:rPr lang="en-US" altLang="zh-CN" sz="2800" b="1" baseline="-25000"/>
                <a:t>1</a:t>
              </a:r>
              <a:endParaRPr lang="en-US" altLang="zh-CN" sz="2800" b="1"/>
            </a:p>
          </p:txBody>
        </p:sp>
        <p:sp>
          <p:nvSpPr>
            <p:cNvPr id="35881" name="Text Box 19"/>
            <p:cNvSpPr txBox="1">
              <a:spLocks noChangeArrowheads="1"/>
            </p:cNvSpPr>
            <p:nvPr/>
          </p:nvSpPr>
          <p:spPr bwMode="auto">
            <a:xfrm>
              <a:off x="1776" y="1584"/>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H</a:t>
              </a:r>
              <a:r>
                <a:rPr lang="en-US" altLang="zh-CN" sz="2800" b="1" baseline="-25000"/>
                <a:t>2</a:t>
              </a:r>
              <a:endParaRPr lang="en-US" altLang="zh-CN" sz="2800" b="1"/>
            </a:p>
          </p:txBody>
        </p:sp>
        <p:sp>
          <p:nvSpPr>
            <p:cNvPr id="35882" name="Text Box 20"/>
            <p:cNvSpPr txBox="1">
              <a:spLocks noChangeArrowheads="1"/>
            </p:cNvSpPr>
            <p:nvPr/>
          </p:nvSpPr>
          <p:spPr bwMode="auto">
            <a:xfrm>
              <a:off x="1056" y="1064"/>
              <a:ext cx="116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olidFill>
                    <a:srgbClr val="0000FF"/>
                  </a:solidFill>
                  <a:latin typeface="Symbol" panose="05050102010706020507" pitchFamily="18" charset="2"/>
                </a:rPr>
                <a:t>g</a:t>
              </a:r>
              <a:r>
                <a:rPr lang="en-US" altLang="zh-CN" sz="2800" b="1" baseline="-25000">
                  <a:solidFill>
                    <a:srgbClr val="0000FF"/>
                  </a:solidFill>
                </a:rPr>
                <a:t>1</a:t>
              </a:r>
              <a:r>
                <a:rPr lang="en-US" altLang="zh-CN" sz="2800" b="1" i="1">
                  <a:solidFill>
                    <a:srgbClr val="0000FF"/>
                  </a:solidFill>
                </a:rPr>
                <a:t>   </a:t>
              </a:r>
              <a:r>
                <a:rPr lang="el-GR" altLang="zh-CN" sz="2800" b="1" i="1">
                  <a:solidFill>
                    <a:srgbClr val="0000FF"/>
                  </a:solidFill>
                </a:rPr>
                <a:t>φ</a:t>
              </a:r>
              <a:r>
                <a:rPr lang="en-US" altLang="zh-CN" sz="2800" b="1" baseline="-25000">
                  <a:solidFill>
                    <a:srgbClr val="0000FF"/>
                  </a:solidFill>
                </a:rPr>
                <a:t>1</a:t>
              </a:r>
              <a:r>
                <a:rPr lang="en-US" altLang="zh-CN" sz="2800" b="1">
                  <a:solidFill>
                    <a:srgbClr val="0000FF"/>
                  </a:solidFill>
                </a:rPr>
                <a:t> </a:t>
              </a:r>
              <a:endParaRPr lang="en-US" altLang="zh-CN" sz="2800" b="1" i="1">
                <a:solidFill>
                  <a:srgbClr val="0000FF"/>
                </a:solidFill>
              </a:endParaRPr>
            </a:p>
          </p:txBody>
        </p:sp>
      </p:grpSp>
      <p:sp>
        <p:nvSpPr>
          <p:cNvPr id="78869" name="Line 21"/>
          <p:cNvSpPr>
            <a:spLocks noChangeShapeType="1"/>
          </p:cNvSpPr>
          <p:nvPr/>
        </p:nvSpPr>
        <p:spPr bwMode="auto">
          <a:xfrm>
            <a:off x="3733800" y="1452563"/>
            <a:ext cx="1588" cy="1711325"/>
          </a:xfrm>
          <a:prstGeom prst="line">
            <a:avLst/>
          </a:prstGeom>
          <a:noFill/>
          <a:ln w="22225">
            <a:solidFill>
              <a:srgbClr val="3333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78870" name="Freeform 22" descr="深色横线"/>
          <p:cNvSpPr/>
          <p:nvPr/>
        </p:nvSpPr>
        <p:spPr bwMode="auto">
          <a:xfrm>
            <a:off x="3733800" y="1676400"/>
            <a:ext cx="609600" cy="596900"/>
          </a:xfrm>
          <a:custGeom>
            <a:avLst/>
            <a:gdLst>
              <a:gd name="T0" fmla="*/ 0 w 576"/>
              <a:gd name="T1" fmla="*/ 0 h 1104"/>
              <a:gd name="T2" fmla="*/ 2147483646 w 576"/>
              <a:gd name="T3" fmla="*/ 2147483646 h 1104"/>
              <a:gd name="T4" fmla="*/ 0 w 576"/>
              <a:gd name="T5" fmla="*/ 2147483646 h 1104"/>
              <a:gd name="T6" fmla="*/ 0 w 576"/>
              <a:gd name="T7" fmla="*/ 0 h 1104"/>
              <a:gd name="T8" fmla="*/ 0 60000 65536"/>
              <a:gd name="T9" fmla="*/ 0 60000 65536"/>
              <a:gd name="T10" fmla="*/ 0 60000 65536"/>
              <a:gd name="T11" fmla="*/ 0 60000 65536"/>
              <a:gd name="T12" fmla="*/ 0 w 576"/>
              <a:gd name="T13" fmla="*/ 0 h 1104"/>
              <a:gd name="T14" fmla="*/ 576 w 576"/>
              <a:gd name="T15" fmla="*/ 1104 h 1104"/>
            </a:gdLst>
            <a:ahLst/>
            <a:cxnLst>
              <a:cxn ang="T8">
                <a:pos x="T0" y="T1"/>
              </a:cxn>
              <a:cxn ang="T9">
                <a:pos x="T2" y="T3"/>
              </a:cxn>
              <a:cxn ang="T10">
                <a:pos x="T4" y="T5"/>
              </a:cxn>
              <a:cxn ang="T11">
                <a:pos x="T6" y="T7"/>
              </a:cxn>
            </a:cxnLst>
            <a:rect l="T12" t="T13" r="T14" b="T15"/>
            <a:pathLst>
              <a:path w="576" h="1104">
                <a:moveTo>
                  <a:pt x="0" y="0"/>
                </a:moveTo>
                <a:lnTo>
                  <a:pt x="576" y="1104"/>
                </a:lnTo>
                <a:lnTo>
                  <a:pt x="0" y="1104"/>
                </a:lnTo>
                <a:lnTo>
                  <a:pt x="0" y="0"/>
                </a:lnTo>
                <a:close/>
              </a:path>
            </a:pathLst>
          </a:custGeom>
          <a:blipFill dpi="0" rotWithShape="0">
            <a:blip r:embed="rId4"/>
            <a:srcRect/>
            <a:tile tx="0" ty="0" sx="100000" sy="100000" flip="none" algn="tl"/>
          </a:blipFill>
          <a:ln w="9525">
            <a:solidFill>
              <a:schemeClr val="tx1"/>
            </a:solidFill>
            <a:round/>
          </a:ln>
        </p:spPr>
        <p:txBody>
          <a:bodyPr/>
          <a:lstStyle/>
          <a:p>
            <a:endParaRPr lang="zh-CN" altLang="en-US"/>
          </a:p>
        </p:txBody>
      </p:sp>
      <p:sp>
        <p:nvSpPr>
          <p:cNvPr id="78871" name="Freeform 23" descr="深色横线"/>
          <p:cNvSpPr/>
          <p:nvPr/>
        </p:nvSpPr>
        <p:spPr bwMode="auto">
          <a:xfrm>
            <a:off x="3733800" y="2286000"/>
            <a:ext cx="1752600" cy="885825"/>
          </a:xfrm>
          <a:custGeom>
            <a:avLst/>
            <a:gdLst>
              <a:gd name="T0" fmla="*/ 0 w 1056"/>
              <a:gd name="T1" fmla="*/ 0 h 632"/>
              <a:gd name="T2" fmla="*/ 2147483646 w 1056"/>
              <a:gd name="T3" fmla="*/ 0 h 632"/>
              <a:gd name="T4" fmla="*/ 2147483646 w 1056"/>
              <a:gd name="T5" fmla="*/ 2147483646 h 632"/>
              <a:gd name="T6" fmla="*/ 0 w 1056"/>
              <a:gd name="T7" fmla="*/ 2147483646 h 632"/>
              <a:gd name="T8" fmla="*/ 0 w 1056"/>
              <a:gd name="T9" fmla="*/ 0 h 632"/>
              <a:gd name="T10" fmla="*/ 0 60000 65536"/>
              <a:gd name="T11" fmla="*/ 0 60000 65536"/>
              <a:gd name="T12" fmla="*/ 0 60000 65536"/>
              <a:gd name="T13" fmla="*/ 0 60000 65536"/>
              <a:gd name="T14" fmla="*/ 0 60000 65536"/>
              <a:gd name="T15" fmla="*/ 0 w 1056"/>
              <a:gd name="T16" fmla="*/ 0 h 632"/>
              <a:gd name="T17" fmla="*/ 1056 w 1056"/>
              <a:gd name="T18" fmla="*/ 632 h 632"/>
            </a:gdLst>
            <a:ahLst/>
            <a:cxnLst>
              <a:cxn ang="T10">
                <a:pos x="T0" y="T1"/>
              </a:cxn>
              <a:cxn ang="T11">
                <a:pos x="T2" y="T3"/>
              </a:cxn>
              <a:cxn ang="T12">
                <a:pos x="T4" y="T5"/>
              </a:cxn>
              <a:cxn ang="T13">
                <a:pos x="T6" y="T7"/>
              </a:cxn>
              <a:cxn ang="T14">
                <a:pos x="T8" y="T9"/>
              </a:cxn>
            </a:cxnLst>
            <a:rect l="T15" t="T16" r="T17" b="T18"/>
            <a:pathLst>
              <a:path w="1056" h="632">
                <a:moveTo>
                  <a:pt x="0" y="0"/>
                </a:moveTo>
                <a:lnTo>
                  <a:pt x="496" y="0"/>
                </a:lnTo>
                <a:lnTo>
                  <a:pt x="1056" y="632"/>
                </a:lnTo>
                <a:lnTo>
                  <a:pt x="0" y="632"/>
                </a:lnTo>
                <a:lnTo>
                  <a:pt x="0" y="0"/>
                </a:lnTo>
                <a:close/>
              </a:path>
            </a:pathLst>
          </a:custGeom>
          <a:blipFill dpi="0" rotWithShape="0">
            <a:blip r:embed="rId5"/>
            <a:srcRect/>
            <a:tile tx="0" ty="0" sx="100000" sy="100000" flip="none" algn="tl"/>
          </a:blipFill>
          <a:ln w="12700" cap="sq">
            <a:solidFill>
              <a:schemeClr val="tx1"/>
            </a:solidFill>
            <a:round/>
            <a:headEnd type="none" w="sm" len="sm"/>
            <a:tailEnd type="none" w="sm" len="sm"/>
          </a:ln>
        </p:spPr>
        <p:txBody>
          <a:bodyPr wrap="none" anchor="ctr"/>
          <a:lstStyle/>
          <a:p>
            <a:endParaRPr lang="zh-CN" altLang="en-US"/>
          </a:p>
        </p:txBody>
      </p:sp>
      <p:graphicFrame>
        <p:nvGraphicFramePr>
          <p:cNvPr id="78872" name="Object 24"/>
          <p:cNvGraphicFramePr>
            <a:graphicFrameLocks noChangeAspect="1"/>
          </p:cNvGraphicFramePr>
          <p:nvPr/>
        </p:nvGraphicFramePr>
        <p:xfrm>
          <a:off x="4114800" y="1676400"/>
          <a:ext cx="2351088" cy="523875"/>
        </p:xfrm>
        <a:graphic>
          <a:graphicData uri="http://schemas.openxmlformats.org/presentationml/2006/ole">
            <mc:AlternateContent xmlns:mc="http://schemas.openxmlformats.org/markup-compatibility/2006">
              <mc:Choice xmlns:v="urn:schemas-microsoft-com:vml" Requires="v">
                <p:oleObj spid="_x0000_s11291" name="Equation" r:id="rId6" imgW="1193165" imgH="266700" progId="Equation.3">
                  <p:embed/>
                </p:oleObj>
              </mc:Choice>
              <mc:Fallback>
                <p:oleObj name="Equation" r:id="rId6" imgW="1193165" imgH="266700" progId="Equation.3">
                  <p:embed/>
                  <p:pic>
                    <p:nvPicPr>
                      <p:cNvPr id="0" name="Object 2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14800" y="1676400"/>
                        <a:ext cx="2351088" cy="523875"/>
                      </a:xfrm>
                      <a:prstGeom prst="rect">
                        <a:avLst/>
                      </a:prstGeom>
                      <a:solidFill>
                        <a:srgbClr val="FFFF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873" name="Object 25"/>
          <p:cNvGraphicFramePr>
            <a:graphicFrameLocks noChangeAspect="1"/>
          </p:cNvGraphicFramePr>
          <p:nvPr/>
        </p:nvGraphicFramePr>
        <p:xfrm>
          <a:off x="4419600" y="2362200"/>
          <a:ext cx="2451100" cy="523875"/>
        </p:xfrm>
        <a:graphic>
          <a:graphicData uri="http://schemas.openxmlformats.org/presentationml/2006/ole">
            <mc:AlternateContent xmlns:mc="http://schemas.openxmlformats.org/markup-compatibility/2006">
              <mc:Choice xmlns:v="urn:schemas-microsoft-com:vml" Requires="v">
                <p:oleObj spid="_x0000_s11292" name="Equation" r:id="rId8" imgW="1243965" imgH="266700" progId="Equation.3">
                  <p:embed/>
                </p:oleObj>
              </mc:Choice>
              <mc:Fallback>
                <p:oleObj name="Equation" r:id="rId8" imgW="1243965" imgH="266700" progId="Equation.3">
                  <p:embed/>
                  <p:pic>
                    <p:nvPicPr>
                      <p:cNvPr id="0" name="Object 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19600" y="2362200"/>
                        <a:ext cx="2451100" cy="523875"/>
                      </a:xfrm>
                      <a:prstGeom prst="rect">
                        <a:avLst/>
                      </a:prstGeom>
                      <a:solidFill>
                        <a:srgbClr val="00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874" name="Object 26"/>
          <p:cNvGraphicFramePr>
            <a:graphicFrameLocks noChangeAspect="1"/>
          </p:cNvGraphicFramePr>
          <p:nvPr/>
        </p:nvGraphicFramePr>
        <p:xfrm>
          <a:off x="4697413" y="3011488"/>
          <a:ext cx="3576637" cy="523875"/>
        </p:xfrm>
        <a:graphic>
          <a:graphicData uri="http://schemas.openxmlformats.org/presentationml/2006/ole">
            <mc:AlternateContent xmlns:mc="http://schemas.openxmlformats.org/markup-compatibility/2006">
              <mc:Choice xmlns:v="urn:schemas-microsoft-com:vml" Requires="v">
                <p:oleObj spid="_x0000_s11293" name="Equation" r:id="rId10" imgW="1815465" imgH="266700" progId="Equation.3">
                  <p:embed/>
                </p:oleObj>
              </mc:Choice>
              <mc:Fallback>
                <p:oleObj name="Equation" r:id="rId10" imgW="1815465" imgH="266700" progId="Equation.3">
                  <p:embed/>
                  <p:pic>
                    <p:nvPicPr>
                      <p:cNvPr id="0" name="Object 2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97413" y="3011488"/>
                        <a:ext cx="3576637" cy="523875"/>
                      </a:xfrm>
                      <a:prstGeom prst="rect">
                        <a:avLst/>
                      </a:prstGeom>
                      <a:solidFill>
                        <a:srgbClr val="00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 name="Group 27"/>
          <p:cNvGrpSpPr/>
          <p:nvPr/>
        </p:nvGrpSpPr>
        <p:grpSpPr bwMode="auto">
          <a:xfrm>
            <a:off x="914400" y="3962400"/>
            <a:ext cx="1066800" cy="1828800"/>
            <a:chOff x="3024" y="816"/>
            <a:chExt cx="672" cy="1440"/>
          </a:xfrm>
        </p:grpSpPr>
        <p:sp>
          <p:nvSpPr>
            <p:cNvPr id="35870" name="AutoShape 28" descr="横向砖形"/>
            <p:cNvSpPr>
              <a:spLocks noChangeArrowheads="1"/>
            </p:cNvSpPr>
            <p:nvPr/>
          </p:nvSpPr>
          <p:spPr bwMode="auto">
            <a:xfrm rot="10800000">
              <a:off x="3024" y="864"/>
              <a:ext cx="624" cy="134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blipFill dpi="0" rotWithShape="0">
              <a:blip r:embed="rId3"/>
              <a:srcRect/>
              <a:tile tx="0" ty="0" sx="100000" sy="100000" flip="none" algn="tl"/>
            </a:blipFill>
            <a:ln w="34925">
              <a:solidFill>
                <a:srgbClr val="000000"/>
              </a:solidFill>
              <a:miter lim="800000"/>
            </a:ln>
          </p:spPr>
          <p:txBody>
            <a:bodyPr wrap="none" anchor="ctr"/>
            <a:lstStyle/>
            <a:p>
              <a:endParaRPr lang="zh-CN" altLang="en-US"/>
            </a:p>
          </p:txBody>
        </p:sp>
        <p:sp useBgFill="1">
          <p:nvSpPr>
            <p:cNvPr id="35871" name="Rectangle 29"/>
            <p:cNvSpPr>
              <a:spLocks noChangeArrowheads="1"/>
            </p:cNvSpPr>
            <p:nvPr/>
          </p:nvSpPr>
          <p:spPr bwMode="auto">
            <a:xfrm>
              <a:off x="3456" y="816"/>
              <a:ext cx="240" cy="144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35872" name="Line 30"/>
            <p:cNvSpPr>
              <a:spLocks noChangeShapeType="1"/>
            </p:cNvSpPr>
            <p:nvPr/>
          </p:nvSpPr>
          <p:spPr bwMode="auto">
            <a:xfrm>
              <a:off x="3456" y="864"/>
              <a:ext cx="0" cy="1344"/>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8879" name="Line 31"/>
          <p:cNvSpPr>
            <a:spLocks noChangeShapeType="1"/>
          </p:cNvSpPr>
          <p:nvPr/>
        </p:nvSpPr>
        <p:spPr bwMode="auto">
          <a:xfrm>
            <a:off x="2438400" y="4038600"/>
            <a:ext cx="1588" cy="1711325"/>
          </a:xfrm>
          <a:prstGeom prst="line">
            <a:avLst/>
          </a:prstGeom>
          <a:noFill/>
          <a:ln w="22225">
            <a:solidFill>
              <a:srgbClr val="3333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78880" name="Line 32"/>
          <p:cNvSpPr>
            <a:spLocks noChangeShapeType="1"/>
          </p:cNvSpPr>
          <p:nvPr/>
        </p:nvSpPr>
        <p:spPr bwMode="auto">
          <a:xfrm>
            <a:off x="4800600" y="4038600"/>
            <a:ext cx="1588" cy="1711325"/>
          </a:xfrm>
          <a:prstGeom prst="line">
            <a:avLst/>
          </a:prstGeom>
          <a:noFill/>
          <a:ln w="22225">
            <a:solidFill>
              <a:srgbClr val="3333FF"/>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5" name="Group 33"/>
          <p:cNvGrpSpPr/>
          <p:nvPr/>
        </p:nvGrpSpPr>
        <p:grpSpPr bwMode="auto">
          <a:xfrm>
            <a:off x="1600200" y="4038600"/>
            <a:ext cx="5257800" cy="1676400"/>
            <a:chOff x="816" y="2544"/>
            <a:chExt cx="4032" cy="1056"/>
          </a:xfrm>
        </p:grpSpPr>
        <p:sp>
          <p:nvSpPr>
            <p:cNvPr id="35867" name="Line 34"/>
            <p:cNvSpPr>
              <a:spLocks noChangeShapeType="1"/>
            </p:cNvSpPr>
            <p:nvPr/>
          </p:nvSpPr>
          <p:spPr bwMode="auto">
            <a:xfrm>
              <a:off x="816" y="3600"/>
              <a:ext cx="4032" cy="0"/>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68" name="Line 35"/>
            <p:cNvSpPr>
              <a:spLocks noChangeShapeType="1"/>
            </p:cNvSpPr>
            <p:nvPr/>
          </p:nvSpPr>
          <p:spPr bwMode="auto">
            <a:xfrm>
              <a:off x="816" y="3072"/>
              <a:ext cx="4032" cy="0"/>
            </a:xfrm>
            <a:prstGeom prst="line">
              <a:avLst/>
            </a:prstGeom>
            <a:noFill/>
            <a:ln w="9525">
              <a:solidFill>
                <a:srgbClr val="FF66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69" name="Line 36"/>
            <p:cNvSpPr>
              <a:spLocks noChangeShapeType="1"/>
            </p:cNvSpPr>
            <p:nvPr/>
          </p:nvSpPr>
          <p:spPr bwMode="auto">
            <a:xfrm>
              <a:off x="816" y="2544"/>
              <a:ext cx="4032" cy="0"/>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8886" name="Text Box 38"/>
          <p:cNvSpPr txBox="1">
            <a:spLocks noChangeArrowheads="1"/>
          </p:cNvSpPr>
          <p:nvPr/>
        </p:nvSpPr>
        <p:spPr bwMode="auto">
          <a:xfrm>
            <a:off x="2286000" y="6019800"/>
            <a:ext cx="3505200" cy="6461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3400" b="1" i="1">
                <a:latin typeface="Symbol" panose="05050102010706020507" pitchFamily="18" charset="2"/>
              </a:rPr>
              <a:t>g</a:t>
            </a:r>
            <a:r>
              <a:rPr lang="en-US" altLang="zh-CN" sz="3400" b="1" baseline="-25000"/>
              <a:t>1</a:t>
            </a:r>
            <a:r>
              <a:rPr lang="en-US" altLang="zh-CN" sz="3400" b="1"/>
              <a:t> </a:t>
            </a:r>
            <a:r>
              <a:rPr lang="en-US" altLang="zh-CN" sz="3400" b="1">
                <a:sym typeface="Symbol" panose="05050102010706020507" pitchFamily="18" charset="2"/>
              </a:rPr>
              <a:t>=</a:t>
            </a:r>
            <a:r>
              <a:rPr lang="en-US" altLang="zh-CN" sz="3400" b="1" i="1"/>
              <a:t> </a:t>
            </a:r>
            <a:r>
              <a:rPr lang="en-US" altLang="zh-CN" sz="3400" b="1" i="1">
                <a:latin typeface="Symbol" panose="05050102010706020507" pitchFamily="18" charset="2"/>
              </a:rPr>
              <a:t>g</a:t>
            </a:r>
            <a:r>
              <a:rPr lang="en-US" altLang="zh-CN" sz="3400" b="1" baseline="-25000"/>
              <a:t>2   </a:t>
            </a:r>
            <a:r>
              <a:rPr lang="el-GR" altLang="zh-CN" sz="3600" b="1" i="1"/>
              <a:t>φ</a:t>
            </a:r>
            <a:r>
              <a:rPr lang="en-US" altLang="zh-CN" sz="3400" b="1" baseline="-25000"/>
              <a:t>2</a:t>
            </a:r>
            <a:r>
              <a:rPr lang="en-US" altLang="zh-CN" sz="3400" b="1" i="1" baseline="-25000"/>
              <a:t> </a:t>
            </a:r>
            <a:r>
              <a:rPr lang="en-US" altLang="zh-CN" sz="3400" b="1" i="1">
                <a:sym typeface="Symbol" panose="05050102010706020507" pitchFamily="18" charset="2"/>
              </a:rPr>
              <a:t>=</a:t>
            </a:r>
            <a:r>
              <a:rPr lang="en-US" altLang="zh-CN" sz="3400" b="1" i="1"/>
              <a:t> </a:t>
            </a:r>
            <a:r>
              <a:rPr lang="el-GR" altLang="zh-CN" sz="3600" b="1" i="1"/>
              <a:t>φ</a:t>
            </a:r>
            <a:r>
              <a:rPr lang="en-US" altLang="zh-CN" sz="3400" b="1" baseline="-25000"/>
              <a:t>1</a:t>
            </a:r>
            <a:r>
              <a:rPr lang="en-US" altLang="zh-CN" sz="3400" b="1"/>
              <a:t> </a:t>
            </a:r>
            <a:r>
              <a:rPr lang="zh-CN" altLang="en-US" sz="3400" b="1"/>
              <a:t>时</a:t>
            </a:r>
            <a:endParaRPr lang="zh-CN" altLang="en-US" sz="3400" b="1"/>
          </a:p>
        </p:txBody>
      </p:sp>
      <p:sp>
        <p:nvSpPr>
          <p:cNvPr id="78887" name="Line 39"/>
          <p:cNvSpPr>
            <a:spLocks noChangeShapeType="1"/>
          </p:cNvSpPr>
          <p:nvPr/>
        </p:nvSpPr>
        <p:spPr bwMode="auto">
          <a:xfrm>
            <a:off x="2438400" y="4038600"/>
            <a:ext cx="609600" cy="838200"/>
          </a:xfrm>
          <a:prstGeom prst="line">
            <a:avLst/>
          </a:prstGeom>
          <a:noFill/>
          <a:ln w="22225">
            <a:solidFill>
              <a:srgbClr val="FF99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78888" name="Line 40"/>
          <p:cNvSpPr>
            <a:spLocks noChangeShapeType="1"/>
          </p:cNvSpPr>
          <p:nvPr/>
        </p:nvSpPr>
        <p:spPr bwMode="auto">
          <a:xfrm>
            <a:off x="3048000" y="4876800"/>
            <a:ext cx="609600" cy="838200"/>
          </a:xfrm>
          <a:prstGeom prst="line">
            <a:avLst/>
          </a:prstGeom>
          <a:noFill/>
          <a:ln w="34925">
            <a:solidFill>
              <a:srgbClr val="3399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78889" name="Line 41"/>
          <p:cNvSpPr>
            <a:spLocks noChangeShapeType="1"/>
          </p:cNvSpPr>
          <p:nvPr/>
        </p:nvSpPr>
        <p:spPr bwMode="auto">
          <a:xfrm>
            <a:off x="2438400" y="4343400"/>
            <a:ext cx="381000" cy="533400"/>
          </a:xfrm>
          <a:prstGeom prst="line">
            <a:avLst/>
          </a:prstGeom>
          <a:noFill/>
          <a:ln w="34925">
            <a:solidFill>
              <a:srgbClr val="3399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78890" name="Line 42"/>
          <p:cNvSpPr>
            <a:spLocks noChangeShapeType="1"/>
          </p:cNvSpPr>
          <p:nvPr/>
        </p:nvSpPr>
        <p:spPr bwMode="auto">
          <a:xfrm>
            <a:off x="2819400" y="4876800"/>
            <a:ext cx="228600" cy="0"/>
          </a:xfrm>
          <a:prstGeom prst="line">
            <a:avLst/>
          </a:prstGeom>
          <a:noFill/>
          <a:ln w="34925">
            <a:solidFill>
              <a:srgbClr val="3399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78891" name="Line 43"/>
          <p:cNvSpPr>
            <a:spLocks noChangeShapeType="1"/>
          </p:cNvSpPr>
          <p:nvPr/>
        </p:nvSpPr>
        <p:spPr bwMode="auto">
          <a:xfrm>
            <a:off x="4800600" y="4038600"/>
            <a:ext cx="609600" cy="838200"/>
          </a:xfrm>
          <a:prstGeom prst="line">
            <a:avLst/>
          </a:prstGeom>
          <a:noFill/>
          <a:ln w="349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78892" name="Line 44"/>
          <p:cNvSpPr>
            <a:spLocks noChangeShapeType="1"/>
          </p:cNvSpPr>
          <p:nvPr/>
        </p:nvSpPr>
        <p:spPr bwMode="auto">
          <a:xfrm>
            <a:off x="5410200" y="4876800"/>
            <a:ext cx="609600" cy="838200"/>
          </a:xfrm>
          <a:prstGeom prst="line">
            <a:avLst/>
          </a:prstGeom>
          <a:noFill/>
          <a:ln w="22225">
            <a:solidFill>
              <a:srgbClr val="FF66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78893" name="Line 45"/>
          <p:cNvSpPr>
            <a:spLocks noChangeShapeType="1"/>
          </p:cNvSpPr>
          <p:nvPr/>
        </p:nvSpPr>
        <p:spPr bwMode="auto">
          <a:xfrm>
            <a:off x="5181600" y="4876800"/>
            <a:ext cx="609600" cy="838200"/>
          </a:xfrm>
          <a:prstGeom prst="line">
            <a:avLst/>
          </a:prstGeom>
          <a:noFill/>
          <a:ln w="34925">
            <a:solidFill>
              <a:srgbClr val="3399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78894" name="Line 46"/>
          <p:cNvSpPr>
            <a:spLocks noChangeShapeType="1"/>
          </p:cNvSpPr>
          <p:nvPr/>
        </p:nvSpPr>
        <p:spPr bwMode="auto">
          <a:xfrm>
            <a:off x="5181600" y="4876800"/>
            <a:ext cx="228600" cy="0"/>
          </a:xfrm>
          <a:prstGeom prst="line">
            <a:avLst/>
          </a:prstGeom>
          <a:noFill/>
          <a:ln w="34925">
            <a:solidFill>
              <a:srgbClr val="3399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46" name="Rectangle 6"/>
          <p:cNvSpPr>
            <a:spLocks noChangeArrowheads="1"/>
          </p:cNvSpPr>
          <p:nvPr/>
        </p:nvSpPr>
        <p:spPr bwMode="auto">
          <a:xfrm>
            <a:off x="-3175" y="-9842"/>
            <a:ext cx="3617913"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朗肯土压力理论</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8853"/>
                                        </p:tgtEl>
                                        <p:attrNameLst>
                                          <p:attrName>style.visibility</p:attrName>
                                        </p:attrNameLst>
                                      </p:cBhvr>
                                      <p:to>
                                        <p:strVal val="visible"/>
                                      </p:to>
                                    </p:set>
                                    <p:animEffect transition="in" filter="wipe(left)">
                                      <p:cBhvr>
                                        <p:cTn id="7" dur="500"/>
                                        <p:tgtEl>
                                          <p:spTgt spid="788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8869"/>
                                        </p:tgtEl>
                                        <p:attrNameLst>
                                          <p:attrName>style.visibility</p:attrName>
                                        </p:attrNameLst>
                                      </p:cBhvr>
                                      <p:to>
                                        <p:strVal val="visible"/>
                                      </p:to>
                                    </p:set>
                                    <p:animEffect transition="in" filter="wipe(up)">
                                      <p:cBhvr>
                                        <p:cTn id="12" dur="500"/>
                                        <p:tgtEl>
                                          <p:spTgt spid="7886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8870"/>
                                        </p:tgtEl>
                                        <p:attrNameLst>
                                          <p:attrName>style.visibility</p:attrName>
                                        </p:attrNameLst>
                                      </p:cBhvr>
                                      <p:to>
                                        <p:strVal val="visible"/>
                                      </p:to>
                                    </p:set>
                                    <p:animEffect transition="in" filter="wipe(up)">
                                      <p:cBhvr>
                                        <p:cTn id="17" dur="500"/>
                                        <p:tgtEl>
                                          <p:spTgt spid="7887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78872"/>
                                        </p:tgtEl>
                                        <p:attrNameLst>
                                          <p:attrName>style.visibility</p:attrName>
                                        </p:attrNameLst>
                                      </p:cBhvr>
                                      <p:to>
                                        <p:strVal val="visible"/>
                                      </p:to>
                                    </p:set>
                                    <p:animEffect transition="in" filter="dissolve">
                                      <p:cBhvr>
                                        <p:cTn id="22" dur="500"/>
                                        <p:tgtEl>
                                          <p:spTgt spid="7887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78871"/>
                                        </p:tgtEl>
                                        <p:attrNameLst>
                                          <p:attrName>style.visibility</p:attrName>
                                        </p:attrNameLst>
                                      </p:cBhvr>
                                      <p:to>
                                        <p:strVal val="visible"/>
                                      </p:to>
                                    </p:set>
                                    <p:animEffect transition="in" filter="wipe(up)">
                                      <p:cBhvr>
                                        <p:cTn id="27" dur="500"/>
                                        <p:tgtEl>
                                          <p:spTgt spid="78871"/>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78873"/>
                                        </p:tgtEl>
                                        <p:attrNameLst>
                                          <p:attrName>style.visibility</p:attrName>
                                        </p:attrNameLst>
                                      </p:cBhvr>
                                      <p:to>
                                        <p:strVal val="visible"/>
                                      </p:to>
                                    </p:set>
                                    <p:animEffect transition="in" filter="dissolve">
                                      <p:cBhvr>
                                        <p:cTn id="32" dur="500"/>
                                        <p:tgtEl>
                                          <p:spTgt spid="78873"/>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78874"/>
                                        </p:tgtEl>
                                        <p:attrNameLst>
                                          <p:attrName>style.visibility</p:attrName>
                                        </p:attrNameLst>
                                      </p:cBhvr>
                                      <p:to>
                                        <p:strVal val="visible"/>
                                      </p:to>
                                    </p:set>
                                    <p:animEffect transition="in" filter="dissolve">
                                      <p:cBhvr>
                                        <p:cTn id="37" dur="500"/>
                                        <p:tgtEl>
                                          <p:spTgt spid="78874"/>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78886"/>
                                        </p:tgtEl>
                                        <p:attrNameLst>
                                          <p:attrName>style.visibility</p:attrName>
                                        </p:attrNameLst>
                                      </p:cBhvr>
                                      <p:to>
                                        <p:strVal val="visible"/>
                                      </p:to>
                                    </p:set>
                                    <p:animEffect transition="in" filter="slide(fromBottom)">
                                      <p:cBhvr>
                                        <p:cTn id="42" dur="500"/>
                                        <p:tgtEl>
                                          <p:spTgt spid="7888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wipe(left)">
                                      <p:cBhvr>
                                        <p:cTn id="47" dur="500"/>
                                        <p:tgtEl>
                                          <p:spTgt spid="4"/>
                                        </p:tgtEl>
                                      </p:cBhvr>
                                    </p:animEffect>
                                  </p:childTnLst>
                                </p:cTn>
                              </p:par>
                            </p:childTnLst>
                          </p:cTn>
                        </p:par>
                        <p:par>
                          <p:cTn id="48" fill="hold">
                            <p:stCondLst>
                              <p:cond delay="500"/>
                            </p:stCondLst>
                            <p:childTnLst>
                              <p:par>
                                <p:cTn id="49" presetID="22" presetClass="entr" presetSubtype="8" fill="hold" nodeType="after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wipe(left)">
                                      <p:cBhvr>
                                        <p:cTn id="51" dur="500"/>
                                        <p:tgtEl>
                                          <p:spTgt spid="5"/>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78851"/>
                                        </p:tgtEl>
                                        <p:attrNameLst>
                                          <p:attrName>style.visibility</p:attrName>
                                        </p:attrNameLst>
                                      </p:cBhvr>
                                      <p:to>
                                        <p:strVal val="visible"/>
                                      </p:to>
                                    </p:set>
                                    <p:animEffect transition="in" filter="dissolve">
                                      <p:cBhvr>
                                        <p:cTn id="56" dur="500"/>
                                        <p:tgtEl>
                                          <p:spTgt spid="78851"/>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nodeType="clickEffect">
                                  <p:stCondLst>
                                    <p:cond delay="0"/>
                                  </p:stCondLst>
                                  <p:childTnLst>
                                    <p:set>
                                      <p:cBhvr>
                                        <p:cTn id="60" dur="1" fill="hold">
                                          <p:stCondLst>
                                            <p:cond delay="0"/>
                                          </p:stCondLst>
                                        </p:cTn>
                                        <p:tgtEl>
                                          <p:spTgt spid="78879"/>
                                        </p:tgtEl>
                                        <p:attrNameLst>
                                          <p:attrName>style.visibility</p:attrName>
                                        </p:attrNameLst>
                                      </p:cBhvr>
                                      <p:to>
                                        <p:strVal val="visible"/>
                                      </p:to>
                                    </p:set>
                                    <p:animEffect transition="in" filter="wipe(up)">
                                      <p:cBhvr>
                                        <p:cTn id="61" dur="500"/>
                                        <p:tgtEl>
                                          <p:spTgt spid="78879"/>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nodeType="clickEffect">
                                  <p:stCondLst>
                                    <p:cond delay="0"/>
                                  </p:stCondLst>
                                  <p:childTnLst>
                                    <p:set>
                                      <p:cBhvr>
                                        <p:cTn id="65" dur="1" fill="hold">
                                          <p:stCondLst>
                                            <p:cond delay="0"/>
                                          </p:stCondLst>
                                        </p:cTn>
                                        <p:tgtEl>
                                          <p:spTgt spid="78889"/>
                                        </p:tgtEl>
                                        <p:attrNameLst>
                                          <p:attrName>style.visibility</p:attrName>
                                        </p:attrNameLst>
                                      </p:cBhvr>
                                      <p:to>
                                        <p:strVal val="visible"/>
                                      </p:to>
                                    </p:set>
                                    <p:animEffect transition="in" filter="wipe(up)">
                                      <p:cBhvr>
                                        <p:cTn id="66" dur="500"/>
                                        <p:tgtEl>
                                          <p:spTgt spid="78889"/>
                                        </p:tgtEl>
                                      </p:cBhvr>
                                    </p:animEffect>
                                  </p:childTnLst>
                                </p:cTn>
                              </p:par>
                            </p:childTnLst>
                          </p:cTn>
                        </p:par>
                        <p:par>
                          <p:cTn id="67" fill="hold">
                            <p:stCondLst>
                              <p:cond delay="500"/>
                            </p:stCondLst>
                            <p:childTnLst>
                              <p:par>
                                <p:cTn id="68" presetID="22" presetClass="entr" presetSubtype="8" fill="hold" nodeType="afterEffect">
                                  <p:stCondLst>
                                    <p:cond delay="0"/>
                                  </p:stCondLst>
                                  <p:childTnLst>
                                    <p:set>
                                      <p:cBhvr>
                                        <p:cTn id="69" dur="1" fill="hold">
                                          <p:stCondLst>
                                            <p:cond delay="0"/>
                                          </p:stCondLst>
                                        </p:cTn>
                                        <p:tgtEl>
                                          <p:spTgt spid="78890"/>
                                        </p:tgtEl>
                                        <p:attrNameLst>
                                          <p:attrName>style.visibility</p:attrName>
                                        </p:attrNameLst>
                                      </p:cBhvr>
                                      <p:to>
                                        <p:strVal val="visible"/>
                                      </p:to>
                                    </p:set>
                                    <p:animEffect transition="in" filter="wipe(left)">
                                      <p:cBhvr>
                                        <p:cTn id="70" dur="500"/>
                                        <p:tgtEl>
                                          <p:spTgt spid="78890"/>
                                        </p:tgtEl>
                                      </p:cBhvr>
                                    </p:animEffect>
                                  </p:childTnLst>
                                </p:cTn>
                              </p:par>
                            </p:childTnLst>
                          </p:cTn>
                        </p:par>
                        <p:par>
                          <p:cTn id="71" fill="hold">
                            <p:stCondLst>
                              <p:cond delay="1000"/>
                            </p:stCondLst>
                            <p:childTnLst>
                              <p:par>
                                <p:cTn id="72" presetID="22" presetClass="entr" presetSubtype="1" fill="hold" nodeType="afterEffect">
                                  <p:stCondLst>
                                    <p:cond delay="0"/>
                                  </p:stCondLst>
                                  <p:childTnLst>
                                    <p:set>
                                      <p:cBhvr>
                                        <p:cTn id="73" dur="1" fill="hold">
                                          <p:stCondLst>
                                            <p:cond delay="0"/>
                                          </p:stCondLst>
                                        </p:cTn>
                                        <p:tgtEl>
                                          <p:spTgt spid="78888"/>
                                        </p:tgtEl>
                                        <p:attrNameLst>
                                          <p:attrName>style.visibility</p:attrName>
                                        </p:attrNameLst>
                                      </p:cBhvr>
                                      <p:to>
                                        <p:strVal val="visible"/>
                                      </p:to>
                                    </p:set>
                                    <p:animEffect transition="in" filter="wipe(up)">
                                      <p:cBhvr>
                                        <p:cTn id="74" dur="500"/>
                                        <p:tgtEl>
                                          <p:spTgt spid="78888"/>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nodeType="clickEffect">
                                  <p:stCondLst>
                                    <p:cond delay="0"/>
                                  </p:stCondLst>
                                  <p:childTnLst>
                                    <p:set>
                                      <p:cBhvr>
                                        <p:cTn id="78" dur="1" fill="hold">
                                          <p:stCondLst>
                                            <p:cond delay="0"/>
                                          </p:stCondLst>
                                        </p:cTn>
                                        <p:tgtEl>
                                          <p:spTgt spid="78887"/>
                                        </p:tgtEl>
                                        <p:attrNameLst>
                                          <p:attrName>style.visibility</p:attrName>
                                        </p:attrNameLst>
                                      </p:cBhvr>
                                      <p:to>
                                        <p:strVal val="visible"/>
                                      </p:to>
                                    </p:set>
                                    <p:animEffect transition="in" filter="wipe(down)">
                                      <p:cBhvr>
                                        <p:cTn id="79" dur="500"/>
                                        <p:tgtEl>
                                          <p:spTgt spid="78887"/>
                                        </p:tgtEl>
                                      </p:cBhvr>
                                    </p:animEffect>
                                  </p:childTnLst>
                                </p:cTn>
                              </p:par>
                            </p:childTnLst>
                          </p:cTn>
                        </p:par>
                      </p:childTnLst>
                    </p:cTn>
                  </p:par>
                  <p:par>
                    <p:cTn id="80" fill="hold">
                      <p:stCondLst>
                        <p:cond delay="indefinite"/>
                      </p:stCondLst>
                      <p:childTnLst>
                        <p:par>
                          <p:cTn id="81" fill="hold">
                            <p:stCondLst>
                              <p:cond delay="0"/>
                            </p:stCondLst>
                            <p:childTnLst>
                              <p:par>
                                <p:cTn id="82" presetID="9" presetClass="entr" presetSubtype="0" fill="hold" grpId="0" nodeType="clickEffect">
                                  <p:stCondLst>
                                    <p:cond delay="0"/>
                                  </p:stCondLst>
                                  <p:childTnLst>
                                    <p:set>
                                      <p:cBhvr>
                                        <p:cTn id="83" dur="1" fill="hold">
                                          <p:stCondLst>
                                            <p:cond delay="0"/>
                                          </p:stCondLst>
                                        </p:cTn>
                                        <p:tgtEl>
                                          <p:spTgt spid="78850"/>
                                        </p:tgtEl>
                                        <p:attrNameLst>
                                          <p:attrName>style.visibility</p:attrName>
                                        </p:attrNameLst>
                                      </p:cBhvr>
                                      <p:to>
                                        <p:strVal val="visible"/>
                                      </p:to>
                                    </p:set>
                                    <p:animEffect transition="in" filter="dissolve">
                                      <p:cBhvr>
                                        <p:cTn id="84" dur="500"/>
                                        <p:tgtEl>
                                          <p:spTgt spid="78850"/>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1" fill="hold" nodeType="clickEffect">
                                  <p:stCondLst>
                                    <p:cond delay="0"/>
                                  </p:stCondLst>
                                  <p:childTnLst>
                                    <p:set>
                                      <p:cBhvr>
                                        <p:cTn id="88" dur="1" fill="hold">
                                          <p:stCondLst>
                                            <p:cond delay="0"/>
                                          </p:stCondLst>
                                        </p:cTn>
                                        <p:tgtEl>
                                          <p:spTgt spid="78880"/>
                                        </p:tgtEl>
                                        <p:attrNameLst>
                                          <p:attrName>style.visibility</p:attrName>
                                        </p:attrNameLst>
                                      </p:cBhvr>
                                      <p:to>
                                        <p:strVal val="visible"/>
                                      </p:to>
                                    </p:set>
                                    <p:animEffect transition="in" filter="wipe(up)">
                                      <p:cBhvr>
                                        <p:cTn id="89" dur="500"/>
                                        <p:tgtEl>
                                          <p:spTgt spid="78880"/>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1" fill="hold" nodeType="clickEffect">
                                  <p:stCondLst>
                                    <p:cond delay="0"/>
                                  </p:stCondLst>
                                  <p:childTnLst>
                                    <p:set>
                                      <p:cBhvr>
                                        <p:cTn id="93" dur="1" fill="hold">
                                          <p:stCondLst>
                                            <p:cond delay="0"/>
                                          </p:stCondLst>
                                        </p:cTn>
                                        <p:tgtEl>
                                          <p:spTgt spid="78891"/>
                                        </p:tgtEl>
                                        <p:attrNameLst>
                                          <p:attrName>style.visibility</p:attrName>
                                        </p:attrNameLst>
                                      </p:cBhvr>
                                      <p:to>
                                        <p:strVal val="visible"/>
                                      </p:to>
                                    </p:set>
                                    <p:animEffect transition="in" filter="wipe(up)">
                                      <p:cBhvr>
                                        <p:cTn id="94" dur="500"/>
                                        <p:tgtEl>
                                          <p:spTgt spid="78891"/>
                                        </p:tgtEl>
                                      </p:cBhvr>
                                    </p:animEffect>
                                  </p:childTnLst>
                                </p:cTn>
                              </p:par>
                            </p:childTnLst>
                          </p:cTn>
                        </p:par>
                        <p:par>
                          <p:cTn id="95" fill="hold">
                            <p:stCondLst>
                              <p:cond delay="500"/>
                            </p:stCondLst>
                            <p:childTnLst>
                              <p:par>
                                <p:cTn id="96" presetID="22" presetClass="entr" presetSubtype="2" fill="hold" nodeType="afterEffect">
                                  <p:stCondLst>
                                    <p:cond delay="0"/>
                                  </p:stCondLst>
                                  <p:childTnLst>
                                    <p:set>
                                      <p:cBhvr>
                                        <p:cTn id="97" dur="1" fill="hold">
                                          <p:stCondLst>
                                            <p:cond delay="0"/>
                                          </p:stCondLst>
                                        </p:cTn>
                                        <p:tgtEl>
                                          <p:spTgt spid="78894"/>
                                        </p:tgtEl>
                                        <p:attrNameLst>
                                          <p:attrName>style.visibility</p:attrName>
                                        </p:attrNameLst>
                                      </p:cBhvr>
                                      <p:to>
                                        <p:strVal val="visible"/>
                                      </p:to>
                                    </p:set>
                                    <p:animEffect transition="in" filter="wipe(right)">
                                      <p:cBhvr>
                                        <p:cTn id="98" dur="500"/>
                                        <p:tgtEl>
                                          <p:spTgt spid="78894"/>
                                        </p:tgtEl>
                                      </p:cBhvr>
                                    </p:animEffect>
                                  </p:childTnLst>
                                </p:cTn>
                              </p:par>
                            </p:childTnLst>
                          </p:cTn>
                        </p:par>
                        <p:par>
                          <p:cTn id="99" fill="hold">
                            <p:stCondLst>
                              <p:cond delay="1000"/>
                            </p:stCondLst>
                            <p:childTnLst>
                              <p:par>
                                <p:cTn id="100" presetID="22" presetClass="entr" presetSubtype="1" fill="hold" nodeType="afterEffect">
                                  <p:stCondLst>
                                    <p:cond delay="0"/>
                                  </p:stCondLst>
                                  <p:childTnLst>
                                    <p:set>
                                      <p:cBhvr>
                                        <p:cTn id="101" dur="1" fill="hold">
                                          <p:stCondLst>
                                            <p:cond delay="0"/>
                                          </p:stCondLst>
                                        </p:cTn>
                                        <p:tgtEl>
                                          <p:spTgt spid="78893"/>
                                        </p:tgtEl>
                                        <p:attrNameLst>
                                          <p:attrName>style.visibility</p:attrName>
                                        </p:attrNameLst>
                                      </p:cBhvr>
                                      <p:to>
                                        <p:strVal val="visible"/>
                                      </p:to>
                                    </p:set>
                                    <p:animEffect transition="in" filter="wipe(up)">
                                      <p:cBhvr>
                                        <p:cTn id="102" dur="500"/>
                                        <p:tgtEl>
                                          <p:spTgt spid="78893"/>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1" fill="hold" nodeType="clickEffect">
                                  <p:stCondLst>
                                    <p:cond delay="0"/>
                                  </p:stCondLst>
                                  <p:childTnLst>
                                    <p:set>
                                      <p:cBhvr>
                                        <p:cTn id="106" dur="1" fill="hold">
                                          <p:stCondLst>
                                            <p:cond delay="0"/>
                                          </p:stCondLst>
                                        </p:cTn>
                                        <p:tgtEl>
                                          <p:spTgt spid="78892"/>
                                        </p:tgtEl>
                                        <p:attrNameLst>
                                          <p:attrName>style.visibility</p:attrName>
                                        </p:attrNameLst>
                                      </p:cBhvr>
                                      <p:to>
                                        <p:strVal val="visible"/>
                                      </p:to>
                                    </p:set>
                                    <p:animEffect transition="in" filter="wipe(up)">
                                      <p:cBhvr>
                                        <p:cTn id="107" dur="500"/>
                                        <p:tgtEl>
                                          <p:spTgt spid="788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animBg="1" autoUpdateAnimBg="0"/>
      <p:bldP spid="78851" grpId="0" animBg="1" autoUpdateAnimBg="0"/>
      <p:bldP spid="78886"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AutoShape 4"/>
          <p:cNvSpPr>
            <a:spLocks noChangeArrowheads="1"/>
          </p:cNvSpPr>
          <p:nvPr/>
        </p:nvSpPr>
        <p:spPr bwMode="auto">
          <a:xfrm rot="10800000">
            <a:off x="990600" y="1373188"/>
            <a:ext cx="990600" cy="170815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folHlink"/>
          </a:solidFill>
          <a:ln w="34925">
            <a:solidFill>
              <a:srgbClr val="000000"/>
            </a:solidFill>
            <a:miter lim="800000"/>
          </a:ln>
        </p:spPr>
        <p:txBody>
          <a:bodyPr wrap="none" anchor="ctr"/>
          <a:lstStyle/>
          <a:p>
            <a:endParaRPr lang="zh-CN" altLang="en-US"/>
          </a:p>
        </p:txBody>
      </p:sp>
      <p:sp>
        <p:nvSpPr>
          <p:cNvPr id="36867" name="Rectangle 5"/>
          <p:cNvSpPr>
            <a:spLocks noChangeArrowheads="1"/>
          </p:cNvSpPr>
          <p:nvPr/>
        </p:nvSpPr>
        <p:spPr bwMode="auto">
          <a:xfrm>
            <a:off x="1692275" y="1341438"/>
            <a:ext cx="381000" cy="17287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36868" name="Line 6"/>
          <p:cNvSpPr>
            <a:spLocks noChangeShapeType="1"/>
          </p:cNvSpPr>
          <p:nvPr/>
        </p:nvSpPr>
        <p:spPr bwMode="auto">
          <a:xfrm>
            <a:off x="1676400" y="1373188"/>
            <a:ext cx="0" cy="1708150"/>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869" name="Line 7"/>
          <p:cNvSpPr>
            <a:spLocks noChangeShapeType="1"/>
          </p:cNvSpPr>
          <p:nvPr/>
        </p:nvSpPr>
        <p:spPr bwMode="auto">
          <a:xfrm>
            <a:off x="1676400" y="3082925"/>
            <a:ext cx="4648200" cy="1588"/>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870" name="Line 8"/>
          <p:cNvSpPr>
            <a:spLocks noChangeShapeType="1"/>
          </p:cNvSpPr>
          <p:nvPr/>
        </p:nvSpPr>
        <p:spPr bwMode="auto">
          <a:xfrm>
            <a:off x="1676400" y="1371600"/>
            <a:ext cx="4648200" cy="1588"/>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2" name="Group 9"/>
          <p:cNvGrpSpPr/>
          <p:nvPr/>
        </p:nvGrpSpPr>
        <p:grpSpPr bwMode="auto">
          <a:xfrm>
            <a:off x="2514600" y="1376363"/>
            <a:ext cx="1027113" cy="1711325"/>
            <a:chOff x="1584" y="867"/>
            <a:chExt cx="647" cy="1078"/>
          </a:xfrm>
        </p:grpSpPr>
        <p:sp>
          <p:nvSpPr>
            <p:cNvPr id="36904" name="Line 10"/>
            <p:cNvSpPr>
              <a:spLocks noChangeShapeType="1"/>
            </p:cNvSpPr>
            <p:nvPr/>
          </p:nvSpPr>
          <p:spPr bwMode="auto">
            <a:xfrm>
              <a:off x="1584" y="867"/>
              <a:ext cx="1" cy="52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905" name="Line 11"/>
            <p:cNvSpPr>
              <a:spLocks noChangeShapeType="1"/>
            </p:cNvSpPr>
            <p:nvPr/>
          </p:nvSpPr>
          <p:spPr bwMode="auto">
            <a:xfrm>
              <a:off x="1584" y="1387"/>
              <a:ext cx="1" cy="558"/>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906" name="Text Box 12"/>
            <p:cNvSpPr txBox="1">
              <a:spLocks noChangeArrowheads="1"/>
            </p:cNvSpPr>
            <p:nvPr/>
          </p:nvSpPr>
          <p:spPr bwMode="auto">
            <a:xfrm>
              <a:off x="1680" y="1016"/>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H</a:t>
              </a:r>
              <a:r>
                <a:rPr lang="en-US" altLang="zh-CN" sz="2800" b="1" baseline="-25000"/>
                <a:t>1</a:t>
              </a:r>
              <a:endParaRPr lang="en-US" altLang="zh-CN" sz="2800" b="1"/>
            </a:p>
          </p:txBody>
        </p:sp>
        <p:sp>
          <p:nvSpPr>
            <p:cNvPr id="36907" name="Text Box 13"/>
            <p:cNvSpPr txBox="1">
              <a:spLocks noChangeArrowheads="1"/>
            </p:cNvSpPr>
            <p:nvPr/>
          </p:nvSpPr>
          <p:spPr bwMode="auto">
            <a:xfrm>
              <a:off x="1632" y="1536"/>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H</a:t>
              </a:r>
              <a:r>
                <a:rPr lang="en-US" altLang="zh-CN" sz="2800" b="1" baseline="-25000"/>
                <a:t>2</a:t>
              </a:r>
              <a:endParaRPr lang="en-US" altLang="zh-CN" sz="2800" b="1"/>
            </a:p>
          </p:txBody>
        </p:sp>
      </p:grpSp>
      <p:sp>
        <p:nvSpPr>
          <p:cNvPr id="36872" name="Text Box 14"/>
          <p:cNvSpPr txBox="1">
            <a:spLocks noChangeArrowheads="1"/>
          </p:cNvSpPr>
          <p:nvPr/>
        </p:nvSpPr>
        <p:spPr bwMode="auto">
          <a:xfrm>
            <a:off x="468313" y="666750"/>
            <a:ext cx="26558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sz="2000" b="1" dirty="0" smtClean="0">
                <a:ea typeface="+mn-ea"/>
                <a:cs typeface="Times New Roman" panose="02020603050405020304" pitchFamily="18" charset="0"/>
              </a:rPr>
              <a:t>2</a:t>
            </a:r>
            <a:r>
              <a:rPr kumimoji="0" lang="zh-CN" altLang="en-US" sz="2000" b="1" dirty="0" smtClean="0">
                <a:ea typeface="+mn-ea"/>
                <a:cs typeface="Times New Roman" panose="02020603050405020304" pitchFamily="18" charset="0"/>
              </a:rPr>
              <a:t>、墙后填土有地下水</a:t>
            </a:r>
            <a:endParaRPr kumimoji="0" lang="zh-CN" altLang="en-US" sz="2000" b="1" dirty="0" smtClean="0">
              <a:ea typeface="+mn-ea"/>
              <a:cs typeface="Times New Roman" panose="02020603050405020304" pitchFamily="18" charset="0"/>
            </a:endParaRPr>
          </a:p>
        </p:txBody>
      </p:sp>
      <p:sp>
        <p:nvSpPr>
          <p:cNvPr id="39951" name="Line 15"/>
          <p:cNvSpPr>
            <a:spLocks noChangeShapeType="1"/>
          </p:cNvSpPr>
          <p:nvPr/>
        </p:nvSpPr>
        <p:spPr bwMode="auto">
          <a:xfrm>
            <a:off x="1676400" y="2197100"/>
            <a:ext cx="4648200" cy="1588"/>
          </a:xfrm>
          <a:prstGeom prst="line">
            <a:avLst/>
          </a:prstGeom>
          <a:noFill/>
          <a:ln w="34925">
            <a:solidFill>
              <a:srgbClr val="80808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52" name="Line 16"/>
          <p:cNvSpPr>
            <a:spLocks noChangeShapeType="1"/>
          </p:cNvSpPr>
          <p:nvPr/>
        </p:nvSpPr>
        <p:spPr bwMode="auto">
          <a:xfrm>
            <a:off x="3429000" y="1376363"/>
            <a:ext cx="1588" cy="1711325"/>
          </a:xfrm>
          <a:prstGeom prst="line">
            <a:avLst/>
          </a:prstGeom>
          <a:noFill/>
          <a:ln w="22225">
            <a:solidFill>
              <a:srgbClr val="3333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53" name="Freeform 17" descr="深色横线"/>
          <p:cNvSpPr/>
          <p:nvPr/>
        </p:nvSpPr>
        <p:spPr bwMode="auto">
          <a:xfrm>
            <a:off x="3429000" y="1376363"/>
            <a:ext cx="685800" cy="820737"/>
          </a:xfrm>
          <a:custGeom>
            <a:avLst/>
            <a:gdLst>
              <a:gd name="T0" fmla="*/ 0 w 576"/>
              <a:gd name="T1" fmla="*/ 0 h 1104"/>
              <a:gd name="T2" fmla="*/ 2147483646 w 576"/>
              <a:gd name="T3" fmla="*/ 2147483646 h 1104"/>
              <a:gd name="T4" fmla="*/ 0 w 576"/>
              <a:gd name="T5" fmla="*/ 2147483646 h 1104"/>
              <a:gd name="T6" fmla="*/ 0 w 576"/>
              <a:gd name="T7" fmla="*/ 0 h 1104"/>
              <a:gd name="T8" fmla="*/ 0 60000 65536"/>
              <a:gd name="T9" fmla="*/ 0 60000 65536"/>
              <a:gd name="T10" fmla="*/ 0 60000 65536"/>
              <a:gd name="T11" fmla="*/ 0 60000 65536"/>
              <a:gd name="T12" fmla="*/ 0 w 576"/>
              <a:gd name="T13" fmla="*/ 0 h 1104"/>
              <a:gd name="T14" fmla="*/ 576 w 576"/>
              <a:gd name="T15" fmla="*/ 1104 h 1104"/>
            </a:gdLst>
            <a:ahLst/>
            <a:cxnLst>
              <a:cxn ang="T8">
                <a:pos x="T0" y="T1"/>
              </a:cxn>
              <a:cxn ang="T9">
                <a:pos x="T2" y="T3"/>
              </a:cxn>
              <a:cxn ang="T10">
                <a:pos x="T4" y="T5"/>
              </a:cxn>
              <a:cxn ang="T11">
                <a:pos x="T6" y="T7"/>
              </a:cxn>
            </a:cxnLst>
            <a:rect l="T12" t="T13" r="T14" b="T15"/>
            <a:pathLst>
              <a:path w="576" h="1104">
                <a:moveTo>
                  <a:pt x="0" y="0"/>
                </a:moveTo>
                <a:lnTo>
                  <a:pt x="576" y="1104"/>
                </a:lnTo>
                <a:lnTo>
                  <a:pt x="0" y="1104"/>
                </a:lnTo>
                <a:lnTo>
                  <a:pt x="0" y="0"/>
                </a:lnTo>
                <a:close/>
              </a:path>
            </a:pathLst>
          </a:custGeom>
          <a:blipFill dpi="0" rotWithShape="0">
            <a:blip r:embed="rId1"/>
            <a:srcRect/>
            <a:tile tx="0" ty="0" sx="100000" sy="100000" flip="none" algn="tl"/>
          </a:blipFill>
          <a:ln w="9525">
            <a:solidFill>
              <a:schemeClr val="tx1"/>
            </a:solidFill>
            <a:round/>
          </a:ln>
        </p:spPr>
        <p:txBody>
          <a:bodyPr/>
          <a:lstStyle/>
          <a:p>
            <a:endParaRPr lang="zh-CN" altLang="en-US"/>
          </a:p>
        </p:txBody>
      </p:sp>
      <p:sp>
        <p:nvSpPr>
          <p:cNvPr id="39954" name="Freeform 18" descr="深色横线"/>
          <p:cNvSpPr/>
          <p:nvPr/>
        </p:nvSpPr>
        <p:spPr bwMode="auto">
          <a:xfrm>
            <a:off x="3429000" y="2209800"/>
            <a:ext cx="1752600" cy="885825"/>
          </a:xfrm>
          <a:custGeom>
            <a:avLst/>
            <a:gdLst>
              <a:gd name="T0" fmla="*/ 0 w 1056"/>
              <a:gd name="T1" fmla="*/ 0 h 632"/>
              <a:gd name="T2" fmla="*/ 2147483646 w 1056"/>
              <a:gd name="T3" fmla="*/ 0 h 632"/>
              <a:gd name="T4" fmla="*/ 2147483646 w 1056"/>
              <a:gd name="T5" fmla="*/ 2147483646 h 632"/>
              <a:gd name="T6" fmla="*/ 0 w 1056"/>
              <a:gd name="T7" fmla="*/ 2147483646 h 632"/>
              <a:gd name="T8" fmla="*/ 0 w 1056"/>
              <a:gd name="T9" fmla="*/ 0 h 632"/>
              <a:gd name="T10" fmla="*/ 0 60000 65536"/>
              <a:gd name="T11" fmla="*/ 0 60000 65536"/>
              <a:gd name="T12" fmla="*/ 0 60000 65536"/>
              <a:gd name="T13" fmla="*/ 0 60000 65536"/>
              <a:gd name="T14" fmla="*/ 0 60000 65536"/>
              <a:gd name="T15" fmla="*/ 0 w 1056"/>
              <a:gd name="T16" fmla="*/ 0 h 632"/>
              <a:gd name="T17" fmla="*/ 1056 w 1056"/>
              <a:gd name="T18" fmla="*/ 632 h 632"/>
            </a:gdLst>
            <a:ahLst/>
            <a:cxnLst>
              <a:cxn ang="T10">
                <a:pos x="T0" y="T1"/>
              </a:cxn>
              <a:cxn ang="T11">
                <a:pos x="T2" y="T3"/>
              </a:cxn>
              <a:cxn ang="T12">
                <a:pos x="T4" y="T5"/>
              </a:cxn>
              <a:cxn ang="T13">
                <a:pos x="T6" y="T7"/>
              </a:cxn>
              <a:cxn ang="T14">
                <a:pos x="T8" y="T9"/>
              </a:cxn>
            </a:cxnLst>
            <a:rect l="T15" t="T16" r="T17" b="T18"/>
            <a:pathLst>
              <a:path w="1056" h="632">
                <a:moveTo>
                  <a:pt x="0" y="0"/>
                </a:moveTo>
                <a:lnTo>
                  <a:pt x="496" y="0"/>
                </a:lnTo>
                <a:lnTo>
                  <a:pt x="1056" y="632"/>
                </a:lnTo>
                <a:lnTo>
                  <a:pt x="0" y="632"/>
                </a:lnTo>
                <a:lnTo>
                  <a:pt x="0" y="0"/>
                </a:lnTo>
                <a:close/>
              </a:path>
            </a:pathLst>
          </a:custGeom>
          <a:blipFill dpi="0" rotWithShape="0">
            <a:blip r:embed="rId1"/>
            <a:srcRect/>
            <a:tile tx="0" ty="0" sx="100000" sy="100000" flip="none" algn="tl"/>
          </a:blipFill>
          <a:ln w="12700" cap="sq">
            <a:solidFill>
              <a:schemeClr val="tx1"/>
            </a:solidFill>
            <a:round/>
            <a:headEnd type="none" w="sm" len="sm"/>
            <a:tailEnd type="none" w="sm" len="sm"/>
          </a:ln>
        </p:spPr>
        <p:txBody>
          <a:bodyPr wrap="none" anchor="ctr"/>
          <a:lstStyle/>
          <a:p>
            <a:endParaRPr lang="zh-CN" altLang="en-US"/>
          </a:p>
        </p:txBody>
      </p:sp>
      <p:grpSp>
        <p:nvGrpSpPr>
          <p:cNvPr id="3" name="Group 19"/>
          <p:cNvGrpSpPr/>
          <p:nvPr/>
        </p:nvGrpSpPr>
        <p:grpSpPr bwMode="auto">
          <a:xfrm>
            <a:off x="1752600" y="2057400"/>
            <a:ext cx="609600" cy="342900"/>
            <a:chOff x="1232" y="2784"/>
            <a:chExt cx="384" cy="216"/>
          </a:xfrm>
        </p:grpSpPr>
        <p:sp>
          <p:nvSpPr>
            <p:cNvPr id="36899" name="Freeform 20"/>
            <p:cNvSpPr/>
            <p:nvPr/>
          </p:nvSpPr>
          <p:spPr bwMode="auto">
            <a:xfrm>
              <a:off x="1328" y="2784"/>
              <a:ext cx="208" cy="96"/>
            </a:xfrm>
            <a:custGeom>
              <a:avLst/>
              <a:gdLst>
                <a:gd name="T0" fmla="*/ 4103 w 168"/>
                <a:gd name="T1" fmla="*/ 25 h 104"/>
                <a:gd name="T2" fmla="*/ 0 w 168"/>
                <a:gd name="T3" fmla="*/ 6 h 104"/>
                <a:gd name="T4" fmla="*/ 7846 w 168"/>
                <a:gd name="T5" fmla="*/ 0 h 104"/>
                <a:gd name="T6" fmla="*/ 4103 w 168"/>
                <a:gd name="T7" fmla="*/ 25 h 104"/>
                <a:gd name="T8" fmla="*/ 0 60000 65536"/>
                <a:gd name="T9" fmla="*/ 0 60000 65536"/>
                <a:gd name="T10" fmla="*/ 0 60000 65536"/>
                <a:gd name="T11" fmla="*/ 0 60000 65536"/>
                <a:gd name="T12" fmla="*/ 0 w 168"/>
                <a:gd name="T13" fmla="*/ 0 h 104"/>
                <a:gd name="T14" fmla="*/ 168 w 168"/>
                <a:gd name="T15" fmla="*/ 104 h 104"/>
              </a:gdLst>
              <a:ahLst/>
              <a:cxnLst>
                <a:cxn ang="T8">
                  <a:pos x="T0" y="T1"/>
                </a:cxn>
                <a:cxn ang="T9">
                  <a:pos x="T2" y="T3"/>
                </a:cxn>
                <a:cxn ang="T10">
                  <a:pos x="T4" y="T5"/>
                </a:cxn>
                <a:cxn ang="T11">
                  <a:pos x="T6" y="T7"/>
                </a:cxn>
              </a:cxnLst>
              <a:rect l="T12" t="T13" r="T14" b="T15"/>
              <a:pathLst>
                <a:path w="168" h="104">
                  <a:moveTo>
                    <a:pt x="88" y="104"/>
                  </a:moveTo>
                  <a:lnTo>
                    <a:pt x="0" y="8"/>
                  </a:lnTo>
                  <a:lnTo>
                    <a:pt x="168" y="0"/>
                  </a:lnTo>
                  <a:lnTo>
                    <a:pt x="88" y="104"/>
                  </a:lnTo>
                  <a:close/>
                </a:path>
              </a:pathLst>
            </a:custGeom>
            <a:noFill/>
            <a:ln w="31750">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6900" name="Line 21"/>
            <p:cNvSpPr>
              <a:spLocks noChangeShapeType="1"/>
            </p:cNvSpPr>
            <p:nvPr/>
          </p:nvSpPr>
          <p:spPr bwMode="auto">
            <a:xfrm>
              <a:off x="1232" y="2880"/>
              <a:ext cx="384" cy="0"/>
            </a:xfrm>
            <a:prstGeom prst="line">
              <a:avLst/>
            </a:prstGeom>
            <a:noFill/>
            <a:ln w="31750">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901" name="Line 22"/>
            <p:cNvSpPr>
              <a:spLocks noChangeShapeType="1"/>
            </p:cNvSpPr>
            <p:nvPr/>
          </p:nvSpPr>
          <p:spPr bwMode="auto">
            <a:xfrm flipV="1">
              <a:off x="1328" y="2912"/>
              <a:ext cx="200" cy="8"/>
            </a:xfrm>
            <a:prstGeom prst="line">
              <a:avLst/>
            </a:prstGeom>
            <a:noFill/>
            <a:ln w="31750">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902" name="Line 23"/>
            <p:cNvSpPr>
              <a:spLocks noChangeShapeType="1"/>
            </p:cNvSpPr>
            <p:nvPr/>
          </p:nvSpPr>
          <p:spPr bwMode="auto">
            <a:xfrm>
              <a:off x="1360" y="2960"/>
              <a:ext cx="144" cy="0"/>
            </a:xfrm>
            <a:prstGeom prst="line">
              <a:avLst/>
            </a:prstGeom>
            <a:noFill/>
            <a:ln w="31750">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903" name="Line 24"/>
            <p:cNvSpPr>
              <a:spLocks noChangeShapeType="1"/>
            </p:cNvSpPr>
            <p:nvPr/>
          </p:nvSpPr>
          <p:spPr bwMode="auto">
            <a:xfrm flipV="1">
              <a:off x="1392" y="2992"/>
              <a:ext cx="104" cy="8"/>
            </a:xfrm>
            <a:prstGeom prst="line">
              <a:avLst/>
            </a:prstGeom>
            <a:noFill/>
            <a:ln w="31750">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9961" name="Text Box 25"/>
          <p:cNvSpPr txBox="1">
            <a:spLocks noChangeArrowheads="1"/>
          </p:cNvSpPr>
          <p:nvPr/>
        </p:nvSpPr>
        <p:spPr bwMode="auto">
          <a:xfrm>
            <a:off x="3292475" y="849313"/>
            <a:ext cx="53308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sz="2000" b="1" dirty="0" smtClean="0">
                <a:solidFill>
                  <a:srgbClr val="FF0000"/>
                </a:solidFill>
                <a:ea typeface="+mn-ea"/>
                <a:cs typeface="Times New Roman" panose="02020603050405020304" pitchFamily="18" charset="0"/>
              </a:rPr>
              <a:t>水下部分用有效重度</a:t>
            </a:r>
            <a:r>
              <a:rPr kumimoji="0" lang="zh-CN" altLang="en-US" sz="2000" b="1" dirty="0" smtClean="0">
                <a:solidFill>
                  <a:srgbClr val="FF0000"/>
                </a:solidFill>
                <a:ea typeface="+mn-ea"/>
                <a:cs typeface="Times New Roman" panose="02020603050405020304" pitchFamily="18" charset="0"/>
                <a:sym typeface="Symbol" panose="05050102010706020507" pitchFamily="18" charset="2"/>
              </a:rPr>
              <a:t>’ </a:t>
            </a:r>
            <a:r>
              <a:rPr kumimoji="0" lang="en-US" altLang="zh-CN" sz="2000" b="1" dirty="0" smtClean="0">
                <a:solidFill>
                  <a:srgbClr val="FF0000"/>
                </a:solidFill>
                <a:ea typeface="+mn-ea"/>
                <a:cs typeface="Times New Roman" panose="02020603050405020304" pitchFamily="18" charset="0"/>
                <a:sym typeface="Symbol" panose="05050102010706020507" pitchFamily="18" charset="2"/>
              </a:rPr>
              <a:t>= </a:t>
            </a:r>
            <a:r>
              <a:rPr kumimoji="0" lang="zh-CN" altLang="en-US" sz="2000" b="1" dirty="0" smtClean="0">
                <a:solidFill>
                  <a:srgbClr val="FF0000"/>
                </a:solidFill>
                <a:ea typeface="+mn-ea"/>
                <a:cs typeface="Times New Roman" panose="02020603050405020304" pitchFamily="18" charset="0"/>
                <a:sym typeface="Symbol" panose="05050102010706020507" pitchFamily="18" charset="2"/>
              </a:rPr>
              <a:t>（</a:t>
            </a:r>
            <a:r>
              <a:rPr kumimoji="0" lang="en-US" altLang="zh-CN" sz="2000" b="1" i="1" dirty="0" smtClean="0">
                <a:solidFill>
                  <a:srgbClr val="FF0000"/>
                </a:solidFill>
                <a:ea typeface="+mn-ea"/>
                <a:cs typeface="Times New Roman" panose="02020603050405020304" pitchFamily="18" charset="0"/>
                <a:sym typeface="Symbol" panose="05050102010706020507" pitchFamily="18" charset="2"/>
              </a:rPr>
              <a:t>d</a:t>
            </a:r>
            <a:r>
              <a:rPr kumimoji="0" lang="en-US" altLang="zh-CN" sz="2000" b="1" baseline="-25000" dirty="0" smtClean="0">
                <a:solidFill>
                  <a:srgbClr val="FF0000"/>
                </a:solidFill>
                <a:ea typeface="+mn-ea"/>
                <a:cs typeface="Times New Roman" panose="02020603050405020304" pitchFamily="18" charset="0"/>
                <a:sym typeface="Symbol" panose="05050102010706020507" pitchFamily="18" charset="2"/>
              </a:rPr>
              <a:t>s</a:t>
            </a:r>
            <a:r>
              <a:rPr kumimoji="0" lang="en-US" altLang="zh-CN" sz="2000" b="1" dirty="0" smtClean="0">
                <a:solidFill>
                  <a:srgbClr val="FF0000"/>
                </a:solidFill>
                <a:ea typeface="+mn-ea"/>
                <a:cs typeface="Times New Roman" panose="02020603050405020304" pitchFamily="18" charset="0"/>
                <a:sym typeface="Symbol" panose="05050102010706020507" pitchFamily="18" charset="2"/>
              </a:rPr>
              <a:t>-1</a:t>
            </a:r>
            <a:r>
              <a:rPr kumimoji="0" lang="zh-CN" altLang="en-US" sz="2000" b="1" dirty="0" smtClean="0">
                <a:solidFill>
                  <a:srgbClr val="FF0000"/>
                </a:solidFill>
                <a:ea typeface="+mn-ea"/>
                <a:cs typeface="Times New Roman" panose="02020603050405020304" pitchFamily="18" charset="0"/>
                <a:sym typeface="Symbol" panose="05050102010706020507" pitchFamily="18" charset="2"/>
              </a:rPr>
              <a:t>）</a:t>
            </a:r>
            <a:r>
              <a:rPr kumimoji="0" lang="en-US" altLang="zh-CN" sz="2000" b="1" dirty="0" smtClean="0">
                <a:solidFill>
                  <a:srgbClr val="FF0000"/>
                </a:solidFill>
                <a:ea typeface="+mn-ea"/>
                <a:cs typeface="Times New Roman" panose="02020603050405020304" pitchFamily="18" charset="0"/>
                <a:sym typeface="Symbol" panose="05050102010706020507" pitchFamily="18" charset="2"/>
              </a:rPr>
              <a:t>/</a:t>
            </a:r>
            <a:r>
              <a:rPr kumimoji="0" lang="zh-CN" altLang="en-US" sz="2000" b="1" dirty="0" smtClean="0">
                <a:solidFill>
                  <a:srgbClr val="FF0000"/>
                </a:solidFill>
                <a:ea typeface="+mn-ea"/>
                <a:cs typeface="Times New Roman" panose="02020603050405020304" pitchFamily="18" charset="0"/>
                <a:sym typeface="Symbol" panose="05050102010706020507" pitchFamily="18" charset="2"/>
              </a:rPr>
              <a:t>（</a:t>
            </a:r>
            <a:r>
              <a:rPr kumimoji="0" lang="en-US" altLang="zh-CN" sz="2000" b="1" dirty="0" smtClean="0">
                <a:solidFill>
                  <a:srgbClr val="FF0000"/>
                </a:solidFill>
                <a:ea typeface="+mn-ea"/>
                <a:cs typeface="Times New Roman" panose="02020603050405020304" pitchFamily="18" charset="0"/>
                <a:sym typeface="Symbol" panose="05050102010706020507" pitchFamily="18" charset="2"/>
              </a:rPr>
              <a:t>1+</a:t>
            </a:r>
            <a:r>
              <a:rPr kumimoji="0" lang="en-US" altLang="zh-CN" sz="2000" b="1" i="1" dirty="0" smtClean="0">
                <a:solidFill>
                  <a:srgbClr val="FF0000"/>
                </a:solidFill>
                <a:ea typeface="+mn-ea"/>
                <a:cs typeface="Times New Roman" panose="02020603050405020304" pitchFamily="18" charset="0"/>
                <a:sym typeface="Symbol" panose="05050102010706020507" pitchFamily="18" charset="2"/>
              </a:rPr>
              <a:t>e</a:t>
            </a:r>
            <a:r>
              <a:rPr kumimoji="0" lang="zh-CN" altLang="en-US" sz="2000" b="1" dirty="0" smtClean="0">
                <a:solidFill>
                  <a:srgbClr val="FF0000"/>
                </a:solidFill>
                <a:ea typeface="+mn-ea"/>
                <a:cs typeface="Times New Roman" panose="02020603050405020304" pitchFamily="18" charset="0"/>
                <a:sym typeface="Symbol" panose="05050102010706020507" pitchFamily="18" charset="2"/>
              </a:rPr>
              <a:t>）*</a:t>
            </a:r>
            <a:r>
              <a:rPr kumimoji="0" lang="en-US" altLang="zh-CN" sz="2000" b="1" baseline="-25000" dirty="0" smtClean="0">
                <a:solidFill>
                  <a:srgbClr val="FF0000"/>
                </a:solidFill>
                <a:ea typeface="+mn-ea"/>
                <a:cs typeface="Times New Roman" panose="02020603050405020304" pitchFamily="18" charset="0"/>
                <a:sym typeface="Symbol" panose="05050102010706020507" pitchFamily="18" charset="2"/>
              </a:rPr>
              <a:t>w</a:t>
            </a:r>
            <a:endParaRPr kumimoji="0" lang="en-US" altLang="zh-CN" sz="2000" b="1" baseline="-25000" dirty="0" smtClean="0">
              <a:solidFill>
                <a:srgbClr val="FF0000"/>
              </a:solidFill>
              <a:ea typeface="+mn-ea"/>
              <a:cs typeface="Times New Roman" panose="02020603050405020304" pitchFamily="18" charset="0"/>
              <a:sym typeface="Symbol" panose="05050102010706020507" pitchFamily="18" charset="2"/>
            </a:endParaRPr>
          </a:p>
        </p:txBody>
      </p:sp>
      <p:graphicFrame>
        <p:nvGraphicFramePr>
          <p:cNvPr id="39962" name="Object 26"/>
          <p:cNvGraphicFramePr>
            <a:graphicFrameLocks noChangeAspect="1"/>
          </p:cNvGraphicFramePr>
          <p:nvPr/>
        </p:nvGraphicFramePr>
        <p:xfrm>
          <a:off x="2590800" y="4114800"/>
          <a:ext cx="1912938" cy="558800"/>
        </p:xfrm>
        <a:graphic>
          <a:graphicData uri="http://schemas.openxmlformats.org/presentationml/2006/ole">
            <mc:AlternateContent xmlns:mc="http://schemas.openxmlformats.org/markup-compatibility/2006">
              <mc:Choice xmlns:v="urn:schemas-microsoft-com:vml" Requires="v">
                <p:oleObj spid="_x0000_s12350" name="Equation" r:id="rId2" imgW="735965" imgH="215900" progId="Equation.3">
                  <p:embed/>
                </p:oleObj>
              </mc:Choice>
              <mc:Fallback>
                <p:oleObj name="Equation" r:id="rId2" imgW="735965" imgH="215900" progId="Equation.3">
                  <p:embed/>
                  <p:pic>
                    <p:nvPicPr>
                      <p:cNvPr id="0" name="Object 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4114800"/>
                        <a:ext cx="1912938" cy="5588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63" name="Text Box 27"/>
          <p:cNvSpPr txBox="1">
            <a:spLocks noChangeArrowheads="1"/>
          </p:cNvSpPr>
          <p:nvPr/>
        </p:nvSpPr>
        <p:spPr bwMode="auto">
          <a:xfrm>
            <a:off x="896938" y="4906963"/>
            <a:ext cx="1008062"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sz="2000" b="1" dirty="0" smtClean="0">
                <a:latin typeface="+mn-ea"/>
                <a:ea typeface="+mn-ea"/>
              </a:rPr>
              <a:t>土压力</a:t>
            </a:r>
            <a:endParaRPr kumimoji="0" lang="zh-CN" altLang="en-US" sz="2000" b="1" dirty="0" smtClean="0">
              <a:latin typeface="+mn-ea"/>
              <a:ea typeface="+mn-ea"/>
            </a:endParaRPr>
          </a:p>
        </p:txBody>
      </p:sp>
      <p:graphicFrame>
        <p:nvGraphicFramePr>
          <p:cNvPr id="39964" name="Object 28"/>
          <p:cNvGraphicFramePr>
            <a:graphicFrameLocks noChangeAspect="1"/>
          </p:cNvGraphicFramePr>
          <p:nvPr/>
        </p:nvGraphicFramePr>
        <p:xfrm>
          <a:off x="2362200" y="4826000"/>
          <a:ext cx="1466850" cy="477838"/>
        </p:xfrm>
        <a:graphic>
          <a:graphicData uri="http://schemas.openxmlformats.org/presentationml/2006/ole">
            <mc:AlternateContent xmlns:mc="http://schemas.openxmlformats.org/markup-compatibility/2006">
              <mc:Choice xmlns:v="urn:schemas-microsoft-com:vml" Requires="v">
                <p:oleObj spid="_x0000_s12351" name="公式" r:id="rId4" imgW="698500" imgH="228600" progId="Equation.3">
                  <p:embed/>
                </p:oleObj>
              </mc:Choice>
              <mc:Fallback>
                <p:oleObj name="公式" r:id="rId4" imgW="698500" imgH="228600" progId="Equation.3">
                  <p:embed/>
                  <p:pic>
                    <p:nvPicPr>
                      <p:cNvPr id="0" name="Object 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2200" y="4826000"/>
                        <a:ext cx="14668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9965" name="Object 29"/>
          <p:cNvGraphicFramePr>
            <a:graphicFrameLocks noChangeAspect="1"/>
          </p:cNvGraphicFramePr>
          <p:nvPr/>
        </p:nvGraphicFramePr>
        <p:xfrm>
          <a:off x="2571750" y="5372100"/>
          <a:ext cx="1154113" cy="590550"/>
        </p:xfrm>
        <a:graphic>
          <a:graphicData uri="http://schemas.openxmlformats.org/presentationml/2006/ole">
            <mc:AlternateContent xmlns:mc="http://schemas.openxmlformats.org/markup-compatibility/2006">
              <mc:Choice xmlns:v="urn:schemas-microsoft-com:vml" Requires="v">
                <p:oleObj spid="_x0000_s12352" name="Equation" r:id="rId6" imgW="444500" imgH="228600" progId="Equation.3">
                  <p:embed/>
                </p:oleObj>
              </mc:Choice>
              <mc:Fallback>
                <p:oleObj name="Equation" r:id="rId6" imgW="444500" imgH="228600" progId="Equation.3">
                  <p:embed/>
                  <p:pic>
                    <p:nvPicPr>
                      <p:cNvPr id="0" name="Object 2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71750" y="5372100"/>
                        <a:ext cx="1154113" cy="5905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67" name="Object 31"/>
          <p:cNvGraphicFramePr>
            <a:graphicFrameLocks noChangeAspect="1"/>
          </p:cNvGraphicFramePr>
          <p:nvPr/>
        </p:nvGraphicFramePr>
        <p:xfrm>
          <a:off x="3924300" y="1628775"/>
          <a:ext cx="719138" cy="371475"/>
        </p:xfrm>
        <a:graphic>
          <a:graphicData uri="http://schemas.openxmlformats.org/presentationml/2006/ole">
            <mc:AlternateContent xmlns:mc="http://schemas.openxmlformats.org/markup-compatibility/2006">
              <mc:Choice xmlns:v="urn:schemas-microsoft-com:vml" Requires="v">
                <p:oleObj spid="_x0000_s12353" name="公式" r:id="rId8" imgW="444500" imgH="228600" progId="Equation.3">
                  <p:embed/>
                </p:oleObj>
              </mc:Choice>
              <mc:Fallback>
                <p:oleObj name="公式" r:id="rId8" imgW="444500" imgH="228600" progId="Equation.3">
                  <p:embed/>
                  <p:pic>
                    <p:nvPicPr>
                      <p:cNvPr id="0" name="Object 3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24300" y="1628775"/>
                        <a:ext cx="719138" cy="371475"/>
                      </a:xfrm>
                      <a:prstGeom prst="rect">
                        <a:avLst/>
                      </a:prstGeom>
                      <a:solidFill>
                        <a:srgbClr val="CCFFCC">
                          <a:alpha val="20000"/>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68" name="Object 32"/>
          <p:cNvGraphicFramePr>
            <a:graphicFrameLocks noChangeAspect="1"/>
          </p:cNvGraphicFramePr>
          <p:nvPr/>
        </p:nvGraphicFramePr>
        <p:xfrm>
          <a:off x="3429000" y="3124200"/>
          <a:ext cx="1865313" cy="381000"/>
        </p:xfrm>
        <a:graphic>
          <a:graphicData uri="http://schemas.openxmlformats.org/presentationml/2006/ole">
            <mc:AlternateContent xmlns:mc="http://schemas.openxmlformats.org/markup-compatibility/2006">
              <mc:Choice xmlns:v="urn:schemas-microsoft-com:vml" Requires="v">
                <p:oleObj spid="_x0000_s12354" name="公式" r:id="rId10" imgW="990600" imgH="228600" progId="Equation.3">
                  <p:embed/>
                </p:oleObj>
              </mc:Choice>
              <mc:Fallback>
                <p:oleObj name="公式" r:id="rId10" imgW="990600" imgH="228600" progId="Equation.3">
                  <p:embed/>
                  <p:pic>
                    <p:nvPicPr>
                      <p:cNvPr id="0" name="Object 3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29000" y="3124200"/>
                        <a:ext cx="1865313" cy="381000"/>
                      </a:xfrm>
                      <a:prstGeom prst="rect">
                        <a:avLst/>
                      </a:prstGeom>
                      <a:solidFill>
                        <a:srgbClr val="CCFFCC">
                          <a:alpha val="20000"/>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69" name="Freeform 33" descr="深色横线"/>
          <p:cNvSpPr/>
          <p:nvPr/>
        </p:nvSpPr>
        <p:spPr bwMode="auto">
          <a:xfrm>
            <a:off x="5562600" y="2209800"/>
            <a:ext cx="850900" cy="833438"/>
          </a:xfrm>
          <a:custGeom>
            <a:avLst/>
            <a:gdLst>
              <a:gd name="T0" fmla="*/ 0 w 576"/>
              <a:gd name="T1" fmla="*/ 0 h 1104"/>
              <a:gd name="T2" fmla="*/ 2147483646 w 576"/>
              <a:gd name="T3" fmla="*/ 2147483646 h 1104"/>
              <a:gd name="T4" fmla="*/ 0 w 576"/>
              <a:gd name="T5" fmla="*/ 2147483646 h 1104"/>
              <a:gd name="T6" fmla="*/ 0 w 576"/>
              <a:gd name="T7" fmla="*/ 0 h 1104"/>
              <a:gd name="T8" fmla="*/ 0 60000 65536"/>
              <a:gd name="T9" fmla="*/ 0 60000 65536"/>
              <a:gd name="T10" fmla="*/ 0 60000 65536"/>
              <a:gd name="T11" fmla="*/ 0 60000 65536"/>
              <a:gd name="T12" fmla="*/ 0 w 576"/>
              <a:gd name="T13" fmla="*/ 0 h 1104"/>
              <a:gd name="T14" fmla="*/ 576 w 576"/>
              <a:gd name="T15" fmla="*/ 1104 h 1104"/>
            </a:gdLst>
            <a:ahLst/>
            <a:cxnLst>
              <a:cxn ang="T8">
                <a:pos x="T0" y="T1"/>
              </a:cxn>
              <a:cxn ang="T9">
                <a:pos x="T2" y="T3"/>
              </a:cxn>
              <a:cxn ang="T10">
                <a:pos x="T4" y="T5"/>
              </a:cxn>
              <a:cxn ang="T11">
                <a:pos x="T6" y="T7"/>
              </a:cxn>
            </a:cxnLst>
            <a:rect l="T12" t="T13" r="T14" b="T15"/>
            <a:pathLst>
              <a:path w="576" h="1104">
                <a:moveTo>
                  <a:pt x="0" y="0"/>
                </a:moveTo>
                <a:lnTo>
                  <a:pt x="576" y="1104"/>
                </a:lnTo>
                <a:lnTo>
                  <a:pt x="0" y="1104"/>
                </a:lnTo>
                <a:lnTo>
                  <a:pt x="0" y="0"/>
                </a:lnTo>
                <a:close/>
              </a:path>
            </a:pathLst>
          </a:custGeom>
          <a:blipFill dpi="0" rotWithShape="0">
            <a:blip r:embed="rId1"/>
            <a:srcRect/>
            <a:tile tx="0" ty="0" sx="100000" sy="100000" flip="none" algn="tl"/>
          </a:blipFill>
          <a:ln w="9525">
            <a:solidFill>
              <a:schemeClr val="tx1"/>
            </a:solidFill>
            <a:round/>
          </a:ln>
        </p:spPr>
        <p:txBody>
          <a:bodyPr/>
          <a:lstStyle/>
          <a:p>
            <a:endParaRPr lang="zh-CN" altLang="en-US"/>
          </a:p>
        </p:txBody>
      </p:sp>
      <p:graphicFrame>
        <p:nvGraphicFramePr>
          <p:cNvPr id="39970" name="Object 34"/>
          <p:cNvGraphicFramePr>
            <a:graphicFrameLocks noChangeAspect="1"/>
          </p:cNvGraphicFramePr>
          <p:nvPr/>
        </p:nvGraphicFramePr>
        <p:xfrm>
          <a:off x="5638800" y="3124200"/>
          <a:ext cx="728663" cy="374650"/>
        </p:xfrm>
        <a:graphic>
          <a:graphicData uri="http://schemas.openxmlformats.org/presentationml/2006/ole">
            <mc:AlternateContent xmlns:mc="http://schemas.openxmlformats.org/markup-compatibility/2006">
              <mc:Choice xmlns:v="urn:schemas-microsoft-com:vml" Requires="v">
                <p:oleObj spid="_x0000_s12355" name="Equation" r:id="rId12" imgW="342900" imgH="190500" progId="Equation.3">
                  <p:embed/>
                </p:oleObj>
              </mc:Choice>
              <mc:Fallback>
                <p:oleObj name="Equation" r:id="rId12" imgW="342900" imgH="190500" progId="Equation.3">
                  <p:embed/>
                  <p:pic>
                    <p:nvPicPr>
                      <p:cNvPr id="0" name="Object 3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638800" y="3124200"/>
                        <a:ext cx="728663" cy="374650"/>
                      </a:xfrm>
                      <a:prstGeom prst="rect">
                        <a:avLst/>
                      </a:prstGeom>
                      <a:solidFill>
                        <a:srgbClr val="CCFFCC">
                          <a:alpha val="20000"/>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71" name="AutoShape 35"/>
          <p:cNvSpPr>
            <a:spLocks noChangeArrowheads="1"/>
          </p:cNvSpPr>
          <p:nvPr/>
        </p:nvSpPr>
        <p:spPr bwMode="auto">
          <a:xfrm>
            <a:off x="5562600" y="2667000"/>
            <a:ext cx="838200" cy="165100"/>
          </a:xfrm>
          <a:prstGeom prst="leftArrow">
            <a:avLst>
              <a:gd name="adj1" fmla="val 50000"/>
              <a:gd name="adj2" fmla="val 126923"/>
            </a:avLst>
          </a:prstGeom>
          <a:solidFill>
            <a:srgbClr val="C0C0C0"/>
          </a:solidFill>
          <a:ln w="12700" cap="sq">
            <a:solidFill>
              <a:schemeClr val="tx1"/>
            </a:solidFill>
            <a:miter lim="800000"/>
            <a:headEnd type="none" w="sm" len="sm"/>
            <a:tailEnd type="none" w="sm" len="sm"/>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39972" name="Text Box 36"/>
          <p:cNvSpPr txBox="1">
            <a:spLocks noChangeArrowheads="1"/>
          </p:cNvSpPr>
          <p:nvPr/>
        </p:nvSpPr>
        <p:spPr bwMode="auto">
          <a:xfrm>
            <a:off x="3132138" y="3505200"/>
            <a:ext cx="2209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defRPr/>
            </a:pPr>
            <a:r>
              <a:rPr lang="zh-CN" altLang="en-US" sz="2000" b="1" dirty="0" smtClean="0">
                <a:latin typeface="+mn-ea"/>
                <a:ea typeface="+mn-ea"/>
              </a:rPr>
              <a:t>土压力</a:t>
            </a:r>
            <a:r>
              <a:rPr lang="zh-CN" altLang="en-US" sz="2800" dirty="0" smtClean="0">
                <a:latin typeface="华文新魏" panose="02010800040101010101" pitchFamily="2" charset="-122"/>
                <a:ea typeface="华文新魏" panose="02010800040101010101" pitchFamily="2" charset="-122"/>
              </a:rPr>
              <a:t> </a:t>
            </a:r>
            <a:endParaRPr lang="zh-CN" altLang="en-US" sz="2800" dirty="0" smtClean="0">
              <a:latin typeface="华文新魏" panose="02010800040101010101" pitchFamily="2" charset="-122"/>
              <a:ea typeface="华文新魏" panose="02010800040101010101" pitchFamily="2" charset="-122"/>
            </a:endParaRPr>
          </a:p>
        </p:txBody>
      </p:sp>
      <p:graphicFrame>
        <p:nvGraphicFramePr>
          <p:cNvPr id="39973" name="Object 37"/>
          <p:cNvGraphicFramePr>
            <a:graphicFrameLocks noChangeAspect="1"/>
          </p:cNvGraphicFramePr>
          <p:nvPr/>
        </p:nvGraphicFramePr>
        <p:xfrm>
          <a:off x="4356100" y="2157413"/>
          <a:ext cx="792163" cy="407987"/>
        </p:xfrm>
        <a:graphic>
          <a:graphicData uri="http://schemas.openxmlformats.org/presentationml/2006/ole">
            <mc:AlternateContent xmlns:mc="http://schemas.openxmlformats.org/markup-compatibility/2006">
              <mc:Choice xmlns:v="urn:schemas-microsoft-com:vml" Requires="v">
                <p:oleObj spid="_x0000_s12356" name="公式" r:id="rId14" imgW="444500" imgH="228600" progId="Equation.3">
                  <p:embed/>
                </p:oleObj>
              </mc:Choice>
              <mc:Fallback>
                <p:oleObj name="公式" r:id="rId14" imgW="444500" imgH="228600" progId="Equation.3">
                  <p:embed/>
                  <p:pic>
                    <p:nvPicPr>
                      <p:cNvPr id="0" name="Object 3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356100" y="2157413"/>
                        <a:ext cx="792163" cy="407987"/>
                      </a:xfrm>
                      <a:prstGeom prst="rect">
                        <a:avLst/>
                      </a:prstGeom>
                      <a:solidFill>
                        <a:srgbClr val="CCFFCC">
                          <a:alpha val="20000"/>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74" name="Object 38"/>
          <p:cNvGraphicFramePr>
            <a:graphicFrameLocks noChangeAspect="1"/>
          </p:cNvGraphicFramePr>
          <p:nvPr/>
        </p:nvGraphicFramePr>
        <p:xfrm>
          <a:off x="5037138" y="1700213"/>
          <a:ext cx="471487" cy="503237"/>
        </p:xfrm>
        <a:graphic>
          <a:graphicData uri="http://schemas.openxmlformats.org/presentationml/2006/ole">
            <mc:AlternateContent xmlns:mc="http://schemas.openxmlformats.org/markup-compatibility/2006">
              <mc:Choice xmlns:v="urn:schemas-microsoft-com:vml" Requires="v">
                <p:oleObj spid="_x0000_s12357" name="公式" r:id="rId16" imgW="215900" imgH="228600" progId="Equation.3">
                  <p:embed/>
                </p:oleObj>
              </mc:Choice>
              <mc:Fallback>
                <p:oleObj name="公式" r:id="rId16" imgW="215900" imgH="228600" progId="Equation.3">
                  <p:embed/>
                  <p:pic>
                    <p:nvPicPr>
                      <p:cNvPr id="0" name="Object 3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037138" y="1700213"/>
                        <a:ext cx="471487" cy="503237"/>
                      </a:xfrm>
                      <a:prstGeom prst="rect">
                        <a:avLst/>
                      </a:prstGeom>
                      <a:solidFill>
                        <a:srgbClr val="CCFFCC">
                          <a:alpha val="20000"/>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75" name="Object 39"/>
          <p:cNvGraphicFramePr>
            <a:graphicFrameLocks noChangeAspect="1"/>
          </p:cNvGraphicFramePr>
          <p:nvPr/>
        </p:nvGraphicFramePr>
        <p:xfrm>
          <a:off x="6261100" y="2209800"/>
          <a:ext cx="474663" cy="503238"/>
        </p:xfrm>
        <a:graphic>
          <a:graphicData uri="http://schemas.openxmlformats.org/presentationml/2006/ole">
            <mc:AlternateContent xmlns:mc="http://schemas.openxmlformats.org/markup-compatibility/2006">
              <mc:Choice xmlns:v="urn:schemas-microsoft-com:vml" Requires="v">
                <p:oleObj spid="_x0000_s12358" name="公式" r:id="rId18" imgW="215900" imgH="228600" progId="Equation.3">
                  <p:embed/>
                </p:oleObj>
              </mc:Choice>
              <mc:Fallback>
                <p:oleObj name="公式" r:id="rId18" imgW="215900" imgH="228600" progId="Equation.3">
                  <p:embed/>
                  <p:pic>
                    <p:nvPicPr>
                      <p:cNvPr id="0" name="Object 3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261100" y="2209800"/>
                        <a:ext cx="474663" cy="503238"/>
                      </a:xfrm>
                      <a:prstGeom prst="rect">
                        <a:avLst/>
                      </a:prstGeom>
                      <a:solidFill>
                        <a:srgbClr val="CCFFCC">
                          <a:alpha val="20000"/>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76" name="Object 40"/>
          <p:cNvGraphicFramePr>
            <a:graphicFrameLocks noChangeAspect="1"/>
          </p:cNvGraphicFramePr>
          <p:nvPr/>
        </p:nvGraphicFramePr>
        <p:xfrm>
          <a:off x="6934200" y="1828800"/>
          <a:ext cx="1692275" cy="503238"/>
        </p:xfrm>
        <a:graphic>
          <a:graphicData uri="http://schemas.openxmlformats.org/presentationml/2006/ole">
            <mc:AlternateContent xmlns:mc="http://schemas.openxmlformats.org/markup-compatibility/2006">
              <mc:Choice xmlns:v="urn:schemas-microsoft-com:vml" Requires="v">
                <p:oleObj spid="_x0000_s12359" name="Equation" r:id="rId20" imgW="774065" imgH="228600" progId="Equation.3">
                  <p:embed/>
                </p:oleObj>
              </mc:Choice>
              <mc:Fallback>
                <p:oleObj name="Equation" r:id="rId20" imgW="774065" imgH="228600" progId="Equation.3">
                  <p:embed/>
                  <p:pic>
                    <p:nvPicPr>
                      <p:cNvPr id="0" name="Object 4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934200" y="1828800"/>
                        <a:ext cx="1692275" cy="503238"/>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77" name="Text Box 41"/>
          <p:cNvSpPr txBox="1">
            <a:spLocks noChangeArrowheads="1"/>
          </p:cNvSpPr>
          <p:nvPr/>
        </p:nvSpPr>
        <p:spPr bwMode="auto">
          <a:xfrm>
            <a:off x="5191125" y="3570288"/>
            <a:ext cx="21383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defRPr/>
            </a:pPr>
            <a:r>
              <a:rPr lang="zh-CN" altLang="en-US" sz="2000" b="1" dirty="0" smtClean="0">
                <a:latin typeface="+mn-ea"/>
                <a:ea typeface="+mn-ea"/>
              </a:rPr>
              <a:t>水压力</a:t>
            </a:r>
            <a:endParaRPr lang="zh-CN" altLang="en-US" sz="2000" b="1" dirty="0" smtClean="0">
              <a:latin typeface="+mn-ea"/>
              <a:ea typeface="+mn-ea"/>
            </a:endParaRPr>
          </a:p>
        </p:txBody>
      </p:sp>
      <p:sp>
        <p:nvSpPr>
          <p:cNvPr id="39978" name="Text Box 42"/>
          <p:cNvSpPr txBox="1">
            <a:spLocks noChangeArrowheads="1"/>
          </p:cNvSpPr>
          <p:nvPr/>
        </p:nvSpPr>
        <p:spPr bwMode="auto">
          <a:xfrm>
            <a:off x="1498600" y="3236913"/>
            <a:ext cx="1219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sz="2000" b="1" dirty="0" smtClean="0">
                <a:latin typeface="+mn-ea"/>
                <a:ea typeface="+mn-ea"/>
              </a:rPr>
              <a:t>静水情况</a:t>
            </a:r>
            <a:endParaRPr kumimoji="0" lang="zh-CN" altLang="en-US" sz="2000" b="1" dirty="0" smtClean="0">
              <a:latin typeface="+mn-ea"/>
              <a:ea typeface="+mn-ea"/>
            </a:endParaRPr>
          </a:p>
        </p:txBody>
      </p:sp>
      <p:sp>
        <p:nvSpPr>
          <p:cNvPr id="39979" name="Text Box 43"/>
          <p:cNvSpPr txBox="1">
            <a:spLocks noChangeArrowheads="1"/>
          </p:cNvSpPr>
          <p:nvPr/>
        </p:nvSpPr>
        <p:spPr bwMode="auto">
          <a:xfrm>
            <a:off x="863600" y="5513388"/>
            <a:ext cx="9366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sz="2000" b="1" dirty="0" smtClean="0">
                <a:latin typeface="+mn-ea"/>
                <a:ea typeface="+mn-ea"/>
              </a:rPr>
              <a:t>水压力</a:t>
            </a:r>
            <a:endParaRPr kumimoji="0" lang="zh-CN" altLang="en-US" sz="2000" b="1" dirty="0" smtClean="0">
              <a:latin typeface="+mn-ea"/>
              <a:ea typeface="+mn-ea"/>
            </a:endParaRPr>
          </a:p>
        </p:txBody>
      </p:sp>
      <p:sp>
        <p:nvSpPr>
          <p:cNvPr id="36896" name="Text Box 43"/>
          <p:cNvSpPr txBox="1">
            <a:spLocks noChangeArrowheads="1"/>
          </p:cNvSpPr>
          <p:nvPr/>
        </p:nvSpPr>
        <p:spPr bwMode="auto">
          <a:xfrm>
            <a:off x="428625" y="4154488"/>
            <a:ext cx="17319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a:t>（黏性土）</a:t>
            </a:r>
            <a:endParaRPr lang="zh-CN" altLang="en-US" b="1"/>
          </a:p>
        </p:txBody>
      </p:sp>
      <p:sp>
        <p:nvSpPr>
          <p:cNvPr id="5" name="文本框 4"/>
          <p:cNvSpPr txBox="1">
            <a:spLocks noRot="1" noChangeAspect="1" noMove="1" noResize="1" noEditPoints="1" noAdjustHandles="1" noChangeArrowheads="1" noChangeShapeType="1" noTextEdit="1"/>
          </p:cNvSpPr>
          <p:nvPr/>
        </p:nvSpPr>
        <p:spPr>
          <a:xfrm>
            <a:off x="4776788" y="4703680"/>
            <a:ext cx="2832827" cy="712952"/>
          </a:xfrm>
          <a:prstGeom prst="rect">
            <a:avLst/>
          </a:prstGeom>
          <a:blipFill>
            <a:blip r:embed="rId22"/>
            <a:stretch>
              <a:fillRect/>
            </a:stretch>
          </a:blipFill>
        </p:spPr>
        <p:txBody>
          <a:bodyPr/>
          <a:lstStyle/>
          <a:p>
            <a:r>
              <a:rPr lang="zh-CN" altLang="en-US">
                <a:noFill/>
              </a:rPr>
              <a:t> </a:t>
            </a:r>
            <a:endParaRPr lang="zh-CN" altLang="en-US">
              <a:noFill/>
            </a:endParaRPr>
          </a:p>
        </p:txBody>
      </p:sp>
      <p:sp>
        <p:nvSpPr>
          <p:cNvPr id="45" name="Rectangle 6"/>
          <p:cNvSpPr>
            <a:spLocks noChangeArrowheads="1"/>
          </p:cNvSpPr>
          <p:nvPr/>
        </p:nvSpPr>
        <p:spPr bwMode="auto">
          <a:xfrm>
            <a:off x="-3175" y="-9842"/>
            <a:ext cx="3617913"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朗肯土压力理论</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9978"/>
                                        </p:tgtEl>
                                        <p:attrNameLst>
                                          <p:attrName>style.visibility</p:attrName>
                                        </p:attrNameLst>
                                      </p:cBhvr>
                                      <p:to>
                                        <p:strVal val="visible"/>
                                      </p:to>
                                    </p:set>
                                    <p:animEffect transition="in" filter="slide(fromBottom)">
                                      <p:cBhvr>
                                        <p:cTn id="7" dur="500"/>
                                        <p:tgtEl>
                                          <p:spTgt spid="399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9951"/>
                                        </p:tgtEl>
                                        <p:attrNameLst>
                                          <p:attrName>style.visibility</p:attrName>
                                        </p:attrNameLst>
                                      </p:cBhvr>
                                      <p:to>
                                        <p:strVal val="visible"/>
                                      </p:to>
                                    </p:set>
                                    <p:animEffect transition="in" filter="wipe(left)">
                                      <p:cBhvr>
                                        <p:cTn id="12" dur="500"/>
                                        <p:tgtEl>
                                          <p:spTgt spid="39951"/>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par>
                          <p:cTn id="17" fill="hold">
                            <p:stCondLst>
                              <p:cond delay="1000"/>
                            </p:stCondLst>
                            <p:childTnLst>
                              <p:par>
                                <p:cTn id="18" presetID="9" presetClass="entr" presetSubtype="0"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dissolve">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39962"/>
                                        </p:tgtEl>
                                        <p:attrNameLst>
                                          <p:attrName>style.visibility</p:attrName>
                                        </p:attrNameLst>
                                      </p:cBhvr>
                                      <p:to>
                                        <p:strVal val="visible"/>
                                      </p:to>
                                    </p:set>
                                    <p:animEffect transition="in" filter="wipe(left)">
                                      <p:cBhvr>
                                        <p:cTn id="25" dur="500"/>
                                        <p:tgtEl>
                                          <p:spTgt spid="3996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39963"/>
                                        </p:tgtEl>
                                        <p:attrNameLst>
                                          <p:attrName>style.visibility</p:attrName>
                                        </p:attrNameLst>
                                      </p:cBhvr>
                                      <p:to>
                                        <p:strVal val="visible"/>
                                      </p:to>
                                    </p:set>
                                    <p:animEffect transition="in" filter="wipe(left)">
                                      <p:cBhvr>
                                        <p:cTn id="30" dur="500"/>
                                        <p:tgtEl>
                                          <p:spTgt spid="39963"/>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39964"/>
                                        </p:tgtEl>
                                        <p:attrNameLst>
                                          <p:attrName>style.visibility</p:attrName>
                                        </p:attrNameLst>
                                      </p:cBhvr>
                                      <p:to>
                                        <p:strVal val="visible"/>
                                      </p:to>
                                    </p:set>
                                    <p:animEffect transition="in" filter="dissolve">
                                      <p:cBhvr>
                                        <p:cTn id="35" dur="500"/>
                                        <p:tgtEl>
                                          <p:spTgt spid="3996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39979"/>
                                        </p:tgtEl>
                                        <p:attrNameLst>
                                          <p:attrName>style.visibility</p:attrName>
                                        </p:attrNameLst>
                                      </p:cBhvr>
                                      <p:to>
                                        <p:strVal val="visible"/>
                                      </p:to>
                                    </p:set>
                                    <p:animEffect transition="in" filter="wipe(left)">
                                      <p:cBhvr>
                                        <p:cTn id="40" dur="500"/>
                                        <p:tgtEl>
                                          <p:spTgt spid="39979"/>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39965"/>
                                        </p:tgtEl>
                                        <p:attrNameLst>
                                          <p:attrName>style.visibility</p:attrName>
                                        </p:attrNameLst>
                                      </p:cBhvr>
                                      <p:to>
                                        <p:strVal val="visible"/>
                                      </p:to>
                                    </p:set>
                                    <p:animEffect transition="in" filter="dissolve">
                                      <p:cBhvr>
                                        <p:cTn id="45" dur="500"/>
                                        <p:tgtEl>
                                          <p:spTgt spid="39965"/>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4" fill="hold" grpId="0" nodeType="clickEffect">
                                  <p:stCondLst>
                                    <p:cond delay="0"/>
                                  </p:stCondLst>
                                  <p:childTnLst>
                                    <p:set>
                                      <p:cBhvr>
                                        <p:cTn id="49" dur="1" fill="hold">
                                          <p:stCondLst>
                                            <p:cond delay="0"/>
                                          </p:stCondLst>
                                        </p:cTn>
                                        <p:tgtEl>
                                          <p:spTgt spid="39972"/>
                                        </p:tgtEl>
                                        <p:attrNameLst>
                                          <p:attrName>style.visibility</p:attrName>
                                        </p:attrNameLst>
                                      </p:cBhvr>
                                      <p:to>
                                        <p:strVal val="visible"/>
                                      </p:to>
                                    </p:set>
                                    <p:animEffect transition="in" filter="slide(fromBottom)">
                                      <p:cBhvr>
                                        <p:cTn id="50" dur="500"/>
                                        <p:tgtEl>
                                          <p:spTgt spid="39972"/>
                                        </p:tgtEl>
                                      </p:cBhvr>
                                    </p:animEffect>
                                  </p:childTnLst>
                                </p:cTn>
                              </p:par>
                            </p:childTnLst>
                          </p:cTn>
                        </p:par>
                        <p:par>
                          <p:cTn id="51" fill="hold">
                            <p:stCondLst>
                              <p:cond delay="500"/>
                            </p:stCondLst>
                            <p:childTnLst>
                              <p:par>
                                <p:cTn id="52" presetID="22" presetClass="entr" presetSubtype="1" fill="hold" nodeType="afterEffect">
                                  <p:stCondLst>
                                    <p:cond delay="0"/>
                                  </p:stCondLst>
                                  <p:childTnLst>
                                    <p:set>
                                      <p:cBhvr>
                                        <p:cTn id="53" dur="1" fill="hold">
                                          <p:stCondLst>
                                            <p:cond delay="0"/>
                                          </p:stCondLst>
                                        </p:cTn>
                                        <p:tgtEl>
                                          <p:spTgt spid="39952"/>
                                        </p:tgtEl>
                                        <p:attrNameLst>
                                          <p:attrName>style.visibility</p:attrName>
                                        </p:attrNameLst>
                                      </p:cBhvr>
                                      <p:to>
                                        <p:strVal val="visible"/>
                                      </p:to>
                                    </p:set>
                                    <p:animEffect transition="in" filter="wipe(up)">
                                      <p:cBhvr>
                                        <p:cTn id="54" dur="500"/>
                                        <p:tgtEl>
                                          <p:spTgt spid="39952"/>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nodeType="clickEffect">
                                  <p:stCondLst>
                                    <p:cond delay="0"/>
                                  </p:stCondLst>
                                  <p:childTnLst>
                                    <p:set>
                                      <p:cBhvr>
                                        <p:cTn id="58" dur="1" fill="hold">
                                          <p:stCondLst>
                                            <p:cond delay="0"/>
                                          </p:stCondLst>
                                        </p:cTn>
                                        <p:tgtEl>
                                          <p:spTgt spid="39953"/>
                                        </p:tgtEl>
                                        <p:attrNameLst>
                                          <p:attrName>style.visibility</p:attrName>
                                        </p:attrNameLst>
                                      </p:cBhvr>
                                      <p:to>
                                        <p:strVal val="visible"/>
                                      </p:to>
                                    </p:set>
                                    <p:animEffect transition="in" filter="wipe(up)">
                                      <p:cBhvr>
                                        <p:cTn id="59" dur="500"/>
                                        <p:tgtEl>
                                          <p:spTgt spid="39953"/>
                                        </p:tgtEl>
                                      </p:cBhvr>
                                    </p:animEffect>
                                  </p:childTnLst>
                                </p:cTn>
                              </p:par>
                            </p:childTnLst>
                          </p:cTn>
                        </p:par>
                        <p:par>
                          <p:cTn id="60" fill="hold">
                            <p:stCondLst>
                              <p:cond delay="500"/>
                            </p:stCondLst>
                            <p:childTnLst>
                              <p:par>
                                <p:cTn id="61" presetID="9" presetClass="entr" presetSubtype="0" fill="hold" nodeType="afterEffect">
                                  <p:stCondLst>
                                    <p:cond delay="0"/>
                                  </p:stCondLst>
                                  <p:childTnLst>
                                    <p:set>
                                      <p:cBhvr>
                                        <p:cTn id="62" dur="1" fill="hold">
                                          <p:stCondLst>
                                            <p:cond delay="0"/>
                                          </p:stCondLst>
                                        </p:cTn>
                                        <p:tgtEl>
                                          <p:spTgt spid="39967"/>
                                        </p:tgtEl>
                                        <p:attrNameLst>
                                          <p:attrName>style.visibility</p:attrName>
                                        </p:attrNameLst>
                                      </p:cBhvr>
                                      <p:to>
                                        <p:strVal val="visible"/>
                                      </p:to>
                                    </p:set>
                                    <p:animEffect transition="in" filter="dissolve">
                                      <p:cBhvr>
                                        <p:cTn id="63" dur="500"/>
                                        <p:tgtEl>
                                          <p:spTgt spid="39967"/>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nodeType="clickEffect">
                                  <p:stCondLst>
                                    <p:cond delay="0"/>
                                  </p:stCondLst>
                                  <p:childTnLst>
                                    <p:set>
                                      <p:cBhvr>
                                        <p:cTn id="67" dur="1" fill="hold">
                                          <p:stCondLst>
                                            <p:cond delay="0"/>
                                          </p:stCondLst>
                                        </p:cTn>
                                        <p:tgtEl>
                                          <p:spTgt spid="39954"/>
                                        </p:tgtEl>
                                        <p:attrNameLst>
                                          <p:attrName>style.visibility</p:attrName>
                                        </p:attrNameLst>
                                      </p:cBhvr>
                                      <p:to>
                                        <p:strVal val="visible"/>
                                      </p:to>
                                    </p:set>
                                    <p:animEffect transition="in" filter="wipe(up)">
                                      <p:cBhvr>
                                        <p:cTn id="68" dur="500"/>
                                        <p:tgtEl>
                                          <p:spTgt spid="39954"/>
                                        </p:tgtEl>
                                      </p:cBhvr>
                                    </p:animEffect>
                                  </p:childTnLst>
                                </p:cTn>
                              </p:par>
                            </p:childTnLst>
                          </p:cTn>
                        </p:par>
                        <p:par>
                          <p:cTn id="69" fill="hold">
                            <p:stCondLst>
                              <p:cond delay="500"/>
                            </p:stCondLst>
                            <p:childTnLst>
                              <p:par>
                                <p:cTn id="70" presetID="9" presetClass="entr" presetSubtype="0" fill="hold" nodeType="afterEffect">
                                  <p:stCondLst>
                                    <p:cond delay="0"/>
                                  </p:stCondLst>
                                  <p:childTnLst>
                                    <p:set>
                                      <p:cBhvr>
                                        <p:cTn id="71" dur="1" fill="hold">
                                          <p:stCondLst>
                                            <p:cond delay="0"/>
                                          </p:stCondLst>
                                        </p:cTn>
                                        <p:tgtEl>
                                          <p:spTgt spid="39973"/>
                                        </p:tgtEl>
                                        <p:attrNameLst>
                                          <p:attrName>style.visibility</p:attrName>
                                        </p:attrNameLst>
                                      </p:cBhvr>
                                      <p:to>
                                        <p:strVal val="visible"/>
                                      </p:to>
                                    </p:set>
                                    <p:animEffect transition="in" filter="dissolve">
                                      <p:cBhvr>
                                        <p:cTn id="72" dur="500"/>
                                        <p:tgtEl>
                                          <p:spTgt spid="39973"/>
                                        </p:tgtEl>
                                      </p:cBhvr>
                                    </p:animEffect>
                                  </p:childTnLst>
                                </p:cTn>
                              </p:par>
                            </p:childTnLst>
                          </p:cTn>
                        </p:par>
                        <p:par>
                          <p:cTn id="73" fill="hold">
                            <p:stCondLst>
                              <p:cond delay="1000"/>
                            </p:stCondLst>
                            <p:childTnLst>
                              <p:par>
                                <p:cTn id="74" presetID="9" presetClass="entr" presetSubtype="0" fill="hold" nodeType="afterEffect">
                                  <p:stCondLst>
                                    <p:cond delay="0"/>
                                  </p:stCondLst>
                                  <p:childTnLst>
                                    <p:set>
                                      <p:cBhvr>
                                        <p:cTn id="75" dur="1" fill="hold">
                                          <p:stCondLst>
                                            <p:cond delay="0"/>
                                          </p:stCondLst>
                                        </p:cTn>
                                        <p:tgtEl>
                                          <p:spTgt spid="39968"/>
                                        </p:tgtEl>
                                        <p:attrNameLst>
                                          <p:attrName>style.visibility</p:attrName>
                                        </p:attrNameLst>
                                      </p:cBhvr>
                                      <p:to>
                                        <p:strVal val="visible"/>
                                      </p:to>
                                    </p:set>
                                    <p:animEffect transition="in" filter="dissolve">
                                      <p:cBhvr>
                                        <p:cTn id="76" dur="500"/>
                                        <p:tgtEl>
                                          <p:spTgt spid="39968"/>
                                        </p:tgtEl>
                                      </p:cBhvr>
                                    </p:animEffect>
                                  </p:childTnLst>
                                </p:cTn>
                              </p:par>
                            </p:childTnLst>
                          </p:cTn>
                        </p:par>
                      </p:childTnLst>
                    </p:cTn>
                  </p:par>
                  <p:par>
                    <p:cTn id="77" fill="hold">
                      <p:stCondLst>
                        <p:cond delay="indefinite"/>
                      </p:stCondLst>
                      <p:childTnLst>
                        <p:par>
                          <p:cTn id="78" fill="hold">
                            <p:stCondLst>
                              <p:cond delay="0"/>
                            </p:stCondLst>
                            <p:childTnLst>
                              <p:par>
                                <p:cTn id="79" presetID="12" presetClass="entr" presetSubtype="2" fill="hold" nodeType="clickEffect">
                                  <p:stCondLst>
                                    <p:cond delay="0"/>
                                  </p:stCondLst>
                                  <p:childTnLst>
                                    <p:set>
                                      <p:cBhvr>
                                        <p:cTn id="80" dur="1" fill="hold">
                                          <p:stCondLst>
                                            <p:cond delay="0"/>
                                          </p:stCondLst>
                                        </p:cTn>
                                        <p:tgtEl>
                                          <p:spTgt spid="39974"/>
                                        </p:tgtEl>
                                        <p:attrNameLst>
                                          <p:attrName>style.visibility</p:attrName>
                                        </p:attrNameLst>
                                      </p:cBhvr>
                                      <p:to>
                                        <p:strVal val="visible"/>
                                      </p:to>
                                    </p:set>
                                    <p:animEffect transition="in" filter="slide(fromRight)">
                                      <p:cBhvr>
                                        <p:cTn id="81" dur="500"/>
                                        <p:tgtEl>
                                          <p:spTgt spid="39974"/>
                                        </p:tgtEl>
                                      </p:cBhvr>
                                    </p:animEffect>
                                  </p:childTnLst>
                                </p:cTn>
                              </p:par>
                            </p:childTnLst>
                          </p:cTn>
                        </p:par>
                      </p:childTnLst>
                    </p:cTn>
                  </p:par>
                  <p:par>
                    <p:cTn id="82" fill="hold">
                      <p:stCondLst>
                        <p:cond delay="indefinite"/>
                      </p:stCondLst>
                      <p:childTnLst>
                        <p:par>
                          <p:cTn id="83" fill="hold">
                            <p:stCondLst>
                              <p:cond delay="0"/>
                            </p:stCondLst>
                            <p:childTnLst>
                              <p:par>
                                <p:cTn id="84" presetID="12" presetClass="entr" presetSubtype="4" fill="hold" grpId="0" nodeType="clickEffect">
                                  <p:stCondLst>
                                    <p:cond delay="0"/>
                                  </p:stCondLst>
                                  <p:childTnLst>
                                    <p:set>
                                      <p:cBhvr>
                                        <p:cTn id="85" dur="1" fill="hold">
                                          <p:stCondLst>
                                            <p:cond delay="0"/>
                                          </p:stCondLst>
                                        </p:cTn>
                                        <p:tgtEl>
                                          <p:spTgt spid="39977"/>
                                        </p:tgtEl>
                                        <p:attrNameLst>
                                          <p:attrName>style.visibility</p:attrName>
                                        </p:attrNameLst>
                                      </p:cBhvr>
                                      <p:to>
                                        <p:strVal val="visible"/>
                                      </p:to>
                                    </p:set>
                                    <p:animEffect transition="in" filter="slide(fromBottom)">
                                      <p:cBhvr>
                                        <p:cTn id="86" dur="500"/>
                                        <p:tgtEl>
                                          <p:spTgt spid="39977"/>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1" fill="hold" nodeType="clickEffect">
                                  <p:stCondLst>
                                    <p:cond delay="0"/>
                                  </p:stCondLst>
                                  <p:childTnLst>
                                    <p:set>
                                      <p:cBhvr>
                                        <p:cTn id="90" dur="1" fill="hold">
                                          <p:stCondLst>
                                            <p:cond delay="0"/>
                                          </p:stCondLst>
                                        </p:cTn>
                                        <p:tgtEl>
                                          <p:spTgt spid="39969"/>
                                        </p:tgtEl>
                                        <p:attrNameLst>
                                          <p:attrName>style.visibility</p:attrName>
                                        </p:attrNameLst>
                                      </p:cBhvr>
                                      <p:to>
                                        <p:strVal val="visible"/>
                                      </p:to>
                                    </p:set>
                                    <p:animEffect transition="in" filter="wipe(up)">
                                      <p:cBhvr>
                                        <p:cTn id="91" dur="500"/>
                                        <p:tgtEl>
                                          <p:spTgt spid="39969"/>
                                        </p:tgtEl>
                                      </p:cBhvr>
                                    </p:animEffect>
                                  </p:childTnLst>
                                </p:cTn>
                              </p:par>
                            </p:childTnLst>
                          </p:cTn>
                        </p:par>
                        <p:par>
                          <p:cTn id="92" fill="hold">
                            <p:stCondLst>
                              <p:cond delay="500"/>
                            </p:stCondLst>
                            <p:childTnLst>
                              <p:par>
                                <p:cTn id="93" presetID="9" presetClass="entr" presetSubtype="0" fill="hold" nodeType="afterEffect">
                                  <p:stCondLst>
                                    <p:cond delay="0"/>
                                  </p:stCondLst>
                                  <p:childTnLst>
                                    <p:set>
                                      <p:cBhvr>
                                        <p:cTn id="94" dur="1" fill="hold">
                                          <p:stCondLst>
                                            <p:cond delay="0"/>
                                          </p:stCondLst>
                                        </p:cTn>
                                        <p:tgtEl>
                                          <p:spTgt spid="39970"/>
                                        </p:tgtEl>
                                        <p:attrNameLst>
                                          <p:attrName>style.visibility</p:attrName>
                                        </p:attrNameLst>
                                      </p:cBhvr>
                                      <p:to>
                                        <p:strVal val="visible"/>
                                      </p:to>
                                    </p:set>
                                    <p:animEffect transition="in" filter="dissolve">
                                      <p:cBhvr>
                                        <p:cTn id="95" dur="500"/>
                                        <p:tgtEl>
                                          <p:spTgt spid="39970"/>
                                        </p:tgtEl>
                                      </p:cBhvr>
                                    </p:animEffect>
                                  </p:childTnLst>
                                </p:cTn>
                              </p:par>
                            </p:childTnLst>
                          </p:cTn>
                        </p:par>
                      </p:childTnLst>
                    </p:cTn>
                  </p:par>
                  <p:par>
                    <p:cTn id="96" fill="hold">
                      <p:stCondLst>
                        <p:cond delay="indefinite"/>
                      </p:stCondLst>
                      <p:childTnLst>
                        <p:par>
                          <p:cTn id="97" fill="hold">
                            <p:stCondLst>
                              <p:cond delay="0"/>
                            </p:stCondLst>
                            <p:childTnLst>
                              <p:par>
                                <p:cTn id="98" presetID="12" presetClass="entr" presetSubtype="2" fill="hold" nodeType="clickEffect">
                                  <p:stCondLst>
                                    <p:cond delay="0"/>
                                  </p:stCondLst>
                                  <p:childTnLst>
                                    <p:set>
                                      <p:cBhvr>
                                        <p:cTn id="99" dur="1" fill="hold">
                                          <p:stCondLst>
                                            <p:cond delay="0"/>
                                          </p:stCondLst>
                                        </p:cTn>
                                        <p:tgtEl>
                                          <p:spTgt spid="39975"/>
                                        </p:tgtEl>
                                        <p:attrNameLst>
                                          <p:attrName>style.visibility</p:attrName>
                                        </p:attrNameLst>
                                      </p:cBhvr>
                                      <p:to>
                                        <p:strVal val="visible"/>
                                      </p:to>
                                    </p:set>
                                    <p:animEffect transition="in" filter="slide(fromRight)">
                                      <p:cBhvr>
                                        <p:cTn id="100" dur="500"/>
                                        <p:tgtEl>
                                          <p:spTgt spid="39975"/>
                                        </p:tgtEl>
                                      </p:cBhvr>
                                    </p:animEffect>
                                  </p:childTnLst>
                                </p:cTn>
                              </p:par>
                            </p:childTnLst>
                          </p:cTn>
                        </p:par>
                        <p:par>
                          <p:cTn id="101" fill="hold">
                            <p:stCondLst>
                              <p:cond delay="500"/>
                            </p:stCondLst>
                            <p:childTnLst>
                              <p:par>
                                <p:cTn id="102" presetID="12" presetClass="entr" presetSubtype="2" fill="hold" grpId="0" nodeType="afterEffect">
                                  <p:stCondLst>
                                    <p:cond delay="0"/>
                                  </p:stCondLst>
                                  <p:childTnLst>
                                    <p:set>
                                      <p:cBhvr>
                                        <p:cTn id="103" dur="1" fill="hold">
                                          <p:stCondLst>
                                            <p:cond delay="0"/>
                                          </p:stCondLst>
                                        </p:cTn>
                                        <p:tgtEl>
                                          <p:spTgt spid="39971"/>
                                        </p:tgtEl>
                                        <p:attrNameLst>
                                          <p:attrName>style.visibility</p:attrName>
                                        </p:attrNameLst>
                                      </p:cBhvr>
                                      <p:to>
                                        <p:strVal val="visible"/>
                                      </p:to>
                                    </p:set>
                                    <p:animEffect transition="in" filter="slide(fromRight)">
                                      <p:cBhvr>
                                        <p:cTn id="104" dur="500"/>
                                        <p:tgtEl>
                                          <p:spTgt spid="39971"/>
                                        </p:tgtEl>
                                      </p:cBhvr>
                                    </p:animEffect>
                                  </p:childTnLst>
                                </p:cTn>
                              </p:par>
                            </p:childTnLst>
                          </p:cTn>
                        </p:par>
                      </p:childTnLst>
                    </p:cTn>
                  </p:par>
                  <p:par>
                    <p:cTn id="105" fill="hold">
                      <p:stCondLst>
                        <p:cond delay="indefinite"/>
                      </p:stCondLst>
                      <p:childTnLst>
                        <p:par>
                          <p:cTn id="106" fill="hold">
                            <p:stCondLst>
                              <p:cond delay="0"/>
                            </p:stCondLst>
                            <p:childTnLst>
                              <p:par>
                                <p:cTn id="107" presetID="15" presetClass="entr" presetSubtype="0" fill="hold" nodeType="clickEffect">
                                  <p:stCondLst>
                                    <p:cond delay="0"/>
                                  </p:stCondLst>
                                  <p:childTnLst>
                                    <p:set>
                                      <p:cBhvr>
                                        <p:cTn id="108" dur="1" fill="hold">
                                          <p:stCondLst>
                                            <p:cond delay="0"/>
                                          </p:stCondLst>
                                        </p:cTn>
                                        <p:tgtEl>
                                          <p:spTgt spid="39976"/>
                                        </p:tgtEl>
                                        <p:attrNameLst>
                                          <p:attrName>style.visibility</p:attrName>
                                        </p:attrNameLst>
                                      </p:cBhvr>
                                      <p:to>
                                        <p:strVal val="visible"/>
                                      </p:to>
                                    </p:set>
                                    <p:anim calcmode="lin" valueType="num">
                                      <p:cBhvr>
                                        <p:cTn id="109" dur="1000" fill="hold"/>
                                        <p:tgtEl>
                                          <p:spTgt spid="39976"/>
                                        </p:tgtEl>
                                        <p:attrNameLst>
                                          <p:attrName>ppt_w</p:attrName>
                                        </p:attrNameLst>
                                      </p:cBhvr>
                                      <p:tavLst>
                                        <p:tav tm="0">
                                          <p:val>
                                            <p:fltVal val="0"/>
                                          </p:val>
                                        </p:tav>
                                        <p:tav tm="100000">
                                          <p:val>
                                            <p:strVal val="#ppt_w"/>
                                          </p:val>
                                        </p:tav>
                                      </p:tavLst>
                                    </p:anim>
                                    <p:anim calcmode="lin" valueType="num">
                                      <p:cBhvr>
                                        <p:cTn id="110" dur="1000" fill="hold"/>
                                        <p:tgtEl>
                                          <p:spTgt spid="39976"/>
                                        </p:tgtEl>
                                        <p:attrNameLst>
                                          <p:attrName>ppt_h</p:attrName>
                                        </p:attrNameLst>
                                      </p:cBhvr>
                                      <p:tavLst>
                                        <p:tav tm="0">
                                          <p:val>
                                            <p:fltVal val="0"/>
                                          </p:val>
                                        </p:tav>
                                        <p:tav tm="100000">
                                          <p:val>
                                            <p:strVal val="#ppt_h"/>
                                          </p:val>
                                        </p:tav>
                                      </p:tavLst>
                                    </p:anim>
                                    <p:anim calcmode="lin" valueType="num">
                                      <p:cBhvr>
                                        <p:cTn id="111" dur="1000" fill="hold"/>
                                        <p:tgtEl>
                                          <p:spTgt spid="39976"/>
                                        </p:tgtEl>
                                        <p:attrNameLst>
                                          <p:attrName>ppt_x</p:attrName>
                                        </p:attrNameLst>
                                      </p:cBhvr>
                                      <p:tavLst>
                                        <p:tav tm="0" fmla="#ppt_x+(cos(-2*pi*(1-$))*-#ppt_x-sin(-2*pi*(1-$))*(1-#ppt_y))*(1-$)">
                                          <p:val>
                                            <p:fltVal val="0"/>
                                          </p:val>
                                        </p:tav>
                                        <p:tav tm="100000">
                                          <p:val>
                                            <p:fltVal val="1"/>
                                          </p:val>
                                        </p:tav>
                                      </p:tavLst>
                                    </p:anim>
                                    <p:anim calcmode="lin" valueType="num">
                                      <p:cBhvr>
                                        <p:cTn id="112" dur="1000" fill="hold"/>
                                        <p:tgtEl>
                                          <p:spTgt spid="3997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3" fill="hold">
                      <p:stCondLst>
                        <p:cond delay="indefinite"/>
                      </p:stCondLst>
                      <p:childTnLst>
                        <p:par>
                          <p:cTn id="114" fill="hold">
                            <p:stCondLst>
                              <p:cond delay="0"/>
                            </p:stCondLst>
                            <p:childTnLst>
                              <p:par>
                                <p:cTn id="115" presetID="7" presetClass="entr" presetSubtype="4" fill="hold" grpId="0" nodeType="clickEffect">
                                  <p:stCondLst>
                                    <p:cond delay="0"/>
                                  </p:stCondLst>
                                  <p:childTnLst>
                                    <p:set>
                                      <p:cBhvr>
                                        <p:cTn id="116" dur="1" fill="hold">
                                          <p:stCondLst>
                                            <p:cond delay="0"/>
                                          </p:stCondLst>
                                        </p:cTn>
                                        <p:tgtEl>
                                          <p:spTgt spid="39961"/>
                                        </p:tgtEl>
                                        <p:attrNameLst>
                                          <p:attrName>style.visibility</p:attrName>
                                        </p:attrNameLst>
                                      </p:cBhvr>
                                      <p:to>
                                        <p:strVal val="visible"/>
                                      </p:to>
                                    </p:set>
                                    <p:anim calcmode="lin" valueType="num">
                                      <p:cBhvr additive="base">
                                        <p:cTn id="117" dur="5000" fill="hold"/>
                                        <p:tgtEl>
                                          <p:spTgt spid="39961"/>
                                        </p:tgtEl>
                                        <p:attrNameLst>
                                          <p:attrName>ppt_x</p:attrName>
                                        </p:attrNameLst>
                                      </p:cBhvr>
                                      <p:tavLst>
                                        <p:tav tm="0">
                                          <p:val>
                                            <p:strVal val="#ppt_x"/>
                                          </p:val>
                                        </p:tav>
                                        <p:tav tm="100000">
                                          <p:val>
                                            <p:strVal val="#ppt_x"/>
                                          </p:val>
                                        </p:tav>
                                      </p:tavLst>
                                    </p:anim>
                                    <p:anim calcmode="lin" valueType="num">
                                      <p:cBhvr additive="base">
                                        <p:cTn id="118" dur="5000" fill="hold"/>
                                        <p:tgtEl>
                                          <p:spTgt spid="399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61" grpId="0" autoUpdateAnimBg="0"/>
      <p:bldP spid="39963" grpId="0" autoUpdateAnimBg="0"/>
      <p:bldP spid="39971" grpId="0" animBg="1"/>
      <p:bldP spid="39972" grpId="0" autoUpdateAnimBg="0"/>
      <p:bldP spid="39977" grpId="0" autoUpdateAnimBg="0"/>
      <p:bldP spid="39978" grpId="0" autoUpdateAnimBg="0"/>
      <p:bldP spid="39979"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コンテンツ プレースホルダ 2"/>
          <p:cNvSpPr>
            <a:spLocks noGrp="1" noChangeArrowheads="1"/>
          </p:cNvSpPr>
          <p:nvPr>
            <p:ph idx="4294967295"/>
          </p:nvPr>
        </p:nvSpPr>
        <p:spPr>
          <a:xfrm>
            <a:off x="76200" y="454025"/>
            <a:ext cx="8893175" cy="1049338"/>
          </a:xfrm>
        </p:spPr>
        <p:txBody>
          <a:bodyPr/>
          <a:lstStyle/>
          <a:p>
            <a:pPr marL="0" indent="0">
              <a:spcBef>
                <a:spcPct val="0"/>
              </a:spcBef>
              <a:buFont typeface="Wingdings" panose="05000000000000000000" pitchFamily="2" charset="2"/>
              <a:buNone/>
            </a:pPr>
            <a:r>
              <a:rPr lang="en-US" altLang="zh-CN" sz="2000" b="1" smtClean="0">
                <a:solidFill>
                  <a:srgbClr val="FF0000"/>
                </a:solidFill>
                <a:latin typeface="Times New Roman" panose="02020603050405020304" pitchFamily="18" charset="0"/>
                <a:cs typeface="Times New Roman" panose="02020603050405020304" pitchFamily="18" charset="0"/>
              </a:rPr>
              <a:t>【</a:t>
            </a:r>
            <a:r>
              <a:rPr lang="zh-CN" altLang="en-US" sz="2000" b="1" smtClean="0">
                <a:solidFill>
                  <a:srgbClr val="FF0000"/>
                </a:solidFill>
                <a:latin typeface="Times New Roman" panose="02020603050405020304" pitchFamily="18" charset="0"/>
                <a:cs typeface="Times New Roman" panose="02020603050405020304" pitchFamily="18" charset="0"/>
              </a:rPr>
              <a:t>例</a:t>
            </a:r>
            <a:r>
              <a:rPr lang="en-US" altLang="zh-CN" sz="2000" b="1" smtClean="0">
                <a:solidFill>
                  <a:srgbClr val="FF0000"/>
                </a:solidFill>
                <a:latin typeface="Times New Roman" panose="02020603050405020304" pitchFamily="18" charset="0"/>
                <a:cs typeface="Times New Roman" panose="02020603050405020304" pitchFamily="18" charset="0"/>
              </a:rPr>
              <a:t>8-2】</a:t>
            </a:r>
            <a:r>
              <a:rPr lang="zh-CN" altLang="en-US" sz="2000" b="1" smtClean="0">
                <a:latin typeface="Times New Roman" panose="02020603050405020304" pitchFamily="18" charset="0"/>
                <a:cs typeface="Times New Roman" panose="02020603050405020304" pitchFamily="18" charset="0"/>
              </a:rPr>
              <a:t>挡土墙高</a:t>
            </a:r>
            <a:r>
              <a:rPr lang="en-US" altLang="zh-CN" sz="2000" b="1" smtClean="0">
                <a:latin typeface="Times New Roman" panose="02020603050405020304" pitchFamily="18" charset="0"/>
                <a:cs typeface="Times New Roman" panose="02020603050405020304" pitchFamily="18" charset="0"/>
              </a:rPr>
              <a:t>6m</a:t>
            </a:r>
            <a:r>
              <a:rPr lang="zh-CN" altLang="en-US" sz="2000" b="1" smtClean="0">
                <a:latin typeface="Times New Roman" panose="02020603050405020304" pitchFamily="18" charset="0"/>
                <a:cs typeface="Times New Roman" panose="02020603050405020304" pitchFamily="18" charset="0"/>
              </a:rPr>
              <a:t>，有均布荷载</a:t>
            </a:r>
            <a:r>
              <a:rPr lang="en-US" altLang="zh-CN" sz="2000" b="1" i="1" smtClean="0">
                <a:latin typeface="Times New Roman" panose="02020603050405020304" pitchFamily="18" charset="0"/>
                <a:cs typeface="Times New Roman" panose="02020603050405020304" pitchFamily="18" charset="0"/>
              </a:rPr>
              <a:t>q</a:t>
            </a:r>
            <a:r>
              <a:rPr lang="en-US" altLang="zh-CN" sz="2000" b="1" smtClean="0">
                <a:latin typeface="Times New Roman" panose="02020603050405020304" pitchFamily="18" charset="0"/>
                <a:cs typeface="Times New Roman" panose="02020603050405020304" pitchFamily="18" charset="0"/>
              </a:rPr>
              <a:t>=10kPa</a:t>
            </a:r>
            <a:r>
              <a:rPr lang="zh-CN" altLang="en-US" sz="2000" b="1" smtClean="0">
                <a:latin typeface="Times New Roman" panose="02020603050405020304" pitchFamily="18" charset="0"/>
                <a:cs typeface="Times New Roman" panose="02020603050405020304" pitchFamily="18" charset="0"/>
              </a:rPr>
              <a:t>。填土力学性质</a:t>
            </a:r>
            <a:r>
              <a:rPr lang="en-US" altLang="zh-CN" sz="2000" b="1" smtClean="0">
                <a:latin typeface="Times New Roman" panose="02020603050405020304" pitchFamily="18" charset="0"/>
                <a:cs typeface="Times New Roman" panose="02020603050405020304" pitchFamily="18" charset="0"/>
              </a:rPr>
              <a:t>c=0,</a:t>
            </a:r>
            <a:r>
              <a:rPr lang="el-GR" altLang="zh-CN" sz="2000" b="1" smtClean="0">
                <a:latin typeface="Times New Roman" panose="02020603050405020304" pitchFamily="18" charset="0"/>
                <a:cs typeface="Times New Roman" panose="02020603050405020304" pitchFamily="18" charset="0"/>
              </a:rPr>
              <a:t>φ</a:t>
            </a:r>
            <a:r>
              <a:rPr lang="en-US" altLang="zh-CN" sz="2000" b="1" smtClean="0">
                <a:latin typeface="Times New Roman" panose="02020603050405020304" pitchFamily="18" charset="0"/>
                <a:cs typeface="Times New Roman" panose="02020603050405020304" pitchFamily="18" charset="0"/>
                <a:sym typeface="Symbol" panose="05050102010706020507" pitchFamily="18" charset="2"/>
              </a:rPr>
              <a:t>=34</a:t>
            </a:r>
            <a:r>
              <a:rPr lang="zh-CN" altLang="en-US" sz="2000" b="1" smtClean="0">
                <a:latin typeface="Times New Roman" panose="02020603050405020304" pitchFamily="18" charset="0"/>
                <a:cs typeface="Times New Roman" panose="02020603050405020304" pitchFamily="18" charset="0"/>
                <a:sym typeface="Symbol" panose="05050102010706020507" pitchFamily="18" charset="2"/>
              </a:rPr>
              <a:t>，</a:t>
            </a:r>
            <a:r>
              <a:rPr lang="zh-CN" altLang="en-US" sz="2000" b="1" i="1" smtClean="0">
                <a:latin typeface="Times New Roman" panose="02020603050405020304" pitchFamily="18" charset="0"/>
                <a:cs typeface="Times New Roman" panose="02020603050405020304" pitchFamily="18" charset="0"/>
                <a:sym typeface="Symbol" panose="05050102010706020507" pitchFamily="18" charset="2"/>
              </a:rPr>
              <a:t></a:t>
            </a:r>
            <a:r>
              <a:rPr lang="zh-CN" altLang="en-US" sz="20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000" b="1" smtClean="0">
                <a:latin typeface="Times New Roman" panose="02020603050405020304" pitchFamily="18" charset="0"/>
                <a:cs typeface="Times New Roman" panose="02020603050405020304" pitchFamily="18" charset="0"/>
                <a:sym typeface="Symbol" panose="05050102010706020507" pitchFamily="18" charset="2"/>
              </a:rPr>
              <a:t>= 19 kN/m</a:t>
            </a:r>
            <a:r>
              <a:rPr lang="en-US" altLang="zh-CN" sz="2000" b="1" baseline="30000" smtClean="0">
                <a:latin typeface="Times New Roman" panose="02020603050405020304" pitchFamily="18" charset="0"/>
                <a:cs typeface="Times New Roman" panose="02020603050405020304" pitchFamily="18" charset="0"/>
                <a:sym typeface="Symbol" panose="05050102010706020507" pitchFamily="18" charset="2"/>
              </a:rPr>
              <a:t>3</a:t>
            </a:r>
            <a:r>
              <a:rPr lang="zh-CN" altLang="en-US" sz="2000" b="1" smtClean="0">
                <a:latin typeface="Times New Roman" panose="02020603050405020304" pitchFamily="18" charset="0"/>
                <a:cs typeface="Times New Roman" panose="02020603050405020304" pitchFamily="18" charset="0"/>
                <a:sym typeface="Symbol" panose="05050102010706020507" pitchFamily="18" charset="2"/>
              </a:rPr>
              <a:t>。墙背直立、光滑、填土面水平，试求挡土墙的主动土压力</a:t>
            </a:r>
            <a:r>
              <a:rPr lang="en-US" altLang="zh-CN" sz="2000" b="1" i="1" smtClean="0">
                <a:latin typeface="Times New Roman" panose="02020603050405020304" pitchFamily="18" charset="0"/>
                <a:cs typeface="Times New Roman" panose="02020603050405020304" pitchFamily="18" charset="0"/>
                <a:sym typeface="Symbol" panose="05050102010706020507" pitchFamily="18" charset="2"/>
              </a:rPr>
              <a:t>E</a:t>
            </a:r>
            <a:r>
              <a:rPr lang="en-US" altLang="zh-CN" sz="2000" b="1" i="1" baseline="-25000" smtClean="0">
                <a:latin typeface="Times New Roman" panose="02020603050405020304" pitchFamily="18" charset="0"/>
                <a:cs typeface="Times New Roman" panose="02020603050405020304" pitchFamily="18" charset="0"/>
                <a:sym typeface="Symbol" panose="05050102010706020507" pitchFamily="18" charset="2"/>
              </a:rPr>
              <a:t>a</a:t>
            </a:r>
            <a:r>
              <a:rPr lang="zh-CN" altLang="en-US" sz="2000" b="1" smtClean="0">
                <a:latin typeface="Times New Roman" panose="02020603050405020304" pitchFamily="18" charset="0"/>
                <a:cs typeface="Times New Roman" panose="02020603050405020304" pitchFamily="18" charset="0"/>
                <a:sym typeface="Symbol" panose="05050102010706020507" pitchFamily="18" charset="2"/>
              </a:rPr>
              <a:t>及作用点位置，并绘制土压力分布图。</a:t>
            </a:r>
            <a:endParaRPr lang="zh-CN" altLang="en-US" sz="2000" b="1" smtClean="0">
              <a:latin typeface="Times New Roman" panose="02020603050405020304" pitchFamily="18" charset="0"/>
              <a:cs typeface="Times New Roman" panose="02020603050405020304" pitchFamily="18" charset="0"/>
              <a:sym typeface="Symbol" panose="05050102010706020507" pitchFamily="18" charset="2"/>
            </a:endParaRPr>
          </a:p>
        </p:txBody>
      </p:sp>
      <p:grpSp>
        <p:nvGrpSpPr>
          <p:cNvPr id="37891" name="Group 37"/>
          <p:cNvGrpSpPr/>
          <p:nvPr/>
        </p:nvGrpSpPr>
        <p:grpSpPr bwMode="auto">
          <a:xfrm>
            <a:off x="6445250" y="1284288"/>
            <a:ext cx="2735263" cy="2505075"/>
            <a:chOff x="3742" y="809"/>
            <a:chExt cx="1723" cy="1578"/>
          </a:xfrm>
        </p:grpSpPr>
        <p:sp>
          <p:nvSpPr>
            <p:cNvPr id="37940" name="Line 4"/>
            <p:cNvSpPr>
              <a:spLocks noChangeShapeType="1"/>
            </p:cNvSpPr>
            <p:nvPr/>
          </p:nvSpPr>
          <p:spPr bwMode="auto">
            <a:xfrm flipH="1">
              <a:off x="3742" y="1525"/>
              <a:ext cx="317" cy="8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41" name="Line 5"/>
            <p:cNvSpPr>
              <a:spLocks noChangeShapeType="1"/>
            </p:cNvSpPr>
            <p:nvPr/>
          </p:nvSpPr>
          <p:spPr bwMode="auto">
            <a:xfrm>
              <a:off x="4059" y="1525"/>
              <a:ext cx="22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42" name="Line 6"/>
            <p:cNvSpPr>
              <a:spLocks noChangeShapeType="1"/>
            </p:cNvSpPr>
            <p:nvPr/>
          </p:nvSpPr>
          <p:spPr bwMode="auto">
            <a:xfrm>
              <a:off x="4286" y="1525"/>
              <a:ext cx="0" cy="8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43" name="Line 7"/>
            <p:cNvSpPr>
              <a:spLocks noChangeShapeType="1"/>
            </p:cNvSpPr>
            <p:nvPr/>
          </p:nvSpPr>
          <p:spPr bwMode="auto">
            <a:xfrm>
              <a:off x="3742" y="2387"/>
              <a:ext cx="5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44" name="Line 8"/>
            <p:cNvSpPr>
              <a:spLocks noChangeShapeType="1"/>
            </p:cNvSpPr>
            <p:nvPr/>
          </p:nvSpPr>
          <p:spPr bwMode="auto">
            <a:xfrm>
              <a:off x="4059" y="1525"/>
              <a:ext cx="140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45" name="Line 9"/>
            <p:cNvSpPr>
              <a:spLocks noChangeShapeType="1"/>
            </p:cNvSpPr>
            <p:nvPr/>
          </p:nvSpPr>
          <p:spPr bwMode="auto">
            <a:xfrm>
              <a:off x="5012" y="1389"/>
              <a:ext cx="0" cy="13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46" name="Line 10"/>
            <p:cNvSpPr>
              <a:spLocks noChangeShapeType="1"/>
            </p:cNvSpPr>
            <p:nvPr/>
          </p:nvSpPr>
          <p:spPr bwMode="auto">
            <a:xfrm>
              <a:off x="4830" y="1389"/>
              <a:ext cx="0" cy="13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47" name="Line 11"/>
            <p:cNvSpPr>
              <a:spLocks noChangeShapeType="1"/>
            </p:cNvSpPr>
            <p:nvPr/>
          </p:nvSpPr>
          <p:spPr bwMode="auto">
            <a:xfrm>
              <a:off x="4649" y="1389"/>
              <a:ext cx="0" cy="13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48" name="Line 12"/>
            <p:cNvSpPr>
              <a:spLocks noChangeShapeType="1"/>
            </p:cNvSpPr>
            <p:nvPr/>
          </p:nvSpPr>
          <p:spPr bwMode="auto">
            <a:xfrm>
              <a:off x="4468" y="1389"/>
              <a:ext cx="0" cy="13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49" name="Line 13"/>
            <p:cNvSpPr>
              <a:spLocks noChangeShapeType="1"/>
            </p:cNvSpPr>
            <p:nvPr/>
          </p:nvSpPr>
          <p:spPr bwMode="auto">
            <a:xfrm>
              <a:off x="4286" y="1389"/>
              <a:ext cx="0" cy="13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50" name="Line 14"/>
            <p:cNvSpPr>
              <a:spLocks noChangeShapeType="1"/>
            </p:cNvSpPr>
            <p:nvPr/>
          </p:nvSpPr>
          <p:spPr bwMode="auto">
            <a:xfrm>
              <a:off x="4286" y="1389"/>
              <a:ext cx="113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51" name="Text Box 15"/>
            <p:cNvSpPr txBox="1">
              <a:spLocks noChangeArrowheads="1"/>
            </p:cNvSpPr>
            <p:nvPr/>
          </p:nvSpPr>
          <p:spPr bwMode="auto">
            <a:xfrm>
              <a:off x="4512" y="1177"/>
              <a:ext cx="6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i="1"/>
                <a:t>q</a:t>
              </a:r>
              <a:r>
                <a:rPr lang="en-US" altLang="zh-CN" sz="1600"/>
                <a:t> =10 kPa</a:t>
              </a:r>
              <a:endParaRPr lang="en-US" altLang="zh-CN" sz="1600"/>
            </a:p>
          </p:txBody>
        </p:sp>
        <p:sp>
          <p:nvSpPr>
            <p:cNvPr id="37952" name="Line 16"/>
            <p:cNvSpPr>
              <a:spLocks noChangeShapeType="1"/>
            </p:cNvSpPr>
            <p:nvPr/>
          </p:nvSpPr>
          <p:spPr bwMode="auto">
            <a:xfrm flipH="1">
              <a:off x="4701" y="1539"/>
              <a:ext cx="46" cy="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53" name="Line 17"/>
            <p:cNvSpPr>
              <a:spLocks noChangeShapeType="1"/>
            </p:cNvSpPr>
            <p:nvPr/>
          </p:nvSpPr>
          <p:spPr bwMode="auto">
            <a:xfrm flipH="1">
              <a:off x="4830" y="1532"/>
              <a:ext cx="46" cy="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54" name="Line 18"/>
            <p:cNvSpPr>
              <a:spLocks noChangeShapeType="1"/>
            </p:cNvSpPr>
            <p:nvPr/>
          </p:nvSpPr>
          <p:spPr bwMode="auto">
            <a:xfrm flipH="1">
              <a:off x="4596" y="1539"/>
              <a:ext cx="46" cy="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55" name="Line 19"/>
            <p:cNvSpPr>
              <a:spLocks noChangeShapeType="1"/>
            </p:cNvSpPr>
            <p:nvPr/>
          </p:nvSpPr>
          <p:spPr bwMode="auto">
            <a:xfrm flipH="1">
              <a:off x="4492" y="1539"/>
              <a:ext cx="46" cy="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56" name="Line 20"/>
            <p:cNvSpPr>
              <a:spLocks noChangeShapeType="1"/>
            </p:cNvSpPr>
            <p:nvPr/>
          </p:nvSpPr>
          <p:spPr bwMode="auto">
            <a:xfrm>
              <a:off x="4921" y="1525"/>
              <a:ext cx="46" cy="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57" name="Line 21"/>
            <p:cNvSpPr>
              <a:spLocks noChangeShapeType="1"/>
            </p:cNvSpPr>
            <p:nvPr/>
          </p:nvSpPr>
          <p:spPr bwMode="auto">
            <a:xfrm>
              <a:off x="5050" y="1542"/>
              <a:ext cx="46" cy="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58" name="Line 22"/>
            <p:cNvSpPr>
              <a:spLocks noChangeShapeType="1"/>
            </p:cNvSpPr>
            <p:nvPr/>
          </p:nvSpPr>
          <p:spPr bwMode="auto">
            <a:xfrm>
              <a:off x="5193" y="1539"/>
              <a:ext cx="46" cy="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59" name="Line 23"/>
            <p:cNvSpPr>
              <a:spLocks noChangeShapeType="1"/>
            </p:cNvSpPr>
            <p:nvPr/>
          </p:nvSpPr>
          <p:spPr bwMode="auto">
            <a:xfrm>
              <a:off x="4468" y="1525"/>
              <a:ext cx="272" cy="8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60" name="Line 24"/>
            <p:cNvSpPr>
              <a:spLocks noChangeShapeType="1"/>
            </p:cNvSpPr>
            <p:nvPr/>
          </p:nvSpPr>
          <p:spPr bwMode="auto">
            <a:xfrm>
              <a:off x="4286" y="2387"/>
              <a:ext cx="4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61" name="Line 25"/>
            <p:cNvSpPr>
              <a:spLocks noChangeShapeType="1"/>
            </p:cNvSpPr>
            <p:nvPr/>
          </p:nvSpPr>
          <p:spPr bwMode="auto">
            <a:xfrm flipH="1">
              <a:off x="4286" y="1661"/>
              <a:ext cx="22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62" name="Line 26"/>
            <p:cNvSpPr>
              <a:spLocks noChangeShapeType="1"/>
            </p:cNvSpPr>
            <p:nvPr/>
          </p:nvSpPr>
          <p:spPr bwMode="auto">
            <a:xfrm flipH="1">
              <a:off x="4286" y="1842"/>
              <a:ext cx="27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63" name="Line 27"/>
            <p:cNvSpPr>
              <a:spLocks noChangeShapeType="1"/>
            </p:cNvSpPr>
            <p:nvPr/>
          </p:nvSpPr>
          <p:spPr bwMode="auto">
            <a:xfrm flipH="1">
              <a:off x="4286" y="2024"/>
              <a:ext cx="34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64" name="Line 30"/>
            <p:cNvSpPr>
              <a:spLocks noChangeShapeType="1"/>
            </p:cNvSpPr>
            <p:nvPr/>
          </p:nvSpPr>
          <p:spPr bwMode="auto">
            <a:xfrm flipH="1">
              <a:off x="4286" y="2205"/>
              <a:ext cx="40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65" name="Line 31"/>
            <p:cNvSpPr>
              <a:spLocks noChangeShapeType="1"/>
            </p:cNvSpPr>
            <p:nvPr/>
          </p:nvSpPr>
          <p:spPr bwMode="auto">
            <a:xfrm>
              <a:off x="4286" y="935"/>
              <a:ext cx="192" cy="638"/>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37966" name="Line 32"/>
            <p:cNvSpPr>
              <a:spLocks noChangeShapeType="1"/>
            </p:cNvSpPr>
            <p:nvPr/>
          </p:nvSpPr>
          <p:spPr bwMode="auto">
            <a:xfrm>
              <a:off x="4286" y="935"/>
              <a:ext cx="0" cy="545"/>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37967" name="Text Box 33"/>
            <p:cNvSpPr txBox="1">
              <a:spLocks noChangeArrowheads="1"/>
            </p:cNvSpPr>
            <p:nvPr/>
          </p:nvSpPr>
          <p:spPr bwMode="auto">
            <a:xfrm rot="-5400000">
              <a:off x="3642" y="1145"/>
              <a:ext cx="84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200" b="1"/>
                <a:t>H’=q/ </a:t>
              </a:r>
              <a:r>
                <a:rPr lang="zh-CN" altLang="en-US" sz="1200" b="1" i="1">
                  <a:sym typeface="Symbol" panose="05050102010706020507" pitchFamily="18" charset="2"/>
                </a:rPr>
                <a:t></a:t>
              </a:r>
              <a:r>
                <a:rPr lang="zh-CN" altLang="en-US" sz="1200" b="1">
                  <a:sym typeface="Symbol" panose="05050102010706020507" pitchFamily="18" charset="2"/>
                </a:rPr>
                <a:t> </a:t>
              </a:r>
              <a:r>
                <a:rPr lang="en-US" altLang="zh-CN" sz="1200" b="1">
                  <a:sym typeface="Symbol" panose="05050102010706020507" pitchFamily="18" charset="2"/>
                </a:rPr>
                <a:t>= 0.526 m</a:t>
              </a:r>
              <a:endParaRPr lang="en-US" altLang="zh-CN" sz="1200" b="1">
                <a:sym typeface="Symbol" panose="05050102010706020507" pitchFamily="18" charset="2"/>
              </a:endParaRPr>
            </a:p>
          </p:txBody>
        </p:sp>
      </p:grpSp>
      <p:sp>
        <p:nvSpPr>
          <p:cNvPr id="37892" name="Text Box 34"/>
          <p:cNvSpPr txBox="1">
            <a:spLocks noChangeArrowheads="1"/>
          </p:cNvSpPr>
          <p:nvPr/>
        </p:nvSpPr>
        <p:spPr bwMode="auto">
          <a:xfrm>
            <a:off x="1747838" y="2068513"/>
            <a:ext cx="28400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H’=</a:t>
            </a:r>
            <a:r>
              <a:rPr lang="en-US" altLang="zh-CN" sz="2000" b="1" i="1"/>
              <a:t>q</a:t>
            </a:r>
            <a:r>
              <a:rPr lang="en-US" altLang="zh-CN" sz="2000" b="1"/>
              <a:t>/ </a:t>
            </a:r>
            <a:r>
              <a:rPr lang="zh-CN" altLang="en-US" sz="2000" b="1" i="1">
                <a:sym typeface="Symbol" panose="05050102010706020507" pitchFamily="18" charset="2"/>
              </a:rPr>
              <a:t></a:t>
            </a:r>
            <a:r>
              <a:rPr lang="zh-CN" altLang="en-US" sz="2000" b="1">
                <a:sym typeface="Symbol" panose="05050102010706020507" pitchFamily="18" charset="2"/>
              </a:rPr>
              <a:t> </a:t>
            </a:r>
            <a:r>
              <a:rPr lang="en-US" altLang="zh-CN" sz="2000" b="1">
                <a:sym typeface="Symbol" panose="05050102010706020507" pitchFamily="18" charset="2"/>
              </a:rPr>
              <a:t>= 10/19=0.526 m</a:t>
            </a:r>
            <a:endParaRPr lang="en-US" altLang="zh-CN" sz="2000" b="1">
              <a:sym typeface="Symbol" panose="05050102010706020507" pitchFamily="18" charset="2"/>
            </a:endParaRPr>
          </a:p>
        </p:txBody>
      </p:sp>
      <p:sp>
        <p:nvSpPr>
          <p:cNvPr id="37893" name="Text Box 35"/>
          <p:cNvSpPr txBox="1">
            <a:spLocks noChangeArrowheads="1"/>
          </p:cNvSpPr>
          <p:nvPr/>
        </p:nvSpPr>
        <p:spPr bwMode="auto">
          <a:xfrm>
            <a:off x="385763" y="1412875"/>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solidFill>
                  <a:srgbClr val="FF0000"/>
                </a:solidFill>
              </a:rPr>
              <a:t>【</a:t>
            </a:r>
            <a:r>
              <a:rPr lang="zh-CN" altLang="en-US" sz="2000" b="1">
                <a:solidFill>
                  <a:srgbClr val="FF0000"/>
                </a:solidFill>
              </a:rPr>
              <a:t>解</a:t>
            </a:r>
            <a:r>
              <a:rPr lang="en-US" altLang="zh-CN" sz="2000">
                <a:solidFill>
                  <a:srgbClr val="FF0000"/>
                </a:solidFill>
              </a:rPr>
              <a:t>】</a:t>
            </a:r>
            <a:r>
              <a:rPr lang="zh-CN" altLang="en-US" sz="2000">
                <a:solidFill>
                  <a:srgbClr val="FF0000"/>
                </a:solidFill>
              </a:rPr>
              <a:t>：</a:t>
            </a:r>
            <a:endParaRPr lang="zh-CN" altLang="en-US" sz="2000">
              <a:solidFill>
                <a:srgbClr val="FF0000"/>
              </a:solidFill>
            </a:endParaRPr>
          </a:p>
        </p:txBody>
      </p:sp>
      <p:sp>
        <p:nvSpPr>
          <p:cNvPr id="37894" name="Text Box 36"/>
          <p:cNvSpPr txBox="1">
            <a:spLocks noChangeArrowheads="1"/>
          </p:cNvSpPr>
          <p:nvPr/>
        </p:nvSpPr>
        <p:spPr bwMode="auto">
          <a:xfrm>
            <a:off x="276225" y="1704975"/>
            <a:ext cx="64976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en-US" altLang="zh-CN" sz="2000" b="1" dirty="0" smtClean="0">
                <a:latin typeface="+mn-ea"/>
                <a:ea typeface="+mn-ea"/>
              </a:rPr>
              <a:t>①</a:t>
            </a:r>
            <a:r>
              <a:rPr lang="zh-CN" altLang="en-US" sz="2000" b="1" dirty="0" smtClean="0">
                <a:latin typeface="+mn-ea"/>
                <a:ea typeface="+mn-ea"/>
              </a:rPr>
              <a:t>由于均布超载，将超载</a:t>
            </a:r>
            <a:r>
              <a:rPr lang="en-US" altLang="zh-CN" sz="2000" b="1" dirty="0" smtClean="0">
                <a:latin typeface="+mn-ea"/>
                <a:ea typeface="+mn-ea"/>
              </a:rPr>
              <a:t>q</a:t>
            </a:r>
            <a:r>
              <a:rPr lang="zh-CN" altLang="en-US" sz="2000" b="1" dirty="0" smtClean="0">
                <a:latin typeface="+mn-ea"/>
                <a:ea typeface="+mn-ea"/>
              </a:rPr>
              <a:t>换算为相应的当量填土高度</a:t>
            </a:r>
            <a:r>
              <a:rPr lang="en-US" altLang="zh-CN" sz="2000" b="1" dirty="0" smtClean="0">
                <a:latin typeface="+mn-ea"/>
                <a:ea typeface="+mn-ea"/>
              </a:rPr>
              <a:t>H’</a:t>
            </a:r>
            <a:endParaRPr lang="en-US" altLang="zh-CN" sz="2000" b="1" dirty="0" smtClean="0">
              <a:latin typeface="+mn-ea"/>
              <a:ea typeface="+mn-ea"/>
            </a:endParaRPr>
          </a:p>
        </p:txBody>
      </p:sp>
      <p:sp>
        <p:nvSpPr>
          <p:cNvPr id="37895" name="Text Box 38"/>
          <p:cNvSpPr txBox="1">
            <a:spLocks noChangeArrowheads="1"/>
          </p:cNvSpPr>
          <p:nvPr/>
        </p:nvSpPr>
        <p:spPr bwMode="auto">
          <a:xfrm>
            <a:off x="115888" y="2484438"/>
            <a:ext cx="59404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en-US" altLang="zh-CN" sz="2000" b="1" dirty="0" smtClean="0">
                <a:ea typeface="+mn-ea"/>
                <a:cs typeface="Times New Roman" panose="02020603050405020304" pitchFamily="18" charset="0"/>
              </a:rPr>
              <a:t>② </a:t>
            </a:r>
            <a:r>
              <a:rPr lang="zh-CN" altLang="en-US" sz="2000" b="1" dirty="0" smtClean="0">
                <a:ea typeface="+mn-ea"/>
                <a:cs typeface="Times New Roman" panose="02020603050405020304" pitchFamily="18" charset="0"/>
              </a:rPr>
              <a:t>在填土地面处，土压力强度</a:t>
            </a:r>
            <a:r>
              <a:rPr lang="zh-CN" altLang="en-US" sz="2000" b="1" dirty="0" smtClean="0">
                <a:ea typeface="+mn-ea"/>
                <a:cs typeface="Times New Roman" panose="02020603050405020304" pitchFamily="18" charset="0"/>
                <a:sym typeface="Symbol" panose="05050102010706020507" pitchFamily="18" charset="2"/>
              </a:rPr>
              <a:t></a:t>
            </a:r>
            <a:r>
              <a:rPr lang="en-US" altLang="zh-CN" sz="2000" b="1" baseline="-25000" dirty="0" err="1" smtClean="0">
                <a:ea typeface="+mn-ea"/>
                <a:cs typeface="Times New Roman" panose="02020603050405020304" pitchFamily="18" charset="0"/>
              </a:rPr>
              <a:t>aA</a:t>
            </a:r>
            <a:r>
              <a:rPr lang="en-US" altLang="zh-CN" sz="2000" b="1" dirty="0" smtClean="0">
                <a:ea typeface="+mn-ea"/>
                <a:cs typeface="Times New Roman" panose="02020603050405020304" pitchFamily="18" charset="0"/>
              </a:rPr>
              <a:t> =H’ </a:t>
            </a:r>
            <a:r>
              <a:rPr lang="zh-CN" altLang="en-US" sz="2000" b="1" i="1" dirty="0" smtClean="0">
                <a:ea typeface="+mn-ea"/>
                <a:cs typeface="Times New Roman" panose="02020603050405020304" pitchFamily="18" charset="0"/>
                <a:sym typeface="Symbol" panose="05050102010706020507" pitchFamily="18" charset="2"/>
              </a:rPr>
              <a:t></a:t>
            </a:r>
            <a:r>
              <a:rPr lang="zh-CN" altLang="en-US" sz="2000" b="1" dirty="0" smtClean="0">
                <a:ea typeface="+mn-ea"/>
                <a:cs typeface="Times New Roman" panose="02020603050405020304" pitchFamily="18" charset="0"/>
                <a:sym typeface="Symbol" panose="05050102010706020507" pitchFamily="18" charset="2"/>
              </a:rPr>
              <a:t> </a:t>
            </a:r>
            <a:r>
              <a:rPr lang="en-US" altLang="zh-CN" sz="2000" b="1" i="1" dirty="0" err="1" smtClean="0">
                <a:ea typeface="+mn-ea"/>
                <a:cs typeface="Times New Roman" panose="02020603050405020304" pitchFamily="18" charset="0"/>
                <a:sym typeface="Symbol" panose="05050102010706020507" pitchFamily="18" charset="2"/>
              </a:rPr>
              <a:t>K</a:t>
            </a:r>
            <a:r>
              <a:rPr lang="en-US" altLang="zh-CN" sz="2000" b="1" i="1" baseline="-25000" dirty="0" err="1" smtClean="0">
                <a:ea typeface="+mn-ea"/>
                <a:cs typeface="Times New Roman" panose="02020603050405020304" pitchFamily="18" charset="0"/>
                <a:sym typeface="Symbol" panose="05050102010706020507" pitchFamily="18" charset="2"/>
              </a:rPr>
              <a:t>a</a:t>
            </a:r>
            <a:r>
              <a:rPr lang="en-US" altLang="zh-CN" sz="2000" b="1" dirty="0" smtClean="0">
                <a:ea typeface="+mn-ea"/>
                <a:cs typeface="Times New Roman" panose="02020603050405020304" pitchFamily="18" charset="0"/>
                <a:sym typeface="Symbol" panose="05050102010706020507" pitchFamily="18" charset="2"/>
              </a:rPr>
              <a:t>= </a:t>
            </a:r>
            <a:r>
              <a:rPr lang="en-US" altLang="zh-CN" sz="2000" b="1" i="1" dirty="0" err="1" smtClean="0">
                <a:ea typeface="+mn-ea"/>
                <a:cs typeface="Times New Roman" panose="02020603050405020304" pitchFamily="18" charset="0"/>
                <a:sym typeface="Symbol" panose="05050102010706020507" pitchFamily="18" charset="2"/>
              </a:rPr>
              <a:t>qK</a:t>
            </a:r>
            <a:r>
              <a:rPr lang="en-US" altLang="zh-CN" sz="2000" b="1" i="1" baseline="-25000" dirty="0" err="1" smtClean="0">
                <a:ea typeface="+mn-ea"/>
                <a:cs typeface="Times New Roman" panose="02020603050405020304" pitchFamily="18" charset="0"/>
                <a:sym typeface="Symbol" panose="05050102010706020507" pitchFamily="18" charset="2"/>
              </a:rPr>
              <a:t>a</a:t>
            </a:r>
            <a:r>
              <a:rPr lang="en-US" altLang="zh-CN" sz="2000" b="1" dirty="0" smtClean="0">
                <a:ea typeface="+mn-ea"/>
                <a:cs typeface="Times New Roman" panose="02020603050405020304" pitchFamily="18" charset="0"/>
                <a:sym typeface="Symbol" panose="05050102010706020507" pitchFamily="18" charset="2"/>
              </a:rPr>
              <a:t> = 10*tan</a:t>
            </a:r>
            <a:r>
              <a:rPr lang="en-US" altLang="zh-CN" sz="2000" b="1" baseline="30000" dirty="0" smtClean="0">
                <a:ea typeface="+mn-ea"/>
                <a:cs typeface="Times New Roman" panose="02020603050405020304" pitchFamily="18" charset="0"/>
                <a:sym typeface="Symbol" panose="05050102010706020507" pitchFamily="18" charset="2"/>
              </a:rPr>
              <a:t>2</a:t>
            </a:r>
            <a:r>
              <a:rPr lang="en-US" altLang="zh-CN" sz="2000" b="1" dirty="0" smtClean="0">
                <a:ea typeface="+mn-ea"/>
                <a:cs typeface="Times New Roman" panose="02020603050405020304" pitchFamily="18" charset="0"/>
                <a:sym typeface="Symbol" panose="05050102010706020507" pitchFamily="18" charset="2"/>
              </a:rPr>
              <a:t>(45-34/2)=2.8 </a:t>
            </a:r>
            <a:r>
              <a:rPr lang="en-US" altLang="zh-CN" sz="2000" b="1" dirty="0" err="1" smtClean="0">
                <a:ea typeface="+mn-ea"/>
                <a:cs typeface="Times New Roman" panose="02020603050405020304" pitchFamily="18" charset="0"/>
                <a:sym typeface="Symbol" panose="05050102010706020507" pitchFamily="18" charset="2"/>
              </a:rPr>
              <a:t>kPa</a:t>
            </a:r>
            <a:endParaRPr lang="en-US" altLang="zh-CN" sz="2000" b="1" dirty="0" smtClean="0">
              <a:ea typeface="+mn-ea"/>
              <a:cs typeface="Times New Roman" panose="02020603050405020304" pitchFamily="18" charset="0"/>
              <a:sym typeface="Symbol" panose="05050102010706020507" pitchFamily="18" charset="2"/>
            </a:endParaRPr>
          </a:p>
        </p:txBody>
      </p:sp>
      <p:sp>
        <p:nvSpPr>
          <p:cNvPr id="37896" name="Text Box 39"/>
          <p:cNvSpPr txBox="1">
            <a:spLocks noChangeArrowheads="1"/>
          </p:cNvSpPr>
          <p:nvPr/>
        </p:nvSpPr>
        <p:spPr bwMode="auto">
          <a:xfrm>
            <a:off x="6759575" y="2827338"/>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t>H</a:t>
            </a:r>
            <a:endParaRPr lang="en-US" altLang="zh-CN"/>
          </a:p>
        </p:txBody>
      </p:sp>
      <p:sp>
        <p:nvSpPr>
          <p:cNvPr id="37897" name="Text Box 41"/>
          <p:cNvSpPr txBox="1">
            <a:spLocks noChangeArrowheads="1"/>
          </p:cNvSpPr>
          <p:nvPr/>
        </p:nvSpPr>
        <p:spPr bwMode="auto">
          <a:xfrm>
            <a:off x="77788" y="3770313"/>
            <a:ext cx="950436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lang="en-US" altLang="zh-CN" sz="2000" b="1" dirty="0" smtClean="0">
                <a:ea typeface="+mn-ea"/>
                <a:cs typeface="Times New Roman" panose="02020603050405020304" pitchFamily="18" charset="0"/>
              </a:rPr>
              <a:t>③ </a:t>
            </a:r>
            <a:r>
              <a:rPr lang="zh-CN" altLang="en-US" sz="2000" b="1" dirty="0" smtClean="0">
                <a:ea typeface="+mn-ea"/>
                <a:cs typeface="Times New Roman" panose="02020603050405020304" pitchFamily="18" charset="0"/>
              </a:rPr>
              <a:t>在挡墙填土底面处，土压力强度</a:t>
            </a:r>
            <a:r>
              <a:rPr lang="zh-CN" altLang="en-US" sz="2000" b="1" dirty="0" smtClean="0">
                <a:ea typeface="+mn-ea"/>
                <a:cs typeface="Times New Roman" panose="02020603050405020304" pitchFamily="18" charset="0"/>
                <a:sym typeface="Symbol" panose="05050102010706020507" pitchFamily="18" charset="2"/>
              </a:rPr>
              <a:t></a:t>
            </a:r>
            <a:r>
              <a:rPr lang="en-US" altLang="zh-CN" sz="2000" b="1" baseline="-25000" dirty="0" err="1" smtClean="0">
                <a:ea typeface="+mn-ea"/>
                <a:cs typeface="Times New Roman" panose="02020603050405020304" pitchFamily="18" charset="0"/>
              </a:rPr>
              <a:t>aB</a:t>
            </a:r>
            <a:r>
              <a:rPr lang="en-US" altLang="zh-CN" sz="2000" b="1" dirty="0" smtClean="0">
                <a:ea typeface="+mn-ea"/>
                <a:cs typeface="Times New Roman" panose="02020603050405020304" pitchFamily="18" charset="0"/>
              </a:rPr>
              <a:t> =</a:t>
            </a:r>
            <a:r>
              <a:rPr lang="zh-CN" altLang="en-US" sz="2000" b="1" dirty="0" smtClean="0">
                <a:ea typeface="+mn-ea"/>
                <a:cs typeface="Times New Roman" panose="02020603050405020304" pitchFamily="18" charset="0"/>
              </a:rPr>
              <a:t>（</a:t>
            </a:r>
            <a:r>
              <a:rPr lang="en-US" altLang="zh-CN" sz="2000" b="1" dirty="0" smtClean="0">
                <a:ea typeface="+mn-ea"/>
                <a:cs typeface="Times New Roman" panose="02020603050405020304" pitchFamily="18" charset="0"/>
              </a:rPr>
              <a:t>H’+H) </a:t>
            </a:r>
            <a:r>
              <a:rPr lang="zh-CN" altLang="en-US" sz="2000" b="1" i="1" dirty="0" smtClean="0">
                <a:ea typeface="+mn-ea"/>
                <a:cs typeface="Times New Roman" panose="02020603050405020304" pitchFamily="18" charset="0"/>
                <a:sym typeface="Symbol" panose="05050102010706020507" pitchFamily="18" charset="2"/>
              </a:rPr>
              <a:t></a:t>
            </a:r>
            <a:r>
              <a:rPr lang="zh-CN" altLang="en-US" sz="2000" b="1" dirty="0" smtClean="0">
                <a:ea typeface="+mn-ea"/>
                <a:cs typeface="Times New Roman" panose="02020603050405020304" pitchFamily="18" charset="0"/>
                <a:sym typeface="Symbol" panose="05050102010706020507" pitchFamily="18" charset="2"/>
              </a:rPr>
              <a:t> </a:t>
            </a:r>
            <a:r>
              <a:rPr lang="en-US" altLang="zh-CN" sz="2000" b="1" i="1" dirty="0" err="1" smtClean="0">
                <a:ea typeface="+mn-ea"/>
                <a:cs typeface="Times New Roman" panose="02020603050405020304" pitchFamily="18" charset="0"/>
                <a:sym typeface="Symbol" panose="05050102010706020507" pitchFamily="18" charset="2"/>
              </a:rPr>
              <a:t>K</a:t>
            </a:r>
            <a:r>
              <a:rPr lang="en-US" altLang="zh-CN" sz="2000" b="1" i="1" baseline="-25000" dirty="0" err="1" smtClean="0">
                <a:ea typeface="+mn-ea"/>
                <a:cs typeface="Times New Roman" panose="02020603050405020304" pitchFamily="18" charset="0"/>
                <a:sym typeface="Symbol" panose="05050102010706020507" pitchFamily="18" charset="2"/>
              </a:rPr>
              <a:t>a</a:t>
            </a:r>
            <a:r>
              <a:rPr lang="en-US" altLang="zh-CN" sz="2000" b="1" i="1" dirty="0" smtClean="0">
                <a:ea typeface="+mn-ea"/>
                <a:cs typeface="Times New Roman" panose="02020603050405020304" pitchFamily="18" charset="0"/>
                <a:sym typeface="Symbol" panose="05050102010706020507" pitchFamily="18" charset="2"/>
              </a:rPr>
              <a:t> = </a:t>
            </a:r>
            <a:r>
              <a:rPr lang="en-US" altLang="zh-CN" sz="2000" b="1" dirty="0" smtClean="0">
                <a:ea typeface="+mn-ea"/>
                <a:cs typeface="Times New Roman" panose="02020603050405020304" pitchFamily="18" charset="0"/>
                <a:sym typeface="Symbol" panose="05050102010706020507" pitchFamily="18" charset="2"/>
              </a:rPr>
              <a:t>6.526</a:t>
            </a:r>
            <a:r>
              <a:rPr lang="en-US" altLang="zh-CN" sz="2000" b="1" i="1" dirty="0" smtClean="0">
                <a:ea typeface="+mn-ea"/>
                <a:cs typeface="Times New Roman" panose="02020603050405020304" pitchFamily="18" charset="0"/>
                <a:sym typeface="Symbol" panose="05050102010706020507" pitchFamily="18" charset="2"/>
              </a:rPr>
              <a:t>*</a:t>
            </a:r>
            <a:r>
              <a:rPr lang="en-US" altLang="zh-CN" sz="2000" b="1" dirty="0" smtClean="0">
                <a:ea typeface="+mn-ea"/>
                <a:cs typeface="Times New Roman" panose="02020603050405020304" pitchFamily="18" charset="0"/>
                <a:sym typeface="Symbol" panose="05050102010706020507" pitchFamily="18" charset="2"/>
              </a:rPr>
              <a:t>19</a:t>
            </a:r>
            <a:r>
              <a:rPr lang="en-US" altLang="zh-CN" sz="2000" b="1" i="1" dirty="0" smtClean="0">
                <a:ea typeface="+mn-ea"/>
                <a:cs typeface="Times New Roman" panose="02020603050405020304" pitchFamily="18" charset="0"/>
                <a:sym typeface="Symbol" panose="05050102010706020507" pitchFamily="18" charset="2"/>
              </a:rPr>
              <a:t>*</a:t>
            </a:r>
            <a:r>
              <a:rPr lang="en-US" altLang="zh-CN" sz="2000" b="1" dirty="0" smtClean="0">
                <a:ea typeface="+mn-ea"/>
                <a:cs typeface="Times New Roman" panose="02020603050405020304" pitchFamily="18" charset="0"/>
                <a:sym typeface="Symbol" panose="05050102010706020507" pitchFamily="18" charset="2"/>
              </a:rPr>
              <a:t>tan</a:t>
            </a:r>
            <a:r>
              <a:rPr lang="en-US" altLang="zh-CN" sz="2000" b="1" baseline="30000" dirty="0" smtClean="0">
                <a:ea typeface="+mn-ea"/>
                <a:cs typeface="Times New Roman" panose="02020603050405020304" pitchFamily="18" charset="0"/>
                <a:sym typeface="Symbol" panose="05050102010706020507" pitchFamily="18" charset="2"/>
              </a:rPr>
              <a:t>2</a:t>
            </a:r>
            <a:r>
              <a:rPr lang="en-US" altLang="zh-CN" sz="2000" b="1" dirty="0" smtClean="0">
                <a:ea typeface="+mn-ea"/>
                <a:cs typeface="Times New Roman" panose="02020603050405020304" pitchFamily="18" charset="0"/>
                <a:sym typeface="Symbol" panose="05050102010706020507" pitchFamily="18" charset="2"/>
              </a:rPr>
              <a:t>(45-34/2) =35.1 </a:t>
            </a:r>
            <a:r>
              <a:rPr lang="en-US" altLang="zh-CN" sz="2000" b="1" dirty="0" err="1" smtClean="0">
                <a:ea typeface="+mn-ea"/>
                <a:cs typeface="Times New Roman" panose="02020603050405020304" pitchFamily="18" charset="0"/>
                <a:sym typeface="Symbol" panose="05050102010706020507" pitchFamily="18" charset="2"/>
              </a:rPr>
              <a:t>kPa</a:t>
            </a:r>
            <a:endParaRPr lang="en-US" altLang="zh-CN" sz="2000" b="1" dirty="0" smtClean="0">
              <a:ea typeface="+mn-ea"/>
              <a:cs typeface="Times New Roman" panose="02020603050405020304" pitchFamily="18" charset="0"/>
              <a:sym typeface="Symbol" panose="05050102010706020507" pitchFamily="18" charset="2"/>
            </a:endParaRPr>
          </a:p>
        </p:txBody>
      </p:sp>
      <p:sp>
        <p:nvSpPr>
          <p:cNvPr id="37898" name="Text Box 42"/>
          <p:cNvSpPr txBox="1">
            <a:spLocks noChangeArrowheads="1"/>
          </p:cNvSpPr>
          <p:nvPr/>
        </p:nvSpPr>
        <p:spPr bwMode="auto">
          <a:xfrm>
            <a:off x="261938" y="4570413"/>
            <a:ext cx="5472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lang="en-US" altLang="zh-CN" sz="2000" b="1" dirty="0" smtClean="0">
                <a:ea typeface="+mn-ea"/>
                <a:cs typeface="Times New Roman" panose="02020603050405020304" pitchFamily="18" charset="0"/>
              </a:rPr>
              <a:t>④ </a:t>
            </a:r>
            <a:r>
              <a:rPr lang="zh-CN" altLang="en-US" sz="2000" b="1" dirty="0" smtClean="0">
                <a:ea typeface="+mn-ea"/>
                <a:cs typeface="Times New Roman" panose="02020603050405020304" pitchFamily="18" charset="0"/>
              </a:rPr>
              <a:t>计算土压力</a:t>
            </a:r>
            <a:r>
              <a:rPr lang="en-US" altLang="zh-CN" sz="2000" b="1" i="1" dirty="0" err="1" smtClean="0">
                <a:ea typeface="+mn-ea"/>
                <a:cs typeface="Times New Roman" panose="02020603050405020304" pitchFamily="18" charset="0"/>
              </a:rPr>
              <a:t>E</a:t>
            </a:r>
            <a:r>
              <a:rPr lang="en-US" altLang="zh-CN" sz="2000" b="1" baseline="-25000" dirty="0" err="1" smtClean="0">
                <a:ea typeface="+mn-ea"/>
                <a:cs typeface="Times New Roman" panose="02020603050405020304" pitchFamily="18" charset="0"/>
              </a:rPr>
              <a:t>a</a:t>
            </a:r>
            <a:r>
              <a:rPr lang="zh-CN" altLang="en-US" sz="2000" b="1" dirty="0" smtClean="0">
                <a:ea typeface="+mn-ea"/>
                <a:cs typeface="Times New Roman" panose="02020603050405020304" pitchFamily="18" charset="0"/>
              </a:rPr>
              <a:t>（</a:t>
            </a:r>
            <a:r>
              <a:rPr lang="zh-CN" altLang="en-US" sz="2000" b="1" dirty="0" smtClean="0">
                <a:solidFill>
                  <a:schemeClr val="accent2"/>
                </a:solidFill>
                <a:ea typeface="+mn-ea"/>
                <a:cs typeface="Times New Roman" panose="02020603050405020304" pitchFamily="18" charset="0"/>
              </a:rPr>
              <a:t>即土压力分布图的面积</a:t>
            </a:r>
            <a:r>
              <a:rPr lang="zh-CN" altLang="en-US" sz="2000" b="1" dirty="0" smtClean="0">
                <a:ea typeface="+mn-ea"/>
                <a:cs typeface="Times New Roman" panose="02020603050405020304" pitchFamily="18" charset="0"/>
              </a:rPr>
              <a:t>）：</a:t>
            </a:r>
            <a:endParaRPr lang="en-US" altLang="zh-CN" b="1" dirty="0" smtClean="0">
              <a:ea typeface="+mn-ea"/>
              <a:cs typeface="Times New Roman" panose="02020603050405020304" pitchFamily="18" charset="0"/>
              <a:sym typeface="Symbol" panose="05050102010706020507" pitchFamily="18" charset="2"/>
            </a:endParaRPr>
          </a:p>
        </p:txBody>
      </p:sp>
      <p:sp>
        <p:nvSpPr>
          <p:cNvPr id="37899" name="Text Box 52"/>
          <p:cNvSpPr txBox="1">
            <a:spLocks noChangeArrowheads="1"/>
          </p:cNvSpPr>
          <p:nvPr/>
        </p:nvSpPr>
        <p:spPr bwMode="auto">
          <a:xfrm>
            <a:off x="419100" y="5084763"/>
            <a:ext cx="46624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solidFill>
                  <a:schemeClr val="accent2"/>
                </a:solidFill>
              </a:rPr>
              <a:t>E</a:t>
            </a:r>
            <a:r>
              <a:rPr lang="en-US" altLang="zh-CN" sz="1800" baseline="-25000">
                <a:solidFill>
                  <a:schemeClr val="accent2"/>
                </a:solidFill>
              </a:rPr>
              <a:t>a</a:t>
            </a:r>
            <a:r>
              <a:rPr lang="en-US" altLang="zh-CN" sz="1800">
                <a:solidFill>
                  <a:schemeClr val="accent2"/>
                </a:solidFill>
              </a:rPr>
              <a:t>=(</a:t>
            </a:r>
            <a:r>
              <a:rPr lang="zh-CN" altLang="en-US" sz="1800">
                <a:solidFill>
                  <a:schemeClr val="accent2"/>
                </a:solidFill>
                <a:sym typeface="Symbol" panose="05050102010706020507" pitchFamily="18" charset="2"/>
              </a:rPr>
              <a:t></a:t>
            </a:r>
            <a:r>
              <a:rPr lang="en-US" altLang="zh-CN" sz="1800" baseline="-25000">
                <a:solidFill>
                  <a:schemeClr val="accent2"/>
                </a:solidFill>
              </a:rPr>
              <a:t>aA</a:t>
            </a:r>
            <a:r>
              <a:rPr lang="en-US" altLang="zh-CN" sz="1800">
                <a:solidFill>
                  <a:schemeClr val="accent2"/>
                </a:solidFill>
              </a:rPr>
              <a:t>+</a:t>
            </a:r>
            <a:r>
              <a:rPr lang="zh-CN" altLang="en-US" sz="1800">
                <a:solidFill>
                  <a:schemeClr val="accent2"/>
                </a:solidFill>
                <a:sym typeface="Symbol" panose="05050102010706020507" pitchFamily="18" charset="2"/>
              </a:rPr>
              <a:t></a:t>
            </a:r>
            <a:r>
              <a:rPr lang="en-US" altLang="zh-CN" sz="1800" baseline="-25000">
                <a:solidFill>
                  <a:schemeClr val="accent2"/>
                </a:solidFill>
              </a:rPr>
              <a:t>aB</a:t>
            </a:r>
            <a:r>
              <a:rPr lang="en-US" altLang="zh-CN" sz="1800">
                <a:solidFill>
                  <a:schemeClr val="accent2"/>
                </a:solidFill>
              </a:rPr>
              <a:t>)*H/2 =(2.8+35.1)*6/2=113.7 kN/m</a:t>
            </a:r>
            <a:endParaRPr lang="en-US" altLang="zh-CN" sz="1800">
              <a:solidFill>
                <a:schemeClr val="accent2"/>
              </a:solidFill>
            </a:endParaRPr>
          </a:p>
        </p:txBody>
      </p:sp>
      <p:sp>
        <p:nvSpPr>
          <p:cNvPr id="37900" name="Text Box 54"/>
          <p:cNvSpPr txBox="1">
            <a:spLocks noChangeArrowheads="1"/>
          </p:cNvSpPr>
          <p:nvPr/>
        </p:nvSpPr>
        <p:spPr bwMode="auto">
          <a:xfrm>
            <a:off x="-17463" y="5559425"/>
            <a:ext cx="5686426"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lang="en-US" altLang="zh-CN" sz="2000" b="1" dirty="0" smtClean="0">
                <a:ea typeface="+mn-ea"/>
                <a:cs typeface="Times New Roman" panose="02020603050405020304" pitchFamily="18" charset="0"/>
              </a:rPr>
              <a:t>⑤ </a:t>
            </a:r>
            <a:r>
              <a:rPr lang="zh-CN" altLang="en-US" sz="2000" b="1" dirty="0" smtClean="0">
                <a:ea typeface="+mn-ea"/>
                <a:cs typeface="Times New Roman" panose="02020603050405020304" pitchFamily="18" charset="0"/>
              </a:rPr>
              <a:t>计算土压力</a:t>
            </a:r>
            <a:r>
              <a:rPr lang="en-US" altLang="zh-CN" sz="2000" b="1" i="1" dirty="0" err="1" smtClean="0">
                <a:ea typeface="+mn-ea"/>
                <a:cs typeface="Times New Roman" panose="02020603050405020304" pitchFamily="18" charset="0"/>
              </a:rPr>
              <a:t>E</a:t>
            </a:r>
            <a:r>
              <a:rPr lang="en-US" altLang="zh-CN" sz="2000" b="1" baseline="-25000" dirty="0" err="1" smtClean="0">
                <a:ea typeface="+mn-ea"/>
                <a:cs typeface="Times New Roman" panose="02020603050405020304" pitchFamily="18" charset="0"/>
              </a:rPr>
              <a:t>a</a:t>
            </a:r>
            <a:r>
              <a:rPr lang="zh-CN" altLang="en-US" sz="2000" b="1" dirty="0" smtClean="0">
                <a:ea typeface="+mn-ea"/>
                <a:cs typeface="Times New Roman" panose="02020603050405020304" pitchFamily="18" charset="0"/>
              </a:rPr>
              <a:t>作用点：</a:t>
            </a:r>
            <a:r>
              <a:rPr lang="en-US" altLang="zh-CN" sz="2000" b="1" i="1" dirty="0" err="1" smtClean="0">
                <a:ea typeface="+mn-ea"/>
                <a:cs typeface="Times New Roman" panose="02020603050405020304" pitchFamily="18" charset="0"/>
              </a:rPr>
              <a:t>E</a:t>
            </a:r>
            <a:r>
              <a:rPr lang="en-US" altLang="zh-CN" sz="2000" b="1" baseline="-25000" dirty="0" err="1" smtClean="0">
                <a:ea typeface="+mn-ea"/>
                <a:cs typeface="Times New Roman" panose="02020603050405020304" pitchFamily="18" charset="0"/>
              </a:rPr>
              <a:t>a</a:t>
            </a:r>
            <a:r>
              <a:rPr lang="en-US" altLang="zh-CN" sz="2000" b="1" dirty="0" smtClean="0">
                <a:ea typeface="+mn-ea"/>
                <a:cs typeface="Times New Roman" panose="02020603050405020304" pitchFamily="18" charset="0"/>
              </a:rPr>
              <a:t>*Z=</a:t>
            </a:r>
            <a:r>
              <a:rPr lang="en-US" altLang="zh-CN" sz="2000" b="1" i="1" dirty="0" err="1" smtClean="0">
                <a:ea typeface="+mn-ea"/>
                <a:cs typeface="Times New Roman" panose="02020603050405020304" pitchFamily="18" charset="0"/>
              </a:rPr>
              <a:t>E</a:t>
            </a:r>
            <a:r>
              <a:rPr lang="en-US" altLang="zh-CN" sz="2000" b="1" baseline="-25000" dirty="0" err="1" smtClean="0">
                <a:ea typeface="+mn-ea"/>
                <a:cs typeface="Times New Roman" panose="02020603050405020304" pitchFamily="18" charset="0"/>
              </a:rPr>
              <a:t>a</a:t>
            </a:r>
            <a:r>
              <a:rPr lang="en-US" altLang="zh-CN" sz="2000" b="1" dirty="0" smtClean="0">
                <a:ea typeface="+mn-ea"/>
                <a:cs typeface="Times New Roman" panose="02020603050405020304" pitchFamily="18" charset="0"/>
              </a:rPr>
              <a:t>’*H/2+</a:t>
            </a:r>
            <a:r>
              <a:rPr lang="en-US" altLang="zh-CN" sz="2000" b="1" i="1" dirty="0" smtClean="0">
                <a:ea typeface="+mn-ea"/>
                <a:cs typeface="Times New Roman" panose="02020603050405020304" pitchFamily="18" charset="0"/>
              </a:rPr>
              <a:t>E</a:t>
            </a:r>
            <a:r>
              <a:rPr lang="en-US" altLang="zh-CN" sz="2000" b="1" baseline="-25000" dirty="0" smtClean="0">
                <a:ea typeface="+mn-ea"/>
                <a:cs typeface="Times New Roman" panose="02020603050405020304" pitchFamily="18" charset="0"/>
              </a:rPr>
              <a:t>a</a:t>
            </a:r>
            <a:r>
              <a:rPr lang="en-US" altLang="zh-CN" sz="2000" b="1" dirty="0" smtClean="0">
                <a:ea typeface="+mn-ea"/>
                <a:cs typeface="Times New Roman" panose="02020603050405020304" pitchFamily="18" charset="0"/>
              </a:rPr>
              <a:t>”*H/3</a:t>
            </a:r>
            <a:endParaRPr lang="en-US" altLang="zh-CN" b="1" dirty="0" smtClean="0">
              <a:ea typeface="+mn-ea"/>
              <a:cs typeface="Times New Roman" panose="02020603050405020304" pitchFamily="18" charset="0"/>
              <a:sym typeface="Symbol" panose="05050102010706020507" pitchFamily="18" charset="2"/>
            </a:endParaRPr>
          </a:p>
        </p:txBody>
      </p:sp>
      <p:grpSp>
        <p:nvGrpSpPr>
          <p:cNvPr id="37901" name="Group 79"/>
          <p:cNvGrpSpPr/>
          <p:nvPr/>
        </p:nvGrpSpPr>
        <p:grpSpPr bwMode="auto">
          <a:xfrm>
            <a:off x="5435600" y="4508500"/>
            <a:ext cx="3743325" cy="2000250"/>
            <a:chOff x="3379" y="2961"/>
            <a:chExt cx="2358" cy="1260"/>
          </a:xfrm>
        </p:grpSpPr>
        <p:grpSp>
          <p:nvGrpSpPr>
            <p:cNvPr id="37907" name="Group 56"/>
            <p:cNvGrpSpPr/>
            <p:nvPr/>
          </p:nvGrpSpPr>
          <p:grpSpPr bwMode="auto">
            <a:xfrm>
              <a:off x="3379" y="2976"/>
              <a:ext cx="725" cy="1085"/>
              <a:chOff x="4150" y="2976"/>
              <a:chExt cx="725" cy="1085"/>
            </a:xfrm>
          </p:grpSpPr>
          <p:sp>
            <p:nvSpPr>
              <p:cNvPr id="37929" name="Text Box 49"/>
              <p:cNvSpPr txBox="1">
                <a:spLocks noChangeArrowheads="1"/>
              </p:cNvSpPr>
              <p:nvPr/>
            </p:nvSpPr>
            <p:spPr bwMode="auto">
              <a:xfrm>
                <a:off x="4286" y="2976"/>
                <a:ext cx="5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solidFill>
                      <a:schemeClr val="accent2"/>
                    </a:solidFill>
                  </a:rPr>
                  <a:t>2.8 kPa</a:t>
                </a:r>
                <a:endParaRPr lang="en-US" altLang="zh-CN" sz="1600">
                  <a:solidFill>
                    <a:schemeClr val="accent2"/>
                  </a:solidFill>
                </a:endParaRPr>
              </a:p>
            </p:txBody>
          </p:sp>
          <p:grpSp>
            <p:nvGrpSpPr>
              <p:cNvPr id="37930" name="Group 55"/>
              <p:cNvGrpSpPr/>
              <p:nvPr/>
            </p:nvGrpSpPr>
            <p:grpSpPr bwMode="auto">
              <a:xfrm>
                <a:off x="4150" y="3203"/>
                <a:ext cx="725" cy="858"/>
                <a:chOff x="4486" y="3203"/>
                <a:chExt cx="725" cy="858"/>
              </a:xfrm>
            </p:grpSpPr>
            <p:grpSp>
              <p:nvGrpSpPr>
                <p:cNvPr id="37931" name="Group 51"/>
                <p:cNvGrpSpPr/>
                <p:nvPr/>
              </p:nvGrpSpPr>
              <p:grpSpPr bwMode="auto">
                <a:xfrm>
                  <a:off x="4740" y="3203"/>
                  <a:ext cx="408" cy="590"/>
                  <a:chOff x="4740" y="3203"/>
                  <a:chExt cx="408" cy="590"/>
                </a:xfrm>
              </p:grpSpPr>
              <p:sp>
                <p:nvSpPr>
                  <p:cNvPr id="37934" name="Line 43"/>
                  <p:cNvSpPr>
                    <a:spLocks noChangeShapeType="1"/>
                  </p:cNvSpPr>
                  <p:nvPr/>
                </p:nvSpPr>
                <p:spPr bwMode="auto">
                  <a:xfrm>
                    <a:off x="4740" y="3203"/>
                    <a:ext cx="0" cy="58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35" name="Line 44"/>
                  <p:cNvSpPr>
                    <a:spLocks noChangeShapeType="1"/>
                  </p:cNvSpPr>
                  <p:nvPr/>
                </p:nvSpPr>
                <p:spPr bwMode="auto">
                  <a:xfrm>
                    <a:off x="4921" y="3203"/>
                    <a:ext cx="227" cy="59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36" name="Line 45"/>
                  <p:cNvSpPr>
                    <a:spLocks noChangeShapeType="1"/>
                  </p:cNvSpPr>
                  <p:nvPr/>
                </p:nvSpPr>
                <p:spPr bwMode="auto">
                  <a:xfrm flipH="1">
                    <a:off x="4740" y="3793"/>
                    <a:ext cx="40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37" name="Line 46"/>
                  <p:cNvSpPr>
                    <a:spLocks noChangeShapeType="1"/>
                  </p:cNvSpPr>
                  <p:nvPr/>
                </p:nvSpPr>
                <p:spPr bwMode="auto">
                  <a:xfrm flipH="1">
                    <a:off x="4740" y="3203"/>
                    <a:ext cx="181"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38" name="Line 47"/>
                  <p:cNvSpPr>
                    <a:spLocks noChangeShapeType="1"/>
                  </p:cNvSpPr>
                  <p:nvPr/>
                </p:nvSpPr>
                <p:spPr bwMode="auto">
                  <a:xfrm flipH="1">
                    <a:off x="4740" y="3385"/>
                    <a:ext cx="22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39" name="Line 48"/>
                  <p:cNvSpPr>
                    <a:spLocks noChangeShapeType="1"/>
                  </p:cNvSpPr>
                  <p:nvPr/>
                </p:nvSpPr>
                <p:spPr bwMode="auto">
                  <a:xfrm flipH="1">
                    <a:off x="4740" y="3580"/>
                    <a:ext cx="31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7932" name="Text Box 50"/>
                <p:cNvSpPr txBox="1">
                  <a:spLocks noChangeArrowheads="1"/>
                </p:cNvSpPr>
                <p:nvPr/>
              </p:nvSpPr>
              <p:spPr bwMode="auto">
                <a:xfrm>
                  <a:off x="4647" y="3849"/>
                  <a:ext cx="56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solidFill>
                        <a:schemeClr val="accent2"/>
                      </a:solidFill>
                    </a:rPr>
                    <a:t>35.1 kPa</a:t>
                  </a:r>
                  <a:endParaRPr lang="en-US" altLang="zh-CN" sz="1600">
                    <a:solidFill>
                      <a:schemeClr val="accent2"/>
                    </a:solidFill>
                  </a:endParaRPr>
                </a:p>
              </p:txBody>
            </p:sp>
            <p:sp>
              <p:nvSpPr>
                <p:cNvPr id="37933" name="Text Box 53"/>
                <p:cNvSpPr txBox="1">
                  <a:spLocks noChangeArrowheads="1"/>
                </p:cNvSpPr>
                <p:nvPr/>
              </p:nvSpPr>
              <p:spPr bwMode="auto">
                <a:xfrm>
                  <a:off x="4486" y="3400"/>
                  <a:ext cx="20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solidFill>
                        <a:schemeClr val="accent2"/>
                      </a:solidFill>
                    </a:rPr>
                    <a:t>H</a:t>
                  </a:r>
                  <a:endParaRPr lang="en-US" altLang="zh-CN" sz="1600">
                    <a:solidFill>
                      <a:schemeClr val="accent2"/>
                    </a:solidFill>
                  </a:endParaRPr>
                </a:p>
              </p:txBody>
            </p:sp>
          </p:grpSp>
        </p:grpSp>
        <p:sp>
          <p:nvSpPr>
            <p:cNvPr id="37908" name="Line 57"/>
            <p:cNvSpPr>
              <a:spLocks noChangeShapeType="1"/>
            </p:cNvSpPr>
            <p:nvPr/>
          </p:nvSpPr>
          <p:spPr bwMode="auto">
            <a:xfrm>
              <a:off x="4377" y="3203"/>
              <a:ext cx="0" cy="59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09" name="Line 58"/>
            <p:cNvSpPr>
              <a:spLocks noChangeShapeType="1"/>
            </p:cNvSpPr>
            <p:nvPr/>
          </p:nvSpPr>
          <p:spPr bwMode="auto">
            <a:xfrm flipH="1">
              <a:off x="4377" y="3203"/>
              <a:ext cx="181"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10" name="Line 59"/>
            <p:cNvSpPr>
              <a:spLocks noChangeShapeType="1"/>
            </p:cNvSpPr>
            <p:nvPr/>
          </p:nvSpPr>
          <p:spPr bwMode="auto">
            <a:xfrm>
              <a:off x="4558" y="3203"/>
              <a:ext cx="0" cy="59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11" name="Line 60"/>
            <p:cNvSpPr>
              <a:spLocks noChangeShapeType="1"/>
            </p:cNvSpPr>
            <p:nvPr/>
          </p:nvSpPr>
          <p:spPr bwMode="auto">
            <a:xfrm flipH="1">
              <a:off x="4377" y="3385"/>
              <a:ext cx="181"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12" name="Line 61"/>
            <p:cNvSpPr>
              <a:spLocks noChangeShapeType="1"/>
            </p:cNvSpPr>
            <p:nvPr/>
          </p:nvSpPr>
          <p:spPr bwMode="auto">
            <a:xfrm flipH="1">
              <a:off x="4377" y="3566"/>
              <a:ext cx="181"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13" name="Line 62"/>
            <p:cNvSpPr>
              <a:spLocks noChangeShapeType="1"/>
            </p:cNvSpPr>
            <p:nvPr/>
          </p:nvSpPr>
          <p:spPr bwMode="auto">
            <a:xfrm flipH="1">
              <a:off x="4377" y="3793"/>
              <a:ext cx="181"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14" name="Line 63"/>
            <p:cNvSpPr>
              <a:spLocks noChangeShapeType="1"/>
            </p:cNvSpPr>
            <p:nvPr/>
          </p:nvSpPr>
          <p:spPr bwMode="auto">
            <a:xfrm>
              <a:off x="4967" y="3203"/>
              <a:ext cx="0" cy="59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15" name="Line 64"/>
            <p:cNvSpPr>
              <a:spLocks noChangeShapeType="1"/>
            </p:cNvSpPr>
            <p:nvPr/>
          </p:nvSpPr>
          <p:spPr bwMode="auto">
            <a:xfrm flipH="1">
              <a:off x="4967" y="3793"/>
              <a:ext cx="363"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16" name="Line 65"/>
            <p:cNvSpPr>
              <a:spLocks noChangeShapeType="1"/>
            </p:cNvSpPr>
            <p:nvPr/>
          </p:nvSpPr>
          <p:spPr bwMode="auto">
            <a:xfrm>
              <a:off x="4967" y="3203"/>
              <a:ext cx="362" cy="59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17" name="Line 66"/>
            <p:cNvSpPr>
              <a:spLocks noChangeShapeType="1"/>
            </p:cNvSpPr>
            <p:nvPr/>
          </p:nvSpPr>
          <p:spPr bwMode="auto">
            <a:xfrm flipH="1">
              <a:off x="4967" y="3601"/>
              <a:ext cx="226"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18" name="Line 67"/>
            <p:cNvSpPr>
              <a:spLocks noChangeShapeType="1"/>
            </p:cNvSpPr>
            <p:nvPr/>
          </p:nvSpPr>
          <p:spPr bwMode="auto">
            <a:xfrm flipH="1">
              <a:off x="4960" y="3413"/>
              <a:ext cx="136"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19" name="Text Box 68"/>
            <p:cNvSpPr txBox="1">
              <a:spLocks noChangeArrowheads="1"/>
            </p:cNvSpPr>
            <p:nvPr/>
          </p:nvSpPr>
          <p:spPr bwMode="auto">
            <a:xfrm>
              <a:off x="3993" y="3261"/>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1"/>
                <a:t>=</a:t>
              </a:r>
              <a:endParaRPr lang="en-US" altLang="zh-CN" b="1"/>
            </a:p>
          </p:txBody>
        </p:sp>
        <p:sp>
          <p:nvSpPr>
            <p:cNvPr id="37920" name="Text Box 69"/>
            <p:cNvSpPr txBox="1">
              <a:spLocks noChangeArrowheads="1"/>
            </p:cNvSpPr>
            <p:nvPr/>
          </p:nvSpPr>
          <p:spPr bwMode="auto">
            <a:xfrm>
              <a:off x="4652" y="3263"/>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1"/>
                <a:t>+</a:t>
              </a:r>
              <a:endParaRPr lang="en-US" altLang="zh-CN" b="1"/>
            </a:p>
          </p:txBody>
        </p:sp>
        <p:sp>
          <p:nvSpPr>
            <p:cNvPr id="37921" name="Rectangle 70"/>
            <p:cNvSpPr>
              <a:spLocks noChangeArrowheads="1"/>
            </p:cNvSpPr>
            <p:nvPr/>
          </p:nvSpPr>
          <p:spPr bwMode="auto">
            <a:xfrm>
              <a:off x="4222" y="2961"/>
              <a:ext cx="5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solidFill>
                    <a:schemeClr val="accent2"/>
                  </a:solidFill>
                </a:rPr>
                <a:t>2.8 kPa</a:t>
              </a:r>
              <a:endParaRPr lang="zh-CN" altLang="en-US" sz="1800">
                <a:solidFill>
                  <a:schemeClr val="accent2"/>
                </a:solidFill>
              </a:endParaRPr>
            </a:p>
          </p:txBody>
        </p:sp>
        <p:sp>
          <p:nvSpPr>
            <p:cNvPr id="37922" name="Rectangle 71"/>
            <p:cNvSpPr>
              <a:spLocks noChangeArrowheads="1"/>
            </p:cNvSpPr>
            <p:nvPr/>
          </p:nvSpPr>
          <p:spPr bwMode="auto">
            <a:xfrm>
              <a:off x="4781" y="3903"/>
              <a:ext cx="944"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5000"/>
                </a:lnSpc>
              </a:pPr>
              <a:r>
                <a:rPr lang="en-US" altLang="zh-CN" sz="1800">
                  <a:solidFill>
                    <a:schemeClr val="accent2"/>
                  </a:solidFill>
                </a:rPr>
                <a:t>(35.1-2.8) kPa</a:t>
              </a:r>
              <a:endParaRPr lang="en-US" altLang="zh-CN" sz="1800">
                <a:solidFill>
                  <a:schemeClr val="accent2"/>
                </a:solidFill>
              </a:endParaRPr>
            </a:p>
            <a:p>
              <a:pPr algn="ctr" eaLnBrk="1" hangingPunct="1">
                <a:lnSpc>
                  <a:spcPct val="75000"/>
                </a:lnSpc>
              </a:pPr>
              <a:r>
                <a:rPr lang="en-US" altLang="zh-CN" sz="1800">
                  <a:solidFill>
                    <a:schemeClr val="accent2"/>
                  </a:solidFill>
                </a:rPr>
                <a:t>=32.3 kPa</a:t>
              </a:r>
              <a:endParaRPr lang="en-US" altLang="zh-CN" sz="1800">
                <a:solidFill>
                  <a:schemeClr val="accent2"/>
                </a:solidFill>
              </a:endParaRPr>
            </a:p>
          </p:txBody>
        </p:sp>
        <p:sp>
          <p:nvSpPr>
            <p:cNvPr id="37923" name="Line 72"/>
            <p:cNvSpPr>
              <a:spLocks noChangeShapeType="1"/>
            </p:cNvSpPr>
            <p:nvPr/>
          </p:nvSpPr>
          <p:spPr bwMode="auto">
            <a:xfrm flipH="1">
              <a:off x="4377" y="3475"/>
              <a:ext cx="272" cy="0"/>
            </a:xfrm>
            <a:prstGeom prst="line">
              <a:avLst/>
            </a:prstGeom>
            <a:noFill/>
            <a:ln w="476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24" name="Line 73"/>
            <p:cNvSpPr>
              <a:spLocks noChangeShapeType="1"/>
            </p:cNvSpPr>
            <p:nvPr/>
          </p:nvSpPr>
          <p:spPr bwMode="auto">
            <a:xfrm flipH="1" flipV="1">
              <a:off x="4967" y="3611"/>
              <a:ext cx="317" cy="1"/>
            </a:xfrm>
            <a:prstGeom prst="line">
              <a:avLst/>
            </a:prstGeom>
            <a:noFill/>
            <a:ln w="476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25" name="Line 74"/>
            <p:cNvSpPr>
              <a:spLocks noChangeShapeType="1"/>
            </p:cNvSpPr>
            <p:nvPr/>
          </p:nvSpPr>
          <p:spPr bwMode="auto">
            <a:xfrm flipH="1" flipV="1">
              <a:off x="3613" y="3535"/>
              <a:ext cx="431" cy="1"/>
            </a:xfrm>
            <a:prstGeom prst="line">
              <a:avLst/>
            </a:prstGeom>
            <a:noFill/>
            <a:ln w="476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26" name="Rectangle 75"/>
            <p:cNvSpPr>
              <a:spLocks noChangeArrowheads="1"/>
            </p:cNvSpPr>
            <p:nvPr/>
          </p:nvSpPr>
          <p:spPr bwMode="auto">
            <a:xfrm>
              <a:off x="3960" y="3521"/>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i="1">
                  <a:solidFill>
                    <a:schemeClr val="tx2"/>
                  </a:solidFill>
                </a:rPr>
                <a:t>E</a:t>
              </a:r>
              <a:r>
                <a:rPr lang="en-US" altLang="zh-CN" sz="1800" b="1" baseline="-25000">
                  <a:solidFill>
                    <a:schemeClr val="tx2"/>
                  </a:solidFill>
                </a:rPr>
                <a:t>a</a:t>
              </a:r>
              <a:endParaRPr lang="zh-CN" altLang="en-US" sz="1800" b="1" baseline="-25000">
                <a:solidFill>
                  <a:schemeClr val="tx2"/>
                </a:solidFill>
              </a:endParaRPr>
            </a:p>
          </p:txBody>
        </p:sp>
        <p:sp>
          <p:nvSpPr>
            <p:cNvPr id="37927" name="Rectangle 76"/>
            <p:cNvSpPr>
              <a:spLocks noChangeArrowheads="1"/>
            </p:cNvSpPr>
            <p:nvPr/>
          </p:nvSpPr>
          <p:spPr bwMode="auto">
            <a:xfrm>
              <a:off x="4515" y="3471"/>
              <a:ext cx="3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i="1">
                  <a:solidFill>
                    <a:schemeClr val="tx2"/>
                  </a:solidFill>
                </a:rPr>
                <a:t>E’</a:t>
              </a:r>
              <a:r>
                <a:rPr lang="en-US" altLang="zh-CN" sz="1800" b="1" baseline="-25000">
                  <a:solidFill>
                    <a:schemeClr val="tx2"/>
                  </a:solidFill>
                </a:rPr>
                <a:t>a</a:t>
              </a:r>
              <a:endParaRPr lang="zh-CN" altLang="en-US" sz="1800" b="1" baseline="-25000">
                <a:solidFill>
                  <a:schemeClr val="tx2"/>
                </a:solidFill>
              </a:endParaRPr>
            </a:p>
          </p:txBody>
        </p:sp>
        <p:sp>
          <p:nvSpPr>
            <p:cNvPr id="37928" name="Rectangle 77"/>
            <p:cNvSpPr>
              <a:spLocks noChangeArrowheads="1"/>
            </p:cNvSpPr>
            <p:nvPr/>
          </p:nvSpPr>
          <p:spPr bwMode="auto">
            <a:xfrm>
              <a:off x="5381" y="3521"/>
              <a:ext cx="3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i="1">
                  <a:solidFill>
                    <a:schemeClr val="tx2"/>
                  </a:solidFill>
                </a:rPr>
                <a:t>E’’</a:t>
              </a:r>
              <a:r>
                <a:rPr lang="en-US" altLang="zh-CN" sz="1800" b="1" baseline="-25000">
                  <a:solidFill>
                    <a:schemeClr val="tx2"/>
                  </a:solidFill>
                </a:rPr>
                <a:t>a</a:t>
              </a:r>
              <a:endParaRPr lang="zh-CN" altLang="en-US" sz="1800" b="1" baseline="-25000">
                <a:solidFill>
                  <a:schemeClr val="tx2"/>
                </a:solidFill>
              </a:endParaRPr>
            </a:p>
          </p:txBody>
        </p:sp>
      </p:grpSp>
      <p:sp>
        <p:nvSpPr>
          <p:cNvPr id="37902" name="Rectangle 78"/>
          <p:cNvSpPr>
            <a:spLocks noChangeArrowheads="1"/>
          </p:cNvSpPr>
          <p:nvPr/>
        </p:nvSpPr>
        <p:spPr bwMode="auto">
          <a:xfrm>
            <a:off x="115888" y="6156325"/>
            <a:ext cx="66833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solidFill>
                  <a:schemeClr val="accent2"/>
                </a:solidFill>
              </a:rPr>
              <a:t>Z=(</a:t>
            </a:r>
            <a:r>
              <a:rPr lang="en-US" altLang="zh-CN" sz="1800" i="1">
                <a:solidFill>
                  <a:schemeClr val="accent2"/>
                </a:solidFill>
              </a:rPr>
              <a:t>E</a:t>
            </a:r>
            <a:r>
              <a:rPr lang="en-US" altLang="zh-CN" sz="1800" baseline="-25000">
                <a:solidFill>
                  <a:schemeClr val="accent2"/>
                </a:solidFill>
              </a:rPr>
              <a:t>a</a:t>
            </a:r>
            <a:r>
              <a:rPr lang="en-US" altLang="zh-CN" sz="1800">
                <a:solidFill>
                  <a:schemeClr val="accent2"/>
                </a:solidFill>
              </a:rPr>
              <a:t>’*H/2+</a:t>
            </a:r>
            <a:r>
              <a:rPr lang="en-US" altLang="zh-CN" sz="1800" i="1">
                <a:solidFill>
                  <a:schemeClr val="accent2"/>
                </a:solidFill>
              </a:rPr>
              <a:t>E</a:t>
            </a:r>
            <a:r>
              <a:rPr lang="en-US" altLang="zh-CN" sz="1800" baseline="-25000">
                <a:solidFill>
                  <a:schemeClr val="accent2"/>
                </a:solidFill>
              </a:rPr>
              <a:t>a</a:t>
            </a:r>
            <a:r>
              <a:rPr lang="en-US" altLang="zh-CN" sz="1800">
                <a:solidFill>
                  <a:schemeClr val="accent2"/>
                </a:solidFill>
              </a:rPr>
              <a:t>”*H/3)/</a:t>
            </a:r>
            <a:r>
              <a:rPr lang="en-US" altLang="zh-CN" sz="1800" i="1">
                <a:solidFill>
                  <a:schemeClr val="accent2"/>
                </a:solidFill>
              </a:rPr>
              <a:t>E</a:t>
            </a:r>
            <a:r>
              <a:rPr lang="en-US" altLang="zh-CN" sz="1800" baseline="-25000">
                <a:solidFill>
                  <a:schemeClr val="accent2"/>
                </a:solidFill>
              </a:rPr>
              <a:t>a</a:t>
            </a:r>
            <a:r>
              <a:rPr lang="en-US" altLang="zh-CN" sz="1800">
                <a:solidFill>
                  <a:schemeClr val="accent2"/>
                </a:solidFill>
              </a:rPr>
              <a:t> =(2.8*H</a:t>
            </a:r>
            <a:r>
              <a:rPr lang="en-US" altLang="zh-CN" sz="1800" baseline="30000">
                <a:solidFill>
                  <a:schemeClr val="accent2"/>
                </a:solidFill>
              </a:rPr>
              <a:t>2</a:t>
            </a:r>
            <a:r>
              <a:rPr lang="en-US" altLang="zh-CN" sz="1800">
                <a:solidFill>
                  <a:schemeClr val="accent2"/>
                </a:solidFill>
              </a:rPr>
              <a:t>/2 +32.8*H/2*H/3)/113.7 = 2.15 m </a:t>
            </a:r>
            <a:endParaRPr lang="zh-CN" altLang="en-US" sz="1800">
              <a:solidFill>
                <a:schemeClr val="accent2"/>
              </a:solidFill>
            </a:endParaRPr>
          </a:p>
        </p:txBody>
      </p:sp>
      <p:sp>
        <p:nvSpPr>
          <p:cNvPr id="37903" name="AutoShape 80"/>
          <p:cNvSpPr/>
          <p:nvPr/>
        </p:nvSpPr>
        <p:spPr bwMode="auto">
          <a:xfrm>
            <a:off x="5724525" y="5445125"/>
            <a:ext cx="71438" cy="360363"/>
          </a:xfrm>
          <a:prstGeom prst="leftBrace">
            <a:avLst>
              <a:gd name="adj1" fmla="val 42037"/>
              <a:gd name="adj2" fmla="val 50000"/>
            </a:avLst>
          </a:prstGeom>
          <a:noFill/>
          <a:ln w="9525">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ja-JP" altLang="en-US"/>
          </a:p>
        </p:txBody>
      </p:sp>
      <p:sp>
        <p:nvSpPr>
          <p:cNvPr id="37904" name="Text Box 81"/>
          <p:cNvSpPr txBox="1">
            <a:spLocks noChangeArrowheads="1"/>
          </p:cNvSpPr>
          <p:nvPr/>
        </p:nvSpPr>
        <p:spPr bwMode="auto">
          <a:xfrm>
            <a:off x="5481638" y="5478463"/>
            <a:ext cx="2921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400">
                <a:solidFill>
                  <a:schemeClr val="accent2"/>
                </a:solidFill>
              </a:rPr>
              <a:t>Z</a:t>
            </a:r>
            <a:endParaRPr lang="en-US" altLang="zh-CN" sz="1400">
              <a:solidFill>
                <a:schemeClr val="accent2"/>
              </a:solidFill>
            </a:endParaRPr>
          </a:p>
        </p:txBody>
      </p:sp>
      <p:sp>
        <p:nvSpPr>
          <p:cNvPr id="37905" name="Text Box 36"/>
          <p:cNvSpPr txBox="1">
            <a:spLocks noChangeArrowheads="1"/>
          </p:cNvSpPr>
          <p:nvPr/>
        </p:nvSpPr>
        <p:spPr bwMode="auto">
          <a:xfrm>
            <a:off x="307975" y="3233738"/>
            <a:ext cx="6108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lang="zh-CN" altLang="en-US" sz="2000" b="1" dirty="0" smtClean="0">
                <a:solidFill>
                  <a:srgbClr val="C00000"/>
                </a:solidFill>
                <a:ea typeface="+mn-ea"/>
                <a:cs typeface="Times New Roman" panose="02020603050405020304" pitchFamily="18" charset="0"/>
              </a:rPr>
              <a:t>或不换算当量填土，直接将</a:t>
            </a:r>
            <a:r>
              <a:rPr lang="en-US" altLang="zh-CN" sz="2000" b="1" dirty="0" smtClean="0">
                <a:solidFill>
                  <a:srgbClr val="C00000"/>
                </a:solidFill>
                <a:ea typeface="+mn-ea"/>
                <a:cs typeface="Times New Roman" panose="02020603050405020304" pitchFamily="18" charset="0"/>
              </a:rPr>
              <a:t>q</a:t>
            </a:r>
            <a:r>
              <a:rPr lang="zh-CN" altLang="en-US" sz="2000" b="1" dirty="0" smtClean="0">
                <a:solidFill>
                  <a:srgbClr val="C00000"/>
                </a:solidFill>
                <a:ea typeface="+mn-ea"/>
                <a:cs typeface="Times New Roman" panose="02020603050405020304" pitchFamily="18" charset="0"/>
              </a:rPr>
              <a:t>作用，地表处</a:t>
            </a:r>
            <a:r>
              <a:rPr lang="zh-CN" altLang="en-US" sz="2000" b="1" dirty="0" smtClean="0">
                <a:solidFill>
                  <a:srgbClr val="C00000"/>
                </a:solidFill>
                <a:ea typeface="+mn-ea"/>
                <a:cs typeface="Times New Roman" panose="02020603050405020304" pitchFamily="18" charset="0"/>
                <a:sym typeface="Symbol" panose="05050102010706020507" pitchFamily="18" charset="2"/>
              </a:rPr>
              <a:t></a:t>
            </a:r>
            <a:r>
              <a:rPr lang="en-US" altLang="zh-CN" sz="2000" b="1" baseline="-25000" dirty="0" err="1" smtClean="0">
                <a:solidFill>
                  <a:srgbClr val="C00000"/>
                </a:solidFill>
                <a:ea typeface="+mn-ea"/>
                <a:cs typeface="Times New Roman" panose="02020603050405020304" pitchFamily="18" charset="0"/>
              </a:rPr>
              <a:t>aA</a:t>
            </a:r>
            <a:r>
              <a:rPr lang="en-US" altLang="zh-CN" sz="2000" b="1" dirty="0" smtClean="0">
                <a:solidFill>
                  <a:srgbClr val="C00000"/>
                </a:solidFill>
                <a:ea typeface="+mn-ea"/>
                <a:cs typeface="Times New Roman" panose="02020603050405020304" pitchFamily="18" charset="0"/>
              </a:rPr>
              <a:t> </a:t>
            </a:r>
            <a:r>
              <a:rPr lang="en-US" altLang="zh-CN" sz="2000" b="1" dirty="0" smtClean="0">
                <a:solidFill>
                  <a:srgbClr val="C00000"/>
                </a:solidFill>
                <a:ea typeface="+mn-ea"/>
                <a:cs typeface="Times New Roman" panose="02020603050405020304" pitchFamily="18" charset="0"/>
                <a:sym typeface="Symbol" panose="05050102010706020507" pitchFamily="18" charset="2"/>
              </a:rPr>
              <a:t>= </a:t>
            </a:r>
            <a:r>
              <a:rPr lang="en-US" altLang="zh-CN" sz="2000" b="1" i="1" dirty="0" err="1" smtClean="0">
                <a:solidFill>
                  <a:srgbClr val="C00000"/>
                </a:solidFill>
                <a:ea typeface="+mn-ea"/>
                <a:cs typeface="Times New Roman" panose="02020603050405020304" pitchFamily="18" charset="0"/>
                <a:sym typeface="Symbol" panose="05050102010706020507" pitchFamily="18" charset="2"/>
              </a:rPr>
              <a:t>qK</a:t>
            </a:r>
            <a:r>
              <a:rPr lang="en-US" altLang="zh-CN" sz="2000" b="1" i="1" baseline="-25000" dirty="0" err="1" smtClean="0">
                <a:solidFill>
                  <a:srgbClr val="C00000"/>
                </a:solidFill>
                <a:ea typeface="+mn-ea"/>
                <a:cs typeface="Times New Roman" panose="02020603050405020304" pitchFamily="18" charset="0"/>
                <a:sym typeface="Symbol" panose="05050102010706020507" pitchFamily="18" charset="2"/>
              </a:rPr>
              <a:t>a</a:t>
            </a:r>
            <a:r>
              <a:rPr lang="en-US" altLang="zh-CN" sz="2000" b="1" dirty="0" smtClean="0">
                <a:solidFill>
                  <a:srgbClr val="C00000"/>
                </a:solidFill>
                <a:ea typeface="+mn-ea"/>
                <a:cs typeface="Times New Roman" panose="02020603050405020304" pitchFamily="18" charset="0"/>
                <a:sym typeface="Symbol" panose="05050102010706020507" pitchFamily="18" charset="2"/>
              </a:rPr>
              <a:t> </a:t>
            </a:r>
            <a:endParaRPr lang="en-US" altLang="zh-CN" sz="2000" b="1" dirty="0" smtClean="0">
              <a:solidFill>
                <a:srgbClr val="C00000"/>
              </a:solidFill>
              <a:ea typeface="+mn-ea"/>
              <a:cs typeface="Times New Roman" panose="02020603050405020304" pitchFamily="18" charset="0"/>
            </a:endParaRPr>
          </a:p>
        </p:txBody>
      </p:sp>
      <p:sp>
        <p:nvSpPr>
          <p:cNvPr id="79" name="Rectangle 6"/>
          <p:cNvSpPr>
            <a:spLocks noChangeArrowheads="1"/>
          </p:cNvSpPr>
          <p:nvPr/>
        </p:nvSpPr>
        <p:spPr bwMode="auto">
          <a:xfrm>
            <a:off x="-3175" y="-9842"/>
            <a:ext cx="3617913"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朗肯土压力理论</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4" presetClass="entr" presetSubtype="0" fill="hold" grpId="0" nodeType="clickEffect">
                                  <p:stCondLst>
                                    <p:cond delay="0"/>
                                  </p:stCondLst>
                                  <p:childTnLst>
                                    <p:set>
                                      <p:cBhvr>
                                        <p:cTn id="6" dur="indefinite" fill="hold">
                                          <p:stCondLst>
                                            <p:cond delay="0"/>
                                          </p:stCondLst>
                                        </p:cTn>
                                        <p:tgtEl>
                                          <p:spTgt spid="37890">
                                            <p:txEl>
                                              <p:pRg st="0" end="0"/>
                                            </p:txEl>
                                          </p:spTgt>
                                        </p:tgtEl>
                                        <p:attrNameLst>
                                          <p:attrName>style.visibility</p:attrName>
                                        </p:attrNameLst>
                                      </p:cBhvr>
                                      <p:to>
                                        <p:strVal val="visible"/>
                                      </p:to>
                                    </p:set>
                                    <p:animEffect transition="in" filter="fade">
                                      <p:cBhvr>
                                        <p:cTn id="7" dur="500"/>
                                        <p:tgtEl>
                                          <p:spTgt spid="37890">
                                            <p:txEl>
                                              <p:pRg st="0" end="0"/>
                                            </p:txEl>
                                          </p:spTgt>
                                        </p:tgtEl>
                                      </p:cBhvr>
                                    </p:animEffect>
                                    <p:anim calcmode="lin" valueType="num">
                                      <p:cBhvr>
                                        <p:cTn id="8" dur="500" fill="hold"/>
                                        <p:tgtEl>
                                          <p:spTgt spid="37890">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37890">
                                            <p:txEl>
                                              <p:pRg st="0" end="0"/>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build="p"/>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コンテンツ プレースホルダ 2"/>
          <p:cNvSpPr>
            <a:spLocks noGrp="1" noChangeArrowheads="1"/>
          </p:cNvSpPr>
          <p:nvPr>
            <p:ph idx="4294967295"/>
          </p:nvPr>
        </p:nvSpPr>
        <p:spPr>
          <a:xfrm>
            <a:off x="71438" y="584200"/>
            <a:ext cx="8893175" cy="744538"/>
          </a:xfrm>
        </p:spPr>
        <p:txBody>
          <a:bodyPr/>
          <a:lstStyle/>
          <a:p>
            <a:pPr marL="0" indent="0">
              <a:spcBef>
                <a:spcPct val="0"/>
              </a:spcBef>
              <a:buFont typeface="Wingdings" panose="05000000000000000000" pitchFamily="2" charset="2"/>
              <a:buNone/>
            </a:pPr>
            <a:r>
              <a:rPr lang="en-US" altLang="zh-CN" sz="2000" b="1" smtClean="0">
                <a:solidFill>
                  <a:srgbClr val="C00000"/>
                </a:solidFill>
                <a:latin typeface="Times New Roman" panose="02020603050405020304" pitchFamily="18" charset="0"/>
                <a:cs typeface="Times New Roman" panose="02020603050405020304" pitchFamily="18" charset="0"/>
              </a:rPr>
              <a:t>【</a:t>
            </a:r>
            <a:r>
              <a:rPr lang="zh-CN" altLang="en-US" sz="2000" b="1" smtClean="0">
                <a:solidFill>
                  <a:srgbClr val="C00000"/>
                </a:solidFill>
                <a:latin typeface="Times New Roman" panose="02020603050405020304" pitchFamily="18" charset="0"/>
                <a:cs typeface="Times New Roman" panose="02020603050405020304" pitchFamily="18" charset="0"/>
              </a:rPr>
              <a:t>例</a:t>
            </a:r>
            <a:r>
              <a:rPr lang="en-US" altLang="zh-CN" sz="2000" b="1" smtClean="0">
                <a:solidFill>
                  <a:srgbClr val="C00000"/>
                </a:solidFill>
                <a:latin typeface="Times New Roman" panose="02020603050405020304" pitchFamily="18" charset="0"/>
                <a:cs typeface="Times New Roman" panose="02020603050405020304" pitchFamily="18" charset="0"/>
              </a:rPr>
              <a:t>8-3】</a:t>
            </a:r>
            <a:r>
              <a:rPr lang="zh-CN" altLang="en-US" sz="2000" b="1" smtClean="0">
                <a:latin typeface="Times New Roman" panose="02020603050405020304" pitchFamily="18" charset="0"/>
                <a:cs typeface="Times New Roman" panose="02020603050405020304" pitchFamily="18" charset="0"/>
              </a:rPr>
              <a:t>挡土墙高</a:t>
            </a:r>
            <a:r>
              <a:rPr lang="en-US" altLang="zh-CN" sz="2000" b="1" smtClean="0">
                <a:latin typeface="Times New Roman" panose="02020603050405020304" pitchFamily="18" charset="0"/>
                <a:cs typeface="Times New Roman" panose="02020603050405020304" pitchFamily="18" charset="0"/>
              </a:rPr>
              <a:t>5m</a:t>
            </a:r>
            <a:r>
              <a:rPr lang="zh-CN" altLang="en-US" sz="2000" b="1" smtClean="0">
                <a:latin typeface="Times New Roman" panose="02020603050405020304" pitchFamily="18" charset="0"/>
                <a:cs typeface="Times New Roman" panose="02020603050405020304" pitchFamily="18" charset="0"/>
              </a:rPr>
              <a:t>，</a:t>
            </a:r>
            <a:r>
              <a:rPr lang="zh-CN" altLang="en-US" sz="2000" b="1" smtClean="0">
                <a:latin typeface="Times New Roman" panose="02020603050405020304" pitchFamily="18" charset="0"/>
                <a:cs typeface="Times New Roman" panose="02020603050405020304" pitchFamily="18" charset="0"/>
                <a:sym typeface="Symbol" panose="05050102010706020507" pitchFamily="18" charset="2"/>
              </a:rPr>
              <a:t>墙背直立、光滑、填土面水平，分两层。各层土物理力学特性如图所示，求挡土墙的主动土压力</a:t>
            </a:r>
            <a:r>
              <a:rPr lang="en-US" altLang="zh-CN" sz="2000" b="1" i="1" smtClean="0">
                <a:latin typeface="Times New Roman" panose="02020603050405020304" pitchFamily="18" charset="0"/>
                <a:cs typeface="Times New Roman" panose="02020603050405020304" pitchFamily="18" charset="0"/>
                <a:sym typeface="Symbol" panose="05050102010706020507" pitchFamily="18" charset="2"/>
              </a:rPr>
              <a:t>E</a:t>
            </a:r>
            <a:r>
              <a:rPr lang="en-US" altLang="zh-CN" sz="2000" b="1" i="1" baseline="-25000" smtClean="0">
                <a:latin typeface="Times New Roman" panose="02020603050405020304" pitchFamily="18" charset="0"/>
                <a:cs typeface="Times New Roman" panose="02020603050405020304" pitchFamily="18" charset="0"/>
                <a:sym typeface="Symbol" panose="05050102010706020507" pitchFamily="18" charset="2"/>
              </a:rPr>
              <a:t>a</a:t>
            </a:r>
            <a:r>
              <a:rPr lang="zh-CN" altLang="en-US" sz="2000" b="1" smtClean="0">
                <a:latin typeface="Times New Roman" panose="02020603050405020304" pitchFamily="18" charset="0"/>
                <a:cs typeface="Times New Roman" panose="02020603050405020304" pitchFamily="18" charset="0"/>
                <a:sym typeface="Symbol" panose="05050102010706020507" pitchFamily="18" charset="2"/>
              </a:rPr>
              <a:t>，并绘制土压力分布图。</a:t>
            </a:r>
            <a:endParaRPr lang="zh-CN" altLang="en-US" sz="2000" b="1" smtClean="0">
              <a:latin typeface="Times New Roman" panose="02020603050405020304" pitchFamily="18" charset="0"/>
              <a:cs typeface="Times New Roman" panose="02020603050405020304" pitchFamily="18" charset="0"/>
              <a:sym typeface="Symbol" panose="05050102010706020507" pitchFamily="18" charset="2"/>
            </a:endParaRPr>
          </a:p>
        </p:txBody>
      </p:sp>
      <p:sp>
        <p:nvSpPr>
          <p:cNvPr id="38915" name="Text Box 32"/>
          <p:cNvSpPr txBox="1">
            <a:spLocks noChangeArrowheads="1"/>
          </p:cNvSpPr>
          <p:nvPr/>
        </p:nvSpPr>
        <p:spPr bwMode="auto">
          <a:xfrm>
            <a:off x="954088" y="1838325"/>
            <a:ext cx="3817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H</a:t>
            </a:r>
            <a:r>
              <a:rPr lang="en-US" altLang="zh-CN" sz="2000" baseline="-25000"/>
              <a:t>1</a:t>
            </a:r>
            <a:r>
              <a:rPr lang="en-US" altLang="zh-CN" sz="2000"/>
              <a:t>’= </a:t>
            </a:r>
            <a:r>
              <a:rPr lang="zh-CN" altLang="en-US" i="1">
                <a:sym typeface="Symbol" panose="05050102010706020507" pitchFamily="18" charset="2"/>
              </a:rPr>
              <a:t></a:t>
            </a:r>
            <a:r>
              <a:rPr lang="en-US" altLang="zh-CN" baseline="-25000">
                <a:sym typeface="Symbol" panose="05050102010706020507" pitchFamily="18" charset="2"/>
              </a:rPr>
              <a:t>1</a:t>
            </a:r>
            <a:r>
              <a:rPr lang="en-US" altLang="zh-CN">
                <a:sym typeface="Symbol" panose="05050102010706020507" pitchFamily="18" charset="2"/>
              </a:rPr>
              <a:t>*H</a:t>
            </a:r>
            <a:r>
              <a:rPr lang="en-US" altLang="zh-CN" baseline="-25000">
                <a:sym typeface="Symbol" panose="05050102010706020507" pitchFamily="18" charset="2"/>
              </a:rPr>
              <a:t>1</a:t>
            </a:r>
            <a:r>
              <a:rPr lang="en-US" altLang="zh-CN" sz="2000"/>
              <a:t>/</a:t>
            </a:r>
            <a:r>
              <a:rPr lang="zh-CN" altLang="en-US" sz="2000" i="1">
                <a:sym typeface="Symbol" panose="05050102010706020507" pitchFamily="18" charset="2"/>
              </a:rPr>
              <a:t></a:t>
            </a:r>
            <a:r>
              <a:rPr lang="en-US" altLang="zh-CN" sz="2000" baseline="-25000">
                <a:sym typeface="Symbol" panose="05050102010706020507" pitchFamily="18" charset="2"/>
              </a:rPr>
              <a:t>2</a:t>
            </a:r>
            <a:r>
              <a:rPr lang="en-US" altLang="zh-CN" sz="2000">
                <a:sym typeface="Symbol" panose="05050102010706020507" pitchFamily="18" charset="2"/>
              </a:rPr>
              <a:t> = 17*2/19=1.79 (m)</a:t>
            </a:r>
            <a:endParaRPr lang="en-US" altLang="zh-CN" sz="2000">
              <a:sym typeface="Symbol" panose="05050102010706020507" pitchFamily="18" charset="2"/>
            </a:endParaRPr>
          </a:p>
        </p:txBody>
      </p:sp>
      <p:sp>
        <p:nvSpPr>
          <p:cNvPr id="38916" name="Text Box 33"/>
          <p:cNvSpPr txBox="1">
            <a:spLocks noChangeArrowheads="1"/>
          </p:cNvSpPr>
          <p:nvPr/>
        </p:nvSpPr>
        <p:spPr bwMode="auto">
          <a:xfrm>
            <a:off x="150813" y="1257300"/>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en-US" altLang="zh-CN" sz="2000" b="1" dirty="0" smtClean="0">
                <a:solidFill>
                  <a:srgbClr val="C00000"/>
                </a:solidFill>
                <a:latin typeface="+mn-ea"/>
                <a:ea typeface="+mn-ea"/>
              </a:rPr>
              <a:t>【</a:t>
            </a:r>
            <a:r>
              <a:rPr lang="zh-CN" altLang="en-US" sz="2000" b="1" dirty="0" smtClean="0">
                <a:solidFill>
                  <a:srgbClr val="C00000"/>
                </a:solidFill>
                <a:latin typeface="+mn-ea"/>
                <a:ea typeface="+mn-ea"/>
              </a:rPr>
              <a:t>解</a:t>
            </a:r>
            <a:r>
              <a:rPr lang="en-US" altLang="zh-CN" sz="2000" b="1" dirty="0" smtClean="0">
                <a:solidFill>
                  <a:srgbClr val="C00000"/>
                </a:solidFill>
                <a:latin typeface="+mn-ea"/>
                <a:ea typeface="+mn-ea"/>
              </a:rPr>
              <a:t>】</a:t>
            </a:r>
            <a:r>
              <a:rPr lang="zh-CN" altLang="en-US" sz="2000" b="1" dirty="0" smtClean="0">
                <a:solidFill>
                  <a:srgbClr val="C00000"/>
                </a:solidFill>
                <a:latin typeface="+mn-ea"/>
                <a:ea typeface="+mn-ea"/>
              </a:rPr>
              <a:t>：</a:t>
            </a:r>
            <a:endParaRPr lang="zh-CN" altLang="en-US" sz="2000" b="1" dirty="0" smtClean="0">
              <a:solidFill>
                <a:srgbClr val="C00000"/>
              </a:solidFill>
              <a:latin typeface="+mn-ea"/>
              <a:ea typeface="+mn-ea"/>
            </a:endParaRPr>
          </a:p>
        </p:txBody>
      </p:sp>
      <p:sp>
        <p:nvSpPr>
          <p:cNvPr id="38917" name="Text Box 34"/>
          <p:cNvSpPr txBox="1">
            <a:spLocks noChangeArrowheads="1"/>
          </p:cNvSpPr>
          <p:nvPr/>
        </p:nvSpPr>
        <p:spPr bwMode="auto">
          <a:xfrm>
            <a:off x="1111250" y="1406525"/>
            <a:ext cx="73215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en-US" altLang="zh-CN" sz="2000" b="1" dirty="0" smtClean="0">
                <a:ea typeface="+mn-ea"/>
                <a:cs typeface="Times New Roman" panose="02020603050405020304" pitchFamily="18" charset="0"/>
              </a:rPr>
              <a:t>①</a:t>
            </a:r>
            <a:r>
              <a:rPr lang="zh-CN" altLang="en-US" sz="2000" b="1" dirty="0" smtClean="0">
                <a:ea typeface="+mn-ea"/>
                <a:cs typeface="Times New Roman" panose="02020603050405020304" pitchFamily="18" charset="0"/>
              </a:rPr>
              <a:t>由于分两层，将土层</a:t>
            </a:r>
            <a:r>
              <a:rPr lang="en-US" altLang="zh-CN" sz="2000" b="1" dirty="0" smtClean="0">
                <a:ea typeface="+mn-ea"/>
                <a:cs typeface="Times New Roman" panose="02020603050405020304" pitchFamily="18" charset="0"/>
                <a:sym typeface="Symbol" panose="05050102010706020507" pitchFamily="18" charset="2"/>
              </a:rPr>
              <a:t>1</a:t>
            </a:r>
            <a:r>
              <a:rPr lang="zh-CN" altLang="en-US" sz="2000" b="1" dirty="0" smtClean="0">
                <a:ea typeface="+mn-ea"/>
                <a:cs typeface="Times New Roman" panose="02020603050405020304" pitchFamily="18" charset="0"/>
              </a:rPr>
              <a:t>换算为与土层</a:t>
            </a:r>
            <a:r>
              <a:rPr lang="en-US" altLang="zh-CN" sz="2000" b="1" dirty="0" smtClean="0">
                <a:ea typeface="+mn-ea"/>
                <a:cs typeface="Times New Roman" panose="02020603050405020304" pitchFamily="18" charset="0"/>
              </a:rPr>
              <a:t>2</a:t>
            </a:r>
            <a:r>
              <a:rPr lang="zh-CN" altLang="en-US" sz="2000" b="1" dirty="0" smtClean="0">
                <a:ea typeface="+mn-ea"/>
                <a:cs typeface="Times New Roman" panose="02020603050405020304" pitchFamily="18" charset="0"/>
              </a:rPr>
              <a:t>的重度相等当量高度</a:t>
            </a:r>
            <a:r>
              <a:rPr lang="en-US" altLang="zh-CN" sz="2000" b="1" dirty="0" smtClean="0">
                <a:ea typeface="+mn-ea"/>
                <a:cs typeface="Times New Roman" panose="02020603050405020304" pitchFamily="18" charset="0"/>
              </a:rPr>
              <a:t>H</a:t>
            </a:r>
            <a:r>
              <a:rPr lang="en-US" altLang="zh-CN" sz="2000" b="1" baseline="-25000" dirty="0" smtClean="0">
                <a:ea typeface="+mn-ea"/>
                <a:cs typeface="Times New Roman" panose="02020603050405020304" pitchFamily="18" charset="0"/>
              </a:rPr>
              <a:t>1</a:t>
            </a:r>
            <a:r>
              <a:rPr lang="en-US" altLang="zh-CN" sz="2000" b="1" dirty="0" smtClean="0">
                <a:ea typeface="+mn-ea"/>
                <a:cs typeface="Times New Roman" panose="02020603050405020304" pitchFamily="18" charset="0"/>
              </a:rPr>
              <a:t>’</a:t>
            </a:r>
            <a:endParaRPr lang="en-US" altLang="zh-CN" sz="2000" b="1" dirty="0" smtClean="0">
              <a:ea typeface="+mn-ea"/>
              <a:cs typeface="Times New Roman" panose="02020603050405020304" pitchFamily="18" charset="0"/>
            </a:endParaRPr>
          </a:p>
        </p:txBody>
      </p:sp>
      <p:sp>
        <p:nvSpPr>
          <p:cNvPr id="38918" name="Text Box 37"/>
          <p:cNvSpPr txBox="1">
            <a:spLocks noChangeArrowheads="1"/>
          </p:cNvSpPr>
          <p:nvPr/>
        </p:nvSpPr>
        <p:spPr bwMode="auto">
          <a:xfrm>
            <a:off x="204788" y="3794125"/>
            <a:ext cx="68040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lang="en-US" altLang="zh-CN" sz="2000" b="1" dirty="0" smtClean="0">
                <a:ea typeface="+mn-ea"/>
                <a:cs typeface="Times New Roman" panose="02020603050405020304" pitchFamily="18" charset="0"/>
              </a:rPr>
              <a:t>④</a:t>
            </a:r>
            <a:r>
              <a:rPr lang="zh-CN" altLang="en-US" sz="2000" b="1" dirty="0" smtClean="0">
                <a:ea typeface="+mn-ea"/>
                <a:cs typeface="Times New Roman" panose="02020603050405020304" pitchFamily="18" charset="0"/>
              </a:rPr>
              <a:t>计算土层</a:t>
            </a:r>
            <a:r>
              <a:rPr lang="en-US" altLang="zh-CN" sz="2000" b="1" dirty="0" smtClean="0">
                <a:ea typeface="+mn-ea"/>
                <a:cs typeface="Times New Roman" panose="02020603050405020304" pitchFamily="18" charset="0"/>
                <a:sym typeface="Symbol" panose="05050102010706020507" pitchFamily="18" charset="2"/>
              </a:rPr>
              <a:t>2</a:t>
            </a:r>
            <a:r>
              <a:rPr lang="zh-CN" altLang="en-US" sz="2000" b="1" dirty="0" smtClean="0">
                <a:ea typeface="+mn-ea"/>
                <a:cs typeface="Times New Roman" panose="02020603050405020304" pitchFamily="18" charset="0"/>
                <a:sym typeface="Symbol" panose="05050102010706020507" pitchFamily="18" charset="2"/>
              </a:rPr>
              <a:t>顶面处土压力强度</a:t>
            </a:r>
            <a:r>
              <a:rPr lang="zh-CN" altLang="en-US" sz="2000" b="1" dirty="0" smtClean="0">
                <a:solidFill>
                  <a:srgbClr val="3333FF"/>
                </a:solidFill>
                <a:ea typeface="+mn-ea"/>
                <a:cs typeface="Times New Roman" panose="02020603050405020304" pitchFamily="18" charset="0"/>
                <a:sym typeface="Symbol" panose="05050102010706020507" pitchFamily="18" charset="2"/>
              </a:rPr>
              <a:t></a:t>
            </a:r>
            <a:r>
              <a:rPr lang="en-US" altLang="zh-CN" sz="2000" b="1" baseline="-25000" dirty="0" smtClean="0">
                <a:solidFill>
                  <a:srgbClr val="3333FF"/>
                </a:solidFill>
                <a:ea typeface="+mn-ea"/>
                <a:cs typeface="Times New Roman" panose="02020603050405020304" pitchFamily="18" charset="0"/>
              </a:rPr>
              <a:t>a2(A)</a:t>
            </a:r>
            <a:r>
              <a:rPr lang="en-US" altLang="zh-CN" sz="2000" b="1" dirty="0" smtClean="0">
                <a:solidFill>
                  <a:srgbClr val="3333FF"/>
                </a:solidFill>
                <a:ea typeface="+mn-ea"/>
                <a:cs typeface="Times New Roman" panose="02020603050405020304" pitchFamily="18" charset="0"/>
              </a:rPr>
              <a:t> =H</a:t>
            </a:r>
            <a:r>
              <a:rPr lang="en-US" altLang="zh-CN" sz="2000" b="1" baseline="-25000" dirty="0" smtClean="0">
                <a:solidFill>
                  <a:srgbClr val="3333FF"/>
                </a:solidFill>
                <a:ea typeface="+mn-ea"/>
                <a:cs typeface="Times New Roman" panose="02020603050405020304" pitchFamily="18" charset="0"/>
              </a:rPr>
              <a:t>1</a:t>
            </a:r>
            <a:r>
              <a:rPr lang="en-US" altLang="zh-CN" sz="2000" b="1" dirty="0" smtClean="0">
                <a:solidFill>
                  <a:srgbClr val="3333FF"/>
                </a:solidFill>
                <a:ea typeface="+mn-ea"/>
                <a:cs typeface="Times New Roman" panose="02020603050405020304" pitchFamily="18" charset="0"/>
              </a:rPr>
              <a:t>’ </a:t>
            </a:r>
            <a:r>
              <a:rPr lang="zh-CN" altLang="en-US" sz="2000" b="1" i="1" dirty="0" smtClean="0">
                <a:solidFill>
                  <a:srgbClr val="3333FF"/>
                </a:solidFill>
                <a:ea typeface="+mn-ea"/>
                <a:cs typeface="Times New Roman" panose="02020603050405020304" pitchFamily="18" charset="0"/>
                <a:sym typeface="Symbol" panose="05050102010706020507" pitchFamily="18" charset="2"/>
              </a:rPr>
              <a:t></a:t>
            </a:r>
            <a:r>
              <a:rPr lang="en-US" altLang="zh-CN" sz="2000" b="1" baseline="-25000" dirty="0" smtClean="0">
                <a:solidFill>
                  <a:srgbClr val="3333FF"/>
                </a:solidFill>
                <a:ea typeface="+mn-ea"/>
                <a:cs typeface="Times New Roman" panose="02020603050405020304" pitchFamily="18" charset="0"/>
                <a:sym typeface="Symbol" panose="05050102010706020507" pitchFamily="18" charset="2"/>
              </a:rPr>
              <a:t>2</a:t>
            </a:r>
            <a:r>
              <a:rPr lang="en-US" altLang="zh-CN" sz="2000" b="1" dirty="0" smtClean="0">
                <a:solidFill>
                  <a:srgbClr val="3333FF"/>
                </a:solidFill>
                <a:ea typeface="+mn-ea"/>
                <a:cs typeface="Times New Roman" panose="02020603050405020304" pitchFamily="18" charset="0"/>
                <a:sym typeface="Symbol" panose="05050102010706020507" pitchFamily="18" charset="2"/>
              </a:rPr>
              <a:t> </a:t>
            </a:r>
            <a:r>
              <a:rPr lang="en-US" altLang="zh-CN" sz="2000" b="1" i="1" dirty="0" smtClean="0">
                <a:solidFill>
                  <a:srgbClr val="3333FF"/>
                </a:solidFill>
                <a:ea typeface="+mn-ea"/>
                <a:cs typeface="Times New Roman" panose="02020603050405020304" pitchFamily="18" charset="0"/>
                <a:sym typeface="Symbol" panose="05050102010706020507" pitchFamily="18" charset="2"/>
              </a:rPr>
              <a:t>K</a:t>
            </a:r>
            <a:r>
              <a:rPr lang="en-US" altLang="zh-CN" sz="2000" b="1" baseline="-25000" dirty="0" smtClean="0">
                <a:solidFill>
                  <a:srgbClr val="3333FF"/>
                </a:solidFill>
                <a:ea typeface="+mn-ea"/>
                <a:cs typeface="Times New Roman" panose="02020603050405020304" pitchFamily="18" charset="0"/>
                <a:sym typeface="Symbol" panose="05050102010706020507" pitchFamily="18" charset="2"/>
              </a:rPr>
              <a:t>a2</a:t>
            </a:r>
            <a:r>
              <a:rPr lang="en-US" altLang="zh-CN" sz="2000" b="1" i="1" dirty="0" smtClean="0">
                <a:solidFill>
                  <a:srgbClr val="3333FF"/>
                </a:solidFill>
                <a:ea typeface="+mn-ea"/>
                <a:cs typeface="Times New Roman" panose="02020603050405020304" pitchFamily="18" charset="0"/>
                <a:sym typeface="Symbol" panose="05050102010706020507" pitchFamily="18" charset="2"/>
              </a:rPr>
              <a:t>-</a:t>
            </a:r>
            <a:r>
              <a:rPr lang="en-US" altLang="zh-CN" sz="2000" b="1" dirty="0" smtClean="0">
                <a:solidFill>
                  <a:srgbClr val="3333FF"/>
                </a:solidFill>
                <a:ea typeface="+mn-ea"/>
                <a:cs typeface="Times New Roman" panose="02020603050405020304" pitchFamily="18" charset="0"/>
                <a:sym typeface="Symbol" panose="05050102010706020507" pitchFamily="18" charset="2"/>
              </a:rPr>
              <a:t>2</a:t>
            </a:r>
            <a:r>
              <a:rPr lang="en-US" altLang="zh-CN" sz="2000" b="1" i="1" dirty="0" smtClean="0">
                <a:solidFill>
                  <a:srgbClr val="3333FF"/>
                </a:solidFill>
                <a:ea typeface="+mn-ea"/>
                <a:cs typeface="Times New Roman" panose="02020603050405020304" pitchFamily="18" charset="0"/>
                <a:sym typeface="Symbol" panose="05050102010706020507" pitchFamily="18" charset="2"/>
              </a:rPr>
              <a:t>c</a:t>
            </a:r>
            <a:r>
              <a:rPr lang="en-US" altLang="zh-CN" sz="2000" b="1" baseline="-25000" dirty="0" smtClean="0">
                <a:solidFill>
                  <a:srgbClr val="3333FF"/>
                </a:solidFill>
                <a:ea typeface="+mn-ea"/>
                <a:cs typeface="Times New Roman" panose="02020603050405020304" pitchFamily="18" charset="0"/>
                <a:sym typeface="Symbol" panose="05050102010706020507" pitchFamily="18" charset="2"/>
              </a:rPr>
              <a:t>2</a:t>
            </a:r>
            <a:r>
              <a:rPr lang="en-US" altLang="zh-CN" sz="2000" b="1" i="1" dirty="0" smtClean="0">
                <a:solidFill>
                  <a:srgbClr val="3333FF"/>
                </a:solidFill>
                <a:ea typeface="+mn-ea"/>
                <a:cs typeface="Times New Roman" panose="02020603050405020304" pitchFamily="18" charset="0"/>
                <a:sym typeface="Symbol" panose="05050102010706020507" pitchFamily="18" charset="2"/>
              </a:rPr>
              <a:t>(K</a:t>
            </a:r>
            <a:r>
              <a:rPr lang="en-US" altLang="zh-CN" sz="2000" b="1" i="1" baseline="-25000" dirty="0" smtClean="0">
                <a:solidFill>
                  <a:srgbClr val="3333FF"/>
                </a:solidFill>
                <a:ea typeface="+mn-ea"/>
                <a:cs typeface="Times New Roman" panose="02020603050405020304" pitchFamily="18" charset="0"/>
                <a:sym typeface="Symbol" panose="05050102010706020507" pitchFamily="18" charset="2"/>
              </a:rPr>
              <a:t>a</a:t>
            </a:r>
            <a:r>
              <a:rPr lang="en-US" altLang="zh-CN" sz="2000" b="1" baseline="-25000" dirty="0" smtClean="0">
                <a:solidFill>
                  <a:srgbClr val="3333FF"/>
                </a:solidFill>
                <a:ea typeface="+mn-ea"/>
                <a:cs typeface="Times New Roman" panose="02020603050405020304" pitchFamily="18" charset="0"/>
                <a:sym typeface="Symbol" panose="05050102010706020507" pitchFamily="18" charset="2"/>
              </a:rPr>
              <a:t>2</a:t>
            </a:r>
            <a:r>
              <a:rPr lang="en-US" altLang="zh-CN" sz="2000" b="1" i="1" dirty="0" smtClean="0">
                <a:solidFill>
                  <a:srgbClr val="3333FF"/>
                </a:solidFill>
                <a:ea typeface="+mn-ea"/>
                <a:cs typeface="Times New Roman" panose="02020603050405020304" pitchFamily="18" charset="0"/>
                <a:sym typeface="Symbol" panose="05050102010706020507" pitchFamily="18" charset="2"/>
              </a:rPr>
              <a:t>)</a:t>
            </a:r>
            <a:r>
              <a:rPr lang="en-US" altLang="zh-CN" sz="2000" b="1" baseline="30000" dirty="0" smtClean="0">
                <a:solidFill>
                  <a:srgbClr val="3333FF"/>
                </a:solidFill>
                <a:ea typeface="+mn-ea"/>
                <a:cs typeface="Times New Roman" panose="02020603050405020304" pitchFamily="18" charset="0"/>
                <a:sym typeface="Symbol" panose="05050102010706020507" pitchFamily="18" charset="2"/>
              </a:rPr>
              <a:t>0.5</a:t>
            </a:r>
            <a:r>
              <a:rPr lang="en-US" altLang="zh-CN" sz="2000" b="1" baseline="30000" dirty="0" smtClean="0">
                <a:ea typeface="+mn-ea"/>
                <a:cs typeface="Times New Roman" panose="02020603050405020304" pitchFamily="18" charset="0"/>
                <a:sym typeface="Symbol" panose="05050102010706020507" pitchFamily="18" charset="2"/>
              </a:rPr>
              <a:t> </a:t>
            </a:r>
            <a:r>
              <a:rPr lang="en-US" altLang="zh-CN" sz="2000" b="1" dirty="0" smtClean="0">
                <a:ea typeface="+mn-ea"/>
                <a:cs typeface="Times New Roman" panose="02020603050405020304" pitchFamily="18" charset="0"/>
                <a:sym typeface="Symbol" panose="05050102010706020507" pitchFamily="18" charset="2"/>
              </a:rPr>
              <a:t>=1.79*19*tan</a:t>
            </a:r>
            <a:r>
              <a:rPr lang="en-US" altLang="zh-CN" sz="2000" b="1" baseline="30000" dirty="0" smtClean="0">
                <a:ea typeface="+mn-ea"/>
                <a:cs typeface="Times New Roman" panose="02020603050405020304" pitchFamily="18" charset="0"/>
                <a:sym typeface="Symbol" panose="05050102010706020507" pitchFamily="18" charset="2"/>
              </a:rPr>
              <a:t>2</a:t>
            </a:r>
            <a:r>
              <a:rPr lang="en-US" altLang="zh-CN" sz="2000" b="1" dirty="0" smtClean="0">
                <a:ea typeface="+mn-ea"/>
                <a:cs typeface="Times New Roman" panose="02020603050405020304" pitchFamily="18" charset="0"/>
                <a:sym typeface="Symbol" panose="05050102010706020507" pitchFamily="18" charset="2"/>
              </a:rPr>
              <a:t>(45 -16/2)-2*10*tan(45 -16/2)</a:t>
            </a:r>
            <a:r>
              <a:rPr lang="en-US" altLang="zh-CN" sz="2000" b="1" baseline="30000" dirty="0" smtClean="0">
                <a:ea typeface="+mn-ea"/>
                <a:cs typeface="Times New Roman" panose="02020603050405020304" pitchFamily="18" charset="0"/>
                <a:sym typeface="Symbol" panose="05050102010706020507" pitchFamily="18" charset="2"/>
              </a:rPr>
              <a:t> </a:t>
            </a:r>
            <a:r>
              <a:rPr lang="en-US" altLang="zh-CN" sz="2000" b="1" dirty="0" smtClean="0">
                <a:ea typeface="+mn-ea"/>
                <a:cs typeface="Times New Roman" panose="02020603050405020304" pitchFamily="18" charset="0"/>
                <a:sym typeface="Symbol" panose="05050102010706020507" pitchFamily="18" charset="2"/>
              </a:rPr>
              <a:t>=4.2 (</a:t>
            </a:r>
            <a:r>
              <a:rPr lang="en-US" altLang="zh-CN" sz="2000" b="1" dirty="0" err="1" smtClean="0">
                <a:ea typeface="+mn-ea"/>
                <a:cs typeface="Times New Roman" panose="02020603050405020304" pitchFamily="18" charset="0"/>
                <a:sym typeface="Symbol" panose="05050102010706020507" pitchFamily="18" charset="2"/>
              </a:rPr>
              <a:t>kPa</a:t>
            </a:r>
            <a:r>
              <a:rPr lang="en-US" altLang="zh-CN" sz="2000" b="1" dirty="0" smtClean="0">
                <a:ea typeface="+mn-ea"/>
                <a:cs typeface="Times New Roman" panose="02020603050405020304" pitchFamily="18" charset="0"/>
                <a:sym typeface="Symbol" panose="05050102010706020507" pitchFamily="18" charset="2"/>
              </a:rPr>
              <a:t>)</a:t>
            </a:r>
            <a:endParaRPr lang="en-US" altLang="zh-CN" sz="2000" b="1" dirty="0" smtClean="0">
              <a:ea typeface="+mn-ea"/>
              <a:cs typeface="Times New Roman" panose="02020603050405020304" pitchFamily="18" charset="0"/>
              <a:sym typeface="Symbol" panose="05050102010706020507" pitchFamily="18" charset="2"/>
            </a:endParaRPr>
          </a:p>
        </p:txBody>
      </p:sp>
      <p:sp>
        <p:nvSpPr>
          <p:cNvPr id="38919" name="Text Box 38"/>
          <p:cNvSpPr txBox="1">
            <a:spLocks noChangeArrowheads="1"/>
          </p:cNvSpPr>
          <p:nvPr/>
        </p:nvSpPr>
        <p:spPr bwMode="auto">
          <a:xfrm>
            <a:off x="150813" y="4600575"/>
            <a:ext cx="73088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lang="en-US" altLang="zh-CN" sz="2000" b="1" dirty="0" smtClean="0">
                <a:ea typeface="+mn-ea"/>
                <a:cs typeface="Times New Roman" panose="02020603050405020304" pitchFamily="18" charset="0"/>
              </a:rPr>
              <a:t>⑤</a:t>
            </a:r>
            <a:r>
              <a:rPr lang="zh-CN" altLang="en-US" sz="2000" b="1" dirty="0" smtClean="0">
                <a:ea typeface="+mn-ea"/>
                <a:cs typeface="Times New Roman" panose="02020603050405020304" pitchFamily="18" charset="0"/>
              </a:rPr>
              <a:t>计算土层</a:t>
            </a:r>
            <a:r>
              <a:rPr lang="en-US" altLang="zh-CN" sz="2000" b="1" dirty="0" smtClean="0">
                <a:ea typeface="+mn-ea"/>
                <a:cs typeface="Times New Roman" panose="02020603050405020304" pitchFamily="18" charset="0"/>
                <a:sym typeface="Symbol" panose="05050102010706020507" pitchFamily="18" charset="2"/>
              </a:rPr>
              <a:t>2</a:t>
            </a:r>
            <a:r>
              <a:rPr lang="zh-CN" altLang="en-US" sz="2000" b="1" dirty="0" smtClean="0">
                <a:ea typeface="+mn-ea"/>
                <a:cs typeface="Times New Roman" panose="02020603050405020304" pitchFamily="18" charset="0"/>
                <a:sym typeface="Symbol" panose="05050102010706020507" pitchFamily="18" charset="2"/>
              </a:rPr>
              <a:t>底面处土压力强度</a:t>
            </a:r>
            <a:r>
              <a:rPr lang="zh-CN" altLang="en-US" sz="2000" b="1" dirty="0" smtClean="0">
                <a:solidFill>
                  <a:srgbClr val="3333FF"/>
                </a:solidFill>
                <a:ea typeface="+mn-ea"/>
                <a:cs typeface="Times New Roman" panose="02020603050405020304" pitchFamily="18" charset="0"/>
                <a:sym typeface="Symbol" panose="05050102010706020507" pitchFamily="18" charset="2"/>
              </a:rPr>
              <a:t></a:t>
            </a:r>
            <a:r>
              <a:rPr lang="en-US" altLang="zh-CN" sz="2000" b="1" baseline="-25000" dirty="0" smtClean="0">
                <a:solidFill>
                  <a:srgbClr val="3333FF"/>
                </a:solidFill>
                <a:ea typeface="+mn-ea"/>
                <a:cs typeface="Times New Roman" panose="02020603050405020304" pitchFamily="18" charset="0"/>
              </a:rPr>
              <a:t>a2(B)</a:t>
            </a:r>
            <a:r>
              <a:rPr lang="en-US" altLang="zh-CN" sz="2000" b="1" dirty="0" smtClean="0">
                <a:solidFill>
                  <a:srgbClr val="3333FF"/>
                </a:solidFill>
                <a:ea typeface="+mn-ea"/>
                <a:cs typeface="Times New Roman" panose="02020603050405020304" pitchFamily="18" charset="0"/>
              </a:rPr>
              <a:t> =(H</a:t>
            </a:r>
            <a:r>
              <a:rPr lang="en-US" altLang="zh-CN" sz="2000" b="1" baseline="-25000" dirty="0" smtClean="0">
                <a:solidFill>
                  <a:srgbClr val="3333FF"/>
                </a:solidFill>
                <a:ea typeface="+mn-ea"/>
                <a:cs typeface="Times New Roman" panose="02020603050405020304" pitchFamily="18" charset="0"/>
              </a:rPr>
              <a:t>1</a:t>
            </a:r>
            <a:r>
              <a:rPr lang="en-US" altLang="zh-CN" sz="2000" b="1" dirty="0" smtClean="0">
                <a:solidFill>
                  <a:srgbClr val="3333FF"/>
                </a:solidFill>
                <a:ea typeface="+mn-ea"/>
                <a:cs typeface="Times New Roman" panose="02020603050405020304" pitchFamily="18" charset="0"/>
              </a:rPr>
              <a:t>’+H</a:t>
            </a:r>
            <a:r>
              <a:rPr lang="en-US" altLang="zh-CN" sz="2000" b="1" baseline="-25000" dirty="0" smtClean="0">
                <a:solidFill>
                  <a:srgbClr val="3333FF"/>
                </a:solidFill>
                <a:ea typeface="+mn-ea"/>
                <a:cs typeface="Times New Roman" panose="02020603050405020304" pitchFamily="18" charset="0"/>
              </a:rPr>
              <a:t>2</a:t>
            </a:r>
            <a:r>
              <a:rPr lang="en-US" altLang="zh-CN" sz="2000" b="1" dirty="0" smtClean="0">
                <a:solidFill>
                  <a:srgbClr val="3333FF"/>
                </a:solidFill>
                <a:ea typeface="+mn-ea"/>
                <a:cs typeface="Times New Roman" panose="02020603050405020304" pitchFamily="18" charset="0"/>
              </a:rPr>
              <a:t>) </a:t>
            </a:r>
            <a:r>
              <a:rPr lang="zh-CN" altLang="en-US" sz="2000" b="1" i="1" dirty="0" smtClean="0">
                <a:solidFill>
                  <a:srgbClr val="3333FF"/>
                </a:solidFill>
                <a:ea typeface="+mn-ea"/>
                <a:cs typeface="Times New Roman" panose="02020603050405020304" pitchFamily="18" charset="0"/>
                <a:sym typeface="Symbol" panose="05050102010706020507" pitchFamily="18" charset="2"/>
              </a:rPr>
              <a:t></a:t>
            </a:r>
            <a:r>
              <a:rPr lang="en-US" altLang="zh-CN" sz="2000" b="1" baseline="-25000" dirty="0" smtClean="0">
                <a:solidFill>
                  <a:srgbClr val="3333FF"/>
                </a:solidFill>
                <a:ea typeface="+mn-ea"/>
                <a:cs typeface="Times New Roman" panose="02020603050405020304" pitchFamily="18" charset="0"/>
                <a:sym typeface="Symbol" panose="05050102010706020507" pitchFamily="18" charset="2"/>
              </a:rPr>
              <a:t>2</a:t>
            </a:r>
            <a:r>
              <a:rPr lang="en-US" altLang="zh-CN" sz="2000" b="1" dirty="0" smtClean="0">
                <a:solidFill>
                  <a:srgbClr val="3333FF"/>
                </a:solidFill>
                <a:ea typeface="+mn-ea"/>
                <a:cs typeface="Times New Roman" panose="02020603050405020304" pitchFamily="18" charset="0"/>
                <a:sym typeface="Symbol" panose="05050102010706020507" pitchFamily="18" charset="2"/>
              </a:rPr>
              <a:t> </a:t>
            </a:r>
            <a:r>
              <a:rPr lang="en-US" altLang="zh-CN" sz="2000" b="1" i="1" dirty="0" smtClean="0">
                <a:solidFill>
                  <a:srgbClr val="3333FF"/>
                </a:solidFill>
                <a:ea typeface="+mn-ea"/>
                <a:cs typeface="Times New Roman" panose="02020603050405020304" pitchFamily="18" charset="0"/>
                <a:sym typeface="Symbol" panose="05050102010706020507" pitchFamily="18" charset="2"/>
              </a:rPr>
              <a:t>K</a:t>
            </a:r>
            <a:r>
              <a:rPr lang="en-US" altLang="zh-CN" sz="2000" b="1" baseline="-25000" dirty="0" smtClean="0">
                <a:solidFill>
                  <a:srgbClr val="3333FF"/>
                </a:solidFill>
                <a:ea typeface="+mn-ea"/>
                <a:cs typeface="Times New Roman" panose="02020603050405020304" pitchFamily="18" charset="0"/>
                <a:sym typeface="Symbol" panose="05050102010706020507" pitchFamily="18" charset="2"/>
              </a:rPr>
              <a:t>a2</a:t>
            </a:r>
            <a:r>
              <a:rPr lang="en-US" altLang="zh-CN" sz="2000" b="1" i="1" dirty="0" smtClean="0">
                <a:solidFill>
                  <a:srgbClr val="3333FF"/>
                </a:solidFill>
                <a:ea typeface="+mn-ea"/>
                <a:cs typeface="Times New Roman" panose="02020603050405020304" pitchFamily="18" charset="0"/>
                <a:sym typeface="Symbol" panose="05050102010706020507" pitchFamily="18" charset="2"/>
              </a:rPr>
              <a:t>-</a:t>
            </a:r>
            <a:r>
              <a:rPr lang="en-US" altLang="zh-CN" sz="2000" b="1" dirty="0" smtClean="0">
                <a:solidFill>
                  <a:srgbClr val="3333FF"/>
                </a:solidFill>
                <a:ea typeface="+mn-ea"/>
                <a:cs typeface="Times New Roman" panose="02020603050405020304" pitchFamily="18" charset="0"/>
                <a:sym typeface="Symbol" panose="05050102010706020507" pitchFamily="18" charset="2"/>
              </a:rPr>
              <a:t>2</a:t>
            </a:r>
            <a:r>
              <a:rPr lang="en-US" altLang="zh-CN" sz="2000" b="1" i="1" dirty="0" smtClean="0">
                <a:solidFill>
                  <a:srgbClr val="3333FF"/>
                </a:solidFill>
                <a:ea typeface="+mn-ea"/>
                <a:cs typeface="Times New Roman" panose="02020603050405020304" pitchFamily="18" charset="0"/>
                <a:sym typeface="Symbol" panose="05050102010706020507" pitchFamily="18" charset="2"/>
              </a:rPr>
              <a:t>c</a:t>
            </a:r>
            <a:r>
              <a:rPr lang="en-US" altLang="zh-CN" sz="2000" b="1" baseline="-25000" dirty="0" smtClean="0">
                <a:solidFill>
                  <a:srgbClr val="3333FF"/>
                </a:solidFill>
                <a:ea typeface="+mn-ea"/>
                <a:cs typeface="Times New Roman" panose="02020603050405020304" pitchFamily="18" charset="0"/>
                <a:sym typeface="Symbol" panose="05050102010706020507" pitchFamily="18" charset="2"/>
              </a:rPr>
              <a:t>2</a:t>
            </a:r>
            <a:r>
              <a:rPr lang="en-US" altLang="zh-CN" sz="2000" b="1" i="1" dirty="0" smtClean="0">
                <a:solidFill>
                  <a:srgbClr val="3333FF"/>
                </a:solidFill>
                <a:ea typeface="+mn-ea"/>
                <a:cs typeface="Times New Roman" panose="02020603050405020304" pitchFamily="18" charset="0"/>
                <a:sym typeface="Symbol" panose="05050102010706020507" pitchFamily="18" charset="2"/>
              </a:rPr>
              <a:t>(K</a:t>
            </a:r>
            <a:r>
              <a:rPr lang="en-US" altLang="zh-CN" sz="2000" b="1" i="1" baseline="-25000" dirty="0" smtClean="0">
                <a:solidFill>
                  <a:srgbClr val="3333FF"/>
                </a:solidFill>
                <a:ea typeface="+mn-ea"/>
                <a:cs typeface="Times New Roman" panose="02020603050405020304" pitchFamily="18" charset="0"/>
                <a:sym typeface="Symbol" panose="05050102010706020507" pitchFamily="18" charset="2"/>
              </a:rPr>
              <a:t>a</a:t>
            </a:r>
            <a:r>
              <a:rPr lang="en-US" altLang="zh-CN" sz="2000" b="1" baseline="-25000" dirty="0" smtClean="0">
                <a:solidFill>
                  <a:srgbClr val="3333FF"/>
                </a:solidFill>
                <a:ea typeface="+mn-ea"/>
                <a:cs typeface="Times New Roman" panose="02020603050405020304" pitchFamily="18" charset="0"/>
                <a:sym typeface="Symbol" panose="05050102010706020507" pitchFamily="18" charset="2"/>
              </a:rPr>
              <a:t>2</a:t>
            </a:r>
            <a:r>
              <a:rPr lang="en-US" altLang="zh-CN" sz="2000" b="1" i="1" dirty="0" smtClean="0">
                <a:solidFill>
                  <a:srgbClr val="3333FF"/>
                </a:solidFill>
                <a:ea typeface="+mn-ea"/>
                <a:cs typeface="Times New Roman" panose="02020603050405020304" pitchFamily="18" charset="0"/>
                <a:sym typeface="Symbol" panose="05050102010706020507" pitchFamily="18" charset="2"/>
              </a:rPr>
              <a:t>)</a:t>
            </a:r>
            <a:r>
              <a:rPr lang="en-US" altLang="zh-CN" sz="2000" b="1" baseline="30000" dirty="0" smtClean="0">
                <a:solidFill>
                  <a:srgbClr val="3333FF"/>
                </a:solidFill>
                <a:ea typeface="+mn-ea"/>
                <a:cs typeface="Times New Roman" panose="02020603050405020304" pitchFamily="18" charset="0"/>
                <a:sym typeface="Symbol" panose="05050102010706020507" pitchFamily="18" charset="2"/>
              </a:rPr>
              <a:t>0.5</a:t>
            </a:r>
            <a:r>
              <a:rPr lang="en-US" altLang="zh-CN" sz="2000" b="1" dirty="0" smtClean="0">
                <a:ea typeface="+mn-ea"/>
                <a:cs typeface="Times New Roman" panose="02020603050405020304" pitchFamily="18" charset="0"/>
                <a:sym typeface="Symbol" panose="05050102010706020507" pitchFamily="18" charset="2"/>
              </a:rPr>
              <a:t> =4.79*19*tan</a:t>
            </a:r>
            <a:r>
              <a:rPr lang="en-US" altLang="zh-CN" sz="2000" b="1" baseline="30000" dirty="0" smtClean="0">
                <a:ea typeface="+mn-ea"/>
                <a:cs typeface="Times New Roman" panose="02020603050405020304" pitchFamily="18" charset="0"/>
                <a:sym typeface="Symbol" panose="05050102010706020507" pitchFamily="18" charset="2"/>
              </a:rPr>
              <a:t>2</a:t>
            </a:r>
            <a:r>
              <a:rPr lang="en-US" altLang="zh-CN" sz="2000" b="1" dirty="0" smtClean="0">
                <a:ea typeface="+mn-ea"/>
                <a:cs typeface="Times New Roman" panose="02020603050405020304" pitchFamily="18" charset="0"/>
                <a:sym typeface="Symbol" panose="05050102010706020507" pitchFamily="18" charset="2"/>
              </a:rPr>
              <a:t>(45 -16/2)-2*10*tan(45 -16/2) =36.5 (</a:t>
            </a:r>
            <a:r>
              <a:rPr lang="en-US" altLang="zh-CN" sz="2000" b="1" dirty="0" err="1" smtClean="0">
                <a:ea typeface="+mn-ea"/>
                <a:cs typeface="Times New Roman" panose="02020603050405020304" pitchFamily="18" charset="0"/>
                <a:sym typeface="Symbol" panose="05050102010706020507" pitchFamily="18" charset="2"/>
              </a:rPr>
              <a:t>kPa</a:t>
            </a:r>
            <a:r>
              <a:rPr lang="en-US" altLang="zh-CN" sz="2000" b="1" dirty="0" smtClean="0">
                <a:ea typeface="+mn-ea"/>
                <a:cs typeface="Times New Roman" panose="02020603050405020304" pitchFamily="18" charset="0"/>
                <a:sym typeface="Symbol" panose="05050102010706020507" pitchFamily="18" charset="2"/>
              </a:rPr>
              <a:t>)</a:t>
            </a:r>
            <a:endParaRPr lang="en-US" altLang="zh-CN" sz="2000" b="1" dirty="0" smtClean="0">
              <a:ea typeface="+mn-ea"/>
              <a:cs typeface="Times New Roman" panose="02020603050405020304" pitchFamily="18" charset="0"/>
              <a:sym typeface="Symbol" panose="05050102010706020507" pitchFamily="18" charset="2"/>
            </a:endParaRPr>
          </a:p>
        </p:txBody>
      </p:sp>
      <p:sp>
        <p:nvSpPr>
          <p:cNvPr id="38920" name="Text Box 40"/>
          <p:cNvSpPr txBox="1">
            <a:spLocks noChangeArrowheads="1"/>
          </p:cNvSpPr>
          <p:nvPr/>
        </p:nvSpPr>
        <p:spPr bwMode="auto">
          <a:xfrm>
            <a:off x="150813" y="5399088"/>
            <a:ext cx="68802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lang="en-US" altLang="zh-CN" sz="2000" b="1" dirty="0" smtClean="0">
                <a:ea typeface="+mn-ea"/>
                <a:cs typeface="Times New Roman" panose="02020603050405020304" pitchFamily="18" charset="0"/>
              </a:rPr>
              <a:t>⑥ </a:t>
            </a:r>
            <a:r>
              <a:rPr lang="zh-CN" altLang="en-US" sz="2000" b="1" dirty="0" smtClean="0">
                <a:ea typeface="+mn-ea"/>
                <a:cs typeface="Times New Roman" panose="02020603050405020304" pitchFamily="18" charset="0"/>
              </a:rPr>
              <a:t>计算土压力</a:t>
            </a:r>
            <a:r>
              <a:rPr lang="en-US" altLang="zh-CN" sz="2000" b="1" i="1" dirty="0" err="1" smtClean="0">
                <a:ea typeface="+mn-ea"/>
                <a:cs typeface="Times New Roman" panose="02020603050405020304" pitchFamily="18" charset="0"/>
              </a:rPr>
              <a:t>E</a:t>
            </a:r>
            <a:r>
              <a:rPr lang="en-US" altLang="zh-CN" sz="2000" b="1" baseline="-25000" dirty="0" err="1" smtClean="0">
                <a:ea typeface="+mn-ea"/>
                <a:cs typeface="Times New Roman" panose="02020603050405020304" pitchFamily="18" charset="0"/>
              </a:rPr>
              <a:t>a</a:t>
            </a:r>
            <a:r>
              <a:rPr lang="zh-CN" altLang="en-US" sz="2000" b="1" dirty="0" smtClean="0">
                <a:ea typeface="+mn-ea"/>
                <a:cs typeface="Times New Roman" panose="02020603050405020304" pitchFamily="18" charset="0"/>
              </a:rPr>
              <a:t>：</a:t>
            </a:r>
            <a:r>
              <a:rPr lang="en-US" altLang="zh-CN" sz="2000" b="1" i="1" dirty="0" err="1" smtClean="0">
                <a:ea typeface="+mn-ea"/>
                <a:cs typeface="Times New Roman" panose="02020603050405020304" pitchFamily="18" charset="0"/>
              </a:rPr>
              <a:t>E</a:t>
            </a:r>
            <a:r>
              <a:rPr lang="en-US" altLang="zh-CN" sz="2000" b="1" baseline="-25000" dirty="0" err="1" smtClean="0">
                <a:ea typeface="+mn-ea"/>
                <a:cs typeface="Times New Roman" panose="02020603050405020304" pitchFamily="18" charset="0"/>
              </a:rPr>
              <a:t>a</a:t>
            </a:r>
            <a:r>
              <a:rPr lang="en-US" altLang="zh-CN" sz="2000" b="1" dirty="0" smtClean="0">
                <a:ea typeface="+mn-ea"/>
                <a:cs typeface="Times New Roman" panose="02020603050405020304" pitchFamily="18" charset="0"/>
              </a:rPr>
              <a:t>=10.4*2/2+(4.2+36.5)*3/2 =71.5 (</a:t>
            </a:r>
            <a:r>
              <a:rPr lang="en-US" altLang="zh-CN" sz="2000" b="1" dirty="0" err="1" smtClean="0">
                <a:ea typeface="+mn-ea"/>
                <a:cs typeface="Times New Roman" panose="02020603050405020304" pitchFamily="18" charset="0"/>
              </a:rPr>
              <a:t>kN</a:t>
            </a:r>
            <a:r>
              <a:rPr lang="en-US" altLang="zh-CN" sz="2000" b="1" dirty="0" smtClean="0">
                <a:ea typeface="+mn-ea"/>
                <a:cs typeface="Times New Roman" panose="02020603050405020304" pitchFamily="18" charset="0"/>
              </a:rPr>
              <a:t>/m) </a:t>
            </a:r>
            <a:endParaRPr lang="en-US" altLang="zh-CN" b="1" dirty="0" smtClean="0">
              <a:ea typeface="+mn-ea"/>
              <a:cs typeface="Times New Roman" panose="02020603050405020304" pitchFamily="18" charset="0"/>
              <a:sym typeface="Symbol" panose="05050102010706020507" pitchFamily="18" charset="2"/>
            </a:endParaRPr>
          </a:p>
        </p:txBody>
      </p:sp>
      <p:sp>
        <p:nvSpPr>
          <p:cNvPr id="38921" name="Rectangle 75"/>
          <p:cNvSpPr>
            <a:spLocks noChangeArrowheads="1"/>
          </p:cNvSpPr>
          <p:nvPr/>
        </p:nvSpPr>
        <p:spPr bwMode="auto">
          <a:xfrm>
            <a:off x="1695450" y="6134100"/>
            <a:ext cx="2574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solidFill>
                  <a:schemeClr val="accent2"/>
                </a:solidFill>
              </a:rPr>
              <a:t>Z=(</a:t>
            </a:r>
            <a:r>
              <a:rPr lang="en-US" altLang="zh-CN" sz="1800" i="1">
                <a:solidFill>
                  <a:schemeClr val="accent2"/>
                </a:solidFill>
              </a:rPr>
              <a:t>E</a:t>
            </a:r>
            <a:r>
              <a:rPr lang="en-US" altLang="zh-CN" sz="1800" baseline="-25000">
                <a:solidFill>
                  <a:schemeClr val="accent2"/>
                </a:solidFill>
              </a:rPr>
              <a:t>a1</a:t>
            </a:r>
            <a:r>
              <a:rPr lang="en-US" altLang="zh-CN" sz="1800">
                <a:solidFill>
                  <a:schemeClr val="accent2"/>
                </a:solidFill>
              </a:rPr>
              <a:t>*H</a:t>
            </a:r>
            <a:r>
              <a:rPr lang="en-US" altLang="zh-CN" sz="1800" baseline="-25000">
                <a:solidFill>
                  <a:schemeClr val="accent2"/>
                </a:solidFill>
              </a:rPr>
              <a:t>1</a:t>
            </a:r>
            <a:r>
              <a:rPr lang="en-US" altLang="zh-CN" sz="1800">
                <a:solidFill>
                  <a:schemeClr val="accent2"/>
                </a:solidFill>
              </a:rPr>
              <a:t>/3+</a:t>
            </a:r>
            <a:r>
              <a:rPr lang="en-US" altLang="zh-CN" sz="1800" i="1">
                <a:solidFill>
                  <a:schemeClr val="accent2"/>
                </a:solidFill>
              </a:rPr>
              <a:t>E</a:t>
            </a:r>
            <a:r>
              <a:rPr lang="en-US" altLang="zh-CN" sz="1800" baseline="-25000">
                <a:solidFill>
                  <a:schemeClr val="accent2"/>
                </a:solidFill>
              </a:rPr>
              <a:t>a2</a:t>
            </a:r>
            <a:r>
              <a:rPr lang="en-US" altLang="zh-CN" sz="1800">
                <a:solidFill>
                  <a:schemeClr val="accent2"/>
                </a:solidFill>
              </a:rPr>
              <a:t>*Z</a:t>
            </a:r>
            <a:r>
              <a:rPr lang="en-US" altLang="zh-CN" sz="1800" baseline="-25000">
                <a:solidFill>
                  <a:schemeClr val="accent2"/>
                </a:solidFill>
              </a:rPr>
              <a:t>2</a:t>
            </a:r>
            <a:r>
              <a:rPr lang="en-US" altLang="zh-CN" sz="1800">
                <a:solidFill>
                  <a:schemeClr val="accent2"/>
                </a:solidFill>
              </a:rPr>
              <a:t>)/</a:t>
            </a:r>
            <a:r>
              <a:rPr lang="en-US" altLang="zh-CN" sz="1800" i="1">
                <a:solidFill>
                  <a:schemeClr val="accent2"/>
                </a:solidFill>
              </a:rPr>
              <a:t>E</a:t>
            </a:r>
            <a:r>
              <a:rPr lang="en-US" altLang="zh-CN" sz="1800" baseline="-25000">
                <a:solidFill>
                  <a:schemeClr val="accent2"/>
                </a:solidFill>
              </a:rPr>
              <a:t>a</a:t>
            </a:r>
            <a:r>
              <a:rPr lang="en-US" altLang="zh-CN" sz="1800">
                <a:solidFill>
                  <a:schemeClr val="accent2"/>
                </a:solidFill>
              </a:rPr>
              <a:t>  </a:t>
            </a:r>
            <a:endParaRPr lang="zh-CN" altLang="en-US" sz="1800">
              <a:solidFill>
                <a:schemeClr val="accent2"/>
              </a:solidFill>
            </a:endParaRPr>
          </a:p>
        </p:txBody>
      </p:sp>
      <p:sp>
        <p:nvSpPr>
          <p:cNvPr id="38922" name="Text Box 84"/>
          <p:cNvSpPr txBox="1">
            <a:spLocks noChangeArrowheads="1"/>
          </p:cNvSpPr>
          <p:nvPr/>
        </p:nvSpPr>
        <p:spPr bwMode="auto">
          <a:xfrm>
            <a:off x="465138" y="2387600"/>
            <a:ext cx="46101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en-US" altLang="zh-CN" sz="2000" b="1" dirty="0" smtClean="0">
                <a:ea typeface="+mn-ea"/>
                <a:cs typeface="Times New Roman" panose="02020603050405020304" pitchFamily="18" charset="0"/>
              </a:rPr>
              <a:t>②</a:t>
            </a:r>
            <a:r>
              <a:rPr lang="zh-CN" altLang="en-US" sz="2000" b="1" dirty="0" smtClean="0">
                <a:ea typeface="+mn-ea"/>
                <a:cs typeface="Times New Roman" panose="02020603050405020304" pitchFamily="18" charset="0"/>
              </a:rPr>
              <a:t>计算土层</a:t>
            </a:r>
            <a:r>
              <a:rPr lang="en-US" altLang="zh-CN" sz="2000" b="1" dirty="0" smtClean="0">
                <a:ea typeface="+mn-ea"/>
                <a:cs typeface="Times New Roman" panose="02020603050405020304" pitchFamily="18" charset="0"/>
                <a:sym typeface="Symbol" panose="05050102010706020507" pitchFamily="18" charset="2"/>
              </a:rPr>
              <a:t>1</a:t>
            </a:r>
            <a:r>
              <a:rPr lang="zh-CN" altLang="en-US" sz="2000" b="1" dirty="0" smtClean="0">
                <a:ea typeface="+mn-ea"/>
                <a:cs typeface="Times New Roman" panose="02020603050405020304" pitchFamily="18" charset="0"/>
                <a:sym typeface="Symbol" panose="05050102010706020507" pitchFamily="18" charset="2"/>
              </a:rPr>
              <a:t>顶面处土压力强度</a:t>
            </a:r>
            <a:r>
              <a:rPr lang="en-US" altLang="zh-CN" sz="2000" b="1" baseline="-25000" dirty="0" smtClean="0">
                <a:ea typeface="+mn-ea"/>
                <a:cs typeface="Times New Roman" panose="02020603050405020304" pitchFamily="18" charset="0"/>
              </a:rPr>
              <a:t>a1(A)</a:t>
            </a:r>
            <a:r>
              <a:rPr lang="en-US" altLang="zh-CN" sz="2000" b="1" dirty="0" smtClean="0">
                <a:ea typeface="+mn-ea"/>
                <a:cs typeface="Times New Roman" panose="02020603050405020304" pitchFamily="18" charset="0"/>
              </a:rPr>
              <a:t> =0</a:t>
            </a:r>
            <a:endParaRPr lang="zh-CN" altLang="en-US" sz="2000" b="1" dirty="0" smtClean="0">
              <a:ea typeface="+mn-ea"/>
              <a:cs typeface="Times New Roman" panose="02020603050405020304" pitchFamily="18" charset="0"/>
            </a:endParaRPr>
          </a:p>
        </p:txBody>
      </p:sp>
      <p:sp>
        <p:nvSpPr>
          <p:cNvPr id="38923" name="Text Box 85"/>
          <p:cNvSpPr txBox="1">
            <a:spLocks noChangeArrowheads="1"/>
          </p:cNvSpPr>
          <p:nvPr/>
        </p:nvSpPr>
        <p:spPr bwMode="auto">
          <a:xfrm>
            <a:off x="306388" y="2894013"/>
            <a:ext cx="49609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lang="en-US" altLang="zh-CN" sz="2000" b="1" dirty="0" smtClean="0">
                <a:ea typeface="+mn-ea"/>
                <a:cs typeface="Times New Roman" panose="02020603050405020304" pitchFamily="18" charset="0"/>
              </a:rPr>
              <a:t>③</a:t>
            </a:r>
            <a:r>
              <a:rPr lang="zh-CN" altLang="en-US" sz="2000" b="1" dirty="0" smtClean="0">
                <a:ea typeface="+mn-ea"/>
                <a:cs typeface="Times New Roman" panose="02020603050405020304" pitchFamily="18" charset="0"/>
              </a:rPr>
              <a:t>计算土层</a:t>
            </a:r>
            <a:r>
              <a:rPr lang="en-US" altLang="zh-CN" sz="2000" b="1" dirty="0" smtClean="0">
                <a:ea typeface="+mn-ea"/>
                <a:cs typeface="Times New Roman" panose="02020603050405020304" pitchFamily="18" charset="0"/>
                <a:sym typeface="Symbol" panose="05050102010706020507" pitchFamily="18" charset="2"/>
              </a:rPr>
              <a:t>1</a:t>
            </a:r>
            <a:r>
              <a:rPr lang="zh-CN" altLang="en-US" sz="2000" b="1" dirty="0" smtClean="0">
                <a:ea typeface="+mn-ea"/>
                <a:cs typeface="Times New Roman" panose="02020603050405020304" pitchFamily="18" charset="0"/>
                <a:sym typeface="Symbol" panose="05050102010706020507" pitchFamily="18" charset="2"/>
              </a:rPr>
              <a:t>底面处土压力强度</a:t>
            </a:r>
            <a:r>
              <a:rPr lang="en-US" altLang="zh-CN" sz="2000" b="1" baseline="-25000" dirty="0" smtClean="0">
                <a:ea typeface="+mn-ea"/>
                <a:cs typeface="Times New Roman" panose="02020603050405020304" pitchFamily="18" charset="0"/>
              </a:rPr>
              <a:t>a1(B)</a:t>
            </a:r>
            <a:r>
              <a:rPr lang="en-US" altLang="zh-CN" sz="2000" b="1" dirty="0" smtClean="0">
                <a:ea typeface="+mn-ea"/>
                <a:cs typeface="Times New Roman" panose="02020603050405020304" pitchFamily="18" charset="0"/>
              </a:rPr>
              <a:t> </a:t>
            </a:r>
            <a:endParaRPr lang="en-US" altLang="zh-CN" sz="2000" b="1" dirty="0" smtClean="0">
              <a:ea typeface="+mn-ea"/>
              <a:cs typeface="Times New Roman" panose="02020603050405020304" pitchFamily="18" charset="0"/>
            </a:endParaRPr>
          </a:p>
          <a:p>
            <a:pPr eaLnBrk="1" hangingPunct="1">
              <a:defRPr/>
            </a:pPr>
            <a:r>
              <a:rPr lang="en-US" altLang="zh-CN" sz="2000" b="1" dirty="0" smtClean="0">
                <a:ea typeface="+mn-ea"/>
                <a:cs typeface="Times New Roman" panose="02020603050405020304" pitchFamily="18" charset="0"/>
              </a:rPr>
              <a:t>=H</a:t>
            </a:r>
            <a:r>
              <a:rPr lang="en-US" altLang="zh-CN" sz="2000" b="1" baseline="-25000" dirty="0" smtClean="0">
                <a:ea typeface="+mn-ea"/>
                <a:cs typeface="Times New Roman" panose="02020603050405020304" pitchFamily="18" charset="0"/>
              </a:rPr>
              <a:t>1</a:t>
            </a:r>
            <a:r>
              <a:rPr lang="en-US" altLang="zh-CN" sz="2000" b="1" dirty="0" smtClean="0">
                <a:ea typeface="+mn-ea"/>
                <a:cs typeface="Times New Roman" panose="02020603050405020304" pitchFamily="18" charset="0"/>
              </a:rPr>
              <a:t> </a:t>
            </a:r>
            <a:r>
              <a:rPr lang="zh-CN" altLang="en-US" sz="2000" b="1" i="1" dirty="0" smtClean="0">
                <a:ea typeface="+mn-ea"/>
                <a:cs typeface="Times New Roman" panose="02020603050405020304" pitchFamily="18" charset="0"/>
                <a:sym typeface="Symbol" panose="05050102010706020507" pitchFamily="18" charset="2"/>
              </a:rPr>
              <a:t></a:t>
            </a:r>
            <a:r>
              <a:rPr lang="en-US" altLang="zh-CN" sz="2000" b="1" baseline="-25000" dirty="0" smtClean="0">
                <a:ea typeface="+mn-ea"/>
                <a:cs typeface="Times New Roman" panose="02020603050405020304" pitchFamily="18" charset="0"/>
                <a:sym typeface="Symbol" panose="05050102010706020507" pitchFamily="18" charset="2"/>
              </a:rPr>
              <a:t>1</a:t>
            </a:r>
            <a:r>
              <a:rPr lang="en-US" altLang="zh-CN" sz="2000" b="1" dirty="0" smtClean="0">
                <a:ea typeface="+mn-ea"/>
                <a:cs typeface="Times New Roman" panose="02020603050405020304" pitchFamily="18" charset="0"/>
                <a:sym typeface="Symbol" panose="05050102010706020507" pitchFamily="18" charset="2"/>
              </a:rPr>
              <a:t> </a:t>
            </a:r>
            <a:r>
              <a:rPr lang="en-US" altLang="zh-CN" sz="2000" b="1" i="1" dirty="0" smtClean="0">
                <a:ea typeface="+mn-ea"/>
                <a:cs typeface="Times New Roman" panose="02020603050405020304" pitchFamily="18" charset="0"/>
                <a:sym typeface="Symbol" panose="05050102010706020507" pitchFamily="18" charset="2"/>
              </a:rPr>
              <a:t>K</a:t>
            </a:r>
            <a:r>
              <a:rPr lang="en-US" altLang="zh-CN" sz="2000" b="1" baseline="-25000" dirty="0" smtClean="0">
                <a:ea typeface="+mn-ea"/>
                <a:cs typeface="Times New Roman" panose="02020603050405020304" pitchFamily="18" charset="0"/>
                <a:sym typeface="Symbol" panose="05050102010706020507" pitchFamily="18" charset="2"/>
              </a:rPr>
              <a:t>a1</a:t>
            </a:r>
            <a:r>
              <a:rPr lang="en-US" altLang="zh-CN" sz="2000" b="1" dirty="0" smtClean="0">
                <a:ea typeface="+mn-ea"/>
                <a:cs typeface="Times New Roman" panose="02020603050405020304" pitchFamily="18" charset="0"/>
                <a:sym typeface="Symbol" panose="05050102010706020507" pitchFamily="18" charset="2"/>
              </a:rPr>
              <a:t>=2*17*tan</a:t>
            </a:r>
            <a:r>
              <a:rPr lang="en-US" altLang="zh-CN" sz="2000" b="1" baseline="30000" dirty="0" smtClean="0">
                <a:ea typeface="+mn-ea"/>
                <a:cs typeface="Times New Roman" panose="02020603050405020304" pitchFamily="18" charset="0"/>
                <a:sym typeface="Symbol" panose="05050102010706020507" pitchFamily="18" charset="2"/>
              </a:rPr>
              <a:t>2</a:t>
            </a:r>
            <a:r>
              <a:rPr lang="en-US" altLang="zh-CN" sz="2000" b="1" dirty="0" smtClean="0">
                <a:ea typeface="+mn-ea"/>
                <a:cs typeface="Times New Roman" panose="02020603050405020304" pitchFamily="18" charset="0"/>
                <a:sym typeface="Symbol" panose="05050102010706020507" pitchFamily="18" charset="2"/>
              </a:rPr>
              <a:t>(45-32/2) =10.4 </a:t>
            </a:r>
            <a:r>
              <a:rPr lang="en-US" altLang="zh-CN" sz="2000" b="1" dirty="0" err="1" smtClean="0">
                <a:ea typeface="+mn-ea"/>
                <a:cs typeface="Times New Roman" panose="02020603050405020304" pitchFamily="18" charset="0"/>
                <a:sym typeface="Symbol" panose="05050102010706020507" pitchFamily="18" charset="2"/>
              </a:rPr>
              <a:t>kPa</a:t>
            </a:r>
            <a:endParaRPr lang="zh-CN" altLang="en-US" sz="2000" b="1" dirty="0" smtClean="0">
              <a:ea typeface="+mn-ea"/>
              <a:cs typeface="Times New Roman" panose="02020603050405020304" pitchFamily="18" charset="0"/>
              <a:sym typeface="Symbol" panose="05050102010706020507" pitchFamily="18" charset="2"/>
            </a:endParaRPr>
          </a:p>
        </p:txBody>
      </p:sp>
      <p:grpSp>
        <p:nvGrpSpPr>
          <p:cNvPr id="38924" name="Group 72"/>
          <p:cNvGrpSpPr/>
          <p:nvPr/>
        </p:nvGrpSpPr>
        <p:grpSpPr bwMode="auto">
          <a:xfrm>
            <a:off x="5349875" y="2387600"/>
            <a:ext cx="3851275" cy="1666875"/>
            <a:chOff x="3370" y="1504"/>
            <a:chExt cx="2426" cy="1050"/>
          </a:xfrm>
        </p:grpSpPr>
        <p:sp>
          <p:nvSpPr>
            <p:cNvPr id="38952" name="Line 4"/>
            <p:cNvSpPr>
              <a:spLocks noChangeShapeType="1"/>
            </p:cNvSpPr>
            <p:nvPr/>
          </p:nvSpPr>
          <p:spPr bwMode="auto">
            <a:xfrm flipH="1">
              <a:off x="4060" y="1525"/>
              <a:ext cx="317" cy="8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53" name="Line 5"/>
            <p:cNvSpPr>
              <a:spLocks noChangeShapeType="1"/>
            </p:cNvSpPr>
            <p:nvPr/>
          </p:nvSpPr>
          <p:spPr bwMode="auto">
            <a:xfrm>
              <a:off x="4377" y="1525"/>
              <a:ext cx="22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54" name="Line 6"/>
            <p:cNvSpPr>
              <a:spLocks noChangeShapeType="1"/>
            </p:cNvSpPr>
            <p:nvPr/>
          </p:nvSpPr>
          <p:spPr bwMode="auto">
            <a:xfrm>
              <a:off x="4604" y="1525"/>
              <a:ext cx="0" cy="8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55" name="Line 7"/>
            <p:cNvSpPr>
              <a:spLocks noChangeShapeType="1"/>
            </p:cNvSpPr>
            <p:nvPr/>
          </p:nvSpPr>
          <p:spPr bwMode="auto">
            <a:xfrm>
              <a:off x="4060" y="2387"/>
              <a:ext cx="5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56" name="Line 8"/>
            <p:cNvSpPr>
              <a:spLocks noChangeShapeType="1"/>
            </p:cNvSpPr>
            <p:nvPr/>
          </p:nvSpPr>
          <p:spPr bwMode="auto">
            <a:xfrm>
              <a:off x="4377" y="1525"/>
              <a:ext cx="140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57" name="Line 24"/>
            <p:cNvSpPr>
              <a:spLocks noChangeShapeType="1"/>
            </p:cNvSpPr>
            <p:nvPr/>
          </p:nvSpPr>
          <p:spPr bwMode="auto">
            <a:xfrm>
              <a:off x="4604" y="2387"/>
              <a:ext cx="4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58" name="Text Box 36"/>
            <p:cNvSpPr txBox="1">
              <a:spLocks noChangeArrowheads="1"/>
            </p:cNvSpPr>
            <p:nvPr/>
          </p:nvSpPr>
          <p:spPr bwMode="auto">
            <a:xfrm>
              <a:off x="4258" y="1781"/>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t>H</a:t>
              </a:r>
              <a:endParaRPr lang="en-US" altLang="zh-CN"/>
            </a:p>
          </p:txBody>
        </p:sp>
        <p:sp>
          <p:nvSpPr>
            <p:cNvPr id="38959" name="Line 78"/>
            <p:cNvSpPr>
              <a:spLocks noChangeShapeType="1"/>
            </p:cNvSpPr>
            <p:nvPr/>
          </p:nvSpPr>
          <p:spPr bwMode="auto">
            <a:xfrm>
              <a:off x="3742" y="2387"/>
              <a:ext cx="27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60" name="Line 79"/>
            <p:cNvSpPr>
              <a:spLocks noChangeShapeType="1"/>
            </p:cNvSpPr>
            <p:nvPr/>
          </p:nvSpPr>
          <p:spPr bwMode="auto">
            <a:xfrm>
              <a:off x="3742" y="1525"/>
              <a:ext cx="27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61" name="Line 80"/>
            <p:cNvSpPr>
              <a:spLocks noChangeShapeType="1"/>
            </p:cNvSpPr>
            <p:nvPr/>
          </p:nvSpPr>
          <p:spPr bwMode="auto">
            <a:xfrm>
              <a:off x="3742" y="1888"/>
              <a:ext cx="27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62" name="Text Box 81"/>
            <p:cNvSpPr txBox="1">
              <a:spLocks noChangeArrowheads="1"/>
            </p:cNvSpPr>
            <p:nvPr/>
          </p:nvSpPr>
          <p:spPr bwMode="auto">
            <a:xfrm>
              <a:off x="3479" y="1504"/>
              <a:ext cx="621"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200"/>
                <a:t>H</a:t>
              </a:r>
              <a:r>
                <a:rPr lang="en-US" altLang="zh-CN" sz="1200" baseline="-25000"/>
                <a:t>1</a:t>
              </a:r>
              <a:r>
                <a:rPr lang="en-US" altLang="zh-CN" sz="1200"/>
                <a:t>=2m</a:t>
              </a:r>
              <a:endParaRPr lang="en-US" altLang="zh-CN" sz="1200"/>
            </a:p>
            <a:p>
              <a:pPr algn="ctr" eaLnBrk="1" hangingPunct="1"/>
              <a:r>
                <a:rPr lang="en-US" altLang="zh-CN" sz="1200">
                  <a:sym typeface="Symbol" panose="05050102010706020507" pitchFamily="18" charset="2"/>
                </a:rPr>
                <a:t></a:t>
              </a:r>
              <a:r>
                <a:rPr lang="en-US" altLang="zh-CN" sz="1200" baseline="-25000">
                  <a:sym typeface="Symbol" panose="05050102010706020507" pitchFamily="18" charset="2"/>
                </a:rPr>
                <a:t>1</a:t>
              </a:r>
              <a:r>
                <a:rPr lang="en-US" altLang="zh-CN" sz="1200">
                  <a:sym typeface="Symbol" panose="05050102010706020507" pitchFamily="18" charset="2"/>
                </a:rPr>
                <a:t>=17 kN/m</a:t>
              </a:r>
              <a:r>
                <a:rPr lang="en-US" altLang="zh-CN" sz="1200" baseline="30000">
                  <a:sym typeface="Symbol" panose="05050102010706020507" pitchFamily="18" charset="2"/>
                </a:rPr>
                <a:t>3</a:t>
              </a:r>
              <a:endParaRPr lang="en-US" altLang="zh-CN" sz="1200" baseline="30000">
                <a:sym typeface="Symbol" panose="05050102010706020507" pitchFamily="18" charset="2"/>
              </a:endParaRPr>
            </a:p>
            <a:p>
              <a:pPr algn="ctr" eaLnBrk="1" hangingPunct="1"/>
              <a:r>
                <a:rPr lang="el-GR" altLang="zh-CN" sz="1200">
                  <a:sym typeface="Symbol" panose="05050102010706020507" pitchFamily="18" charset="2"/>
                </a:rPr>
                <a:t>φ</a:t>
              </a:r>
              <a:r>
                <a:rPr lang="en-US" altLang="zh-CN" sz="1200" baseline="-25000">
                  <a:sym typeface="Symbol" panose="05050102010706020507" pitchFamily="18" charset="2"/>
                </a:rPr>
                <a:t>1</a:t>
              </a:r>
              <a:r>
                <a:rPr lang="en-US" altLang="zh-CN" sz="1200">
                  <a:sym typeface="Symbol" panose="05050102010706020507" pitchFamily="18" charset="2"/>
                </a:rPr>
                <a:t>=32, </a:t>
              </a:r>
              <a:r>
                <a:rPr lang="en-US" altLang="zh-CN" sz="1200" i="1">
                  <a:sym typeface="Symbol" panose="05050102010706020507" pitchFamily="18" charset="2"/>
                </a:rPr>
                <a:t>c</a:t>
              </a:r>
              <a:r>
                <a:rPr lang="en-US" altLang="zh-CN" sz="1200" baseline="-25000">
                  <a:sym typeface="Symbol" panose="05050102010706020507" pitchFamily="18" charset="2"/>
                </a:rPr>
                <a:t>1</a:t>
              </a:r>
              <a:r>
                <a:rPr lang="en-US" altLang="zh-CN" sz="1200">
                  <a:sym typeface="Symbol" panose="05050102010706020507" pitchFamily="18" charset="2"/>
                </a:rPr>
                <a:t>=0</a:t>
              </a:r>
              <a:endParaRPr lang="en-US" altLang="zh-CN" sz="1200">
                <a:sym typeface="Symbol" panose="05050102010706020507" pitchFamily="18" charset="2"/>
              </a:endParaRPr>
            </a:p>
          </p:txBody>
        </p:sp>
        <p:sp>
          <p:nvSpPr>
            <p:cNvPr id="38963" name="Text Box 82"/>
            <p:cNvSpPr txBox="1">
              <a:spLocks noChangeArrowheads="1"/>
            </p:cNvSpPr>
            <p:nvPr/>
          </p:nvSpPr>
          <p:spPr bwMode="auto">
            <a:xfrm>
              <a:off x="3370" y="1893"/>
              <a:ext cx="815"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200"/>
                <a:t>H</a:t>
              </a:r>
              <a:r>
                <a:rPr lang="en-US" altLang="zh-CN" sz="1200" baseline="-25000"/>
                <a:t>2</a:t>
              </a:r>
              <a:r>
                <a:rPr lang="en-US" altLang="zh-CN" sz="1200"/>
                <a:t>=3m</a:t>
              </a:r>
              <a:endParaRPr lang="en-US" altLang="zh-CN" sz="1200"/>
            </a:p>
            <a:p>
              <a:pPr algn="ctr" eaLnBrk="1" hangingPunct="1"/>
              <a:r>
                <a:rPr lang="en-US" altLang="zh-CN" sz="1200">
                  <a:sym typeface="Symbol" panose="05050102010706020507" pitchFamily="18" charset="2"/>
                </a:rPr>
                <a:t></a:t>
              </a:r>
              <a:r>
                <a:rPr lang="en-US" altLang="zh-CN" sz="1200" baseline="-25000">
                  <a:sym typeface="Symbol" panose="05050102010706020507" pitchFamily="18" charset="2"/>
                </a:rPr>
                <a:t>2</a:t>
              </a:r>
              <a:r>
                <a:rPr lang="en-US" altLang="zh-CN" sz="1200">
                  <a:sym typeface="Symbol" panose="05050102010706020507" pitchFamily="18" charset="2"/>
                </a:rPr>
                <a:t>=19 kN/m</a:t>
              </a:r>
              <a:r>
                <a:rPr lang="en-US" altLang="zh-CN" sz="1200" baseline="30000">
                  <a:sym typeface="Symbol" panose="05050102010706020507" pitchFamily="18" charset="2"/>
                </a:rPr>
                <a:t>3</a:t>
              </a:r>
              <a:endParaRPr lang="en-US" altLang="zh-CN" sz="1200" baseline="30000">
                <a:sym typeface="Symbol" panose="05050102010706020507" pitchFamily="18" charset="2"/>
              </a:endParaRPr>
            </a:p>
            <a:p>
              <a:pPr algn="ctr" eaLnBrk="1" hangingPunct="1"/>
              <a:r>
                <a:rPr lang="el-GR" altLang="zh-CN" sz="1200">
                  <a:sym typeface="Symbol" panose="05050102010706020507" pitchFamily="18" charset="2"/>
                </a:rPr>
                <a:t>φ</a:t>
              </a:r>
              <a:r>
                <a:rPr lang="en-US" altLang="zh-CN" sz="1200" baseline="-25000">
                  <a:sym typeface="Symbol" panose="05050102010706020507" pitchFamily="18" charset="2"/>
                </a:rPr>
                <a:t>2</a:t>
              </a:r>
              <a:r>
                <a:rPr lang="en-US" altLang="zh-CN" sz="1200">
                  <a:sym typeface="Symbol" panose="05050102010706020507" pitchFamily="18" charset="2"/>
                </a:rPr>
                <a:t>=16, </a:t>
              </a:r>
              <a:r>
                <a:rPr lang="en-US" altLang="zh-CN" sz="1200" i="1">
                  <a:sym typeface="Symbol" panose="05050102010706020507" pitchFamily="18" charset="2"/>
                </a:rPr>
                <a:t>c</a:t>
              </a:r>
              <a:r>
                <a:rPr lang="en-US" altLang="zh-CN" sz="1200" i="1" baseline="-25000">
                  <a:sym typeface="Symbol" panose="05050102010706020507" pitchFamily="18" charset="2"/>
                </a:rPr>
                <a:t>2</a:t>
              </a:r>
              <a:r>
                <a:rPr lang="en-US" altLang="zh-CN" sz="1200">
                  <a:sym typeface="Symbol" panose="05050102010706020507" pitchFamily="18" charset="2"/>
                </a:rPr>
                <a:t>=10kPa</a:t>
              </a:r>
              <a:endParaRPr lang="en-US" altLang="zh-CN" sz="1200">
                <a:sym typeface="Symbol" panose="05050102010706020507" pitchFamily="18" charset="2"/>
              </a:endParaRPr>
            </a:p>
          </p:txBody>
        </p:sp>
        <p:grpSp>
          <p:nvGrpSpPr>
            <p:cNvPr id="38964" name="Group 98"/>
            <p:cNvGrpSpPr/>
            <p:nvPr/>
          </p:nvGrpSpPr>
          <p:grpSpPr bwMode="auto">
            <a:xfrm>
              <a:off x="4810" y="1525"/>
              <a:ext cx="986" cy="1029"/>
              <a:chOff x="4810" y="1525"/>
              <a:chExt cx="986" cy="1029"/>
            </a:xfrm>
          </p:grpSpPr>
          <p:sp>
            <p:nvSpPr>
              <p:cNvPr id="38965" name="Line 16"/>
              <p:cNvSpPr>
                <a:spLocks noChangeShapeType="1"/>
              </p:cNvSpPr>
              <p:nvPr/>
            </p:nvSpPr>
            <p:spPr bwMode="auto">
              <a:xfrm flipH="1">
                <a:off x="5019" y="1539"/>
                <a:ext cx="46" cy="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66" name="Line 17"/>
              <p:cNvSpPr>
                <a:spLocks noChangeShapeType="1"/>
              </p:cNvSpPr>
              <p:nvPr/>
            </p:nvSpPr>
            <p:spPr bwMode="auto">
              <a:xfrm flipH="1">
                <a:off x="5148" y="1532"/>
                <a:ext cx="46" cy="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67" name="Line 18"/>
              <p:cNvSpPr>
                <a:spLocks noChangeShapeType="1"/>
              </p:cNvSpPr>
              <p:nvPr/>
            </p:nvSpPr>
            <p:spPr bwMode="auto">
              <a:xfrm flipH="1">
                <a:off x="4914" y="1539"/>
                <a:ext cx="46" cy="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68" name="Line 19"/>
              <p:cNvSpPr>
                <a:spLocks noChangeShapeType="1"/>
              </p:cNvSpPr>
              <p:nvPr/>
            </p:nvSpPr>
            <p:spPr bwMode="auto">
              <a:xfrm flipH="1">
                <a:off x="4810" y="1539"/>
                <a:ext cx="46" cy="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69" name="Line 20"/>
              <p:cNvSpPr>
                <a:spLocks noChangeShapeType="1"/>
              </p:cNvSpPr>
              <p:nvPr/>
            </p:nvSpPr>
            <p:spPr bwMode="auto">
              <a:xfrm>
                <a:off x="5239" y="1525"/>
                <a:ext cx="46" cy="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70" name="Line 21"/>
              <p:cNvSpPr>
                <a:spLocks noChangeShapeType="1"/>
              </p:cNvSpPr>
              <p:nvPr/>
            </p:nvSpPr>
            <p:spPr bwMode="auto">
              <a:xfrm>
                <a:off x="5368" y="1542"/>
                <a:ext cx="46" cy="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71" name="Line 22"/>
              <p:cNvSpPr>
                <a:spLocks noChangeShapeType="1"/>
              </p:cNvSpPr>
              <p:nvPr/>
            </p:nvSpPr>
            <p:spPr bwMode="auto">
              <a:xfrm>
                <a:off x="5511" y="1539"/>
                <a:ext cx="46" cy="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72" name="Line 83"/>
              <p:cNvSpPr>
                <a:spLocks noChangeShapeType="1"/>
              </p:cNvSpPr>
              <p:nvPr/>
            </p:nvSpPr>
            <p:spPr bwMode="auto">
              <a:xfrm>
                <a:off x="4830" y="1888"/>
                <a:ext cx="273"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73" name="Line 86"/>
              <p:cNvSpPr>
                <a:spLocks noChangeShapeType="1"/>
              </p:cNvSpPr>
              <p:nvPr/>
            </p:nvSpPr>
            <p:spPr bwMode="auto">
              <a:xfrm>
                <a:off x="4830" y="1525"/>
                <a:ext cx="0" cy="86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74" name="Line 87"/>
              <p:cNvSpPr>
                <a:spLocks noChangeShapeType="1"/>
              </p:cNvSpPr>
              <p:nvPr/>
            </p:nvSpPr>
            <p:spPr bwMode="auto">
              <a:xfrm>
                <a:off x="4830" y="1525"/>
                <a:ext cx="273" cy="3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75" name="Line 88"/>
              <p:cNvSpPr>
                <a:spLocks noChangeShapeType="1"/>
              </p:cNvSpPr>
              <p:nvPr/>
            </p:nvSpPr>
            <p:spPr bwMode="auto">
              <a:xfrm flipH="1">
                <a:off x="4830" y="1661"/>
                <a:ext cx="91"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76" name="Line 89"/>
              <p:cNvSpPr>
                <a:spLocks noChangeShapeType="1"/>
              </p:cNvSpPr>
              <p:nvPr/>
            </p:nvSpPr>
            <p:spPr bwMode="auto">
              <a:xfrm flipH="1">
                <a:off x="4827" y="1794"/>
                <a:ext cx="20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77" name="Line 90"/>
              <p:cNvSpPr>
                <a:spLocks noChangeShapeType="1"/>
              </p:cNvSpPr>
              <p:nvPr/>
            </p:nvSpPr>
            <p:spPr bwMode="auto">
              <a:xfrm>
                <a:off x="4981" y="1888"/>
                <a:ext cx="453" cy="49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78" name="Line 91"/>
              <p:cNvSpPr>
                <a:spLocks noChangeShapeType="1"/>
              </p:cNvSpPr>
              <p:nvPr/>
            </p:nvSpPr>
            <p:spPr bwMode="auto">
              <a:xfrm>
                <a:off x="4830" y="2387"/>
                <a:ext cx="590" cy="0"/>
              </a:xfrm>
              <a:prstGeom prst="line">
                <a:avLst/>
              </a:prstGeom>
              <a:noFill/>
              <a:ln w="9525">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79" name="Line 92"/>
              <p:cNvSpPr>
                <a:spLocks noChangeShapeType="1"/>
              </p:cNvSpPr>
              <p:nvPr/>
            </p:nvSpPr>
            <p:spPr bwMode="auto">
              <a:xfrm flipH="1">
                <a:off x="4830" y="2024"/>
                <a:ext cx="273"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80" name="Line 93"/>
              <p:cNvSpPr>
                <a:spLocks noChangeShapeType="1"/>
              </p:cNvSpPr>
              <p:nvPr/>
            </p:nvSpPr>
            <p:spPr bwMode="auto">
              <a:xfrm flipH="1">
                <a:off x="4830" y="2160"/>
                <a:ext cx="363"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81" name="Line 94"/>
              <p:cNvSpPr>
                <a:spLocks noChangeShapeType="1"/>
              </p:cNvSpPr>
              <p:nvPr/>
            </p:nvSpPr>
            <p:spPr bwMode="auto">
              <a:xfrm flipH="1">
                <a:off x="4830" y="2282"/>
                <a:ext cx="499"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82" name="Rectangle 95"/>
              <p:cNvSpPr>
                <a:spLocks noChangeArrowheads="1"/>
              </p:cNvSpPr>
              <p:nvPr/>
            </p:nvSpPr>
            <p:spPr bwMode="auto">
              <a:xfrm>
                <a:off x="5030" y="1705"/>
                <a:ext cx="58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b="1">
                    <a:solidFill>
                      <a:schemeClr val="accent2"/>
                    </a:solidFill>
                  </a:rPr>
                  <a:t>10.4 kPa</a:t>
                </a:r>
                <a:endParaRPr lang="zh-CN" altLang="en-US" sz="1600" b="1">
                  <a:solidFill>
                    <a:schemeClr val="accent2"/>
                  </a:solidFill>
                </a:endParaRPr>
              </a:p>
            </p:txBody>
          </p:sp>
          <p:sp>
            <p:nvSpPr>
              <p:cNvPr id="38983" name="Rectangle 96"/>
              <p:cNvSpPr>
                <a:spLocks noChangeArrowheads="1"/>
              </p:cNvSpPr>
              <p:nvPr/>
            </p:nvSpPr>
            <p:spPr bwMode="auto">
              <a:xfrm>
                <a:off x="5058" y="1846"/>
                <a:ext cx="52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b="1">
                    <a:solidFill>
                      <a:schemeClr val="accent2"/>
                    </a:solidFill>
                  </a:rPr>
                  <a:t>4.2 kPa</a:t>
                </a:r>
                <a:endParaRPr lang="zh-CN" altLang="en-US" sz="1600" b="1">
                  <a:solidFill>
                    <a:schemeClr val="accent2"/>
                  </a:solidFill>
                </a:endParaRPr>
              </a:p>
            </p:txBody>
          </p:sp>
          <p:sp>
            <p:nvSpPr>
              <p:cNvPr id="38984" name="Rectangle 97"/>
              <p:cNvSpPr>
                <a:spLocks noChangeArrowheads="1"/>
              </p:cNvSpPr>
              <p:nvPr/>
            </p:nvSpPr>
            <p:spPr bwMode="auto">
              <a:xfrm>
                <a:off x="5211" y="2342"/>
                <a:ext cx="58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b="1">
                    <a:solidFill>
                      <a:schemeClr val="accent2"/>
                    </a:solidFill>
                  </a:rPr>
                  <a:t>36.5 kPa</a:t>
                </a:r>
                <a:endParaRPr lang="zh-CN" altLang="en-US" sz="1600" b="1">
                  <a:solidFill>
                    <a:schemeClr val="accent2"/>
                  </a:solidFill>
                </a:endParaRPr>
              </a:p>
            </p:txBody>
          </p:sp>
        </p:grpSp>
      </p:grpSp>
      <p:grpSp>
        <p:nvGrpSpPr>
          <p:cNvPr id="38925" name="Group 126"/>
          <p:cNvGrpSpPr/>
          <p:nvPr/>
        </p:nvGrpSpPr>
        <p:grpSpPr bwMode="auto">
          <a:xfrm>
            <a:off x="7164388" y="4748213"/>
            <a:ext cx="2001837" cy="1633537"/>
            <a:chOff x="4374" y="2945"/>
            <a:chExt cx="1261" cy="1029"/>
          </a:xfrm>
        </p:grpSpPr>
        <p:sp>
          <p:nvSpPr>
            <p:cNvPr id="38933" name="Text Box 121"/>
            <p:cNvSpPr txBox="1">
              <a:spLocks noChangeArrowheads="1"/>
            </p:cNvSpPr>
            <p:nvPr/>
          </p:nvSpPr>
          <p:spPr bwMode="auto">
            <a:xfrm>
              <a:off x="4378" y="3102"/>
              <a:ext cx="2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400">
                  <a:solidFill>
                    <a:schemeClr val="accent2"/>
                  </a:solidFill>
                </a:rPr>
                <a:t>H</a:t>
              </a:r>
              <a:r>
                <a:rPr lang="en-US" altLang="zh-CN" sz="1400" baseline="-25000">
                  <a:solidFill>
                    <a:schemeClr val="accent2"/>
                  </a:solidFill>
                </a:rPr>
                <a:t>1</a:t>
              </a:r>
              <a:r>
                <a:rPr lang="en-US" altLang="zh-CN" sz="1400">
                  <a:solidFill>
                    <a:schemeClr val="accent2"/>
                  </a:solidFill>
                </a:rPr>
                <a:t>’</a:t>
              </a:r>
              <a:endParaRPr lang="en-US" altLang="zh-CN" sz="1400">
                <a:solidFill>
                  <a:schemeClr val="accent2"/>
                </a:solidFill>
              </a:endParaRPr>
            </a:p>
          </p:txBody>
        </p:sp>
        <p:sp>
          <p:nvSpPr>
            <p:cNvPr id="38934" name="Text Box 123"/>
            <p:cNvSpPr txBox="1">
              <a:spLocks noChangeArrowheads="1"/>
            </p:cNvSpPr>
            <p:nvPr/>
          </p:nvSpPr>
          <p:spPr bwMode="auto">
            <a:xfrm>
              <a:off x="4374" y="3430"/>
              <a:ext cx="23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400">
                  <a:solidFill>
                    <a:schemeClr val="accent2"/>
                  </a:solidFill>
                </a:rPr>
                <a:t>H</a:t>
              </a:r>
              <a:r>
                <a:rPr lang="en-US" altLang="zh-CN" sz="1400" baseline="-25000">
                  <a:solidFill>
                    <a:schemeClr val="accent2"/>
                  </a:solidFill>
                </a:rPr>
                <a:t>2</a:t>
              </a:r>
              <a:endParaRPr lang="en-US" altLang="zh-CN" sz="1400" baseline="-25000">
                <a:solidFill>
                  <a:schemeClr val="accent2"/>
                </a:solidFill>
              </a:endParaRPr>
            </a:p>
          </p:txBody>
        </p:sp>
        <p:grpSp>
          <p:nvGrpSpPr>
            <p:cNvPr id="38935" name="Group 125"/>
            <p:cNvGrpSpPr/>
            <p:nvPr/>
          </p:nvGrpSpPr>
          <p:grpSpPr bwMode="auto">
            <a:xfrm>
              <a:off x="4604" y="2945"/>
              <a:ext cx="1031" cy="1029"/>
              <a:chOff x="4604" y="2945"/>
              <a:chExt cx="1031" cy="1029"/>
            </a:xfrm>
          </p:grpSpPr>
          <p:sp>
            <p:nvSpPr>
              <p:cNvPr id="38936" name="Line 107"/>
              <p:cNvSpPr>
                <a:spLocks noChangeShapeType="1"/>
              </p:cNvSpPr>
              <p:nvPr/>
            </p:nvSpPr>
            <p:spPr bwMode="auto">
              <a:xfrm>
                <a:off x="4669" y="3308"/>
                <a:ext cx="273"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37" name="Line 108"/>
              <p:cNvSpPr>
                <a:spLocks noChangeShapeType="1"/>
              </p:cNvSpPr>
              <p:nvPr/>
            </p:nvSpPr>
            <p:spPr bwMode="auto">
              <a:xfrm>
                <a:off x="4669" y="2945"/>
                <a:ext cx="0" cy="86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38" name="Line 109"/>
              <p:cNvSpPr>
                <a:spLocks noChangeShapeType="1"/>
              </p:cNvSpPr>
              <p:nvPr/>
            </p:nvSpPr>
            <p:spPr bwMode="auto">
              <a:xfrm>
                <a:off x="4669" y="2945"/>
                <a:ext cx="273" cy="3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39" name="Line 110"/>
              <p:cNvSpPr>
                <a:spLocks noChangeShapeType="1"/>
              </p:cNvSpPr>
              <p:nvPr/>
            </p:nvSpPr>
            <p:spPr bwMode="auto">
              <a:xfrm flipH="1">
                <a:off x="4669" y="3081"/>
                <a:ext cx="91"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40" name="Line 111"/>
              <p:cNvSpPr>
                <a:spLocks noChangeShapeType="1"/>
              </p:cNvSpPr>
              <p:nvPr/>
            </p:nvSpPr>
            <p:spPr bwMode="auto">
              <a:xfrm flipH="1">
                <a:off x="4666" y="3214"/>
                <a:ext cx="20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41" name="Line 112"/>
              <p:cNvSpPr>
                <a:spLocks noChangeShapeType="1"/>
              </p:cNvSpPr>
              <p:nvPr/>
            </p:nvSpPr>
            <p:spPr bwMode="auto">
              <a:xfrm>
                <a:off x="4820" y="3308"/>
                <a:ext cx="453" cy="49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42" name="Line 113"/>
              <p:cNvSpPr>
                <a:spLocks noChangeShapeType="1"/>
              </p:cNvSpPr>
              <p:nvPr/>
            </p:nvSpPr>
            <p:spPr bwMode="auto">
              <a:xfrm>
                <a:off x="4669" y="3807"/>
                <a:ext cx="590" cy="0"/>
              </a:xfrm>
              <a:prstGeom prst="line">
                <a:avLst/>
              </a:prstGeom>
              <a:noFill/>
              <a:ln w="9525">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43" name="Line 114"/>
              <p:cNvSpPr>
                <a:spLocks noChangeShapeType="1"/>
              </p:cNvSpPr>
              <p:nvPr/>
            </p:nvSpPr>
            <p:spPr bwMode="auto">
              <a:xfrm flipH="1">
                <a:off x="4669" y="3444"/>
                <a:ext cx="273"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44" name="Line 115"/>
              <p:cNvSpPr>
                <a:spLocks noChangeShapeType="1"/>
              </p:cNvSpPr>
              <p:nvPr/>
            </p:nvSpPr>
            <p:spPr bwMode="auto">
              <a:xfrm flipH="1">
                <a:off x="4669" y="3580"/>
                <a:ext cx="363"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45" name="Line 116"/>
              <p:cNvSpPr>
                <a:spLocks noChangeShapeType="1"/>
              </p:cNvSpPr>
              <p:nvPr/>
            </p:nvSpPr>
            <p:spPr bwMode="auto">
              <a:xfrm flipH="1">
                <a:off x="4669" y="3702"/>
                <a:ext cx="499"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46" name="Rectangle 117"/>
              <p:cNvSpPr>
                <a:spLocks noChangeArrowheads="1"/>
              </p:cNvSpPr>
              <p:nvPr/>
            </p:nvSpPr>
            <p:spPr bwMode="auto">
              <a:xfrm>
                <a:off x="4869" y="3125"/>
                <a:ext cx="58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b="1">
                    <a:solidFill>
                      <a:schemeClr val="accent2"/>
                    </a:solidFill>
                  </a:rPr>
                  <a:t>10.4 kPa</a:t>
                </a:r>
                <a:endParaRPr lang="zh-CN" altLang="en-US" sz="1600" b="1">
                  <a:solidFill>
                    <a:schemeClr val="accent2"/>
                  </a:solidFill>
                </a:endParaRPr>
              </a:p>
            </p:txBody>
          </p:sp>
          <p:sp>
            <p:nvSpPr>
              <p:cNvPr id="38947" name="Rectangle 118"/>
              <p:cNvSpPr>
                <a:spLocks noChangeArrowheads="1"/>
              </p:cNvSpPr>
              <p:nvPr/>
            </p:nvSpPr>
            <p:spPr bwMode="auto">
              <a:xfrm>
                <a:off x="4897" y="3266"/>
                <a:ext cx="52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b="1">
                    <a:solidFill>
                      <a:schemeClr val="accent2"/>
                    </a:solidFill>
                  </a:rPr>
                  <a:t>4.2 kPa</a:t>
                </a:r>
                <a:endParaRPr lang="zh-CN" altLang="en-US" sz="1600" b="1">
                  <a:solidFill>
                    <a:schemeClr val="accent2"/>
                  </a:solidFill>
                </a:endParaRPr>
              </a:p>
            </p:txBody>
          </p:sp>
          <p:sp>
            <p:nvSpPr>
              <p:cNvPr id="38948" name="Rectangle 119"/>
              <p:cNvSpPr>
                <a:spLocks noChangeArrowheads="1"/>
              </p:cNvSpPr>
              <p:nvPr/>
            </p:nvSpPr>
            <p:spPr bwMode="auto">
              <a:xfrm>
                <a:off x="5050" y="3762"/>
                <a:ext cx="58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b="1">
                    <a:solidFill>
                      <a:schemeClr val="accent2"/>
                    </a:solidFill>
                  </a:rPr>
                  <a:t>36.5 kPa</a:t>
                </a:r>
                <a:endParaRPr lang="zh-CN" altLang="en-US" sz="1600" b="1">
                  <a:solidFill>
                    <a:schemeClr val="accent2"/>
                  </a:solidFill>
                </a:endParaRPr>
              </a:p>
            </p:txBody>
          </p:sp>
          <p:sp>
            <p:nvSpPr>
              <p:cNvPr id="38949" name="Line 120"/>
              <p:cNvSpPr>
                <a:spLocks noChangeShapeType="1"/>
              </p:cNvSpPr>
              <p:nvPr/>
            </p:nvSpPr>
            <p:spPr bwMode="auto">
              <a:xfrm flipH="1" flipV="1">
                <a:off x="4670" y="3130"/>
                <a:ext cx="181" cy="204"/>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38950" name="AutoShape 122"/>
              <p:cNvSpPr/>
              <p:nvPr/>
            </p:nvSpPr>
            <p:spPr bwMode="auto">
              <a:xfrm>
                <a:off x="4604" y="3158"/>
                <a:ext cx="45" cy="136"/>
              </a:xfrm>
              <a:prstGeom prst="leftBrace">
                <a:avLst>
                  <a:gd name="adj1" fmla="val 25185"/>
                  <a:gd name="adj2" fmla="val 50000"/>
                </a:avLst>
              </a:prstGeom>
              <a:noFill/>
              <a:ln w="9525">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ja-JP" altLang="en-US"/>
              </a:p>
            </p:txBody>
          </p:sp>
          <p:sp>
            <p:nvSpPr>
              <p:cNvPr id="38951" name="AutoShape 124"/>
              <p:cNvSpPr/>
              <p:nvPr/>
            </p:nvSpPr>
            <p:spPr bwMode="auto">
              <a:xfrm>
                <a:off x="4604" y="3294"/>
                <a:ext cx="45" cy="499"/>
              </a:xfrm>
              <a:prstGeom prst="leftBrace">
                <a:avLst>
                  <a:gd name="adj1" fmla="val 92407"/>
                  <a:gd name="adj2" fmla="val 50000"/>
                </a:avLst>
              </a:prstGeom>
              <a:noFill/>
              <a:ln w="9525">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ja-JP" altLang="en-US"/>
              </a:p>
            </p:txBody>
          </p:sp>
        </p:grpSp>
      </p:grpSp>
      <p:sp>
        <p:nvSpPr>
          <p:cNvPr id="38926" name="Rectangle 127"/>
          <p:cNvSpPr>
            <a:spLocks noChangeArrowheads="1"/>
          </p:cNvSpPr>
          <p:nvPr/>
        </p:nvSpPr>
        <p:spPr bwMode="auto">
          <a:xfrm>
            <a:off x="1633538" y="6442075"/>
            <a:ext cx="3101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solidFill>
                  <a:schemeClr val="accent2"/>
                </a:solidFill>
              </a:rPr>
              <a:t>Z=(</a:t>
            </a:r>
            <a:r>
              <a:rPr lang="en-US" altLang="zh-CN" sz="1800" i="1">
                <a:solidFill>
                  <a:schemeClr val="accent2"/>
                </a:solidFill>
              </a:rPr>
              <a:t>E</a:t>
            </a:r>
            <a:r>
              <a:rPr lang="en-US" altLang="zh-CN" sz="1800" baseline="-25000">
                <a:solidFill>
                  <a:schemeClr val="accent2"/>
                </a:solidFill>
              </a:rPr>
              <a:t>a1</a:t>
            </a:r>
            <a:r>
              <a:rPr lang="en-US" altLang="zh-CN" sz="1800">
                <a:solidFill>
                  <a:schemeClr val="accent2"/>
                </a:solidFill>
              </a:rPr>
              <a:t>*(H</a:t>
            </a:r>
            <a:r>
              <a:rPr lang="en-US" altLang="zh-CN" sz="1800" baseline="-25000">
                <a:solidFill>
                  <a:schemeClr val="accent2"/>
                </a:solidFill>
              </a:rPr>
              <a:t>1</a:t>
            </a:r>
            <a:r>
              <a:rPr lang="en-US" altLang="zh-CN" sz="1800">
                <a:solidFill>
                  <a:schemeClr val="accent2"/>
                </a:solidFill>
              </a:rPr>
              <a:t>/3+H</a:t>
            </a:r>
            <a:r>
              <a:rPr lang="en-US" altLang="zh-CN" sz="1800" baseline="-25000">
                <a:solidFill>
                  <a:schemeClr val="accent2"/>
                </a:solidFill>
              </a:rPr>
              <a:t>2</a:t>
            </a:r>
            <a:r>
              <a:rPr lang="en-US" altLang="zh-CN" sz="1800">
                <a:solidFill>
                  <a:schemeClr val="accent2"/>
                </a:solidFill>
              </a:rPr>
              <a:t>)+</a:t>
            </a:r>
            <a:r>
              <a:rPr lang="en-US" altLang="zh-CN" sz="1800" i="1">
                <a:solidFill>
                  <a:schemeClr val="accent2"/>
                </a:solidFill>
              </a:rPr>
              <a:t>E</a:t>
            </a:r>
            <a:r>
              <a:rPr lang="en-US" altLang="zh-CN" sz="1800" baseline="-25000">
                <a:solidFill>
                  <a:schemeClr val="accent2"/>
                </a:solidFill>
              </a:rPr>
              <a:t>a2</a:t>
            </a:r>
            <a:r>
              <a:rPr lang="en-US" altLang="zh-CN" sz="1800">
                <a:solidFill>
                  <a:schemeClr val="accent2"/>
                </a:solidFill>
              </a:rPr>
              <a:t>*Z</a:t>
            </a:r>
            <a:r>
              <a:rPr lang="en-US" altLang="zh-CN" sz="1800" baseline="-25000">
                <a:solidFill>
                  <a:schemeClr val="accent2"/>
                </a:solidFill>
              </a:rPr>
              <a:t>2</a:t>
            </a:r>
            <a:r>
              <a:rPr lang="en-US" altLang="zh-CN" sz="1800">
                <a:solidFill>
                  <a:schemeClr val="accent2"/>
                </a:solidFill>
              </a:rPr>
              <a:t>)/</a:t>
            </a:r>
            <a:r>
              <a:rPr lang="en-US" altLang="zh-CN" sz="1800" i="1">
                <a:solidFill>
                  <a:schemeClr val="accent2"/>
                </a:solidFill>
              </a:rPr>
              <a:t>E</a:t>
            </a:r>
            <a:r>
              <a:rPr lang="en-US" altLang="zh-CN" sz="1800" baseline="-25000">
                <a:solidFill>
                  <a:schemeClr val="accent2"/>
                </a:solidFill>
              </a:rPr>
              <a:t>a</a:t>
            </a:r>
            <a:r>
              <a:rPr lang="en-US" altLang="zh-CN" sz="1800">
                <a:solidFill>
                  <a:schemeClr val="accent2"/>
                </a:solidFill>
              </a:rPr>
              <a:t>  </a:t>
            </a:r>
            <a:endParaRPr lang="zh-CN" altLang="en-US" sz="1800">
              <a:solidFill>
                <a:schemeClr val="accent2"/>
              </a:solidFill>
            </a:endParaRPr>
          </a:p>
        </p:txBody>
      </p:sp>
      <p:sp>
        <p:nvSpPr>
          <p:cNvPr id="38927" name="Text Box 128"/>
          <p:cNvSpPr txBox="1">
            <a:spLocks noChangeArrowheads="1"/>
          </p:cNvSpPr>
          <p:nvPr/>
        </p:nvSpPr>
        <p:spPr bwMode="auto">
          <a:xfrm>
            <a:off x="1289050" y="6270625"/>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solidFill>
                  <a:srgbClr val="FF5050"/>
                </a:solidFill>
              </a:rPr>
              <a:t>or:</a:t>
            </a:r>
            <a:endParaRPr lang="en-US" altLang="zh-CN" sz="1800">
              <a:solidFill>
                <a:srgbClr val="FF5050"/>
              </a:solidFill>
            </a:endParaRPr>
          </a:p>
        </p:txBody>
      </p:sp>
      <p:sp>
        <p:nvSpPr>
          <p:cNvPr id="38928" name="Text Box 129"/>
          <p:cNvSpPr txBox="1">
            <a:spLocks noChangeArrowheads="1"/>
          </p:cNvSpPr>
          <p:nvPr/>
        </p:nvSpPr>
        <p:spPr bwMode="auto">
          <a:xfrm>
            <a:off x="4852988" y="6227763"/>
            <a:ext cx="20955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i="1">
                <a:solidFill>
                  <a:srgbClr val="FF5050"/>
                </a:solidFill>
              </a:rPr>
              <a:t>Q: which is correct?</a:t>
            </a:r>
            <a:endParaRPr lang="en-US" altLang="zh-CN" sz="1800" b="1" i="1">
              <a:solidFill>
                <a:srgbClr val="FF5050"/>
              </a:solidFill>
            </a:endParaRPr>
          </a:p>
        </p:txBody>
      </p:sp>
      <p:sp>
        <p:nvSpPr>
          <p:cNvPr id="38929" name="AutoShape 130"/>
          <p:cNvSpPr/>
          <p:nvPr/>
        </p:nvSpPr>
        <p:spPr bwMode="auto">
          <a:xfrm>
            <a:off x="4740275" y="6257925"/>
            <a:ext cx="71438" cy="360363"/>
          </a:xfrm>
          <a:prstGeom prst="rightBrace">
            <a:avLst>
              <a:gd name="adj1" fmla="val 42037"/>
              <a:gd name="adj2" fmla="val 50000"/>
            </a:avLst>
          </a:prstGeom>
          <a:noFill/>
          <a:ln w="9525">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ja-JP" altLang="en-US"/>
          </a:p>
        </p:txBody>
      </p:sp>
      <p:sp>
        <p:nvSpPr>
          <p:cNvPr id="38930" name="AutoShape 131"/>
          <p:cNvSpPr/>
          <p:nvPr/>
        </p:nvSpPr>
        <p:spPr bwMode="auto">
          <a:xfrm>
            <a:off x="1298575" y="6270625"/>
            <a:ext cx="44450" cy="368300"/>
          </a:xfrm>
          <a:prstGeom prst="leftBrace">
            <a:avLst>
              <a:gd name="adj1" fmla="val 57156"/>
              <a:gd name="adj2" fmla="val 50000"/>
            </a:avLst>
          </a:prstGeom>
          <a:noFill/>
          <a:ln w="9525">
            <a:solidFill>
              <a:srgbClr val="3366FF"/>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rgbClr val="3333FF"/>
              </a:solidFill>
            </a:endParaRPr>
          </a:p>
        </p:txBody>
      </p:sp>
      <p:sp>
        <p:nvSpPr>
          <p:cNvPr id="38931" name="Text Box 132"/>
          <p:cNvSpPr txBox="1">
            <a:spLocks noChangeArrowheads="1"/>
          </p:cNvSpPr>
          <p:nvPr/>
        </p:nvSpPr>
        <p:spPr bwMode="auto">
          <a:xfrm>
            <a:off x="444500" y="6286500"/>
            <a:ext cx="755650"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400" b="1">
                <a:solidFill>
                  <a:srgbClr val="3333FF"/>
                </a:solidFill>
                <a:ea typeface="楷体_GB2312" pitchFamily="49" charset="-122"/>
              </a:rPr>
              <a:t>求作用点</a:t>
            </a:r>
            <a:endParaRPr lang="zh-CN" altLang="en-US" sz="1400" b="1">
              <a:solidFill>
                <a:srgbClr val="3333FF"/>
              </a:solidFill>
              <a:ea typeface="楷体_GB2312" pitchFamily="49" charset="-122"/>
            </a:endParaRPr>
          </a:p>
        </p:txBody>
      </p:sp>
      <p:sp>
        <p:nvSpPr>
          <p:cNvPr id="73" name="Rectangle 6"/>
          <p:cNvSpPr>
            <a:spLocks noChangeArrowheads="1"/>
          </p:cNvSpPr>
          <p:nvPr/>
        </p:nvSpPr>
        <p:spPr bwMode="auto">
          <a:xfrm>
            <a:off x="-3175" y="-9842"/>
            <a:ext cx="3617913"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朗肯土压力理论</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4" presetClass="entr" presetSubtype="0" fill="hold" grpId="0" nodeType="clickEffect">
                                  <p:stCondLst>
                                    <p:cond delay="0"/>
                                  </p:stCondLst>
                                  <p:childTnLst>
                                    <p:set>
                                      <p:cBhvr>
                                        <p:cTn id="6" dur="indefinite" fill="hold">
                                          <p:stCondLst>
                                            <p:cond delay="0"/>
                                          </p:stCondLst>
                                        </p:cTn>
                                        <p:tgtEl>
                                          <p:spTgt spid="38914">
                                            <p:txEl>
                                              <p:pRg st="0" end="0"/>
                                            </p:txEl>
                                          </p:spTgt>
                                        </p:tgtEl>
                                        <p:attrNameLst>
                                          <p:attrName>style.visibility</p:attrName>
                                        </p:attrNameLst>
                                      </p:cBhvr>
                                      <p:to>
                                        <p:strVal val="visible"/>
                                      </p:to>
                                    </p:set>
                                    <p:animEffect transition="in" filter="fade">
                                      <p:cBhvr>
                                        <p:cTn id="7" dur="500"/>
                                        <p:tgtEl>
                                          <p:spTgt spid="38914">
                                            <p:txEl>
                                              <p:pRg st="0" end="0"/>
                                            </p:txEl>
                                          </p:spTgt>
                                        </p:tgtEl>
                                      </p:cBhvr>
                                    </p:animEffect>
                                    <p:anim calcmode="lin" valueType="num">
                                      <p:cBhvr>
                                        <p:cTn id="8" dur="500" fill="hold"/>
                                        <p:tgtEl>
                                          <p:spTgt spid="38914">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38914">
                                            <p:txEl>
                                              <p:pRg st="0" end="0"/>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コンテンツ プレースホルダ 2"/>
          <p:cNvSpPr/>
          <p:nvPr/>
        </p:nvSpPr>
        <p:spPr bwMode="auto">
          <a:xfrm>
            <a:off x="127000" y="582613"/>
            <a:ext cx="8893175" cy="110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defRPr/>
            </a:pPr>
            <a:r>
              <a:rPr lang="en-US" altLang="zh-CN" sz="2000" b="1" dirty="0" smtClean="0">
                <a:ea typeface="+mn-ea"/>
                <a:cs typeface="Times New Roman" panose="02020603050405020304" pitchFamily="18" charset="0"/>
              </a:rPr>
              <a:t>【</a:t>
            </a:r>
            <a:r>
              <a:rPr lang="zh-CN" altLang="en-US" sz="2000" b="1" dirty="0" smtClean="0">
                <a:ea typeface="+mn-ea"/>
                <a:cs typeface="Times New Roman" panose="02020603050405020304" pitchFamily="18" charset="0"/>
              </a:rPr>
              <a:t>例</a:t>
            </a:r>
            <a:r>
              <a:rPr lang="en-US" altLang="zh-CN" sz="2000" b="1" dirty="0" smtClean="0">
                <a:ea typeface="+mn-ea"/>
                <a:cs typeface="Times New Roman" panose="02020603050405020304" pitchFamily="18" charset="0"/>
              </a:rPr>
              <a:t>】</a:t>
            </a:r>
            <a:r>
              <a:rPr lang="zh-CN" altLang="en-US" sz="2000" b="1" dirty="0" smtClean="0">
                <a:ea typeface="+mn-ea"/>
                <a:cs typeface="Times New Roman" panose="02020603050405020304" pitchFamily="18" charset="0"/>
              </a:rPr>
              <a:t>挡土墙高</a:t>
            </a:r>
            <a:r>
              <a:rPr lang="en-US" altLang="zh-CN" sz="2000" b="1" dirty="0" smtClean="0">
                <a:ea typeface="+mn-ea"/>
                <a:cs typeface="Times New Roman" panose="02020603050405020304" pitchFamily="18" charset="0"/>
              </a:rPr>
              <a:t>7m</a:t>
            </a:r>
            <a:r>
              <a:rPr lang="zh-CN" altLang="en-US" sz="2000" b="1" dirty="0" smtClean="0">
                <a:ea typeface="+mn-ea"/>
                <a:cs typeface="Times New Roman" panose="02020603050405020304" pitchFamily="18" charset="0"/>
              </a:rPr>
              <a:t>，</a:t>
            </a:r>
            <a:r>
              <a:rPr lang="zh-CN" altLang="en-US" sz="2000" b="1" dirty="0" smtClean="0">
                <a:ea typeface="+mn-ea"/>
                <a:cs typeface="Times New Roman" panose="02020603050405020304" pitchFamily="18" charset="0"/>
                <a:sym typeface="Symbol" panose="05050102010706020507" pitchFamily="18" charset="2"/>
              </a:rPr>
              <a:t>墙背直立、光滑、填土面水平，分两层，地下水位在两层土分界面上。填土表面作用超载</a:t>
            </a:r>
            <a:r>
              <a:rPr lang="en-US" altLang="zh-CN" sz="2000" b="1" dirty="0" smtClean="0">
                <a:ea typeface="+mn-ea"/>
                <a:cs typeface="Times New Roman" panose="02020603050405020304" pitchFamily="18" charset="0"/>
                <a:sym typeface="Symbol" panose="05050102010706020507" pitchFamily="18" charset="2"/>
              </a:rPr>
              <a:t>q=100 </a:t>
            </a:r>
            <a:r>
              <a:rPr lang="en-US" altLang="zh-CN" sz="2000" b="1" dirty="0" err="1" smtClean="0">
                <a:ea typeface="+mn-ea"/>
                <a:cs typeface="Times New Roman" panose="02020603050405020304" pitchFamily="18" charset="0"/>
                <a:sym typeface="Symbol" panose="05050102010706020507" pitchFamily="18" charset="2"/>
              </a:rPr>
              <a:t>kPa</a:t>
            </a:r>
            <a:r>
              <a:rPr lang="zh-CN" altLang="en-US" sz="2000" b="1" dirty="0" smtClean="0">
                <a:ea typeface="+mn-ea"/>
                <a:cs typeface="Times New Roman" panose="02020603050405020304" pitchFamily="18" charset="0"/>
                <a:sym typeface="Symbol" panose="05050102010706020507" pitchFamily="18" charset="2"/>
              </a:rPr>
              <a:t>连续均布荷载。各层土物理力学特性如图所示，求挡土墙的主动土压力</a:t>
            </a:r>
            <a:r>
              <a:rPr lang="en-US" altLang="zh-CN" sz="2000" b="1" i="1" dirty="0" err="1" smtClean="0">
                <a:ea typeface="+mn-ea"/>
                <a:cs typeface="Times New Roman" panose="02020603050405020304" pitchFamily="18" charset="0"/>
                <a:sym typeface="Symbol" panose="05050102010706020507" pitchFamily="18" charset="2"/>
              </a:rPr>
              <a:t>E</a:t>
            </a:r>
            <a:r>
              <a:rPr lang="en-US" altLang="zh-CN" sz="2000" b="1" i="1" baseline="-25000" dirty="0" err="1" smtClean="0">
                <a:ea typeface="+mn-ea"/>
                <a:cs typeface="Times New Roman" panose="02020603050405020304" pitchFamily="18" charset="0"/>
                <a:sym typeface="Symbol" panose="05050102010706020507" pitchFamily="18" charset="2"/>
              </a:rPr>
              <a:t>a</a:t>
            </a:r>
            <a:r>
              <a:rPr lang="zh-CN" altLang="en-US" sz="2000" b="1" dirty="0" smtClean="0">
                <a:ea typeface="+mn-ea"/>
                <a:cs typeface="Times New Roman" panose="02020603050405020304" pitchFamily="18" charset="0"/>
                <a:sym typeface="Symbol" panose="05050102010706020507" pitchFamily="18" charset="2"/>
              </a:rPr>
              <a:t>、水压力</a:t>
            </a:r>
            <a:r>
              <a:rPr lang="en-US" altLang="zh-CN" sz="2000" b="1" i="1" dirty="0" err="1" smtClean="0">
                <a:ea typeface="+mn-ea"/>
                <a:cs typeface="Times New Roman" panose="02020603050405020304" pitchFamily="18" charset="0"/>
                <a:sym typeface="Symbol" panose="05050102010706020507" pitchFamily="18" charset="2"/>
              </a:rPr>
              <a:t>E</a:t>
            </a:r>
            <a:r>
              <a:rPr lang="en-US" altLang="zh-CN" sz="2000" b="1" i="1" baseline="-25000" dirty="0" err="1" smtClean="0">
                <a:ea typeface="+mn-ea"/>
                <a:cs typeface="Times New Roman" panose="02020603050405020304" pitchFamily="18" charset="0"/>
                <a:sym typeface="Symbol" panose="05050102010706020507" pitchFamily="18" charset="2"/>
              </a:rPr>
              <a:t>w</a:t>
            </a:r>
            <a:r>
              <a:rPr lang="zh-CN" altLang="en-US" sz="2000" b="1" dirty="0" smtClean="0">
                <a:ea typeface="+mn-ea"/>
                <a:cs typeface="Times New Roman" panose="02020603050405020304" pitchFamily="18" charset="0"/>
                <a:sym typeface="Symbol" panose="05050102010706020507" pitchFamily="18" charset="2"/>
              </a:rPr>
              <a:t>及作用点。</a:t>
            </a:r>
            <a:endParaRPr lang="zh-CN" altLang="en-US" sz="2000" b="1" dirty="0" smtClean="0">
              <a:ea typeface="+mn-ea"/>
              <a:cs typeface="Times New Roman" panose="02020603050405020304" pitchFamily="18" charset="0"/>
              <a:sym typeface="Symbol" panose="05050102010706020507" pitchFamily="18" charset="2"/>
            </a:endParaRPr>
          </a:p>
        </p:txBody>
      </p:sp>
      <p:sp>
        <p:nvSpPr>
          <p:cNvPr id="39939" name="Line 4"/>
          <p:cNvSpPr>
            <a:spLocks noChangeShapeType="1"/>
          </p:cNvSpPr>
          <p:nvPr/>
        </p:nvSpPr>
        <p:spPr bwMode="auto">
          <a:xfrm flipH="1">
            <a:off x="6445250" y="2420938"/>
            <a:ext cx="503238" cy="13684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40" name="Line 5"/>
          <p:cNvSpPr>
            <a:spLocks noChangeShapeType="1"/>
          </p:cNvSpPr>
          <p:nvPr/>
        </p:nvSpPr>
        <p:spPr bwMode="auto">
          <a:xfrm>
            <a:off x="6948488" y="2420938"/>
            <a:ext cx="36036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41" name="Line 6"/>
          <p:cNvSpPr>
            <a:spLocks noChangeShapeType="1"/>
          </p:cNvSpPr>
          <p:nvPr/>
        </p:nvSpPr>
        <p:spPr bwMode="auto">
          <a:xfrm>
            <a:off x="7308850" y="2420938"/>
            <a:ext cx="0" cy="13684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42" name="Line 7"/>
          <p:cNvSpPr>
            <a:spLocks noChangeShapeType="1"/>
          </p:cNvSpPr>
          <p:nvPr/>
        </p:nvSpPr>
        <p:spPr bwMode="auto">
          <a:xfrm>
            <a:off x="6445250" y="3789363"/>
            <a:ext cx="863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43" name="Line 8"/>
          <p:cNvSpPr>
            <a:spLocks noChangeShapeType="1"/>
          </p:cNvSpPr>
          <p:nvPr/>
        </p:nvSpPr>
        <p:spPr bwMode="auto">
          <a:xfrm>
            <a:off x="6948488" y="2420938"/>
            <a:ext cx="223202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44" name="Line 24"/>
          <p:cNvSpPr>
            <a:spLocks noChangeShapeType="1"/>
          </p:cNvSpPr>
          <p:nvPr/>
        </p:nvSpPr>
        <p:spPr bwMode="auto">
          <a:xfrm>
            <a:off x="7308850" y="3789363"/>
            <a:ext cx="72072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45" name="Text Box 36"/>
          <p:cNvSpPr txBox="1">
            <a:spLocks noChangeArrowheads="1"/>
          </p:cNvSpPr>
          <p:nvPr/>
        </p:nvSpPr>
        <p:spPr bwMode="auto">
          <a:xfrm>
            <a:off x="6759575" y="2827338"/>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t>H</a:t>
            </a:r>
            <a:endParaRPr lang="en-US" altLang="zh-CN"/>
          </a:p>
        </p:txBody>
      </p:sp>
      <p:sp>
        <p:nvSpPr>
          <p:cNvPr id="39946" name="Line 80"/>
          <p:cNvSpPr>
            <a:spLocks noChangeShapeType="1"/>
          </p:cNvSpPr>
          <p:nvPr/>
        </p:nvSpPr>
        <p:spPr bwMode="auto">
          <a:xfrm>
            <a:off x="7969250" y="3097213"/>
            <a:ext cx="9350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47" name="Text Box 81"/>
          <p:cNvSpPr txBox="1">
            <a:spLocks noChangeArrowheads="1"/>
          </p:cNvSpPr>
          <p:nvPr/>
        </p:nvSpPr>
        <p:spPr bwMode="auto">
          <a:xfrm>
            <a:off x="7929563" y="2487613"/>
            <a:ext cx="10953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200"/>
              <a:t>H</a:t>
            </a:r>
            <a:r>
              <a:rPr lang="en-US" altLang="zh-CN" sz="1200" baseline="-25000"/>
              <a:t>1</a:t>
            </a:r>
            <a:r>
              <a:rPr lang="en-US" altLang="zh-CN" sz="1200"/>
              <a:t>=3.5m</a:t>
            </a:r>
            <a:endParaRPr lang="en-US" altLang="zh-CN" sz="1200"/>
          </a:p>
          <a:p>
            <a:pPr algn="ctr" eaLnBrk="1" hangingPunct="1"/>
            <a:r>
              <a:rPr lang="en-US" altLang="zh-CN" sz="1200">
                <a:sym typeface="Symbol" panose="05050102010706020507" pitchFamily="18" charset="2"/>
              </a:rPr>
              <a:t></a:t>
            </a:r>
            <a:r>
              <a:rPr lang="en-US" altLang="zh-CN" sz="1200" baseline="-25000">
                <a:sym typeface="Symbol" panose="05050102010706020507" pitchFamily="18" charset="2"/>
              </a:rPr>
              <a:t>1</a:t>
            </a:r>
            <a:r>
              <a:rPr lang="en-US" altLang="zh-CN" sz="1200">
                <a:sym typeface="Symbol" panose="05050102010706020507" pitchFamily="18" charset="2"/>
              </a:rPr>
              <a:t>=16.5 kN/m</a:t>
            </a:r>
            <a:r>
              <a:rPr lang="en-US" altLang="zh-CN" sz="1200" baseline="30000">
                <a:sym typeface="Symbol" panose="05050102010706020507" pitchFamily="18" charset="2"/>
              </a:rPr>
              <a:t>3</a:t>
            </a:r>
            <a:endParaRPr lang="en-US" altLang="zh-CN" sz="1200" baseline="30000">
              <a:sym typeface="Symbol" panose="05050102010706020507" pitchFamily="18" charset="2"/>
            </a:endParaRPr>
          </a:p>
          <a:p>
            <a:pPr algn="ctr" eaLnBrk="1" hangingPunct="1"/>
            <a:r>
              <a:rPr lang="el-GR" altLang="zh-CN" sz="1200">
                <a:sym typeface="Symbol" panose="05050102010706020507" pitchFamily="18" charset="2"/>
              </a:rPr>
              <a:t>φ</a:t>
            </a:r>
            <a:r>
              <a:rPr lang="en-US" altLang="zh-CN" sz="1200" baseline="-25000">
                <a:sym typeface="Symbol" panose="05050102010706020507" pitchFamily="18" charset="2"/>
              </a:rPr>
              <a:t>1</a:t>
            </a:r>
            <a:r>
              <a:rPr lang="en-US" altLang="zh-CN" sz="1200">
                <a:sym typeface="Symbol" panose="05050102010706020507" pitchFamily="18" charset="2"/>
              </a:rPr>
              <a:t>=32, </a:t>
            </a:r>
            <a:r>
              <a:rPr lang="en-US" altLang="zh-CN" sz="1200" i="1">
                <a:sym typeface="Symbol" panose="05050102010706020507" pitchFamily="18" charset="2"/>
              </a:rPr>
              <a:t>c</a:t>
            </a:r>
            <a:r>
              <a:rPr lang="en-US" altLang="zh-CN" sz="1200" baseline="-25000">
                <a:sym typeface="Symbol" panose="05050102010706020507" pitchFamily="18" charset="2"/>
              </a:rPr>
              <a:t>1</a:t>
            </a:r>
            <a:r>
              <a:rPr lang="en-US" altLang="zh-CN" sz="1200">
                <a:sym typeface="Symbol" panose="05050102010706020507" pitchFamily="18" charset="2"/>
              </a:rPr>
              <a:t>=0</a:t>
            </a:r>
            <a:endParaRPr lang="en-US" altLang="zh-CN" sz="1200">
              <a:sym typeface="Symbol" panose="05050102010706020507" pitchFamily="18" charset="2"/>
            </a:endParaRPr>
          </a:p>
        </p:txBody>
      </p:sp>
      <p:sp>
        <p:nvSpPr>
          <p:cNvPr id="39948" name="Text Box 82"/>
          <p:cNvSpPr txBox="1">
            <a:spLocks noChangeArrowheads="1"/>
          </p:cNvSpPr>
          <p:nvPr/>
        </p:nvSpPr>
        <p:spPr bwMode="auto">
          <a:xfrm>
            <a:off x="7769225" y="3105150"/>
            <a:ext cx="13779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200"/>
              <a:t>H</a:t>
            </a:r>
            <a:r>
              <a:rPr lang="en-US" altLang="zh-CN" sz="1200" baseline="-25000"/>
              <a:t>2</a:t>
            </a:r>
            <a:r>
              <a:rPr lang="en-US" altLang="zh-CN" sz="1200"/>
              <a:t>=3.5m</a:t>
            </a:r>
            <a:endParaRPr lang="en-US" altLang="zh-CN" sz="1200"/>
          </a:p>
          <a:p>
            <a:pPr algn="ctr" eaLnBrk="1" hangingPunct="1"/>
            <a:r>
              <a:rPr lang="en-US" altLang="zh-CN" sz="1200">
                <a:sym typeface="Symbol" panose="05050102010706020507" pitchFamily="18" charset="2"/>
              </a:rPr>
              <a:t></a:t>
            </a:r>
            <a:r>
              <a:rPr lang="en-US" altLang="zh-CN" sz="1200" baseline="-25000">
                <a:sym typeface="Symbol" panose="05050102010706020507" pitchFamily="18" charset="2"/>
              </a:rPr>
              <a:t>2sat</a:t>
            </a:r>
            <a:r>
              <a:rPr lang="en-US" altLang="zh-CN" sz="1200">
                <a:sym typeface="Symbol" panose="05050102010706020507" pitchFamily="18" charset="2"/>
              </a:rPr>
              <a:t>=19.25 kN/m</a:t>
            </a:r>
            <a:r>
              <a:rPr lang="en-US" altLang="zh-CN" sz="1200" baseline="30000">
                <a:sym typeface="Symbol" panose="05050102010706020507" pitchFamily="18" charset="2"/>
              </a:rPr>
              <a:t>3</a:t>
            </a:r>
            <a:endParaRPr lang="en-US" altLang="zh-CN" sz="1200" baseline="30000">
              <a:sym typeface="Symbol" panose="05050102010706020507" pitchFamily="18" charset="2"/>
            </a:endParaRPr>
          </a:p>
          <a:p>
            <a:pPr algn="ctr" eaLnBrk="1" hangingPunct="1"/>
            <a:r>
              <a:rPr lang="el-GR" altLang="zh-CN" sz="1200">
                <a:sym typeface="Symbol" panose="05050102010706020507" pitchFamily="18" charset="2"/>
              </a:rPr>
              <a:t>φ</a:t>
            </a:r>
            <a:r>
              <a:rPr lang="en-US" altLang="zh-CN" sz="1200" baseline="-25000">
                <a:sym typeface="Symbol" panose="05050102010706020507" pitchFamily="18" charset="2"/>
              </a:rPr>
              <a:t>2</a:t>
            </a:r>
            <a:r>
              <a:rPr lang="en-US" altLang="zh-CN" sz="1200" baseline="30000">
                <a:sym typeface="Symbol" panose="05050102010706020507" pitchFamily="18" charset="2"/>
              </a:rPr>
              <a:t>’</a:t>
            </a:r>
            <a:r>
              <a:rPr lang="en-US" altLang="zh-CN" sz="1200">
                <a:sym typeface="Symbol" panose="05050102010706020507" pitchFamily="18" charset="2"/>
              </a:rPr>
              <a:t>=30, </a:t>
            </a:r>
            <a:r>
              <a:rPr lang="en-US" altLang="zh-CN" sz="1200" i="1">
                <a:sym typeface="Symbol" panose="05050102010706020507" pitchFamily="18" charset="2"/>
              </a:rPr>
              <a:t>c</a:t>
            </a:r>
            <a:r>
              <a:rPr lang="en-US" altLang="zh-CN" sz="1200" i="1" baseline="-25000">
                <a:sym typeface="Symbol" panose="05050102010706020507" pitchFamily="18" charset="2"/>
              </a:rPr>
              <a:t>2</a:t>
            </a:r>
            <a:r>
              <a:rPr lang="en-US" altLang="zh-CN" sz="1200" i="1">
                <a:sym typeface="Symbol" panose="05050102010706020507" pitchFamily="18" charset="2"/>
              </a:rPr>
              <a:t>’</a:t>
            </a:r>
            <a:r>
              <a:rPr lang="en-US" altLang="zh-CN" sz="1200">
                <a:sym typeface="Symbol" panose="05050102010706020507" pitchFamily="18" charset="2"/>
              </a:rPr>
              <a:t>=10kPa</a:t>
            </a:r>
            <a:endParaRPr lang="en-US" altLang="zh-CN" sz="1200">
              <a:sym typeface="Symbol" panose="05050102010706020507" pitchFamily="18" charset="2"/>
            </a:endParaRPr>
          </a:p>
        </p:txBody>
      </p:sp>
      <p:sp>
        <p:nvSpPr>
          <p:cNvPr id="39949" name="Line 16"/>
          <p:cNvSpPr>
            <a:spLocks noChangeShapeType="1"/>
          </p:cNvSpPr>
          <p:nvPr/>
        </p:nvSpPr>
        <p:spPr bwMode="auto">
          <a:xfrm flipH="1">
            <a:off x="7967663" y="2443163"/>
            <a:ext cx="73025" cy="7143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50" name="Line 17"/>
          <p:cNvSpPr>
            <a:spLocks noChangeShapeType="1"/>
          </p:cNvSpPr>
          <p:nvPr/>
        </p:nvSpPr>
        <p:spPr bwMode="auto">
          <a:xfrm flipH="1">
            <a:off x="8172450" y="2432050"/>
            <a:ext cx="73025" cy="7143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51" name="Line 18"/>
          <p:cNvSpPr>
            <a:spLocks noChangeShapeType="1"/>
          </p:cNvSpPr>
          <p:nvPr/>
        </p:nvSpPr>
        <p:spPr bwMode="auto">
          <a:xfrm flipH="1">
            <a:off x="7800975" y="2443163"/>
            <a:ext cx="73025" cy="7143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52" name="Line 19"/>
          <p:cNvSpPr>
            <a:spLocks noChangeShapeType="1"/>
          </p:cNvSpPr>
          <p:nvPr/>
        </p:nvSpPr>
        <p:spPr bwMode="auto">
          <a:xfrm flipH="1">
            <a:off x="7635875" y="2443163"/>
            <a:ext cx="73025" cy="7143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53" name="Line 20"/>
          <p:cNvSpPr>
            <a:spLocks noChangeShapeType="1"/>
          </p:cNvSpPr>
          <p:nvPr/>
        </p:nvSpPr>
        <p:spPr bwMode="auto">
          <a:xfrm>
            <a:off x="8316913" y="2420938"/>
            <a:ext cx="73025" cy="7143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54" name="Line 21"/>
          <p:cNvSpPr>
            <a:spLocks noChangeShapeType="1"/>
          </p:cNvSpPr>
          <p:nvPr/>
        </p:nvSpPr>
        <p:spPr bwMode="auto">
          <a:xfrm>
            <a:off x="8521700" y="2447925"/>
            <a:ext cx="73025" cy="7143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55" name="Line 22"/>
          <p:cNvSpPr>
            <a:spLocks noChangeShapeType="1"/>
          </p:cNvSpPr>
          <p:nvPr/>
        </p:nvSpPr>
        <p:spPr bwMode="auto">
          <a:xfrm>
            <a:off x="8748713" y="2443163"/>
            <a:ext cx="73025" cy="7143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56" name="Rectangle 38"/>
          <p:cNvSpPr>
            <a:spLocks noChangeArrowheads="1"/>
          </p:cNvSpPr>
          <p:nvPr/>
        </p:nvSpPr>
        <p:spPr bwMode="auto">
          <a:xfrm>
            <a:off x="7664450" y="1751013"/>
            <a:ext cx="9953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400" i="1"/>
              <a:t>q</a:t>
            </a:r>
            <a:r>
              <a:rPr lang="en-US" altLang="zh-CN" sz="1400"/>
              <a:t> =100 kPa</a:t>
            </a:r>
            <a:endParaRPr lang="zh-CN" altLang="en-US" sz="1400"/>
          </a:p>
        </p:txBody>
      </p:sp>
      <p:sp>
        <p:nvSpPr>
          <p:cNvPr id="39957" name="Line 39"/>
          <p:cNvSpPr>
            <a:spLocks noChangeShapeType="1"/>
          </p:cNvSpPr>
          <p:nvPr/>
        </p:nvSpPr>
        <p:spPr bwMode="auto">
          <a:xfrm>
            <a:off x="7308850" y="2276475"/>
            <a:ext cx="0" cy="1444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58" name="Line 40"/>
          <p:cNvSpPr>
            <a:spLocks noChangeShapeType="1"/>
          </p:cNvSpPr>
          <p:nvPr/>
        </p:nvSpPr>
        <p:spPr bwMode="auto">
          <a:xfrm>
            <a:off x="7524750" y="2276475"/>
            <a:ext cx="0" cy="1444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59" name="Line 41"/>
          <p:cNvSpPr>
            <a:spLocks noChangeShapeType="1"/>
          </p:cNvSpPr>
          <p:nvPr/>
        </p:nvSpPr>
        <p:spPr bwMode="auto">
          <a:xfrm>
            <a:off x="7740650" y="2276475"/>
            <a:ext cx="0" cy="1444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60" name="Line 42"/>
          <p:cNvSpPr>
            <a:spLocks noChangeShapeType="1"/>
          </p:cNvSpPr>
          <p:nvPr/>
        </p:nvSpPr>
        <p:spPr bwMode="auto">
          <a:xfrm>
            <a:off x="7956550" y="2276475"/>
            <a:ext cx="0" cy="1444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61" name="Line 43"/>
          <p:cNvSpPr>
            <a:spLocks noChangeShapeType="1"/>
          </p:cNvSpPr>
          <p:nvPr/>
        </p:nvSpPr>
        <p:spPr bwMode="auto">
          <a:xfrm>
            <a:off x="8172450" y="2276475"/>
            <a:ext cx="0" cy="1444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62" name="Line 44"/>
          <p:cNvSpPr>
            <a:spLocks noChangeShapeType="1"/>
          </p:cNvSpPr>
          <p:nvPr/>
        </p:nvSpPr>
        <p:spPr bwMode="auto">
          <a:xfrm>
            <a:off x="8388350" y="2276475"/>
            <a:ext cx="0" cy="1444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63" name="Line 45"/>
          <p:cNvSpPr>
            <a:spLocks noChangeShapeType="1"/>
          </p:cNvSpPr>
          <p:nvPr/>
        </p:nvSpPr>
        <p:spPr bwMode="auto">
          <a:xfrm>
            <a:off x="8604250" y="2276475"/>
            <a:ext cx="0" cy="1444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64" name="Line 46"/>
          <p:cNvSpPr>
            <a:spLocks noChangeShapeType="1"/>
          </p:cNvSpPr>
          <p:nvPr/>
        </p:nvSpPr>
        <p:spPr bwMode="auto">
          <a:xfrm>
            <a:off x="8820150" y="2276475"/>
            <a:ext cx="0" cy="1444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65" name="Line 47"/>
          <p:cNvSpPr>
            <a:spLocks noChangeShapeType="1"/>
          </p:cNvSpPr>
          <p:nvPr/>
        </p:nvSpPr>
        <p:spPr bwMode="auto">
          <a:xfrm>
            <a:off x="7308850" y="2276475"/>
            <a:ext cx="183515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66" name="Line 80"/>
          <p:cNvSpPr>
            <a:spLocks noChangeShapeType="1"/>
          </p:cNvSpPr>
          <p:nvPr/>
        </p:nvSpPr>
        <p:spPr bwMode="auto">
          <a:xfrm>
            <a:off x="8004175" y="3789363"/>
            <a:ext cx="9350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67" name="Line 80"/>
          <p:cNvSpPr>
            <a:spLocks noChangeShapeType="1"/>
          </p:cNvSpPr>
          <p:nvPr/>
        </p:nvSpPr>
        <p:spPr bwMode="auto">
          <a:xfrm>
            <a:off x="7969250" y="2520950"/>
            <a:ext cx="9350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51" name="Text Box 64"/>
          <p:cNvSpPr txBox="1">
            <a:spLocks noChangeArrowheads="1"/>
          </p:cNvSpPr>
          <p:nvPr/>
        </p:nvSpPr>
        <p:spPr bwMode="auto">
          <a:xfrm>
            <a:off x="1306513" y="2074863"/>
            <a:ext cx="4021137" cy="1014412"/>
          </a:xfrm>
          <a:prstGeom prst="rect">
            <a:avLst/>
          </a:prstGeom>
          <a:noFill/>
          <a:ln w="9525" algn="ctr">
            <a:noFill/>
            <a:miter lim="800000"/>
          </a:ln>
        </p:spPr>
        <p:txBody>
          <a:bodyPr wrap="none">
            <a:spAutoFit/>
          </a:bodyPr>
          <a:lstStyle/>
          <a:p>
            <a:pPr eaLnBrk="1" hangingPunct="1">
              <a:defRPr/>
            </a:pPr>
            <a:r>
              <a:rPr lang="en-US" altLang="zh-CN" sz="2000" i="1" dirty="0"/>
              <a:t>K</a:t>
            </a:r>
            <a:r>
              <a:rPr lang="en-US" altLang="zh-CN" sz="2000" baseline="-25000" dirty="0"/>
              <a:t>a1</a:t>
            </a:r>
            <a:r>
              <a:rPr lang="en-US" altLang="zh-CN" sz="2000" dirty="0"/>
              <a:t> = tan</a:t>
            </a:r>
            <a:r>
              <a:rPr lang="en-US" altLang="zh-CN" sz="2000" baseline="30000" dirty="0"/>
              <a:t>2</a:t>
            </a:r>
            <a:r>
              <a:rPr lang="en-US" altLang="zh-CN" sz="2000" dirty="0"/>
              <a:t>(45</a:t>
            </a:r>
            <a:r>
              <a:rPr lang="en-US" altLang="zh-CN" sz="2000" dirty="0">
                <a:sym typeface="Symbol" panose="05050102010706020507" pitchFamily="18" charset="2"/>
              </a:rPr>
              <a:t></a:t>
            </a:r>
            <a:r>
              <a:rPr lang="en-US" altLang="zh-CN" sz="2000" dirty="0"/>
              <a:t>-32</a:t>
            </a:r>
            <a:r>
              <a:rPr lang="en-US" altLang="zh-CN" sz="2000" dirty="0">
                <a:sym typeface="Symbol" panose="05050102010706020507" pitchFamily="18" charset="2"/>
              </a:rPr>
              <a:t></a:t>
            </a:r>
            <a:r>
              <a:rPr lang="en-US" altLang="zh-CN" sz="2000" dirty="0"/>
              <a:t>/2) = 0.307     </a:t>
            </a:r>
            <a:endParaRPr lang="en-US" altLang="zh-CN" sz="2000" dirty="0"/>
          </a:p>
          <a:p>
            <a:pPr eaLnBrk="1" hangingPunct="1">
              <a:defRPr/>
            </a:pPr>
            <a:r>
              <a:rPr lang="en-US" altLang="zh-CN" sz="2000" i="1" dirty="0"/>
              <a:t>K</a:t>
            </a:r>
            <a:r>
              <a:rPr lang="en-US" altLang="zh-CN" sz="2000" baseline="-25000" dirty="0"/>
              <a:t>a2</a:t>
            </a:r>
            <a:r>
              <a:rPr lang="en-US" altLang="zh-CN" sz="2000" dirty="0"/>
              <a:t> = tan</a:t>
            </a:r>
            <a:r>
              <a:rPr lang="en-US" altLang="zh-CN" sz="2000" baseline="30000" dirty="0"/>
              <a:t>2</a:t>
            </a:r>
            <a:r>
              <a:rPr lang="en-US" altLang="zh-CN" sz="2000" dirty="0"/>
              <a:t>(45</a:t>
            </a:r>
            <a:r>
              <a:rPr lang="en-US" altLang="zh-CN" sz="2000" dirty="0">
                <a:sym typeface="Symbol" panose="05050102010706020507" pitchFamily="18" charset="2"/>
              </a:rPr>
              <a:t></a:t>
            </a:r>
            <a:r>
              <a:rPr lang="en-US" altLang="zh-CN" sz="2000" dirty="0"/>
              <a:t>-30</a:t>
            </a:r>
            <a:r>
              <a:rPr lang="en-US" altLang="zh-CN" sz="2000" dirty="0">
                <a:sym typeface="Symbol" panose="05050102010706020507" pitchFamily="18" charset="2"/>
              </a:rPr>
              <a:t></a:t>
            </a:r>
            <a:r>
              <a:rPr lang="en-US" altLang="zh-CN" sz="2000" dirty="0"/>
              <a:t>/2) =0.333</a:t>
            </a:r>
            <a:endParaRPr lang="en-US" altLang="zh-CN" sz="2000" dirty="0"/>
          </a:p>
          <a:p>
            <a:pPr eaLnBrk="1" hangingPunct="1">
              <a:defRPr/>
            </a:pPr>
            <a:r>
              <a:rPr lang="en-US" altLang="zh-CN" sz="2000" b="1" dirty="0">
                <a:solidFill>
                  <a:srgbClr val="C00000"/>
                </a:solidFill>
                <a:effectLst>
                  <a:outerShdw blurRad="38100" dist="38100" dir="2700000" algn="tl">
                    <a:srgbClr val="000000">
                      <a:alpha val="43137"/>
                    </a:srgbClr>
                  </a:outerShdw>
                </a:effectLst>
                <a:sym typeface="Symbol" panose="05050102010706020507" pitchFamily="18" charset="2"/>
              </a:rPr>
              <a:t></a:t>
            </a:r>
            <a:r>
              <a:rPr lang="en-US" altLang="zh-CN" sz="2000" b="1" baseline="-25000" dirty="0">
                <a:solidFill>
                  <a:srgbClr val="C00000"/>
                </a:solidFill>
                <a:effectLst>
                  <a:outerShdw blurRad="38100" dist="38100" dir="2700000" algn="tl">
                    <a:srgbClr val="000000">
                      <a:alpha val="43137"/>
                    </a:srgbClr>
                  </a:outerShdw>
                </a:effectLst>
                <a:sym typeface="Symbol" panose="05050102010706020507" pitchFamily="18" charset="2"/>
              </a:rPr>
              <a:t>2</a:t>
            </a:r>
            <a:r>
              <a:rPr lang="en-US" altLang="zh-CN" sz="2000" b="1" dirty="0">
                <a:solidFill>
                  <a:srgbClr val="C00000"/>
                </a:solidFill>
                <a:effectLst>
                  <a:outerShdw blurRad="38100" dist="38100" dir="2700000" algn="tl">
                    <a:srgbClr val="000000">
                      <a:alpha val="43137"/>
                    </a:srgbClr>
                  </a:outerShdw>
                </a:effectLst>
                <a:sym typeface="Symbol" panose="05050102010706020507" pitchFamily="18" charset="2"/>
              </a:rPr>
              <a:t>’</a:t>
            </a:r>
            <a:r>
              <a:rPr lang="en-US" altLang="zh-CN" sz="2000" dirty="0">
                <a:sym typeface="Symbol" panose="05050102010706020507" pitchFamily="18" charset="2"/>
              </a:rPr>
              <a:t>= </a:t>
            </a:r>
            <a:r>
              <a:rPr lang="en-US" altLang="zh-CN" sz="2000" baseline="-25000" dirty="0">
                <a:sym typeface="Symbol" panose="05050102010706020507" pitchFamily="18" charset="2"/>
              </a:rPr>
              <a:t>sat</a:t>
            </a:r>
            <a:r>
              <a:rPr lang="en-US" altLang="zh-CN" sz="2000" dirty="0">
                <a:sym typeface="Symbol" panose="05050102010706020507" pitchFamily="18" charset="2"/>
              </a:rPr>
              <a:t>-</a:t>
            </a:r>
            <a:r>
              <a:rPr lang="en-US" altLang="zh-CN" sz="2000" i="1" baseline="-25000" dirty="0">
                <a:sym typeface="Symbol" panose="05050102010706020507" pitchFamily="18" charset="2"/>
              </a:rPr>
              <a:t>w</a:t>
            </a:r>
            <a:r>
              <a:rPr lang="en-US" altLang="zh-CN" sz="2000" dirty="0">
                <a:sym typeface="Symbol" panose="05050102010706020507" pitchFamily="18" charset="2"/>
              </a:rPr>
              <a:t> =19.25-10 = 9.25 (</a:t>
            </a:r>
            <a:r>
              <a:rPr lang="en-US" altLang="zh-CN" sz="2000" dirty="0" err="1">
                <a:sym typeface="Symbol" panose="05050102010706020507" pitchFamily="18" charset="2"/>
              </a:rPr>
              <a:t>kN</a:t>
            </a:r>
            <a:r>
              <a:rPr lang="en-US" altLang="zh-CN" sz="2000" dirty="0">
                <a:sym typeface="Symbol" panose="05050102010706020507" pitchFamily="18" charset="2"/>
              </a:rPr>
              <a:t>/m</a:t>
            </a:r>
            <a:r>
              <a:rPr lang="en-US" altLang="zh-CN" sz="2000" baseline="30000" dirty="0">
                <a:sym typeface="Symbol" panose="05050102010706020507" pitchFamily="18" charset="2"/>
              </a:rPr>
              <a:t>3</a:t>
            </a:r>
            <a:r>
              <a:rPr lang="en-US" altLang="zh-CN" sz="2000" dirty="0">
                <a:sym typeface="Symbol" panose="05050102010706020507" pitchFamily="18" charset="2"/>
              </a:rPr>
              <a:t>)</a:t>
            </a:r>
            <a:endParaRPr lang="en-US" altLang="zh-CN" sz="2000" dirty="0">
              <a:sym typeface="Symbol" panose="05050102010706020507" pitchFamily="18" charset="2"/>
            </a:endParaRPr>
          </a:p>
        </p:txBody>
      </p:sp>
      <p:sp>
        <p:nvSpPr>
          <p:cNvPr id="39969" name="TextBox 66"/>
          <p:cNvSpPr txBox="1">
            <a:spLocks noChangeArrowheads="1"/>
          </p:cNvSpPr>
          <p:nvPr/>
        </p:nvSpPr>
        <p:spPr bwMode="auto">
          <a:xfrm>
            <a:off x="127000" y="1611313"/>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en-US" altLang="zh-CN" sz="2000" b="1" dirty="0" smtClean="0">
                <a:solidFill>
                  <a:srgbClr val="FF0000"/>
                </a:solidFill>
                <a:latin typeface="+mn-ea"/>
                <a:ea typeface="+mn-ea"/>
              </a:rPr>
              <a:t>【</a:t>
            </a:r>
            <a:r>
              <a:rPr lang="zh-CN" altLang="en-US" sz="2000" b="1" dirty="0" smtClean="0">
                <a:solidFill>
                  <a:srgbClr val="FF0000"/>
                </a:solidFill>
                <a:latin typeface="+mn-ea"/>
                <a:ea typeface="+mn-ea"/>
              </a:rPr>
              <a:t>解</a:t>
            </a:r>
            <a:r>
              <a:rPr lang="en-US" altLang="zh-CN" sz="2000" b="1" dirty="0" smtClean="0">
                <a:solidFill>
                  <a:srgbClr val="FF0000"/>
                </a:solidFill>
                <a:latin typeface="+mn-ea"/>
                <a:ea typeface="+mn-ea"/>
              </a:rPr>
              <a:t>】</a:t>
            </a:r>
            <a:endParaRPr lang="zh-CN" altLang="en-US" sz="2000" b="1" dirty="0" smtClean="0">
              <a:solidFill>
                <a:srgbClr val="FF0000"/>
              </a:solidFill>
              <a:latin typeface="+mn-ea"/>
              <a:ea typeface="+mn-ea"/>
            </a:endParaRPr>
          </a:p>
        </p:txBody>
      </p:sp>
      <p:sp>
        <p:nvSpPr>
          <p:cNvPr id="39970" name="TextBox 67"/>
          <p:cNvSpPr txBox="1">
            <a:spLocks noChangeArrowheads="1"/>
          </p:cNvSpPr>
          <p:nvPr/>
        </p:nvSpPr>
        <p:spPr bwMode="auto">
          <a:xfrm>
            <a:off x="908050" y="1697038"/>
            <a:ext cx="36036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zh-CN" altLang="en-US" sz="2000" b="1" dirty="0" smtClean="0">
                <a:ea typeface="+mn-ea"/>
                <a:cs typeface="Times New Roman" panose="02020603050405020304" pitchFamily="18" charset="0"/>
              </a:rPr>
              <a:t>① 计算各层土主动土压力系数</a:t>
            </a:r>
            <a:endParaRPr lang="zh-CN" altLang="en-US" sz="2000" b="1" dirty="0" smtClean="0">
              <a:ea typeface="+mn-ea"/>
              <a:cs typeface="Times New Roman" panose="02020603050405020304" pitchFamily="18" charset="0"/>
            </a:endParaRPr>
          </a:p>
        </p:txBody>
      </p:sp>
      <p:sp>
        <p:nvSpPr>
          <p:cNvPr id="39971" name="TextBox 68"/>
          <p:cNvSpPr txBox="1">
            <a:spLocks noChangeArrowheads="1"/>
          </p:cNvSpPr>
          <p:nvPr/>
        </p:nvSpPr>
        <p:spPr bwMode="auto">
          <a:xfrm>
            <a:off x="930275" y="3087688"/>
            <a:ext cx="30702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t>② 计算第一层土压力强度</a:t>
            </a:r>
            <a:endParaRPr lang="zh-CN" altLang="en-US" sz="2000" b="1"/>
          </a:p>
        </p:txBody>
      </p:sp>
      <p:sp>
        <p:nvSpPr>
          <p:cNvPr id="39972" name="TextBox 69"/>
          <p:cNvSpPr txBox="1">
            <a:spLocks noChangeArrowheads="1"/>
          </p:cNvSpPr>
          <p:nvPr/>
        </p:nvSpPr>
        <p:spPr bwMode="auto">
          <a:xfrm>
            <a:off x="884238" y="3479800"/>
            <a:ext cx="48672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ym typeface="Symbol" panose="05050102010706020507" pitchFamily="18" charset="2"/>
              </a:rPr>
              <a:t></a:t>
            </a:r>
            <a:r>
              <a:rPr lang="en-US" altLang="zh-CN" sz="2000" baseline="-25000">
                <a:sym typeface="Symbol" panose="05050102010706020507" pitchFamily="18" charset="2"/>
              </a:rPr>
              <a:t>1a</a:t>
            </a:r>
            <a:r>
              <a:rPr lang="en-US" altLang="zh-CN" sz="2000">
                <a:sym typeface="Symbol" panose="05050102010706020507" pitchFamily="18" charset="2"/>
              </a:rPr>
              <a:t>=qK</a:t>
            </a:r>
            <a:r>
              <a:rPr lang="en-US" altLang="zh-CN" sz="2000" baseline="-25000">
                <a:sym typeface="Symbol" panose="05050102010706020507" pitchFamily="18" charset="2"/>
              </a:rPr>
              <a:t>a1</a:t>
            </a:r>
            <a:r>
              <a:rPr lang="en-US" altLang="zh-CN" sz="2000">
                <a:sym typeface="Symbol" panose="05050102010706020507" pitchFamily="18" charset="2"/>
              </a:rPr>
              <a:t>-2c</a:t>
            </a:r>
            <a:r>
              <a:rPr lang="en-US" altLang="zh-CN" sz="2000" baseline="-25000">
                <a:sym typeface="Symbol" panose="05050102010706020507" pitchFamily="18" charset="2"/>
              </a:rPr>
              <a:t>1</a:t>
            </a:r>
            <a:r>
              <a:rPr lang="en-US" altLang="zh-CN" sz="2000">
                <a:sym typeface="Symbol" panose="05050102010706020507" pitchFamily="18" charset="2"/>
              </a:rPr>
              <a:t>K</a:t>
            </a:r>
            <a:r>
              <a:rPr lang="en-US" altLang="zh-CN" sz="2000" baseline="-25000">
                <a:sym typeface="Symbol" panose="05050102010706020507" pitchFamily="18" charset="2"/>
              </a:rPr>
              <a:t>a1</a:t>
            </a:r>
            <a:r>
              <a:rPr lang="en-US" altLang="zh-CN" sz="2000" baseline="30000">
                <a:sym typeface="Symbol" panose="05050102010706020507" pitchFamily="18" charset="2"/>
              </a:rPr>
              <a:t>0.5</a:t>
            </a:r>
            <a:r>
              <a:rPr lang="en-US" altLang="zh-CN" sz="2000">
                <a:sym typeface="Symbol" panose="05050102010706020507" pitchFamily="18" charset="2"/>
              </a:rPr>
              <a:t>=100*0.307-0=30.7 (kPa)</a:t>
            </a:r>
            <a:endParaRPr lang="zh-CN" altLang="en-US" sz="2000"/>
          </a:p>
        </p:txBody>
      </p:sp>
      <p:sp>
        <p:nvSpPr>
          <p:cNvPr id="39973" name="TextBox 70"/>
          <p:cNvSpPr txBox="1">
            <a:spLocks noChangeArrowheads="1"/>
          </p:cNvSpPr>
          <p:nvPr/>
        </p:nvSpPr>
        <p:spPr bwMode="auto">
          <a:xfrm>
            <a:off x="766763" y="3848100"/>
            <a:ext cx="67452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ym typeface="Symbol" panose="05050102010706020507" pitchFamily="18" charset="2"/>
              </a:rPr>
              <a:t></a:t>
            </a:r>
            <a:r>
              <a:rPr lang="en-US" altLang="zh-CN" sz="2000" baseline="-25000">
                <a:sym typeface="Symbol" panose="05050102010706020507" pitchFamily="18" charset="2"/>
              </a:rPr>
              <a:t>1b</a:t>
            </a:r>
            <a:r>
              <a:rPr lang="en-US" altLang="zh-CN" sz="2000">
                <a:sym typeface="Symbol" panose="05050102010706020507" pitchFamily="18" charset="2"/>
              </a:rPr>
              <a:t>=(</a:t>
            </a:r>
            <a:r>
              <a:rPr lang="en-US" altLang="zh-CN" sz="2000" baseline="-25000">
                <a:sym typeface="Symbol" panose="05050102010706020507" pitchFamily="18" charset="2"/>
              </a:rPr>
              <a:t>1</a:t>
            </a:r>
            <a:r>
              <a:rPr lang="en-US" altLang="zh-CN" sz="2000">
                <a:sym typeface="Symbol" panose="05050102010706020507" pitchFamily="18" charset="2"/>
              </a:rPr>
              <a:t>H</a:t>
            </a:r>
            <a:r>
              <a:rPr lang="en-US" altLang="zh-CN" sz="2000" baseline="-25000">
                <a:sym typeface="Symbol" panose="05050102010706020507" pitchFamily="18" charset="2"/>
              </a:rPr>
              <a:t>1</a:t>
            </a:r>
            <a:r>
              <a:rPr lang="en-US" altLang="zh-CN" sz="2000">
                <a:sym typeface="Symbol" panose="05050102010706020507" pitchFamily="18" charset="2"/>
              </a:rPr>
              <a:t>+q)K</a:t>
            </a:r>
            <a:r>
              <a:rPr lang="en-US" altLang="zh-CN" sz="2000" baseline="-25000">
                <a:sym typeface="Symbol" panose="05050102010706020507" pitchFamily="18" charset="2"/>
              </a:rPr>
              <a:t>a1</a:t>
            </a:r>
            <a:r>
              <a:rPr lang="en-US" altLang="zh-CN" sz="2000">
                <a:sym typeface="Symbol" panose="05050102010706020507" pitchFamily="18" charset="2"/>
              </a:rPr>
              <a:t>-2c</a:t>
            </a:r>
            <a:r>
              <a:rPr lang="en-US" altLang="zh-CN" sz="2000" baseline="-25000">
                <a:sym typeface="Symbol" panose="05050102010706020507" pitchFamily="18" charset="2"/>
              </a:rPr>
              <a:t>1</a:t>
            </a:r>
            <a:r>
              <a:rPr lang="en-US" altLang="zh-CN" sz="2000">
                <a:sym typeface="Symbol" panose="05050102010706020507" pitchFamily="18" charset="2"/>
              </a:rPr>
              <a:t>K</a:t>
            </a:r>
            <a:r>
              <a:rPr lang="en-US" altLang="zh-CN" sz="2000" baseline="-25000">
                <a:sym typeface="Symbol" panose="05050102010706020507" pitchFamily="18" charset="2"/>
              </a:rPr>
              <a:t>a1</a:t>
            </a:r>
            <a:r>
              <a:rPr lang="en-US" altLang="zh-CN" sz="2000" baseline="30000">
                <a:sym typeface="Symbol" panose="05050102010706020507" pitchFamily="18" charset="2"/>
              </a:rPr>
              <a:t>0.5</a:t>
            </a:r>
            <a:r>
              <a:rPr lang="en-US" altLang="zh-CN" sz="2000">
                <a:sym typeface="Symbol" panose="05050102010706020507" pitchFamily="18" charset="2"/>
              </a:rPr>
              <a:t>=(16.5*3.5+100)*0.307-0=48.4 (kPa)</a:t>
            </a:r>
            <a:endParaRPr lang="zh-CN" altLang="en-US" sz="2000"/>
          </a:p>
        </p:txBody>
      </p:sp>
      <p:sp>
        <p:nvSpPr>
          <p:cNvPr id="39974" name="流程图: 合并 71"/>
          <p:cNvSpPr>
            <a:spLocks noChangeArrowheads="1"/>
          </p:cNvSpPr>
          <p:nvPr/>
        </p:nvSpPr>
        <p:spPr bwMode="auto">
          <a:xfrm>
            <a:off x="7608888" y="2952750"/>
            <a:ext cx="287337" cy="144463"/>
          </a:xfrm>
          <a:prstGeom prst="flowChartMerg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cxnSp>
        <p:nvCxnSpPr>
          <p:cNvPr id="39975" name="直接连接符 74"/>
          <p:cNvCxnSpPr>
            <a:cxnSpLocks noChangeShapeType="1"/>
          </p:cNvCxnSpPr>
          <p:nvPr/>
        </p:nvCxnSpPr>
        <p:spPr bwMode="auto">
          <a:xfrm>
            <a:off x="7537450" y="3097213"/>
            <a:ext cx="431800" cy="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39976" name="TextBox 75"/>
          <p:cNvSpPr txBox="1">
            <a:spLocks noChangeArrowheads="1"/>
          </p:cNvSpPr>
          <p:nvPr/>
        </p:nvSpPr>
        <p:spPr bwMode="auto">
          <a:xfrm>
            <a:off x="941388" y="4319588"/>
            <a:ext cx="30686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t>③ 计算第二层土压力强度</a:t>
            </a:r>
            <a:endParaRPr lang="zh-CN" altLang="en-US" sz="2000" b="1"/>
          </a:p>
        </p:txBody>
      </p:sp>
      <p:sp>
        <p:nvSpPr>
          <p:cNvPr id="77" name="TextBox 76"/>
          <p:cNvSpPr txBox="1"/>
          <p:nvPr/>
        </p:nvSpPr>
        <p:spPr>
          <a:xfrm>
            <a:off x="323850" y="4760913"/>
            <a:ext cx="7959725" cy="369887"/>
          </a:xfrm>
          <a:prstGeom prst="rect">
            <a:avLst/>
          </a:prstGeom>
          <a:noFill/>
        </p:spPr>
        <p:txBody>
          <a:bodyPr wrap="none">
            <a:spAutoFit/>
          </a:bodyPr>
          <a:lstStyle/>
          <a:p>
            <a:pPr eaLnBrk="1" hangingPunct="1">
              <a:defRPr/>
            </a:pPr>
            <a:r>
              <a:rPr lang="zh-CN" altLang="en-US" sz="1800" dirty="0">
                <a:sym typeface="Symbol" panose="05050102010706020507"/>
              </a:rPr>
              <a:t></a:t>
            </a:r>
            <a:r>
              <a:rPr lang="en-US" altLang="zh-CN" sz="1800" baseline="-25000" dirty="0">
                <a:sym typeface="Symbol" panose="05050102010706020507"/>
              </a:rPr>
              <a:t>2a</a:t>
            </a:r>
            <a:r>
              <a:rPr lang="en-US" altLang="zh-CN" sz="1800" dirty="0">
                <a:sym typeface="Symbol" panose="05050102010706020507"/>
              </a:rPr>
              <a:t> =(</a:t>
            </a:r>
            <a:r>
              <a:rPr lang="en-US" altLang="zh-CN" sz="1800" baseline="-25000" dirty="0">
                <a:sym typeface="Symbol" panose="05050102010706020507"/>
              </a:rPr>
              <a:t>1</a:t>
            </a:r>
            <a:r>
              <a:rPr lang="en-US" altLang="zh-CN" sz="1800" dirty="0">
                <a:sym typeface="Symbol" panose="05050102010706020507"/>
              </a:rPr>
              <a:t>H</a:t>
            </a:r>
            <a:r>
              <a:rPr lang="en-US" altLang="zh-CN" sz="1800" baseline="-25000" dirty="0">
                <a:sym typeface="Symbol" panose="05050102010706020507"/>
              </a:rPr>
              <a:t>1</a:t>
            </a:r>
            <a:r>
              <a:rPr lang="en-US" altLang="zh-CN" sz="1800" dirty="0">
                <a:sym typeface="Symbol" panose="05050102010706020507"/>
              </a:rPr>
              <a:t>+q)</a:t>
            </a:r>
            <a:r>
              <a:rPr lang="en-US" altLang="zh-CN" sz="1800" b="1" dirty="0">
                <a:solidFill>
                  <a:srgbClr val="C00000"/>
                </a:solidFill>
                <a:effectLst>
                  <a:outerShdw blurRad="38100" dist="38100" dir="2700000" algn="tl">
                    <a:srgbClr val="000000">
                      <a:alpha val="43137"/>
                    </a:srgbClr>
                  </a:outerShdw>
                </a:effectLst>
                <a:sym typeface="Symbol" panose="05050102010706020507"/>
              </a:rPr>
              <a:t>Ka</a:t>
            </a:r>
            <a:r>
              <a:rPr lang="en-US" altLang="zh-CN" sz="1800" b="1" baseline="-25000" dirty="0">
                <a:solidFill>
                  <a:srgbClr val="C00000"/>
                </a:solidFill>
                <a:effectLst>
                  <a:outerShdw blurRad="38100" dist="38100" dir="2700000" algn="tl">
                    <a:srgbClr val="000000">
                      <a:alpha val="43137"/>
                    </a:srgbClr>
                  </a:outerShdw>
                </a:effectLst>
                <a:sym typeface="Symbol" panose="05050102010706020507"/>
              </a:rPr>
              <a:t>2</a:t>
            </a:r>
            <a:r>
              <a:rPr lang="en-US" altLang="zh-CN" sz="1800" dirty="0">
                <a:sym typeface="Symbol" panose="05050102010706020507"/>
              </a:rPr>
              <a:t>-2</a:t>
            </a:r>
            <a:r>
              <a:rPr lang="en-US" altLang="zh-CN" sz="1800" b="1" dirty="0">
                <a:solidFill>
                  <a:srgbClr val="C00000"/>
                </a:solidFill>
                <a:effectLst>
                  <a:outerShdw blurRad="38100" dist="38100" dir="2700000" algn="tl">
                    <a:srgbClr val="000000">
                      <a:alpha val="43137"/>
                    </a:srgbClr>
                  </a:outerShdw>
                </a:effectLst>
                <a:sym typeface="Symbol" panose="05050102010706020507"/>
              </a:rPr>
              <a:t>c</a:t>
            </a:r>
            <a:r>
              <a:rPr lang="en-US" altLang="zh-CN" sz="1800" b="1" baseline="-25000" dirty="0">
                <a:solidFill>
                  <a:srgbClr val="C00000"/>
                </a:solidFill>
                <a:effectLst>
                  <a:outerShdw blurRad="38100" dist="38100" dir="2700000" algn="tl">
                    <a:srgbClr val="000000">
                      <a:alpha val="43137"/>
                    </a:srgbClr>
                  </a:outerShdw>
                </a:effectLst>
                <a:sym typeface="Symbol" panose="05050102010706020507"/>
              </a:rPr>
              <a:t>2</a:t>
            </a:r>
            <a:r>
              <a:rPr lang="en-US" altLang="zh-CN" sz="1800" b="1" dirty="0">
                <a:solidFill>
                  <a:srgbClr val="C00000"/>
                </a:solidFill>
                <a:effectLst>
                  <a:outerShdw blurRad="38100" dist="38100" dir="2700000" algn="tl">
                    <a:srgbClr val="000000">
                      <a:alpha val="43137"/>
                    </a:srgbClr>
                  </a:outerShdw>
                </a:effectLst>
                <a:sym typeface="Symbol" panose="05050102010706020507"/>
              </a:rPr>
              <a:t>’Ka</a:t>
            </a:r>
            <a:r>
              <a:rPr lang="en-US" altLang="zh-CN" sz="1800" b="1" baseline="-25000" dirty="0">
                <a:solidFill>
                  <a:srgbClr val="C00000"/>
                </a:solidFill>
                <a:effectLst>
                  <a:outerShdw blurRad="38100" dist="38100" dir="2700000" algn="tl">
                    <a:srgbClr val="000000">
                      <a:alpha val="43137"/>
                    </a:srgbClr>
                  </a:outerShdw>
                </a:effectLst>
                <a:sym typeface="Symbol" panose="05050102010706020507"/>
              </a:rPr>
              <a:t>2</a:t>
            </a:r>
            <a:r>
              <a:rPr lang="en-US" altLang="zh-CN" sz="1800" baseline="30000" dirty="0">
                <a:sym typeface="Symbol" panose="05050102010706020507"/>
              </a:rPr>
              <a:t>0.5 </a:t>
            </a:r>
            <a:r>
              <a:rPr lang="en-US" altLang="zh-CN" sz="1800" dirty="0">
                <a:sym typeface="Symbol" panose="05050102010706020507"/>
              </a:rPr>
              <a:t>= (16.5*3.5+100)*0.333-2*10*0.333</a:t>
            </a:r>
            <a:r>
              <a:rPr lang="en-US" altLang="zh-CN" sz="1800" baseline="30000" dirty="0">
                <a:sym typeface="Symbol" panose="05050102010706020507"/>
              </a:rPr>
              <a:t>0.5</a:t>
            </a:r>
            <a:r>
              <a:rPr lang="en-US" altLang="zh-CN" sz="1800" dirty="0">
                <a:sym typeface="Symbol" panose="05050102010706020507"/>
              </a:rPr>
              <a:t>=41.0 (</a:t>
            </a:r>
            <a:r>
              <a:rPr lang="en-US" altLang="zh-CN" sz="1800" dirty="0" err="1">
                <a:sym typeface="Symbol" panose="05050102010706020507"/>
              </a:rPr>
              <a:t>kPa</a:t>
            </a:r>
            <a:r>
              <a:rPr lang="en-US" altLang="zh-CN" sz="1800" dirty="0">
                <a:sym typeface="Symbol" panose="05050102010706020507"/>
              </a:rPr>
              <a:t>) </a:t>
            </a:r>
            <a:endParaRPr lang="zh-CN" altLang="en-US" sz="1800" dirty="0"/>
          </a:p>
        </p:txBody>
      </p:sp>
      <p:sp>
        <p:nvSpPr>
          <p:cNvPr id="78" name="TextBox 77"/>
          <p:cNvSpPr txBox="1"/>
          <p:nvPr/>
        </p:nvSpPr>
        <p:spPr>
          <a:xfrm>
            <a:off x="127000" y="5138738"/>
            <a:ext cx="9017000" cy="369887"/>
          </a:xfrm>
          <a:prstGeom prst="rect">
            <a:avLst/>
          </a:prstGeom>
          <a:noFill/>
        </p:spPr>
        <p:txBody>
          <a:bodyPr>
            <a:spAutoFit/>
          </a:bodyPr>
          <a:lstStyle/>
          <a:p>
            <a:pPr eaLnBrk="1" hangingPunct="1">
              <a:defRPr/>
            </a:pPr>
            <a:r>
              <a:rPr lang="zh-CN" altLang="en-US" sz="1800" dirty="0">
                <a:sym typeface="Symbol" panose="05050102010706020507"/>
              </a:rPr>
              <a:t></a:t>
            </a:r>
            <a:r>
              <a:rPr lang="en-US" altLang="zh-CN" sz="1800" baseline="-25000" dirty="0">
                <a:sym typeface="Symbol" panose="05050102010706020507"/>
              </a:rPr>
              <a:t>2b</a:t>
            </a:r>
            <a:r>
              <a:rPr lang="en-US" altLang="zh-CN" sz="1800" dirty="0">
                <a:sym typeface="Symbol" panose="05050102010706020507"/>
              </a:rPr>
              <a:t> =(</a:t>
            </a:r>
            <a:r>
              <a:rPr lang="en-US" altLang="zh-CN" sz="1800" baseline="-25000" dirty="0">
                <a:sym typeface="Symbol" panose="05050102010706020507"/>
              </a:rPr>
              <a:t>1</a:t>
            </a:r>
            <a:r>
              <a:rPr lang="en-US" altLang="zh-CN" sz="1800" dirty="0">
                <a:sym typeface="Symbol" panose="05050102010706020507"/>
              </a:rPr>
              <a:t>H</a:t>
            </a:r>
            <a:r>
              <a:rPr lang="en-US" altLang="zh-CN" sz="1800" baseline="-25000" dirty="0">
                <a:sym typeface="Symbol" panose="05050102010706020507"/>
              </a:rPr>
              <a:t>1</a:t>
            </a:r>
            <a:r>
              <a:rPr lang="en-US" altLang="zh-CN" sz="1800" dirty="0">
                <a:sym typeface="Symbol" panose="05050102010706020507"/>
              </a:rPr>
              <a:t>+</a:t>
            </a:r>
            <a:r>
              <a:rPr lang="en-US" altLang="zh-CN" sz="1800" b="1" dirty="0">
                <a:solidFill>
                  <a:srgbClr val="C00000"/>
                </a:solidFill>
                <a:effectLst>
                  <a:outerShdw blurRad="38100" dist="38100" dir="2700000" algn="tl">
                    <a:srgbClr val="000000">
                      <a:alpha val="43137"/>
                    </a:srgbClr>
                  </a:outerShdw>
                </a:effectLst>
                <a:sym typeface="Symbol" panose="05050102010706020507"/>
              </a:rPr>
              <a:t></a:t>
            </a:r>
            <a:r>
              <a:rPr lang="en-US" altLang="zh-CN" sz="1800" b="1" baseline="-25000" dirty="0">
                <a:solidFill>
                  <a:srgbClr val="C00000"/>
                </a:solidFill>
                <a:effectLst>
                  <a:outerShdw blurRad="38100" dist="38100" dir="2700000" algn="tl">
                    <a:srgbClr val="000000">
                      <a:alpha val="43137"/>
                    </a:srgbClr>
                  </a:outerShdw>
                </a:effectLst>
                <a:sym typeface="Symbol" panose="05050102010706020507"/>
              </a:rPr>
              <a:t>2</a:t>
            </a:r>
            <a:r>
              <a:rPr lang="en-US" altLang="zh-CN" sz="1800" b="1" dirty="0">
                <a:solidFill>
                  <a:srgbClr val="C00000"/>
                </a:solidFill>
                <a:effectLst>
                  <a:outerShdw blurRad="38100" dist="38100" dir="2700000" algn="tl">
                    <a:srgbClr val="000000">
                      <a:alpha val="43137"/>
                    </a:srgbClr>
                  </a:outerShdw>
                </a:effectLst>
                <a:sym typeface="Symbol" panose="05050102010706020507"/>
              </a:rPr>
              <a:t>’</a:t>
            </a:r>
            <a:r>
              <a:rPr lang="en-US" altLang="zh-CN" sz="1800" dirty="0">
                <a:sym typeface="Symbol" panose="05050102010706020507"/>
              </a:rPr>
              <a:t>H</a:t>
            </a:r>
            <a:r>
              <a:rPr lang="en-US" altLang="zh-CN" sz="1800" baseline="-25000" dirty="0">
                <a:sym typeface="Symbol" panose="05050102010706020507"/>
              </a:rPr>
              <a:t>2</a:t>
            </a:r>
            <a:r>
              <a:rPr lang="en-US" altLang="zh-CN" sz="1800" dirty="0">
                <a:sym typeface="Symbol" panose="05050102010706020507"/>
              </a:rPr>
              <a:t>+q)K</a:t>
            </a:r>
            <a:r>
              <a:rPr lang="en-US" altLang="zh-CN" sz="1800" baseline="-25000" dirty="0">
                <a:sym typeface="Symbol" panose="05050102010706020507"/>
              </a:rPr>
              <a:t>a2</a:t>
            </a:r>
            <a:r>
              <a:rPr lang="en-US" altLang="zh-CN" sz="1800" dirty="0">
                <a:sym typeface="Symbol" panose="05050102010706020507"/>
              </a:rPr>
              <a:t>-2</a:t>
            </a:r>
            <a:r>
              <a:rPr lang="en-US" altLang="zh-CN" sz="1800" b="1" dirty="0">
                <a:solidFill>
                  <a:srgbClr val="C00000"/>
                </a:solidFill>
                <a:effectLst>
                  <a:outerShdw blurRad="38100" dist="38100" dir="2700000" algn="tl">
                    <a:srgbClr val="000000">
                      <a:alpha val="43137"/>
                    </a:srgbClr>
                  </a:outerShdw>
                </a:effectLst>
                <a:sym typeface="Symbol" panose="05050102010706020507"/>
              </a:rPr>
              <a:t>c</a:t>
            </a:r>
            <a:r>
              <a:rPr lang="en-US" altLang="zh-CN" sz="1800" b="1" baseline="-25000" dirty="0">
                <a:solidFill>
                  <a:srgbClr val="C00000"/>
                </a:solidFill>
                <a:effectLst>
                  <a:outerShdw blurRad="38100" dist="38100" dir="2700000" algn="tl">
                    <a:srgbClr val="000000">
                      <a:alpha val="43137"/>
                    </a:srgbClr>
                  </a:outerShdw>
                </a:effectLst>
                <a:sym typeface="Symbol" panose="05050102010706020507"/>
              </a:rPr>
              <a:t>2</a:t>
            </a:r>
            <a:r>
              <a:rPr lang="en-US" altLang="zh-CN" sz="1800" b="1" dirty="0">
                <a:solidFill>
                  <a:srgbClr val="C00000"/>
                </a:solidFill>
                <a:effectLst>
                  <a:outerShdw blurRad="38100" dist="38100" dir="2700000" algn="tl">
                    <a:srgbClr val="000000">
                      <a:alpha val="43137"/>
                    </a:srgbClr>
                  </a:outerShdw>
                </a:effectLst>
                <a:sym typeface="Symbol" panose="05050102010706020507"/>
              </a:rPr>
              <a:t>’Ka</a:t>
            </a:r>
            <a:r>
              <a:rPr lang="en-US" altLang="zh-CN" sz="1800" b="1" baseline="-25000" dirty="0">
                <a:solidFill>
                  <a:srgbClr val="C00000"/>
                </a:solidFill>
                <a:effectLst>
                  <a:outerShdw blurRad="38100" dist="38100" dir="2700000" algn="tl">
                    <a:srgbClr val="000000">
                      <a:alpha val="43137"/>
                    </a:srgbClr>
                  </a:outerShdw>
                </a:effectLst>
                <a:sym typeface="Symbol" panose="05050102010706020507"/>
              </a:rPr>
              <a:t>2</a:t>
            </a:r>
            <a:r>
              <a:rPr lang="en-US" altLang="zh-CN" sz="1800" baseline="30000" dirty="0">
                <a:sym typeface="Symbol" panose="05050102010706020507"/>
              </a:rPr>
              <a:t>0.5 </a:t>
            </a:r>
            <a:r>
              <a:rPr lang="en-US" altLang="zh-CN" sz="1800" dirty="0">
                <a:sym typeface="Symbol" panose="05050102010706020507"/>
              </a:rPr>
              <a:t>= (16.5*3.5+9.25*3.5+100)*0.333-2*10*0.333</a:t>
            </a:r>
            <a:r>
              <a:rPr lang="en-US" altLang="zh-CN" sz="1800" baseline="30000" dirty="0">
                <a:sym typeface="Symbol" panose="05050102010706020507"/>
              </a:rPr>
              <a:t>0.5</a:t>
            </a:r>
            <a:r>
              <a:rPr lang="en-US" altLang="zh-CN" sz="1800" dirty="0">
                <a:sym typeface="Symbol" panose="05050102010706020507"/>
              </a:rPr>
              <a:t>=51.8 (</a:t>
            </a:r>
            <a:r>
              <a:rPr lang="en-US" altLang="zh-CN" sz="1800" dirty="0" err="1">
                <a:sym typeface="Symbol" panose="05050102010706020507"/>
              </a:rPr>
              <a:t>kPa</a:t>
            </a:r>
            <a:r>
              <a:rPr lang="en-US" altLang="zh-CN" sz="1800" dirty="0">
                <a:sym typeface="Symbol" panose="05050102010706020507"/>
              </a:rPr>
              <a:t>) </a:t>
            </a:r>
            <a:endParaRPr lang="zh-CN" altLang="en-US" sz="1800" dirty="0"/>
          </a:p>
        </p:txBody>
      </p:sp>
      <p:sp>
        <p:nvSpPr>
          <p:cNvPr id="39979" name="TextBox 78"/>
          <p:cNvSpPr txBox="1">
            <a:spLocks noChangeArrowheads="1"/>
          </p:cNvSpPr>
          <p:nvPr/>
        </p:nvSpPr>
        <p:spPr bwMode="auto">
          <a:xfrm>
            <a:off x="955675" y="5556250"/>
            <a:ext cx="33480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lang="zh-CN" altLang="en-US" sz="2000" b="1" dirty="0" smtClean="0">
                <a:latin typeface="+mn-ea"/>
                <a:ea typeface="+mn-ea"/>
              </a:rPr>
              <a:t>④ 计算土压力</a:t>
            </a:r>
            <a:r>
              <a:rPr lang="en-US" altLang="zh-CN" sz="2000" b="1" dirty="0" err="1" smtClean="0">
                <a:latin typeface="+mn-ea"/>
                <a:ea typeface="+mn-ea"/>
              </a:rPr>
              <a:t>Ea</a:t>
            </a:r>
            <a:r>
              <a:rPr lang="zh-CN" altLang="en-US" sz="2000" b="1" dirty="0" smtClean="0">
                <a:latin typeface="+mn-ea"/>
                <a:ea typeface="+mn-ea"/>
              </a:rPr>
              <a:t>和水压力</a:t>
            </a:r>
            <a:r>
              <a:rPr lang="en-US" altLang="zh-CN" sz="2000" b="1" dirty="0" err="1" smtClean="0">
                <a:latin typeface="+mn-ea"/>
                <a:ea typeface="+mn-ea"/>
              </a:rPr>
              <a:t>E</a:t>
            </a:r>
            <a:r>
              <a:rPr lang="en-US" altLang="zh-CN" sz="2000" b="1" i="1" baseline="-25000" dirty="0" err="1" smtClean="0">
                <a:latin typeface="+mn-ea"/>
                <a:ea typeface="+mn-ea"/>
              </a:rPr>
              <a:t>w</a:t>
            </a:r>
            <a:endParaRPr lang="zh-CN" altLang="en-US" sz="2000" b="1" i="1" baseline="-25000" dirty="0" smtClean="0">
              <a:latin typeface="+mn-ea"/>
              <a:ea typeface="+mn-ea"/>
            </a:endParaRPr>
          </a:p>
        </p:txBody>
      </p:sp>
      <p:sp>
        <p:nvSpPr>
          <p:cNvPr id="39980" name="TextBox 79"/>
          <p:cNvSpPr txBox="1">
            <a:spLocks noChangeArrowheads="1"/>
          </p:cNvSpPr>
          <p:nvPr/>
        </p:nvSpPr>
        <p:spPr bwMode="auto">
          <a:xfrm>
            <a:off x="11113" y="5946775"/>
            <a:ext cx="9248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lang="en-US" altLang="zh-CN" sz="2000" b="1" dirty="0" err="1" smtClean="0">
                <a:ea typeface="+mn-ea"/>
                <a:cs typeface="Times New Roman" panose="02020603050405020304" pitchFamily="18" charset="0"/>
              </a:rPr>
              <a:t>E</a:t>
            </a:r>
            <a:r>
              <a:rPr lang="en-US" altLang="zh-CN" sz="2000" b="1" baseline="-25000" dirty="0" err="1" smtClean="0">
                <a:ea typeface="+mn-ea"/>
                <a:cs typeface="Times New Roman" panose="02020603050405020304" pitchFamily="18" charset="0"/>
              </a:rPr>
              <a:t>a</a:t>
            </a:r>
            <a:r>
              <a:rPr lang="en-US" altLang="zh-CN" sz="2000" b="1" dirty="0" smtClean="0">
                <a:ea typeface="+mn-ea"/>
                <a:cs typeface="Times New Roman" panose="02020603050405020304" pitchFamily="18" charset="0"/>
              </a:rPr>
              <a:t> = </a:t>
            </a:r>
            <a:r>
              <a:rPr lang="zh-CN" altLang="en-US" sz="2000" b="1" dirty="0" smtClean="0">
                <a:ea typeface="+mn-ea"/>
                <a:cs typeface="Times New Roman" panose="02020603050405020304" pitchFamily="18" charset="0"/>
              </a:rPr>
              <a:t>两个压力强度分布图面积</a:t>
            </a:r>
            <a:r>
              <a:rPr lang="en-US" altLang="zh-CN" sz="2000" b="1" dirty="0" smtClean="0">
                <a:ea typeface="+mn-ea"/>
                <a:cs typeface="Times New Roman" panose="02020603050405020304" pitchFamily="18" charset="0"/>
              </a:rPr>
              <a:t>=(30.7+48.4)*3.5/2 + (41+51.8)*3.5/2=300.8 (</a:t>
            </a:r>
            <a:r>
              <a:rPr lang="en-US" altLang="zh-CN" sz="2000" b="1" dirty="0" err="1" smtClean="0">
                <a:ea typeface="+mn-ea"/>
                <a:cs typeface="Times New Roman" panose="02020603050405020304" pitchFamily="18" charset="0"/>
              </a:rPr>
              <a:t>kN</a:t>
            </a:r>
            <a:r>
              <a:rPr lang="en-US" altLang="zh-CN" sz="2000" b="1" dirty="0" smtClean="0">
                <a:ea typeface="+mn-ea"/>
                <a:cs typeface="Times New Roman" panose="02020603050405020304" pitchFamily="18" charset="0"/>
              </a:rPr>
              <a:t>/m)</a:t>
            </a:r>
            <a:endParaRPr lang="zh-CN" altLang="en-US" sz="2000" b="1" dirty="0" smtClean="0">
              <a:ea typeface="+mn-ea"/>
              <a:cs typeface="Times New Roman" panose="02020603050405020304" pitchFamily="18" charset="0"/>
            </a:endParaRPr>
          </a:p>
        </p:txBody>
      </p:sp>
      <p:sp>
        <p:nvSpPr>
          <p:cNvPr id="39981" name="TextBox 80"/>
          <p:cNvSpPr txBox="1">
            <a:spLocks noChangeArrowheads="1"/>
          </p:cNvSpPr>
          <p:nvPr/>
        </p:nvSpPr>
        <p:spPr bwMode="auto">
          <a:xfrm>
            <a:off x="519113" y="6369050"/>
            <a:ext cx="4143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a:t>E</a:t>
            </a:r>
            <a:r>
              <a:rPr lang="en-US" altLang="zh-CN" sz="2000" baseline="-25000"/>
              <a:t>w</a:t>
            </a:r>
            <a:r>
              <a:rPr lang="en-US" altLang="zh-CN" sz="2000"/>
              <a:t> = 35*3.5/2=(kN/m) =61.25 (kN/m)</a:t>
            </a:r>
            <a:endParaRPr lang="zh-CN" altLang="en-US" sz="2000"/>
          </a:p>
        </p:txBody>
      </p:sp>
      <p:sp>
        <p:nvSpPr>
          <p:cNvPr id="46" name="Rectangle 6"/>
          <p:cNvSpPr>
            <a:spLocks noChangeArrowheads="1"/>
          </p:cNvSpPr>
          <p:nvPr/>
        </p:nvSpPr>
        <p:spPr bwMode="auto">
          <a:xfrm>
            <a:off x="-3175" y="-9842"/>
            <a:ext cx="3617913"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朗肯土压力理论</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Line 50"/>
          <p:cNvSpPr>
            <a:spLocks noChangeShapeType="1"/>
          </p:cNvSpPr>
          <p:nvPr/>
        </p:nvSpPr>
        <p:spPr bwMode="auto">
          <a:xfrm>
            <a:off x="985838" y="3548063"/>
            <a:ext cx="0" cy="13684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63" name="Line 51"/>
          <p:cNvSpPr>
            <a:spLocks noChangeShapeType="1"/>
          </p:cNvSpPr>
          <p:nvPr/>
        </p:nvSpPr>
        <p:spPr bwMode="auto">
          <a:xfrm flipH="1">
            <a:off x="985838" y="3548063"/>
            <a:ext cx="28733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64" name="Line 52"/>
          <p:cNvSpPr>
            <a:spLocks noChangeShapeType="1"/>
          </p:cNvSpPr>
          <p:nvPr/>
        </p:nvSpPr>
        <p:spPr bwMode="auto">
          <a:xfrm flipH="1">
            <a:off x="985838" y="4124325"/>
            <a:ext cx="4318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65" name="Line 54"/>
          <p:cNvSpPr>
            <a:spLocks noChangeShapeType="1"/>
          </p:cNvSpPr>
          <p:nvPr/>
        </p:nvSpPr>
        <p:spPr bwMode="auto">
          <a:xfrm>
            <a:off x="1273175" y="3548063"/>
            <a:ext cx="144463"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66" name="Line 55"/>
          <p:cNvSpPr>
            <a:spLocks noChangeShapeType="1"/>
          </p:cNvSpPr>
          <p:nvPr/>
        </p:nvSpPr>
        <p:spPr bwMode="auto">
          <a:xfrm>
            <a:off x="1354138" y="4149725"/>
            <a:ext cx="374650" cy="7667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67" name="Line 57"/>
          <p:cNvSpPr>
            <a:spLocks noChangeShapeType="1"/>
          </p:cNvSpPr>
          <p:nvPr/>
        </p:nvSpPr>
        <p:spPr bwMode="auto">
          <a:xfrm flipH="1">
            <a:off x="985838" y="3763963"/>
            <a:ext cx="28733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68" name="Line 58"/>
          <p:cNvSpPr>
            <a:spLocks noChangeShapeType="1"/>
          </p:cNvSpPr>
          <p:nvPr/>
        </p:nvSpPr>
        <p:spPr bwMode="auto">
          <a:xfrm flipH="1">
            <a:off x="985838" y="3930650"/>
            <a:ext cx="36036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69" name="Text Box 62"/>
          <p:cNvSpPr txBox="1">
            <a:spLocks noChangeArrowheads="1"/>
          </p:cNvSpPr>
          <p:nvPr/>
        </p:nvSpPr>
        <p:spPr bwMode="auto">
          <a:xfrm>
            <a:off x="611188" y="3233738"/>
            <a:ext cx="895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30.7 kPa</a:t>
            </a:r>
            <a:endParaRPr lang="en-US" altLang="zh-CN" sz="1600"/>
          </a:p>
        </p:txBody>
      </p:sp>
      <p:sp>
        <p:nvSpPr>
          <p:cNvPr id="40970" name="Text Box 63"/>
          <p:cNvSpPr txBox="1">
            <a:spLocks noChangeArrowheads="1"/>
          </p:cNvSpPr>
          <p:nvPr/>
        </p:nvSpPr>
        <p:spPr bwMode="auto">
          <a:xfrm>
            <a:off x="766763" y="5011738"/>
            <a:ext cx="9017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51.8 kPa</a:t>
            </a:r>
            <a:endParaRPr lang="en-US" altLang="zh-CN" sz="1600"/>
          </a:p>
        </p:txBody>
      </p:sp>
      <p:sp>
        <p:nvSpPr>
          <p:cNvPr id="40971" name="Text Box 64"/>
          <p:cNvSpPr txBox="1">
            <a:spLocks noChangeArrowheads="1"/>
          </p:cNvSpPr>
          <p:nvPr/>
        </p:nvSpPr>
        <p:spPr bwMode="auto">
          <a:xfrm>
            <a:off x="1568450" y="3835400"/>
            <a:ext cx="590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48.4 </a:t>
            </a:r>
            <a:endParaRPr lang="en-US" altLang="zh-CN" sz="1600"/>
          </a:p>
        </p:txBody>
      </p:sp>
      <p:sp>
        <p:nvSpPr>
          <p:cNvPr id="40972" name="Text Box 65"/>
          <p:cNvSpPr txBox="1">
            <a:spLocks noChangeArrowheads="1"/>
          </p:cNvSpPr>
          <p:nvPr/>
        </p:nvSpPr>
        <p:spPr bwMode="auto">
          <a:xfrm>
            <a:off x="1560513" y="4051300"/>
            <a:ext cx="5937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41.0 </a:t>
            </a:r>
            <a:endParaRPr lang="en-US" altLang="zh-CN" sz="1600"/>
          </a:p>
        </p:txBody>
      </p:sp>
      <p:sp>
        <p:nvSpPr>
          <p:cNvPr id="40973" name="Text Box 73"/>
          <p:cNvSpPr txBox="1">
            <a:spLocks noChangeArrowheads="1"/>
          </p:cNvSpPr>
          <p:nvPr/>
        </p:nvSpPr>
        <p:spPr bwMode="auto">
          <a:xfrm>
            <a:off x="742950" y="5462588"/>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a:t>土压力分布</a:t>
            </a:r>
            <a:endParaRPr lang="zh-CN" altLang="en-US" sz="2000" b="1"/>
          </a:p>
        </p:txBody>
      </p:sp>
      <p:sp>
        <p:nvSpPr>
          <p:cNvPr id="40974" name="Text Box 74"/>
          <p:cNvSpPr txBox="1">
            <a:spLocks noChangeArrowheads="1"/>
          </p:cNvSpPr>
          <p:nvPr/>
        </p:nvSpPr>
        <p:spPr bwMode="auto">
          <a:xfrm>
            <a:off x="4713288" y="5348288"/>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a:t>水压力分布</a:t>
            </a:r>
            <a:endParaRPr lang="zh-CN" altLang="en-US" sz="2000" b="1"/>
          </a:p>
        </p:txBody>
      </p:sp>
      <p:grpSp>
        <p:nvGrpSpPr>
          <p:cNvPr id="40975" name="Group 79"/>
          <p:cNvGrpSpPr/>
          <p:nvPr/>
        </p:nvGrpSpPr>
        <p:grpSpPr bwMode="auto">
          <a:xfrm>
            <a:off x="4994275" y="4051300"/>
            <a:ext cx="742950" cy="1298575"/>
            <a:chOff x="1746" y="1842"/>
            <a:chExt cx="468" cy="818"/>
          </a:xfrm>
        </p:grpSpPr>
        <p:sp>
          <p:nvSpPr>
            <p:cNvPr id="41005" name="Line 67"/>
            <p:cNvSpPr>
              <a:spLocks noChangeShapeType="1"/>
            </p:cNvSpPr>
            <p:nvPr/>
          </p:nvSpPr>
          <p:spPr bwMode="auto">
            <a:xfrm>
              <a:off x="1791" y="1863"/>
              <a:ext cx="0" cy="5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06" name="Line 68"/>
            <p:cNvSpPr>
              <a:spLocks noChangeShapeType="1"/>
            </p:cNvSpPr>
            <p:nvPr/>
          </p:nvSpPr>
          <p:spPr bwMode="auto">
            <a:xfrm>
              <a:off x="1791" y="1842"/>
              <a:ext cx="318" cy="5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07" name="Line 69"/>
            <p:cNvSpPr>
              <a:spLocks noChangeShapeType="1"/>
            </p:cNvSpPr>
            <p:nvPr/>
          </p:nvSpPr>
          <p:spPr bwMode="auto">
            <a:xfrm flipH="1">
              <a:off x="1791" y="2387"/>
              <a:ext cx="31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008" name="Line 70"/>
            <p:cNvSpPr>
              <a:spLocks noChangeShapeType="1"/>
            </p:cNvSpPr>
            <p:nvPr/>
          </p:nvSpPr>
          <p:spPr bwMode="auto">
            <a:xfrm flipH="1">
              <a:off x="1791" y="2205"/>
              <a:ext cx="22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009" name="Line 71"/>
            <p:cNvSpPr>
              <a:spLocks noChangeShapeType="1"/>
            </p:cNvSpPr>
            <p:nvPr/>
          </p:nvSpPr>
          <p:spPr bwMode="auto">
            <a:xfrm flipH="1">
              <a:off x="1777" y="2024"/>
              <a:ext cx="136"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010" name="Rectangle 72"/>
            <p:cNvSpPr>
              <a:spLocks noChangeArrowheads="1"/>
            </p:cNvSpPr>
            <p:nvPr/>
          </p:nvSpPr>
          <p:spPr bwMode="auto">
            <a:xfrm>
              <a:off x="1746" y="2448"/>
              <a:ext cx="46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35 kPa</a:t>
              </a:r>
              <a:endParaRPr lang="zh-CN" altLang="en-US" sz="1600"/>
            </a:p>
          </p:txBody>
        </p:sp>
      </p:grpSp>
      <p:sp>
        <p:nvSpPr>
          <p:cNvPr id="40976" name="Text Box 63"/>
          <p:cNvSpPr txBox="1">
            <a:spLocks noChangeArrowheads="1"/>
          </p:cNvSpPr>
          <p:nvPr/>
        </p:nvSpPr>
        <p:spPr bwMode="auto">
          <a:xfrm>
            <a:off x="1747838" y="3243263"/>
            <a:ext cx="10858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200"/>
              <a:t>q</a:t>
            </a:r>
            <a:r>
              <a:rPr lang="en-US" altLang="zh-CN" sz="1200" i="1"/>
              <a:t>K</a:t>
            </a:r>
            <a:r>
              <a:rPr lang="en-US" altLang="zh-CN" sz="1200" baseline="-25000"/>
              <a:t>a1</a:t>
            </a:r>
            <a:r>
              <a:rPr lang="en-US" altLang="zh-CN" sz="1200"/>
              <a:t>=30.7 kPa</a:t>
            </a:r>
            <a:endParaRPr lang="en-US" altLang="zh-CN" sz="1200"/>
          </a:p>
        </p:txBody>
      </p:sp>
      <p:sp>
        <p:nvSpPr>
          <p:cNvPr id="40977" name="Text Box 65"/>
          <p:cNvSpPr txBox="1">
            <a:spLocks noChangeArrowheads="1"/>
          </p:cNvSpPr>
          <p:nvPr/>
        </p:nvSpPr>
        <p:spPr bwMode="auto">
          <a:xfrm>
            <a:off x="2282825" y="3727450"/>
            <a:ext cx="155098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200"/>
              <a:t>(q+</a:t>
            </a:r>
            <a:r>
              <a:rPr lang="en-US" altLang="zh-CN" sz="1200">
                <a:sym typeface="Symbol" panose="05050102010706020507" pitchFamily="18" charset="2"/>
              </a:rPr>
              <a:t></a:t>
            </a:r>
            <a:r>
              <a:rPr lang="en-US" altLang="zh-CN" sz="1200" baseline="-25000">
                <a:sym typeface="Symbol" panose="05050102010706020507" pitchFamily="18" charset="2"/>
              </a:rPr>
              <a:t>1</a:t>
            </a:r>
            <a:r>
              <a:rPr lang="en-US" altLang="zh-CN" sz="1200"/>
              <a:t>H</a:t>
            </a:r>
            <a:r>
              <a:rPr lang="en-US" altLang="zh-CN" sz="1200" baseline="-25000"/>
              <a:t>1</a:t>
            </a:r>
            <a:r>
              <a:rPr lang="en-US" altLang="zh-CN" sz="1200"/>
              <a:t>)</a:t>
            </a:r>
            <a:r>
              <a:rPr lang="en-US" altLang="zh-CN" sz="1200" i="1"/>
              <a:t>K</a:t>
            </a:r>
            <a:r>
              <a:rPr lang="en-US" altLang="zh-CN" sz="1200" baseline="-25000"/>
              <a:t>a1</a:t>
            </a:r>
            <a:r>
              <a:rPr lang="en-US" altLang="zh-CN" sz="1200"/>
              <a:t>=48.4 kPa</a:t>
            </a:r>
            <a:endParaRPr lang="en-US" altLang="zh-CN" sz="1200"/>
          </a:p>
        </p:txBody>
      </p:sp>
      <p:sp>
        <p:nvSpPr>
          <p:cNvPr id="40978" name="Text Box 66"/>
          <p:cNvSpPr txBox="1">
            <a:spLocks noChangeArrowheads="1"/>
          </p:cNvSpPr>
          <p:nvPr/>
        </p:nvSpPr>
        <p:spPr bwMode="auto">
          <a:xfrm>
            <a:off x="2047875" y="4273550"/>
            <a:ext cx="21383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200"/>
              <a:t>(q+</a:t>
            </a:r>
            <a:r>
              <a:rPr lang="en-US" altLang="zh-CN" sz="1200">
                <a:sym typeface="Symbol" panose="05050102010706020507" pitchFamily="18" charset="2"/>
              </a:rPr>
              <a:t></a:t>
            </a:r>
            <a:r>
              <a:rPr lang="en-US" altLang="zh-CN" sz="1200" baseline="-25000">
                <a:sym typeface="Symbol" panose="05050102010706020507" pitchFamily="18" charset="2"/>
              </a:rPr>
              <a:t>1</a:t>
            </a:r>
            <a:r>
              <a:rPr lang="en-US" altLang="zh-CN" sz="1200"/>
              <a:t>H</a:t>
            </a:r>
            <a:r>
              <a:rPr lang="en-US" altLang="zh-CN" sz="1200" baseline="-25000"/>
              <a:t>1</a:t>
            </a:r>
            <a:r>
              <a:rPr lang="en-US" altLang="zh-CN" sz="1200"/>
              <a:t>)</a:t>
            </a:r>
            <a:r>
              <a:rPr lang="en-US" altLang="zh-CN" sz="1200" i="1"/>
              <a:t>K</a:t>
            </a:r>
            <a:r>
              <a:rPr lang="en-US" altLang="zh-CN" sz="1200" baseline="-25000"/>
              <a:t>a2</a:t>
            </a:r>
            <a:r>
              <a:rPr lang="en-US" altLang="zh-CN" sz="1200"/>
              <a:t>-2</a:t>
            </a:r>
            <a:r>
              <a:rPr lang="en-US" altLang="zh-CN" sz="1200" i="1"/>
              <a:t>c</a:t>
            </a:r>
            <a:r>
              <a:rPr lang="en-US" altLang="zh-CN" sz="1200" baseline="-25000"/>
              <a:t>2 </a:t>
            </a:r>
            <a:r>
              <a:rPr lang="en-US" altLang="zh-CN" sz="1200"/>
              <a:t>(</a:t>
            </a:r>
            <a:r>
              <a:rPr lang="en-US" altLang="zh-CN" sz="1200" i="1"/>
              <a:t>K</a:t>
            </a:r>
            <a:r>
              <a:rPr lang="en-US" altLang="zh-CN" sz="1200" baseline="-25000"/>
              <a:t>a2</a:t>
            </a:r>
            <a:r>
              <a:rPr lang="en-US" altLang="zh-CN" sz="1200"/>
              <a:t>)</a:t>
            </a:r>
            <a:r>
              <a:rPr lang="en-US" altLang="zh-CN" sz="1200" baseline="30000"/>
              <a:t>0.5</a:t>
            </a:r>
            <a:r>
              <a:rPr lang="en-US" altLang="zh-CN" sz="1200"/>
              <a:t>=41 kPa</a:t>
            </a:r>
            <a:endParaRPr lang="en-US" altLang="zh-CN" sz="1200"/>
          </a:p>
        </p:txBody>
      </p:sp>
      <p:sp>
        <p:nvSpPr>
          <p:cNvPr id="40979" name="Text Box 67"/>
          <p:cNvSpPr txBox="1">
            <a:spLocks noChangeArrowheads="1"/>
          </p:cNvSpPr>
          <p:nvPr/>
        </p:nvSpPr>
        <p:spPr bwMode="auto">
          <a:xfrm>
            <a:off x="1749425" y="4824413"/>
            <a:ext cx="26336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200"/>
              <a:t>(q+</a:t>
            </a:r>
            <a:r>
              <a:rPr lang="en-US" altLang="zh-CN" sz="1200">
                <a:sym typeface="Symbol" panose="05050102010706020507" pitchFamily="18" charset="2"/>
              </a:rPr>
              <a:t></a:t>
            </a:r>
            <a:r>
              <a:rPr lang="en-US" altLang="zh-CN" sz="1200" baseline="-25000">
                <a:sym typeface="Symbol" panose="05050102010706020507" pitchFamily="18" charset="2"/>
              </a:rPr>
              <a:t>1</a:t>
            </a:r>
            <a:r>
              <a:rPr lang="en-US" altLang="zh-CN" sz="1200"/>
              <a:t>H</a:t>
            </a:r>
            <a:r>
              <a:rPr lang="en-US" altLang="zh-CN" sz="1200" baseline="-25000"/>
              <a:t>1+</a:t>
            </a:r>
            <a:r>
              <a:rPr lang="en-US" altLang="zh-CN" sz="1200">
                <a:sym typeface="Symbol" panose="05050102010706020507" pitchFamily="18" charset="2"/>
              </a:rPr>
              <a:t></a:t>
            </a:r>
            <a:r>
              <a:rPr lang="en-US" altLang="zh-CN" sz="1200" baseline="-25000">
                <a:sym typeface="Symbol" panose="05050102010706020507" pitchFamily="18" charset="2"/>
              </a:rPr>
              <a:t>2</a:t>
            </a:r>
            <a:r>
              <a:rPr lang="en-US" altLang="zh-CN" sz="1200" baseline="30000">
                <a:sym typeface="Symbol" panose="05050102010706020507" pitchFamily="18" charset="2"/>
              </a:rPr>
              <a:t>’</a:t>
            </a:r>
            <a:r>
              <a:rPr lang="en-US" altLang="zh-CN" sz="1200">
                <a:sym typeface="Symbol" panose="05050102010706020507" pitchFamily="18" charset="2"/>
              </a:rPr>
              <a:t>H</a:t>
            </a:r>
            <a:r>
              <a:rPr lang="en-US" altLang="zh-CN" sz="1200" baseline="-25000">
                <a:sym typeface="Symbol" panose="05050102010706020507" pitchFamily="18" charset="2"/>
              </a:rPr>
              <a:t>2</a:t>
            </a:r>
            <a:r>
              <a:rPr lang="en-US" altLang="zh-CN" sz="1200"/>
              <a:t>)</a:t>
            </a:r>
            <a:r>
              <a:rPr lang="en-US" altLang="zh-CN" sz="1200" i="1"/>
              <a:t>K</a:t>
            </a:r>
            <a:r>
              <a:rPr lang="en-US" altLang="zh-CN" sz="1200" baseline="-25000"/>
              <a:t>a2</a:t>
            </a:r>
            <a:r>
              <a:rPr lang="en-US" altLang="zh-CN" sz="1200"/>
              <a:t>-2</a:t>
            </a:r>
            <a:r>
              <a:rPr lang="en-US" altLang="zh-CN" sz="1200" i="1"/>
              <a:t>c</a:t>
            </a:r>
            <a:r>
              <a:rPr lang="en-US" altLang="zh-CN" sz="1200" baseline="-25000"/>
              <a:t>2</a:t>
            </a:r>
            <a:r>
              <a:rPr lang="en-US" altLang="zh-CN" sz="1200"/>
              <a:t>(</a:t>
            </a:r>
            <a:r>
              <a:rPr lang="en-US" altLang="zh-CN" sz="1200" i="1"/>
              <a:t>K</a:t>
            </a:r>
            <a:r>
              <a:rPr lang="en-US" altLang="zh-CN" sz="1200" baseline="-25000"/>
              <a:t>a2</a:t>
            </a:r>
            <a:r>
              <a:rPr lang="en-US" altLang="zh-CN" sz="1200"/>
              <a:t>)</a:t>
            </a:r>
            <a:r>
              <a:rPr lang="en-US" altLang="zh-CN" sz="1200" baseline="30000"/>
              <a:t>0.5</a:t>
            </a:r>
            <a:r>
              <a:rPr lang="en-US" altLang="zh-CN" sz="1200"/>
              <a:t>= 51.8 kPa</a:t>
            </a:r>
            <a:endParaRPr lang="en-US" altLang="zh-CN" sz="1200"/>
          </a:p>
        </p:txBody>
      </p:sp>
      <p:sp>
        <p:nvSpPr>
          <p:cNvPr id="40980" name="Line 50"/>
          <p:cNvSpPr>
            <a:spLocks noChangeShapeType="1"/>
          </p:cNvSpPr>
          <p:nvPr/>
        </p:nvSpPr>
        <p:spPr bwMode="auto">
          <a:xfrm>
            <a:off x="7378700" y="3544888"/>
            <a:ext cx="1588" cy="1397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81" name="Line 51"/>
          <p:cNvSpPr>
            <a:spLocks noChangeShapeType="1"/>
          </p:cNvSpPr>
          <p:nvPr/>
        </p:nvSpPr>
        <p:spPr bwMode="auto">
          <a:xfrm flipH="1">
            <a:off x="7378700" y="3544888"/>
            <a:ext cx="28733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82" name="Line 52"/>
          <p:cNvSpPr>
            <a:spLocks noChangeShapeType="1"/>
          </p:cNvSpPr>
          <p:nvPr/>
        </p:nvSpPr>
        <p:spPr bwMode="auto">
          <a:xfrm flipH="1">
            <a:off x="7378700" y="4121150"/>
            <a:ext cx="4318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83" name="Line 53"/>
          <p:cNvSpPr>
            <a:spLocks noChangeShapeType="1"/>
          </p:cNvSpPr>
          <p:nvPr/>
        </p:nvSpPr>
        <p:spPr bwMode="auto">
          <a:xfrm flipH="1" flipV="1">
            <a:off x="7380288" y="4941888"/>
            <a:ext cx="100806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84" name="Line 54"/>
          <p:cNvSpPr>
            <a:spLocks noChangeShapeType="1"/>
          </p:cNvSpPr>
          <p:nvPr/>
        </p:nvSpPr>
        <p:spPr bwMode="auto">
          <a:xfrm>
            <a:off x="7666038" y="3544888"/>
            <a:ext cx="144462" cy="5762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85" name="Line 55"/>
          <p:cNvSpPr>
            <a:spLocks noChangeShapeType="1"/>
          </p:cNvSpPr>
          <p:nvPr/>
        </p:nvSpPr>
        <p:spPr bwMode="auto">
          <a:xfrm>
            <a:off x="7740650" y="4149725"/>
            <a:ext cx="647700" cy="7921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86" name="Line 57"/>
          <p:cNvSpPr>
            <a:spLocks noChangeShapeType="1"/>
          </p:cNvSpPr>
          <p:nvPr/>
        </p:nvSpPr>
        <p:spPr bwMode="auto">
          <a:xfrm flipH="1">
            <a:off x="7378700" y="3760788"/>
            <a:ext cx="28733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87" name="Line 58"/>
          <p:cNvSpPr>
            <a:spLocks noChangeShapeType="1"/>
          </p:cNvSpPr>
          <p:nvPr/>
        </p:nvSpPr>
        <p:spPr bwMode="auto">
          <a:xfrm flipH="1">
            <a:off x="7378700" y="3927475"/>
            <a:ext cx="360363"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88" name="Line 60"/>
          <p:cNvSpPr>
            <a:spLocks noChangeShapeType="1"/>
          </p:cNvSpPr>
          <p:nvPr/>
        </p:nvSpPr>
        <p:spPr bwMode="auto">
          <a:xfrm flipH="1">
            <a:off x="7378700" y="4541838"/>
            <a:ext cx="6477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89" name="Line 61"/>
          <p:cNvSpPr>
            <a:spLocks noChangeShapeType="1"/>
          </p:cNvSpPr>
          <p:nvPr/>
        </p:nvSpPr>
        <p:spPr bwMode="auto">
          <a:xfrm flipH="1" flipV="1">
            <a:off x="7367588" y="4719638"/>
            <a:ext cx="804862" cy="476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90" name="Text Box 62"/>
          <p:cNvSpPr txBox="1">
            <a:spLocks noChangeArrowheads="1"/>
          </p:cNvSpPr>
          <p:nvPr/>
        </p:nvSpPr>
        <p:spPr bwMode="auto">
          <a:xfrm>
            <a:off x="7004050" y="3230563"/>
            <a:ext cx="895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30.7 kPa</a:t>
            </a:r>
            <a:endParaRPr lang="en-US" altLang="zh-CN" sz="1600"/>
          </a:p>
        </p:txBody>
      </p:sp>
      <p:sp>
        <p:nvSpPr>
          <p:cNvPr id="40991" name="Text Box 63"/>
          <p:cNvSpPr txBox="1">
            <a:spLocks noChangeArrowheads="1"/>
          </p:cNvSpPr>
          <p:nvPr/>
        </p:nvSpPr>
        <p:spPr bwMode="auto">
          <a:xfrm>
            <a:off x="8243888" y="4891088"/>
            <a:ext cx="9032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86.8 kPa</a:t>
            </a:r>
            <a:endParaRPr lang="en-US" altLang="zh-CN" sz="1600"/>
          </a:p>
        </p:txBody>
      </p:sp>
      <p:sp>
        <p:nvSpPr>
          <p:cNvPr id="40992" name="Text Box 64"/>
          <p:cNvSpPr txBox="1">
            <a:spLocks noChangeArrowheads="1"/>
          </p:cNvSpPr>
          <p:nvPr/>
        </p:nvSpPr>
        <p:spPr bwMode="auto">
          <a:xfrm>
            <a:off x="7961313" y="3832225"/>
            <a:ext cx="590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48.4 </a:t>
            </a:r>
            <a:endParaRPr lang="en-US" altLang="zh-CN" sz="1600"/>
          </a:p>
        </p:txBody>
      </p:sp>
      <p:sp>
        <p:nvSpPr>
          <p:cNvPr id="40993" name="Text Box 65"/>
          <p:cNvSpPr txBox="1">
            <a:spLocks noChangeArrowheads="1"/>
          </p:cNvSpPr>
          <p:nvPr/>
        </p:nvSpPr>
        <p:spPr bwMode="auto">
          <a:xfrm>
            <a:off x="7951788" y="4048125"/>
            <a:ext cx="5953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41.0 </a:t>
            </a:r>
            <a:endParaRPr lang="en-US" altLang="zh-CN" sz="1600"/>
          </a:p>
        </p:txBody>
      </p:sp>
      <p:sp>
        <p:nvSpPr>
          <p:cNvPr id="40994" name="Text Box 63"/>
          <p:cNvSpPr txBox="1">
            <a:spLocks noChangeArrowheads="1"/>
          </p:cNvSpPr>
          <p:nvPr/>
        </p:nvSpPr>
        <p:spPr bwMode="auto">
          <a:xfrm>
            <a:off x="7885113" y="3257550"/>
            <a:ext cx="10842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200"/>
              <a:t>q</a:t>
            </a:r>
            <a:r>
              <a:rPr lang="en-US" altLang="zh-CN" sz="1200" i="1"/>
              <a:t>K</a:t>
            </a:r>
            <a:r>
              <a:rPr lang="en-US" altLang="zh-CN" sz="1200" baseline="-25000"/>
              <a:t>a1</a:t>
            </a:r>
            <a:r>
              <a:rPr lang="en-US" altLang="zh-CN" sz="1200"/>
              <a:t>=30.7 kPa</a:t>
            </a:r>
            <a:endParaRPr lang="en-US" altLang="zh-CN" sz="1200"/>
          </a:p>
        </p:txBody>
      </p:sp>
      <p:sp>
        <p:nvSpPr>
          <p:cNvPr id="40995" name="Text Box 74"/>
          <p:cNvSpPr txBox="1">
            <a:spLocks noChangeArrowheads="1"/>
          </p:cNvSpPr>
          <p:nvPr/>
        </p:nvSpPr>
        <p:spPr bwMode="auto">
          <a:xfrm>
            <a:off x="6904038" y="5348288"/>
            <a:ext cx="1981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a:t>土水合压力分布</a:t>
            </a:r>
            <a:endParaRPr lang="zh-CN" altLang="en-US" sz="2000" b="1"/>
          </a:p>
        </p:txBody>
      </p:sp>
      <p:cxnSp>
        <p:nvCxnSpPr>
          <p:cNvPr id="40996" name="直接箭头连接符 77"/>
          <p:cNvCxnSpPr>
            <a:cxnSpLocks noChangeShapeType="1"/>
          </p:cNvCxnSpPr>
          <p:nvPr/>
        </p:nvCxnSpPr>
        <p:spPr bwMode="auto">
          <a:xfrm rot="10800000">
            <a:off x="971550" y="4365625"/>
            <a:ext cx="504825" cy="1588"/>
          </a:xfrm>
          <a:prstGeom prst="straightConnector1">
            <a:avLst/>
          </a:prstGeom>
          <a:noFill/>
          <a:ln w="9525" algn="ctr">
            <a:solidFill>
              <a:schemeClr val="tx1"/>
            </a:solidFill>
            <a:round/>
            <a:tailEnd type="triangle" w="med" len="med"/>
          </a:ln>
          <a:extLst>
            <a:ext uri="{909E8E84-426E-40DD-AFC4-6F175D3DCCD1}">
              <a14:hiddenFill xmlns:a14="http://schemas.microsoft.com/office/drawing/2010/main">
                <a:noFill/>
              </a14:hiddenFill>
            </a:ext>
          </a:extLst>
        </p:spPr>
      </p:cxnSp>
      <p:cxnSp>
        <p:nvCxnSpPr>
          <p:cNvPr id="40997" name="直接箭头连接符 95"/>
          <p:cNvCxnSpPr>
            <a:cxnSpLocks noChangeShapeType="1"/>
            <a:stCxn id="40966" idx="1"/>
            <a:endCxn id="40962" idx="1"/>
          </p:cNvCxnSpPr>
          <p:nvPr/>
        </p:nvCxnSpPr>
        <p:spPr bwMode="auto">
          <a:xfrm rot="16200000" flipV="1">
            <a:off x="1357313" y="4545013"/>
            <a:ext cx="0" cy="742950"/>
          </a:xfrm>
          <a:prstGeom prst="straightConnector1">
            <a:avLst/>
          </a:prstGeom>
          <a:noFill/>
          <a:ln w="9525" algn="ctr">
            <a:solidFill>
              <a:schemeClr val="tx1"/>
            </a:solidFill>
            <a:round/>
            <a:tailEnd type="triangle" w="med" len="med"/>
          </a:ln>
          <a:extLst>
            <a:ext uri="{909E8E84-426E-40DD-AFC4-6F175D3DCCD1}">
              <a14:hiddenFill xmlns:a14="http://schemas.microsoft.com/office/drawing/2010/main">
                <a:noFill/>
              </a14:hiddenFill>
            </a:ext>
          </a:extLst>
        </p:spPr>
      </p:cxnSp>
      <p:cxnSp>
        <p:nvCxnSpPr>
          <p:cNvPr id="40998" name="直接箭头连接符 96"/>
          <p:cNvCxnSpPr>
            <a:cxnSpLocks noChangeShapeType="1"/>
          </p:cNvCxnSpPr>
          <p:nvPr/>
        </p:nvCxnSpPr>
        <p:spPr bwMode="auto">
          <a:xfrm rot="10800000" flipV="1">
            <a:off x="971550" y="4652963"/>
            <a:ext cx="625475" cy="0"/>
          </a:xfrm>
          <a:prstGeom prst="straightConnector1">
            <a:avLst/>
          </a:prstGeom>
          <a:noFill/>
          <a:ln w="9525" algn="ctr">
            <a:solidFill>
              <a:schemeClr val="tx1"/>
            </a:solidFill>
            <a:round/>
            <a:tailEnd type="triangle" w="med" len="med"/>
          </a:ln>
          <a:extLst>
            <a:ext uri="{909E8E84-426E-40DD-AFC4-6F175D3DCCD1}">
              <a14:hiddenFill xmlns:a14="http://schemas.microsoft.com/office/drawing/2010/main">
                <a:noFill/>
              </a14:hiddenFill>
            </a:ext>
          </a:extLst>
        </p:spPr>
      </p:cxnSp>
      <p:cxnSp>
        <p:nvCxnSpPr>
          <p:cNvPr id="40999" name="直接箭头连接符 98"/>
          <p:cNvCxnSpPr>
            <a:cxnSpLocks noChangeShapeType="1"/>
          </p:cNvCxnSpPr>
          <p:nvPr/>
        </p:nvCxnSpPr>
        <p:spPr bwMode="auto">
          <a:xfrm rot="10800000">
            <a:off x="7380288" y="4364038"/>
            <a:ext cx="504825" cy="1587"/>
          </a:xfrm>
          <a:prstGeom prst="straightConnector1">
            <a:avLst/>
          </a:prstGeom>
          <a:noFill/>
          <a:ln w="9525" algn="ctr">
            <a:solidFill>
              <a:schemeClr val="tx1"/>
            </a:solidFill>
            <a:round/>
            <a:tailEnd type="triangle" w="med" len="med"/>
          </a:ln>
          <a:extLst>
            <a:ext uri="{909E8E84-426E-40DD-AFC4-6F175D3DCCD1}">
              <a14:hiddenFill xmlns:a14="http://schemas.microsoft.com/office/drawing/2010/main">
                <a:noFill/>
              </a14:hiddenFill>
            </a:ext>
          </a:extLst>
        </p:spPr>
      </p:cxnSp>
      <p:sp>
        <p:nvSpPr>
          <p:cNvPr id="41000" name="TextBox 99"/>
          <p:cNvSpPr txBox="1">
            <a:spLocks noChangeArrowheads="1"/>
          </p:cNvSpPr>
          <p:nvPr/>
        </p:nvSpPr>
        <p:spPr bwMode="auto">
          <a:xfrm>
            <a:off x="844550" y="581025"/>
            <a:ext cx="15303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lang="zh-CN" altLang="en-US" sz="2000" b="1" dirty="0" smtClean="0">
                <a:ea typeface="+mn-ea"/>
                <a:cs typeface="Times New Roman" panose="02020603050405020304" pitchFamily="18" charset="0"/>
              </a:rPr>
              <a:t>⑤ 计算合力</a:t>
            </a:r>
            <a:endParaRPr lang="zh-CN" altLang="en-US" sz="2000" b="1" dirty="0" smtClean="0">
              <a:ea typeface="+mn-ea"/>
              <a:cs typeface="Times New Roman" panose="02020603050405020304" pitchFamily="18" charset="0"/>
            </a:endParaRPr>
          </a:p>
        </p:txBody>
      </p:sp>
      <p:sp>
        <p:nvSpPr>
          <p:cNvPr id="41001" name="TextBox 100"/>
          <p:cNvSpPr txBox="1">
            <a:spLocks noChangeArrowheads="1"/>
          </p:cNvSpPr>
          <p:nvPr/>
        </p:nvSpPr>
        <p:spPr bwMode="auto">
          <a:xfrm>
            <a:off x="755650" y="1125538"/>
            <a:ext cx="58166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a:t>合力</a:t>
            </a:r>
            <a:r>
              <a:rPr lang="en-US" altLang="zh-CN" sz="1800"/>
              <a:t>=</a:t>
            </a:r>
            <a:r>
              <a:rPr lang="zh-CN" altLang="en-US" sz="1800"/>
              <a:t>土压力</a:t>
            </a:r>
            <a:r>
              <a:rPr lang="en-US" altLang="zh-CN" sz="1800"/>
              <a:t>E</a:t>
            </a:r>
            <a:r>
              <a:rPr lang="en-US" altLang="zh-CN" sz="1800" baseline="-25000"/>
              <a:t>a</a:t>
            </a:r>
            <a:r>
              <a:rPr lang="en-US" altLang="zh-CN" sz="1800"/>
              <a:t>+</a:t>
            </a:r>
            <a:r>
              <a:rPr lang="zh-CN" altLang="en-US" sz="1800"/>
              <a:t>水压力</a:t>
            </a:r>
            <a:r>
              <a:rPr lang="en-US" altLang="zh-CN" sz="1800"/>
              <a:t>E</a:t>
            </a:r>
            <a:r>
              <a:rPr lang="en-US" altLang="zh-CN" sz="1800" baseline="-25000"/>
              <a:t>w</a:t>
            </a:r>
            <a:r>
              <a:rPr lang="en-US" altLang="zh-CN" sz="1800"/>
              <a:t> =300.8+61.25 = 362.05 (kN/m)</a:t>
            </a:r>
            <a:endParaRPr lang="zh-CN" altLang="en-US" sz="1800"/>
          </a:p>
        </p:txBody>
      </p:sp>
      <p:sp>
        <p:nvSpPr>
          <p:cNvPr id="41002" name="TextBox 101"/>
          <p:cNvSpPr txBox="1">
            <a:spLocks noChangeArrowheads="1"/>
          </p:cNvSpPr>
          <p:nvPr/>
        </p:nvSpPr>
        <p:spPr bwMode="auto">
          <a:xfrm>
            <a:off x="538163" y="1665288"/>
            <a:ext cx="29273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lang="zh-CN" altLang="en-US" sz="2000" b="1" dirty="0" smtClean="0">
                <a:ea typeface="+mn-ea"/>
                <a:cs typeface="Times New Roman" panose="02020603050405020304" pitchFamily="18" charset="0"/>
              </a:rPr>
              <a:t>⑥ 计算合力作用点位置</a:t>
            </a:r>
            <a:r>
              <a:rPr lang="en-US" altLang="zh-CN" sz="2000" b="1" dirty="0" smtClean="0">
                <a:ea typeface="+mn-ea"/>
                <a:cs typeface="Times New Roman" panose="02020603050405020304" pitchFamily="18" charset="0"/>
              </a:rPr>
              <a:t>e</a:t>
            </a:r>
            <a:endParaRPr lang="zh-CN" altLang="en-US" sz="2000" b="1" dirty="0" smtClean="0">
              <a:ea typeface="+mn-ea"/>
              <a:cs typeface="Times New Roman" panose="02020603050405020304" pitchFamily="18" charset="0"/>
            </a:endParaRPr>
          </a:p>
        </p:txBody>
      </p:sp>
      <p:graphicFrame>
        <p:nvGraphicFramePr>
          <p:cNvPr id="41003" name="Object 2"/>
          <p:cNvGraphicFramePr>
            <a:graphicFrameLocks noChangeAspect="1"/>
          </p:cNvGraphicFramePr>
          <p:nvPr/>
        </p:nvGraphicFramePr>
        <p:xfrm>
          <a:off x="247650" y="2255838"/>
          <a:ext cx="8689975" cy="452437"/>
        </p:xfrm>
        <a:graphic>
          <a:graphicData uri="http://schemas.openxmlformats.org/presentationml/2006/ole">
            <mc:AlternateContent xmlns:mc="http://schemas.openxmlformats.org/markup-compatibility/2006">
              <mc:Choice xmlns:v="urn:schemas-microsoft-com:vml" Requires="v">
                <p:oleObj spid="_x0000_s13320" name="公式" r:id="rId1" imgW="7543800" imgH="393700" progId="Equation.3">
                  <p:embed/>
                </p:oleObj>
              </mc:Choice>
              <mc:Fallback>
                <p:oleObj name="公式" r:id="rId1" imgW="7543800" imgH="3937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 y="2255838"/>
                        <a:ext cx="8689975"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0" name="Rectangle 6"/>
          <p:cNvSpPr>
            <a:spLocks noChangeArrowheads="1"/>
          </p:cNvSpPr>
          <p:nvPr/>
        </p:nvSpPr>
        <p:spPr bwMode="auto">
          <a:xfrm>
            <a:off x="-3175" y="-9842"/>
            <a:ext cx="3617913"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朗肯土压力理论</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619250" y="620713"/>
            <a:ext cx="5232400" cy="911225"/>
          </a:xfrm>
          <a:prstGeom prst="rect">
            <a:avLst/>
          </a:prstGeom>
          <a:solidFill>
            <a:schemeClr val="bg1"/>
          </a:solidFill>
        </p:spPr>
        <p:txBody>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5pPr>
            <a:lvl6pPr marL="457200" algn="l" rtl="0" eaLnBrk="1" fontAlgn="base" hangingPunct="1">
              <a:spcBef>
                <a:spcPct val="0"/>
              </a:spcBef>
              <a:spcAft>
                <a:spcPct val="0"/>
              </a:spcAft>
              <a:defRPr sz="4200">
                <a:solidFill>
                  <a:schemeClr val="tx2"/>
                </a:solidFill>
                <a:latin typeface="Garamond" panose="02020404030301010803" pitchFamily="18" charset="0"/>
                <a:ea typeface="宋体" panose="02010600030101010101" pitchFamily="2" charset="-122"/>
              </a:defRPr>
            </a:lvl6pPr>
            <a:lvl7pPr marL="914400" algn="l" rtl="0" eaLnBrk="1" fontAlgn="base" hangingPunct="1">
              <a:spcBef>
                <a:spcPct val="0"/>
              </a:spcBef>
              <a:spcAft>
                <a:spcPct val="0"/>
              </a:spcAft>
              <a:defRPr sz="4200">
                <a:solidFill>
                  <a:schemeClr val="tx2"/>
                </a:solidFill>
                <a:latin typeface="Garamond" panose="02020404030301010803" pitchFamily="18" charset="0"/>
                <a:ea typeface="宋体" panose="02010600030101010101" pitchFamily="2" charset="-122"/>
              </a:defRPr>
            </a:lvl7pPr>
            <a:lvl8pPr marL="1371600" algn="l" rtl="0" eaLnBrk="1" fontAlgn="base" hangingPunct="1">
              <a:spcBef>
                <a:spcPct val="0"/>
              </a:spcBef>
              <a:spcAft>
                <a:spcPct val="0"/>
              </a:spcAft>
              <a:defRPr sz="4200">
                <a:solidFill>
                  <a:schemeClr val="tx2"/>
                </a:solidFill>
                <a:latin typeface="Garamond" panose="02020404030301010803" pitchFamily="18" charset="0"/>
                <a:ea typeface="宋体" panose="02010600030101010101" pitchFamily="2" charset="-122"/>
              </a:defRPr>
            </a:lvl8pPr>
            <a:lvl9pPr marL="1828800" algn="l" rtl="0" eaLnBrk="1" fontAlgn="base" hangingPunct="1">
              <a:spcBef>
                <a:spcPct val="0"/>
              </a:spcBef>
              <a:spcAft>
                <a:spcPct val="0"/>
              </a:spcAft>
              <a:defRPr sz="4200">
                <a:solidFill>
                  <a:schemeClr val="tx2"/>
                </a:solidFill>
                <a:latin typeface="Garamond" panose="02020404030301010803" pitchFamily="18" charset="0"/>
                <a:ea typeface="宋体" panose="02010600030101010101" pitchFamily="2" charset="-122"/>
              </a:defRPr>
            </a:lvl9pPr>
          </a:lstStyle>
          <a:p>
            <a:pPr eaLnBrk="1" hangingPunct="1">
              <a:defRPr/>
            </a:pPr>
            <a:r>
              <a:rPr kumimoji="0" lang="zh-CN" altLang="en-US" sz="5400" b="1" kern="0" dirty="0" smtClean="0">
                <a:solidFill>
                  <a:srgbClr val="FF0000"/>
                </a:solidFill>
                <a:latin typeface="+mj-ea"/>
              </a:rPr>
              <a:t>第六章  土压力</a:t>
            </a:r>
            <a:endParaRPr kumimoji="0" lang="zh-CN" altLang="en-US" sz="5400" b="1" kern="0" dirty="0" smtClean="0">
              <a:solidFill>
                <a:srgbClr val="FF0000"/>
              </a:solidFill>
              <a:latin typeface="+mj-ea"/>
            </a:endParaRPr>
          </a:p>
        </p:txBody>
      </p:sp>
      <p:sp>
        <p:nvSpPr>
          <p:cNvPr id="3" name="矩形 2"/>
          <p:cNvSpPr/>
          <p:nvPr/>
        </p:nvSpPr>
        <p:spPr>
          <a:xfrm>
            <a:off x="1068388" y="1412875"/>
            <a:ext cx="6671964" cy="3784600"/>
          </a:xfrm>
          <a:prstGeom prst="rect">
            <a:avLst/>
          </a:prstGeom>
        </p:spPr>
        <p:txBody>
          <a:bodyPr wrap="square">
            <a:spAutoFit/>
          </a:bodyPr>
          <a:lstStyle/>
          <a:p>
            <a:pPr eaLnBrk="1" hangingPunct="1">
              <a:lnSpc>
                <a:spcPct val="150000"/>
              </a:lnSpc>
              <a:defRPr/>
            </a:pPr>
            <a:r>
              <a:rPr lang="en-US" altLang="zh-CN" sz="3200" dirty="0">
                <a:solidFill>
                  <a:schemeClr val="bg1"/>
                </a:solidFill>
                <a:latin typeface="Times New Roman" panose="02020603050405020304" pitchFamily="18" charset="0"/>
                <a:ea typeface="+mj-ea"/>
                <a:cs typeface="Times New Roman" panose="02020603050405020304" pitchFamily="18" charset="0"/>
              </a:rPr>
              <a:t>§ 6</a:t>
            </a:r>
            <a:r>
              <a:rPr lang="en-US" altLang="zh-CN" sz="3200" b="1" dirty="0">
                <a:solidFill>
                  <a:schemeClr val="bg1"/>
                </a:solidFill>
                <a:latin typeface="Times New Roman" panose="02020603050405020304" pitchFamily="18" charset="0"/>
                <a:ea typeface="+mj-ea"/>
                <a:cs typeface="Times New Roman" panose="02020603050405020304" pitchFamily="18" charset="0"/>
              </a:rPr>
              <a:t>.1 </a:t>
            </a:r>
            <a:r>
              <a:rPr lang="zh-CN" altLang="en-US" sz="3200" b="1" dirty="0">
                <a:solidFill>
                  <a:schemeClr val="bg1"/>
                </a:solidFill>
                <a:latin typeface="Times New Roman" panose="02020603050405020304" pitchFamily="18" charset="0"/>
                <a:ea typeface="+mj-ea"/>
                <a:cs typeface="Times New Roman" panose="02020603050405020304" pitchFamily="18" charset="0"/>
              </a:rPr>
              <a:t>概述</a:t>
            </a:r>
            <a:endParaRPr lang="zh-CN" altLang="en-US" sz="3200" b="1" dirty="0">
              <a:solidFill>
                <a:schemeClr val="bg1"/>
              </a:solidFill>
              <a:latin typeface="Times New Roman" panose="02020603050405020304" pitchFamily="18" charset="0"/>
              <a:ea typeface="+mj-ea"/>
              <a:cs typeface="Times New Roman" panose="02020603050405020304" pitchFamily="18" charset="0"/>
            </a:endParaRPr>
          </a:p>
          <a:p>
            <a:pPr eaLnBrk="1" hangingPunct="1">
              <a:lnSpc>
                <a:spcPct val="150000"/>
              </a:lnSpc>
              <a:defRPr/>
            </a:pPr>
            <a:r>
              <a:rPr lang="en-US" altLang="zh-CN" sz="3200" dirty="0">
                <a:solidFill>
                  <a:schemeClr val="bg1"/>
                </a:solidFill>
                <a:latin typeface="Times New Roman" panose="02020603050405020304" pitchFamily="18" charset="0"/>
                <a:ea typeface="+mj-ea"/>
                <a:cs typeface="Times New Roman" panose="02020603050405020304" pitchFamily="18" charset="0"/>
              </a:rPr>
              <a:t>§ 6</a:t>
            </a:r>
            <a:r>
              <a:rPr lang="en-US" altLang="zh-CN" sz="3200" b="1" dirty="0">
                <a:solidFill>
                  <a:schemeClr val="bg1"/>
                </a:solidFill>
                <a:latin typeface="Times New Roman" panose="02020603050405020304" pitchFamily="18" charset="0"/>
                <a:ea typeface="+mj-ea"/>
                <a:cs typeface="Times New Roman" panose="02020603050405020304" pitchFamily="18" charset="0"/>
              </a:rPr>
              <a:t>.2 </a:t>
            </a:r>
            <a:r>
              <a:rPr lang="zh-CN" altLang="en-US" sz="3200" b="1" dirty="0">
                <a:solidFill>
                  <a:schemeClr val="bg1"/>
                </a:solidFill>
                <a:latin typeface="Times New Roman" panose="02020603050405020304" pitchFamily="18" charset="0"/>
                <a:ea typeface="+mj-ea"/>
                <a:cs typeface="Times New Roman" panose="02020603050405020304" pitchFamily="18" charset="0"/>
              </a:rPr>
              <a:t>挡土墙侧的土压力</a:t>
            </a:r>
            <a:endParaRPr lang="zh-CN" altLang="en-US" sz="3200" b="1" dirty="0">
              <a:solidFill>
                <a:schemeClr val="bg1"/>
              </a:solidFill>
              <a:latin typeface="Times New Roman" panose="02020603050405020304" pitchFamily="18" charset="0"/>
              <a:ea typeface="+mj-ea"/>
              <a:cs typeface="Times New Roman" panose="02020603050405020304" pitchFamily="18" charset="0"/>
            </a:endParaRPr>
          </a:p>
          <a:p>
            <a:pPr eaLnBrk="1" hangingPunct="1">
              <a:lnSpc>
                <a:spcPct val="150000"/>
              </a:lnSpc>
              <a:defRPr/>
            </a:pPr>
            <a:r>
              <a:rPr lang="en-US" altLang="zh-CN" sz="3200" dirty="0">
                <a:solidFill>
                  <a:schemeClr val="bg1"/>
                </a:solidFill>
                <a:latin typeface="Times New Roman" panose="02020603050405020304" pitchFamily="18" charset="0"/>
                <a:ea typeface="+mj-ea"/>
                <a:cs typeface="Times New Roman" panose="02020603050405020304" pitchFamily="18" charset="0"/>
              </a:rPr>
              <a:t>§ 6</a:t>
            </a:r>
            <a:r>
              <a:rPr lang="en-US" altLang="zh-CN" sz="3200" b="1" dirty="0">
                <a:solidFill>
                  <a:schemeClr val="bg1"/>
                </a:solidFill>
                <a:latin typeface="Times New Roman" panose="02020603050405020304" pitchFamily="18" charset="0"/>
                <a:ea typeface="+mj-ea"/>
                <a:cs typeface="Times New Roman" panose="02020603050405020304" pitchFamily="18" charset="0"/>
              </a:rPr>
              <a:t>.3 </a:t>
            </a:r>
            <a:r>
              <a:rPr lang="zh-CN" altLang="en-US" sz="3200" b="1" dirty="0">
                <a:solidFill>
                  <a:schemeClr val="bg1"/>
                </a:solidFill>
                <a:latin typeface="Times New Roman" panose="02020603050405020304" pitchFamily="18" charset="0"/>
                <a:ea typeface="+mj-ea"/>
                <a:cs typeface="Times New Roman" panose="02020603050405020304" pitchFamily="18" charset="0"/>
              </a:rPr>
              <a:t>朗肯土压力理论</a:t>
            </a:r>
            <a:endParaRPr lang="zh-CN" altLang="en-US" sz="3200" b="1" dirty="0">
              <a:solidFill>
                <a:schemeClr val="bg1"/>
              </a:solidFill>
              <a:latin typeface="Times New Roman" panose="02020603050405020304" pitchFamily="18" charset="0"/>
              <a:ea typeface="+mj-ea"/>
              <a:cs typeface="Times New Roman" panose="02020603050405020304" pitchFamily="18" charset="0"/>
            </a:endParaRPr>
          </a:p>
          <a:p>
            <a:pPr eaLnBrk="1" hangingPunct="1">
              <a:lnSpc>
                <a:spcPct val="150000"/>
              </a:lnSpc>
              <a:defRPr/>
            </a:pPr>
            <a:r>
              <a:rPr lang="en-US" altLang="zh-CN" sz="3200" dirty="0">
                <a:latin typeface="Times New Roman" panose="02020603050405020304" pitchFamily="18" charset="0"/>
                <a:ea typeface="+mj-ea"/>
                <a:cs typeface="Times New Roman" panose="02020603050405020304" pitchFamily="18" charset="0"/>
              </a:rPr>
              <a:t>§ 6</a:t>
            </a:r>
            <a:r>
              <a:rPr lang="en-US" altLang="zh-CN" sz="3200" b="1" dirty="0">
                <a:latin typeface="Times New Roman" panose="02020603050405020304" pitchFamily="18" charset="0"/>
                <a:ea typeface="+mj-ea"/>
                <a:cs typeface="Times New Roman" panose="02020603050405020304" pitchFamily="18" charset="0"/>
              </a:rPr>
              <a:t>.4 </a:t>
            </a:r>
            <a:r>
              <a:rPr lang="zh-CN" altLang="en-US" sz="3200" b="1" dirty="0">
                <a:latin typeface="Times New Roman" panose="02020603050405020304" pitchFamily="18" charset="0"/>
                <a:ea typeface="+mj-ea"/>
                <a:cs typeface="Times New Roman" panose="02020603050405020304" pitchFamily="18" charset="0"/>
              </a:rPr>
              <a:t>库仑土压力理论</a:t>
            </a:r>
            <a:endParaRPr lang="zh-CN" altLang="en-US" sz="3200" b="1" dirty="0">
              <a:latin typeface="Times New Roman" panose="02020603050405020304" pitchFamily="18" charset="0"/>
              <a:ea typeface="+mj-ea"/>
              <a:cs typeface="Times New Roman" panose="02020603050405020304" pitchFamily="18" charset="0"/>
            </a:endParaRPr>
          </a:p>
          <a:p>
            <a:pPr eaLnBrk="1" hangingPunct="1">
              <a:lnSpc>
                <a:spcPct val="150000"/>
              </a:lnSpc>
              <a:defRPr/>
            </a:pPr>
            <a:r>
              <a:rPr lang="en-US" altLang="zh-CN" sz="3200" dirty="0">
                <a:solidFill>
                  <a:schemeClr val="bg1"/>
                </a:solidFill>
                <a:latin typeface="Times New Roman" panose="02020603050405020304" pitchFamily="18" charset="0"/>
                <a:ea typeface="+mj-ea"/>
                <a:cs typeface="Times New Roman" panose="02020603050405020304" pitchFamily="18" charset="0"/>
              </a:rPr>
              <a:t>§ 6</a:t>
            </a:r>
            <a:r>
              <a:rPr lang="en-US" altLang="zh-CN" sz="3200" b="1" dirty="0">
                <a:solidFill>
                  <a:schemeClr val="bg1"/>
                </a:solidFill>
                <a:latin typeface="Times New Roman" panose="02020603050405020304" pitchFamily="18" charset="0"/>
                <a:ea typeface="+mj-ea"/>
                <a:cs typeface="Times New Roman" panose="02020603050405020304" pitchFamily="18" charset="0"/>
              </a:rPr>
              <a:t>.5 </a:t>
            </a:r>
            <a:r>
              <a:rPr lang="zh-CN" altLang="en-US" sz="3200" b="1" dirty="0">
                <a:solidFill>
                  <a:schemeClr val="bg1"/>
                </a:solidFill>
                <a:latin typeface="Times New Roman" panose="02020603050405020304" pitchFamily="18" charset="0"/>
                <a:ea typeface="+mj-ea"/>
                <a:cs typeface="Times New Roman" panose="02020603050405020304" pitchFamily="18" charset="0"/>
              </a:rPr>
              <a:t>朗肯理论与库仑理论的比较</a:t>
            </a:r>
            <a:endParaRPr lang="zh-CN" altLang="en-US" sz="3200" b="1" dirty="0">
              <a:solidFill>
                <a:schemeClr val="bg1"/>
              </a:solidFill>
              <a:latin typeface="Times New Roman" panose="02020603050405020304" pitchFamily="18" charset="0"/>
              <a:ea typeface="+mj-ea"/>
              <a:cs typeface="Times New Roman" panose="02020603050405020304" pitchFamily="18" charset="0"/>
            </a:endParaRPr>
          </a:p>
        </p:txBody>
      </p:sp>
      <p:sp>
        <p:nvSpPr>
          <p:cNvPr id="4" name="文本框 3"/>
          <p:cNvSpPr txBox="1">
            <a:spLocks noChangeArrowheads="1"/>
          </p:cNvSpPr>
          <p:nvPr/>
        </p:nvSpPr>
        <p:spPr bwMode="auto">
          <a:xfrm>
            <a:off x="4500563" y="4221163"/>
            <a:ext cx="3671887"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50000"/>
              </a:lnSpc>
              <a:defRPr/>
            </a:pPr>
            <a:r>
              <a:rPr lang="en-US" altLang="zh-CN" sz="2000" b="1" dirty="0" smtClean="0">
                <a:latin typeface="+mn-ea"/>
                <a:ea typeface="+mn-ea"/>
              </a:rPr>
              <a:t>1.</a:t>
            </a:r>
            <a:r>
              <a:rPr lang="zh-CN" altLang="en-US" sz="2000" b="1" dirty="0" smtClean="0">
                <a:latin typeface="+mn-ea"/>
                <a:ea typeface="+mn-ea"/>
              </a:rPr>
              <a:t>基本假定</a:t>
            </a:r>
            <a:endParaRPr lang="en-US" altLang="zh-CN" sz="2000" b="1" dirty="0" smtClean="0">
              <a:latin typeface="+mn-ea"/>
              <a:ea typeface="+mn-ea"/>
            </a:endParaRPr>
          </a:p>
          <a:p>
            <a:pPr>
              <a:lnSpc>
                <a:spcPct val="150000"/>
              </a:lnSpc>
              <a:defRPr/>
            </a:pPr>
            <a:r>
              <a:rPr lang="en-US" altLang="zh-CN" sz="2000" b="1" dirty="0" smtClean="0">
                <a:latin typeface="+mn-ea"/>
                <a:ea typeface="+mn-ea"/>
              </a:rPr>
              <a:t>2.</a:t>
            </a:r>
            <a:r>
              <a:rPr lang="zh-CN" altLang="en-US" sz="2000" b="1" dirty="0" smtClean="0">
                <a:latin typeface="+mn-ea"/>
                <a:ea typeface="+mn-ea"/>
              </a:rPr>
              <a:t>主动土压力</a:t>
            </a:r>
            <a:endParaRPr lang="en-US" altLang="zh-CN" sz="2000" b="1" dirty="0" smtClean="0">
              <a:latin typeface="+mn-ea"/>
              <a:ea typeface="+mn-ea"/>
            </a:endParaRPr>
          </a:p>
          <a:p>
            <a:pPr>
              <a:lnSpc>
                <a:spcPct val="150000"/>
              </a:lnSpc>
              <a:defRPr/>
            </a:pPr>
            <a:r>
              <a:rPr lang="en-US" altLang="zh-CN" sz="2000" b="1" dirty="0" smtClean="0">
                <a:latin typeface="+mn-ea"/>
                <a:ea typeface="+mn-ea"/>
              </a:rPr>
              <a:t>3.</a:t>
            </a:r>
            <a:r>
              <a:rPr lang="zh-CN" altLang="en-US" sz="2000" b="1" dirty="0" smtClean="0">
                <a:latin typeface="+mn-ea"/>
                <a:ea typeface="+mn-ea"/>
              </a:rPr>
              <a:t>被动土压力</a:t>
            </a:r>
            <a:endParaRPr lang="en-US" altLang="zh-CN" sz="2000" b="1" dirty="0" smtClean="0">
              <a:latin typeface="+mn-ea"/>
              <a:ea typeface="+mn-ea"/>
            </a:endParaRPr>
          </a:p>
          <a:p>
            <a:pPr>
              <a:lnSpc>
                <a:spcPct val="150000"/>
              </a:lnSpc>
              <a:defRPr/>
            </a:pPr>
            <a:r>
              <a:rPr lang="en-US" altLang="zh-CN" sz="2000" b="1" dirty="0" smtClean="0">
                <a:latin typeface="+mn-ea"/>
                <a:ea typeface="+mn-ea"/>
              </a:rPr>
              <a:t>4.</a:t>
            </a:r>
            <a:r>
              <a:rPr lang="zh-CN" altLang="en-US" sz="2000" b="1" dirty="0" smtClean="0">
                <a:latin typeface="+mn-ea"/>
                <a:ea typeface="+mn-ea"/>
              </a:rPr>
              <a:t>黏性填土时的土压力计算</a:t>
            </a:r>
            <a:endParaRPr lang="en-US" altLang="zh-CN" sz="2000" b="1" dirty="0" smtClean="0">
              <a:latin typeface="+mn-ea"/>
              <a:ea typeface="+mn-ea"/>
            </a:endParaRPr>
          </a:p>
          <a:p>
            <a:pPr>
              <a:lnSpc>
                <a:spcPct val="150000"/>
              </a:lnSpc>
              <a:defRPr/>
            </a:pPr>
            <a:r>
              <a:rPr lang="en-US" altLang="zh-CN" sz="2000" b="1" dirty="0" smtClean="0">
                <a:latin typeface="+mn-ea"/>
                <a:ea typeface="+mn-ea"/>
              </a:rPr>
              <a:t>5.</a:t>
            </a:r>
            <a:r>
              <a:rPr lang="zh-CN" altLang="en-US" sz="2000" b="1" dirty="0" smtClean="0">
                <a:latin typeface="+mn-ea"/>
                <a:ea typeface="+mn-ea"/>
              </a:rPr>
              <a:t>有车辆荷载时的土压力</a:t>
            </a:r>
            <a:endParaRPr lang="zh-CN" altLang="en-US" sz="2000" b="1" dirty="0" smtClean="0">
              <a:latin typeface="+mn-ea"/>
              <a:ea typeface="+mn-ea"/>
            </a:endParaRP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Text Box 4"/>
          <p:cNvSpPr txBox="1">
            <a:spLocks noChangeArrowheads="1"/>
          </p:cNvSpPr>
          <p:nvPr/>
        </p:nvSpPr>
        <p:spPr bwMode="auto">
          <a:xfrm>
            <a:off x="677863" y="1436688"/>
            <a:ext cx="7918450" cy="159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50000"/>
              </a:lnSpc>
              <a:defRPr/>
            </a:pPr>
            <a:r>
              <a:rPr lang="en-US" altLang="zh-CN" b="1" dirty="0" smtClean="0"/>
              <a:t>        </a:t>
            </a:r>
            <a:r>
              <a:rPr lang="en-US" altLang="zh-CN" b="1" dirty="0" smtClean="0">
                <a:ea typeface="+mn-ea"/>
                <a:cs typeface="Times New Roman" panose="02020603050405020304" pitchFamily="18" charset="0"/>
              </a:rPr>
              <a:t>1776</a:t>
            </a:r>
            <a:r>
              <a:rPr lang="zh-CN" altLang="en-US" b="1" dirty="0" smtClean="0">
                <a:ea typeface="+mn-ea"/>
                <a:cs typeface="Times New Roman" panose="02020603050405020304" pitchFamily="18" charset="0"/>
              </a:rPr>
              <a:t>年</a:t>
            </a:r>
            <a:r>
              <a:rPr lang="en-US" altLang="zh-CN" b="1" dirty="0" smtClean="0">
                <a:ea typeface="+mn-ea"/>
                <a:cs typeface="Times New Roman" panose="02020603050405020304" pitchFamily="18" charset="0"/>
              </a:rPr>
              <a:t>,</a:t>
            </a:r>
            <a:r>
              <a:rPr lang="zh-CN" altLang="en-US" b="1" dirty="0" smtClean="0">
                <a:ea typeface="+mn-ea"/>
                <a:cs typeface="Times New Roman" panose="02020603050405020304" pitchFamily="18" charset="0"/>
              </a:rPr>
              <a:t>法国工程师</a:t>
            </a:r>
            <a:r>
              <a:rPr lang="en-US" altLang="zh-CN" b="1" dirty="0" smtClean="0">
                <a:ea typeface="+mn-ea"/>
                <a:cs typeface="Times New Roman" panose="02020603050405020304" pitchFamily="18" charset="0"/>
              </a:rPr>
              <a:t>C.A.</a:t>
            </a:r>
            <a:r>
              <a:rPr lang="zh-CN" altLang="en-US" b="1" dirty="0" smtClean="0">
                <a:ea typeface="+mn-ea"/>
                <a:cs typeface="Times New Roman" panose="02020603050405020304" pitchFamily="18" charset="0"/>
              </a:rPr>
              <a:t>库仑</a:t>
            </a:r>
            <a:r>
              <a:rPr lang="en-US" altLang="zh-CN" b="1" dirty="0" smtClean="0">
                <a:ea typeface="+mn-ea"/>
                <a:cs typeface="Times New Roman" panose="02020603050405020304" pitchFamily="18" charset="0"/>
              </a:rPr>
              <a:t>(Coulomb)</a:t>
            </a:r>
            <a:r>
              <a:rPr lang="zh-CN" altLang="en-US" b="1" dirty="0" smtClean="0">
                <a:ea typeface="+mn-ea"/>
                <a:cs typeface="Times New Roman" panose="02020603050405020304" pitchFamily="18" charset="0"/>
              </a:rPr>
              <a:t>通过研究挡土墙后土体（</a:t>
            </a:r>
            <a:r>
              <a:rPr lang="zh-CN" altLang="en-US" b="1" dirty="0" smtClean="0">
                <a:solidFill>
                  <a:schemeClr val="accent2"/>
                </a:solidFill>
                <a:ea typeface="+mn-ea"/>
                <a:cs typeface="Times New Roman" panose="02020603050405020304" pitchFamily="18" charset="0"/>
              </a:rPr>
              <a:t>滑动楔体</a:t>
            </a:r>
            <a:r>
              <a:rPr lang="zh-CN" altLang="en-US" b="1" dirty="0" smtClean="0">
                <a:ea typeface="+mn-ea"/>
                <a:cs typeface="Times New Roman" panose="02020603050405020304" pitchFamily="18" charset="0"/>
              </a:rPr>
              <a:t>）的</a:t>
            </a:r>
            <a:r>
              <a:rPr lang="zh-CN" altLang="en-US" b="1" dirty="0" smtClean="0">
                <a:solidFill>
                  <a:schemeClr val="accent2"/>
                </a:solidFill>
                <a:ea typeface="+mn-ea"/>
                <a:cs typeface="Times New Roman" panose="02020603050405020304" pitchFamily="18" charset="0"/>
              </a:rPr>
              <a:t>静力平衡</a:t>
            </a:r>
            <a:r>
              <a:rPr lang="en-US" altLang="zh-CN" b="1" dirty="0" smtClean="0">
                <a:ea typeface="+mn-ea"/>
                <a:cs typeface="Times New Roman" panose="02020603050405020304" pitchFamily="18" charset="0"/>
              </a:rPr>
              <a:t>,</a:t>
            </a:r>
            <a:r>
              <a:rPr lang="zh-CN" altLang="en-US" b="1" dirty="0" smtClean="0">
                <a:ea typeface="+mn-ea"/>
                <a:cs typeface="Times New Roman" panose="02020603050405020304" pitchFamily="18" charset="0"/>
              </a:rPr>
              <a:t>提出了滑动楔体理论，亦称库仑理论。</a:t>
            </a:r>
            <a:endParaRPr lang="zh-CN" altLang="en-US" b="1" dirty="0" smtClean="0">
              <a:ea typeface="+mn-ea"/>
              <a:cs typeface="Times New Roman" panose="02020603050405020304" pitchFamily="18" charset="0"/>
            </a:endParaRPr>
          </a:p>
        </p:txBody>
      </p:sp>
      <p:pic>
        <p:nvPicPr>
          <p:cNvPr id="61447"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32363" y="2924175"/>
            <a:ext cx="3071812" cy="384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8" name="Text Box 8"/>
          <p:cNvSpPr txBox="1">
            <a:spLocks noChangeArrowheads="1"/>
          </p:cNvSpPr>
          <p:nvPr/>
        </p:nvSpPr>
        <p:spPr bwMode="auto">
          <a:xfrm>
            <a:off x="827088" y="3573463"/>
            <a:ext cx="3810000" cy="216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zh-CN" sz="4000" b="1">
                <a:solidFill>
                  <a:srgbClr val="0000FF"/>
                </a:solidFill>
              </a:rPr>
              <a:t>库仑</a:t>
            </a:r>
            <a:endParaRPr lang="zh-CN" altLang="en-US" sz="4000" b="1">
              <a:solidFill>
                <a:srgbClr val="0000FF"/>
              </a:solidFill>
            </a:endParaRPr>
          </a:p>
          <a:p>
            <a:pPr algn="ctr" eaLnBrk="1" hangingPunct="1">
              <a:spcBef>
                <a:spcPct val="50000"/>
              </a:spcBef>
            </a:pPr>
            <a:r>
              <a:rPr lang="en-US" altLang="zh-CN" sz="3200" b="1">
                <a:solidFill>
                  <a:srgbClr val="0000FF"/>
                </a:solidFill>
              </a:rPr>
              <a:t>C. A. Coulomb</a:t>
            </a:r>
            <a:endParaRPr lang="en-US" altLang="zh-CN" sz="3200" b="1">
              <a:solidFill>
                <a:srgbClr val="0000FF"/>
              </a:solidFill>
            </a:endParaRPr>
          </a:p>
          <a:p>
            <a:pPr algn="ctr" eaLnBrk="1" hangingPunct="1">
              <a:spcBef>
                <a:spcPct val="50000"/>
              </a:spcBef>
            </a:pPr>
            <a:r>
              <a:rPr lang="en-US" altLang="zh-CN" sz="3200" b="1">
                <a:solidFill>
                  <a:srgbClr val="0000FF"/>
                </a:solidFill>
              </a:rPr>
              <a:t>(1736-1806)</a:t>
            </a:r>
            <a:endParaRPr lang="en-US" altLang="zh-CN" sz="3200" b="1">
              <a:solidFill>
                <a:srgbClr val="0000FF"/>
              </a:solidFill>
            </a:endParaRPr>
          </a:p>
        </p:txBody>
      </p:sp>
      <p:sp>
        <p:nvSpPr>
          <p:cNvPr id="7" name="Rectangle 6"/>
          <p:cNvSpPr>
            <a:spLocks noChangeArrowheads="1"/>
          </p:cNvSpPr>
          <p:nvPr/>
        </p:nvSpPr>
        <p:spPr bwMode="auto">
          <a:xfrm>
            <a:off x="-3175" y="-9842"/>
            <a:ext cx="3617913"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§6.4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库仑土压力理论</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
        <p:nvSpPr>
          <p:cNvPr id="8" name="Text Box 2"/>
          <p:cNvSpPr txBox="1">
            <a:spLocks noChangeArrowheads="1"/>
          </p:cNvSpPr>
          <p:nvPr/>
        </p:nvSpPr>
        <p:spPr bwMode="auto">
          <a:xfrm>
            <a:off x="3425825" y="763588"/>
            <a:ext cx="1433513" cy="369887"/>
          </a:xfrm>
          <a:prstGeom prst="rect">
            <a:avLst/>
          </a:prstGeom>
          <a:solidFill>
            <a:srgbClr val="FFC000"/>
          </a:solidFill>
          <a:ln>
            <a:noFill/>
          </a:ln>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b="1" dirty="0" smtClean="0">
                <a:latin typeface="+mn-ea"/>
                <a:ea typeface="+mn-ea"/>
              </a:rPr>
              <a:t>基本假定</a:t>
            </a:r>
            <a:endParaRPr kumimoji="0" lang="zh-CN" altLang="en-US" b="1" dirty="0" smtClean="0">
              <a:latin typeface="+mn-ea"/>
              <a:ea typeface="+mn-ea"/>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1447"/>
                                        </p:tgtEl>
                                        <p:attrNameLst>
                                          <p:attrName>style.visibility</p:attrName>
                                        </p:attrNameLst>
                                      </p:cBhvr>
                                      <p:to>
                                        <p:strVal val="visible"/>
                                      </p:to>
                                    </p:set>
                                    <p:animEffect transition="in" filter="dissolve">
                                      <p:cBhvr>
                                        <p:cTn id="7" dur="500"/>
                                        <p:tgtEl>
                                          <p:spTgt spid="61447"/>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61448"/>
                                        </p:tgtEl>
                                        <p:attrNameLst>
                                          <p:attrName>style.visibility</p:attrName>
                                        </p:attrNameLst>
                                      </p:cBhvr>
                                      <p:to>
                                        <p:strVal val="visible"/>
                                      </p:to>
                                    </p:set>
                                    <p:animEffect transition="in" filter="dissolve">
                                      <p:cBhvr>
                                        <p:cTn id="11" dur="500"/>
                                        <p:tgtEl>
                                          <p:spTgt spid="614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8"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p:cNvSpPr txBox="1">
            <a:spLocks noChangeArrowheads="1"/>
          </p:cNvSpPr>
          <p:nvPr/>
        </p:nvSpPr>
        <p:spPr bwMode="auto">
          <a:xfrm>
            <a:off x="396875" y="1576388"/>
            <a:ext cx="4403725" cy="144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eaLnBrk="1" hangingPunct="1">
              <a:lnSpc>
                <a:spcPct val="150000"/>
              </a:lnSpc>
              <a:spcBef>
                <a:spcPct val="20000"/>
              </a:spcBef>
            </a:pPr>
            <a:r>
              <a:rPr lang="zh-CN" altLang="en-US" sz="2000" b="1">
                <a:solidFill>
                  <a:srgbClr val="0000FF"/>
                </a:solidFill>
                <a:ea typeface="楷体_GB2312" pitchFamily="49" charset="-122"/>
                <a:cs typeface="Times New Roman" panose="02020603050405020304" pitchFamily="18" charset="0"/>
              </a:rPr>
              <a:t>墙背倾斜，具有倾角</a:t>
            </a:r>
            <a:r>
              <a:rPr lang="zh-CN" altLang="en-US" sz="2000" b="1">
                <a:solidFill>
                  <a:srgbClr val="0000FF"/>
                </a:solidFill>
                <a:ea typeface="楷体_GB2312" pitchFamily="49" charset="-122"/>
                <a:cs typeface="Times New Roman" panose="02020603050405020304" pitchFamily="18" charset="0"/>
                <a:sym typeface="Symbol" panose="05050102010706020507" pitchFamily="18" charset="2"/>
              </a:rPr>
              <a:t></a:t>
            </a:r>
            <a:endParaRPr lang="zh-CN" altLang="en-US" sz="2000" b="1">
              <a:solidFill>
                <a:srgbClr val="0000FF"/>
              </a:solidFill>
              <a:ea typeface="楷体_GB2312" pitchFamily="49" charset="-122"/>
              <a:cs typeface="Times New Roman" panose="02020603050405020304" pitchFamily="18" charset="0"/>
            </a:endParaRPr>
          </a:p>
          <a:p>
            <a:pPr lvl="1" eaLnBrk="1" hangingPunct="1">
              <a:lnSpc>
                <a:spcPct val="150000"/>
              </a:lnSpc>
              <a:spcBef>
                <a:spcPct val="20000"/>
              </a:spcBef>
            </a:pPr>
            <a:r>
              <a:rPr lang="zh-CN" altLang="en-US" sz="2000" b="1">
                <a:solidFill>
                  <a:srgbClr val="0000FF"/>
                </a:solidFill>
                <a:ea typeface="楷体_GB2312" pitchFamily="49" charset="-122"/>
                <a:cs typeface="Times New Roman" panose="02020603050405020304" pitchFamily="18" charset="0"/>
              </a:rPr>
              <a:t>墙背粗糙，与填土摩擦角为</a:t>
            </a:r>
            <a:r>
              <a:rPr lang="zh-CN" altLang="en-US" sz="2000" b="1">
                <a:solidFill>
                  <a:srgbClr val="0000FF"/>
                </a:solidFill>
                <a:ea typeface="楷体_GB2312" pitchFamily="49" charset="-122"/>
                <a:cs typeface="Times New Roman" panose="02020603050405020304" pitchFamily="18" charset="0"/>
                <a:sym typeface="Symbol" panose="05050102010706020507" pitchFamily="18" charset="2"/>
              </a:rPr>
              <a:t></a:t>
            </a:r>
            <a:endParaRPr lang="zh-CN" altLang="en-US" sz="2000" b="1">
              <a:solidFill>
                <a:srgbClr val="0000FF"/>
              </a:solidFill>
              <a:ea typeface="楷体_GB2312" pitchFamily="49" charset="-122"/>
              <a:cs typeface="Times New Roman" panose="02020603050405020304" pitchFamily="18" charset="0"/>
              <a:sym typeface="Symbol" panose="05050102010706020507" pitchFamily="18" charset="2"/>
            </a:endParaRPr>
          </a:p>
          <a:p>
            <a:pPr lvl="1" eaLnBrk="1" hangingPunct="1">
              <a:lnSpc>
                <a:spcPct val="150000"/>
              </a:lnSpc>
              <a:spcBef>
                <a:spcPct val="20000"/>
              </a:spcBef>
            </a:pPr>
            <a:r>
              <a:rPr lang="zh-CN" altLang="en-US" sz="2000" b="1">
                <a:solidFill>
                  <a:srgbClr val="0000FF"/>
                </a:solidFill>
                <a:ea typeface="楷体_GB2312" pitchFamily="49" charset="-122"/>
                <a:cs typeface="Times New Roman" panose="02020603050405020304" pitchFamily="18" charset="0"/>
              </a:rPr>
              <a:t>填土表面有倾角</a:t>
            </a:r>
            <a:r>
              <a:rPr lang="zh-CN" altLang="en-US" sz="2000" b="1">
                <a:solidFill>
                  <a:srgbClr val="0000FF"/>
                </a:solidFill>
                <a:ea typeface="楷体_GB2312" pitchFamily="49" charset="-122"/>
                <a:cs typeface="Times New Roman" panose="02020603050405020304" pitchFamily="18" charset="0"/>
                <a:sym typeface="Symbol" panose="05050102010706020507" pitchFamily="18" charset="2"/>
              </a:rPr>
              <a:t></a:t>
            </a:r>
            <a:endParaRPr lang="zh-CN" altLang="en-US" sz="2000" b="1">
              <a:solidFill>
                <a:srgbClr val="0000FF"/>
              </a:solidFill>
              <a:ea typeface="楷体_GB2312" pitchFamily="49" charset="-122"/>
              <a:cs typeface="Times New Roman" panose="02020603050405020304" pitchFamily="18" charset="0"/>
              <a:sym typeface="Symbol" panose="05050102010706020507" pitchFamily="18" charset="2"/>
            </a:endParaRPr>
          </a:p>
        </p:txBody>
      </p:sp>
      <p:sp>
        <p:nvSpPr>
          <p:cNvPr id="43011" name="Text Box 3"/>
          <p:cNvSpPr txBox="1">
            <a:spLocks noChangeArrowheads="1"/>
          </p:cNvSpPr>
          <p:nvPr/>
        </p:nvSpPr>
        <p:spPr bwMode="auto">
          <a:xfrm>
            <a:off x="777875" y="842963"/>
            <a:ext cx="12303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b="1" dirty="0" smtClean="0">
                <a:solidFill>
                  <a:srgbClr val="993300"/>
                </a:solidFill>
                <a:latin typeface="+mn-ea"/>
                <a:ea typeface="+mn-ea"/>
              </a:rPr>
              <a:t>出发点：</a:t>
            </a:r>
            <a:endParaRPr kumimoji="0" lang="zh-CN" altLang="en-US" b="1" dirty="0" smtClean="0">
              <a:solidFill>
                <a:srgbClr val="993300"/>
              </a:solidFill>
              <a:latin typeface="+mn-ea"/>
              <a:ea typeface="+mn-ea"/>
            </a:endParaRPr>
          </a:p>
        </p:txBody>
      </p:sp>
      <p:sp>
        <p:nvSpPr>
          <p:cNvPr id="64517" name="Text Box 5"/>
          <p:cNvSpPr txBox="1">
            <a:spLocks noChangeArrowheads="1"/>
          </p:cNvSpPr>
          <p:nvPr/>
        </p:nvSpPr>
        <p:spPr bwMode="auto">
          <a:xfrm>
            <a:off x="533400" y="4549775"/>
            <a:ext cx="5257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eaLnBrk="1" hangingPunct="1">
              <a:spcBef>
                <a:spcPct val="20000"/>
              </a:spcBef>
              <a:defRPr/>
            </a:pPr>
            <a:r>
              <a:rPr lang="zh-CN" altLang="en-US" sz="2000" b="1" dirty="0" smtClean="0">
                <a:solidFill>
                  <a:srgbClr val="CC0000"/>
                </a:solidFill>
                <a:latin typeface="+mn-ea"/>
                <a:ea typeface="+mn-ea"/>
              </a:rPr>
              <a:t>平面滑裂面假设：</a:t>
            </a:r>
            <a:r>
              <a:rPr lang="zh-CN" altLang="en-US" sz="2000" b="1" dirty="0" smtClean="0">
                <a:solidFill>
                  <a:srgbClr val="0000FF"/>
                </a:solidFill>
                <a:latin typeface="+mn-ea"/>
                <a:ea typeface="+mn-ea"/>
              </a:rPr>
              <a:t>滑裂面为平面</a:t>
            </a:r>
            <a:endParaRPr lang="zh-CN" altLang="en-US" sz="2000" b="1" dirty="0" smtClean="0">
              <a:solidFill>
                <a:srgbClr val="0000FF"/>
              </a:solidFill>
              <a:latin typeface="+mn-ea"/>
              <a:ea typeface="+mn-ea"/>
            </a:endParaRPr>
          </a:p>
        </p:txBody>
      </p:sp>
      <p:sp>
        <p:nvSpPr>
          <p:cNvPr id="64518" name="Text Box 6"/>
          <p:cNvSpPr txBox="1">
            <a:spLocks noChangeArrowheads="1"/>
          </p:cNvSpPr>
          <p:nvPr/>
        </p:nvSpPr>
        <p:spPr bwMode="auto">
          <a:xfrm>
            <a:off x="777875" y="3278188"/>
            <a:ext cx="15382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b="1" dirty="0" smtClean="0">
                <a:solidFill>
                  <a:srgbClr val="993300"/>
                </a:solidFill>
                <a:latin typeface="+mn-ea"/>
                <a:ea typeface="+mn-ea"/>
              </a:rPr>
              <a:t>假设条件：</a:t>
            </a:r>
            <a:endParaRPr kumimoji="0" lang="zh-CN" altLang="en-US" b="1" dirty="0" smtClean="0">
              <a:solidFill>
                <a:srgbClr val="993300"/>
              </a:solidFill>
              <a:latin typeface="+mn-ea"/>
              <a:ea typeface="+mn-ea"/>
            </a:endParaRPr>
          </a:p>
        </p:txBody>
      </p:sp>
      <p:sp>
        <p:nvSpPr>
          <p:cNvPr id="64519" name="AutoShape 7" descr="横向砖形"/>
          <p:cNvSpPr>
            <a:spLocks noChangeArrowheads="1"/>
          </p:cNvSpPr>
          <p:nvPr/>
        </p:nvSpPr>
        <p:spPr bwMode="auto">
          <a:xfrm rot="10800000">
            <a:off x="5105400" y="2286000"/>
            <a:ext cx="1143000" cy="14224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blipFill dpi="0" rotWithShape="0">
            <a:blip r:embed="rId1"/>
            <a:srcRect/>
            <a:tile tx="0" ty="0" sx="100000" sy="100000" flip="none" algn="tl"/>
          </a:blipFill>
          <a:ln w="34925">
            <a:solidFill>
              <a:srgbClr val="0000FF"/>
            </a:solidFill>
            <a:miter lim="800000"/>
          </a:ln>
        </p:spPr>
        <p:txBody>
          <a:bodyPr wrap="none" anchor="ctr"/>
          <a:lstStyle/>
          <a:p>
            <a:endParaRPr lang="zh-CN" altLang="en-US"/>
          </a:p>
        </p:txBody>
      </p:sp>
      <p:sp>
        <p:nvSpPr>
          <p:cNvPr id="64520" name="Line 8"/>
          <p:cNvSpPr>
            <a:spLocks noChangeShapeType="1"/>
          </p:cNvSpPr>
          <p:nvPr/>
        </p:nvSpPr>
        <p:spPr bwMode="auto">
          <a:xfrm>
            <a:off x="5943600" y="2286000"/>
            <a:ext cx="0" cy="9906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4521" name="Rectangle 9"/>
          <p:cNvSpPr>
            <a:spLocks noChangeArrowheads="1"/>
          </p:cNvSpPr>
          <p:nvPr/>
        </p:nvSpPr>
        <p:spPr bwMode="auto">
          <a:xfrm>
            <a:off x="5791200" y="2514600"/>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en-US" altLang="zh-CN" b="1">
                <a:solidFill>
                  <a:srgbClr val="993300"/>
                </a:solidFill>
                <a:latin typeface="楷体_GB2312" pitchFamily="49" charset="-122"/>
                <a:ea typeface="楷体_GB2312" pitchFamily="49" charset="-122"/>
                <a:sym typeface="Symbol" panose="05050102010706020507" pitchFamily="18" charset="2"/>
              </a:rPr>
              <a:t></a:t>
            </a:r>
            <a:endParaRPr lang="en-US" altLang="zh-CN" b="1">
              <a:solidFill>
                <a:srgbClr val="993300"/>
              </a:solidFill>
              <a:latin typeface="楷体_GB2312" pitchFamily="49" charset="-122"/>
              <a:ea typeface="楷体_GB2312" pitchFamily="49" charset="-122"/>
              <a:sym typeface="Symbol" panose="05050102010706020507" pitchFamily="18" charset="2"/>
            </a:endParaRPr>
          </a:p>
        </p:txBody>
      </p:sp>
      <p:sp>
        <p:nvSpPr>
          <p:cNvPr id="64522" name="Line 10"/>
          <p:cNvSpPr>
            <a:spLocks noChangeShapeType="1"/>
          </p:cNvSpPr>
          <p:nvPr/>
        </p:nvSpPr>
        <p:spPr bwMode="auto">
          <a:xfrm>
            <a:off x="5943600" y="2286000"/>
            <a:ext cx="762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4523" name="Rectangle 11"/>
          <p:cNvSpPr>
            <a:spLocks noChangeArrowheads="1"/>
          </p:cNvSpPr>
          <p:nvPr/>
        </p:nvSpPr>
        <p:spPr bwMode="auto">
          <a:xfrm>
            <a:off x="6248400" y="2057400"/>
            <a:ext cx="323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en-US" altLang="zh-CN" sz="2000" b="1">
                <a:solidFill>
                  <a:srgbClr val="993300"/>
                </a:solidFill>
                <a:latin typeface="楷体_GB2312" pitchFamily="49" charset="-122"/>
                <a:ea typeface="楷体_GB2312" pitchFamily="49" charset="-122"/>
                <a:sym typeface="Symbol" panose="05050102010706020507" pitchFamily="18" charset="2"/>
              </a:rPr>
              <a:t></a:t>
            </a:r>
            <a:endParaRPr lang="en-US" altLang="zh-CN" sz="2000" b="1">
              <a:solidFill>
                <a:srgbClr val="993300"/>
              </a:solidFill>
              <a:latin typeface="楷体_GB2312" pitchFamily="49" charset="-122"/>
              <a:ea typeface="楷体_GB2312" pitchFamily="49" charset="-122"/>
              <a:sym typeface="Symbol" panose="05050102010706020507" pitchFamily="18" charset="2"/>
            </a:endParaRPr>
          </a:p>
        </p:txBody>
      </p:sp>
      <p:grpSp>
        <p:nvGrpSpPr>
          <p:cNvPr id="2" name="Group 12"/>
          <p:cNvGrpSpPr/>
          <p:nvPr/>
        </p:nvGrpSpPr>
        <p:grpSpPr bwMode="auto">
          <a:xfrm>
            <a:off x="5715000" y="1828800"/>
            <a:ext cx="1112838" cy="1757363"/>
            <a:chOff x="3609" y="1149"/>
            <a:chExt cx="701" cy="1107"/>
          </a:xfrm>
        </p:grpSpPr>
        <p:sp>
          <p:nvSpPr>
            <p:cNvPr id="44058" name="AutoShape 13" descr="斜纹布"/>
            <p:cNvSpPr>
              <a:spLocks noChangeArrowheads="1"/>
            </p:cNvSpPr>
            <p:nvPr/>
          </p:nvSpPr>
          <p:spPr bwMode="auto">
            <a:xfrm rot="-9421223">
              <a:off x="3609" y="1489"/>
              <a:ext cx="480" cy="767"/>
            </a:xfrm>
            <a:prstGeom prst="rtTriangle">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44059" name="AutoShape 14" descr="斜纹布"/>
            <p:cNvSpPr>
              <a:spLocks noChangeArrowheads="1"/>
            </p:cNvSpPr>
            <p:nvPr/>
          </p:nvSpPr>
          <p:spPr bwMode="auto">
            <a:xfrm rot="-3961097">
              <a:off x="3865" y="1114"/>
              <a:ext cx="409" cy="480"/>
            </a:xfrm>
            <a:prstGeom prst="rtTriangle">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sp>
        <p:nvSpPr>
          <p:cNvPr id="64527" name="Line 15"/>
          <p:cNvSpPr>
            <a:spLocks noChangeShapeType="1"/>
          </p:cNvSpPr>
          <p:nvPr/>
        </p:nvSpPr>
        <p:spPr bwMode="auto">
          <a:xfrm flipV="1">
            <a:off x="6248400" y="1981200"/>
            <a:ext cx="685800" cy="1676400"/>
          </a:xfrm>
          <a:prstGeom prst="line">
            <a:avLst/>
          </a:prstGeom>
          <a:noFill/>
          <a:ln w="34925">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3" name="Group 16"/>
          <p:cNvGrpSpPr/>
          <p:nvPr/>
        </p:nvGrpSpPr>
        <p:grpSpPr bwMode="auto">
          <a:xfrm>
            <a:off x="5791200" y="1295400"/>
            <a:ext cx="2757488" cy="2217738"/>
            <a:chOff x="3651" y="821"/>
            <a:chExt cx="1737" cy="1397"/>
          </a:xfrm>
        </p:grpSpPr>
        <p:sp>
          <p:nvSpPr>
            <p:cNvPr id="44056" name="AutoShape 17"/>
            <p:cNvSpPr>
              <a:spLocks noChangeArrowheads="1"/>
            </p:cNvSpPr>
            <p:nvPr/>
          </p:nvSpPr>
          <p:spPr bwMode="auto">
            <a:xfrm rot="-7913269">
              <a:off x="3506" y="1643"/>
              <a:ext cx="720" cy="429"/>
            </a:xfrm>
            <a:prstGeom prst="rtTriangle">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44057" name="AutoShape 18"/>
            <p:cNvSpPr>
              <a:spLocks noChangeArrowheads="1"/>
            </p:cNvSpPr>
            <p:nvPr/>
          </p:nvSpPr>
          <p:spPr bwMode="auto">
            <a:xfrm rot="-2467183">
              <a:off x="3824" y="821"/>
              <a:ext cx="1564" cy="755"/>
            </a:xfrm>
            <a:prstGeom prst="rtTriangle">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sp>
        <p:nvSpPr>
          <p:cNvPr id="64531" name="Line 19"/>
          <p:cNvSpPr>
            <a:spLocks noChangeShapeType="1"/>
          </p:cNvSpPr>
          <p:nvPr/>
        </p:nvSpPr>
        <p:spPr bwMode="auto">
          <a:xfrm flipV="1">
            <a:off x="5943600" y="1447800"/>
            <a:ext cx="2895600" cy="838200"/>
          </a:xfrm>
          <a:prstGeom prst="line">
            <a:avLst/>
          </a:prstGeom>
          <a:noFill/>
          <a:ln w="34925">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64532" name="Line 20"/>
          <p:cNvSpPr>
            <a:spLocks noChangeShapeType="1"/>
          </p:cNvSpPr>
          <p:nvPr/>
        </p:nvSpPr>
        <p:spPr bwMode="auto">
          <a:xfrm>
            <a:off x="5943600" y="2286000"/>
            <a:ext cx="304800" cy="1371600"/>
          </a:xfrm>
          <a:prstGeom prst="line">
            <a:avLst/>
          </a:prstGeom>
          <a:noFill/>
          <a:ln w="34925">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4533" name="Line 21"/>
          <p:cNvSpPr>
            <a:spLocks noChangeShapeType="1"/>
          </p:cNvSpPr>
          <p:nvPr/>
        </p:nvSpPr>
        <p:spPr bwMode="auto">
          <a:xfrm flipV="1">
            <a:off x="6248400" y="1524000"/>
            <a:ext cx="2362200" cy="2133600"/>
          </a:xfrm>
          <a:prstGeom prst="line">
            <a:avLst/>
          </a:prstGeom>
          <a:noFill/>
          <a:ln w="34925">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4534" name="Text Box 22"/>
          <p:cNvSpPr txBox="1">
            <a:spLocks noChangeArrowheads="1"/>
          </p:cNvSpPr>
          <p:nvPr/>
        </p:nvSpPr>
        <p:spPr bwMode="auto">
          <a:xfrm>
            <a:off x="533400" y="5207000"/>
            <a:ext cx="79994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eaLnBrk="1" hangingPunct="1">
              <a:spcBef>
                <a:spcPct val="20000"/>
              </a:spcBef>
              <a:defRPr/>
            </a:pPr>
            <a:r>
              <a:rPr lang="zh-CN" altLang="en-US" sz="2000" b="1" dirty="0" smtClean="0">
                <a:solidFill>
                  <a:srgbClr val="CC0000"/>
                </a:solidFill>
                <a:latin typeface="+mn-ea"/>
                <a:ea typeface="+mn-ea"/>
              </a:rPr>
              <a:t>刚体滑动假设：</a:t>
            </a:r>
            <a:r>
              <a:rPr lang="zh-CN" altLang="en-US" sz="2000" b="1" dirty="0" smtClean="0">
                <a:solidFill>
                  <a:srgbClr val="0000FF"/>
                </a:solidFill>
                <a:latin typeface="+mn-ea"/>
                <a:ea typeface="+mn-ea"/>
              </a:rPr>
              <a:t>破坏土楔为刚体，滑动楔体整体处于极限平衡状态</a:t>
            </a:r>
            <a:endParaRPr lang="zh-CN" altLang="en-US" sz="2000" b="1" dirty="0" smtClean="0">
              <a:solidFill>
                <a:srgbClr val="0000FF"/>
              </a:solidFill>
              <a:latin typeface="+mn-ea"/>
              <a:ea typeface="+mn-ea"/>
            </a:endParaRPr>
          </a:p>
        </p:txBody>
      </p:sp>
      <p:sp>
        <p:nvSpPr>
          <p:cNvPr id="44050" name="Line 24"/>
          <p:cNvSpPr>
            <a:spLocks noChangeShapeType="1"/>
          </p:cNvSpPr>
          <p:nvPr/>
        </p:nvSpPr>
        <p:spPr bwMode="auto">
          <a:xfrm>
            <a:off x="5940425" y="2276475"/>
            <a:ext cx="1008063"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51" name="Arc 25"/>
          <p:cNvSpPr/>
          <p:nvPr/>
        </p:nvSpPr>
        <p:spPr bwMode="auto">
          <a:xfrm>
            <a:off x="6588125" y="2133600"/>
            <a:ext cx="71438" cy="142875"/>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p>
            <a:endParaRPr lang="zh-CN" altLang="en-US"/>
          </a:p>
        </p:txBody>
      </p:sp>
      <p:sp>
        <p:nvSpPr>
          <p:cNvPr id="44052" name="Freeform 26"/>
          <p:cNvSpPr/>
          <p:nvPr/>
        </p:nvSpPr>
        <p:spPr bwMode="auto">
          <a:xfrm>
            <a:off x="6659563" y="2060575"/>
            <a:ext cx="144462" cy="252413"/>
          </a:xfrm>
          <a:custGeom>
            <a:avLst/>
            <a:gdLst>
              <a:gd name="T0" fmla="*/ 0 w 91"/>
              <a:gd name="T1" fmla="*/ 0 h 159"/>
              <a:gd name="T2" fmla="*/ 2147483646 w 91"/>
              <a:gd name="T3" fmla="*/ 2147483646 h 159"/>
              <a:gd name="T4" fmla="*/ 0 w 91"/>
              <a:gd name="T5" fmla="*/ 2147483646 h 159"/>
              <a:gd name="T6" fmla="*/ 0 60000 65536"/>
              <a:gd name="T7" fmla="*/ 0 60000 65536"/>
              <a:gd name="T8" fmla="*/ 0 60000 65536"/>
              <a:gd name="T9" fmla="*/ 0 w 91"/>
              <a:gd name="T10" fmla="*/ 0 h 159"/>
              <a:gd name="T11" fmla="*/ 91 w 91"/>
              <a:gd name="T12" fmla="*/ 159 h 159"/>
            </a:gdLst>
            <a:ahLst/>
            <a:cxnLst>
              <a:cxn ang="T6">
                <a:pos x="T0" y="T1"/>
              </a:cxn>
              <a:cxn ang="T7">
                <a:pos x="T2" y="T3"/>
              </a:cxn>
              <a:cxn ang="T8">
                <a:pos x="T4" y="T5"/>
              </a:cxn>
            </a:cxnLst>
            <a:rect l="T9" t="T10" r="T11" b="T12"/>
            <a:pathLst>
              <a:path w="91" h="159">
                <a:moveTo>
                  <a:pt x="0" y="0"/>
                </a:moveTo>
                <a:cubicBezTo>
                  <a:pt x="45" y="56"/>
                  <a:pt x="91" y="113"/>
                  <a:pt x="91" y="136"/>
                </a:cubicBezTo>
                <a:cubicBezTo>
                  <a:pt x="91" y="159"/>
                  <a:pt x="45" y="147"/>
                  <a:pt x="0" y="136"/>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053" name="Text Box 27"/>
          <p:cNvSpPr txBox="1">
            <a:spLocks noChangeArrowheads="1"/>
          </p:cNvSpPr>
          <p:nvPr/>
        </p:nvSpPr>
        <p:spPr bwMode="auto">
          <a:xfrm>
            <a:off x="6804025" y="1916113"/>
            <a:ext cx="350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latin typeface="楷体_GB2312" pitchFamily="49" charset="-122"/>
                <a:ea typeface="楷体_GB2312" pitchFamily="49" charset="-122"/>
                <a:sym typeface="Symbol" panose="05050102010706020507" pitchFamily="18" charset="2"/>
              </a:rPr>
              <a:t></a:t>
            </a:r>
            <a:endParaRPr lang="en-US" altLang="zh-CN">
              <a:latin typeface="楷体_GB2312" pitchFamily="49" charset="-122"/>
              <a:ea typeface="楷体_GB2312" pitchFamily="49" charset="-122"/>
              <a:sym typeface="Symbol" panose="05050102010706020507" pitchFamily="18" charset="2"/>
            </a:endParaRPr>
          </a:p>
        </p:txBody>
      </p:sp>
      <p:sp>
        <p:nvSpPr>
          <p:cNvPr id="44054" name="矩形 3"/>
          <p:cNvSpPr>
            <a:spLocks noChangeArrowheads="1"/>
          </p:cNvSpPr>
          <p:nvPr/>
        </p:nvSpPr>
        <p:spPr bwMode="auto">
          <a:xfrm>
            <a:off x="957263" y="3935413"/>
            <a:ext cx="32829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000" b="1">
                <a:solidFill>
                  <a:srgbClr val="3333FF"/>
                </a:solidFill>
              </a:rPr>
              <a:t>墙后的填土是均匀的砂性土</a:t>
            </a:r>
            <a:endParaRPr lang="zh-CN" altLang="en-US" sz="2000">
              <a:solidFill>
                <a:srgbClr val="3333FF"/>
              </a:solidFill>
            </a:endParaRPr>
          </a:p>
        </p:txBody>
      </p:sp>
      <p:sp>
        <p:nvSpPr>
          <p:cNvPr id="27" name="Rectangle 6"/>
          <p:cNvSpPr>
            <a:spLocks noChangeArrowheads="1"/>
          </p:cNvSpPr>
          <p:nvPr/>
        </p:nvSpPr>
        <p:spPr bwMode="auto">
          <a:xfrm>
            <a:off x="-3175" y="-9842"/>
            <a:ext cx="3617913"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§6.4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库仑土压力理论</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4519"/>
                                        </p:tgtEl>
                                        <p:attrNameLst>
                                          <p:attrName>style.visibility</p:attrName>
                                        </p:attrNameLst>
                                      </p:cBhvr>
                                      <p:to>
                                        <p:strVal val="visible"/>
                                      </p:to>
                                    </p:set>
                                    <p:animEffect transition="in" filter="dissolve">
                                      <p:cBhvr>
                                        <p:cTn id="7" dur="500"/>
                                        <p:tgtEl>
                                          <p:spTgt spid="6451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4531"/>
                                        </p:tgtEl>
                                        <p:attrNameLst>
                                          <p:attrName>style.visibility</p:attrName>
                                        </p:attrNameLst>
                                      </p:cBhvr>
                                      <p:to>
                                        <p:strVal val="visible"/>
                                      </p:to>
                                    </p:set>
                                    <p:animEffect transition="in" filter="wipe(left)">
                                      <p:cBhvr>
                                        <p:cTn id="11" dur="500"/>
                                        <p:tgtEl>
                                          <p:spTgt spid="6453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iterate type="wd">
                                    <p:tmPct val="100000"/>
                                  </p:iterate>
                                  <p:childTnLst>
                                    <p:set>
                                      <p:cBhvr>
                                        <p:cTn id="15" dur="1" fill="hold">
                                          <p:stCondLst>
                                            <p:cond delay="0"/>
                                          </p:stCondLst>
                                        </p:cTn>
                                        <p:tgtEl>
                                          <p:spTgt spid="64514">
                                            <p:txEl>
                                              <p:pRg st="0" end="0"/>
                                            </p:txEl>
                                          </p:spTgt>
                                        </p:tgtEl>
                                        <p:attrNameLst>
                                          <p:attrName>style.visibility</p:attrName>
                                        </p:attrNameLst>
                                      </p:cBhvr>
                                      <p:to>
                                        <p:strVal val="visible"/>
                                      </p:to>
                                    </p:set>
                                    <p:animEffect transition="in" filter="wipe(left)">
                                      <p:cBhvr>
                                        <p:cTn id="16" dur="300"/>
                                        <p:tgtEl>
                                          <p:spTgt spid="64514">
                                            <p:txEl>
                                              <p:pRg st="0" end="0"/>
                                            </p:txEl>
                                          </p:spTgt>
                                        </p:tgtEl>
                                      </p:cBhvr>
                                    </p:animEffect>
                                  </p:childTnLst>
                                </p:cTn>
                              </p:par>
                              <p:par>
                                <p:cTn id="17" presetID="22" presetClass="entr" presetSubtype="8" fill="hold" grpId="0" nodeType="withEffect">
                                  <p:stCondLst>
                                    <p:cond delay="0"/>
                                  </p:stCondLst>
                                  <p:iterate type="wd">
                                    <p:tmPct val="100000"/>
                                  </p:iterate>
                                  <p:childTnLst>
                                    <p:set>
                                      <p:cBhvr>
                                        <p:cTn id="18" dur="1" fill="hold">
                                          <p:stCondLst>
                                            <p:cond delay="0"/>
                                          </p:stCondLst>
                                        </p:cTn>
                                        <p:tgtEl>
                                          <p:spTgt spid="64514">
                                            <p:txEl>
                                              <p:pRg st="1" end="1"/>
                                            </p:txEl>
                                          </p:spTgt>
                                        </p:tgtEl>
                                        <p:attrNameLst>
                                          <p:attrName>style.visibility</p:attrName>
                                        </p:attrNameLst>
                                      </p:cBhvr>
                                      <p:to>
                                        <p:strVal val="visible"/>
                                      </p:to>
                                    </p:set>
                                    <p:animEffect transition="in" filter="wipe(left)">
                                      <p:cBhvr>
                                        <p:cTn id="19" dur="300"/>
                                        <p:tgtEl>
                                          <p:spTgt spid="64514">
                                            <p:txEl>
                                              <p:pRg st="1" end="1"/>
                                            </p:txEl>
                                          </p:spTgt>
                                        </p:tgtEl>
                                      </p:cBhvr>
                                    </p:animEffect>
                                  </p:childTnLst>
                                </p:cTn>
                              </p:par>
                              <p:par>
                                <p:cTn id="20" presetID="22" presetClass="entr" presetSubtype="8" fill="hold" grpId="0" nodeType="withEffect">
                                  <p:stCondLst>
                                    <p:cond delay="0"/>
                                  </p:stCondLst>
                                  <p:iterate type="wd">
                                    <p:tmPct val="100000"/>
                                  </p:iterate>
                                  <p:childTnLst>
                                    <p:set>
                                      <p:cBhvr>
                                        <p:cTn id="21" dur="1" fill="hold">
                                          <p:stCondLst>
                                            <p:cond delay="0"/>
                                          </p:stCondLst>
                                        </p:cTn>
                                        <p:tgtEl>
                                          <p:spTgt spid="64514">
                                            <p:txEl>
                                              <p:pRg st="2" end="2"/>
                                            </p:txEl>
                                          </p:spTgt>
                                        </p:tgtEl>
                                        <p:attrNameLst>
                                          <p:attrName>style.visibility</p:attrName>
                                        </p:attrNameLst>
                                      </p:cBhvr>
                                      <p:to>
                                        <p:strVal val="visible"/>
                                      </p:to>
                                    </p:set>
                                    <p:animEffect transition="in" filter="wipe(left)">
                                      <p:cBhvr>
                                        <p:cTn id="22" dur="300"/>
                                        <p:tgtEl>
                                          <p:spTgt spid="6451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64520"/>
                                        </p:tgtEl>
                                        <p:attrNameLst>
                                          <p:attrName>style.visibility</p:attrName>
                                        </p:attrNameLst>
                                      </p:cBhvr>
                                      <p:to>
                                        <p:strVal val="visible"/>
                                      </p:to>
                                    </p:set>
                                    <p:animEffect transition="in" filter="wipe(up)">
                                      <p:cBhvr>
                                        <p:cTn id="27" dur="500"/>
                                        <p:tgtEl>
                                          <p:spTgt spid="64520"/>
                                        </p:tgtEl>
                                      </p:cBhvr>
                                    </p:animEffect>
                                  </p:childTnLst>
                                </p:cTn>
                              </p:par>
                            </p:childTnLst>
                          </p:cTn>
                        </p:par>
                        <p:par>
                          <p:cTn id="28" fill="hold">
                            <p:stCondLst>
                              <p:cond delay="500"/>
                            </p:stCondLst>
                            <p:childTnLst>
                              <p:par>
                                <p:cTn id="29" presetID="9" presetClass="entr" presetSubtype="0" fill="hold" grpId="0" nodeType="afterEffect">
                                  <p:stCondLst>
                                    <p:cond delay="0"/>
                                  </p:stCondLst>
                                  <p:childTnLst>
                                    <p:set>
                                      <p:cBhvr>
                                        <p:cTn id="30" dur="1" fill="hold">
                                          <p:stCondLst>
                                            <p:cond delay="0"/>
                                          </p:stCondLst>
                                        </p:cTn>
                                        <p:tgtEl>
                                          <p:spTgt spid="64521"/>
                                        </p:tgtEl>
                                        <p:attrNameLst>
                                          <p:attrName>style.visibility</p:attrName>
                                        </p:attrNameLst>
                                      </p:cBhvr>
                                      <p:to>
                                        <p:strVal val="visible"/>
                                      </p:to>
                                    </p:set>
                                    <p:animEffect transition="in" filter="dissolve">
                                      <p:cBhvr>
                                        <p:cTn id="31" dur="500"/>
                                        <p:tgtEl>
                                          <p:spTgt spid="6452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64522"/>
                                        </p:tgtEl>
                                        <p:attrNameLst>
                                          <p:attrName>style.visibility</p:attrName>
                                        </p:attrNameLst>
                                      </p:cBhvr>
                                      <p:to>
                                        <p:strVal val="visible"/>
                                      </p:to>
                                    </p:set>
                                    <p:animEffect transition="in" filter="wipe(left)">
                                      <p:cBhvr>
                                        <p:cTn id="36" dur="500"/>
                                        <p:tgtEl>
                                          <p:spTgt spid="64522"/>
                                        </p:tgtEl>
                                      </p:cBhvr>
                                    </p:animEffect>
                                  </p:childTnLst>
                                </p:cTn>
                              </p:par>
                            </p:childTnLst>
                          </p:cTn>
                        </p:par>
                        <p:par>
                          <p:cTn id="37" fill="hold">
                            <p:stCondLst>
                              <p:cond delay="500"/>
                            </p:stCondLst>
                            <p:childTnLst>
                              <p:par>
                                <p:cTn id="38" presetID="9" presetClass="entr" presetSubtype="0" fill="hold" grpId="0" nodeType="afterEffect">
                                  <p:stCondLst>
                                    <p:cond delay="0"/>
                                  </p:stCondLst>
                                  <p:childTnLst>
                                    <p:set>
                                      <p:cBhvr>
                                        <p:cTn id="39" dur="1" fill="hold">
                                          <p:stCondLst>
                                            <p:cond delay="0"/>
                                          </p:stCondLst>
                                        </p:cTn>
                                        <p:tgtEl>
                                          <p:spTgt spid="64523"/>
                                        </p:tgtEl>
                                        <p:attrNameLst>
                                          <p:attrName>style.visibility</p:attrName>
                                        </p:attrNameLst>
                                      </p:cBhvr>
                                      <p:to>
                                        <p:strVal val="visible"/>
                                      </p:to>
                                    </p:set>
                                    <p:animEffect transition="in" filter="dissolve">
                                      <p:cBhvr>
                                        <p:cTn id="40" dur="500"/>
                                        <p:tgtEl>
                                          <p:spTgt spid="6452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64518"/>
                                        </p:tgtEl>
                                        <p:attrNameLst>
                                          <p:attrName>style.visibility</p:attrName>
                                        </p:attrNameLst>
                                      </p:cBhvr>
                                      <p:to>
                                        <p:strVal val="visible"/>
                                      </p:to>
                                    </p:set>
                                    <p:animEffect transition="in" filter="wipe(left)">
                                      <p:cBhvr>
                                        <p:cTn id="45" dur="500"/>
                                        <p:tgtEl>
                                          <p:spTgt spid="6451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iterate type="wd">
                                    <p:tmPct val="100000"/>
                                  </p:iterate>
                                  <p:childTnLst>
                                    <p:set>
                                      <p:cBhvr>
                                        <p:cTn id="49" dur="1" fill="hold">
                                          <p:stCondLst>
                                            <p:cond delay="0"/>
                                          </p:stCondLst>
                                        </p:cTn>
                                        <p:tgtEl>
                                          <p:spTgt spid="64517"/>
                                        </p:tgtEl>
                                        <p:attrNameLst>
                                          <p:attrName>style.visibility</p:attrName>
                                        </p:attrNameLst>
                                      </p:cBhvr>
                                      <p:to>
                                        <p:strVal val="visible"/>
                                      </p:to>
                                    </p:set>
                                    <p:animEffect transition="in" filter="wipe(left)">
                                      <p:cBhvr>
                                        <p:cTn id="50" dur="300"/>
                                        <p:tgtEl>
                                          <p:spTgt spid="64517"/>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iterate type="wd">
                                    <p:tmPct val="100000"/>
                                  </p:iterate>
                                  <p:childTnLst>
                                    <p:set>
                                      <p:cBhvr>
                                        <p:cTn id="54" dur="1" fill="hold">
                                          <p:stCondLst>
                                            <p:cond delay="0"/>
                                          </p:stCondLst>
                                        </p:cTn>
                                        <p:tgtEl>
                                          <p:spTgt spid="64534"/>
                                        </p:tgtEl>
                                        <p:attrNameLst>
                                          <p:attrName>style.visibility</p:attrName>
                                        </p:attrNameLst>
                                      </p:cBhvr>
                                      <p:to>
                                        <p:strVal val="visible"/>
                                      </p:to>
                                    </p:set>
                                    <p:animEffect transition="in" filter="wipe(left)">
                                      <p:cBhvr>
                                        <p:cTn id="55" dur="300"/>
                                        <p:tgtEl>
                                          <p:spTgt spid="64534"/>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nodeType="clickEffect">
                                  <p:stCondLst>
                                    <p:cond delay="0"/>
                                  </p:stCondLst>
                                  <p:childTnLst>
                                    <p:set>
                                      <p:cBhvr>
                                        <p:cTn id="59" dur="1" fill="hold">
                                          <p:stCondLst>
                                            <p:cond delay="0"/>
                                          </p:stCondLst>
                                        </p:cTn>
                                        <p:tgtEl>
                                          <p:spTgt spid="64532"/>
                                        </p:tgtEl>
                                        <p:attrNameLst>
                                          <p:attrName>style.visibility</p:attrName>
                                        </p:attrNameLst>
                                      </p:cBhvr>
                                      <p:to>
                                        <p:strVal val="visible"/>
                                      </p:to>
                                    </p:set>
                                    <p:animEffect transition="in" filter="dissolve">
                                      <p:cBhvr>
                                        <p:cTn id="60" dur="500"/>
                                        <p:tgtEl>
                                          <p:spTgt spid="64532"/>
                                        </p:tgtEl>
                                      </p:cBhvr>
                                    </p:animEffect>
                                  </p:childTnLst>
                                </p:cTn>
                              </p:par>
                            </p:childTnLst>
                          </p:cTn>
                        </p:par>
                        <p:par>
                          <p:cTn id="61" fill="hold">
                            <p:stCondLst>
                              <p:cond delay="500"/>
                            </p:stCondLst>
                            <p:childTnLst>
                              <p:par>
                                <p:cTn id="62" presetID="22" presetClass="entr" presetSubtype="4" fill="hold" nodeType="afterEffect">
                                  <p:stCondLst>
                                    <p:cond delay="0"/>
                                  </p:stCondLst>
                                  <p:childTnLst>
                                    <p:set>
                                      <p:cBhvr>
                                        <p:cTn id="63" dur="1" fill="hold">
                                          <p:stCondLst>
                                            <p:cond delay="0"/>
                                          </p:stCondLst>
                                        </p:cTn>
                                        <p:tgtEl>
                                          <p:spTgt spid="64527"/>
                                        </p:tgtEl>
                                        <p:attrNameLst>
                                          <p:attrName>style.visibility</p:attrName>
                                        </p:attrNameLst>
                                      </p:cBhvr>
                                      <p:to>
                                        <p:strVal val="visible"/>
                                      </p:to>
                                    </p:set>
                                    <p:animEffect transition="in" filter="wipe(down)">
                                      <p:cBhvr>
                                        <p:cTn id="64" dur="500"/>
                                        <p:tgtEl>
                                          <p:spTgt spid="64527"/>
                                        </p:tgtEl>
                                      </p:cBhvr>
                                    </p:animEffect>
                                  </p:childTnLst>
                                </p:cTn>
                              </p:par>
                            </p:childTnLst>
                          </p:cTn>
                        </p:par>
                        <p:par>
                          <p:cTn id="65" fill="hold">
                            <p:stCondLst>
                              <p:cond delay="1000"/>
                            </p:stCondLst>
                            <p:childTnLst>
                              <p:par>
                                <p:cTn id="66" presetID="9" presetClass="entr" presetSubtype="0" fill="hold" nodeType="afterEffect">
                                  <p:stCondLst>
                                    <p:cond delay="0"/>
                                  </p:stCondLst>
                                  <p:childTnLst>
                                    <p:set>
                                      <p:cBhvr>
                                        <p:cTn id="67" dur="1" fill="hold">
                                          <p:stCondLst>
                                            <p:cond delay="0"/>
                                          </p:stCondLst>
                                        </p:cTn>
                                        <p:tgtEl>
                                          <p:spTgt spid="2"/>
                                        </p:tgtEl>
                                        <p:attrNameLst>
                                          <p:attrName>style.visibility</p:attrName>
                                        </p:attrNameLst>
                                      </p:cBhvr>
                                      <p:to>
                                        <p:strVal val="visible"/>
                                      </p:to>
                                    </p:set>
                                    <p:animEffect transition="in" filter="dissolve">
                                      <p:cBhvr>
                                        <p:cTn id="68" dur="500"/>
                                        <p:tgtEl>
                                          <p:spTgt spid="2"/>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64533"/>
                                        </p:tgtEl>
                                        <p:attrNameLst>
                                          <p:attrName>style.visibility</p:attrName>
                                        </p:attrNameLst>
                                      </p:cBhvr>
                                      <p:to>
                                        <p:strVal val="visible"/>
                                      </p:to>
                                    </p:set>
                                    <p:animEffect transition="in" filter="wipe(left)">
                                      <p:cBhvr>
                                        <p:cTn id="73" dur="500"/>
                                        <p:tgtEl>
                                          <p:spTgt spid="64533"/>
                                        </p:tgtEl>
                                      </p:cBhvr>
                                    </p:animEffect>
                                  </p:childTnLst>
                                </p:cTn>
                              </p:par>
                            </p:childTnLst>
                          </p:cTn>
                        </p:par>
                        <p:par>
                          <p:cTn id="74" fill="hold">
                            <p:stCondLst>
                              <p:cond delay="500"/>
                            </p:stCondLst>
                            <p:childTnLst>
                              <p:par>
                                <p:cTn id="75" presetID="9" presetClass="entr" presetSubtype="0" fill="hold" nodeType="afterEffect">
                                  <p:stCondLst>
                                    <p:cond delay="0"/>
                                  </p:stCondLst>
                                  <p:childTnLst>
                                    <p:set>
                                      <p:cBhvr>
                                        <p:cTn id="76" dur="1" fill="hold">
                                          <p:stCondLst>
                                            <p:cond delay="0"/>
                                          </p:stCondLst>
                                        </p:cTn>
                                        <p:tgtEl>
                                          <p:spTgt spid="3"/>
                                        </p:tgtEl>
                                        <p:attrNameLst>
                                          <p:attrName>style.visibility</p:attrName>
                                        </p:attrNameLst>
                                      </p:cBhvr>
                                      <p:to>
                                        <p:strVal val="visible"/>
                                      </p:to>
                                    </p:set>
                                    <p:animEffect transition="in" filter="dissolve">
                                      <p:cBhvr>
                                        <p:cTn id="7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4" grpId="0" autoUpdateAnimBg="0" build="p"/>
      <p:bldP spid="64517" grpId="0" autoUpdateAnimBg="0"/>
      <p:bldP spid="64518" grpId="0" autoUpdateAnimBg="0"/>
      <p:bldP spid="64521" grpId="0" autoUpdateAnimBg="0"/>
      <p:bldP spid="64523" grpId="0" autoUpdateAnimBg="0"/>
      <p:bldP spid="64534"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609600" y="1143000"/>
            <a:ext cx="5557838" cy="3654425"/>
            <a:chOff x="384" y="720"/>
            <a:chExt cx="3501" cy="2302"/>
          </a:xfrm>
        </p:grpSpPr>
        <p:grpSp>
          <p:nvGrpSpPr>
            <p:cNvPr id="45101" name="Group 3"/>
            <p:cNvGrpSpPr/>
            <p:nvPr/>
          </p:nvGrpSpPr>
          <p:grpSpPr bwMode="auto">
            <a:xfrm>
              <a:off x="384" y="720"/>
              <a:ext cx="3501" cy="2302"/>
              <a:chOff x="384" y="720"/>
              <a:chExt cx="3501" cy="2302"/>
            </a:xfrm>
          </p:grpSpPr>
          <p:grpSp>
            <p:nvGrpSpPr>
              <p:cNvPr id="45103" name="Group 4"/>
              <p:cNvGrpSpPr/>
              <p:nvPr/>
            </p:nvGrpSpPr>
            <p:grpSpPr bwMode="auto">
              <a:xfrm>
                <a:off x="384" y="720"/>
                <a:ext cx="3501" cy="2046"/>
                <a:chOff x="384" y="720"/>
                <a:chExt cx="3501" cy="2046"/>
              </a:xfrm>
            </p:grpSpPr>
            <p:sp>
              <p:nvSpPr>
                <p:cNvPr id="45106" name="Freeform 5"/>
                <p:cNvSpPr/>
                <p:nvPr/>
              </p:nvSpPr>
              <p:spPr bwMode="auto">
                <a:xfrm>
                  <a:off x="792" y="1374"/>
                  <a:ext cx="925" cy="1388"/>
                </a:xfrm>
                <a:custGeom>
                  <a:avLst/>
                  <a:gdLst>
                    <a:gd name="T0" fmla="*/ 3798751 w 567"/>
                    <a:gd name="T1" fmla="*/ 235549 h 1026"/>
                    <a:gd name="T2" fmla="*/ 0 w 567"/>
                    <a:gd name="T3" fmla="*/ 236417 h 1026"/>
                    <a:gd name="T4" fmla="*/ 943882 w 567"/>
                    <a:gd name="T5" fmla="*/ 0 h 1026"/>
                    <a:gd name="T6" fmla="*/ 2189953 w 567"/>
                    <a:gd name="T7" fmla="*/ 616 h 1026"/>
                    <a:gd name="T8" fmla="*/ 3798751 w 567"/>
                    <a:gd name="T9" fmla="*/ 235549 h 1026"/>
                    <a:gd name="T10" fmla="*/ 0 60000 65536"/>
                    <a:gd name="T11" fmla="*/ 0 60000 65536"/>
                    <a:gd name="T12" fmla="*/ 0 60000 65536"/>
                    <a:gd name="T13" fmla="*/ 0 60000 65536"/>
                    <a:gd name="T14" fmla="*/ 0 60000 65536"/>
                    <a:gd name="T15" fmla="*/ 0 w 567"/>
                    <a:gd name="T16" fmla="*/ 0 h 1026"/>
                    <a:gd name="T17" fmla="*/ 567 w 567"/>
                    <a:gd name="T18" fmla="*/ 1026 h 1026"/>
                  </a:gdLst>
                  <a:ahLst/>
                  <a:cxnLst>
                    <a:cxn ang="T10">
                      <a:pos x="T0" y="T1"/>
                    </a:cxn>
                    <a:cxn ang="T11">
                      <a:pos x="T2" y="T3"/>
                    </a:cxn>
                    <a:cxn ang="T12">
                      <a:pos x="T4" y="T5"/>
                    </a:cxn>
                    <a:cxn ang="T13">
                      <a:pos x="T6" y="T7"/>
                    </a:cxn>
                    <a:cxn ang="T14">
                      <a:pos x="T8" y="T9"/>
                    </a:cxn>
                  </a:cxnLst>
                  <a:rect l="T15" t="T16" r="T17" b="T18"/>
                  <a:pathLst>
                    <a:path w="567" h="1026">
                      <a:moveTo>
                        <a:pt x="567" y="1023"/>
                      </a:moveTo>
                      <a:lnTo>
                        <a:pt x="0" y="1026"/>
                      </a:lnTo>
                      <a:lnTo>
                        <a:pt x="141" y="0"/>
                      </a:lnTo>
                      <a:lnTo>
                        <a:pt x="327" y="3"/>
                      </a:lnTo>
                      <a:lnTo>
                        <a:pt x="567" y="1023"/>
                      </a:lnTo>
                      <a:close/>
                    </a:path>
                  </a:pathLst>
                </a:custGeom>
                <a:solidFill>
                  <a:srgbClr val="CCFFCC">
                    <a:alpha val="50195"/>
                  </a:srgbClr>
                </a:solidFill>
                <a:ln w="28575">
                  <a:solidFill>
                    <a:srgbClr val="008000"/>
                  </a:solidFill>
                  <a:round/>
                </a:ln>
              </p:spPr>
              <p:txBody>
                <a:bodyPr/>
                <a:lstStyle/>
                <a:p>
                  <a:endParaRPr lang="zh-CN" altLang="en-US"/>
                </a:p>
              </p:txBody>
            </p:sp>
            <p:sp>
              <p:nvSpPr>
                <p:cNvPr id="45107" name="Line 6"/>
                <p:cNvSpPr>
                  <a:spLocks noChangeShapeType="1"/>
                </p:cNvSpPr>
                <p:nvPr/>
              </p:nvSpPr>
              <p:spPr bwMode="auto">
                <a:xfrm>
                  <a:off x="1311" y="1378"/>
                  <a:ext cx="0" cy="528"/>
                </a:xfrm>
                <a:prstGeom prst="line">
                  <a:avLst/>
                </a:prstGeom>
                <a:noFill/>
                <a:ln w="19050">
                  <a:solidFill>
                    <a:srgbClr val="3366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45108" name="Group 7"/>
                <p:cNvGrpSpPr/>
                <p:nvPr/>
              </p:nvGrpSpPr>
              <p:grpSpPr bwMode="auto">
                <a:xfrm>
                  <a:off x="1325" y="891"/>
                  <a:ext cx="2560" cy="1875"/>
                  <a:chOff x="1325" y="891"/>
                  <a:chExt cx="2560" cy="1875"/>
                </a:xfrm>
              </p:grpSpPr>
              <p:sp>
                <p:nvSpPr>
                  <p:cNvPr id="45120" name="Freeform 8"/>
                  <p:cNvSpPr/>
                  <p:nvPr/>
                </p:nvSpPr>
                <p:spPr bwMode="auto">
                  <a:xfrm>
                    <a:off x="1325" y="1033"/>
                    <a:ext cx="1782" cy="1733"/>
                  </a:xfrm>
                  <a:custGeom>
                    <a:avLst/>
                    <a:gdLst>
                      <a:gd name="T0" fmla="*/ 1618288 w 1092"/>
                      <a:gd name="T1" fmla="*/ 295111 h 1281"/>
                      <a:gd name="T2" fmla="*/ 7353727 w 1092"/>
                      <a:gd name="T3" fmla="*/ 0 h 1281"/>
                      <a:gd name="T4" fmla="*/ 0 w 1092"/>
                      <a:gd name="T5" fmla="*/ 58818 h 1281"/>
                      <a:gd name="T6" fmla="*/ 0 60000 65536"/>
                      <a:gd name="T7" fmla="*/ 0 60000 65536"/>
                      <a:gd name="T8" fmla="*/ 0 60000 65536"/>
                      <a:gd name="T9" fmla="*/ 0 w 1092"/>
                      <a:gd name="T10" fmla="*/ 0 h 1281"/>
                      <a:gd name="T11" fmla="*/ 1092 w 1092"/>
                      <a:gd name="T12" fmla="*/ 1281 h 1281"/>
                    </a:gdLst>
                    <a:ahLst/>
                    <a:cxnLst>
                      <a:cxn ang="T6">
                        <a:pos x="T0" y="T1"/>
                      </a:cxn>
                      <a:cxn ang="T7">
                        <a:pos x="T2" y="T3"/>
                      </a:cxn>
                      <a:cxn ang="T8">
                        <a:pos x="T4" y="T5"/>
                      </a:cxn>
                    </a:cxnLst>
                    <a:rect l="T9" t="T10" r="T11" b="T12"/>
                    <a:pathLst>
                      <a:path w="1092" h="1281">
                        <a:moveTo>
                          <a:pt x="240" y="1281"/>
                        </a:moveTo>
                        <a:lnTo>
                          <a:pt x="1092" y="0"/>
                        </a:lnTo>
                        <a:lnTo>
                          <a:pt x="0" y="255"/>
                        </a:lnTo>
                      </a:path>
                    </a:pathLst>
                  </a:custGeom>
                  <a:noFill/>
                  <a:ln w="38100">
                    <a:solidFill>
                      <a:srgbClr val="3366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5121" name="Line 9"/>
                  <p:cNvSpPr>
                    <a:spLocks noChangeShapeType="1"/>
                  </p:cNvSpPr>
                  <p:nvPr/>
                </p:nvSpPr>
                <p:spPr bwMode="auto">
                  <a:xfrm flipV="1">
                    <a:off x="3107" y="891"/>
                    <a:ext cx="778" cy="146"/>
                  </a:xfrm>
                  <a:prstGeom prst="line">
                    <a:avLst/>
                  </a:prstGeom>
                  <a:noFill/>
                  <a:ln w="38100">
                    <a:solidFill>
                      <a:srgbClr val="3366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5109" name="Line 10"/>
                <p:cNvSpPr>
                  <a:spLocks noChangeShapeType="1"/>
                </p:cNvSpPr>
                <p:nvPr/>
              </p:nvSpPr>
              <p:spPr bwMode="auto">
                <a:xfrm>
                  <a:off x="1325" y="1378"/>
                  <a:ext cx="1023" cy="0"/>
                </a:xfrm>
                <a:prstGeom prst="line">
                  <a:avLst/>
                </a:prstGeom>
                <a:noFill/>
                <a:ln w="19050">
                  <a:solidFill>
                    <a:srgbClr val="3366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10" name="Text Box 11"/>
                <p:cNvSpPr txBox="1">
                  <a:spLocks noChangeArrowheads="1"/>
                </p:cNvSpPr>
                <p:nvPr/>
              </p:nvSpPr>
              <p:spPr bwMode="auto">
                <a:xfrm>
                  <a:off x="2113" y="1113"/>
                  <a:ext cx="3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FF0000"/>
                      </a:solidFill>
                      <a:latin typeface="楷体_GB2312" pitchFamily="49" charset="-122"/>
                      <a:ea typeface="楷体_GB2312" pitchFamily="49" charset="-122"/>
                      <a:sym typeface="Symbol" panose="05050102010706020507" pitchFamily="18" charset="2"/>
                    </a:rPr>
                    <a:t></a:t>
                  </a:r>
                  <a:endParaRPr lang="en-US" altLang="zh-CN" b="1">
                    <a:solidFill>
                      <a:srgbClr val="FF0000"/>
                    </a:solidFill>
                    <a:latin typeface="楷体_GB2312" pitchFamily="49" charset="-122"/>
                    <a:ea typeface="楷体_GB2312" pitchFamily="49" charset="-122"/>
                  </a:endParaRPr>
                </a:p>
              </p:txBody>
            </p:sp>
            <p:sp>
              <p:nvSpPr>
                <p:cNvPr id="45111" name="Freeform 12"/>
                <p:cNvSpPr/>
                <p:nvPr/>
              </p:nvSpPr>
              <p:spPr bwMode="auto">
                <a:xfrm>
                  <a:off x="1304" y="1694"/>
                  <a:ext cx="119" cy="38"/>
                </a:xfrm>
                <a:custGeom>
                  <a:avLst/>
                  <a:gdLst>
                    <a:gd name="T0" fmla="*/ 103872 w 73"/>
                    <a:gd name="T1" fmla="*/ 0 h 28"/>
                    <a:gd name="T2" fmla="*/ 27132 w 73"/>
                    <a:gd name="T3" fmla="*/ 5216 h 28"/>
                    <a:gd name="T4" fmla="*/ 264170 w 73"/>
                    <a:gd name="T5" fmla="*/ 6642 h 28"/>
                    <a:gd name="T6" fmla="*/ 482051 w 73"/>
                    <a:gd name="T7" fmla="*/ 3606 h 28"/>
                    <a:gd name="T8" fmla="*/ 0 60000 65536"/>
                    <a:gd name="T9" fmla="*/ 0 60000 65536"/>
                    <a:gd name="T10" fmla="*/ 0 60000 65536"/>
                    <a:gd name="T11" fmla="*/ 0 60000 65536"/>
                    <a:gd name="T12" fmla="*/ 0 w 73"/>
                    <a:gd name="T13" fmla="*/ 0 h 28"/>
                    <a:gd name="T14" fmla="*/ 73 w 73"/>
                    <a:gd name="T15" fmla="*/ 28 h 28"/>
                  </a:gdLst>
                  <a:ahLst/>
                  <a:cxnLst>
                    <a:cxn ang="T8">
                      <a:pos x="T0" y="T1"/>
                    </a:cxn>
                    <a:cxn ang="T9">
                      <a:pos x="T2" y="T3"/>
                    </a:cxn>
                    <a:cxn ang="T10">
                      <a:pos x="T4" y="T5"/>
                    </a:cxn>
                    <a:cxn ang="T11">
                      <a:pos x="T6" y="T7"/>
                    </a:cxn>
                  </a:cxnLst>
                  <a:rect l="T12" t="T13" r="T14" b="T15"/>
                  <a:pathLst>
                    <a:path w="73" h="28">
                      <a:moveTo>
                        <a:pt x="16" y="0"/>
                      </a:moveTo>
                      <a:cubicBezTo>
                        <a:pt x="8" y="8"/>
                        <a:pt x="0" y="16"/>
                        <a:pt x="4" y="21"/>
                      </a:cubicBezTo>
                      <a:cubicBezTo>
                        <a:pt x="8" y="26"/>
                        <a:pt x="29" y="28"/>
                        <a:pt x="40" y="27"/>
                      </a:cubicBezTo>
                      <a:cubicBezTo>
                        <a:pt x="51" y="26"/>
                        <a:pt x="62" y="20"/>
                        <a:pt x="73" y="15"/>
                      </a:cubicBezTo>
                    </a:path>
                  </a:pathLst>
                </a:custGeom>
                <a:noFill/>
                <a:ln w="28575">
                  <a:solidFill>
                    <a:srgbClr val="3366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5112" name="Freeform 13"/>
                <p:cNvSpPr/>
                <p:nvPr/>
              </p:nvSpPr>
              <p:spPr bwMode="auto">
                <a:xfrm>
                  <a:off x="1785" y="1284"/>
                  <a:ext cx="22" cy="86"/>
                </a:xfrm>
                <a:custGeom>
                  <a:avLst/>
                  <a:gdLst>
                    <a:gd name="T0" fmla="*/ 112136 w 13"/>
                    <a:gd name="T1" fmla="*/ 17050 h 63"/>
                    <a:gd name="T2" fmla="*/ 155261 w 13"/>
                    <a:gd name="T3" fmla="*/ 9657 h 63"/>
                    <a:gd name="T4" fmla="*/ 0 w 13"/>
                    <a:gd name="T5" fmla="*/ 0 h 63"/>
                    <a:gd name="T6" fmla="*/ 0 60000 65536"/>
                    <a:gd name="T7" fmla="*/ 0 60000 65536"/>
                    <a:gd name="T8" fmla="*/ 0 60000 65536"/>
                    <a:gd name="T9" fmla="*/ 0 w 13"/>
                    <a:gd name="T10" fmla="*/ 0 h 63"/>
                    <a:gd name="T11" fmla="*/ 13 w 13"/>
                    <a:gd name="T12" fmla="*/ 63 h 63"/>
                  </a:gdLst>
                  <a:ahLst/>
                  <a:cxnLst>
                    <a:cxn ang="T6">
                      <a:pos x="T0" y="T1"/>
                    </a:cxn>
                    <a:cxn ang="T7">
                      <a:pos x="T2" y="T3"/>
                    </a:cxn>
                    <a:cxn ang="T8">
                      <a:pos x="T4" y="T5"/>
                    </a:cxn>
                  </a:cxnLst>
                  <a:rect l="T9" t="T10" r="T11" b="T12"/>
                  <a:pathLst>
                    <a:path w="13" h="63">
                      <a:moveTo>
                        <a:pt x="9" y="63"/>
                      </a:moveTo>
                      <a:cubicBezTo>
                        <a:pt x="11" y="54"/>
                        <a:pt x="13" y="46"/>
                        <a:pt x="12" y="36"/>
                      </a:cubicBezTo>
                      <a:cubicBezTo>
                        <a:pt x="11" y="26"/>
                        <a:pt x="1" y="2"/>
                        <a:pt x="0" y="0"/>
                      </a:cubicBezTo>
                    </a:path>
                  </a:pathLst>
                </a:custGeom>
                <a:noFill/>
                <a:ln w="38100">
                  <a:solidFill>
                    <a:srgbClr val="3366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5113" name="Text Box 14"/>
                <p:cNvSpPr txBox="1">
                  <a:spLocks noChangeArrowheads="1"/>
                </p:cNvSpPr>
                <p:nvPr/>
              </p:nvSpPr>
              <p:spPr bwMode="auto">
                <a:xfrm>
                  <a:off x="1095" y="1045"/>
                  <a:ext cx="3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336600"/>
                      </a:solidFill>
                      <a:latin typeface="楷体_GB2312" pitchFamily="49" charset="-122"/>
                      <a:ea typeface="楷体_GB2312" pitchFamily="49" charset="-122"/>
                    </a:rPr>
                    <a:t>A</a:t>
                  </a:r>
                  <a:endParaRPr lang="en-US" altLang="zh-CN" b="1">
                    <a:solidFill>
                      <a:srgbClr val="336600"/>
                    </a:solidFill>
                    <a:latin typeface="楷体_GB2312" pitchFamily="49" charset="-122"/>
                    <a:ea typeface="楷体_GB2312" pitchFamily="49" charset="-122"/>
                  </a:endParaRPr>
                </a:p>
              </p:txBody>
            </p:sp>
            <p:sp>
              <p:nvSpPr>
                <p:cNvPr id="45114" name="Text Box 15"/>
                <p:cNvSpPr txBox="1">
                  <a:spLocks noChangeArrowheads="1"/>
                </p:cNvSpPr>
                <p:nvPr/>
              </p:nvSpPr>
              <p:spPr bwMode="auto">
                <a:xfrm>
                  <a:off x="2896" y="720"/>
                  <a:ext cx="3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336600"/>
                      </a:solidFill>
                      <a:latin typeface="楷体_GB2312" pitchFamily="49" charset="-122"/>
                      <a:ea typeface="楷体_GB2312" pitchFamily="49" charset="-122"/>
                    </a:rPr>
                    <a:t>C</a:t>
                  </a:r>
                  <a:endParaRPr lang="en-US" altLang="zh-CN" b="1">
                    <a:solidFill>
                      <a:srgbClr val="336600"/>
                    </a:solidFill>
                    <a:latin typeface="楷体_GB2312" pitchFamily="49" charset="-122"/>
                    <a:ea typeface="楷体_GB2312" pitchFamily="49" charset="-122"/>
                  </a:endParaRPr>
                </a:p>
              </p:txBody>
            </p:sp>
            <p:grpSp>
              <p:nvGrpSpPr>
                <p:cNvPr id="45115" name="Group 16"/>
                <p:cNvGrpSpPr/>
                <p:nvPr/>
              </p:nvGrpSpPr>
              <p:grpSpPr bwMode="auto">
                <a:xfrm>
                  <a:off x="384" y="1373"/>
                  <a:ext cx="477" cy="1388"/>
                  <a:chOff x="384" y="1373"/>
                  <a:chExt cx="477" cy="1388"/>
                </a:xfrm>
              </p:grpSpPr>
              <p:sp>
                <p:nvSpPr>
                  <p:cNvPr id="45116" name="Line 17"/>
                  <p:cNvSpPr>
                    <a:spLocks noChangeShapeType="1"/>
                  </p:cNvSpPr>
                  <p:nvPr/>
                </p:nvSpPr>
                <p:spPr bwMode="auto">
                  <a:xfrm flipH="1">
                    <a:off x="384" y="1373"/>
                    <a:ext cx="296" cy="0"/>
                  </a:xfrm>
                  <a:prstGeom prst="line">
                    <a:avLst/>
                  </a:prstGeom>
                  <a:noFill/>
                  <a:ln w="28575">
                    <a:solidFill>
                      <a:srgbClr val="3366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17" name="Line 18"/>
                  <p:cNvSpPr>
                    <a:spLocks noChangeShapeType="1"/>
                  </p:cNvSpPr>
                  <p:nvPr/>
                </p:nvSpPr>
                <p:spPr bwMode="auto">
                  <a:xfrm flipH="1">
                    <a:off x="384" y="2761"/>
                    <a:ext cx="296" cy="0"/>
                  </a:xfrm>
                  <a:prstGeom prst="line">
                    <a:avLst/>
                  </a:prstGeom>
                  <a:noFill/>
                  <a:ln w="28575">
                    <a:solidFill>
                      <a:srgbClr val="3366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18" name="Line 19"/>
                  <p:cNvSpPr>
                    <a:spLocks noChangeShapeType="1"/>
                  </p:cNvSpPr>
                  <p:nvPr/>
                </p:nvSpPr>
                <p:spPr bwMode="auto">
                  <a:xfrm flipV="1">
                    <a:off x="473" y="1373"/>
                    <a:ext cx="0" cy="1385"/>
                  </a:xfrm>
                  <a:prstGeom prst="line">
                    <a:avLst/>
                  </a:prstGeom>
                  <a:noFill/>
                  <a:ln w="38100">
                    <a:solidFill>
                      <a:srgbClr val="3366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119" name="Text Box 20"/>
                  <p:cNvSpPr txBox="1">
                    <a:spLocks noChangeArrowheads="1"/>
                  </p:cNvSpPr>
                  <p:nvPr/>
                </p:nvSpPr>
                <p:spPr bwMode="auto">
                  <a:xfrm>
                    <a:off x="520" y="1788"/>
                    <a:ext cx="34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solidFill>
                          <a:srgbClr val="FF0000"/>
                        </a:solidFill>
                        <a:latin typeface="楷体_GB2312" pitchFamily="49" charset="-122"/>
                        <a:ea typeface="楷体_GB2312" pitchFamily="49" charset="-122"/>
                      </a:rPr>
                      <a:t>H</a:t>
                    </a:r>
                    <a:endParaRPr lang="en-US" altLang="zh-CN" b="1" i="1">
                      <a:solidFill>
                        <a:srgbClr val="FF0000"/>
                      </a:solidFill>
                      <a:latin typeface="楷体_GB2312" pitchFamily="49" charset="-122"/>
                      <a:ea typeface="楷体_GB2312" pitchFamily="49" charset="-122"/>
                    </a:endParaRPr>
                  </a:p>
                </p:txBody>
              </p:sp>
            </p:grpSp>
          </p:grpSp>
          <p:sp>
            <p:nvSpPr>
              <p:cNvPr id="45104" name="Text Box 21"/>
              <p:cNvSpPr txBox="1">
                <a:spLocks noChangeArrowheads="1"/>
              </p:cNvSpPr>
              <p:nvPr/>
            </p:nvSpPr>
            <p:spPr bwMode="auto">
              <a:xfrm>
                <a:off x="1174" y="1694"/>
                <a:ext cx="313"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FF0000"/>
                    </a:solidFill>
                    <a:latin typeface="楷体_GB2312" pitchFamily="49" charset="-122"/>
                    <a:ea typeface="楷体_GB2312" pitchFamily="49" charset="-122"/>
                    <a:sym typeface="Symbol" panose="05050102010706020507" pitchFamily="18" charset="2"/>
                  </a:rPr>
                  <a:t></a:t>
                </a:r>
                <a:endParaRPr lang="en-US" altLang="zh-CN" b="1">
                  <a:solidFill>
                    <a:srgbClr val="FF0000"/>
                  </a:solidFill>
                  <a:latin typeface="楷体_GB2312" pitchFamily="49" charset="-122"/>
                  <a:ea typeface="楷体_GB2312" pitchFamily="49" charset="-122"/>
                </a:endParaRPr>
              </a:p>
            </p:txBody>
          </p:sp>
          <p:sp>
            <p:nvSpPr>
              <p:cNvPr id="45105" name="Text Box 22"/>
              <p:cNvSpPr txBox="1">
                <a:spLocks noChangeArrowheads="1"/>
              </p:cNvSpPr>
              <p:nvPr/>
            </p:nvSpPr>
            <p:spPr bwMode="auto">
              <a:xfrm>
                <a:off x="1565" y="2734"/>
                <a:ext cx="3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336600"/>
                    </a:solidFill>
                    <a:latin typeface="楷体_GB2312" pitchFamily="49" charset="-122"/>
                    <a:ea typeface="楷体_GB2312" pitchFamily="49" charset="-122"/>
                  </a:rPr>
                  <a:t>B</a:t>
                </a:r>
                <a:endParaRPr lang="en-US" altLang="zh-CN" b="1">
                  <a:solidFill>
                    <a:srgbClr val="336600"/>
                  </a:solidFill>
                  <a:latin typeface="楷体_GB2312" pitchFamily="49" charset="-122"/>
                  <a:ea typeface="楷体_GB2312" pitchFamily="49" charset="-122"/>
                </a:endParaRPr>
              </a:p>
            </p:txBody>
          </p:sp>
        </p:grpSp>
        <p:sp>
          <p:nvSpPr>
            <p:cNvPr id="45102" name="Line 23"/>
            <p:cNvSpPr>
              <a:spLocks noChangeShapeType="1"/>
            </p:cNvSpPr>
            <p:nvPr/>
          </p:nvSpPr>
          <p:spPr bwMode="auto">
            <a:xfrm flipV="1">
              <a:off x="1727" y="2754"/>
              <a:ext cx="1326" cy="4"/>
            </a:xfrm>
            <a:prstGeom prst="line">
              <a:avLst/>
            </a:prstGeom>
            <a:noFill/>
            <a:ln w="38100">
              <a:solidFill>
                <a:srgbClr val="3366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4035" name="Text Box 24"/>
          <p:cNvSpPr txBox="1">
            <a:spLocks noChangeArrowheads="1"/>
          </p:cNvSpPr>
          <p:nvPr/>
        </p:nvSpPr>
        <p:spPr bwMode="auto">
          <a:xfrm>
            <a:off x="1677988" y="638175"/>
            <a:ext cx="1646237" cy="369888"/>
          </a:xfrm>
          <a:prstGeom prst="rect">
            <a:avLst/>
          </a:prstGeom>
          <a:solidFill>
            <a:srgbClr val="FFC000"/>
          </a:solidFill>
          <a:ln>
            <a:noFill/>
          </a:ln>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b="1" dirty="0" smtClean="0">
                <a:latin typeface="+mn-ea"/>
                <a:ea typeface="+mn-ea"/>
              </a:rPr>
              <a:t>主动土压力</a:t>
            </a:r>
            <a:endParaRPr kumimoji="0" lang="zh-CN" altLang="en-US" b="1" dirty="0" smtClean="0">
              <a:latin typeface="+mn-ea"/>
              <a:ea typeface="+mn-ea"/>
            </a:endParaRPr>
          </a:p>
        </p:txBody>
      </p:sp>
      <p:sp>
        <p:nvSpPr>
          <p:cNvPr id="70681" name="Line 25"/>
          <p:cNvSpPr>
            <a:spLocks noChangeShapeType="1"/>
          </p:cNvSpPr>
          <p:nvPr/>
        </p:nvSpPr>
        <p:spPr bwMode="auto">
          <a:xfrm flipV="1">
            <a:off x="1681163" y="3429000"/>
            <a:ext cx="838200" cy="488950"/>
          </a:xfrm>
          <a:prstGeom prst="line">
            <a:avLst/>
          </a:prstGeom>
          <a:noFill/>
          <a:ln w="57150">
            <a:solidFill>
              <a:srgbClr val="3366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7" name="Group 26"/>
          <p:cNvGrpSpPr/>
          <p:nvPr/>
        </p:nvGrpSpPr>
        <p:grpSpPr bwMode="auto">
          <a:xfrm>
            <a:off x="1638300" y="3209925"/>
            <a:ext cx="846138" cy="434975"/>
            <a:chOff x="1032" y="2133"/>
            <a:chExt cx="533" cy="138"/>
          </a:xfrm>
        </p:grpSpPr>
        <p:sp>
          <p:nvSpPr>
            <p:cNvPr id="45099" name="Line 27"/>
            <p:cNvSpPr>
              <a:spLocks noChangeShapeType="1"/>
            </p:cNvSpPr>
            <p:nvPr/>
          </p:nvSpPr>
          <p:spPr bwMode="auto">
            <a:xfrm flipV="1">
              <a:off x="1032" y="2178"/>
              <a:ext cx="533" cy="93"/>
            </a:xfrm>
            <a:prstGeom prst="line">
              <a:avLst/>
            </a:prstGeom>
            <a:noFill/>
            <a:ln w="12700">
              <a:solidFill>
                <a:srgbClr val="3366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00" name="Rectangle 28"/>
            <p:cNvSpPr>
              <a:spLocks noChangeArrowheads="1"/>
            </p:cNvSpPr>
            <p:nvPr/>
          </p:nvSpPr>
          <p:spPr bwMode="auto">
            <a:xfrm rot="-960000">
              <a:off x="1445" y="2133"/>
              <a:ext cx="76" cy="65"/>
            </a:xfrm>
            <a:prstGeom prst="rect">
              <a:avLst/>
            </a:prstGeom>
            <a:noFill/>
            <a:ln w="19050">
              <a:solidFill>
                <a:srgbClr val="3366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sp>
        <p:nvSpPr>
          <p:cNvPr id="70685" name="Line 29"/>
          <p:cNvSpPr>
            <a:spLocks noChangeShapeType="1"/>
          </p:cNvSpPr>
          <p:nvPr/>
        </p:nvSpPr>
        <p:spPr bwMode="auto">
          <a:xfrm>
            <a:off x="3106738" y="2482850"/>
            <a:ext cx="0" cy="741363"/>
          </a:xfrm>
          <a:prstGeom prst="line">
            <a:avLst/>
          </a:prstGeom>
          <a:noFill/>
          <a:ln w="57150">
            <a:solidFill>
              <a:srgbClr val="3366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686" name="Line 30"/>
          <p:cNvSpPr>
            <a:spLocks noChangeShapeType="1"/>
          </p:cNvSpPr>
          <p:nvPr/>
        </p:nvSpPr>
        <p:spPr bwMode="auto">
          <a:xfrm flipH="1" flipV="1">
            <a:off x="3544888" y="3292475"/>
            <a:ext cx="555625" cy="944563"/>
          </a:xfrm>
          <a:prstGeom prst="line">
            <a:avLst/>
          </a:prstGeom>
          <a:noFill/>
          <a:ln w="57150">
            <a:solidFill>
              <a:srgbClr val="3366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8" name="Group 31"/>
          <p:cNvGrpSpPr/>
          <p:nvPr/>
        </p:nvGrpSpPr>
        <p:grpSpPr bwMode="auto">
          <a:xfrm>
            <a:off x="3600450" y="3257550"/>
            <a:ext cx="782638" cy="628650"/>
            <a:chOff x="2268" y="2052"/>
            <a:chExt cx="493" cy="396"/>
          </a:xfrm>
        </p:grpSpPr>
        <p:sp>
          <p:nvSpPr>
            <p:cNvPr id="45097" name="Line 32"/>
            <p:cNvSpPr>
              <a:spLocks noChangeShapeType="1"/>
            </p:cNvSpPr>
            <p:nvPr/>
          </p:nvSpPr>
          <p:spPr bwMode="auto">
            <a:xfrm>
              <a:off x="2270" y="2111"/>
              <a:ext cx="491" cy="337"/>
            </a:xfrm>
            <a:prstGeom prst="line">
              <a:avLst/>
            </a:prstGeom>
            <a:noFill/>
            <a:ln w="28575">
              <a:solidFill>
                <a:srgbClr val="3366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98" name="Rectangle 33"/>
            <p:cNvSpPr>
              <a:spLocks noChangeArrowheads="1"/>
            </p:cNvSpPr>
            <p:nvPr/>
          </p:nvSpPr>
          <p:spPr bwMode="auto">
            <a:xfrm rot="1500000">
              <a:off x="2268" y="2052"/>
              <a:ext cx="77" cy="65"/>
            </a:xfrm>
            <a:prstGeom prst="rect">
              <a:avLst/>
            </a:prstGeom>
            <a:noFill/>
            <a:ln w="19050">
              <a:solidFill>
                <a:srgbClr val="3366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sp>
        <p:nvSpPr>
          <p:cNvPr id="70690" name="Text Box 34"/>
          <p:cNvSpPr txBox="1">
            <a:spLocks noChangeArrowheads="1"/>
          </p:cNvSpPr>
          <p:nvPr/>
        </p:nvSpPr>
        <p:spPr bwMode="auto">
          <a:xfrm>
            <a:off x="3048000" y="2362200"/>
            <a:ext cx="622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solidFill>
                  <a:srgbClr val="FF0000"/>
                </a:solidFill>
                <a:latin typeface="楷体_GB2312" pitchFamily="49" charset="-122"/>
                <a:ea typeface="楷体_GB2312" pitchFamily="49" charset="-122"/>
              </a:rPr>
              <a:t>W</a:t>
            </a:r>
            <a:endParaRPr lang="en-US" altLang="zh-CN" b="1" i="1">
              <a:solidFill>
                <a:srgbClr val="FF0000"/>
              </a:solidFill>
              <a:latin typeface="楷体_GB2312" pitchFamily="49" charset="-122"/>
              <a:ea typeface="楷体_GB2312" pitchFamily="49" charset="-122"/>
            </a:endParaRPr>
          </a:p>
        </p:txBody>
      </p:sp>
      <p:grpSp>
        <p:nvGrpSpPr>
          <p:cNvPr id="9" name="Group 35"/>
          <p:cNvGrpSpPr/>
          <p:nvPr/>
        </p:nvGrpSpPr>
        <p:grpSpPr bwMode="auto">
          <a:xfrm>
            <a:off x="2981325" y="3886200"/>
            <a:ext cx="688975" cy="492125"/>
            <a:chOff x="1878" y="2448"/>
            <a:chExt cx="434" cy="310"/>
          </a:xfrm>
        </p:grpSpPr>
        <p:sp>
          <p:nvSpPr>
            <p:cNvPr id="45095" name="Text Box 36"/>
            <p:cNvSpPr txBox="1">
              <a:spLocks noChangeArrowheads="1"/>
            </p:cNvSpPr>
            <p:nvPr/>
          </p:nvSpPr>
          <p:spPr bwMode="auto">
            <a:xfrm>
              <a:off x="1920" y="2448"/>
              <a:ext cx="3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FF0000"/>
                  </a:solidFill>
                  <a:latin typeface="楷体_GB2312" pitchFamily="49" charset="-122"/>
                  <a:ea typeface="楷体_GB2312" pitchFamily="49" charset="-122"/>
                  <a:sym typeface="Symbol" panose="05050102010706020507" pitchFamily="18" charset="2"/>
                </a:rPr>
                <a:t></a:t>
              </a:r>
              <a:endParaRPr lang="en-US" altLang="zh-CN" b="1">
                <a:solidFill>
                  <a:srgbClr val="FF0000"/>
                </a:solidFill>
                <a:latin typeface="楷体_GB2312" pitchFamily="49" charset="-122"/>
                <a:ea typeface="楷体_GB2312" pitchFamily="49" charset="-122"/>
              </a:endParaRPr>
            </a:p>
          </p:txBody>
        </p:sp>
        <p:sp>
          <p:nvSpPr>
            <p:cNvPr id="45096" name="Freeform 37"/>
            <p:cNvSpPr/>
            <p:nvPr/>
          </p:nvSpPr>
          <p:spPr bwMode="auto">
            <a:xfrm>
              <a:off x="1878" y="2539"/>
              <a:ext cx="133" cy="219"/>
            </a:xfrm>
            <a:custGeom>
              <a:avLst/>
              <a:gdLst>
                <a:gd name="T0" fmla="*/ 0 w 81"/>
                <a:gd name="T1" fmla="*/ 0 h 162"/>
                <a:gd name="T2" fmla="*/ 455395 w 81"/>
                <a:gd name="T3" fmla="*/ 18507 h 162"/>
                <a:gd name="T4" fmla="*/ 608818 w 81"/>
                <a:gd name="T5" fmla="*/ 36811 h 162"/>
                <a:gd name="T6" fmla="*/ 0 60000 65536"/>
                <a:gd name="T7" fmla="*/ 0 60000 65536"/>
                <a:gd name="T8" fmla="*/ 0 60000 65536"/>
                <a:gd name="T9" fmla="*/ 0 w 81"/>
                <a:gd name="T10" fmla="*/ 0 h 162"/>
                <a:gd name="T11" fmla="*/ 81 w 81"/>
                <a:gd name="T12" fmla="*/ 162 h 162"/>
              </a:gdLst>
              <a:ahLst/>
              <a:cxnLst>
                <a:cxn ang="T6">
                  <a:pos x="T0" y="T1"/>
                </a:cxn>
                <a:cxn ang="T7">
                  <a:pos x="T2" y="T3"/>
                </a:cxn>
                <a:cxn ang="T8">
                  <a:pos x="T4" y="T5"/>
                </a:cxn>
              </a:cxnLst>
              <a:rect l="T9" t="T10" r="T11" b="T12"/>
              <a:pathLst>
                <a:path w="81" h="162">
                  <a:moveTo>
                    <a:pt x="0" y="0"/>
                  </a:moveTo>
                  <a:cubicBezTo>
                    <a:pt x="23" y="27"/>
                    <a:pt x="46" y="54"/>
                    <a:pt x="60" y="81"/>
                  </a:cubicBezTo>
                  <a:cubicBezTo>
                    <a:pt x="74" y="108"/>
                    <a:pt x="75" y="152"/>
                    <a:pt x="81" y="162"/>
                  </a:cubicBezTo>
                </a:path>
              </a:pathLst>
            </a:custGeom>
            <a:noFill/>
            <a:ln w="38100">
              <a:solidFill>
                <a:srgbClr val="3366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0" name="Group 38"/>
          <p:cNvGrpSpPr/>
          <p:nvPr/>
        </p:nvGrpSpPr>
        <p:grpSpPr bwMode="auto">
          <a:xfrm>
            <a:off x="3836988" y="3581400"/>
            <a:ext cx="793750" cy="457200"/>
            <a:chOff x="2417" y="2256"/>
            <a:chExt cx="500" cy="288"/>
          </a:xfrm>
        </p:grpSpPr>
        <p:sp>
          <p:nvSpPr>
            <p:cNvPr id="45093" name="Text Box 39"/>
            <p:cNvSpPr txBox="1">
              <a:spLocks noChangeArrowheads="1"/>
            </p:cNvSpPr>
            <p:nvPr/>
          </p:nvSpPr>
          <p:spPr bwMode="auto">
            <a:xfrm>
              <a:off x="2448" y="2256"/>
              <a:ext cx="4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l-GR" altLang="zh-CN" b="1">
                  <a:solidFill>
                    <a:srgbClr val="FF0000"/>
                  </a:solidFill>
                  <a:latin typeface="楷体_GB2312" pitchFamily="49" charset="-122"/>
                  <a:ea typeface="楷体_GB2312" pitchFamily="49" charset="-122"/>
                  <a:sym typeface="Symbol" panose="05050102010706020507" pitchFamily="18" charset="2"/>
                </a:rPr>
                <a:t>φ</a:t>
              </a:r>
              <a:endParaRPr lang="en-US" altLang="zh-CN" b="1">
                <a:solidFill>
                  <a:srgbClr val="FF0000"/>
                </a:solidFill>
                <a:latin typeface="楷体_GB2312" pitchFamily="49" charset="-122"/>
                <a:ea typeface="楷体_GB2312" pitchFamily="49" charset="-122"/>
              </a:endParaRPr>
            </a:p>
          </p:txBody>
        </p:sp>
        <p:sp>
          <p:nvSpPr>
            <p:cNvPr id="45094" name="Freeform 40"/>
            <p:cNvSpPr/>
            <p:nvPr/>
          </p:nvSpPr>
          <p:spPr bwMode="auto">
            <a:xfrm>
              <a:off x="2417" y="2271"/>
              <a:ext cx="127" cy="105"/>
            </a:xfrm>
            <a:custGeom>
              <a:avLst/>
              <a:gdLst>
                <a:gd name="T0" fmla="*/ 38621 w 78"/>
                <a:gd name="T1" fmla="*/ 11453 h 78"/>
                <a:gd name="T2" fmla="*/ 0 w 78"/>
                <a:gd name="T3" fmla="*/ 16437 h 78"/>
                <a:gd name="T4" fmla="*/ 291231 w 78"/>
                <a:gd name="T5" fmla="*/ 10777 h 78"/>
                <a:gd name="T6" fmla="*/ 505444 w 78"/>
                <a:gd name="T7" fmla="*/ 0 h 78"/>
                <a:gd name="T8" fmla="*/ 0 60000 65536"/>
                <a:gd name="T9" fmla="*/ 0 60000 65536"/>
                <a:gd name="T10" fmla="*/ 0 60000 65536"/>
                <a:gd name="T11" fmla="*/ 0 60000 65536"/>
                <a:gd name="T12" fmla="*/ 0 w 78"/>
                <a:gd name="T13" fmla="*/ 0 h 78"/>
                <a:gd name="T14" fmla="*/ 78 w 78"/>
                <a:gd name="T15" fmla="*/ 78 h 78"/>
              </a:gdLst>
              <a:ahLst/>
              <a:cxnLst>
                <a:cxn ang="T8">
                  <a:pos x="T0" y="T1"/>
                </a:cxn>
                <a:cxn ang="T9">
                  <a:pos x="T2" y="T3"/>
                </a:cxn>
                <a:cxn ang="T10">
                  <a:pos x="T4" y="T5"/>
                </a:cxn>
                <a:cxn ang="T11">
                  <a:pos x="T6" y="T7"/>
                </a:cxn>
              </a:cxnLst>
              <a:rect l="T12" t="T13" r="T14" b="T15"/>
              <a:pathLst>
                <a:path w="78" h="78">
                  <a:moveTo>
                    <a:pt x="6" y="54"/>
                  </a:moveTo>
                  <a:lnTo>
                    <a:pt x="0" y="78"/>
                  </a:lnTo>
                  <a:cubicBezTo>
                    <a:pt x="6" y="78"/>
                    <a:pt x="32" y="64"/>
                    <a:pt x="45" y="51"/>
                  </a:cubicBezTo>
                  <a:cubicBezTo>
                    <a:pt x="58" y="38"/>
                    <a:pt x="68" y="8"/>
                    <a:pt x="78" y="0"/>
                  </a:cubicBezTo>
                </a:path>
              </a:pathLst>
            </a:custGeom>
            <a:noFill/>
            <a:ln w="38100">
              <a:solidFill>
                <a:srgbClr val="3366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1" name="Group 41"/>
          <p:cNvGrpSpPr/>
          <p:nvPr/>
        </p:nvGrpSpPr>
        <p:grpSpPr bwMode="auto">
          <a:xfrm>
            <a:off x="1366838" y="3429000"/>
            <a:ext cx="628650" cy="457200"/>
            <a:chOff x="861" y="2172"/>
            <a:chExt cx="396" cy="288"/>
          </a:xfrm>
        </p:grpSpPr>
        <p:sp>
          <p:nvSpPr>
            <p:cNvPr id="45091" name="Text Box 42"/>
            <p:cNvSpPr txBox="1">
              <a:spLocks noChangeArrowheads="1"/>
            </p:cNvSpPr>
            <p:nvPr/>
          </p:nvSpPr>
          <p:spPr bwMode="auto">
            <a:xfrm>
              <a:off x="861" y="2172"/>
              <a:ext cx="39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FF0000"/>
                  </a:solidFill>
                  <a:latin typeface="楷体_GB2312" pitchFamily="49" charset="-122"/>
                  <a:ea typeface="楷体_GB2312" pitchFamily="49" charset="-122"/>
                  <a:sym typeface="Symbol" panose="05050102010706020507" pitchFamily="18" charset="2"/>
                </a:rPr>
                <a:t></a:t>
              </a:r>
              <a:endParaRPr lang="en-US" altLang="zh-CN" b="1">
                <a:solidFill>
                  <a:srgbClr val="FF0000"/>
                </a:solidFill>
                <a:latin typeface="楷体_GB2312" pitchFamily="49" charset="-122"/>
                <a:ea typeface="楷体_GB2312" pitchFamily="49" charset="-122"/>
              </a:endParaRPr>
            </a:p>
          </p:txBody>
        </p:sp>
        <p:sp>
          <p:nvSpPr>
            <p:cNvPr id="45092" name="Freeform 43"/>
            <p:cNvSpPr/>
            <p:nvPr/>
          </p:nvSpPr>
          <p:spPr bwMode="auto">
            <a:xfrm>
              <a:off x="1179" y="2242"/>
              <a:ext cx="78" cy="126"/>
            </a:xfrm>
            <a:custGeom>
              <a:avLst/>
              <a:gdLst>
                <a:gd name="T0" fmla="*/ 0 w 51"/>
                <a:gd name="T1" fmla="*/ 0 h 114"/>
                <a:gd name="T2" fmla="*/ 12310 w 51"/>
                <a:gd name="T3" fmla="*/ 147 h 114"/>
                <a:gd name="T4" fmla="*/ 38633 w 51"/>
                <a:gd name="T5" fmla="*/ 486 h 114"/>
                <a:gd name="T6" fmla="*/ 106458 w 51"/>
                <a:gd name="T7" fmla="*/ 693 h 114"/>
                <a:gd name="T8" fmla="*/ 0 60000 65536"/>
                <a:gd name="T9" fmla="*/ 0 60000 65536"/>
                <a:gd name="T10" fmla="*/ 0 60000 65536"/>
                <a:gd name="T11" fmla="*/ 0 60000 65536"/>
                <a:gd name="T12" fmla="*/ 0 w 51"/>
                <a:gd name="T13" fmla="*/ 0 h 114"/>
                <a:gd name="T14" fmla="*/ 51 w 51"/>
                <a:gd name="T15" fmla="*/ 114 h 114"/>
              </a:gdLst>
              <a:ahLst/>
              <a:cxnLst>
                <a:cxn ang="T8">
                  <a:pos x="T0" y="T1"/>
                </a:cxn>
                <a:cxn ang="T9">
                  <a:pos x="T2" y="T3"/>
                </a:cxn>
                <a:cxn ang="T10">
                  <a:pos x="T4" y="T5"/>
                </a:cxn>
                <a:cxn ang="T11">
                  <a:pos x="T6" y="T7"/>
                </a:cxn>
              </a:cxnLst>
              <a:rect l="T12" t="T13" r="T14" b="T15"/>
              <a:pathLst>
                <a:path w="51" h="114">
                  <a:moveTo>
                    <a:pt x="0" y="0"/>
                  </a:moveTo>
                  <a:lnTo>
                    <a:pt x="6" y="24"/>
                  </a:lnTo>
                  <a:cubicBezTo>
                    <a:pt x="9" y="37"/>
                    <a:pt x="11" y="66"/>
                    <a:pt x="18" y="81"/>
                  </a:cubicBezTo>
                  <a:cubicBezTo>
                    <a:pt x="25" y="96"/>
                    <a:pt x="14" y="104"/>
                    <a:pt x="51" y="114"/>
                  </a:cubicBezTo>
                </a:path>
              </a:pathLst>
            </a:custGeom>
            <a:noFill/>
            <a:ln w="38100">
              <a:solidFill>
                <a:srgbClr val="3366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70700" name="Text Box 44"/>
          <p:cNvSpPr txBox="1">
            <a:spLocks noChangeArrowheads="1"/>
          </p:cNvSpPr>
          <p:nvPr/>
        </p:nvSpPr>
        <p:spPr bwMode="auto">
          <a:xfrm>
            <a:off x="1500188" y="3854450"/>
            <a:ext cx="722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solidFill>
                  <a:srgbClr val="F33E05"/>
                </a:solidFill>
                <a:latin typeface="楷体_GB2312" pitchFamily="49" charset="-122"/>
                <a:ea typeface="楷体_GB2312" pitchFamily="49" charset="-122"/>
              </a:rPr>
              <a:t>E</a:t>
            </a:r>
            <a:endParaRPr lang="en-US" altLang="zh-CN" b="1" i="1">
              <a:solidFill>
                <a:srgbClr val="F33E05"/>
              </a:solidFill>
              <a:latin typeface="楷体_GB2312" pitchFamily="49" charset="-122"/>
              <a:ea typeface="楷体_GB2312" pitchFamily="49" charset="-122"/>
            </a:endParaRPr>
          </a:p>
        </p:txBody>
      </p:sp>
      <p:sp>
        <p:nvSpPr>
          <p:cNvPr id="70701" name="Text Box 45"/>
          <p:cNvSpPr txBox="1">
            <a:spLocks noChangeArrowheads="1"/>
          </p:cNvSpPr>
          <p:nvPr/>
        </p:nvSpPr>
        <p:spPr bwMode="auto">
          <a:xfrm>
            <a:off x="4038600" y="3962400"/>
            <a:ext cx="831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solidFill>
                  <a:srgbClr val="FF0000"/>
                </a:solidFill>
                <a:latin typeface="楷体_GB2312" pitchFamily="49" charset="-122"/>
                <a:ea typeface="楷体_GB2312" pitchFamily="49" charset="-122"/>
              </a:rPr>
              <a:t>R</a:t>
            </a:r>
            <a:endParaRPr lang="en-US" altLang="zh-CN" b="1" i="1">
              <a:solidFill>
                <a:srgbClr val="FF0000"/>
              </a:solidFill>
              <a:latin typeface="楷体_GB2312" pitchFamily="49" charset="-122"/>
              <a:ea typeface="楷体_GB2312" pitchFamily="49" charset="-122"/>
            </a:endParaRPr>
          </a:p>
        </p:txBody>
      </p:sp>
      <p:sp>
        <p:nvSpPr>
          <p:cNvPr id="70702" name="Line 46"/>
          <p:cNvSpPr>
            <a:spLocks noChangeShapeType="1"/>
          </p:cNvSpPr>
          <p:nvPr/>
        </p:nvSpPr>
        <p:spPr bwMode="auto">
          <a:xfrm>
            <a:off x="2454275" y="3457575"/>
            <a:ext cx="0" cy="841375"/>
          </a:xfrm>
          <a:prstGeom prst="line">
            <a:avLst/>
          </a:prstGeom>
          <a:noFill/>
          <a:ln w="12700">
            <a:solidFill>
              <a:srgbClr val="3366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2" name="Group 47"/>
          <p:cNvGrpSpPr/>
          <p:nvPr/>
        </p:nvGrpSpPr>
        <p:grpSpPr bwMode="auto">
          <a:xfrm>
            <a:off x="2074863" y="3619500"/>
            <a:ext cx="622300" cy="457200"/>
            <a:chOff x="1307" y="2247"/>
            <a:chExt cx="392" cy="288"/>
          </a:xfrm>
        </p:grpSpPr>
        <p:sp>
          <p:nvSpPr>
            <p:cNvPr id="45089" name="Text Box 48"/>
            <p:cNvSpPr txBox="1">
              <a:spLocks noChangeArrowheads="1"/>
            </p:cNvSpPr>
            <p:nvPr/>
          </p:nvSpPr>
          <p:spPr bwMode="auto">
            <a:xfrm>
              <a:off x="1307" y="2247"/>
              <a:ext cx="3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FF0000"/>
                  </a:solidFill>
                  <a:latin typeface="楷体_GB2312" pitchFamily="49" charset="-122"/>
                  <a:ea typeface="楷体_GB2312" pitchFamily="49" charset="-122"/>
                  <a:sym typeface="Symbol" panose="05050102010706020507" pitchFamily="18" charset="2"/>
                </a:rPr>
                <a:t></a:t>
              </a:r>
              <a:endParaRPr lang="en-US" altLang="zh-CN" b="1">
                <a:solidFill>
                  <a:srgbClr val="FF0000"/>
                </a:solidFill>
                <a:latin typeface="楷体_GB2312" pitchFamily="49" charset="-122"/>
                <a:ea typeface="楷体_GB2312" pitchFamily="49" charset="-122"/>
                <a:sym typeface="Symbol" panose="05050102010706020507" pitchFamily="18" charset="2"/>
              </a:endParaRPr>
            </a:p>
          </p:txBody>
        </p:sp>
        <p:sp>
          <p:nvSpPr>
            <p:cNvPr id="45090" name="Freeform 49"/>
            <p:cNvSpPr/>
            <p:nvPr/>
          </p:nvSpPr>
          <p:spPr bwMode="auto">
            <a:xfrm>
              <a:off x="1389" y="2255"/>
              <a:ext cx="163" cy="107"/>
            </a:xfrm>
            <a:custGeom>
              <a:avLst/>
              <a:gdLst>
                <a:gd name="T0" fmla="*/ 0 w 100"/>
                <a:gd name="T1" fmla="*/ 0 h 79"/>
                <a:gd name="T2" fmla="*/ 290468 w 100"/>
                <a:gd name="T3" fmla="*/ 11961 h 79"/>
                <a:gd name="T4" fmla="*/ 660522 w 100"/>
                <a:gd name="T5" fmla="*/ 18515 h 79"/>
                <a:gd name="T6" fmla="*/ 0 60000 65536"/>
                <a:gd name="T7" fmla="*/ 0 60000 65536"/>
                <a:gd name="T8" fmla="*/ 0 60000 65536"/>
                <a:gd name="T9" fmla="*/ 0 w 100"/>
                <a:gd name="T10" fmla="*/ 0 h 79"/>
                <a:gd name="T11" fmla="*/ 100 w 100"/>
                <a:gd name="T12" fmla="*/ 79 h 79"/>
              </a:gdLst>
              <a:ahLst/>
              <a:cxnLst>
                <a:cxn ang="T6">
                  <a:pos x="T0" y="T1"/>
                </a:cxn>
                <a:cxn ang="T7">
                  <a:pos x="T2" y="T3"/>
                </a:cxn>
                <a:cxn ang="T8">
                  <a:pos x="T4" y="T5"/>
                </a:cxn>
              </a:cxnLst>
              <a:rect l="T9" t="T10" r="T11" b="T12"/>
              <a:pathLst>
                <a:path w="100" h="79">
                  <a:moveTo>
                    <a:pt x="0" y="0"/>
                  </a:moveTo>
                  <a:cubicBezTo>
                    <a:pt x="13" y="19"/>
                    <a:pt x="27" y="38"/>
                    <a:pt x="44" y="51"/>
                  </a:cubicBezTo>
                  <a:cubicBezTo>
                    <a:pt x="61" y="64"/>
                    <a:pt x="92" y="72"/>
                    <a:pt x="100" y="79"/>
                  </a:cubicBezTo>
                </a:path>
              </a:pathLst>
            </a:custGeom>
            <a:noFill/>
            <a:ln w="28575">
              <a:solidFill>
                <a:srgbClr val="3366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70710" name="Line 54"/>
          <p:cNvSpPr>
            <a:spLocks noChangeShapeType="1"/>
          </p:cNvSpPr>
          <p:nvPr/>
        </p:nvSpPr>
        <p:spPr bwMode="auto">
          <a:xfrm flipH="1">
            <a:off x="6961188" y="1774825"/>
            <a:ext cx="0" cy="2179638"/>
          </a:xfrm>
          <a:prstGeom prst="line">
            <a:avLst/>
          </a:prstGeom>
          <a:noFill/>
          <a:ln w="38100">
            <a:solidFill>
              <a:srgbClr val="336600"/>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0711" name="Line 55"/>
          <p:cNvSpPr>
            <a:spLocks noChangeShapeType="1"/>
          </p:cNvSpPr>
          <p:nvPr/>
        </p:nvSpPr>
        <p:spPr bwMode="auto">
          <a:xfrm flipV="1">
            <a:off x="6961188" y="3254375"/>
            <a:ext cx="1025525" cy="700088"/>
          </a:xfrm>
          <a:prstGeom prst="line">
            <a:avLst/>
          </a:prstGeom>
          <a:noFill/>
          <a:ln w="38100">
            <a:solidFill>
              <a:srgbClr val="336600"/>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0712" name="Line 56"/>
          <p:cNvSpPr>
            <a:spLocks noChangeShapeType="1"/>
          </p:cNvSpPr>
          <p:nvPr/>
        </p:nvSpPr>
        <p:spPr bwMode="auto">
          <a:xfrm flipH="1" flipV="1">
            <a:off x="6950075" y="1774825"/>
            <a:ext cx="1025525" cy="1519238"/>
          </a:xfrm>
          <a:prstGeom prst="line">
            <a:avLst/>
          </a:prstGeom>
          <a:noFill/>
          <a:ln w="38100">
            <a:solidFill>
              <a:srgbClr val="336600"/>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0713" name="Freeform 57"/>
          <p:cNvSpPr/>
          <p:nvPr/>
        </p:nvSpPr>
        <p:spPr bwMode="auto">
          <a:xfrm>
            <a:off x="6956425" y="3652838"/>
            <a:ext cx="254000" cy="133350"/>
          </a:xfrm>
          <a:custGeom>
            <a:avLst/>
            <a:gdLst>
              <a:gd name="T0" fmla="*/ 0 w 86"/>
              <a:gd name="T1" fmla="*/ 0 h 48"/>
              <a:gd name="T2" fmla="*/ 2147483646 w 86"/>
              <a:gd name="T3" fmla="*/ 2147483646 h 48"/>
              <a:gd name="T4" fmla="*/ 2147483646 w 86"/>
              <a:gd name="T5" fmla="*/ 2147483646 h 48"/>
              <a:gd name="T6" fmla="*/ 0 60000 65536"/>
              <a:gd name="T7" fmla="*/ 0 60000 65536"/>
              <a:gd name="T8" fmla="*/ 0 60000 65536"/>
              <a:gd name="T9" fmla="*/ 0 w 86"/>
              <a:gd name="T10" fmla="*/ 0 h 48"/>
              <a:gd name="T11" fmla="*/ 86 w 86"/>
              <a:gd name="T12" fmla="*/ 48 h 48"/>
            </a:gdLst>
            <a:ahLst/>
            <a:cxnLst>
              <a:cxn ang="T6">
                <a:pos x="T0" y="T1"/>
              </a:cxn>
              <a:cxn ang="T7">
                <a:pos x="T2" y="T3"/>
              </a:cxn>
              <a:cxn ang="T8">
                <a:pos x="T4" y="T5"/>
              </a:cxn>
            </a:cxnLst>
            <a:rect l="T9" t="T10" r="T11" b="T12"/>
            <a:pathLst>
              <a:path w="86" h="48">
                <a:moveTo>
                  <a:pt x="0" y="0"/>
                </a:moveTo>
                <a:cubicBezTo>
                  <a:pt x="16" y="0"/>
                  <a:pt x="32" y="0"/>
                  <a:pt x="46" y="8"/>
                </a:cubicBezTo>
                <a:cubicBezTo>
                  <a:pt x="60" y="16"/>
                  <a:pt x="73" y="32"/>
                  <a:pt x="86" y="48"/>
                </a:cubicBezTo>
              </a:path>
            </a:pathLst>
          </a:custGeom>
          <a:noFill/>
          <a:ln w="38100">
            <a:solidFill>
              <a:srgbClr val="3366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0714" name="Freeform 58"/>
          <p:cNvSpPr/>
          <p:nvPr/>
        </p:nvSpPr>
        <p:spPr bwMode="auto">
          <a:xfrm>
            <a:off x="6956425" y="2165350"/>
            <a:ext cx="254000" cy="96838"/>
          </a:xfrm>
          <a:custGeom>
            <a:avLst/>
            <a:gdLst>
              <a:gd name="T0" fmla="*/ 0 w 86"/>
              <a:gd name="T1" fmla="*/ 2147483646 h 34"/>
              <a:gd name="T2" fmla="*/ 2147483646 w 86"/>
              <a:gd name="T3" fmla="*/ 2147483646 h 34"/>
              <a:gd name="T4" fmla="*/ 2147483646 w 86"/>
              <a:gd name="T5" fmla="*/ 2147483646 h 34"/>
              <a:gd name="T6" fmla="*/ 0 60000 65536"/>
              <a:gd name="T7" fmla="*/ 0 60000 65536"/>
              <a:gd name="T8" fmla="*/ 0 60000 65536"/>
              <a:gd name="T9" fmla="*/ 0 w 86"/>
              <a:gd name="T10" fmla="*/ 0 h 34"/>
              <a:gd name="T11" fmla="*/ 86 w 86"/>
              <a:gd name="T12" fmla="*/ 34 h 34"/>
            </a:gdLst>
            <a:ahLst/>
            <a:cxnLst>
              <a:cxn ang="T6">
                <a:pos x="T0" y="T1"/>
              </a:cxn>
              <a:cxn ang="T7">
                <a:pos x="T2" y="T3"/>
              </a:cxn>
              <a:cxn ang="T8">
                <a:pos x="T4" y="T5"/>
              </a:cxn>
            </a:cxnLst>
            <a:rect l="T9" t="T10" r="T11" b="T12"/>
            <a:pathLst>
              <a:path w="86" h="34">
                <a:moveTo>
                  <a:pt x="0" y="34"/>
                </a:moveTo>
                <a:cubicBezTo>
                  <a:pt x="18" y="33"/>
                  <a:pt x="36" y="32"/>
                  <a:pt x="50" y="28"/>
                </a:cubicBezTo>
                <a:cubicBezTo>
                  <a:pt x="64" y="24"/>
                  <a:pt x="72" y="0"/>
                  <a:pt x="86" y="8"/>
                </a:cubicBezTo>
              </a:path>
            </a:pathLst>
          </a:custGeom>
          <a:noFill/>
          <a:ln w="28575">
            <a:solidFill>
              <a:srgbClr val="3366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0715" name="Text Box 59"/>
          <p:cNvSpPr txBox="1">
            <a:spLocks noChangeArrowheads="1"/>
          </p:cNvSpPr>
          <p:nvPr/>
        </p:nvSpPr>
        <p:spPr bwMode="auto">
          <a:xfrm>
            <a:off x="6316663" y="2557463"/>
            <a:ext cx="714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olidFill>
                  <a:srgbClr val="FF0000"/>
                </a:solidFill>
                <a:latin typeface="楷体_GB2312" pitchFamily="49" charset="-122"/>
                <a:ea typeface="楷体_GB2312" pitchFamily="49" charset="-122"/>
              </a:rPr>
              <a:t>W</a:t>
            </a:r>
            <a:endParaRPr lang="en-US" altLang="zh-CN" sz="2800" b="1" i="1">
              <a:solidFill>
                <a:srgbClr val="FF0000"/>
              </a:solidFill>
              <a:latin typeface="楷体_GB2312" pitchFamily="49" charset="-122"/>
              <a:ea typeface="楷体_GB2312" pitchFamily="49" charset="-122"/>
            </a:endParaRPr>
          </a:p>
        </p:txBody>
      </p:sp>
      <p:sp>
        <p:nvSpPr>
          <p:cNvPr id="70716" name="Text Box 60"/>
          <p:cNvSpPr txBox="1">
            <a:spLocks noChangeArrowheads="1"/>
          </p:cNvSpPr>
          <p:nvPr/>
        </p:nvSpPr>
        <p:spPr bwMode="auto">
          <a:xfrm>
            <a:off x="7578725" y="2227263"/>
            <a:ext cx="9572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solidFill>
                  <a:srgbClr val="FF0000"/>
                </a:solidFill>
                <a:latin typeface="楷体_GB2312" pitchFamily="49" charset="-122"/>
                <a:ea typeface="楷体_GB2312" pitchFamily="49" charset="-122"/>
              </a:rPr>
              <a:t>R</a:t>
            </a:r>
            <a:endParaRPr lang="en-US" altLang="zh-CN" sz="2800" b="1">
              <a:solidFill>
                <a:srgbClr val="FF0000"/>
              </a:solidFill>
              <a:latin typeface="楷体_GB2312" pitchFamily="49" charset="-122"/>
              <a:ea typeface="楷体_GB2312" pitchFamily="49" charset="-122"/>
            </a:endParaRPr>
          </a:p>
        </p:txBody>
      </p:sp>
      <p:sp>
        <p:nvSpPr>
          <p:cNvPr id="70717" name="Text Box 61"/>
          <p:cNvSpPr txBox="1">
            <a:spLocks noChangeArrowheads="1"/>
          </p:cNvSpPr>
          <p:nvPr/>
        </p:nvSpPr>
        <p:spPr bwMode="auto">
          <a:xfrm>
            <a:off x="7327900" y="3565525"/>
            <a:ext cx="8318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olidFill>
                  <a:srgbClr val="F33E05"/>
                </a:solidFill>
                <a:latin typeface="楷体_GB2312" pitchFamily="49" charset="-122"/>
                <a:ea typeface="楷体_GB2312" pitchFamily="49" charset="-122"/>
              </a:rPr>
              <a:t>E</a:t>
            </a:r>
            <a:endParaRPr lang="en-US" altLang="zh-CN" sz="2800" b="1" i="1">
              <a:solidFill>
                <a:srgbClr val="F33E05"/>
              </a:solidFill>
              <a:latin typeface="楷体_GB2312" pitchFamily="49" charset="-122"/>
              <a:ea typeface="楷体_GB2312" pitchFamily="49" charset="-122"/>
            </a:endParaRPr>
          </a:p>
        </p:txBody>
      </p:sp>
      <p:sp>
        <p:nvSpPr>
          <p:cNvPr id="70718" name="Text Box 62"/>
          <p:cNvSpPr txBox="1">
            <a:spLocks noChangeArrowheads="1"/>
          </p:cNvSpPr>
          <p:nvPr/>
        </p:nvSpPr>
        <p:spPr bwMode="auto">
          <a:xfrm>
            <a:off x="6972300" y="3148013"/>
            <a:ext cx="715963"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solidFill>
                  <a:srgbClr val="FF0000"/>
                </a:solidFill>
                <a:latin typeface="楷体_GB2312" pitchFamily="49" charset="-122"/>
                <a:ea typeface="楷体_GB2312" pitchFamily="49" charset="-122"/>
                <a:sym typeface="Symbol" panose="05050102010706020507" pitchFamily="18" charset="2"/>
              </a:rPr>
              <a:t></a:t>
            </a:r>
            <a:endParaRPr lang="en-US" altLang="zh-CN" sz="2800" b="1">
              <a:solidFill>
                <a:srgbClr val="FF0000"/>
              </a:solidFill>
              <a:latin typeface="楷体_GB2312" pitchFamily="49" charset="-122"/>
              <a:ea typeface="楷体_GB2312" pitchFamily="49" charset="-122"/>
              <a:sym typeface="Symbol" panose="05050102010706020507" pitchFamily="18" charset="2"/>
            </a:endParaRPr>
          </a:p>
        </p:txBody>
      </p:sp>
      <p:sp>
        <p:nvSpPr>
          <p:cNvPr id="70719" name="Text Box 63"/>
          <p:cNvSpPr txBox="1">
            <a:spLocks noChangeArrowheads="1"/>
          </p:cNvSpPr>
          <p:nvPr/>
        </p:nvSpPr>
        <p:spPr bwMode="auto">
          <a:xfrm>
            <a:off x="6248400" y="1752600"/>
            <a:ext cx="1079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solidFill>
                  <a:srgbClr val="FF0000"/>
                </a:solidFill>
                <a:latin typeface="楷体_GB2312" pitchFamily="49" charset="-122"/>
                <a:ea typeface="楷体_GB2312" pitchFamily="49" charset="-122"/>
                <a:sym typeface="Symbol" panose="05050102010706020507" pitchFamily="18" charset="2"/>
              </a:rPr>
              <a:t>-</a:t>
            </a:r>
            <a:r>
              <a:rPr lang="el-GR" altLang="zh-CN" sz="2800" b="1">
                <a:solidFill>
                  <a:srgbClr val="FF0000"/>
                </a:solidFill>
                <a:latin typeface="楷体_GB2312" pitchFamily="49" charset="-122"/>
                <a:ea typeface="楷体_GB2312" pitchFamily="49" charset="-122"/>
                <a:sym typeface="Symbol" panose="05050102010706020507" pitchFamily="18" charset="2"/>
              </a:rPr>
              <a:t>φ</a:t>
            </a:r>
            <a:endParaRPr lang="en-US" altLang="zh-CN" sz="2800" b="1">
              <a:solidFill>
                <a:srgbClr val="FF0000"/>
              </a:solidFill>
              <a:latin typeface="楷体_GB2312" pitchFamily="49" charset="-122"/>
              <a:ea typeface="楷体_GB2312" pitchFamily="49" charset="-122"/>
              <a:sym typeface="Symbol" panose="05050102010706020507" pitchFamily="18" charset="2"/>
            </a:endParaRPr>
          </a:p>
        </p:txBody>
      </p:sp>
      <p:sp>
        <p:nvSpPr>
          <p:cNvPr id="70720" name="Text Box 64"/>
          <p:cNvSpPr txBox="1">
            <a:spLocks noChangeArrowheads="1"/>
          </p:cNvSpPr>
          <p:nvPr/>
        </p:nvSpPr>
        <p:spPr bwMode="auto">
          <a:xfrm>
            <a:off x="6477000" y="4191000"/>
            <a:ext cx="2133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solidFill>
                  <a:srgbClr val="0000FF"/>
                </a:solidFill>
                <a:latin typeface="楷体_GB2312" pitchFamily="49" charset="-122"/>
                <a:ea typeface="楷体_GB2312" pitchFamily="49" charset="-122"/>
                <a:sym typeface="Symbol" panose="05050102010706020507" pitchFamily="18" charset="2"/>
              </a:rPr>
              <a:t>=90--</a:t>
            </a:r>
            <a:endParaRPr lang="en-US" altLang="zh-CN" sz="2800" b="1">
              <a:solidFill>
                <a:srgbClr val="0000FF"/>
              </a:solidFill>
              <a:latin typeface="楷体_GB2312" pitchFamily="49" charset="-122"/>
              <a:ea typeface="楷体_GB2312" pitchFamily="49" charset="-122"/>
              <a:sym typeface="Symbol" panose="05050102010706020507" pitchFamily="18" charset="2"/>
            </a:endParaRPr>
          </a:p>
        </p:txBody>
      </p:sp>
      <p:graphicFrame>
        <p:nvGraphicFramePr>
          <p:cNvPr id="70721" name="Object 65"/>
          <p:cNvGraphicFramePr>
            <a:graphicFrameLocks noChangeAspect="1"/>
          </p:cNvGraphicFramePr>
          <p:nvPr/>
        </p:nvGraphicFramePr>
        <p:xfrm>
          <a:off x="609600" y="5334000"/>
          <a:ext cx="4124325" cy="815975"/>
        </p:xfrm>
        <a:graphic>
          <a:graphicData uri="http://schemas.openxmlformats.org/presentationml/2006/ole">
            <mc:AlternateContent xmlns:mc="http://schemas.openxmlformats.org/markup-compatibility/2006">
              <mc:Choice xmlns:v="urn:schemas-microsoft-com:vml" Requires="v">
                <p:oleObj spid="_x0000_s14350" name="Equation" r:id="rId1" imgW="2108200" imgH="419100" progId="Equation.3">
                  <p:embed/>
                </p:oleObj>
              </mc:Choice>
              <mc:Fallback>
                <p:oleObj name="Equation" r:id="rId1" imgW="2108200" imgH="419100" progId="Equation.3">
                  <p:embed/>
                  <p:pic>
                    <p:nvPicPr>
                      <p:cNvPr id="0" name="Object 6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5334000"/>
                        <a:ext cx="4124325" cy="815975"/>
                      </a:xfrm>
                      <a:prstGeom prst="rect">
                        <a:avLst/>
                      </a:prstGeom>
                      <a:solidFill>
                        <a:schemeClr val="accent1"/>
                      </a:solidFill>
                      <a:ln>
                        <a:noFill/>
                      </a:ln>
                      <a:effectLst/>
                      <a:extLst>
                        <a:ext uri="{91240B29-F687-4F45-9708-019B960494DF}">
                          <a14:hiddenLine xmlns:a14="http://schemas.microsoft.com/office/drawing/2010/main" w="12700">
                            <a:solidFill>
                              <a:srgbClr val="CCFFC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0722" name="Object 66"/>
          <p:cNvGraphicFramePr>
            <a:graphicFrameLocks noChangeAspect="1"/>
          </p:cNvGraphicFramePr>
          <p:nvPr/>
        </p:nvGraphicFramePr>
        <p:xfrm>
          <a:off x="5041900" y="5334000"/>
          <a:ext cx="919163" cy="766763"/>
        </p:xfrm>
        <a:graphic>
          <a:graphicData uri="http://schemas.openxmlformats.org/presentationml/2006/ole">
            <mc:AlternateContent xmlns:mc="http://schemas.openxmlformats.org/markup-compatibility/2006">
              <mc:Choice xmlns:v="urn:schemas-microsoft-com:vml" Requires="v">
                <p:oleObj spid="_x0000_s14351" name="Equation" r:id="rId3" imgW="469900" imgH="393700" progId="Equation.3">
                  <p:embed/>
                </p:oleObj>
              </mc:Choice>
              <mc:Fallback>
                <p:oleObj name="Equation" r:id="rId3" imgW="469900" imgH="393700" progId="Equation.3">
                  <p:embed/>
                  <p:pic>
                    <p:nvPicPr>
                      <p:cNvPr id="0" name="Object 6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1900" y="5334000"/>
                        <a:ext cx="919163" cy="766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CCFFC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0723" name="AutoShape 67"/>
          <p:cNvSpPr>
            <a:spLocks noChangeArrowheads="1"/>
          </p:cNvSpPr>
          <p:nvPr/>
        </p:nvSpPr>
        <p:spPr bwMode="auto">
          <a:xfrm rot="10800000">
            <a:off x="6096000" y="5562600"/>
            <a:ext cx="304800" cy="228600"/>
          </a:xfrm>
          <a:prstGeom prst="leftArrow">
            <a:avLst>
              <a:gd name="adj1" fmla="val 50000"/>
              <a:gd name="adj2" fmla="val 33333"/>
            </a:avLst>
          </a:prstGeom>
          <a:solidFill>
            <a:srgbClr val="FF3300"/>
          </a:solidFill>
          <a:ln w="9525">
            <a:solidFill>
              <a:schemeClr val="folHlink"/>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70724" name="Text Box 68"/>
          <p:cNvSpPr txBox="1">
            <a:spLocks noChangeArrowheads="1"/>
          </p:cNvSpPr>
          <p:nvPr/>
        </p:nvSpPr>
        <p:spPr bwMode="auto">
          <a:xfrm>
            <a:off x="6553200" y="5410200"/>
            <a:ext cx="1295400" cy="519113"/>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olidFill>
                  <a:schemeClr val="accent1"/>
                </a:solidFill>
                <a:latin typeface="楷体_GB2312" pitchFamily="49" charset="-122"/>
                <a:ea typeface="楷体_GB2312" pitchFamily="49" charset="-122"/>
                <a:sym typeface="Symbol" panose="05050102010706020507" pitchFamily="18" charset="2"/>
              </a:rPr>
              <a:t></a:t>
            </a:r>
            <a:r>
              <a:rPr lang="en-US" altLang="zh-CN" sz="2800" b="1">
                <a:solidFill>
                  <a:schemeClr val="accent1"/>
                </a:solidFill>
                <a:latin typeface="楷体_GB2312" pitchFamily="49" charset="-122"/>
                <a:ea typeface="楷体_GB2312" pitchFamily="49" charset="-122"/>
                <a:sym typeface="Symbol" panose="05050102010706020507" pitchFamily="18" charset="2"/>
              </a:rPr>
              <a:t> </a:t>
            </a:r>
            <a:r>
              <a:rPr lang="zh-CN" altLang="en-US" sz="2800" b="1">
                <a:solidFill>
                  <a:schemeClr val="accent1"/>
                </a:solidFill>
                <a:latin typeface="楷体_GB2312" pitchFamily="49" charset="-122"/>
                <a:ea typeface="楷体_GB2312" pitchFamily="49" charset="-122"/>
                <a:sym typeface="Symbol" panose="05050102010706020507" pitchFamily="18" charset="2"/>
              </a:rPr>
              <a:t>、</a:t>
            </a:r>
            <a:r>
              <a:rPr lang="en-US" altLang="zh-CN" sz="2800" b="1" i="1">
                <a:solidFill>
                  <a:schemeClr val="accent1"/>
                </a:solidFill>
                <a:latin typeface="楷体_GB2312" pitchFamily="49" charset="-122"/>
                <a:ea typeface="楷体_GB2312" pitchFamily="49" charset="-122"/>
                <a:sym typeface="Symbol" panose="05050102010706020507" pitchFamily="18" charset="2"/>
              </a:rPr>
              <a:t>E</a:t>
            </a:r>
            <a:endParaRPr lang="en-US" altLang="zh-CN" sz="2800" b="1">
              <a:solidFill>
                <a:schemeClr val="accent1"/>
              </a:solidFill>
              <a:latin typeface="楷体_GB2312" pitchFamily="49" charset="-122"/>
              <a:ea typeface="楷体_GB2312" pitchFamily="49" charset="-122"/>
              <a:sym typeface="Symbol" panose="05050102010706020507" pitchFamily="18" charset="2"/>
            </a:endParaRPr>
          </a:p>
        </p:txBody>
      </p:sp>
      <p:sp>
        <p:nvSpPr>
          <p:cNvPr id="65" name="Rectangle 6"/>
          <p:cNvSpPr>
            <a:spLocks noChangeArrowheads="1"/>
          </p:cNvSpPr>
          <p:nvPr/>
        </p:nvSpPr>
        <p:spPr bwMode="auto">
          <a:xfrm>
            <a:off x="-3175" y="-9842"/>
            <a:ext cx="3617913"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§6.4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库仑土压力理论</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0685"/>
                                        </p:tgtEl>
                                        <p:attrNameLst>
                                          <p:attrName>style.visibility</p:attrName>
                                        </p:attrNameLst>
                                      </p:cBhvr>
                                      <p:to>
                                        <p:strVal val="visible"/>
                                      </p:to>
                                    </p:set>
                                    <p:animEffect transition="in" filter="wipe(up)">
                                      <p:cBhvr>
                                        <p:cTn id="17" dur="500"/>
                                        <p:tgtEl>
                                          <p:spTgt spid="7068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0690"/>
                                        </p:tgtEl>
                                        <p:attrNameLst>
                                          <p:attrName>style.visibility</p:attrName>
                                        </p:attrNameLst>
                                      </p:cBhvr>
                                      <p:to>
                                        <p:strVal val="visible"/>
                                      </p:to>
                                    </p:set>
                                    <p:animEffect transition="in" filter="dissolve">
                                      <p:cBhvr>
                                        <p:cTn id="22" dur="500"/>
                                        <p:tgtEl>
                                          <p:spTgt spid="7069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0681"/>
                                        </p:tgtEl>
                                        <p:attrNameLst>
                                          <p:attrName>style.visibility</p:attrName>
                                        </p:attrNameLst>
                                      </p:cBhvr>
                                      <p:to>
                                        <p:strVal val="visible"/>
                                      </p:to>
                                    </p:set>
                                    <p:animEffect transition="in" filter="wipe(left)">
                                      <p:cBhvr>
                                        <p:cTn id="27" dur="500"/>
                                        <p:tgtEl>
                                          <p:spTgt spid="70681"/>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70700"/>
                                        </p:tgtEl>
                                        <p:attrNameLst>
                                          <p:attrName>style.visibility</p:attrName>
                                        </p:attrNameLst>
                                      </p:cBhvr>
                                      <p:to>
                                        <p:strVal val="visible"/>
                                      </p:to>
                                    </p:set>
                                    <p:animEffect transition="in" filter="dissolve">
                                      <p:cBhvr>
                                        <p:cTn id="32" dur="500"/>
                                        <p:tgtEl>
                                          <p:spTgt spid="70700"/>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dissolve">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dissolve">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nodeType="clickEffect">
                                  <p:stCondLst>
                                    <p:cond delay="0"/>
                                  </p:stCondLst>
                                  <p:childTnLst>
                                    <p:set>
                                      <p:cBhvr>
                                        <p:cTn id="46" dur="1" fill="hold">
                                          <p:stCondLst>
                                            <p:cond delay="0"/>
                                          </p:stCondLst>
                                        </p:cTn>
                                        <p:tgtEl>
                                          <p:spTgt spid="70686"/>
                                        </p:tgtEl>
                                        <p:attrNameLst>
                                          <p:attrName>style.visibility</p:attrName>
                                        </p:attrNameLst>
                                      </p:cBhvr>
                                      <p:to>
                                        <p:strVal val="visible"/>
                                      </p:to>
                                    </p:set>
                                    <p:animEffect transition="in" filter="wipe(right)">
                                      <p:cBhvr>
                                        <p:cTn id="47" dur="500"/>
                                        <p:tgtEl>
                                          <p:spTgt spid="70686"/>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4" fill="hold" grpId="0" nodeType="clickEffect">
                                  <p:stCondLst>
                                    <p:cond delay="0"/>
                                  </p:stCondLst>
                                  <p:childTnLst>
                                    <p:set>
                                      <p:cBhvr>
                                        <p:cTn id="51" dur="1" fill="hold">
                                          <p:stCondLst>
                                            <p:cond delay="0"/>
                                          </p:stCondLst>
                                        </p:cTn>
                                        <p:tgtEl>
                                          <p:spTgt spid="70701"/>
                                        </p:tgtEl>
                                        <p:attrNameLst>
                                          <p:attrName>style.visibility</p:attrName>
                                        </p:attrNameLst>
                                      </p:cBhvr>
                                      <p:to>
                                        <p:strVal val="visible"/>
                                      </p:to>
                                    </p:set>
                                    <p:animEffect transition="in" filter="slide(fromBottom)">
                                      <p:cBhvr>
                                        <p:cTn id="52" dur="500"/>
                                        <p:tgtEl>
                                          <p:spTgt spid="70701"/>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dissolve">
                                      <p:cBhvr>
                                        <p:cTn id="57" dur="500"/>
                                        <p:tgtEl>
                                          <p:spTgt spid="8"/>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nodeType="click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dissolve">
                                      <p:cBhvr>
                                        <p:cTn id="62" dur="500"/>
                                        <p:tgtEl>
                                          <p:spTgt spid="10"/>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70710"/>
                                        </p:tgtEl>
                                        <p:attrNameLst>
                                          <p:attrName>style.visibility</p:attrName>
                                        </p:attrNameLst>
                                      </p:cBhvr>
                                      <p:to>
                                        <p:strVal val="visible"/>
                                      </p:to>
                                    </p:set>
                                    <p:animEffect transition="in" filter="wipe(up)">
                                      <p:cBhvr>
                                        <p:cTn id="67" dur="500"/>
                                        <p:tgtEl>
                                          <p:spTgt spid="70710"/>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70715"/>
                                        </p:tgtEl>
                                        <p:attrNameLst>
                                          <p:attrName>style.visibility</p:attrName>
                                        </p:attrNameLst>
                                      </p:cBhvr>
                                      <p:to>
                                        <p:strVal val="visible"/>
                                      </p:to>
                                    </p:set>
                                    <p:animEffect transition="in" filter="dissolve">
                                      <p:cBhvr>
                                        <p:cTn id="72" dur="500"/>
                                        <p:tgtEl>
                                          <p:spTgt spid="7071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70711"/>
                                        </p:tgtEl>
                                        <p:attrNameLst>
                                          <p:attrName>style.visibility</p:attrName>
                                        </p:attrNameLst>
                                      </p:cBhvr>
                                      <p:to>
                                        <p:strVal val="visible"/>
                                      </p:to>
                                    </p:set>
                                    <p:animEffect transition="in" filter="wipe(left)">
                                      <p:cBhvr>
                                        <p:cTn id="77" dur="500"/>
                                        <p:tgtEl>
                                          <p:spTgt spid="70711"/>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70717"/>
                                        </p:tgtEl>
                                        <p:attrNameLst>
                                          <p:attrName>style.visibility</p:attrName>
                                        </p:attrNameLst>
                                      </p:cBhvr>
                                      <p:to>
                                        <p:strVal val="visible"/>
                                      </p:to>
                                    </p:set>
                                    <p:animEffect transition="in" filter="dissolve">
                                      <p:cBhvr>
                                        <p:cTn id="82" dur="500"/>
                                        <p:tgtEl>
                                          <p:spTgt spid="70717"/>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nodeType="clickEffect">
                                  <p:stCondLst>
                                    <p:cond delay="0"/>
                                  </p:stCondLst>
                                  <p:childTnLst>
                                    <p:set>
                                      <p:cBhvr>
                                        <p:cTn id="86" dur="1" fill="hold">
                                          <p:stCondLst>
                                            <p:cond delay="0"/>
                                          </p:stCondLst>
                                        </p:cTn>
                                        <p:tgtEl>
                                          <p:spTgt spid="70712"/>
                                        </p:tgtEl>
                                        <p:attrNameLst>
                                          <p:attrName>style.visibility</p:attrName>
                                        </p:attrNameLst>
                                      </p:cBhvr>
                                      <p:to>
                                        <p:strVal val="visible"/>
                                      </p:to>
                                    </p:set>
                                    <p:animEffect transition="in" filter="wipe(down)">
                                      <p:cBhvr>
                                        <p:cTn id="87" dur="500"/>
                                        <p:tgtEl>
                                          <p:spTgt spid="70712"/>
                                        </p:tgtEl>
                                      </p:cBhvr>
                                    </p:animEffect>
                                  </p:childTnLst>
                                </p:cTn>
                              </p:par>
                            </p:childTnLst>
                          </p:cTn>
                        </p:par>
                      </p:childTnLst>
                    </p:cTn>
                  </p:par>
                  <p:par>
                    <p:cTn id="88" fill="hold">
                      <p:stCondLst>
                        <p:cond delay="indefinite"/>
                      </p:stCondLst>
                      <p:childTnLst>
                        <p:par>
                          <p:cTn id="89" fill="hold">
                            <p:stCondLst>
                              <p:cond delay="0"/>
                            </p:stCondLst>
                            <p:childTnLst>
                              <p:par>
                                <p:cTn id="90" presetID="9" presetClass="entr" presetSubtype="0" fill="hold" grpId="0" nodeType="clickEffect">
                                  <p:stCondLst>
                                    <p:cond delay="0"/>
                                  </p:stCondLst>
                                  <p:childTnLst>
                                    <p:set>
                                      <p:cBhvr>
                                        <p:cTn id="91" dur="1" fill="hold">
                                          <p:stCondLst>
                                            <p:cond delay="0"/>
                                          </p:stCondLst>
                                        </p:cTn>
                                        <p:tgtEl>
                                          <p:spTgt spid="70716"/>
                                        </p:tgtEl>
                                        <p:attrNameLst>
                                          <p:attrName>style.visibility</p:attrName>
                                        </p:attrNameLst>
                                      </p:cBhvr>
                                      <p:to>
                                        <p:strVal val="visible"/>
                                      </p:to>
                                    </p:set>
                                    <p:animEffect transition="in" filter="dissolve">
                                      <p:cBhvr>
                                        <p:cTn id="92" dur="500"/>
                                        <p:tgtEl>
                                          <p:spTgt spid="70716"/>
                                        </p:tgtEl>
                                      </p:cBhvr>
                                    </p:animEffect>
                                  </p:childTnLst>
                                </p:cTn>
                              </p:par>
                            </p:childTnLst>
                          </p:cTn>
                        </p:par>
                      </p:childTnLst>
                    </p:cTn>
                  </p:par>
                  <p:par>
                    <p:cTn id="93" fill="hold">
                      <p:stCondLst>
                        <p:cond delay="indefinite"/>
                      </p:stCondLst>
                      <p:childTnLst>
                        <p:par>
                          <p:cTn id="94" fill="hold">
                            <p:stCondLst>
                              <p:cond delay="0"/>
                            </p:stCondLst>
                            <p:childTnLst>
                              <p:par>
                                <p:cTn id="95" presetID="9" presetClass="entr" presetSubtype="0" fill="hold" nodeType="clickEffect">
                                  <p:stCondLst>
                                    <p:cond delay="0"/>
                                  </p:stCondLst>
                                  <p:childTnLst>
                                    <p:set>
                                      <p:cBhvr>
                                        <p:cTn id="96" dur="1" fill="hold">
                                          <p:stCondLst>
                                            <p:cond delay="0"/>
                                          </p:stCondLst>
                                        </p:cTn>
                                        <p:tgtEl>
                                          <p:spTgt spid="70713"/>
                                        </p:tgtEl>
                                        <p:attrNameLst>
                                          <p:attrName>style.visibility</p:attrName>
                                        </p:attrNameLst>
                                      </p:cBhvr>
                                      <p:to>
                                        <p:strVal val="visible"/>
                                      </p:to>
                                    </p:set>
                                    <p:animEffect transition="in" filter="dissolve">
                                      <p:cBhvr>
                                        <p:cTn id="97" dur="500"/>
                                        <p:tgtEl>
                                          <p:spTgt spid="70713"/>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1" fill="hold" nodeType="clickEffect">
                                  <p:stCondLst>
                                    <p:cond delay="0"/>
                                  </p:stCondLst>
                                  <p:childTnLst>
                                    <p:set>
                                      <p:cBhvr>
                                        <p:cTn id="101" dur="1" fill="hold">
                                          <p:stCondLst>
                                            <p:cond delay="0"/>
                                          </p:stCondLst>
                                        </p:cTn>
                                        <p:tgtEl>
                                          <p:spTgt spid="70702"/>
                                        </p:tgtEl>
                                        <p:attrNameLst>
                                          <p:attrName>style.visibility</p:attrName>
                                        </p:attrNameLst>
                                      </p:cBhvr>
                                      <p:to>
                                        <p:strVal val="visible"/>
                                      </p:to>
                                    </p:set>
                                    <p:animEffect transition="in" filter="wipe(up)">
                                      <p:cBhvr>
                                        <p:cTn id="102" dur="500"/>
                                        <p:tgtEl>
                                          <p:spTgt spid="70702"/>
                                        </p:tgtEl>
                                      </p:cBhvr>
                                    </p:animEffect>
                                  </p:childTnLst>
                                </p:cTn>
                              </p:par>
                            </p:childTnLst>
                          </p:cTn>
                        </p:par>
                      </p:childTnLst>
                    </p:cTn>
                  </p:par>
                  <p:par>
                    <p:cTn id="103" fill="hold">
                      <p:stCondLst>
                        <p:cond delay="indefinite"/>
                      </p:stCondLst>
                      <p:childTnLst>
                        <p:par>
                          <p:cTn id="104" fill="hold">
                            <p:stCondLst>
                              <p:cond delay="0"/>
                            </p:stCondLst>
                            <p:childTnLst>
                              <p:par>
                                <p:cTn id="105" presetID="9" presetClass="entr" presetSubtype="0" fill="hold" nodeType="clickEffect">
                                  <p:stCondLst>
                                    <p:cond delay="0"/>
                                  </p:stCondLst>
                                  <p:childTnLst>
                                    <p:set>
                                      <p:cBhvr>
                                        <p:cTn id="106" dur="1" fill="hold">
                                          <p:stCondLst>
                                            <p:cond delay="0"/>
                                          </p:stCondLst>
                                        </p:cTn>
                                        <p:tgtEl>
                                          <p:spTgt spid="12"/>
                                        </p:tgtEl>
                                        <p:attrNameLst>
                                          <p:attrName>style.visibility</p:attrName>
                                        </p:attrNameLst>
                                      </p:cBhvr>
                                      <p:to>
                                        <p:strVal val="visible"/>
                                      </p:to>
                                    </p:set>
                                    <p:animEffect transition="in" filter="dissolve">
                                      <p:cBhvr>
                                        <p:cTn id="107" dur="500"/>
                                        <p:tgtEl>
                                          <p:spTgt spid="12"/>
                                        </p:tgtEl>
                                      </p:cBhvr>
                                    </p:animEffect>
                                  </p:childTnLst>
                                </p:cTn>
                              </p:par>
                            </p:childTnLst>
                          </p:cTn>
                        </p:par>
                        <p:par>
                          <p:cTn id="108" fill="hold">
                            <p:stCondLst>
                              <p:cond delay="500"/>
                            </p:stCondLst>
                            <p:childTnLst>
                              <p:par>
                                <p:cTn id="109" presetID="9" presetClass="entr" presetSubtype="0" fill="hold" grpId="0" nodeType="afterEffect">
                                  <p:stCondLst>
                                    <p:cond delay="0"/>
                                  </p:stCondLst>
                                  <p:childTnLst>
                                    <p:set>
                                      <p:cBhvr>
                                        <p:cTn id="110" dur="1" fill="hold">
                                          <p:stCondLst>
                                            <p:cond delay="0"/>
                                          </p:stCondLst>
                                        </p:cTn>
                                        <p:tgtEl>
                                          <p:spTgt spid="70718"/>
                                        </p:tgtEl>
                                        <p:attrNameLst>
                                          <p:attrName>style.visibility</p:attrName>
                                        </p:attrNameLst>
                                      </p:cBhvr>
                                      <p:to>
                                        <p:strVal val="visible"/>
                                      </p:to>
                                    </p:set>
                                    <p:animEffect transition="in" filter="dissolve">
                                      <p:cBhvr>
                                        <p:cTn id="111" dur="500"/>
                                        <p:tgtEl>
                                          <p:spTgt spid="70718"/>
                                        </p:tgtEl>
                                      </p:cBhvr>
                                    </p:animEffect>
                                  </p:childTnLst>
                                </p:cTn>
                              </p:par>
                            </p:childTnLst>
                          </p:cTn>
                        </p:par>
                      </p:childTnLst>
                    </p:cTn>
                  </p:par>
                  <p:par>
                    <p:cTn id="112" fill="hold">
                      <p:stCondLst>
                        <p:cond delay="indefinite"/>
                      </p:stCondLst>
                      <p:childTnLst>
                        <p:par>
                          <p:cTn id="113" fill="hold">
                            <p:stCondLst>
                              <p:cond delay="0"/>
                            </p:stCondLst>
                            <p:childTnLst>
                              <p:par>
                                <p:cTn id="114" presetID="12" presetClass="entr" presetSubtype="4" fill="hold" grpId="0" nodeType="clickEffect">
                                  <p:stCondLst>
                                    <p:cond delay="0"/>
                                  </p:stCondLst>
                                  <p:childTnLst>
                                    <p:set>
                                      <p:cBhvr>
                                        <p:cTn id="115" dur="1" fill="hold">
                                          <p:stCondLst>
                                            <p:cond delay="0"/>
                                          </p:stCondLst>
                                        </p:cTn>
                                        <p:tgtEl>
                                          <p:spTgt spid="70720"/>
                                        </p:tgtEl>
                                        <p:attrNameLst>
                                          <p:attrName>style.visibility</p:attrName>
                                        </p:attrNameLst>
                                      </p:cBhvr>
                                      <p:to>
                                        <p:strVal val="visible"/>
                                      </p:to>
                                    </p:set>
                                    <p:animEffect transition="in" filter="slide(fromBottom)">
                                      <p:cBhvr>
                                        <p:cTn id="116" dur="500"/>
                                        <p:tgtEl>
                                          <p:spTgt spid="70720"/>
                                        </p:tgtEl>
                                      </p:cBhvr>
                                    </p:animEffect>
                                  </p:childTnLst>
                                </p:cTn>
                              </p:par>
                            </p:childTnLst>
                          </p:cTn>
                        </p:par>
                      </p:childTnLst>
                    </p:cTn>
                  </p:par>
                  <p:par>
                    <p:cTn id="117" fill="hold">
                      <p:stCondLst>
                        <p:cond delay="indefinite"/>
                      </p:stCondLst>
                      <p:childTnLst>
                        <p:par>
                          <p:cTn id="118" fill="hold">
                            <p:stCondLst>
                              <p:cond delay="0"/>
                            </p:stCondLst>
                            <p:childTnLst>
                              <p:par>
                                <p:cTn id="119" presetID="9" presetClass="entr" presetSubtype="0" fill="hold" nodeType="clickEffect">
                                  <p:stCondLst>
                                    <p:cond delay="0"/>
                                  </p:stCondLst>
                                  <p:childTnLst>
                                    <p:set>
                                      <p:cBhvr>
                                        <p:cTn id="120" dur="1" fill="hold">
                                          <p:stCondLst>
                                            <p:cond delay="0"/>
                                          </p:stCondLst>
                                        </p:cTn>
                                        <p:tgtEl>
                                          <p:spTgt spid="70714"/>
                                        </p:tgtEl>
                                        <p:attrNameLst>
                                          <p:attrName>style.visibility</p:attrName>
                                        </p:attrNameLst>
                                      </p:cBhvr>
                                      <p:to>
                                        <p:strVal val="visible"/>
                                      </p:to>
                                    </p:set>
                                    <p:animEffect transition="in" filter="dissolve">
                                      <p:cBhvr>
                                        <p:cTn id="121" dur="500"/>
                                        <p:tgtEl>
                                          <p:spTgt spid="70714"/>
                                        </p:tgtEl>
                                      </p:cBhvr>
                                    </p:animEffect>
                                  </p:childTnLst>
                                </p:cTn>
                              </p:par>
                            </p:childTnLst>
                          </p:cTn>
                        </p:par>
                        <p:par>
                          <p:cTn id="122" fill="hold">
                            <p:stCondLst>
                              <p:cond delay="500"/>
                            </p:stCondLst>
                            <p:childTnLst>
                              <p:par>
                                <p:cTn id="123" presetID="9" presetClass="entr" presetSubtype="0" fill="hold" grpId="0" nodeType="afterEffect">
                                  <p:stCondLst>
                                    <p:cond delay="0"/>
                                  </p:stCondLst>
                                  <p:childTnLst>
                                    <p:set>
                                      <p:cBhvr>
                                        <p:cTn id="124" dur="1" fill="hold">
                                          <p:stCondLst>
                                            <p:cond delay="0"/>
                                          </p:stCondLst>
                                        </p:cTn>
                                        <p:tgtEl>
                                          <p:spTgt spid="70719"/>
                                        </p:tgtEl>
                                        <p:attrNameLst>
                                          <p:attrName>style.visibility</p:attrName>
                                        </p:attrNameLst>
                                      </p:cBhvr>
                                      <p:to>
                                        <p:strVal val="visible"/>
                                      </p:to>
                                    </p:set>
                                    <p:animEffect transition="in" filter="dissolve">
                                      <p:cBhvr>
                                        <p:cTn id="125" dur="500"/>
                                        <p:tgtEl>
                                          <p:spTgt spid="70719"/>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8" fill="hold" nodeType="clickEffect">
                                  <p:stCondLst>
                                    <p:cond delay="0"/>
                                  </p:stCondLst>
                                  <p:childTnLst>
                                    <p:set>
                                      <p:cBhvr>
                                        <p:cTn id="129" dur="1" fill="hold">
                                          <p:stCondLst>
                                            <p:cond delay="0"/>
                                          </p:stCondLst>
                                        </p:cTn>
                                        <p:tgtEl>
                                          <p:spTgt spid="70721"/>
                                        </p:tgtEl>
                                        <p:attrNameLst>
                                          <p:attrName>style.visibility</p:attrName>
                                        </p:attrNameLst>
                                      </p:cBhvr>
                                      <p:to>
                                        <p:strVal val="visible"/>
                                      </p:to>
                                    </p:set>
                                    <p:animEffect transition="in" filter="wipe(left)">
                                      <p:cBhvr>
                                        <p:cTn id="130" dur="500"/>
                                        <p:tgtEl>
                                          <p:spTgt spid="70721"/>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8" fill="hold" nodeType="clickEffect">
                                  <p:stCondLst>
                                    <p:cond delay="0"/>
                                  </p:stCondLst>
                                  <p:childTnLst>
                                    <p:set>
                                      <p:cBhvr>
                                        <p:cTn id="134" dur="1" fill="hold">
                                          <p:stCondLst>
                                            <p:cond delay="0"/>
                                          </p:stCondLst>
                                        </p:cTn>
                                        <p:tgtEl>
                                          <p:spTgt spid="70722"/>
                                        </p:tgtEl>
                                        <p:attrNameLst>
                                          <p:attrName>style.visibility</p:attrName>
                                        </p:attrNameLst>
                                      </p:cBhvr>
                                      <p:to>
                                        <p:strVal val="visible"/>
                                      </p:to>
                                    </p:set>
                                    <p:animEffect transition="in" filter="wipe(left)">
                                      <p:cBhvr>
                                        <p:cTn id="135" dur="500"/>
                                        <p:tgtEl>
                                          <p:spTgt spid="70722"/>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ntr" presetSubtype="8" fill="hold" grpId="0" nodeType="clickEffect">
                                  <p:stCondLst>
                                    <p:cond delay="0"/>
                                  </p:stCondLst>
                                  <p:childTnLst>
                                    <p:set>
                                      <p:cBhvr>
                                        <p:cTn id="139" dur="1" fill="hold">
                                          <p:stCondLst>
                                            <p:cond delay="0"/>
                                          </p:stCondLst>
                                        </p:cTn>
                                        <p:tgtEl>
                                          <p:spTgt spid="70723"/>
                                        </p:tgtEl>
                                        <p:attrNameLst>
                                          <p:attrName>style.visibility</p:attrName>
                                        </p:attrNameLst>
                                      </p:cBhvr>
                                      <p:to>
                                        <p:strVal val="visible"/>
                                      </p:to>
                                    </p:set>
                                    <p:animEffect transition="in" filter="wipe(left)">
                                      <p:cBhvr>
                                        <p:cTn id="140" dur="500"/>
                                        <p:tgtEl>
                                          <p:spTgt spid="70723"/>
                                        </p:tgtEl>
                                      </p:cBhvr>
                                    </p:animEffect>
                                  </p:childTnLst>
                                </p:cTn>
                              </p:par>
                            </p:childTnLst>
                          </p:cTn>
                        </p:par>
                      </p:childTnLst>
                    </p:cTn>
                  </p:par>
                  <p:par>
                    <p:cTn id="141" fill="hold">
                      <p:stCondLst>
                        <p:cond delay="indefinite"/>
                      </p:stCondLst>
                      <p:childTnLst>
                        <p:par>
                          <p:cTn id="142" fill="hold">
                            <p:stCondLst>
                              <p:cond delay="0"/>
                            </p:stCondLst>
                            <p:childTnLst>
                              <p:par>
                                <p:cTn id="143" presetID="9" presetClass="entr" presetSubtype="0" fill="hold" grpId="0" nodeType="clickEffect">
                                  <p:stCondLst>
                                    <p:cond delay="0"/>
                                  </p:stCondLst>
                                  <p:childTnLst>
                                    <p:set>
                                      <p:cBhvr>
                                        <p:cTn id="144" dur="1" fill="hold">
                                          <p:stCondLst>
                                            <p:cond delay="0"/>
                                          </p:stCondLst>
                                        </p:cTn>
                                        <p:tgtEl>
                                          <p:spTgt spid="70724"/>
                                        </p:tgtEl>
                                        <p:attrNameLst>
                                          <p:attrName>style.visibility</p:attrName>
                                        </p:attrNameLst>
                                      </p:cBhvr>
                                      <p:to>
                                        <p:strVal val="visible"/>
                                      </p:to>
                                    </p:set>
                                    <p:animEffect transition="in" filter="dissolve">
                                      <p:cBhvr>
                                        <p:cTn id="145" dur="500"/>
                                        <p:tgtEl>
                                          <p:spTgt spid="70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90" grpId="0" autoUpdateAnimBg="0"/>
      <p:bldP spid="70700" grpId="0" autoUpdateAnimBg="0"/>
      <p:bldP spid="70701" grpId="0" autoUpdateAnimBg="0"/>
      <p:bldP spid="70715" grpId="0" autoUpdateAnimBg="0"/>
      <p:bldP spid="70716" grpId="0" autoUpdateAnimBg="0"/>
      <p:bldP spid="70717" grpId="0" autoUpdateAnimBg="0"/>
      <p:bldP spid="70718" grpId="0" autoUpdateAnimBg="0"/>
      <p:bldP spid="70719" grpId="0" autoUpdateAnimBg="0"/>
      <p:bldP spid="70720" grpId="0" autoUpdateAnimBg="0"/>
      <p:bldP spid="70723" grpId="0" animBg="1"/>
      <p:bldP spid="70724" grpId="0" animBg="1"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682" name="Object 2"/>
          <p:cNvGraphicFramePr>
            <a:graphicFrameLocks noChangeAspect="1"/>
          </p:cNvGraphicFramePr>
          <p:nvPr/>
        </p:nvGraphicFramePr>
        <p:xfrm>
          <a:off x="1066800" y="1600200"/>
          <a:ext cx="1739900" cy="814388"/>
        </p:xfrm>
        <a:graphic>
          <a:graphicData uri="http://schemas.openxmlformats.org/presentationml/2006/ole">
            <mc:AlternateContent xmlns:mc="http://schemas.openxmlformats.org/markup-compatibility/2006">
              <mc:Choice xmlns:v="urn:schemas-microsoft-com:vml" Requires="v">
                <p:oleObj spid="_x0000_s15386" name="Equation" r:id="rId1" imgW="888365" imgH="393700" progId="Equation.3">
                  <p:embed/>
                </p:oleObj>
              </mc:Choice>
              <mc:Fallback>
                <p:oleObj name="Equation" r:id="rId1" imgW="888365" imgH="3937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600200"/>
                        <a:ext cx="1739900" cy="814388"/>
                      </a:xfrm>
                      <a:prstGeom prst="rect">
                        <a:avLst/>
                      </a:prstGeom>
                      <a:solidFill>
                        <a:schemeClr val="accent1"/>
                      </a:solidFill>
                      <a:ln>
                        <a:noFill/>
                      </a:ln>
                      <a:effectLst/>
                      <a:extLst>
                        <a:ext uri="{91240B29-F687-4F45-9708-019B960494DF}">
                          <a14:hiddenLine xmlns:a14="http://schemas.microsoft.com/office/drawing/2010/main" w="12700">
                            <a:solidFill>
                              <a:srgbClr val="CCFFC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4"/>
          <p:cNvGrpSpPr/>
          <p:nvPr/>
        </p:nvGrpSpPr>
        <p:grpSpPr bwMode="auto">
          <a:xfrm>
            <a:off x="4419600" y="762000"/>
            <a:ext cx="3352800" cy="2108200"/>
            <a:chOff x="2784" y="480"/>
            <a:chExt cx="2112" cy="1328"/>
          </a:xfrm>
        </p:grpSpPr>
        <p:sp>
          <p:nvSpPr>
            <p:cNvPr id="46118" name="AutoShape 5"/>
            <p:cNvSpPr>
              <a:spLocks noChangeArrowheads="1"/>
            </p:cNvSpPr>
            <p:nvPr/>
          </p:nvSpPr>
          <p:spPr bwMode="auto">
            <a:xfrm rot="10800000">
              <a:off x="2784" y="912"/>
              <a:ext cx="720" cy="89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8 h 21600"/>
                <a:gd name="T14" fmla="*/ 17100 w 21600"/>
                <a:gd name="T15" fmla="*/ 17092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CCECFF"/>
            </a:solidFill>
            <a:ln w="34925">
              <a:solidFill>
                <a:schemeClr val="folHlink"/>
              </a:solidFill>
              <a:miter lim="800000"/>
            </a:ln>
          </p:spPr>
          <p:txBody>
            <a:bodyPr wrap="none" anchor="ctr"/>
            <a:lstStyle/>
            <a:p>
              <a:endParaRPr lang="zh-CN" altLang="en-US"/>
            </a:p>
          </p:txBody>
        </p:sp>
        <p:sp>
          <p:nvSpPr>
            <p:cNvPr id="46119" name="Line 6"/>
            <p:cNvSpPr>
              <a:spLocks noChangeShapeType="1"/>
            </p:cNvSpPr>
            <p:nvPr/>
          </p:nvSpPr>
          <p:spPr bwMode="auto">
            <a:xfrm>
              <a:off x="3312" y="912"/>
              <a:ext cx="1" cy="43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6120" name="Rectangle 7"/>
            <p:cNvSpPr>
              <a:spLocks noChangeArrowheads="1"/>
            </p:cNvSpPr>
            <p:nvPr/>
          </p:nvSpPr>
          <p:spPr bwMode="auto">
            <a:xfrm>
              <a:off x="3216" y="1008"/>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en-US" altLang="zh-CN" b="1">
                  <a:solidFill>
                    <a:srgbClr val="993300"/>
                  </a:solidFill>
                  <a:latin typeface="楷体_GB2312" pitchFamily="49" charset="-122"/>
                  <a:ea typeface="楷体_GB2312" pitchFamily="49" charset="-122"/>
                  <a:sym typeface="Symbol" panose="05050102010706020507" pitchFamily="18" charset="2"/>
                </a:rPr>
                <a:t></a:t>
              </a:r>
              <a:endParaRPr lang="en-US" altLang="zh-CN" b="1">
                <a:solidFill>
                  <a:srgbClr val="993300"/>
                </a:solidFill>
                <a:latin typeface="楷体_GB2312" pitchFamily="49" charset="-122"/>
                <a:ea typeface="楷体_GB2312" pitchFamily="49" charset="-122"/>
                <a:sym typeface="Symbol" panose="05050102010706020507" pitchFamily="18" charset="2"/>
              </a:endParaRPr>
            </a:p>
          </p:txBody>
        </p:sp>
        <p:sp>
          <p:nvSpPr>
            <p:cNvPr id="46121" name="Line 8"/>
            <p:cNvSpPr>
              <a:spLocks noChangeShapeType="1"/>
            </p:cNvSpPr>
            <p:nvPr/>
          </p:nvSpPr>
          <p:spPr bwMode="auto">
            <a:xfrm>
              <a:off x="3312" y="912"/>
              <a:ext cx="4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6122" name="Rectangle 9"/>
            <p:cNvSpPr>
              <a:spLocks noChangeArrowheads="1"/>
            </p:cNvSpPr>
            <p:nvPr/>
          </p:nvSpPr>
          <p:spPr bwMode="auto">
            <a:xfrm>
              <a:off x="3504" y="768"/>
              <a:ext cx="2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en-US" altLang="zh-CN" sz="2000" b="1">
                  <a:solidFill>
                    <a:srgbClr val="993300"/>
                  </a:solidFill>
                  <a:latin typeface="楷体_GB2312" pitchFamily="49" charset="-122"/>
                  <a:ea typeface="楷体_GB2312" pitchFamily="49" charset="-122"/>
                  <a:sym typeface="Symbol" panose="05050102010706020507" pitchFamily="18" charset="2"/>
                </a:rPr>
                <a:t></a:t>
              </a:r>
              <a:endParaRPr lang="en-US" altLang="zh-CN" sz="2000" b="1">
                <a:solidFill>
                  <a:srgbClr val="993300"/>
                </a:solidFill>
                <a:latin typeface="楷体_GB2312" pitchFamily="49" charset="-122"/>
                <a:ea typeface="楷体_GB2312" pitchFamily="49" charset="-122"/>
                <a:sym typeface="Symbol" panose="05050102010706020507" pitchFamily="18" charset="2"/>
              </a:endParaRPr>
            </a:p>
          </p:txBody>
        </p:sp>
        <p:sp>
          <p:nvSpPr>
            <p:cNvPr id="46123" name="Line 10"/>
            <p:cNvSpPr>
              <a:spLocks noChangeShapeType="1"/>
            </p:cNvSpPr>
            <p:nvPr/>
          </p:nvSpPr>
          <p:spPr bwMode="auto">
            <a:xfrm flipV="1">
              <a:off x="3312" y="480"/>
              <a:ext cx="1584" cy="432"/>
            </a:xfrm>
            <a:prstGeom prst="line">
              <a:avLst/>
            </a:prstGeom>
            <a:noFill/>
            <a:ln w="349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6124" name="Line 11"/>
            <p:cNvSpPr>
              <a:spLocks noChangeShapeType="1"/>
            </p:cNvSpPr>
            <p:nvPr/>
          </p:nvSpPr>
          <p:spPr bwMode="auto">
            <a:xfrm flipV="1">
              <a:off x="3504" y="672"/>
              <a:ext cx="672" cy="1104"/>
            </a:xfrm>
            <a:prstGeom prst="line">
              <a:avLst/>
            </a:prstGeom>
            <a:noFill/>
            <a:ln w="34925">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1692" name="Line 12"/>
          <p:cNvSpPr>
            <a:spLocks noChangeShapeType="1"/>
          </p:cNvSpPr>
          <p:nvPr/>
        </p:nvSpPr>
        <p:spPr bwMode="auto">
          <a:xfrm flipH="1">
            <a:off x="4724400" y="2362200"/>
            <a:ext cx="68580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693" name="AutoShape 13"/>
          <p:cNvSpPr>
            <a:spLocks noChangeArrowheads="1"/>
          </p:cNvSpPr>
          <p:nvPr/>
        </p:nvSpPr>
        <p:spPr bwMode="auto">
          <a:xfrm rot="-1910839">
            <a:off x="4884738" y="2455863"/>
            <a:ext cx="628650" cy="158750"/>
          </a:xfrm>
          <a:prstGeom prst="rightArrow">
            <a:avLst>
              <a:gd name="adj1" fmla="val 50000"/>
              <a:gd name="adj2" fmla="val 99000"/>
            </a:avLst>
          </a:prstGeom>
          <a:solidFill>
            <a:schemeClr val="accent1"/>
          </a:solidFill>
          <a:ln w="9525">
            <a:solidFill>
              <a:srgbClr val="993300"/>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71694" name="Rectangle 14"/>
          <p:cNvSpPr>
            <a:spLocks noChangeArrowheads="1"/>
          </p:cNvSpPr>
          <p:nvPr/>
        </p:nvSpPr>
        <p:spPr bwMode="auto">
          <a:xfrm>
            <a:off x="5029200" y="2209800"/>
            <a:ext cx="3095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en-US" altLang="zh-CN" sz="2000" b="1">
                <a:solidFill>
                  <a:srgbClr val="993300"/>
                </a:solidFill>
                <a:latin typeface="楷体_GB2312" pitchFamily="49" charset="-122"/>
                <a:ea typeface="楷体_GB2312" pitchFamily="49" charset="-122"/>
                <a:sym typeface="Symbol" panose="05050102010706020507" pitchFamily="18" charset="2"/>
              </a:rPr>
              <a:t></a:t>
            </a:r>
            <a:endParaRPr lang="en-US" altLang="zh-CN" sz="2000" b="1">
              <a:solidFill>
                <a:srgbClr val="993300"/>
              </a:solidFill>
              <a:latin typeface="楷体_GB2312" pitchFamily="49" charset="-122"/>
              <a:ea typeface="楷体_GB2312" pitchFamily="49" charset="-122"/>
              <a:sym typeface="Symbol" panose="05050102010706020507" pitchFamily="18" charset="2"/>
            </a:endParaRPr>
          </a:p>
        </p:txBody>
      </p:sp>
      <p:sp>
        <p:nvSpPr>
          <p:cNvPr id="71695" name="Text Box 15"/>
          <p:cNvSpPr txBox="1">
            <a:spLocks noChangeArrowheads="1"/>
          </p:cNvSpPr>
          <p:nvPr/>
        </p:nvSpPr>
        <p:spPr bwMode="auto">
          <a:xfrm>
            <a:off x="4495800" y="2362200"/>
            <a:ext cx="762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olidFill>
                  <a:srgbClr val="FF0000"/>
                </a:solidFill>
                <a:latin typeface="楷体_GB2312" pitchFamily="49" charset="-122"/>
                <a:ea typeface="楷体_GB2312" pitchFamily="49" charset="-122"/>
                <a:sym typeface="Symbol" panose="05050102010706020507" pitchFamily="18" charset="2"/>
              </a:rPr>
              <a:t>E</a:t>
            </a:r>
            <a:endParaRPr lang="en-US" altLang="zh-CN" sz="2800" b="1">
              <a:solidFill>
                <a:srgbClr val="FF0000"/>
              </a:solidFill>
              <a:latin typeface="楷体_GB2312" pitchFamily="49" charset="-122"/>
              <a:ea typeface="楷体_GB2312" pitchFamily="49" charset="-122"/>
              <a:sym typeface="Symbol" panose="05050102010706020507" pitchFamily="18" charset="2"/>
            </a:endParaRPr>
          </a:p>
        </p:txBody>
      </p:sp>
      <p:sp>
        <p:nvSpPr>
          <p:cNvPr id="71696" name="AutoShape 16"/>
          <p:cNvSpPr>
            <a:spLocks noChangeArrowheads="1"/>
          </p:cNvSpPr>
          <p:nvPr/>
        </p:nvSpPr>
        <p:spPr bwMode="auto">
          <a:xfrm rot="8889161">
            <a:off x="5410200" y="2133600"/>
            <a:ext cx="628650" cy="158750"/>
          </a:xfrm>
          <a:prstGeom prst="rightArrow">
            <a:avLst>
              <a:gd name="adj1" fmla="val 50000"/>
              <a:gd name="adj2" fmla="val 99000"/>
            </a:avLst>
          </a:prstGeom>
          <a:solidFill>
            <a:srgbClr val="CC0099"/>
          </a:solidFill>
          <a:ln w="9525">
            <a:solidFill>
              <a:srgbClr val="993300"/>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71697" name="Text Box 17"/>
          <p:cNvSpPr txBox="1">
            <a:spLocks noChangeArrowheads="1"/>
          </p:cNvSpPr>
          <p:nvPr/>
        </p:nvSpPr>
        <p:spPr bwMode="auto">
          <a:xfrm>
            <a:off x="6019800" y="1676400"/>
            <a:ext cx="60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latin typeface="楷体_GB2312" pitchFamily="49" charset="-122"/>
                <a:ea typeface="楷体_GB2312" pitchFamily="49" charset="-122"/>
                <a:sym typeface="Symbol" panose="05050102010706020507" pitchFamily="18" charset="2"/>
              </a:rPr>
              <a:t>E</a:t>
            </a:r>
            <a:r>
              <a:rPr lang="en-US" altLang="zh-CN" sz="2800" b="1" baseline="-25000">
                <a:latin typeface="楷体_GB2312" pitchFamily="49" charset="-122"/>
                <a:ea typeface="楷体_GB2312" pitchFamily="49" charset="-122"/>
                <a:sym typeface="Symbol" panose="05050102010706020507" pitchFamily="18" charset="2"/>
              </a:rPr>
              <a:t>a</a:t>
            </a:r>
            <a:endParaRPr lang="en-US" altLang="zh-CN" sz="2800" b="1">
              <a:latin typeface="楷体_GB2312" pitchFamily="49" charset="-122"/>
              <a:ea typeface="楷体_GB2312" pitchFamily="49" charset="-122"/>
              <a:sym typeface="Symbol" panose="05050102010706020507" pitchFamily="18" charset="2"/>
            </a:endParaRPr>
          </a:p>
        </p:txBody>
      </p:sp>
      <p:graphicFrame>
        <p:nvGraphicFramePr>
          <p:cNvPr id="71698" name="Object 18"/>
          <p:cNvGraphicFramePr>
            <a:graphicFrameLocks noChangeAspect="1"/>
          </p:cNvGraphicFramePr>
          <p:nvPr/>
        </p:nvGraphicFramePr>
        <p:xfrm>
          <a:off x="304800" y="2895600"/>
          <a:ext cx="6248400" cy="1317625"/>
        </p:xfrm>
        <a:graphic>
          <a:graphicData uri="http://schemas.openxmlformats.org/presentationml/2006/ole">
            <mc:AlternateContent xmlns:mc="http://schemas.openxmlformats.org/markup-compatibility/2006">
              <mc:Choice xmlns:v="urn:schemas-microsoft-com:vml" Requires="v">
                <p:oleObj spid="_x0000_s15387" name="Equation" r:id="rId3" imgW="3251200" imgH="685800" progId="Equation.3">
                  <p:embed/>
                </p:oleObj>
              </mc:Choice>
              <mc:Fallback>
                <p:oleObj name="Equation" r:id="rId3" imgW="3251200" imgH="685800" progId="Equation.3">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895600"/>
                        <a:ext cx="6248400" cy="131762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99" name="Text Box 19"/>
          <p:cNvSpPr txBox="1">
            <a:spLocks noChangeArrowheads="1"/>
          </p:cNvSpPr>
          <p:nvPr/>
        </p:nvSpPr>
        <p:spPr bwMode="auto">
          <a:xfrm>
            <a:off x="1371600" y="4144963"/>
            <a:ext cx="56927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3200" b="1">
                <a:solidFill>
                  <a:srgbClr val="0000FF"/>
                </a:solidFill>
                <a:latin typeface="楷体_GB2312" pitchFamily="49" charset="-122"/>
                <a:ea typeface="楷体_GB2312" pitchFamily="49" charset="-122"/>
              </a:rPr>
              <a:t>－</a:t>
            </a:r>
            <a:r>
              <a:rPr kumimoji="0" lang="zh-CN" altLang="en-US" sz="2000" b="1">
                <a:solidFill>
                  <a:srgbClr val="0000FF"/>
                </a:solidFill>
                <a:latin typeface="楷体_GB2312" pitchFamily="49" charset="-122"/>
                <a:ea typeface="楷体_GB2312" pitchFamily="49" charset="-122"/>
              </a:rPr>
              <a:t>库仑主动土压力系数，可查表</a:t>
            </a:r>
            <a:r>
              <a:rPr kumimoji="0" lang="en-US" altLang="zh-CN" sz="2000" b="1">
                <a:solidFill>
                  <a:srgbClr val="0000FF"/>
                </a:solidFill>
                <a:latin typeface="楷体_GB2312" pitchFamily="49" charset="-122"/>
                <a:ea typeface="楷体_GB2312" pitchFamily="49" charset="-122"/>
              </a:rPr>
              <a:t>8-1</a:t>
            </a:r>
            <a:r>
              <a:rPr kumimoji="0" lang="zh-CN" altLang="en-US" sz="2000" b="1">
                <a:solidFill>
                  <a:srgbClr val="0000FF"/>
                </a:solidFill>
                <a:latin typeface="楷体_GB2312" pitchFamily="49" charset="-122"/>
                <a:ea typeface="楷体_GB2312" pitchFamily="49" charset="-122"/>
              </a:rPr>
              <a:t>，</a:t>
            </a:r>
            <a:r>
              <a:rPr kumimoji="0" lang="en-US" altLang="zh-CN" sz="2000" b="1">
                <a:solidFill>
                  <a:srgbClr val="0000FF"/>
                </a:solidFill>
                <a:latin typeface="楷体_GB2312" pitchFamily="49" charset="-122"/>
                <a:ea typeface="楷体_GB2312" pitchFamily="49" charset="-122"/>
              </a:rPr>
              <a:t>p225-227</a:t>
            </a:r>
            <a:endParaRPr kumimoji="0" lang="zh-CN" altLang="en-US" sz="2000" b="1">
              <a:solidFill>
                <a:srgbClr val="0000FF"/>
              </a:solidFill>
              <a:latin typeface="楷体_GB2312" pitchFamily="49" charset="-122"/>
              <a:ea typeface="楷体_GB2312" pitchFamily="49" charset="-122"/>
            </a:endParaRPr>
          </a:p>
        </p:txBody>
      </p:sp>
      <p:sp>
        <p:nvSpPr>
          <p:cNvPr id="71700" name="AutoShape 20"/>
          <p:cNvSpPr>
            <a:spLocks noChangeArrowheads="1"/>
          </p:cNvSpPr>
          <p:nvPr/>
        </p:nvSpPr>
        <p:spPr bwMode="auto">
          <a:xfrm rot="8889161">
            <a:off x="6629400" y="2133600"/>
            <a:ext cx="628650" cy="158750"/>
          </a:xfrm>
          <a:prstGeom prst="rightArrow">
            <a:avLst>
              <a:gd name="adj1" fmla="val 50000"/>
              <a:gd name="adj2" fmla="val 99000"/>
            </a:avLst>
          </a:prstGeom>
          <a:solidFill>
            <a:srgbClr val="CC0099"/>
          </a:solidFill>
          <a:ln w="9525">
            <a:solidFill>
              <a:srgbClr val="993300"/>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nvGrpSpPr>
          <p:cNvPr id="3" name="Group 21"/>
          <p:cNvGrpSpPr/>
          <p:nvPr/>
        </p:nvGrpSpPr>
        <p:grpSpPr bwMode="auto">
          <a:xfrm>
            <a:off x="6553200" y="1447800"/>
            <a:ext cx="803275" cy="1447800"/>
            <a:chOff x="1200" y="1776"/>
            <a:chExt cx="528" cy="1200"/>
          </a:xfrm>
        </p:grpSpPr>
        <p:sp>
          <p:nvSpPr>
            <p:cNvPr id="46105" name="Line 22"/>
            <p:cNvSpPr>
              <a:spLocks noChangeShapeType="1"/>
            </p:cNvSpPr>
            <p:nvPr/>
          </p:nvSpPr>
          <p:spPr bwMode="auto">
            <a:xfrm>
              <a:off x="1200" y="1776"/>
              <a:ext cx="528" cy="1200"/>
            </a:xfrm>
            <a:prstGeom prst="line">
              <a:avLst/>
            </a:prstGeom>
            <a:noFill/>
            <a:ln w="34925">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6106" name="Line 23"/>
            <p:cNvSpPr>
              <a:spLocks noChangeShapeType="1"/>
            </p:cNvSpPr>
            <p:nvPr/>
          </p:nvSpPr>
          <p:spPr bwMode="auto">
            <a:xfrm rot="10800000">
              <a:off x="1200" y="2976"/>
              <a:ext cx="528" cy="0"/>
            </a:xfrm>
            <a:prstGeom prst="line">
              <a:avLst/>
            </a:prstGeom>
            <a:noFill/>
            <a:ln w="34925">
              <a:solidFill>
                <a:srgbClr val="0000FF"/>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6107" name="Line 24"/>
            <p:cNvSpPr>
              <a:spLocks noChangeShapeType="1"/>
            </p:cNvSpPr>
            <p:nvPr/>
          </p:nvSpPr>
          <p:spPr bwMode="auto">
            <a:xfrm>
              <a:off x="1200" y="2016"/>
              <a:ext cx="96" cy="0"/>
            </a:xfrm>
            <a:prstGeom prst="line">
              <a:avLst/>
            </a:prstGeom>
            <a:noFill/>
            <a:ln w="34925">
              <a:solidFill>
                <a:srgbClr val="0000FF"/>
              </a:solidFill>
              <a:round/>
              <a:head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6108" name="Line 25"/>
            <p:cNvSpPr>
              <a:spLocks noChangeShapeType="1"/>
            </p:cNvSpPr>
            <p:nvPr/>
          </p:nvSpPr>
          <p:spPr bwMode="auto">
            <a:xfrm>
              <a:off x="1200" y="2112"/>
              <a:ext cx="144" cy="0"/>
            </a:xfrm>
            <a:prstGeom prst="line">
              <a:avLst/>
            </a:prstGeom>
            <a:noFill/>
            <a:ln w="34925">
              <a:solidFill>
                <a:srgbClr val="0000FF"/>
              </a:solidFill>
              <a:round/>
              <a:head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6109" name="Line 26"/>
            <p:cNvSpPr>
              <a:spLocks noChangeShapeType="1"/>
            </p:cNvSpPr>
            <p:nvPr/>
          </p:nvSpPr>
          <p:spPr bwMode="auto">
            <a:xfrm flipH="1">
              <a:off x="1200" y="1920"/>
              <a:ext cx="48" cy="0"/>
            </a:xfrm>
            <a:prstGeom prst="line">
              <a:avLst/>
            </a:prstGeom>
            <a:noFill/>
            <a:ln w="34925">
              <a:solidFill>
                <a:srgbClr val="0000FF"/>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6110" name="Line 27"/>
            <p:cNvSpPr>
              <a:spLocks noChangeShapeType="1"/>
            </p:cNvSpPr>
            <p:nvPr/>
          </p:nvSpPr>
          <p:spPr bwMode="auto">
            <a:xfrm rot="10800000" flipH="1">
              <a:off x="1200" y="2208"/>
              <a:ext cx="192" cy="0"/>
            </a:xfrm>
            <a:prstGeom prst="line">
              <a:avLst/>
            </a:prstGeom>
            <a:noFill/>
            <a:ln w="34925">
              <a:solidFill>
                <a:srgbClr val="0000FF"/>
              </a:solidFill>
              <a:round/>
              <a:head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6111" name="Line 28"/>
            <p:cNvSpPr>
              <a:spLocks noChangeShapeType="1"/>
            </p:cNvSpPr>
            <p:nvPr/>
          </p:nvSpPr>
          <p:spPr bwMode="auto">
            <a:xfrm flipH="1">
              <a:off x="1200" y="2304"/>
              <a:ext cx="240" cy="0"/>
            </a:xfrm>
            <a:prstGeom prst="line">
              <a:avLst/>
            </a:prstGeom>
            <a:noFill/>
            <a:ln w="34925">
              <a:solidFill>
                <a:srgbClr val="0000FF"/>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6112" name="Line 29"/>
            <p:cNvSpPr>
              <a:spLocks noChangeShapeType="1"/>
            </p:cNvSpPr>
            <p:nvPr/>
          </p:nvSpPr>
          <p:spPr bwMode="auto">
            <a:xfrm flipH="1">
              <a:off x="1200" y="2400"/>
              <a:ext cx="288" cy="0"/>
            </a:xfrm>
            <a:prstGeom prst="line">
              <a:avLst/>
            </a:prstGeom>
            <a:noFill/>
            <a:ln w="34925">
              <a:solidFill>
                <a:srgbClr val="0000FF"/>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6113" name="Line 30"/>
            <p:cNvSpPr>
              <a:spLocks noChangeShapeType="1"/>
            </p:cNvSpPr>
            <p:nvPr/>
          </p:nvSpPr>
          <p:spPr bwMode="auto">
            <a:xfrm flipH="1">
              <a:off x="1200" y="2496"/>
              <a:ext cx="288" cy="0"/>
            </a:xfrm>
            <a:prstGeom prst="line">
              <a:avLst/>
            </a:prstGeom>
            <a:noFill/>
            <a:ln w="34925">
              <a:solidFill>
                <a:srgbClr val="0000FF"/>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6114" name="Line 31"/>
            <p:cNvSpPr>
              <a:spLocks noChangeShapeType="1"/>
            </p:cNvSpPr>
            <p:nvPr/>
          </p:nvSpPr>
          <p:spPr bwMode="auto">
            <a:xfrm flipH="1">
              <a:off x="1200" y="2592"/>
              <a:ext cx="336" cy="0"/>
            </a:xfrm>
            <a:prstGeom prst="line">
              <a:avLst/>
            </a:prstGeom>
            <a:noFill/>
            <a:ln w="34925">
              <a:solidFill>
                <a:srgbClr val="0000FF"/>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6115" name="Line 32"/>
            <p:cNvSpPr>
              <a:spLocks noChangeShapeType="1"/>
            </p:cNvSpPr>
            <p:nvPr/>
          </p:nvSpPr>
          <p:spPr bwMode="auto">
            <a:xfrm flipH="1">
              <a:off x="1200" y="2688"/>
              <a:ext cx="384" cy="0"/>
            </a:xfrm>
            <a:prstGeom prst="line">
              <a:avLst/>
            </a:prstGeom>
            <a:noFill/>
            <a:ln w="34925">
              <a:solidFill>
                <a:srgbClr val="0000FF"/>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6116" name="Line 33"/>
            <p:cNvSpPr>
              <a:spLocks noChangeShapeType="1"/>
            </p:cNvSpPr>
            <p:nvPr/>
          </p:nvSpPr>
          <p:spPr bwMode="auto">
            <a:xfrm flipH="1">
              <a:off x="1200" y="2784"/>
              <a:ext cx="432" cy="0"/>
            </a:xfrm>
            <a:prstGeom prst="line">
              <a:avLst/>
            </a:prstGeom>
            <a:noFill/>
            <a:ln w="34925">
              <a:solidFill>
                <a:srgbClr val="0000FF"/>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6117" name="Line 34"/>
            <p:cNvSpPr>
              <a:spLocks noChangeShapeType="1"/>
            </p:cNvSpPr>
            <p:nvPr/>
          </p:nvSpPr>
          <p:spPr bwMode="auto">
            <a:xfrm flipH="1">
              <a:off x="1200" y="2880"/>
              <a:ext cx="480" cy="0"/>
            </a:xfrm>
            <a:prstGeom prst="line">
              <a:avLst/>
            </a:prstGeom>
            <a:noFill/>
            <a:ln w="34925">
              <a:solidFill>
                <a:srgbClr val="0000FF"/>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grpSp>
      <p:sp>
        <p:nvSpPr>
          <p:cNvPr id="71715" name="Line 35"/>
          <p:cNvSpPr>
            <a:spLocks noChangeShapeType="1"/>
          </p:cNvSpPr>
          <p:nvPr/>
        </p:nvSpPr>
        <p:spPr bwMode="auto">
          <a:xfrm>
            <a:off x="6553200" y="1447800"/>
            <a:ext cx="1588" cy="1524000"/>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1716" name="Object 36"/>
          <p:cNvGraphicFramePr>
            <a:graphicFrameLocks noChangeAspect="1"/>
          </p:cNvGraphicFramePr>
          <p:nvPr/>
        </p:nvGraphicFramePr>
        <p:xfrm>
          <a:off x="7086600" y="2971800"/>
          <a:ext cx="679450" cy="420688"/>
        </p:xfrm>
        <a:graphic>
          <a:graphicData uri="http://schemas.openxmlformats.org/presentationml/2006/ole">
            <mc:AlternateContent xmlns:mc="http://schemas.openxmlformats.org/markup-compatibility/2006">
              <mc:Choice xmlns:v="urn:schemas-microsoft-com:vml" Requires="v">
                <p:oleObj spid="_x0000_s15388" name="Equation" r:id="rId5" imgW="368300" imgH="228600" progId="Equation.3">
                  <p:embed/>
                </p:oleObj>
              </mc:Choice>
              <mc:Fallback>
                <p:oleObj name="Equation" r:id="rId5" imgW="368300" imgH="228600" progId="Equation.3">
                  <p:embed/>
                  <p:pic>
                    <p:nvPicPr>
                      <p:cNvPr id="0" name="Object 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86600" y="2971800"/>
                        <a:ext cx="679450" cy="420688"/>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 name="Group 37"/>
          <p:cNvGrpSpPr/>
          <p:nvPr/>
        </p:nvGrpSpPr>
        <p:grpSpPr bwMode="auto">
          <a:xfrm>
            <a:off x="7162800" y="2286000"/>
            <a:ext cx="1077913" cy="628650"/>
            <a:chOff x="4512" y="1440"/>
            <a:chExt cx="679" cy="396"/>
          </a:xfrm>
        </p:grpSpPr>
        <p:sp>
          <p:nvSpPr>
            <p:cNvPr id="46101" name="Line 38"/>
            <p:cNvSpPr>
              <a:spLocks noChangeShapeType="1"/>
            </p:cNvSpPr>
            <p:nvPr/>
          </p:nvSpPr>
          <p:spPr bwMode="auto">
            <a:xfrm>
              <a:off x="4752" y="1488"/>
              <a:ext cx="0" cy="336"/>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6102" name="Object 39"/>
            <p:cNvGraphicFramePr>
              <a:graphicFrameLocks noChangeAspect="1"/>
            </p:cNvGraphicFramePr>
            <p:nvPr/>
          </p:nvGraphicFramePr>
          <p:xfrm>
            <a:off x="4896" y="1440"/>
            <a:ext cx="295" cy="396"/>
          </p:xfrm>
          <a:graphic>
            <a:graphicData uri="http://schemas.openxmlformats.org/presentationml/2006/ole">
              <mc:AlternateContent xmlns:mc="http://schemas.openxmlformats.org/markup-compatibility/2006">
                <mc:Choice xmlns:v="urn:schemas-microsoft-com:vml" Requires="v">
                  <p:oleObj spid="_x0000_s15389" name="Equation" r:id="rId7" imgW="292100" imgH="393700" progId="Equation.3">
                    <p:embed/>
                  </p:oleObj>
                </mc:Choice>
                <mc:Fallback>
                  <p:oleObj name="Equation" r:id="rId7" imgW="292100" imgH="393700" progId="Equation.3">
                    <p:embed/>
                    <p:pic>
                      <p:nvPicPr>
                        <p:cNvPr id="0" name="Object 3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96" y="1440"/>
                          <a:ext cx="295" cy="3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103" name="Line 40"/>
            <p:cNvSpPr>
              <a:spLocks noChangeShapeType="1"/>
            </p:cNvSpPr>
            <p:nvPr/>
          </p:nvSpPr>
          <p:spPr bwMode="auto">
            <a:xfrm>
              <a:off x="4512" y="1488"/>
              <a:ext cx="33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6104" name="Line 41"/>
            <p:cNvSpPr>
              <a:spLocks noChangeShapeType="1"/>
            </p:cNvSpPr>
            <p:nvPr/>
          </p:nvSpPr>
          <p:spPr bwMode="auto">
            <a:xfrm>
              <a:off x="4704" y="1824"/>
              <a:ext cx="144"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1722" name="Text Box 42"/>
          <p:cNvSpPr txBox="1">
            <a:spLocks noChangeArrowheads="1"/>
          </p:cNvSpPr>
          <p:nvPr/>
        </p:nvSpPr>
        <p:spPr bwMode="auto">
          <a:xfrm>
            <a:off x="7162800" y="1600200"/>
            <a:ext cx="60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latin typeface="楷体_GB2312" pitchFamily="49" charset="-122"/>
                <a:ea typeface="楷体_GB2312" pitchFamily="49" charset="-122"/>
                <a:sym typeface="Symbol" panose="05050102010706020507" pitchFamily="18" charset="2"/>
              </a:rPr>
              <a:t>E</a:t>
            </a:r>
            <a:r>
              <a:rPr lang="en-US" altLang="zh-CN" sz="2800" b="1" baseline="-25000">
                <a:latin typeface="楷体_GB2312" pitchFamily="49" charset="-122"/>
                <a:ea typeface="楷体_GB2312" pitchFamily="49" charset="-122"/>
                <a:sym typeface="Symbol" panose="05050102010706020507" pitchFamily="18" charset="2"/>
              </a:rPr>
              <a:t>a</a:t>
            </a:r>
            <a:endParaRPr lang="en-US" altLang="zh-CN" sz="2800" b="1">
              <a:latin typeface="楷体_GB2312" pitchFamily="49" charset="-122"/>
              <a:ea typeface="楷体_GB2312" pitchFamily="49" charset="-122"/>
              <a:sym typeface="Symbol" panose="05050102010706020507" pitchFamily="18" charset="2"/>
            </a:endParaRPr>
          </a:p>
        </p:txBody>
      </p:sp>
      <p:sp>
        <p:nvSpPr>
          <p:cNvPr id="71723" name="Text Box 43"/>
          <p:cNvSpPr txBox="1">
            <a:spLocks noChangeArrowheads="1"/>
          </p:cNvSpPr>
          <p:nvPr/>
        </p:nvSpPr>
        <p:spPr bwMode="auto">
          <a:xfrm>
            <a:off x="382588" y="4841875"/>
            <a:ext cx="8226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b="1" dirty="0" smtClean="0">
                <a:solidFill>
                  <a:srgbClr val="993300"/>
                </a:solidFill>
                <a:latin typeface="+mn-ea"/>
                <a:ea typeface="+mn-ea"/>
              </a:rPr>
              <a:t>特例：</a:t>
            </a:r>
            <a:r>
              <a:rPr lang="zh-CN" altLang="en-US" sz="2000" b="1" dirty="0" smtClean="0">
                <a:solidFill>
                  <a:srgbClr val="0000FF"/>
                </a:solidFill>
                <a:latin typeface="楷体_GB2312" pitchFamily="49" charset="-122"/>
                <a:ea typeface="楷体_GB2312" pitchFamily="49" charset="-122"/>
                <a:sym typeface="Symbol" panose="05050102010706020507" pitchFamily="18" charset="2"/>
              </a:rPr>
              <a:t></a:t>
            </a:r>
            <a:r>
              <a:rPr lang="en-US" altLang="zh-CN" sz="2000" b="1" dirty="0" smtClean="0">
                <a:solidFill>
                  <a:srgbClr val="0000FF"/>
                </a:solidFill>
                <a:latin typeface="楷体_GB2312" pitchFamily="49" charset="-122"/>
                <a:ea typeface="楷体_GB2312" pitchFamily="49" charset="-122"/>
                <a:sym typeface="Symbol" panose="05050102010706020507" pitchFamily="18" charset="2"/>
              </a:rPr>
              <a:t>===0</a:t>
            </a:r>
            <a:r>
              <a:rPr lang="zh-CN" altLang="en-US" sz="2000" b="1" dirty="0" smtClean="0">
                <a:solidFill>
                  <a:srgbClr val="0000FF"/>
                </a:solidFill>
                <a:latin typeface="楷体_GB2312" pitchFamily="49" charset="-122"/>
                <a:ea typeface="楷体_GB2312" pitchFamily="49" charset="-122"/>
                <a:sym typeface="Symbol" panose="05050102010706020507" pitchFamily="18" charset="2"/>
              </a:rPr>
              <a:t>，即墙背垂直光滑，填土表面水平时，与朗肯理论等价</a:t>
            </a:r>
            <a:r>
              <a:rPr lang="zh-CN" altLang="en-US" sz="2000" b="1" dirty="0" smtClean="0">
                <a:solidFill>
                  <a:srgbClr val="993300"/>
                </a:solidFill>
                <a:latin typeface="楷体_GB2312" pitchFamily="49" charset="-122"/>
                <a:ea typeface="楷体_GB2312" pitchFamily="49" charset="-122"/>
                <a:sym typeface="Symbol" panose="05050102010706020507" pitchFamily="18" charset="2"/>
              </a:rPr>
              <a:t> </a:t>
            </a:r>
            <a:endParaRPr lang="zh-CN" altLang="en-US" sz="2000" b="1" dirty="0" smtClean="0">
              <a:solidFill>
                <a:srgbClr val="993300"/>
              </a:solidFill>
              <a:latin typeface="楷体_GB2312" pitchFamily="49" charset="-122"/>
              <a:ea typeface="楷体_GB2312" pitchFamily="49" charset="-122"/>
              <a:sym typeface="Symbol" panose="05050102010706020507" pitchFamily="18" charset="2"/>
            </a:endParaRPr>
          </a:p>
        </p:txBody>
      </p:sp>
      <p:sp>
        <p:nvSpPr>
          <p:cNvPr id="71724" name="Text Box 44"/>
          <p:cNvSpPr txBox="1">
            <a:spLocks noChangeArrowheads="1"/>
          </p:cNvSpPr>
          <p:nvPr/>
        </p:nvSpPr>
        <p:spPr bwMode="auto">
          <a:xfrm>
            <a:off x="382588" y="5476875"/>
            <a:ext cx="8226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b="1" dirty="0" smtClean="0">
                <a:solidFill>
                  <a:srgbClr val="993300"/>
                </a:solidFill>
                <a:latin typeface="+mn-ea"/>
                <a:ea typeface="+mn-ea"/>
              </a:rPr>
              <a:t>土压力：</a:t>
            </a:r>
            <a:r>
              <a:rPr kumimoji="0" lang="zh-CN" altLang="en-US" sz="2000" b="1" dirty="0" smtClean="0">
                <a:latin typeface="+mn-ea"/>
                <a:ea typeface="+mn-ea"/>
              </a:rPr>
              <a:t>三角形分布，土压力分布图只表示其大小</a:t>
            </a:r>
            <a:r>
              <a:rPr kumimoji="0" lang="en-US" altLang="zh-CN" sz="2000" b="1" dirty="0" smtClean="0">
                <a:latin typeface="+mn-ea"/>
                <a:ea typeface="+mn-ea"/>
              </a:rPr>
              <a:t>,</a:t>
            </a:r>
            <a:r>
              <a:rPr kumimoji="0" lang="zh-CN" altLang="en-US" sz="2000" b="1" dirty="0" smtClean="0">
                <a:latin typeface="+mn-ea"/>
                <a:ea typeface="+mn-ea"/>
              </a:rPr>
              <a:t>不代表其作用方向</a:t>
            </a:r>
            <a:endParaRPr kumimoji="0" lang="zh-CN" altLang="en-US" sz="2000" b="1" dirty="0" smtClean="0">
              <a:latin typeface="+mn-ea"/>
              <a:ea typeface="+mn-ea"/>
            </a:endParaRPr>
          </a:p>
        </p:txBody>
      </p:sp>
      <p:sp>
        <p:nvSpPr>
          <p:cNvPr id="45" name="Rectangle 6"/>
          <p:cNvSpPr>
            <a:spLocks noChangeArrowheads="1"/>
          </p:cNvSpPr>
          <p:nvPr/>
        </p:nvSpPr>
        <p:spPr bwMode="auto">
          <a:xfrm>
            <a:off x="-3175" y="-9842"/>
            <a:ext cx="3617913"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§6.4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库仑土压力理论</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1693"/>
                                        </p:tgtEl>
                                        <p:attrNameLst>
                                          <p:attrName>style.visibility</p:attrName>
                                        </p:attrNameLst>
                                      </p:cBhvr>
                                      <p:to>
                                        <p:strVal val="visible"/>
                                      </p:to>
                                    </p:set>
                                    <p:animEffect transition="in" filter="wipe(left)">
                                      <p:cBhvr>
                                        <p:cTn id="12" dur="500"/>
                                        <p:tgtEl>
                                          <p:spTgt spid="71693"/>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71695"/>
                                        </p:tgtEl>
                                        <p:attrNameLst>
                                          <p:attrName>style.visibility</p:attrName>
                                        </p:attrNameLst>
                                      </p:cBhvr>
                                      <p:to>
                                        <p:strVal val="visible"/>
                                      </p:to>
                                    </p:set>
                                    <p:animEffect transition="in" filter="dissolve">
                                      <p:cBhvr>
                                        <p:cTn id="16" dur="500"/>
                                        <p:tgtEl>
                                          <p:spTgt spid="71695"/>
                                        </p:tgtEl>
                                      </p:cBhvr>
                                    </p:animEffect>
                                  </p:childTnLst>
                                </p:cTn>
                              </p:par>
                            </p:childTnLst>
                          </p:cTn>
                        </p:par>
                        <p:par>
                          <p:cTn id="17" fill="hold">
                            <p:stCondLst>
                              <p:cond delay="1000"/>
                            </p:stCondLst>
                            <p:childTnLst>
                              <p:par>
                                <p:cTn id="18" presetID="9" presetClass="entr" presetSubtype="0" fill="hold" nodeType="afterEffect">
                                  <p:stCondLst>
                                    <p:cond delay="0"/>
                                  </p:stCondLst>
                                  <p:childTnLst>
                                    <p:set>
                                      <p:cBhvr>
                                        <p:cTn id="19" dur="1" fill="hold">
                                          <p:stCondLst>
                                            <p:cond delay="0"/>
                                          </p:stCondLst>
                                        </p:cTn>
                                        <p:tgtEl>
                                          <p:spTgt spid="71692"/>
                                        </p:tgtEl>
                                        <p:attrNameLst>
                                          <p:attrName>style.visibility</p:attrName>
                                        </p:attrNameLst>
                                      </p:cBhvr>
                                      <p:to>
                                        <p:strVal val="visible"/>
                                      </p:to>
                                    </p:set>
                                    <p:animEffect transition="in" filter="dissolve">
                                      <p:cBhvr>
                                        <p:cTn id="20" dur="500"/>
                                        <p:tgtEl>
                                          <p:spTgt spid="71692"/>
                                        </p:tgtEl>
                                      </p:cBhvr>
                                    </p:animEffect>
                                  </p:childTnLst>
                                </p:cTn>
                              </p:par>
                            </p:childTnLst>
                          </p:cTn>
                        </p:par>
                        <p:par>
                          <p:cTn id="21" fill="hold">
                            <p:stCondLst>
                              <p:cond delay="1500"/>
                            </p:stCondLst>
                            <p:childTnLst>
                              <p:par>
                                <p:cTn id="22" presetID="9" presetClass="entr" presetSubtype="0" fill="hold" grpId="0" nodeType="afterEffect">
                                  <p:stCondLst>
                                    <p:cond delay="0"/>
                                  </p:stCondLst>
                                  <p:childTnLst>
                                    <p:set>
                                      <p:cBhvr>
                                        <p:cTn id="23" dur="1" fill="hold">
                                          <p:stCondLst>
                                            <p:cond delay="0"/>
                                          </p:stCondLst>
                                        </p:cTn>
                                        <p:tgtEl>
                                          <p:spTgt spid="71694"/>
                                        </p:tgtEl>
                                        <p:attrNameLst>
                                          <p:attrName>style.visibility</p:attrName>
                                        </p:attrNameLst>
                                      </p:cBhvr>
                                      <p:to>
                                        <p:strVal val="visible"/>
                                      </p:to>
                                    </p:set>
                                    <p:animEffect transition="in" filter="dissolve">
                                      <p:cBhvr>
                                        <p:cTn id="24" dur="500"/>
                                        <p:tgtEl>
                                          <p:spTgt spid="7169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2" fill="hold" grpId="0" nodeType="clickEffect">
                                  <p:stCondLst>
                                    <p:cond delay="0"/>
                                  </p:stCondLst>
                                  <p:childTnLst>
                                    <p:set>
                                      <p:cBhvr>
                                        <p:cTn id="28" dur="1" fill="hold">
                                          <p:stCondLst>
                                            <p:cond delay="0"/>
                                          </p:stCondLst>
                                        </p:cTn>
                                        <p:tgtEl>
                                          <p:spTgt spid="71696"/>
                                        </p:tgtEl>
                                        <p:attrNameLst>
                                          <p:attrName>style.visibility</p:attrName>
                                        </p:attrNameLst>
                                      </p:cBhvr>
                                      <p:to>
                                        <p:strVal val="visible"/>
                                      </p:to>
                                    </p:set>
                                    <p:animEffect transition="in" filter="wipe(right)">
                                      <p:cBhvr>
                                        <p:cTn id="29" dur="500"/>
                                        <p:tgtEl>
                                          <p:spTgt spid="71696"/>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71697"/>
                                        </p:tgtEl>
                                        <p:attrNameLst>
                                          <p:attrName>style.visibility</p:attrName>
                                        </p:attrNameLst>
                                      </p:cBhvr>
                                      <p:to>
                                        <p:strVal val="visible"/>
                                      </p:to>
                                    </p:set>
                                    <p:animEffect transition="in" filter="dissolve">
                                      <p:cBhvr>
                                        <p:cTn id="34" dur="500"/>
                                        <p:tgtEl>
                                          <p:spTgt spid="71697"/>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71682"/>
                                        </p:tgtEl>
                                        <p:attrNameLst>
                                          <p:attrName>style.visibility</p:attrName>
                                        </p:attrNameLst>
                                      </p:cBhvr>
                                      <p:to>
                                        <p:strVal val="visible"/>
                                      </p:to>
                                    </p:set>
                                    <p:animEffect transition="in" filter="dissolve">
                                      <p:cBhvr>
                                        <p:cTn id="39" dur="500"/>
                                        <p:tgtEl>
                                          <p:spTgt spid="7168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71698"/>
                                        </p:tgtEl>
                                        <p:attrNameLst>
                                          <p:attrName>style.visibility</p:attrName>
                                        </p:attrNameLst>
                                      </p:cBhvr>
                                      <p:to>
                                        <p:strVal val="visible"/>
                                      </p:to>
                                    </p:set>
                                    <p:animEffect transition="in" filter="wipe(left)">
                                      <p:cBhvr>
                                        <p:cTn id="44" dur="500"/>
                                        <p:tgtEl>
                                          <p:spTgt spid="71698"/>
                                        </p:tgtEl>
                                      </p:cBhvr>
                                    </p:animEffect>
                                  </p:childTnLst>
                                </p:cTn>
                              </p:par>
                            </p:childTnLst>
                          </p:cTn>
                        </p:par>
                        <p:par>
                          <p:cTn id="45" fill="hold">
                            <p:stCondLst>
                              <p:cond delay="500"/>
                            </p:stCondLst>
                            <p:childTnLst>
                              <p:par>
                                <p:cTn id="46" presetID="12" presetClass="entr" presetSubtype="4" fill="hold" grpId="0" nodeType="afterEffect">
                                  <p:stCondLst>
                                    <p:cond delay="0"/>
                                  </p:stCondLst>
                                  <p:childTnLst>
                                    <p:set>
                                      <p:cBhvr>
                                        <p:cTn id="47" dur="1" fill="hold">
                                          <p:stCondLst>
                                            <p:cond delay="0"/>
                                          </p:stCondLst>
                                        </p:cTn>
                                        <p:tgtEl>
                                          <p:spTgt spid="71699"/>
                                        </p:tgtEl>
                                        <p:attrNameLst>
                                          <p:attrName>style.visibility</p:attrName>
                                        </p:attrNameLst>
                                      </p:cBhvr>
                                      <p:to>
                                        <p:strVal val="visible"/>
                                      </p:to>
                                    </p:set>
                                    <p:animEffect transition="in" filter="slide(fromBottom)">
                                      <p:cBhvr>
                                        <p:cTn id="48" dur="500"/>
                                        <p:tgtEl>
                                          <p:spTgt spid="7169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71723"/>
                                        </p:tgtEl>
                                        <p:attrNameLst>
                                          <p:attrName>style.visibility</p:attrName>
                                        </p:attrNameLst>
                                      </p:cBhvr>
                                      <p:to>
                                        <p:strVal val="visible"/>
                                      </p:to>
                                    </p:set>
                                    <p:animEffect transition="in" filter="wipe(left)">
                                      <p:cBhvr>
                                        <p:cTn id="53" dur="500"/>
                                        <p:tgtEl>
                                          <p:spTgt spid="71723"/>
                                        </p:tgtEl>
                                      </p:cBhvr>
                                    </p:animEffect>
                                  </p:childTnLst>
                                </p:cTn>
                              </p:par>
                            </p:childTnLst>
                          </p:cTn>
                        </p:par>
                      </p:childTnLst>
                    </p:cTn>
                  </p:par>
                  <p:par>
                    <p:cTn id="54" fill="hold">
                      <p:stCondLst>
                        <p:cond delay="indefinite"/>
                      </p:stCondLst>
                      <p:childTnLst>
                        <p:par>
                          <p:cTn id="55" fill="hold">
                            <p:stCondLst>
                              <p:cond delay="0"/>
                            </p:stCondLst>
                            <p:childTnLst>
                              <p:par>
                                <p:cTn id="56" presetID="12" presetClass="entr" presetSubtype="4" fill="hold" grpId="0" nodeType="clickEffect">
                                  <p:stCondLst>
                                    <p:cond delay="0"/>
                                  </p:stCondLst>
                                  <p:childTnLst>
                                    <p:set>
                                      <p:cBhvr>
                                        <p:cTn id="57" dur="1" fill="hold">
                                          <p:stCondLst>
                                            <p:cond delay="0"/>
                                          </p:stCondLst>
                                        </p:cTn>
                                        <p:tgtEl>
                                          <p:spTgt spid="71724"/>
                                        </p:tgtEl>
                                        <p:attrNameLst>
                                          <p:attrName>style.visibility</p:attrName>
                                        </p:attrNameLst>
                                      </p:cBhvr>
                                      <p:to>
                                        <p:strVal val="visible"/>
                                      </p:to>
                                    </p:set>
                                    <p:animEffect transition="in" filter="slide(fromBottom)">
                                      <p:cBhvr>
                                        <p:cTn id="58" dur="500"/>
                                        <p:tgtEl>
                                          <p:spTgt spid="71724"/>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nodeType="clickEffect">
                                  <p:stCondLst>
                                    <p:cond delay="0"/>
                                  </p:stCondLst>
                                  <p:childTnLst>
                                    <p:set>
                                      <p:cBhvr>
                                        <p:cTn id="62" dur="1" fill="hold">
                                          <p:stCondLst>
                                            <p:cond delay="0"/>
                                          </p:stCondLst>
                                        </p:cTn>
                                        <p:tgtEl>
                                          <p:spTgt spid="71715"/>
                                        </p:tgtEl>
                                        <p:attrNameLst>
                                          <p:attrName>style.visibility</p:attrName>
                                        </p:attrNameLst>
                                      </p:cBhvr>
                                      <p:to>
                                        <p:strVal val="visible"/>
                                      </p:to>
                                    </p:set>
                                    <p:animEffect transition="in" filter="wipe(up)">
                                      <p:cBhvr>
                                        <p:cTn id="63" dur="500"/>
                                        <p:tgtEl>
                                          <p:spTgt spid="71715"/>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grpId="0" nodeType="clickEffect">
                                  <p:stCondLst>
                                    <p:cond delay="0"/>
                                  </p:stCondLst>
                                  <p:childTnLst>
                                    <p:set>
                                      <p:cBhvr>
                                        <p:cTn id="67" dur="1" fill="hold">
                                          <p:stCondLst>
                                            <p:cond delay="0"/>
                                          </p:stCondLst>
                                        </p:cTn>
                                        <p:tgtEl>
                                          <p:spTgt spid="71700"/>
                                        </p:tgtEl>
                                        <p:attrNameLst>
                                          <p:attrName>style.visibility</p:attrName>
                                        </p:attrNameLst>
                                      </p:cBhvr>
                                      <p:to>
                                        <p:strVal val="visible"/>
                                      </p:to>
                                    </p:set>
                                    <p:animEffect transition="in" filter="wipe(up)">
                                      <p:cBhvr>
                                        <p:cTn id="68" dur="500"/>
                                        <p:tgtEl>
                                          <p:spTgt spid="71700"/>
                                        </p:tgtEl>
                                      </p:cBhvr>
                                    </p:animEffect>
                                  </p:childTnLst>
                                </p:cTn>
                              </p:par>
                            </p:childTnLst>
                          </p:cTn>
                        </p:par>
                        <p:par>
                          <p:cTn id="69" fill="hold">
                            <p:stCondLst>
                              <p:cond delay="500"/>
                            </p:stCondLst>
                            <p:childTnLst>
                              <p:par>
                                <p:cTn id="70" presetID="9" presetClass="entr" presetSubtype="0" fill="hold" grpId="0" nodeType="afterEffect">
                                  <p:stCondLst>
                                    <p:cond delay="0"/>
                                  </p:stCondLst>
                                  <p:childTnLst>
                                    <p:set>
                                      <p:cBhvr>
                                        <p:cTn id="71" dur="1" fill="hold">
                                          <p:stCondLst>
                                            <p:cond delay="0"/>
                                          </p:stCondLst>
                                        </p:cTn>
                                        <p:tgtEl>
                                          <p:spTgt spid="71722"/>
                                        </p:tgtEl>
                                        <p:attrNameLst>
                                          <p:attrName>style.visibility</p:attrName>
                                        </p:attrNameLst>
                                      </p:cBhvr>
                                      <p:to>
                                        <p:strVal val="visible"/>
                                      </p:to>
                                    </p:set>
                                    <p:animEffect transition="in" filter="dissolve">
                                      <p:cBhvr>
                                        <p:cTn id="72" dur="500"/>
                                        <p:tgtEl>
                                          <p:spTgt spid="71722"/>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nodeType="clickEffect">
                                  <p:stCondLst>
                                    <p:cond delay="0"/>
                                  </p:stCondLst>
                                  <p:childTnLst>
                                    <p:set>
                                      <p:cBhvr>
                                        <p:cTn id="76" dur="1" fill="hold">
                                          <p:stCondLst>
                                            <p:cond delay="0"/>
                                          </p:stCondLst>
                                        </p:cTn>
                                        <p:tgtEl>
                                          <p:spTgt spid="3"/>
                                        </p:tgtEl>
                                        <p:attrNameLst>
                                          <p:attrName>style.visibility</p:attrName>
                                        </p:attrNameLst>
                                      </p:cBhvr>
                                      <p:to>
                                        <p:strVal val="visible"/>
                                      </p:to>
                                    </p:set>
                                    <p:animEffect transition="in" filter="wipe(up)">
                                      <p:cBhvr>
                                        <p:cTn id="77" dur="500"/>
                                        <p:tgtEl>
                                          <p:spTgt spid="3"/>
                                        </p:tgtEl>
                                      </p:cBhvr>
                                    </p:animEffect>
                                  </p:childTnLst>
                                </p:cTn>
                              </p:par>
                            </p:childTnLst>
                          </p:cTn>
                        </p:par>
                      </p:childTnLst>
                    </p:cTn>
                  </p:par>
                  <p:par>
                    <p:cTn id="78" fill="hold">
                      <p:stCondLst>
                        <p:cond delay="indefinite"/>
                      </p:stCondLst>
                      <p:childTnLst>
                        <p:par>
                          <p:cTn id="79" fill="hold">
                            <p:stCondLst>
                              <p:cond delay="0"/>
                            </p:stCondLst>
                            <p:childTnLst>
                              <p:par>
                                <p:cTn id="80" presetID="12" presetClass="entr" presetSubtype="4" fill="hold" nodeType="clickEffect">
                                  <p:stCondLst>
                                    <p:cond delay="0"/>
                                  </p:stCondLst>
                                  <p:childTnLst>
                                    <p:set>
                                      <p:cBhvr>
                                        <p:cTn id="81" dur="1" fill="hold">
                                          <p:stCondLst>
                                            <p:cond delay="0"/>
                                          </p:stCondLst>
                                        </p:cTn>
                                        <p:tgtEl>
                                          <p:spTgt spid="71716"/>
                                        </p:tgtEl>
                                        <p:attrNameLst>
                                          <p:attrName>style.visibility</p:attrName>
                                        </p:attrNameLst>
                                      </p:cBhvr>
                                      <p:to>
                                        <p:strVal val="visible"/>
                                      </p:to>
                                    </p:set>
                                    <p:animEffect transition="in" filter="slide(fromBottom)">
                                      <p:cBhvr>
                                        <p:cTn id="82" dur="500"/>
                                        <p:tgtEl>
                                          <p:spTgt spid="71716"/>
                                        </p:tgtEl>
                                      </p:cBhvr>
                                    </p:animEffect>
                                  </p:childTnLst>
                                </p:cTn>
                              </p:par>
                            </p:childTnLst>
                          </p:cTn>
                        </p:par>
                      </p:childTnLst>
                    </p:cTn>
                  </p:par>
                  <p:par>
                    <p:cTn id="83" fill="hold">
                      <p:stCondLst>
                        <p:cond delay="indefinite"/>
                      </p:stCondLst>
                      <p:childTnLst>
                        <p:par>
                          <p:cTn id="84" fill="hold">
                            <p:stCondLst>
                              <p:cond delay="0"/>
                            </p:stCondLst>
                            <p:childTnLst>
                              <p:par>
                                <p:cTn id="85" presetID="12" presetClass="entr" presetSubtype="2" fill="hold" nodeType="clickEffect">
                                  <p:stCondLst>
                                    <p:cond delay="0"/>
                                  </p:stCondLst>
                                  <p:childTnLst>
                                    <p:set>
                                      <p:cBhvr>
                                        <p:cTn id="86" dur="1" fill="hold">
                                          <p:stCondLst>
                                            <p:cond delay="0"/>
                                          </p:stCondLst>
                                        </p:cTn>
                                        <p:tgtEl>
                                          <p:spTgt spid="4"/>
                                        </p:tgtEl>
                                        <p:attrNameLst>
                                          <p:attrName>style.visibility</p:attrName>
                                        </p:attrNameLst>
                                      </p:cBhvr>
                                      <p:to>
                                        <p:strVal val="visible"/>
                                      </p:to>
                                    </p:set>
                                    <p:animEffect transition="in" filter="slide(fromRight)">
                                      <p:cBhvr>
                                        <p:cTn id="8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93" grpId="0" animBg="1"/>
      <p:bldP spid="71694" grpId="0" autoUpdateAnimBg="0"/>
      <p:bldP spid="71695" grpId="0" autoUpdateAnimBg="0"/>
      <p:bldP spid="71696" grpId="0" animBg="1"/>
      <p:bldP spid="71697" grpId="0" autoUpdateAnimBg="0"/>
      <p:bldP spid="71699" grpId="0" autoUpdateAnimBg="0"/>
      <p:bldP spid="71700" grpId="0" animBg="1"/>
      <p:bldP spid="71722" grpId="0" autoUpdateAnimBg="0"/>
      <p:bldP spid="71723" grpId="0" autoUpdateAnimBg="0"/>
      <p:bldP spid="71724"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533400" y="1143000"/>
            <a:ext cx="5557838" cy="3654425"/>
            <a:chOff x="336" y="720"/>
            <a:chExt cx="3501" cy="2302"/>
          </a:xfrm>
        </p:grpSpPr>
        <p:sp>
          <p:nvSpPr>
            <p:cNvPr id="47152" name="Text Box 3"/>
            <p:cNvSpPr txBox="1">
              <a:spLocks noChangeArrowheads="1"/>
            </p:cNvSpPr>
            <p:nvPr/>
          </p:nvSpPr>
          <p:spPr bwMode="auto">
            <a:xfrm>
              <a:off x="1047" y="1045"/>
              <a:ext cx="3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336600"/>
                  </a:solidFill>
                  <a:ea typeface="楷体_GB2312" pitchFamily="49" charset="-122"/>
                </a:rPr>
                <a:t>A</a:t>
              </a:r>
              <a:endParaRPr lang="en-US" altLang="zh-CN" b="1">
                <a:solidFill>
                  <a:srgbClr val="336600"/>
                </a:solidFill>
                <a:ea typeface="楷体_GB2312" pitchFamily="49" charset="-122"/>
              </a:endParaRPr>
            </a:p>
          </p:txBody>
        </p:sp>
        <p:sp>
          <p:nvSpPr>
            <p:cNvPr id="47153" name="Text Box 4"/>
            <p:cNvSpPr txBox="1">
              <a:spLocks noChangeArrowheads="1"/>
            </p:cNvSpPr>
            <p:nvPr/>
          </p:nvSpPr>
          <p:spPr bwMode="auto">
            <a:xfrm>
              <a:off x="1517" y="2734"/>
              <a:ext cx="3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336600"/>
                  </a:solidFill>
                  <a:ea typeface="楷体_GB2312" pitchFamily="49" charset="-122"/>
                </a:rPr>
                <a:t>B</a:t>
              </a:r>
              <a:endParaRPr lang="en-US" altLang="zh-CN" b="1">
                <a:solidFill>
                  <a:srgbClr val="336600"/>
                </a:solidFill>
                <a:ea typeface="楷体_GB2312" pitchFamily="49" charset="-122"/>
              </a:endParaRPr>
            </a:p>
          </p:txBody>
        </p:sp>
        <p:sp>
          <p:nvSpPr>
            <p:cNvPr id="47154" name="Text Box 5"/>
            <p:cNvSpPr txBox="1">
              <a:spLocks noChangeArrowheads="1"/>
            </p:cNvSpPr>
            <p:nvPr/>
          </p:nvSpPr>
          <p:spPr bwMode="auto">
            <a:xfrm>
              <a:off x="2848" y="720"/>
              <a:ext cx="3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336600"/>
                  </a:solidFill>
                  <a:ea typeface="楷体_GB2312" pitchFamily="49" charset="-122"/>
                </a:rPr>
                <a:t>C</a:t>
              </a:r>
              <a:endParaRPr lang="en-US" altLang="zh-CN" b="1">
                <a:solidFill>
                  <a:srgbClr val="336600"/>
                </a:solidFill>
                <a:ea typeface="楷体_GB2312" pitchFamily="49" charset="-122"/>
              </a:endParaRPr>
            </a:p>
          </p:txBody>
        </p:sp>
        <p:grpSp>
          <p:nvGrpSpPr>
            <p:cNvPr id="47155" name="Group 6"/>
            <p:cNvGrpSpPr/>
            <p:nvPr/>
          </p:nvGrpSpPr>
          <p:grpSpPr bwMode="auto">
            <a:xfrm>
              <a:off x="336" y="891"/>
              <a:ext cx="3501" cy="1875"/>
              <a:chOff x="336" y="891"/>
              <a:chExt cx="3501" cy="1875"/>
            </a:xfrm>
          </p:grpSpPr>
          <p:sp>
            <p:nvSpPr>
              <p:cNvPr id="47156" name="Freeform 7"/>
              <p:cNvSpPr/>
              <p:nvPr/>
            </p:nvSpPr>
            <p:spPr bwMode="auto">
              <a:xfrm>
                <a:off x="744" y="1374"/>
                <a:ext cx="925" cy="1388"/>
              </a:xfrm>
              <a:custGeom>
                <a:avLst/>
                <a:gdLst>
                  <a:gd name="T0" fmla="*/ 3798751 w 567"/>
                  <a:gd name="T1" fmla="*/ 235549 h 1026"/>
                  <a:gd name="T2" fmla="*/ 0 w 567"/>
                  <a:gd name="T3" fmla="*/ 236417 h 1026"/>
                  <a:gd name="T4" fmla="*/ 943882 w 567"/>
                  <a:gd name="T5" fmla="*/ 0 h 1026"/>
                  <a:gd name="T6" fmla="*/ 2189953 w 567"/>
                  <a:gd name="T7" fmla="*/ 616 h 1026"/>
                  <a:gd name="T8" fmla="*/ 3798751 w 567"/>
                  <a:gd name="T9" fmla="*/ 235549 h 1026"/>
                  <a:gd name="T10" fmla="*/ 0 60000 65536"/>
                  <a:gd name="T11" fmla="*/ 0 60000 65536"/>
                  <a:gd name="T12" fmla="*/ 0 60000 65536"/>
                  <a:gd name="T13" fmla="*/ 0 60000 65536"/>
                  <a:gd name="T14" fmla="*/ 0 60000 65536"/>
                  <a:gd name="T15" fmla="*/ 0 w 567"/>
                  <a:gd name="T16" fmla="*/ 0 h 1026"/>
                  <a:gd name="T17" fmla="*/ 567 w 567"/>
                  <a:gd name="T18" fmla="*/ 1026 h 1026"/>
                </a:gdLst>
                <a:ahLst/>
                <a:cxnLst>
                  <a:cxn ang="T10">
                    <a:pos x="T0" y="T1"/>
                  </a:cxn>
                  <a:cxn ang="T11">
                    <a:pos x="T2" y="T3"/>
                  </a:cxn>
                  <a:cxn ang="T12">
                    <a:pos x="T4" y="T5"/>
                  </a:cxn>
                  <a:cxn ang="T13">
                    <a:pos x="T6" y="T7"/>
                  </a:cxn>
                  <a:cxn ang="T14">
                    <a:pos x="T8" y="T9"/>
                  </a:cxn>
                </a:cxnLst>
                <a:rect l="T15" t="T16" r="T17" b="T18"/>
                <a:pathLst>
                  <a:path w="567" h="1026">
                    <a:moveTo>
                      <a:pt x="567" y="1023"/>
                    </a:moveTo>
                    <a:lnTo>
                      <a:pt x="0" y="1026"/>
                    </a:lnTo>
                    <a:lnTo>
                      <a:pt x="141" y="0"/>
                    </a:lnTo>
                    <a:lnTo>
                      <a:pt x="327" y="3"/>
                    </a:lnTo>
                    <a:lnTo>
                      <a:pt x="567" y="1023"/>
                    </a:lnTo>
                    <a:close/>
                  </a:path>
                </a:pathLst>
              </a:custGeom>
              <a:solidFill>
                <a:srgbClr val="CCFFCC">
                  <a:alpha val="50195"/>
                </a:srgbClr>
              </a:solidFill>
              <a:ln w="28575">
                <a:solidFill>
                  <a:srgbClr val="008000"/>
                </a:solidFill>
                <a:round/>
              </a:ln>
            </p:spPr>
            <p:txBody>
              <a:bodyPr/>
              <a:lstStyle/>
              <a:p>
                <a:endParaRPr lang="zh-CN" altLang="en-US"/>
              </a:p>
            </p:txBody>
          </p:sp>
          <p:sp>
            <p:nvSpPr>
              <p:cNvPr id="47157" name="Line 8"/>
              <p:cNvSpPr>
                <a:spLocks noChangeShapeType="1"/>
              </p:cNvSpPr>
              <p:nvPr/>
            </p:nvSpPr>
            <p:spPr bwMode="auto">
              <a:xfrm>
                <a:off x="1263" y="1378"/>
                <a:ext cx="0" cy="528"/>
              </a:xfrm>
              <a:prstGeom prst="line">
                <a:avLst/>
              </a:prstGeom>
              <a:noFill/>
              <a:ln w="19050">
                <a:solidFill>
                  <a:srgbClr val="3366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58" name="Freeform 9"/>
              <p:cNvSpPr/>
              <p:nvPr/>
            </p:nvSpPr>
            <p:spPr bwMode="auto">
              <a:xfrm>
                <a:off x="1277" y="1033"/>
                <a:ext cx="1782" cy="1733"/>
              </a:xfrm>
              <a:custGeom>
                <a:avLst/>
                <a:gdLst>
                  <a:gd name="T0" fmla="*/ 1618288 w 1092"/>
                  <a:gd name="T1" fmla="*/ 295111 h 1281"/>
                  <a:gd name="T2" fmla="*/ 7353727 w 1092"/>
                  <a:gd name="T3" fmla="*/ 0 h 1281"/>
                  <a:gd name="T4" fmla="*/ 0 w 1092"/>
                  <a:gd name="T5" fmla="*/ 58818 h 1281"/>
                  <a:gd name="T6" fmla="*/ 0 60000 65536"/>
                  <a:gd name="T7" fmla="*/ 0 60000 65536"/>
                  <a:gd name="T8" fmla="*/ 0 60000 65536"/>
                  <a:gd name="T9" fmla="*/ 0 w 1092"/>
                  <a:gd name="T10" fmla="*/ 0 h 1281"/>
                  <a:gd name="T11" fmla="*/ 1092 w 1092"/>
                  <a:gd name="T12" fmla="*/ 1281 h 1281"/>
                </a:gdLst>
                <a:ahLst/>
                <a:cxnLst>
                  <a:cxn ang="T6">
                    <a:pos x="T0" y="T1"/>
                  </a:cxn>
                  <a:cxn ang="T7">
                    <a:pos x="T2" y="T3"/>
                  </a:cxn>
                  <a:cxn ang="T8">
                    <a:pos x="T4" y="T5"/>
                  </a:cxn>
                </a:cxnLst>
                <a:rect l="T9" t="T10" r="T11" b="T12"/>
                <a:pathLst>
                  <a:path w="1092" h="1281">
                    <a:moveTo>
                      <a:pt x="240" y="1281"/>
                    </a:moveTo>
                    <a:lnTo>
                      <a:pt x="1092" y="0"/>
                    </a:lnTo>
                    <a:lnTo>
                      <a:pt x="0" y="255"/>
                    </a:lnTo>
                  </a:path>
                </a:pathLst>
              </a:custGeom>
              <a:noFill/>
              <a:ln w="38100">
                <a:solidFill>
                  <a:srgbClr val="3366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159" name="Line 10"/>
              <p:cNvSpPr>
                <a:spLocks noChangeShapeType="1"/>
              </p:cNvSpPr>
              <p:nvPr/>
            </p:nvSpPr>
            <p:spPr bwMode="auto">
              <a:xfrm flipV="1">
                <a:off x="1679" y="2754"/>
                <a:ext cx="1326" cy="4"/>
              </a:xfrm>
              <a:prstGeom prst="line">
                <a:avLst/>
              </a:prstGeom>
              <a:noFill/>
              <a:ln w="38100">
                <a:solidFill>
                  <a:srgbClr val="3366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60" name="Line 11"/>
              <p:cNvSpPr>
                <a:spLocks noChangeShapeType="1"/>
              </p:cNvSpPr>
              <p:nvPr/>
            </p:nvSpPr>
            <p:spPr bwMode="auto">
              <a:xfrm flipV="1">
                <a:off x="3059" y="891"/>
                <a:ext cx="778" cy="146"/>
              </a:xfrm>
              <a:prstGeom prst="line">
                <a:avLst/>
              </a:prstGeom>
              <a:noFill/>
              <a:ln w="38100">
                <a:solidFill>
                  <a:srgbClr val="3366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61" name="Line 12"/>
              <p:cNvSpPr>
                <a:spLocks noChangeShapeType="1"/>
              </p:cNvSpPr>
              <p:nvPr/>
            </p:nvSpPr>
            <p:spPr bwMode="auto">
              <a:xfrm>
                <a:off x="1277" y="1378"/>
                <a:ext cx="1023" cy="0"/>
              </a:xfrm>
              <a:prstGeom prst="line">
                <a:avLst/>
              </a:prstGeom>
              <a:noFill/>
              <a:ln w="19050">
                <a:solidFill>
                  <a:srgbClr val="3366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62" name="Text Box 13"/>
              <p:cNvSpPr txBox="1">
                <a:spLocks noChangeArrowheads="1"/>
              </p:cNvSpPr>
              <p:nvPr/>
            </p:nvSpPr>
            <p:spPr bwMode="auto">
              <a:xfrm>
                <a:off x="2065" y="1113"/>
                <a:ext cx="3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FF0000"/>
                    </a:solidFill>
                    <a:ea typeface="楷体_GB2312" pitchFamily="49" charset="-122"/>
                    <a:sym typeface="Symbol" panose="05050102010706020507" pitchFamily="18" charset="2"/>
                  </a:rPr>
                  <a:t></a:t>
                </a:r>
                <a:endParaRPr lang="en-US" altLang="zh-CN" b="1">
                  <a:solidFill>
                    <a:srgbClr val="FF0000"/>
                  </a:solidFill>
                  <a:ea typeface="楷体_GB2312" pitchFamily="49" charset="-122"/>
                </a:endParaRPr>
              </a:p>
            </p:txBody>
          </p:sp>
          <p:sp>
            <p:nvSpPr>
              <p:cNvPr id="47163" name="Text Box 14"/>
              <p:cNvSpPr txBox="1">
                <a:spLocks noChangeArrowheads="1"/>
              </p:cNvSpPr>
              <p:nvPr/>
            </p:nvSpPr>
            <p:spPr bwMode="auto">
              <a:xfrm>
                <a:off x="1200" y="1680"/>
                <a:ext cx="313"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FF0000"/>
                    </a:solidFill>
                    <a:ea typeface="楷体_GB2312" pitchFamily="49" charset="-122"/>
                    <a:sym typeface="Symbol" panose="05050102010706020507" pitchFamily="18" charset="2"/>
                  </a:rPr>
                  <a:t></a:t>
                </a:r>
                <a:endParaRPr lang="en-US" altLang="zh-CN" b="1">
                  <a:solidFill>
                    <a:srgbClr val="FF0000"/>
                  </a:solidFill>
                  <a:ea typeface="楷体_GB2312" pitchFamily="49" charset="-122"/>
                </a:endParaRPr>
              </a:p>
            </p:txBody>
          </p:sp>
          <p:sp>
            <p:nvSpPr>
              <p:cNvPr id="47164" name="Freeform 15"/>
              <p:cNvSpPr/>
              <p:nvPr/>
            </p:nvSpPr>
            <p:spPr bwMode="auto">
              <a:xfrm>
                <a:off x="1256" y="1694"/>
                <a:ext cx="119" cy="38"/>
              </a:xfrm>
              <a:custGeom>
                <a:avLst/>
                <a:gdLst>
                  <a:gd name="T0" fmla="*/ 103872 w 73"/>
                  <a:gd name="T1" fmla="*/ 0 h 28"/>
                  <a:gd name="T2" fmla="*/ 27132 w 73"/>
                  <a:gd name="T3" fmla="*/ 5216 h 28"/>
                  <a:gd name="T4" fmla="*/ 264170 w 73"/>
                  <a:gd name="T5" fmla="*/ 6642 h 28"/>
                  <a:gd name="T6" fmla="*/ 482051 w 73"/>
                  <a:gd name="T7" fmla="*/ 3606 h 28"/>
                  <a:gd name="T8" fmla="*/ 0 60000 65536"/>
                  <a:gd name="T9" fmla="*/ 0 60000 65536"/>
                  <a:gd name="T10" fmla="*/ 0 60000 65536"/>
                  <a:gd name="T11" fmla="*/ 0 60000 65536"/>
                  <a:gd name="T12" fmla="*/ 0 w 73"/>
                  <a:gd name="T13" fmla="*/ 0 h 28"/>
                  <a:gd name="T14" fmla="*/ 73 w 73"/>
                  <a:gd name="T15" fmla="*/ 28 h 28"/>
                </a:gdLst>
                <a:ahLst/>
                <a:cxnLst>
                  <a:cxn ang="T8">
                    <a:pos x="T0" y="T1"/>
                  </a:cxn>
                  <a:cxn ang="T9">
                    <a:pos x="T2" y="T3"/>
                  </a:cxn>
                  <a:cxn ang="T10">
                    <a:pos x="T4" y="T5"/>
                  </a:cxn>
                  <a:cxn ang="T11">
                    <a:pos x="T6" y="T7"/>
                  </a:cxn>
                </a:cxnLst>
                <a:rect l="T12" t="T13" r="T14" b="T15"/>
                <a:pathLst>
                  <a:path w="73" h="28">
                    <a:moveTo>
                      <a:pt x="16" y="0"/>
                    </a:moveTo>
                    <a:cubicBezTo>
                      <a:pt x="8" y="8"/>
                      <a:pt x="0" y="16"/>
                      <a:pt x="4" y="21"/>
                    </a:cubicBezTo>
                    <a:cubicBezTo>
                      <a:pt x="8" y="26"/>
                      <a:pt x="29" y="28"/>
                      <a:pt x="40" y="27"/>
                    </a:cubicBezTo>
                    <a:cubicBezTo>
                      <a:pt x="51" y="26"/>
                      <a:pt x="62" y="20"/>
                      <a:pt x="73" y="15"/>
                    </a:cubicBezTo>
                  </a:path>
                </a:pathLst>
              </a:custGeom>
              <a:noFill/>
              <a:ln w="28575">
                <a:solidFill>
                  <a:srgbClr val="3366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165" name="Freeform 16"/>
              <p:cNvSpPr/>
              <p:nvPr/>
            </p:nvSpPr>
            <p:spPr bwMode="auto">
              <a:xfrm>
                <a:off x="1737" y="1284"/>
                <a:ext cx="22" cy="86"/>
              </a:xfrm>
              <a:custGeom>
                <a:avLst/>
                <a:gdLst>
                  <a:gd name="T0" fmla="*/ 112136 w 13"/>
                  <a:gd name="T1" fmla="*/ 17050 h 63"/>
                  <a:gd name="T2" fmla="*/ 155261 w 13"/>
                  <a:gd name="T3" fmla="*/ 9657 h 63"/>
                  <a:gd name="T4" fmla="*/ 0 w 13"/>
                  <a:gd name="T5" fmla="*/ 0 h 63"/>
                  <a:gd name="T6" fmla="*/ 0 60000 65536"/>
                  <a:gd name="T7" fmla="*/ 0 60000 65536"/>
                  <a:gd name="T8" fmla="*/ 0 60000 65536"/>
                  <a:gd name="T9" fmla="*/ 0 w 13"/>
                  <a:gd name="T10" fmla="*/ 0 h 63"/>
                  <a:gd name="T11" fmla="*/ 13 w 13"/>
                  <a:gd name="T12" fmla="*/ 63 h 63"/>
                </a:gdLst>
                <a:ahLst/>
                <a:cxnLst>
                  <a:cxn ang="T6">
                    <a:pos x="T0" y="T1"/>
                  </a:cxn>
                  <a:cxn ang="T7">
                    <a:pos x="T2" y="T3"/>
                  </a:cxn>
                  <a:cxn ang="T8">
                    <a:pos x="T4" y="T5"/>
                  </a:cxn>
                </a:cxnLst>
                <a:rect l="T9" t="T10" r="T11" b="T12"/>
                <a:pathLst>
                  <a:path w="13" h="63">
                    <a:moveTo>
                      <a:pt x="9" y="63"/>
                    </a:moveTo>
                    <a:cubicBezTo>
                      <a:pt x="11" y="54"/>
                      <a:pt x="13" y="46"/>
                      <a:pt x="12" y="36"/>
                    </a:cubicBezTo>
                    <a:cubicBezTo>
                      <a:pt x="11" y="26"/>
                      <a:pt x="1" y="2"/>
                      <a:pt x="0" y="0"/>
                    </a:cubicBezTo>
                  </a:path>
                </a:pathLst>
              </a:custGeom>
              <a:noFill/>
              <a:ln w="38100">
                <a:solidFill>
                  <a:srgbClr val="3366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166" name="Line 17"/>
              <p:cNvSpPr>
                <a:spLocks noChangeShapeType="1"/>
              </p:cNvSpPr>
              <p:nvPr/>
            </p:nvSpPr>
            <p:spPr bwMode="auto">
              <a:xfrm flipH="1">
                <a:off x="336" y="1373"/>
                <a:ext cx="296" cy="0"/>
              </a:xfrm>
              <a:prstGeom prst="line">
                <a:avLst/>
              </a:prstGeom>
              <a:noFill/>
              <a:ln w="28575">
                <a:solidFill>
                  <a:srgbClr val="3366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67" name="Line 18"/>
              <p:cNvSpPr>
                <a:spLocks noChangeShapeType="1"/>
              </p:cNvSpPr>
              <p:nvPr/>
            </p:nvSpPr>
            <p:spPr bwMode="auto">
              <a:xfrm flipH="1">
                <a:off x="336" y="2761"/>
                <a:ext cx="296" cy="0"/>
              </a:xfrm>
              <a:prstGeom prst="line">
                <a:avLst/>
              </a:prstGeom>
              <a:noFill/>
              <a:ln w="28575">
                <a:solidFill>
                  <a:srgbClr val="3366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68" name="Line 19"/>
              <p:cNvSpPr>
                <a:spLocks noChangeShapeType="1"/>
              </p:cNvSpPr>
              <p:nvPr/>
            </p:nvSpPr>
            <p:spPr bwMode="auto">
              <a:xfrm flipV="1">
                <a:off x="425" y="1373"/>
                <a:ext cx="0" cy="1385"/>
              </a:xfrm>
              <a:prstGeom prst="line">
                <a:avLst/>
              </a:prstGeom>
              <a:noFill/>
              <a:ln w="38100">
                <a:solidFill>
                  <a:srgbClr val="3366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69" name="Text Box 20"/>
              <p:cNvSpPr txBox="1">
                <a:spLocks noChangeArrowheads="1"/>
              </p:cNvSpPr>
              <p:nvPr/>
            </p:nvSpPr>
            <p:spPr bwMode="auto">
              <a:xfrm>
                <a:off x="472" y="1788"/>
                <a:ext cx="34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solidFill>
                      <a:srgbClr val="FF0000"/>
                    </a:solidFill>
                    <a:ea typeface="楷体_GB2312" pitchFamily="49" charset="-122"/>
                  </a:rPr>
                  <a:t>H</a:t>
                </a:r>
                <a:endParaRPr lang="en-US" altLang="zh-CN" b="1" i="1">
                  <a:solidFill>
                    <a:srgbClr val="FF0000"/>
                  </a:solidFill>
                  <a:ea typeface="楷体_GB2312" pitchFamily="49" charset="-122"/>
                </a:endParaRPr>
              </a:p>
            </p:txBody>
          </p:sp>
        </p:grpSp>
      </p:grpSp>
      <p:sp>
        <p:nvSpPr>
          <p:cNvPr id="46083" name="Text Box 21"/>
          <p:cNvSpPr txBox="1">
            <a:spLocks noChangeArrowheads="1"/>
          </p:cNvSpPr>
          <p:nvPr/>
        </p:nvSpPr>
        <p:spPr bwMode="auto">
          <a:xfrm>
            <a:off x="1547813" y="728663"/>
            <a:ext cx="1811337" cy="369887"/>
          </a:xfrm>
          <a:prstGeom prst="rect">
            <a:avLst/>
          </a:prstGeom>
          <a:solidFill>
            <a:srgbClr val="FFC000"/>
          </a:solidFill>
          <a:ln>
            <a:noFill/>
          </a:ln>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b="1" dirty="0" smtClean="0">
                <a:latin typeface="+mn-ea"/>
                <a:ea typeface="+mn-ea"/>
              </a:rPr>
              <a:t>被动土压力</a:t>
            </a:r>
            <a:endParaRPr kumimoji="0" lang="zh-CN" altLang="en-US" b="1" dirty="0" smtClean="0">
              <a:latin typeface="+mn-ea"/>
              <a:ea typeface="+mn-ea"/>
            </a:endParaRPr>
          </a:p>
        </p:txBody>
      </p:sp>
      <p:sp>
        <p:nvSpPr>
          <p:cNvPr id="72726" name="Line 22"/>
          <p:cNvSpPr>
            <a:spLocks noChangeShapeType="1"/>
          </p:cNvSpPr>
          <p:nvPr/>
        </p:nvSpPr>
        <p:spPr bwMode="auto">
          <a:xfrm flipH="1">
            <a:off x="7696200" y="2971800"/>
            <a:ext cx="0" cy="731838"/>
          </a:xfrm>
          <a:prstGeom prst="line">
            <a:avLst/>
          </a:prstGeom>
          <a:noFill/>
          <a:ln w="38100">
            <a:solidFill>
              <a:srgbClr val="3366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727" name="Line 23"/>
          <p:cNvSpPr>
            <a:spLocks noChangeShapeType="1"/>
          </p:cNvSpPr>
          <p:nvPr/>
        </p:nvSpPr>
        <p:spPr bwMode="auto">
          <a:xfrm>
            <a:off x="5105400" y="2362200"/>
            <a:ext cx="2625725" cy="609600"/>
          </a:xfrm>
          <a:prstGeom prst="line">
            <a:avLst/>
          </a:prstGeom>
          <a:noFill/>
          <a:ln w="38100">
            <a:solidFill>
              <a:srgbClr val="3366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728" name="Line 24"/>
          <p:cNvSpPr>
            <a:spLocks noChangeShapeType="1"/>
          </p:cNvSpPr>
          <p:nvPr/>
        </p:nvSpPr>
        <p:spPr bwMode="auto">
          <a:xfrm flipH="1" flipV="1">
            <a:off x="5105400" y="2362200"/>
            <a:ext cx="2590800" cy="1371600"/>
          </a:xfrm>
          <a:prstGeom prst="line">
            <a:avLst/>
          </a:prstGeom>
          <a:noFill/>
          <a:ln w="38100">
            <a:solidFill>
              <a:srgbClr val="3366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729" name="Freeform 25"/>
          <p:cNvSpPr/>
          <p:nvPr/>
        </p:nvSpPr>
        <p:spPr bwMode="auto">
          <a:xfrm rot="-3441973">
            <a:off x="7428707" y="3467893"/>
            <a:ext cx="228600" cy="150813"/>
          </a:xfrm>
          <a:custGeom>
            <a:avLst/>
            <a:gdLst>
              <a:gd name="T0" fmla="*/ 0 w 86"/>
              <a:gd name="T1" fmla="*/ 0 h 48"/>
              <a:gd name="T2" fmla="*/ 2147483646 w 86"/>
              <a:gd name="T3" fmla="*/ 2147483646 h 48"/>
              <a:gd name="T4" fmla="*/ 2147483646 w 86"/>
              <a:gd name="T5" fmla="*/ 2147483646 h 48"/>
              <a:gd name="T6" fmla="*/ 0 60000 65536"/>
              <a:gd name="T7" fmla="*/ 0 60000 65536"/>
              <a:gd name="T8" fmla="*/ 0 60000 65536"/>
              <a:gd name="T9" fmla="*/ 0 w 86"/>
              <a:gd name="T10" fmla="*/ 0 h 48"/>
              <a:gd name="T11" fmla="*/ 86 w 86"/>
              <a:gd name="T12" fmla="*/ 48 h 48"/>
            </a:gdLst>
            <a:ahLst/>
            <a:cxnLst>
              <a:cxn ang="T6">
                <a:pos x="T0" y="T1"/>
              </a:cxn>
              <a:cxn ang="T7">
                <a:pos x="T2" y="T3"/>
              </a:cxn>
              <a:cxn ang="T8">
                <a:pos x="T4" y="T5"/>
              </a:cxn>
            </a:cxnLst>
            <a:rect l="T9" t="T10" r="T11" b="T12"/>
            <a:pathLst>
              <a:path w="86" h="48">
                <a:moveTo>
                  <a:pt x="0" y="0"/>
                </a:moveTo>
                <a:cubicBezTo>
                  <a:pt x="16" y="0"/>
                  <a:pt x="32" y="0"/>
                  <a:pt x="46" y="8"/>
                </a:cubicBezTo>
                <a:cubicBezTo>
                  <a:pt x="60" y="16"/>
                  <a:pt x="73" y="32"/>
                  <a:pt x="86" y="48"/>
                </a:cubicBezTo>
              </a:path>
            </a:pathLst>
          </a:custGeom>
          <a:noFill/>
          <a:ln w="38100">
            <a:solidFill>
              <a:srgbClr val="3366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730" name="Freeform 26"/>
          <p:cNvSpPr/>
          <p:nvPr/>
        </p:nvSpPr>
        <p:spPr bwMode="auto">
          <a:xfrm rot="5307279">
            <a:off x="7466013" y="2973387"/>
            <a:ext cx="317500" cy="161925"/>
          </a:xfrm>
          <a:custGeom>
            <a:avLst/>
            <a:gdLst>
              <a:gd name="T0" fmla="*/ 0 w 86"/>
              <a:gd name="T1" fmla="*/ 2147483646 h 34"/>
              <a:gd name="T2" fmla="*/ 2147483646 w 86"/>
              <a:gd name="T3" fmla="*/ 2147483646 h 34"/>
              <a:gd name="T4" fmla="*/ 2147483646 w 86"/>
              <a:gd name="T5" fmla="*/ 2147483646 h 34"/>
              <a:gd name="T6" fmla="*/ 0 60000 65536"/>
              <a:gd name="T7" fmla="*/ 0 60000 65536"/>
              <a:gd name="T8" fmla="*/ 0 60000 65536"/>
              <a:gd name="T9" fmla="*/ 0 w 86"/>
              <a:gd name="T10" fmla="*/ 0 h 34"/>
              <a:gd name="T11" fmla="*/ 86 w 86"/>
              <a:gd name="T12" fmla="*/ 34 h 34"/>
            </a:gdLst>
            <a:ahLst/>
            <a:cxnLst>
              <a:cxn ang="T6">
                <a:pos x="T0" y="T1"/>
              </a:cxn>
              <a:cxn ang="T7">
                <a:pos x="T2" y="T3"/>
              </a:cxn>
              <a:cxn ang="T8">
                <a:pos x="T4" y="T5"/>
              </a:cxn>
            </a:cxnLst>
            <a:rect l="T9" t="T10" r="T11" b="T12"/>
            <a:pathLst>
              <a:path w="86" h="34">
                <a:moveTo>
                  <a:pt x="0" y="34"/>
                </a:moveTo>
                <a:cubicBezTo>
                  <a:pt x="18" y="33"/>
                  <a:pt x="36" y="32"/>
                  <a:pt x="50" y="28"/>
                </a:cubicBezTo>
                <a:cubicBezTo>
                  <a:pt x="64" y="24"/>
                  <a:pt x="72" y="0"/>
                  <a:pt x="86" y="8"/>
                </a:cubicBezTo>
              </a:path>
            </a:pathLst>
          </a:custGeom>
          <a:noFill/>
          <a:ln w="28575">
            <a:solidFill>
              <a:srgbClr val="3366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731" name="Text Box 27"/>
          <p:cNvSpPr txBox="1">
            <a:spLocks noChangeArrowheads="1"/>
          </p:cNvSpPr>
          <p:nvPr/>
        </p:nvSpPr>
        <p:spPr bwMode="auto">
          <a:xfrm>
            <a:off x="7696200" y="2971800"/>
            <a:ext cx="714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olidFill>
                  <a:srgbClr val="FF0000"/>
                </a:solidFill>
                <a:ea typeface="楷体_GB2312" pitchFamily="49" charset="-122"/>
              </a:rPr>
              <a:t>W</a:t>
            </a:r>
            <a:endParaRPr lang="en-US" altLang="zh-CN" sz="2800" b="1" i="1">
              <a:solidFill>
                <a:srgbClr val="FF0000"/>
              </a:solidFill>
              <a:ea typeface="楷体_GB2312" pitchFamily="49" charset="-122"/>
            </a:endParaRPr>
          </a:p>
        </p:txBody>
      </p:sp>
      <p:sp>
        <p:nvSpPr>
          <p:cNvPr id="72732" name="Text Box 28"/>
          <p:cNvSpPr txBox="1">
            <a:spLocks noChangeArrowheads="1"/>
          </p:cNvSpPr>
          <p:nvPr/>
        </p:nvSpPr>
        <p:spPr bwMode="auto">
          <a:xfrm>
            <a:off x="6248400" y="3124200"/>
            <a:ext cx="9572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solidFill>
                  <a:srgbClr val="FF0000"/>
                </a:solidFill>
                <a:ea typeface="楷体_GB2312" pitchFamily="49" charset="-122"/>
              </a:rPr>
              <a:t>R</a:t>
            </a:r>
            <a:endParaRPr lang="en-US" altLang="zh-CN" sz="2800" b="1">
              <a:solidFill>
                <a:srgbClr val="FF0000"/>
              </a:solidFill>
              <a:ea typeface="楷体_GB2312" pitchFamily="49" charset="-122"/>
            </a:endParaRPr>
          </a:p>
        </p:txBody>
      </p:sp>
      <p:sp>
        <p:nvSpPr>
          <p:cNvPr id="72733" name="Text Box 29"/>
          <p:cNvSpPr txBox="1">
            <a:spLocks noChangeArrowheads="1"/>
          </p:cNvSpPr>
          <p:nvPr/>
        </p:nvSpPr>
        <p:spPr bwMode="auto">
          <a:xfrm>
            <a:off x="6324600" y="2209800"/>
            <a:ext cx="8318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olidFill>
                  <a:srgbClr val="F33E05"/>
                </a:solidFill>
                <a:ea typeface="楷体_GB2312" pitchFamily="49" charset="-122"/>
              </a:rPr>
              <a:t>E</a:t>
            </a:r>
            <a:endParaRPr lang="en-US" altLang="zh-CN" sz="2800" b="1" i="1">
              <a:solidFill>
                <a:srgbClr val="F33E05"/>
              </a:solidFill>
              <a:ea typeface="楷体_GB2312" pitchFamily="49" charset="-122"/>
            </a:endParaRPr>
          </a:p>
        </p:txBody>
      </p:sp>
      <p:sp>
        <p:nvSpPr>
          <p:cNvPr id="72734" name="Text Box 30"/>
          <p:cNvSpPr txBox="1">
            <a:spLocks noChangeArrowheads="1"/>
          </p:cNvSpPr>
          <p:nvPr/>
        </p:nvSpPr>
        <p:spPr bwMode="auto">
          <a:xfrm>
            <a:off x="7239000" y="2819400"/>
            <a:ext cx="792163"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solidFill>
                  <a:srgbClr val="FF0000"/>
                </a:solidFill>
                <a:ea typeface="楷体_GB2312" pitchFamily="49" charset="-122"/>
                <a:sym typeface="Symbol" panose="05050102010706020507" pitchFamily="18" charset="2"/>
              </a:rPr>
              <a:t></a:t>
            </a:r>
            <a:endParaRPr lang="en-US" altLang="zh-CN" sz="2800" b="1">
              <a:solidFill>
                <a:srgbClr val="FF0000"/>
              </a:solidFill>
              <a:ea typeface="楷体_GB2312" pitchFamily="49" charset="-122"/>
              <a:sym typeface="Symbol" panose="05050102010706020507" pitchFamily="18" charset="2"/>
            </a:endParaRPr>
          </a:p>
        </p:txBody>
      </p:sp>
      <p:sp>
        <p:nvSpPr>
          <p:cNvPr id="72735" name="Text Box 31"/>
          <p:cNvSpPr txBox="1">
            <a:spLocks noChangeArrowheads="1"/>
          </p:cNvSpPr>
          <p:nvPr/>
        </p:nvSpPr>
        <p:spPr bwMode="auto">
          <a:xfrm>
            <a:off x="6934200" y="3581400"/>
            <a:ext cx="1066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solidFill>
                  <a:srgbClr val="FF0000"/>
                </a:solidFill>
                <a:ea typeface="楷体_GB2312" pitchFamily="49" charset="-122"/>
                <a:sym typeface="Symbol" panose="05050102010706020507" pitchFamily="18" charset="2"/>
              </a:rPr>
              <a:t> + </a:t>
            </a:r>
            <a:endParaRPr lang="en-US" altLang="zh-CN" sz="2800" b="1">
              <a:solidFill>
                <a:srgbClr val="FF0000"/>
              </a:solidFill>
              <a:ea typeface="楷体_GB2312" pitchFamily="49" charset="-122"/>
              <a:sym typeface="Symbol" panose="05050102010706020507" pitchFamily="18" charset="2"/>
            </a:endParaRPr>
          </a:p>
        </p:txBody>
      </p:sp>
      <p:sp>
        <p:nvSpPr>
          <p:cNvPr id="72736" name="Text Box 32"/>
          <p:cNvSpPr txBox="1">
            <a:spLocks noChangeArrowheads="1"/>
          </p:cNvSpPr>
          <p:nvPr/>
        </p:nvSpPr>
        <p:spPr bwMode="auto">
          <a:xfrm>
            <a:off x="7010400" y="2209800"/>
            <a:ext cx="2133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solidFill>
                  <a:srgbClr val="0000FF"/>
                </a:solidFill>
                <a:ea typeface="楷体_GB2312" pitchFamily="49" charset="-122"/>
                <a:sym typeface="Symbol" panose="05050102010706020507" pitchFamily="18" charset="2"/>
              </a:rPr>
              <a:t>=90+-</a:t>
            </a:r>
            <a:endParaRPr lang="en-US" altLang="zh-CN" sz="2800" b="1">
              <a:solidFill>
                <a:srgbClr val="0000FF"/>
              </a:solidFill>
              <a:ea typeface="楷体_GB2312" pitchFamily="49" charset="-122"/>
              <a:sym typeface="Symbol" panose="05050102010706020507" pitchFamily="18" charset="2"/>
            </a:endParaRPr>
          </a:p>
        </p:txBody>
      </p:sp>
      <p:graphicFrame>
        <p:nvGraphicFramePr>
          <p:cNvPr id="72737" name="Object 33"/>
          <p:cNvGraphicFramePr>
            <a:graphicFrameLocks noChangeAspect="1"/>
          </p:cNvGraphicFramePr>
          <p:nvPr/>
        </p:nvGraphicFramePr>
        <p:xfrm>
          <a:off x="609600" y="5334000"/>
          <a:ext cx="4124325" cy="815975"/>
        </p:xfrm>
        <a:graphic>
          <a:graphicData uri="http://schemas.openxmlformats.org/presentationml/2006/ole">
            <mc:AlternateContent xmlns:mc="http://schemas.openxmlformats.org/markup-compatibility/2006">
              <mc:Choice xmlns:v="urn:schemas-microsoft-com:vml" Requires="v">
                <p:oleObj spid="_x0000_s16398" name="Equation" r:id="rId1" imgW="2108200" imgH="419100" progId="Equation.3">
                  <p:embed/>
                </p:oleObj>
              </mc:Choice>
              <mc:Fallback>
                <p:oleObj name="Equation" r:id="rId1" imgW="2108200" imgH="419100" progId="Equation.3">
                  <p:embed/>
                  <p:pic>
                    <p:nvPicPr>
                      <p:cNvPr id="0" name="Object 3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5334000"/>
                        <a:ext cx="4124325" cy="815975"/>
                      </a:xfrm>
                      <a:prstGeom prst="rect">
                        <a:avLst/>
                      </a:prstGeom>
                      <a:solidFill>
                        <a:schemeClr val="accent1"/>
                      </a:solidFill>
                      <a:ln>
                        <a:noFill/>
                      </a:ln>
                      <a:effectLst/>
                      <a:extLst>
                        <a:ext uri="{91240B29-F687-4F45-9708-019B960494DF}">
                          <a14:hiddenLine xmlns:a14="http://schemas.microsoft.com/office/drawing/2010/main" w="12700">
                            <a:solidFill>
                              <a:srgbClr val="CCFFC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2738" name="Object 34"/>
          <p:cNvGraphicFramePr>
            <a:graphicFrameLocks noChangeAspect="1"/>
          </p:cNvGraphicFramePr>
          <p:nvPr/>
        </p:nvGraphicFramePr>
        <p:xfrm>
          <a:off x="5041900" y="5334000"/>
          <a:ext cx="919163" cy="766763"/>
        </p:xfrm>
        <a:graphic>
          <a:graphicData uri="http://schemas.openxmlformats.org/presentationml/2006/ole">
            <mc:AlternateContent xmlns:mc="http://schemas.openxmlformats.org/markup-compatibility/2006">
              <mc:Choice xmlns:v="urn:schemas-microsoft-com:vml" Requires="v">
                <p:oleObj spid="_x0000_s16399" name="Equation" r:id="rId3" imgW="469900" imgH="393700" progId="Equation.3">
                  <p:embed/>
                </p:oleObj>
              </mc:Choice>
              <mc:Fallback>
                <p:oleObj name="Equation" r:id="rId3" imgW="469900" imgH="393700" progId="Equation.3">
                  <p:embed/>
                  <p:pic>
                    <p:nvPicPr>
                      <p:cNvPr id="0" name="Object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1900" y="5334000"/>
                        <a:ext cx="919163" cy="766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CCFFC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739" name="AutoShape 35"/>
          <p:cNvSpPr>
            <a:spLocks noChangeArrowheads="1"/>
          </p:cNvSpPr>
          <p:nvPr/>
        </p:nvSpPr>
        <p:spPr bwMode="auto">
          <a:xfrm rot="10800000">
            <a:off x="6096000" y="5562600"/>
            <a:ext cx="304800" cy="228600"/>
          </a:xfrm>
          <a:prstGeom prst="leftArrow">
            <a:avLst>
              <a:gd name="adj1" fmla="val 50000"/>
              <a:gd name="adj2" fmla="val 33333"/>
            </a:avLst>
          </a:prstGeom>
          <a:solidFill>
            <a:srgbClr val="FF3300"/>
          </a:solidFill>
          <a:ln w="9525">
            <a:solidFill>
              <a:schemeClr val="folHlink"/>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72740" name="Text Box 36"/>
          <p:cNvSpPr txBox="1">
            <a:spLocks noChangeArrowheads="1"/>
          </p:cNvSpPr>
          <p:nvPr/>
        </p:nvSpPr>
        <p:spPr bwMode="auto">
          <a:xfrm>
            <a:off x="6553200" y="5410200"/>
            <a:ext cx="1295400" cy="519113"/>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olidFill>
                  <a:schemeClr val="accent1"/>
                </a:solidFill>
                <a:ea typeface="楷体_GB2312" pitchFamily="49" charset="-122"/>
                <a:sym typeface="Symbol" panose="05050102010706020507" pitchFamily="18" charset="2"/>
              </a:rPr>
              <a:t></a:t>
            </a:r>
            <a:r>
              <a:rPr lang="en-US" altLang="zh-CN" sz="2800" b="1">
                <a:solidFill>
                  <a:schemeClr val="accent1"/>
                </a:solidFill>
                <a:ea typeface="楷体_GB2312" pitchFamily="49" charset="-122"/>
                <a:sym typeface="Symbol" panose="05050102010706020507" pitchFamily="18" charset="2"/>
              </a:rPr>
              <a:t> </a:t>
            </a:r>
            <a:r>
              <a:rPr lang="zh-CN" altLang="en-US" sz="2800" b="1">
                <a:solidFill>
                  <a:schemeClr val="accent1"/>
                </a:solidFill>
                <a:ea typeface="楷体_GB2312" pitchFamily="49" charset="-122"/>
                <a:sym typeface="Symbol" panose="05050102010706020507" pitchFamily="18" charset="2"/>
              </a:rPr>
              <a:t>、</a:t>
            </a:r>
            <a:r>
              <a:rPr lang="en-US" altLang="zh-CN" sz="2800" b="1" i="1">
                <a:solidFill>
                  <a:schemeClr val="accent1"/>
                </a:solidFill>
                <a:ea typeface="楷体_GB2312" pitchFamily="49" charset="-122"/>
                <a:sym typeface="Symbol" panose="05050102010706020507" pitchFamily="18" charset="2"/>
              </a:rPr>
              <a:t>E</a:t>
            </a:r>
            <a:endParaRPr lang="en-US" altLang="zh-CN" sz="2800" b="1">
              <a:solidFill>
                <a:schemeClr val="accent1"/>
              </a:solidFill>
              <a:ea typeface="楷体_GB2312" pitchFamily="49" charset="-122"/>
              <a:sym typeface="Symbol" panose="05050102010706020507" pitchFamily="18" charset="2"/>
            </a:endParaRPr>
          </a:p>
        </p:txBody>
      </p:sp>
      <p:sp>
        <p:nvSpPr>
          <p:cNvPr id="72742" name="Line 38"/>
          <p:cNvSpPr>
            <a:spLocks noChangeShapeType="1"/>
          </p:cNvSpPr>
          <p:nvPr/>
        </p:nvSpPr>
        <p:spPr bwMode="auto">
          <a:xfrm>
            <a:off x="3527425" y="3351213"/>
            <a:ext cx="815975" cy="611187"/>
          </a:xfrm>
          <a:prstGeom prst="line">
            <a:avLst/>
          </a:prstGeom>
          <a:noFill/>
          <a:ln w="28575">
            <a:solidFill>
              <a:srgbClr val="3366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4" name="Group 39"/>
          <p:cNvGrpSpPr/>
          <p:nvPr/>
        </p:nvGrpSpPr>
        <p:grpSpPr bwMode="auto">
          <a:xfrm>
            <a:off x="2971800" y="2362200"/>
            <a:ext cx="622300" cy="862013"/>
            <a:chOff x="1872" y="1488"/>
            <a:chExt cx="392" cy="543"/>
          </a:xfrm>
        </p:grpSpPr>
        <p:sp>
          <p:nvSpPr>
            <p:cNvPr id="47150" name="Line 40"/>
            <p:cNvSpPr>
              <a:spLocks noChangeShapeType="1"/>
            </p:cNvSpPr>
            <p:nvPr/>
          </p:nvSpPr>
          <p:spPr bwMode="auto">
            <a:xfrm>
              <a:off x="1909" y="1564"/>
              <a:ext cx="0" cy="467"/>
            </a:xfrm>
            <a:prstGeom prst="line">
              <a:avLst/>
            </a:prstGeom>
            <a:noFill/>
            <a:ln w="57150">
              <a:solidFill>
                <a:srgbClr val="3366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51" name="Text Box 41"/>
            <p:cNvSpPr txBox="1">
              <a:spLocks noChangeArrowheads="1"/>
            </p:cNvSpPr>
            <p:nvPr/>
          </p:nvSpPr>
          <p:spPr bwMode="auto">
            <a:xfrm>
              <a:off x="1872" y="1488"/>
              <a:ext cx="3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solidFill>
                    <a:srgbClr val="FF0000"/>
                  </a:solidFill>
                  <a:ea typeface="楷体_GB2312" pitchFamily="49" charset="-122"/>
                </a:rPr>
                <a:t>W</a:t>
              </a:r>
              <a:endParaRPr lang="en-US" altLang="zh-CN" b="1" i="1">
                <a:solidFill>
                  <a:srgbClr val="FF0000"/>
                </a:solidFill>
                <a:ea typeface="楷体_GB2312" pitchFamily="49" charset="-122"/>
              </a:endParaRPr>
            </a:p>
          </p:txBody>
        </p:sp>
      </p:grpSp>
      <p:grpSp>
        <p:nvGrpSpPr>
          <p:cNvPr id="5" name="Group 42"/>
          <p:cNvGrpSpPr/>
          <p:nvPr/>
        </p:nvGrpSpPr>
        <p:grpSpPr bwMode="auto">
          <a:xfrm>
            <a:off x="2905125" y="3886200"/>
            <a:ext cx="765175" cy="492125"/>
            <a:chOff x="1830" y="2448"/>
            <a:chExt cx="482" cy="310"/>
          </a:xfrm>
        </p:grpSpPr>
        <p:sp>
          <p:nvSpPr>
            <p:cNvPr id="47148" name="Text Box 43"/>
            <p:cNvSpPr txBox="1">
              <a:spLocks noChangeArrowheads="1"/>
            </p:cNvSpPr>
            <p:nvPr/>
          </p:nvSpPr>
          <p:spPr bwMode="auto">
            <a:xfrm>
              <a:off x="1920" y="2448"/>
              <a:ext cx="3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FF0000"/>
                  </a:solidFill>
                  <a:ea typeface="楷体_GB2312" pitchFamily="49" charset="-122"/>
                  <a:sym typeface="Symbol" panose="05050102010706020507" pitchFamily="18" charset="2"/>
                </a:rPr>
                <a:t></a:t>
              </a:r>
              <a:endParaRPr lang="en-US" altLang="zh-CN" b="1">
                <a:solidFill>
                  <a:srgbClr val="FF0000"/>
                </a:solidFill>
                <a:ea typeface="楷体_GB2312" pitchFamily="49" charset="-122"/>
              </a:endParaRPr>
            </a:p>
          </p:txBody>
        </p:sp>
        <p:sp>
          <p:nvSpPr>
            <p:cNvPr id="47149" name="Freeform 44"/>
            <p:cNvSpPr/>
            <p:nvPr/>
          </p:nvSpPr>
          <p:spPr bwMode="auto">
            <a:xfrm>
              <a:off x="1830" y="2539"/>
              <a:ext cx="133" cy="219"/>
            </a:xfrm>
            <a:custGeom>
              <a:avLst/>
              <a:gdLst>
                <a:gd name="T0" fmla="*/ 0 w 81"/>
                <a:gd name="T1" fmla="*/ 0 h 162"/>
                <a:gd name="T2" fmla="*/ 455395 w 81"/>
                <a:gd name="T3" fmla="*/ 18507 h 162"/>
                <a:gd name="T4" fmla="*/ 608818 w 81"/>
                <a:gd name="T5" fmla="*/ 36811 h 162"/>
                <a:gd name="T6" fmla="*/ 0 60000 65536"/>
                <a:gd name="T7" fmla="*/ 0 60000 65536"/>
                <a:gd name="T8" fmla="*/ 0 60000 65536"/>
                <a:gd name="T9" fmla="*/ 0 w 81"/>
                <a:gd name="T10" fmla="*/ 0 h 162"/>
                <a:gd name="T11" fmla="*/ 81 w 81"/>
                <a:gd name="T12" fmla="*/ 162 h 162"/>
              </a:gdLst>
              <a:ahLst/>
              <a:cxnLst>
                <a:cxn ang="T6">
                  <a:pos x="T0" y="T1"/>
                </a:cxn>
                <a:cxn ang="T7">
                  <a:pos x="T2" y="T3"/>
                </a:cxn>
                <a:cxn ang="T8">
                  <a:pos x="T4" y="T5"/>
                </a:cxn>
              </a:cxnLst>
              <a:rect l="T9" t="T10" r="T11" b="T12"/>
              <a:pathLst>
                <a:path w="81" h="162">
                  <a:moveTo>
                    <a:pt x="0" y="0"/>
                  </a:moveTo>
                  <a:cubicBezTo>
                    <a:pt x="23" y="27"/>
                    <a:pt x="46" y="54"/>
                    <a:pt x="60" y="81"/>
                  </a:cubicBezTo>
                  <a:cubicBezTo>
                    <a:pt x="74" y="108"/>
                    <a:pt x="75" y="152"/>
                    <a:pt x="81" y="162"/>
                  </a:cubicBezTo>
                </a:path>
              </a:pathLst>
            </a:custGeom>
            <a:noFill/>
            <a:ln w="38100">
              <a:solidFill>
                <a:srgbClr val="3366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6" name="Group 45"/>
          <p:cNvGrpSpPr/>
          <p:nvPr/>
        </p:nvGrpSpPr>
        <p:grpSpPr bwMode="auto">
          <a:xfrm>
            <a:off x="3810000" y="3276600"/>
            <a:ext cx="820738" cy="457200"/>
            <a:chOff x="2400" y="2064"/>
            <a:chExt cx="517" cy="288"/>
          </a:xfrm>
        </p:grpSpPr>
        <p:sp>
          <p:nvSpPr>
            <p:cNvPr id="47146" name="Text Box 46"/>
            <p:cNvSpPr txBox="1">
              <a:spLocks noChangeArrowheads="1"/>
            </p:cNvSpPr>
            <p:nvPr/>
          </p:nvSpPr>
          <p:spPr bwMode="auto">
            <a:xfrm>
              <a:off x="2448" y="2064"/>
              <a:ext cx="4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FF0000"/>
                  </a:solidFill>
                  <a:ea typeface="楷体_GB2312" pitchFamily="49" charset="-122"/>
                  <a:sym typeface="Symbol" panose="05050102010706020507" pitchFamily="18" charset="2"/>
                </a:rPr>
                <a:t></a:t>
              </a:r>
              <a:endParaRPr lang="en-US" altLang="zh-CN" b="1">
                <a:solidFill>
                  <a:srgbClr val="FF0000"/>
                </a:solidFill>
                <a:ea typeface="楷体_GB2312" pitchFamily="49" charset="-122"/>
              </a:endParaRPr>
            </a:p>
          </p:txBody>
        </p:sp>
        <p:sp>
          <p:nvSpPr>
            <p:cNvPr id="47147" name="Freeform 47"/>
            <p:cNvSpPr/>
            <p:nvPr/>
          </p:nvSpPr>
          <p:spPr bwMode="auto">
            <a:xfrm>
              <a:off x="2400" y="2160"/>
              <a:ext cx="79" cy="96"/>
            </a:xfrm>
            <a:custGeom>
              <a:avLst/>
              <a:gdLst>
                <a:gd name="T0" fmla="*/ 6 w 78"/>
                <a:gd name="T1" fmla="*/ 2247 h 78"/>
                <a:gd name="T2" fmla="*/ 0 w 78"/>
                <a:gd name="T3" fmla="*/ 3258 h 78"/>
                <a:gd name="T4" fmla="*/ 63 w 78"/>
                <a:gd name="T5" fmla="*/ 2151 h 78"/>
                <a:gd name="T6" fmla="*/ 96 w 78"/>
                <a:gd name="T7" fmla="*/ 0 h 78"/>
                <a:gd name="T8" fmla="*/ 0 60000 65536"/>
                <a:gd name="T9" fmla="*/ 0 60000 65536"/>
                <a:gd name="T10" fmla="*/ 0 60000 65536"/>
                <a:gd name="T11" fmla="*/ 0 60000 65536"/>
                <a:gd name="T12" fmla="*/ 0 w 78"/>
                <a:gd name="T13" fmla="*/ 0 h 78"/>
                <a:gd name="T14" fmla="*/ 78 w 78"/>
                <a:gd name="T15" fmla="*/ 78 h 78"/>
              </a:gdLst>
              <a:ahLst/>
              <a:cxnLst>
                <a:cxn ang="T8">
                  <a:pos x="T0" y="T1"/>
                </a:cxn>
                <a:cxn ang="T9">
                  <a:pos x="T2" y="T3"/>
                </a:cxn>
                <a:cxn ang="T10">
                  <a:pos x="T4" y="T5"/>
                </a:cxn>
                <a:cxn ang="T11">
                  <a:pos x="T6" y="T7"/>
                </a:cxn>
              </a:cxnLst>
              <a:rect l="T12" t="T13" r="T14" b="T15"/>
              <a:pathLst>
                <a:path w="78" h="78">
                  <a:moveTo>
                    <a:pt x="6" y="54"/>
                  </a:moveTo>
                  <a:lnTo>
                    <a:pt x="0" y="78"/>
                  </a:lnTo>
                  <a:cubicBezTo>
                    <a:pt x="6" y="78"/>
                    <a:pt x="32" y="64"/>
                    <a:pt x="45" y="51"/>
                  </a:cubicBezTo>
                  <a:cubicBezTo>
                    <a:pt x="58" y="38"/>
                    <a:pt x="68" y="8"/>
                    <a:pt x="78" y="0"/>
                  </a:cubicBezTo>
                </a:path>
              </a:pathLst>
            </a:custGeom>
            <a:noFill/>
            <a:ln w="38100">
              <a:solidFill>
                <a:srgbClr val="3366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7" name="Group 48"/>
          <p:cNvGrpSpPr/>
          <p:nvPr/>
        </p:nvGrpSpPr>
        <p:grpSpPr bwMode="auto">
          <a:xfrm>
            <a:off x="1524000" y="3200400"/>
            <a:ext cx="884238" cy="533400"/>
            <a:chOff x="960" y="2016"/>
            <a:chExt cx="557" cy="336"/>
          </a:xfrm>
        </p:grpSpPr>
        <p:sp>
          <p:nvSpPr>
            <p:cNvPr id="47142" name="Text Box 49"/>
            <p:cNvSpPr txBox="1">
              <a:spLocks noChangeArrowheads="1"/>
            </p:cNvSpPr>
            <p:nvPr/>
          </p:nvSpPr>
          <p:spPr bwMode="auto">
            <a:xfrm>
              <a:off x="960" y="2016"/>
              <a:ext cx="39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FF0000"/>
                  </a:solidFill>
                  <a:ea typeface="楷体_GB2312" pitchFamily="49" charset="-122"/>
                  <a:sym typeface="Symbol" panose="05050102010706020507" pitchFamily="18" charset="2"/>
                </a:rPr>
                <a:t></a:t>
              </a:r>
              <a:endParaRPr lang="en-US" altLang="zh-CN" b="1">
                <a:solidFill>
                  <a:srgbClr val="FF0000"/>
                </a:solidFill>
                <a:ea typeface="楷体_GB2312" pitchFamily="49" charset="-122"/>
              </a:endParaRPr>
            </a:p>
          </p:txBody>
        </p:sp>
        <p:grpSp>
          <p:nvGrpSpPr>
            <p:cNvPr id="47143" name="Group 50"/>
            <p:cNvGrpSpPr/>
            <p:nvPr/>
          </p:nvGrpSpPr>
          <p:grpSpPr bwMode="auto">
            <a:xfrm>
              <a:off x="1008" y="2115"/>
              <a:ext cx="509" cy="237"/>
              <a:chOff x="1008" y="2115"/>
              <a:chExt cx="509" cy="237"/>
            </a:xfrm>
          </p:grpSpPr>
          <p:sp>
            <p:nvSpPr>
              <p:cNvPr id="47144" name="Line 51"/>
              <p:cNvSpPr>
                <a:spLocks noChangeShapeType="1"/>
              </p:cNvSpPr>
              <p:nvPr/>
            </p:nvSpPr>
            <p:spPr bwMode="auto">
              <a:xfrm flipV="1">
                <a:off x="1008" y="2178"/>
                <a:ext cx="509" cy="174"/>
              </a:xfrm>
              <a:prstGeom prst="line">
                <a:avLst/>
              </a:prstGeom>
              <a:noFill/>
              <a:ln w="12700">
                <a:solidFill>
                  <a:srgbClr val="3366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45" name="Freeform 52"/>
              <p:cNvSpPr/>
              <p:nvPr/>
            </p:nvSpPr>
            <p:spPr bwMode="auto">
              <a:xfrm rot="2419717">
                <a:off x="1192" y="2115"/>
                <a:ext cx="96" cy="144"/>
              </a:xfrm>
              <a:custGeom>
                <a:avLst/>
                <a:gdLst>
                  <a:gd name="T0" fmla="*/ 0 w 51"/>
                  <a:gd name="T1" fmla="*/ 0 h 114"/>
                  <a:gd name="T2" fmla="*/ 524521 w 51"/>
                  <a:gd name="T3" fmla="*/ 1603 h 114"/>
                  <a:gd name="T4" fmla="*/ 1583100 w 51"/>
                  <a:gd name="T5" fmla="*/ 5415 h 114"/>
                  <a:gd name="T6" fmla="*/ 4499080 w 51"/>
                  <a:gd name="T7" fmla="*/ 7660 h 114"/>
                  <a:gd name="T8" fmla="*/ 0 60000 65536"/>
                  <a:gd name="T9" fmla="*/ 0 60000 65536"/>
                  <a:gd name="T10" fmla="*/ 0 60000 65536"/>
                  <a:gd name="T11" fmla="*/ 0 60000 65536"/>
                  <a:gd name="T12" fmla="*/ 0 w 51"/>
                  <a:gd name="T13" fmla="*/ 0 h 114"/>
                  <a:gd name="T14" fmla="*/ 51 w 51"/>
                  <a:gd name="T15" fmla="*/ 114 h 114"/>
                </a:gdLst>
                <a:ahLst/>
                <a:cxnLst>
                  <a:cxn ang="T8">
                    <a:pos x="T0" y="T1"/>
                  </a:cxn>
                  <a:cxn ang="T9">
                    <a:pos x="T2" y="T3"/>
                  </a:cxn>
                  <a:cxn ang="T10">
                    <a:pos x="T4" y="T5"/>
                  </a:cxn>
                  <a:cxn ang="T11">
                    <a:pos x="T6" y="T7"/>
                  </a:cxn>
                </a:cxnLst>
                <a:rect l="T12" t="T13" r="T14" b="T15"/>
                <a:pathLst>
                  <a:path w="51" h="114">
                    <a:moveTo>
                      <a:pt x="0" y="0"/>
                    </a:moveTo>
                    <a:lnTo>
                      <a:pt x="6" y="24"/>
                    </a:lnTo>
                    <a:cubicBezTo>
                      <a:pt x="9" y="37"/>
                      <a:pt x="11" y="66"/>
                      <a:pt x="18" y="81"/>
                    </a:cubicBezTo>
                    <a:cubicBezTo>
                      <a:pt x="25" y="96"/>
                      <a:pt x="14" y="104"/>
                      <a:pt x="51" y="114"/>
                    </a:cubicBezTo>
                  </a:path>
                </a:pathLst>
              </a:custGeom>
              <a:noFill/>
              <a:ln w="38100">
                <a:solidFill>
                  <a:srgbClr val="3366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9" name="Group 53"/>
          <p:cNvGrpSpPr/>
          <p:nvPr/>
        </p:nvGrpSpPr>
        <p:grpSpPr bwMode="auto">
          <a:xfrm>
            <a:off x="1447800" y="2743200"/>
            <a:ext cx="952500" cy="720725"/>
            <a:chOff x="912" y="1728"/>
            <a:chExt cx="600" cy="454"/>
          </a:xfrm>
        </p:grpSpPr>
        <p:sp>
          <p:nvSpPr>
            <p:cNvPr id="47140" name="Line 54"/>
            <p:cNvSpPr>
              <a:spLocks noChangeShapeType="1"/>
            </p:cNvSpPr>
            <p:nvPr/>
          </p:nvSpPr>
          <p:spPr bwMode="auto">
            <a:xfrm>
              <a:off x="960" y="2016"/>
              <a:ext cx="552" cy="166"/>
            </a:xfrm>
            <a:prstGeom prst="line">
              <a:avLst/>
            </a:prstGeom>
            <a:noFill/>
            <a:ln w="57150">
              <a:solidFill>
                <a:srgbClr val="3366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41" name="Text Box 55"/>
            <p:cNvSpPr txBox="1">
              <a:spLocks noChangeArrowheads="1"/>
            </p:cNvSpPr>
            <p:nvPr/>
          </p:nvSpPr>
          <p:spPr bwMode="auto">
            <a:xfrm>
              <a:off x="912" y="1728"/>
              <a:ext cx="4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solidFill>
                    <a:srgbClr val="F33E05"/>
                  </a:solidFill>
                  <a:ea typeface="楷体_GB2312" pitchFamily="49" charset="-122"/>
                </a:rPr>
                <a:t>E</a:t>
              </a:r>
              <a:endParaRPr lang="en-US" altLang="zh-CN" b="1" i="1">
                <a:solidFill>
                  <a:srgbClr val="F33E05"/>
                </a:solidFill>
                <a:ea typeface="楷体_GB2312" pitchFamily="49" charset="-122"/>
              </a:endParaRPr>
            </a:p>
          </p:txBody>
        </p:sp>
      </p:grpSp>
      <p:grpSp>
        <p:nvGrpSpPr>
          <p:cNvPr id="10" name="Group 56"/>
          <p:cNvGrpSpPr/>
          <p:nvPr/>
        </p:nvGrpSpPr>
        <p:grpSpPr bwMode="auto">
          <a:xfrm>
            <a:off x="3505200" y="3200400"/>
            <a:ext cx="1898650" cy="457200"/>
            <a:chOff x="2208" y="2016"/>
            <a:chExt cx="1196" cy="288"/>
          </a:xfrm>
        </p:grpSpPr>
        <p:sp>
          <p:nvSpPr>
            <p:cNvPr id="47138" name="Line 57"/>
            <p:cNvSpPr>
              <a:spLocks noChangeShapeType="1"/>
            </p:cNvSpPr>
            <p:nvPr/>
          </p:nvSpPr>
          <p:spPr bwMode="auto">
            <a:xfrm flipH="1" flipV="1">
              <a:off x="2208" y="2112"/>
              <a:ext cx="672" cy="96"/>
            </a:xfrm>
            <a:prstGeom prst="line">
              <a:avLst/>
            </a:prstGeom>
            <a:noFill/>
            <a:ln w="57150">
              <a:solidFill>
                <a:srgbClr val="3366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39" name="Text Box 58"/>
            <p:cNvSpPr txBox="1">
              <a:spLocks noChangeArrowheads="1"/>
            </p:cNvSpPr>
            <p:nvPr/>
          </p:nvSpPr>
          <p:spPr bwMode="auto">
            <a:xfrm>
              <a:off x="2880" y="2016"/>
              <a:ext cx="5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solidFill>
                    <a:srgbClr val="FF0000"/>
                  </a:solidFill>
                  <a:ea typeface="楷体_GB2312" pitchFamily="49" charset="-122"/>
                </a:rPr>
                <a:t>R</a:t>
              </a:r>
              <a:endParaRPr lang="en-US" altLang="zh-CN" b="1" i="1">
                <a:solidFill>
                  <a:srgbClr val="FF0000"/>
                </a:solidFill>
                <a:ea typeface="楷体_GB2312" pitchFamily="49" charset="-122"/>
              </a:endParaRPr>
            </a:p>
          </p:txBody>
        </p:sp>
      </p:grpSp>
      <p:sp>
        <p:nvSpPr>
          <p:cNvPr id="72763" name="Line 59"/>
          <p:cNvSpPr>
            <a:spLocks noChangeShapeType="1"/>
          </p:cNvSpPr>
          <p:nvPr/>
        </p:nvSpPr>
        <p:spPr bwMode="auto">
          <a:xfrm>
            <a:off x="2378075" y="3457575"/>
            <a:ext cx="0" cy="841375"/>
          </a:xfrm>
          <a:prstGeom prst="line">
            <a:avLst/>
          </a:prstGeom>
          <a:noFill/>
          <a:ln w="12700">
            <a:solidFill>
              <a:srgbClr val="3366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764" name="Text Box 60"/>
          <p:cNvSpPr txBox="1">
            <a:spLocks noChangeArrowheads="1"/>
          </p:cNvSpPr>
          <p:nvPr/>
        </p:nvSpPr>
        <p:spPr bwMode="auto">
          <a:xfrm>
            <a:off x="1905000" y="3505200"/>
            <a:ext cx="622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FF0000"/>
                </a:solidFill>
                <a:ea typeface="楷体_GB2312" pitchFamily="49" charset="-122"/>
                <a:sym typeface="Symbol" panose="05050102010706020507" pitchFamily="18" charset="2"/>
              </a:rPr>
              <a:t></a:t>
            </a:r>
            <a:endParaRPr lang="en-US" altLang="zh-CN" b="1">
              <a:solidFill>
                <a:srgbClr val="FF0000"/>
              </a:solidFill>
              <a:ea typeface="楷体_GB2312" pitchFamily="49" charset="-122"/>
              <a:sym typeface="Symbol" panose="05050102010706020507" pitchFamily="18" charset="2"/>
            </a:endParaRPr>
          </a:p>
        </p:txBody>
      </p:sp>
      <p:sp>
        <p:nvSpPr>
          <p:cNvPr id="72765" name="Freeform 61"/>
          <p:cNvSpPr/>
          <p:nvPr/>
        </p:nvSpPr>
        <p:spPr bwMode="auto">
          <a:xfrm>
            <a:off x="2057400" y="3352800"/>
            <a:ext cx="330200" cy="396875"/>
          </a:xfrm>
          <a:custGeom>
            <a:avLst/>
            <a:gdLst>
              <a:gd name="T0" fmla="*/ 0 w 100"/>
              <a:gd name="T1" fmla="*/ 0 h 79"/>
              <a:gd name="T2" fmla="*/ 2147483646 w 100"/>
              <a:gd name="T3" fmla="*/ 2147483646 h 79"/>
              <a:gd name="T4" fmla="*/ 2147483646 w 100"/>
              <a:gd name="T5" fmla="*/ 2147483646 h 79"/>
              <a:gd name="T6" fmla="*/ 0 60000 65536"/>
              <a:gd name="T7" fmla="*/ 0 60000 65536"/>
              <a:gd name="T8" fmla="*/ 0 60000 65536"/>
              <a:gd name="T9" fmla="*/ 0 w 100"/>
              <a:gd name="T10" fmla="*/ 0 h 79"/>
              <a:gd name="T11" fmla="*/ 100 w 100"/>
              <a:gd name="T12" fmla="*/ 79 h 79"/>
            </a:gdLst>
            <a:ahLst/>
            <a:cxnLst>
              <a:cxn ang="T6">
                <a:pos x="T0" y="T1"/>
              </a:cxn>
              <a:cxn ang="T7">
                <a:pos x="T2" y="T3"/>
              </a:cxn>
              <a:cxn ang="T8">
                <a:pos x="T4" y="T5"/>
              </a:cxn>
            </a:cxnLst>
            <a:rect l="T9" t="T10" r="T11" b="T12"/>
            <a:pathLst>
              <a:path w="100" h="79">
                <a:moveTo>
                  <a:pt x="0" y="0"/>
                </a:moveTo>
                <a:cubicBezTo>
                  <a:pt x="13" y="19"/>
                  <a:pt x="27" y="38"/>
                  <a:pt x="44" y="51"/>
                </a:cubicBezTo>
                <a:cubicBezTo>
                  <a:pt x="61" y="64"/>
                  <a:pt x="92" y="72"/>
                  <a:pt x="100" y="79"/>
                </a:cubicBezTo>
              </a:path>
            </a:pathLst>
          </a:custGeom>
          <a:noFill/>
          <a:ln w="28575">
            <a:solidFill>
              <a:srgbClr val="3366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766" name="Line 62"/>
          <p:cNvSpPr>
            <a:spLocks noChangeShapeType="1"/>
          </p:cNvSpPr>
          <p:nvPr/>
        </p:nvSpPr>
        <p:spPr bwMode="auto">
          <a:xfrm>
            <a:off x="3482975" y="3325813"/>
            <a:ext cx="3175" cy="877887"/>
          </a:xfrm>
          <a:prstGeom prst="line">
            <a:avLst/>
          </a:prstGeom>
          <a:noFill/>
          <a:ln w="12700">
            <a:solidFill>
              <a:srgbClr val="3366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1" name="Group 63"/>
          <p:cNvGrpSpPr/>
          <p:nvPr/>
        </p:nvGrpSpPr>
        <p:grpSpPr bwMode="auto">
          <a:xfrm>
            <a:off x="3505200" y="3581400"/>
            <a:ext cx="622300" cy="457200"/>
            <a:chOff x="2208" y="2256"/>
            <a:chExt cx="392" cy="288"/>
          </a:xfrm>
        </p:grpSpPr>
        <p:sp>
          <p:nvSpPr>
            <p:cNvPr id="47136" name="Freeform 64"/>
            <p:cNvSpPr/>
            <p:nvPr/>
          </p:nvSpPr>
          <p:spPr bwMode="auto">
            <a:xfrm rot="-1260580">
              <a:off x="2208" y="2256"/>
              <a:ext cx="240" cy="48"/>
            </a:xfrm>
            <a:custGeom>
              <a:avLst/>
              <a:gdLst>
                <a:gd name="T0" fmla="*/ 0 w 101"/>
                <a:gd name="T1" fmla="*/ 20595013 h 21"/>
                <a:gd name="T2" fmla="*/ 331785593 w 101"/>
                <a:gd name="T3" fmla="*/ 58347426 h 21"/>
                <a:gd name="T4" fmla="*/ 588693429 w 101"/>
                <a:gd name="T5" fmla="*/ 0 h 21"/>
                <a:gd name="T6" fmla="*/ 0 60000 65536"/>
                <a:gd name="T7" fmla="*/ 0 60000 65536"/>
                <a:gd name="T8" fmla="*/ 0 60000 65536"/>
                <a:gd name="T9" fmla="*/ 0 w 101"/>
                <a:gd name="T10" fmla="*/ 0 h 21"/>
                <a:gd name="T11" fmla="*/ 101 w 101"/>
                <a:gd name="T12" fmla="*/ 21 h 21"/>
              </a:gdLst>
              <a:ahLst/>
              <a:cxnLst>
                <a:cxn ang="T6">
                  <a:pos x="T0" y="T1"/>
                </a:cxn>
                <a:cxn ang="T7">
                  <a:pos x="T2" y="T3"/>
                </a:cxn>
                <a:cxn ang="T8">
                  <a:pos x="T4" y="T5"/>
                </a:cxn>
              </a:cxnLst>
              <a:rect l="T9" t="T10" r="T11" b="T12"/>
              <a:pathLst>
                <a:path w="101" h="21">
                  <a:moveTo>
                    <a:pt x="0" y="7"/>
                  </a:moveTo>
                  <a:cubicBezTo>
                    <a:pt x="20" y="14"/>
                    <a:pt x="40" y="21"/>
                    <a:pt x="57" y="20"/>
                  </a:cubicBezTo>
                  <a:cubicBezTo>
                    <a:pt x="74" y="19"/>
                    <a:pt x="88" y="2"/>
                    <a:pt x="101" y="0"/>
                  </a:cubicBezTo>
                </a:path>
              </a:pathLst>
            </a:custGeom>
            <a:noFill/>
            <a:ln w="12700">
              <a:solidFill>
                <a:srgbClr val="3366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137" name="Text Box 65"/>
            <p:cNvSpPr txBox="1">
              <a:spLocks noChangeArrowheads="1"/>
            </p:cNvSpPr>
            <p:nvPr/>
          </p:nvSpPr>
          <p:spPr bwMode="auto">
            <a:xfrm>
              <a:off x="2208" y="2256"/>
              <a:ext cx="3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FF0000"/>
                  </a:solidFill>
                  <a:ea typeface="楷体_GB2312" pitchFamily="49" charset="-122"/>
                  <a:sym typeface="Symbol" panose="05050102010706020507" pitchFamily="18" charset="2"/>
                </a:rPr>
                <a:t></a:t>
              </a:r>
              <a:endParaRPr lang="en-US" altLang="zh-CN" b="1">
                <a:solidFill>
                  <a:srgbClr val="FF0000"/>
                </a:solidFill>
                <a:ea typeface="楷体_GB2312" pitchFamily="49" charset="-122"/>
              </a:endParaRPr>
            </a:p>
          </p:txBody>
        </p:sp>
      </p:grpSp>
      <p:sp>
        <p:nvSpPr>
          <p:cNvPr id="65" name="Rectangle 6"/>
          <p:cNvSpPr>
            <a:spLocks noChangeArrowheads="1"/>
          </p:cNvSpPr>
          <p:nvPr/>
        </p:nvSpPr>
        <p:spPr bwMode="auto">
          <a:xfrm>
            <a:off x="-3175" y="-9842"/>
            <a:ext cx="3617913"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§6.4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库仑土压力理论</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dissolv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right)">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72742"/>
                                        </p:tgtEl>
                                        <p:attrNameLst>
                                          <p:attrName>style.visibility</p:attrName>
                                        </p:attrNameLst>
                                      </p:cBhvr>
                                      <p:to>
                                        <p:strVal val="visible"/>
                                      </p:to>
                                    </p:set>
                                    <p:animEffect transition="in" filter="dissolve">
                                      <p:cBhvr>
                                        <p:cTn id="37" dur="500"/>
                                        <p:tgtEl>
                                          <p:spTgt spid="72742"/>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dissolve">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72726"/>
                                        </p:tgtEl>
                                        <p:attrNameLst>
                                          <p:attrName>style.visibility</p:attrName>
                                        </p:attrNameLst>
                                      </p:cBhvr>
                                      <p:to>
                                        <p:strVal val="visible"/>
                                      </p:to>
                                    </p:set>
                                    <p:animEffect transition="in" filter="wipe(up)">
                                      <p:cBhvr>
                                        <p:cTn id="47" dur="500"/>
                                        <p:tgtEl>
                                          <p:spTgt spid="72726"/>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72731"/>
                                        </p:tgtEl>
                                        <p:attrNameLst>
                                          <p:attrName>style.visibility</p:attrName>
                                        </p:attrNameLst>
                                      </p:cBhvr>
                                      <p:to>
                                        <p:strVal val="visible"/>
                                      </p:to>
                                    </p:set>
                                    <p:animEffect transition="in" filter="dissolve">
                                      <p:cBhvr>
                                        <p:cTn id="52" dur="500"/>
                                        <p:tgtEl>
                                          <p:spTgt spid="72731"/>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72727"/>
                                        </p:tgtEl>
                                        <p:attrNameLst>
                                          <p:attrName>style.visibility</p:attrName>
                                        </p:attrNameLst>
                                      </p:cBhvr>
                                      <p:to>
                                        <p:strVal val="visible"/>
                                      </p:to>
                                    </p:set>
                                    <p:animEffect transition="in" filter="dissolve">
                                      <p:cBhvr>
                                        <p:cTn id="57" dur="500"/>
                                        <p:tgtEl>
                                          <p:spTgt spid="72727"/>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72733"/>
                                        </p:tgtEl>
                                        <p:attrNameLst>
                                          <p:attrName>style.visibility</p:attrName>
                                        </p:attrNameLst>
                                      </p:cBhvr>
                                      <p:to>
                                        <p:strVal val="visible"/>
                                      </p:to>
                                    </p:set>
                                    <p:animEffect transition="in" filter="dissolve">
                                      <p:cBhvr>
                                        <p:cTn id="62" dur="500"/>
                                        <p:tgtEl>
                                          <p:spTgt spid="7273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2" fill="hold" nodeType="clickEffect">
                                  <p:stCondLst>
                                    <p:cond delay="0"/>
                                  </p:stCondLst>
                                  <p:childTnLst>
                                    <p:set>
                                      <p:cBhvr>
                                        <p:cTn id="66" dur="1" fill="hold">
                                          <p:stCondLst>
                                            <p:cond delay="0"/>
                                          </p:stCondLst>
                                        </p:cTn>
                                        <p:tgtEl>
                                          <p:spTgt spid="72728"/>
                                        </p:tgtEl>
                                        <p:attrNameLst>
                                          <p:attrName>style.visibility</p:attrName>
                                        </p:attrNameLst>
                                      </p:cBhvr>
                                      <p:to>
                                        <p:strVal val="visible"/>
                                      </p:to>
                                    </p:set>
                                    <p:animEffect transition="in" filter="wipe(right)">
                                      <p:cBhvr>
                                        <p:cTn id="67" dur="500"/>
                                        <p:tgtEl>
                                          <p:spTgt spid="72728"/>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72732"/>
                                        </p:tgtEl>
                                        <p:attrNameLst>
                                          <p:attrName>style.visibility</p:attrName>
                                        </p:attrNameLst>
                                      </p:cBhvr>
                                      <p:to>
                                        <p:strVal val="visible"/>
                                      </p:to>
                                    </p:set>
                                    <p:animEffect transition="in" filter="dissolve">
                                      <p:cBhvr>
                                        <p:cTn id="72" dur="500"/>
                                        <p:tgtEl>
                                          <p:spTgt spid="72732"/>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nodeType="clickEffect">
                                  <p:stCondLst>
                                    <p:cond delay="0"/>
                                  </p:stCondLst>
                                  <p:childTnLst>
                                    <p:set>
                                      <p:cBhvr>
                                        <p:cTn id="76" dur="1" fill="hold">
                                          <p:stCondLst>
                                            <p:cond delay="0"/>
                                          </p:stCondLst>
                                        </p:cTn>
                                        <p:tgtEl>
                                          <p:spTgt spid="72730"/>
                                        </p:tgtEl>
                                        <p:attrNameLst>
                                          <p:attrName>style.visibility</p:attrName>
                                        </p:attrNameLst>
                                      </p:cBhvr>
                                      <p:to>
                                        <p:strVal val="visible"/>
                                      </p:to>
                                    </p:set>
                                    <p:animEffect transition="in" filter="dissolve">
                                      <p:cBhvr>
                                        <p:cTn id="77" dur="500"/>
                                        <p:tgtEl>
                                          <p:spTgt spid="72730"/>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nodeType="clickEffect">
                                  <p:stCondLst>
                                    <p:cond delay="0"/>
                                  </p:stCondLst>
                                  <p:childTnLst>
                                    <p:set>
                                      <p:cBhvr>
                                        <p:cTn id="81" dur="1" fill="hold">
                                          <p:stCondLst>
                                            <p:cond delay="0"/>
                                          </p:stCondLst>
                                        </p:cTn>
                                        <p:tgtEl>
                                          <p:spTgt spid="72763"/>
                                        </p:tgtEl>
                                        <p:attrNameLst>
                                          <p:attrName>style.visibility</p:attrName>
                                        </p:attrNameLst>
                                      </p:cBhvr>
                                      <p:to>
                                        <p:strVal val="visible"/>
                                      </p:to>
                                    </p:set>
                                    <p:animEffect transition="in" filter="wipe(up)">
                                      <p:cBhvr>
                                        <p:cTn id="82" dur="500"/>
                                        <p:tgtEl>
                                          <p:spTgt spid="72763"/>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ntr" presetSubtype="0" fill="hold" nodeType="clickEffect">
                                  <p:stCondLst>
                                    <p:cond delay="0"/>
                                  </p:stCondLst>
                                  <p:childTnLst>
                                    <p:set>
                                      <p:cBhvr>
                                        <p:cTn id="86" dur="1" fill="hold">
                                          <p:stCondLst>
                                            <p:cond delay="0"/>
                                          </p:stCondLst>
                                        </p:cTn>
                                        <p:tgtEl>
                                          <p:spTgt spid="72765"/>
                                        </p:tgtEl>
                                        <p:attrNameLst>
                                          <p:attrName>style.visibility</p:attrName>
                                        </p:attrNameLst>
                                      </p:cBhvr>
                                      <p:to>
                                        <p:strVal val="visible"/>
                                      </p:to>
                                    </p:set>
                                    <p:animEffect transition="in" filter="dissolve">
                                      <p:cBhvr>
                                        <p:cTn id="87" dur="500"/>
                                        <p:tgtEl>
                                          <p:spTgt spid="72765"/>
                                        </p:tgtEl>
                                      </p:cBhvr>
                                    </p:animEffect>
                                  </p:childTnLst>
                                </p:cTn>
                              </p:par>
                            </p:childTnLst>
                          </p:cTn>
                        </p:par>
                      </p:childTnLst>
                    </p:cTn>
                  </p:par>
                  <p:par>
                    <p:cTn id="88" fill="hold">
                      <p:stCondLst>
                        <p:cond delay="indefinite"/>
                      </p:stCondLst>
                      <p:childTnLst>
                        <p:par>
                          <p:cTn id="89" fill="hold">
                            <p:stCondLst>
                              <p:cond delay="0"/>
                            </p:stCondLst>
                            <p:childTnLst>
                              <p:par>
                                <p:cTn id="90" presetID="9" presetClass="entr" presetSubtype="0" fill="hold" grpId="0" nodeType="clickEffect">
                                  <p:stCondLst>
                                    <p:cond delay="0"/>
                                  </p:stCondLst>
                                  <p:childTnLst>
                                    <p:set>
                                      <p:cBhvr>
                                        <p:cTn id="91" dur="1" fill="hold">
                                          <p:stCondLst>
                                            <p:cond delay="0"/>
                                          </p:stCondLst>
                                        </p:cTn>
                                        <p:tgtEl>
                                          <p:spTgt spid="72764"/>
                                        </p:tgtEl>
                                        <p:attrNameLst>
                                          <p:attrName>style.visibility</p:attrName>
                                        </p:attrNameLst>
                                      </p:cBhvr>
                                      <p:to>
                                        <p:strVal val="visible"/>
                                      </p:to>
                                    </p:set>
                                    <p:animEffect transition="in" filter="dissolve">
                                      <p:cBhvr>
                                        <p:cTn id="92" dur="500"/>
                                        <p:tgtEl>
                                          <p:spTgt spid="72764"/>
                                        </p:tgtEl>
                                      </p:cBhvr>
                                    </p:animEffect>
                                  </p:childTnLst>
                                </p:cTn>
                              </p:par>
                            </p:childTnLst>
                          </p:cTn>
                        </p:par>
                        <p:par>
                          <p:cTn id="93" fill="hold">
                            <p:stCondLst>
                              <p:cond delay="500"/>
                            </p:stCondLst>
                            <p:childTnLst>
                              <p:par>
                                <p:cTn id="94" presetID="9" presetClass="entr" presetSubtype="0" fill="hold" grpId="0" nodeType="afterEffect">
                                  <p:stCondLst>
                                    <p:cond delay="0"/>
                                  </p:stCondLst>
                                  <p:childTnLst>
                                    <p:set>
                                      <p:cBhvr>
                                        <p:cTn id="95" dur="1" fill="hold">
                                          <p:stCondLst>
                                            <p:cond delay="0"/>
                                          </p:stCondLst>
                                        </p:cTn>
                                        <p:tgtEl>
                                          <p:spTgt spid="72734"/>
                                        </p:tgtEl>
                                        <p:attrNameLst>
                                          <p:attrName>style.visibility</p:attrName>
                                        </p:attrNameLst>
                                      </p:cBhvr>
                                      <p:to>
                                        <p:strVal val="visible"/>
                                      </p:to>
                                    </p:set>
                                    <p:animEffect transition="in" filter="dissolve">
                                      <p:cBhvr>
                                        <p:cTn id="96" dur="500"/>
                                        <p:tgtEl>
                                          <p:spTgt spid="72734"/>
                                        </p:tgtEl>
                                      </p:cBhvr>
                                    </p:animEffect>
                                  </p:childTnLst>
                                </p:cTn>
                              </p:par>
                            </p:childTnLst>
                          </p:cTn>
                        </p:par>
                      </p:childTnLst>
                    </p:cTn>
                  </p:par>
                  <p:par>
                    <p:cTn id="97" fill="hold">
                      <p:stCondLst>
                        <p:cond delay="indefinite"/>
                      </p:stCondLst>
                      <p:childTnLst>
                        <p:par>
                          <p:cTn id="98" fill="hold">
                            <p:stCondLst>
                              <p:cond delay="0"/>
                            </p:stCondLst>
                            <p:childTnLst>
                              <p:par>
                                <p:cTn id="99" presetID="12" presetClass="entr" presetSubtype="1" fill="hold" grpId="0" nodeType="clickEffect">
                                  <p:stCondLst>
                                    <p:cond delay="0"/>
                                  </p:stCondLst>
                                  <p:childTnLst>
                                    <p:set>
                                      <p:cBhvr>
                                        <p:cTn id="100" dur="1" fill="hold">
                                          <p:stCondLst>
                                            <p:cond delay="0"/>
                                          </p:stCondLst>
                                        </p:cTn>
                                        <p:tgtEl>
                                          <p:spTgt spid="72736"/>
                                        </p:tgtEl>
                                        <p:attrNameLst>
                                          <p:attrName>style.visibility</p:attrName>
                                        </p:attrNameLst>
                                      </p:cBhvr>
                                      <p:to>
                                        <p:strVal val="visible"/>
                                      </p:to>
                                    </p:set>
                                    <p:animEffect transition="in" filter="slide(fromTop)">
                                      <p:cBhvr>
                                        <p:cTn id="101" dur="500"/>
                                        <p:tgtEl>
                                          <p:spTgt spid="72736"/>
                                        </p:tgtEl>
                                      </p:cBhvr>
                                    </p:animEffect>
                                  </p:childTnLst>
                                </p:cTn>
                              </p:par>
                            </p:childTnLst>
                          </p:cTn>
                        </p:par>
                      </p:childTnLst>
                    </p:cTn>
                  </p:par>
                  <p:par>
                    <p:cTn id="102" fill="hold">
                      <p:stCondLst>
                        <p:cond delay="indefinite"/>
                      </p:stCondLst>
                      <p:childTnLst>
                        <p:par>
                          <p:cTn id="103" fill="hold">
                            <p:stCondLst>
                              <p:cond delay="0"/>
                            </p:stCondLst>
                            <p:childTnLst>
                              <p:par>
                                <p:cTn id="104" presetID="9" presetClass="entr" presetSubtype="0" fill="hold" nodeType="clickEffect">
                                  <p:stCondLst>
                                    <p:cond delay="0"/>
                                  </p:stCondLst>
                                  <p:childTnLst>
                                    <p:set>
                                      <p:cBhvr>
                                        <p:cTn id="105" dur="1" fill="hold">
                                          <p:stCondLst>
                                            <p:cond delay="0"/>
                                          </p:stCondLst>
                                        </p:cTn>
                                        <p:tgtEl>
                                          <p:spTgt spid="72729"/>
                                        </p:tgtEl>
                                        <p:attrNameLst>
                                          <p:attrName>style.visibility</p:attrName>
                                        </p:attrNameLst>
                                      </p:cBhvr>
                                      <p:to>
                                        <p:strVal val="visible"/>
                                      </p:to>
                                    </p:set>
                                    <p:animEffect transition="in" filter="dissolve">
                                      <p:cBhvr>
                                        <p:cTn id="106" dur="500"/>
                                        <p:tgtEl>
                                          <p:spTgt spid="72729"/>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1" fill="hold" nodeType="clickEffect">
                                  <p:stCondLst>
                                    <p:cond delay="0"/>
                                  </p:stCondLst>
                                  <p:childTnLst>
                                    <p:set>
                                      <p:cBhvr>
                                        <p:cTn id="110" dur="1" fill="hold">
                                          <p:stCondLst>
                                            <p:cond delay="0"/>
                                          </p:stCondLst>
                                        </p:cTn>
                                        <p:tgtEl>
                                          <p:spTgt spid="72766"/>
                                        </p:tgtEl>
                                        <p:attrNameLst>
                                          <p:attrName>style.visibility</p:attrName>
                                        </p:attrNameLst>
                                      </p:cBhvr>
                                      <p:to>
                                        <p:strVal val="visible"/>
                                      </p:to>
                                    </p:set>
                                    <p:animEffect transition="in" filter="wipe(up)">
                                      <p:cBhvr>
                                        <p:cTn id="111" dur="500"/>
                                        <p:tgtEl>
                                          <p:spTgt spid="72766"/>
                                        </p:tgtEl>
                                      </p:cBhvr>
                                    </p:animEffect>
                                  </p:childTnLst>
                                </p:cTn>
                              </p:par>
                            </p:childTnLst>
                          </p:cTn>
                        </p:par>
                      </p:childTnLst>
                    </p:cTn>
                  </p:par>
                  <p:par>
                    <p:cTn id="112" fill="hold">
                      <p:stCondLst>
                        <p:cond delay="indefinite"/>
                      </p:stCondLst>
                      <p:childTnLst>
                        <p:par>
                          <p:cTn id="113" fill="hold">
                            <p:stCondLst>
                              <p:cond delay="0"/>
                            </p:stCondLst>
                            <p:childTnLst>
                              <p:par>
                                <p:cTn id="114" presetID="9" presetClass="entr" presetSubtype="0" fill="hold" nodeType="clickEffect">
                                  <p:stCondLst>
                                    <p:cond delay="0"/>
                                  </p:stCondLst>
                                  <p:childTnLst>
                                    <p:set>
                                      <p:cBhvr>
                                        <p:cTn id="115" dur="1" fill="hold">
                                          <p:stCondLst>
                                            <p:cond delay="0"/>
                                          </p:stCondLst>
                                        </p:cTn>
                                        <p:tgtEl>
                                          <p:spTgt spid="11"/>
                                        </p:tgtEl>
                                        <p:attrNameLst>
                                          <p:attrName>style.visibility</p:attrName>
                                        </p:attrNameLst>
                                      </p:cBhvr>
                                      <p:to>
                                        <p:strVal val="visible"/>
                                      </p:to>
                                    </p:set>
                                    <p:animEffect transition="in" filter="dissolve">
                                      <p:cBhvr>
                                        <p:cTn id="116" dur="500"/>
                                        <p:tgtEl>
                                          <p:spTgt spid="11"/>
                                        </p:tgtEl>
                                      </p:cBhvr>
                                    </p:animEffect>
                                  </p:childTnLst>
                                </p:cTn>
                              </p:par>
                            </p:childTnLst>
                          </p:cTn>
                        </p:par>
                      </p:childTnLst>
                    </p:cTn>
                  </p:par>
                  <p:par>
                    <p:cTn id="117" fill="hold">
                      <p:stCondLst>
                        <p:cond delay="indefinite"/>
                      </p:stCondLst>
                      <p:childTnLst>
                        <p:par>
                          <p:cTn id="118" fill="hold">
                            <p:stCondLst>
                              <p:cond delay="0"/>
                            </p:stCondLst>
                            <p:childTnLst>
                              <p:par>
                                <p:cTn id="119" presetID="9" presetClass="entr" presetSubtype="0" fill="hold" grpId="0" nodeType="clickEffect">
                                  <p:stCondLst>
                                    <p:cond delay="0"/>
                                  </p:stCondLst>
                                  <p:childTnLst>
                                    <p:set>
                                      <p:cBhvr>
                                        <p:cTn id="120" dur="1" fill="hold">
                                          <p:stCondLst>
                                            <p:cond delay="0"/>
                                          </p:stCondLst>
                                        </p:cTn>
                                        <p:tgtEl>
                                          <p:spTgt spid="72735"/>
                                        </p:tgtEl>
                                        <p:attrNameLst>
                                          <p:attrName>style.visibility</p:attrName>
                                        </p:attrNameLst>
                                      </p:cBhvr>
                                      <p:to>
                                        <p:strVal val="visible"/>
                                      </p:to>
                                    </p:set>
                                    <p:animEffect transition="in" filter="dissolve">
                                      <p:cBhvr>
                                        <p:cTn id="121" dur="500"/>
                                        <p:tgtEl>
                                          <p:spTgt spid="72735"/>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nodeType="clickEffect">
                                  <p:stCondLst>
                                    <p:cond delay="0"/>
                                  </p:stCondLst>
                                  <p:childTnLst>
                                    <p:set>
                                      <p:cBhvr>
                                        <p:cTn id="125" dur="1" fill="hold">
                                          <p:stCondLst>
                                            <p:cond delay="0"/>
                                          </p:stCondLst>
                                        </p:cTn>
                                        <p:tgtEl>
                                          <p:spTgt spid="72737"/>
                                        </p:tgtEl>
                                        <p:attrNameLst>
                                          <p:attrName>style.visibility</p:attrName>
                                        </p:attrNameLst>
                                      </p:cBhvr>
                                      <p:to>
                                        <p:strVal val="visible"/>
                                      </p:to>
                                    </p:set>
                                    <p:animEffect transition="in" filter="wipe(left)">
                                      <p:cBhvr>
                                        <p:cTn id="126" dur="500"/>
                                        <p:tgtEl>
                                          <p:spTgt spid="72737"/>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nodeType="clickEffect">
                                  <p:stCondLst>
                                    <p:cond delay="0"/>
                                  </p:stCondLst>
                                  <p:childTnLst>
                                    <p:set>
                                      <p:cBhvr>
                                        <p:cTn id="130" dur="1" fill="hold">
                                          <p:stCondLst>
                                            <p:cond delay="0"/>
                                          </p:stCondLst>
                                        </p:cTn>
                                        <p:tgtEl>
                                          <p:spTgt spid="72738"/>
                                        </p:tgtEl>
                                        <p:attrNameLst>
                                          <p:attrName>style.visibility</p:attrName>
                                        </p:attrNameLst>
                                      </p:cBhvr>
                                      <p:to>
                                        <p:strVal val="visible"/>
                                      </p:to>
                                    </p:set>
                                    <p:animEffect transition="in" filter="wipe(left)">
                                      <p:cBhvr>
                                        <p:cTn id="131" dur="500"/>
                                        <p:tgtEl>
                                          <p:spTgt spid="72738"/>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8" fill="hold" grpId="0" nodeType="clickEffect">
                                  <p:stCondLst>
                                    <p:cond delay="0"/>
                                  </p:stCondLst>
                                  <p:childTnLst>
                                    <p:set>
                                      <p:cBhvr>
                                        <p:cTn id="135" dur="1" fill="hold">
                                          <p:stCondLst>
                                            <p:cond delay="0"/>
                                          </p:stCondLst>
                                        </p:cTn>
                                        <p:tgtEl>
                                          <p:spTgt spid="72739"/>
                                        </p:tgtEl>
                                        <p:attrNameLst>
                                          <p:attrName>style.visibility</p:attrName>
                                        </p:attrNameLst>
                                      </p:cBhvr>
                                      <p:to>
                                        <p:strVal val="visible"/>
                                      </p:to>
                                    </p:set>
                                    <p:animEffect transition="in" filter="wipe(left)">
                                      <p:cBhvr>
                                        <p:cTn id="136" dur="500"/>
                                        <p:tgtEl>
                                          <p:spTgt spid="72739"/>
                                        </p:tgtEl>
                                      </p:cBhvr>
                                    </p:animEffect>
                                  </p:childTnLst>
                                </p:cTn>
                              </p:par>
                            </p:childTnLst>
                          </p:cTn>
                        </p:par>
                        <p:par>
                          <p:cTn id="137" fill="hold">
                            <p:stCondLst>
                              <p:cond delay="500"/>
                            </p:stCondLst>
                            <p:childTnLst>
                              <p:par>
                                <p:cTn id="138" presetID="12" presetClass="entr" presetSubtype="8" fill="hold" grpId="0" nodeType="afterEffect">
                                  <p:stCondLst>
                                    <p:cond delay="0"/>
                                  </p:stCondLst>
                                  <p:childTnLst>
                                    <p:set>
                                      <p:cBhvr>
                                        <p:cTn id="139" dur="1" fill="hold">
                                          <p:stCondLst>
                                            <p:cond delay="0"/>
                                          </p:stCondLst>
                                        </p:cTn>
                                        <p:tgtEl>
                                          <p:spTgt spid="72740"/>
                                        </p:tgtEl>
                                        <p:attrNameLst>
                                          <p:attrName>style.visibility</p:attrName>
                                        </p:attrNameLst>
                                      </p:cBhvr>
                                      <p:to>
                                        <p:strVal val="visible"/>
                                      </p:to>
                                    </p:set>
                                    <p:animEffect transition="in" filter="slide(fromLeft)">
                                      <p:cBhvr>
                                        <p:cTn id="140" dur="500"/>
                                        <p:tgtEl>
                                          <p:spTgt spid="727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31" grpId="0" autoUpdateAnimBg="0"/>
      <p:bldP spid="72732" grpId="0" autoUpdateAnimBg="0"/>
      <p:bldP spid="72733" grpId="0" autoUpdateAnimBg="0"/>
      <p:bldP spid="72734" grpId="0" autoUpdateAnimBg="0"/>
      <p:bldP spid="72735" grpId="0" autoUpdateAnimBg="0"/>
      <p:bldP spid="72736" grpId="0" autoUpdateAnimBg="0"/>
      <p:bldP spid="72739" grpId="0" animBg="1"/>
      <p:bldP spid="72740" grpId="0" animBg="1" autoUpdateAnimBg="0"/>
      <p:bldP spid="72764"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3730" name="Object 2"/>
          <p:cNvGraphicFramePr>
            <a:graphicFrameLocks noChangeAspect="1"/>
          </p:cNvGraphicFramePr>
          <p:nvPr/>
        </p:nvGraphicFramePr>
        <p:xfrm>
          <a:off x="1143000" y="1524000"/>
          <a:ext cx="1790700" cy="814388"/>
        </p:xfrm>
        <a:graphic>
          <a:graphicData uri="http://schemas.openxmlformats.org/presentationml/2006/ole">
            <mc:AlternateContent xmlns:mc="http://schemas.openxmlformats.org/markup-compatibility/2006">
              <mc:Choice xmlns:v="urn:schemas-microsoft-com:vml" Requires="v">
                <p:oleObj spid="_x0000_s17434" name="Equation" r:id="rId1" imgW="914400" imgH="393700" progId="Equation.3">
                  <p:embed/>
                </p:oleObj>
              </mc:Choice>
              <mc:Fallback>
                <p:oleObj name="Equation" r:id="rId1" imgW="914400" imgH="3937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524000"/>
                        <a:ext cx="1790700" cy="814388"/>
                      </a:xfrm>
                      <a:prstGeom prst="rect">
                        <a:avLst/>
                      </a:prstGeom>
                      <a:solidFill>
                        <a:schemeClr val="accent1"/>
                      </a:solidFill>
                      <a:ln>
                        <a:noFill/>
                      </a:ln>
                      <a:effectLst/>
                      <a:extLst>
                        <a:ext uri="{91240B29-F687-4F45-9708-019B960494DF}">
                          <a14:hiddenLine xmlns:a14="http://schemas.microsoft.com/office/drawing/2010/main" w="12700">
                            <a:solidFill>
                              <a:srgbClr val="CCFFC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4"/>
          <p:cNvGrpSpPr/>
          <p:nvPr/>
        </p:nvGrpSpPr>
        <p:grpSpPr bwMode="auto">
          <a:xfrm>
            <a:off x="4419600" y="762000"/>
            <a:ext cx="3352800" cy="2108200"/>
            <a:chOff x="2784" y="480"/>
            <a:chExt cx="2112" cy="1328"/>
          </a:xfrm>
        </p:grpSpPr>
        <p:sp>
          <p:nvSpPr>
            <p:cNvPr id="48166" name="AutoShape 5"/>
            <p:cNvSpPr>
              <a:spLocks noChangeArrowheads="1"/>
            </p:cNvSpPr>
            <p:nvPr/>
          </p:nvSpPr>
          <p:spPr bwMode="auto">
            <a:xfrm rot="10800000">
              <a:off x="2784" y="912"/>
              <a:ext cx="720" cy="89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8 h 21600"/>
                <a:gd name="T14" fmla="*/ 17100 w 21600"/>
                <a:gd name="T15" fmla="*/ 17092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CCECFF"/>
            </a:solidFill>
            <a:ln w="34925">
              <a:solidFill>
                <a:schemeClr val="folHlink"/>
              </a:solidFill>
              <a:miter lim="800000"/>
            </a:ln>
          </p:spPr>
          <p:txBody>
            <a:bodyPr wrap="none" anchor="ctr"/>
            <a:lstStyle/>
            <a:p>
              <a:endParaRPr lang="zh-CN" altLang="en-US"/>
            </a:p>
          </p:txBody>
        </p:sp>
        <p:sp>
          <p:nvSpPr>
            <p:cNvPr id="48167" name="Line 6"/>
            <p:cNvSpPr>
              <a:spLocks noChangeShapeType="1"/>
            </p:cNvSpPr>
            <p:nvPr/>
          </p:nvSpPr>
          <p:spPr bwMode="auto">
            <a:xfrm>
              <a:off x="3312" y="912"/>
              <a:ext cx="1" cy="43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168" name="Rectangle 7"/>
            <p:cNvSpPr>
              <a:spLocks noChangeArrowheads="1"/>
            </p:cNvSpPr>
            <p:nvPr/>
          </p:nvSpPr>
          <p:spPr bwMode="auto">
            <a:xfrm>
              <a:off x="3216" y="1008"/>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en-US" altLang="zh-CN" b="1">
                  <a:solidFill>
                    <a:srgbClr val="993300"/>
                  </a:solidFill>
                  <a:ea typeface="仿宋_GB2312" pitchFamily="49" charset="-122"/>
                  <a:sym typeface="Symbol" panose="05050102010706020507" pitchFamily="18" charset="2"/>
                </a:rPr>
                <a:t></a:t>
              </a:r>
              <a:endParaRPr lang="en-US" altLang="zh-CN" b="1">
                <a:solidFill>
                  <a:srgbClr val="993300"/>
                </a:solidFill>
                <a:ea typeface="仿宋_GB2312" pitchFamily="49" charset="-122"/>
                <a:sym typeface="Symbol" panose="05050102010706020507" pitchFamily="18" charset="2"/>
              </a:endParaRPr>
            </a:p>
          </p:txBody>
        </p:sp>
        <p:sp>
          <p:nvSpPr>
            <p:cNvPr id="48169" name="Line 8"/>
            <p:cNvSpPr>
              <a:spLocks noChangeShapeType="1"/>
            </p:cNvSpPr>
            <p:nvPr/>
          </p:nvSpPr>
          <p:spPr bwMode="auto">
            <a:xfrm>
              <a:off x="3312" y="912"/>
              <a:ext cx="480"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170" name="Rectangle 9"/>
            <p:cNvSpPr>
              <a:spLocks noChangeArrowheads="1"/>
            </p:cNvSpPr>
            <p:nvPr/>
          </p:nvSpPr>
          <p:spPr bwMode="auto">
            <a:xfrm>
              <a:off x="3504" y="768"/>
              <a:ext cx="2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en-US" altLang="zh-CN" sz="2000" b="1">
                  <a:solidFill>
                    <a:srgbClr val="993300"/>
                  </a:solidFill>
                  <a:ea typeface="仿宋_GB2312" pitchFamily="49" charset="-122"/>
                  <a:sym typeface="Symbol" panose="05050102010706020507" pitchFamily="18" charset="2"/>
                </a:rPr>
                <a:t></a:t>
              </a:r>
              <a:endParaRPr lang="en-US" altLang="zh-CN" sz="2000" b="1">
                <a:solidFill>
                  <a:srgbClr val="993300"/>
                </a:solidFill>
                <a:ea typeface="仿宋_GB2312" pitchFamily="49" charset="-122"/>
                <a:sym typeface="Symbol" panose="05050102010706020507" pitchFamily="18" charset="2"/>
              </a:endParaRPr>
            </a:p>
          </p:txBody>
        </p:sp>
        <p:sp>
          <p:nvSpPr>
            <p:cNvPr id="48171" name="Line 10"/>
            <p:cNvSpPr>
              <a:spLocks noChangeShapeType="1"/>
            </p:cNvSpPr>
            <p:nvPr/>
          </p:nvSpPr>
          <p:spPr bwMode="auto">
            <a:xfrm flipV="1">
              <a:off x="3312" y="480"/>
              <a:ext cx="1584" cy="432"/>
            </a:xfrm>
            <a:prstGeom prst="line">
              <a:avLst/>
            </a:prstGeom>
            <a:noFill/>
            <a:ln w="349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172" name="Line 11"/>
            <p:cNvSpPr>
              <a:spLocks noChangeShapeType="1"/>
            </p:cNvSpPr>
            <p:nvPr/>
          </p:nvSpPr>
          <p:spPr bwMode="auto">
            <a:xfrm flipV="1">
              <a:off x="3504" y="672"/>
              <a:ext cx="672" cy="1104"/>
            </a:xfrm>
            <a:prstGeom prst="line">
              <a:avLst/>
            </a:prstGeom>
            <a:noFill/>
            <a:ln w="34925">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12"/>
          <p:cNvGrpSpPr/>
          <p:nvPr/>
        </p:nvGrpSpPr>
        <p:grpSpPr bwMode="auto">
          <a:xfrm>
            <a:off x="4724400" y="2209800"/>
            <a:ext cx="685800" cy="396875"/>
            <a:chOff x="2976" y="1392"/>
            <a:chExt cx="432" cy="250"/>
          </a:xfrm>
        </p:grpSpPr>
        <p:sp>
          <p:nvSpPr>
            <p:cNvPr id="48164" name="Rectangle 13"/>
            <p:cNvSpPr>
              <a:spLocks noChangeArrowheads="1"/>
            </p:cNvSpPr>
            <p:nvPr/>
          </p:nvSpPr>
          <p:spPr bwMode="auto">
            <a:xfrm>
              <a:off x="3120" y="1392"/>
              <a:ext cx="1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en-US" altLang="zh-CN" sz="2000" b="1">
                  <a:solidFill>
                    <a:srgbClr val="993300"/>
                  </a:solidFill>
                  <a:sym typeface="Symbol" panose="05050102010706020507" pitchFamily="18" charset="2"/>
                </a:rPr>
                <a:t></a:t>
              </a:r>
              <a:endParaRPr lang="en-US" altLang="zh-CN" sz="2000" b="1">
                <a:solidFill>
                  <a:srgbClr val="993300"/>
                </a:solidFill>
                <a:sym typeface="Symbol" panose="05050102010706020507" pitchFamily="18" charset="2"/>
              </a:endParaRPr>
            </a:p>
          </p:txBody>
        </p:sp>
        <p:sp>
          <p:nvSpPr>
            <p:cNvPr id="48165" name="Line 14"/>
            <p:cNvSpPr>
              <a:spLocks noChangeShapeType="1"/>
            </p:cNvSpPr>
            <p:nvPr/>
          </p:nvSpPr>
          <p:spPr bwMode="auto">
            <a:xfrm flipH="1">
              <a:off x="2976" y="1488"/>
              <a:ext cx="432" cy="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15"/>
          <p:cNvGrpSpPr/>
          <p:nvPr/>
        </p:nvGrpSpPr>
        <p:grpSpPr bwMode="auto">
          <a:xfrm>
            <a:off x="4724400" y="1752600"/>
            <a:ext cx="781050" cy="615950"/>
            <a:chOff x="2976" y="1104"/>
            <a:chExt cx="492" cy="388"/>
          </a:xfrm>
        </p:grpSpPr>
        <p:sp>
          <p:nvSpPr>
            <p:cNvPr id="48162" name="AutoShape 16"/>
            <p:cNvSpPr>
              <a:spLocks noChangeArrowheads="1"/>
            </p:cNvSpPr>
            <p:nvPr/>
          </p:nvSpPr>
          <p:spPr bwMode="auto">
            <a:xfrm rot="759741">
              <a:off x="3072" y="1392"/>
              <a:ext cx="396" cy="100"/>
            </a:xfrm>
            <a:prstGeom prst="rightArrow">
              <a:avLst>
                <a:gd name="adj1" fmla="val 50000"/>
                <a:gd name="adj2" fmla="val 99000"/>
              </a:avLst>
            </a:prstGeom>
            <a:solidFill>
              <a:schemeClr val="accent1"/>
            </a:solidFill>
            <a:ln w="9525">
              <a:solidFill>
                <a:srgbClr val="993300"/>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48163" name="Text Box 17"/>
            <p:cNvSpPr txBox="1">
              <a:spLocks noChangeArrowheads="1"/>
            </p:cNvSpPr>
            <p:nvPr/>
          </p:nvSpPr>
          <p:spPr bwMode="auto">
            <a:xfrm>
              <a:off x="2976" y="1104"/>
              <a:ext cx="48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olidFill>
                    <a:srgbClr val="FF0000"/>
                  </a:solidFill>
                  <a:sym typeface="Symbol" panose="05050102010706020507" pitchFamily="18" charset="2"/>
                </a:rPr>
                <a:t>E</a:t>
              </a:r>
              <a:endParaRPr lang="en-US" altLang="zh-CN" sz="2800" b="1">
                <a:solidFill>
                  <a:srgbClr val="FF0000"/>
                </a:solidFill>
                <a:sym typeface="Symbol" panose="05050102010706020507" pitchFamily="18" charset="2"/>
              </a:endParaRPr>
            </a:p>
          </p:txBody>
        </p:sp>
      </p:grpSp>
      <p:sp>
        <p:nvSpPr>
          <p:cNvPr id="73746" name="Text Box 18"/>
          <p:cNvSpPr txBox="1">
            <a:spLocks noChangeArrowheads="1"/>
          </p:cNvSpPr>
          <p:nvPr/>
        </p:nvSpPr>
        <p:spPr bwMode="auto">
          <a:xfrm>
            <a:off x="5791200" y="2438400"/>
            <a:ext cx="60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olidFill>
                  <a:srgbClr val="0000FF"/>
                </a:solidFill>
                <a:sym typeface="Symbol" panose="05050102010706020507" pitchFamily="18" charset="2"/>
              </a:rPr>
              <a:t>E</a:t>
            </a:r>
            <a:r>
              <a:rPr lang="en-US" altLang="zh-CN" sz="2800" b="1" i="1" baseline="-25000">
                <a:solidFill>
                  <a:srgbClr val="0000FF"/>
                </a:solidFill>
                <a:sym typeface="Symbol" panose="05050102010706020507" pitchFamily="18" charset="2"/>
              </a:rPr>
              <a:t>p</a:t>
            </a:r>
            <a:endParaRPr lang="en-US" altLang="zh-CN" sz="2800" b="1" i="1">
              <a:solidFill>
                <a:srgbClr val="0000FF"/>
              </a:solidFill>
              <a:sym typeface="Symbol" panose="05050102010706020507" pitchFamily="18" charset="2"/>
            </a:endParaRPr>
          </a:p>
        </p:txBody>
      </p:sp>
      <p:sp>
        <p:nvSpPr>
          <p:cNvPr id="73747" name="Text Box 19"/>
          <p:cNvSpPr txBox="1">
            <a:spLocks noChangeArrowheads="1"/>
          </p:cNvSpPr>
          <p:nvPr/>
        </p:nvSpPr>
        <p:spPr bwMode="auto">
          <a:xfrm>
            <a:off x="1676400" y="4495800"/>
            <a:ext cx="2706688"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3200" b="1">
                <a:solidFill>
                  <a:srgbClr val="0000FF"/>
                </a:solidFill>
                <a:latin typeface="Arial" panose="020B0604020202020204" pitchFamily="34" charset="0"/>
                <a:ea typeface="华文新魏" panose="02010800040101010101" pitchFamily="2" charset="-122"/>
              </a:rPr>
              <a:t>－</a:t>
            </a:r>
            <a:r>
              <a:rPr kumimoji="0" lang="zh-CN" altLang="en-US" sz="2000" b="1">
                <a:solidFill>
                  <a:srgbClr val="0000FF"/>
                </a:solidFill>
                <a:latin typeface="Arial" panose="020B0604020202020204" pitchFamily="34" charset="0"/>
              </a:rPr>
              <a:t>库仑被动土压力系数</a:t>
            </a:r>
            <a:endParaRPr kumimoji="0" lang="zh-CN" altLang="en-US" sz="2000" b="1">
              <a:solidFill>
                <a:srgbClr val="0000FF"/>
              </a:solidFill>
              <a:latin typeface="Arial" panose="020B0604020202020204" pitchFamily="34" charset="0"/>
            </a:endParaRPr>
          </a:p>
        </p:txBody>
      </p:sp>
      <p:grpSp>
        <p:nvGrpSpPr>
          <p:cNvPr id="5" name="Group 20"/>
          <p:cNvGrpSpPr/>
          <p:nvPr/>
        </p:nvGrpSpPr>
        <p:grpSpPr bwMode="auto">
          <a:xfrm>
            <a:off x="6553200" y="1447800"/>
            <a:ext cx="803275" cy="1447800"/>
            <a:chOff x="1200" y="1776"/>
            <a:chExt cx="528" cy="1200"/>
          </a:xfrm>
        </p:grpSpPr>
        <p:sp>
          <p:nvSpPr>
            <p:cNvPr id="48149" name="Line 21"/>
            <p:cNvSpPr>
              <a:spLocks noChangeShapeType="1"/>
            </p:cNvSpPr>
            <p:nvPr/>
          </p:nvSpPr>
          <p:spPr bwMode="auto">
            <a:xfrm>
              <a:off x="1200" y="1776"/>
              <a:ext cx="528" cy="1200"/>
            </a:xfrm>
            <a:prstGeom prst="line">
              <a:avLst/>
            </a:prstGeom>
            <a:noFill/>
            <a:ln w="34925">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150" name="Line 22"/>
            <p:cNvSpPr>
              <a:spLocks noChangeShapeType="1"/>
            </p:cNvSpPr>
            <p:nvPr/>
          </p:nvSpPr>
          <p:spPr bwMode="auto">
            <a:xfrm rot="10800000">
              <a:off x="1200" y="2976"/>
              <a:ext cx="528" cy="0"/>
            </a:xfrm>
            <a:prstGeom prst="line">
              <a:avLst/>
            </a:prstGeom>
            <a:noFill/>
            <a:ln w="34925">
              <a:solidFill>
                <a:srgbClr val="0000FF"/>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8151" name="Line 23"/>
            <p:cNvSpPr>
              <a:spLocks noChangeShapeType="1"/>
            </p:cNvSpPr>
            <p:nvPr/>
          </p:nvSpPr>
          <p:spPr bwMode="auto">
            <a:xfrm>
              <a:off x="1200" y="2016"/>
              <a:ext cx="96" cy="0"/>
            </a:xfrm>
            <a:prstGeom prst="line">
              <a:avLst/>
            </a:prstGeom>
            <a:noFill/>
            <a:ln w="34925">
              <a:solidFill>
                <a:srgbClr val="0000FF"/>
              </a:solidFill>
              <a:round/>
              <a:head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8152" name="Line 24"/>
            <p:cNvSpPr>
              <a:spLocks noChangeShapeType="1"/>
            </p:cNvSpPr>
            <p:nvPr/>
          </p:nvSpPr>
          <p:spPr bwMode="auto">
            <a:xfrm>
              <a:off x="1200" y="2112"/>
              <a:ext cx="144" cy="0"/>
            </a:xfrm>
            <a:prstGeom prst="line">
              <a:avLst/>
            </a:prstGeom>
            <a:noFill/>
            <a:ln w="34925">
              <a:solidFill>
                <a:srgbClr val="0000FF"/>
              </a:solidFill>
              <a:round/>
              <a:head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8153" name="Line 25"/>
            <p:cNvSpPr>
              <a:spLocks noChangeShapeType="1"/>
            </p:cNvSpPr>
            <p:nvPr/>
          </p:nvSpPr>
          <p:spPr bwMode="auto">
            <a:xfrm flipH="1">
              <a:off x="1200" y="1920"/>
              <a:ext cx="48" cy="0"/>
            </a:xfrm>
            <a:prstGeom prst="line">
              <a:avLst/>
            </a:prstGeom>
            <a:noFill/>
            <a:ln w="34925">
              <a:solidFill>
                <a:srgbClr val="0000FF"/>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8154" name="Line 26"/>
            <p:cNvSpPr>
              <a:spLocks noChangeShapeType="1"/>
            </p:cNvSpPr>
            <p:nvPr/>
          </p:nvSpPr>
          <p:spPr bwMode="auto">
            <a:xfrm rot="10800000" flipH="1">
              <a:off x="1200" y="2208"/>
              <a:ext cx="192" cy="0"/>
            </a:xfrm>
            <a:prstGeom prst="line">
              <a:avLst/>
            </a:prstGeom>
            <a:noFill/>
            <a:ln w="34925">
              <a:solidFill>
                <a:srgbClr val="0000FF"/>
              </a:solidFill>
              <a:round/>
              <a:head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8155" name="Line 27"/>
            <p:cNvSpPr>
              <a:spLocks noChangeShapeType="1"/>
            </p:cNvSpPr>
            <p:nvPr/>
          </p:nvSpPr>
          <p:spPr bwMode="auto">
            <a:xfrm flipH="1">
              <a:off x="1200" y="2304"/>
              <a:ext cx="240" cy="0"/>
            </a:xfrm>
            <a:prstGeom prst="line">
              <a:avLst/>
            </a:prstGeom>
            <a:noFill/>
            <a:ln w="34925">
              <a:solidFill>
                <a:srgbClr val="0000FF"/>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8156" name="Line 28"/>
            <p:cNvSpPr>
              <a:spLocks noChangeShapeType="1"/>
            </p:cNvSpPr>
            <p:nvPr/>
          </p:nvSpPr>
          <p:spPr bwMode="auto">
            <a:xfrm flipH="1">
              <a:off x="1200" y="2400"/>
              <a:ext cx="288" cy="0"/>
            </a:xfrm>
            <a:prstGeom prst="line">
              <a:avLst/>
            </a:prstGeom>
            <a:noFill/>
            <a:ln w="34925">
              <a:solidFill>
                <a:srgbClr val="0000FF"/>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8157" name="Line 29"/>
            <p:cNvSpPr>
              <a:spLocks noChangeShapeType="1"/>
            </p:cNvSpPr>
            <p:nvPr/>
          </p:nvSpPr>
          <p:spPr bwMode="auto">
            <a:xfrm flipH="1">
              <a:off x="1200" y="2496"/>
              <a:ext cx="288" cy="0"/>
            </a:xfrm>
            <a:prstGeom prst="line">
              <a:avLst/>
            </a:prstGeom>
            <a:noFill/>
            <a:ln w="34925">
              <a:solidFill>
                <a:srgbClr val="0000FF"/>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8158" name="Line 30"/>
            <p:cNvSpPr>
              <a:spLocks noChangeShapeType="1"/>
            </p:cNvSpPr>
            <p:nvPr/>
          </p:nvSpPr>
          <p:spPr bwMode="auto">
            <a:xfrm flipH="1">
              <a:off x="1200" y="2592"/>
              <a:ext cx="336" cy="0"/>
            </a:xfrm>
            <a:prstGeom prst="line">
              <a:avLst/>
            </a:prstGeom>
            <a:noFill/>
            <a:ln w="34925">
              <a:solidFill>
                <a:srgbClr val="0000FF"/>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8159" name="Line 31"/>
            <p:cNvSpPr>
              <a:spLocks noChangeShapeType="1"/>
            </p:cNvSpPr>
            <p:nvPr/>
          </p:nvSpPr>
          <p:spPr bwMode="auto">
            <a:xfrm flipH="1">
              <a:off x="1200" y="2688"/>
              <a:ext cx="384" cy="0"/>
            </a:xfrm>
            <a:prstGeom prst="line">
              <a:avLst/>
            </a:prstGeom>
            <a:noFill/>
            <a:ln w="34925">
              <a:solidFill>
                <a:srgbClr val="0000FF"/>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8160" name="Line 32"/>
            <p:cNvSpPr>
              <a:spLocks noChangeShapeType="1"/>
            </p:cNvSpPr>
            <p:nvPr/>
          </p:nvSpPr>
          <p:spPr bwMode="auto">
            <a:xfrm flipH="1">
              <a:off x="1200" y="2784"/>
              <a:ext cx="432" cy="0"/>
            </a:xfrm>
            <a:prstGeom prst="line">
              <a:avLst/>
            </a:prstGeom>
            <a:noFill/>
            <a:ln w="34925">
              <a:solidFill>
                <a:srgbClr val="0000FF"/>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8161" name="Line 33"/>
            <p:cNvSpPr>
              <a:spLocks noChangeShapeType="1"/>
            </p:cNvSpPr>
            <p:nvPr/>
          </p:nvSpPr>
          <p:spPr bwMode="auto">
            <a:xfrm flipH="1">
              <a:off x="1200" y="2880"/>
              <a:ext cx="480" cy="0"/>
            </a:xfrm>
            <a:prstGeom prst="line">
              <a:avLst/>
            </a:prstGeom>
            <a:noFill/>
            <a:ln w="34925">
              <a:solidFill>
                <a:srgbClr val="0000FF"/>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grpSp>
      <p:sp>
        <p:nvSpPr>
          <p:cNvPr id="73762" name="Line 34"/>
          <p:cNvSpPr>
            <a:spLocks noChangeShapeType="1"/>
          </p:cNvSpPr>
          <p:nvPr/>
        </p:nvSpPr>
        <p:spPr bwMode="auto">
          <a:xfrm>
            <a:off x="6553200" y="1447800"/>
            <a:ext cx="1588" cy="1524000"/>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3763" name="Object 35"/>
          <p:cNvGraphicFramePr>
            <a:graphicFrameLocks noChangeAspect="1"/>
          </p:cNvGraphicFramePr>
          <p:nvPr/>
        </p:nvGraphicFramePr>
        <p:xfrm>
          <a:off x="7075488" y="2960688"/>
          <a:ext cx="703262" cy="444500"/>
        </p:xfrm>
        <a:graphic>
          <a:graphicData uri="http://schemas.openxmlformats.org/presentationml/2006/ole">
            <mc:AlternateContent xmlns:mc="http://schemas.openxmlformats.org/markup-compatibility/2006">
              <mc:Choice xmlns:v="urn:schemas-microsoft-com:vml" Requires="v">
                <p:oleObj spid="_x0000_s17435" name="Equation" r:id="rId3" imgW="381000" imgH="241300" progId="Equation.3">
                  <p:embed/>
                </p:oleObj>
              </mc:Choice>
              <mc:Fallback>
                <p:oleObj name="Equation" r:id="rId3" imgW="381000" imgH="241300" progId="Equation.3">
                  <p:embed/>
                  <p:pic>
                    <p:nvPicPr>
                      <p:cNvPr id="0" name="Object 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75488" y="2960688"/>
                        <a:ext cx="703262" cy="444500"/>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 name="Group 36"/>
          <p:cNvGrpSpPr/>
          <p:nvPr/>
        </p:nvGrpSpPr>
        <p:grpSpPr bwMode="auto">
          <a:xfrm>
            <a:off x="7162800" y="2286000"/>
            <a:ext cx="1077913" cy="628650"/>
            <a:chOff x="4512" y="1440"/>
            <a:chExt cx="679" cy="396"/>
          </a:xfrm>
        </p:grpSpPr>
        <p:sp>
          <p:nvSpPr>
            <p:cNvPr id="48145" name="Line 37"/>
            <p:cNvSpPr>
              <a:spLocks noChangeShapeType="1"/>
            </p:cNvSpPr>
            <p:nvPr/>
          </p:nvSpPr>
          <p:spPr bwMode="auto">
            <a:xfrm>
              <a:off x="4752" y="1488"/>
              <a:ext cx="0" cy="336"/>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8146" name="Object 38"/>
            <p:cNvGraphicFramePr>
              <a:graphicFrameLocks noChangeAspect="1"/>
            </p:cNvGraphicFramePr>
            <p:nvPr/>
          </p:nvGraphicFramePr>
          <p:xfrm>
            <a:off x="4896" y="1440"/>
            <a:ext cx="295" cy="396"/>
          </p:xfrm>
          <a:graphic>
            <a:graphicData uri="http://schemas.openxmlformats.org/presentationml/2006/ole">
              <mc:AlternateContent xmlns:mc="http://schemas.openxmlformats.org/markup-compatibility/2006">
                <mc:Choice xmlns:v="urn:schemas-microsoft-com:vml" Requires="v">
                  <p:oleObj spid="_x0000_s17436" name="Equation" r:id="rId5" imgW="292100" imgH="393700" progId="Equation.3">
                    <p:embed/>
                  </p:oleObj>
                </mc:Choice>
                <mc:Fallback>
                  <p:oleObj name="Equation" r:id="rId5" imgW="292100" imgH="393700" progId="Equation.3">
                    <p:embed/>
                    <p:pic>
                      <p:nvPicPr>
                        <p:cNvPr id="0" name="Object 3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96" y="1440"/>
                          <a:ext cx="295" cy="3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47" name="Line 39"/>
            <p:cNvSpPr>
              <a:spLocks noChangeShapeType="1"/>
            </p:cNvSpPr>
            <p:nvPr/>
          </p:nvSpPr>
          <p:spPr bwMode="auto">
            <a:xfrm>
              <a:off x="4512" y="1488"/>
              <a:ext cx="33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148" name="Line 40"/>
            <p:cNvSpPr>
              <a:spLocks noChangeShapeType="1"/>
            </p:cNvSpPr>
            <p:nvPr/>
          </p:nvSpPr>
          <p:spPr bwMode="auto">
            <a:xfrm>
              <a:off x="4704" y="1824"/>
              <a:ext cx="144"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3769" name="Text Box 41"/>
          <p:cNvSpPr txBox="1">
            <a:spLocks noChangeArrowheads="1"/>
          </p:cNvSpPr>
          <p:nvPr/>
        </p:nvSpPr>
        <p:spPr bwMode="auto">
          <a:xfrm>
            <a:off x="755650" y="5319713"/>
            <a:ext cx="39687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b="1" dirty="0" smtClean="0">
                <a:solidFill>
                  <a:srgbClr val="993300"/>
                </a:solidFill>
                <a:latin typeface="+mn-ea"/>
                <a:ea typeface="+mn-ea"/>
              </a:rPr>
              <a:t>土压力分布：</a:t>
            </a:r>
            <a:r>
              <a:rPr kumimoji="0" lang="zh-CN" altLang="en-US" b="1" dirty="0" smtClean="0">
                <a:latin typeface="Arial" panose="020B0604020202020204" pitchFamily="34" charset="0"/>
                <a:ea typeface="楷体_GB2312" pitchFamily="49" charset="-122"/>
              </a:rPr>
              <a:t>三角形分布</a:t>
            </a:r>
            <a:endParaRPr kumimoji="0" lang="zh-CN" altLang="en-US" b="1" dirty="0" smtClean="0">
              <a:latin typeface="Arial" panose="020B0604020202020204" pitchFamily="34" charset="0"/>
              <a:ea typeface="楷体_GB2312" pitchFamily="49" charset="-122"/>
            </a:endParaRPr>
          </a:p>
        </p:txBody>
      </p:sp>
      <p:graphicFrame>
        <p:nvGraphicFramePr>
          <p:cNvPr id="73770" name="Object 42"/>
          <p:cNvGraphicFramePr>
            <a:graphicFrameLocks noChangeAspect="1"/>
          </p:cNvGraphicFramePr>
          <p:nvPr/>
        </p:nvGraphicFramePr>
        <p:xfrm>
          <a:off x="457200" y="3124200"/>
          <a:ext cx="6607175" cy="1393825"/>
        </p:xfrm>
        <a:graphic>
          <a:graphicData uri="http://schemas.openxmlformats.org/presentationml/2006/ole">
            <mc:AlternateContent xmlns:mc="http://schemas.openxmlformats.org/markup-compatibility/2006">
              <mc:Choice xmlns:v="urn:schemas-microsoft-com:vml" Requires="v">
                <p:oleObj spid="_x0000_s17437" name="Equation" r:id="rId7" imgW="3251200" imgH="685800" progId="Equation.3">
                  <p:embed/>
                </p:oleObj>
              </mc:Choice>
              <mc:Fallback>
                <p:oleObj name="Equation" r:id="rId7" imgW="3251200" imgH="685800" progId="Equation.3">
                  <p:embed/>
                  <p:pic>
                    <p:nvPicPr>
                      <p:cNvPr id="0" name="Object 4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 y="3124200"/>
                        <a:ext cx="6607175" cy="139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3771" name="AutoShape 43"/>
          <p:cNvSpPr>
            <a:spLocks noChangeArrowheads="1"/>
          </p:cNvSpPr>
          <p:nvPr/>
        </p:nvSpPr>
        <p:spPr bwMode="auto">
          <a:xfrm rot="-10040259">
            <a:off x="5486400" y="2362200"/>
            <a:ext cx="628650" cy="158750"/>
          </a:xfrm>
          <a:prstGeom prst="rightArrow">
            <a:avLst>
              <a:gd name="adj1" fmla="val 50000"/>
              <a:gd name="adj2" fmla="val 99000"/>
            </a:avLst>
          </a:prstGeom>
          <a:solidFill>
            <a:srgbClr val="CC0099"/>
          </a:solidFill>
          <a:ln w="9525">
            <a:solidFill>
              <a:srgbClr val="993300"/>
            </a:solidFill>
            <a:miter lim="800000"/>
          </a:ln>
        </p:spPr>
        <p:txBody>
          <a:bodyPr rot="10800000"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20000"/>
              </a:spcBef>
            </a:pPr>
            <a:endParaRPr kumimoji="0" lang="zh-CN" altLang="zh-CN" sz="4400">
              <a:solidFill>
                <a:srgbClr val="1C1C1C"/>
              </a:solidFill>
              <a:latin typeface="Arial" panose="020B0604020202020204" pitchFamily="34" charset="0"/>
            </a:endParaRPr>
          </a:p>
        </p:txBody>
      </p:sp>
      <p:sp>
        <p:nvSpPr>
          <p:cNvPr id="73772" name="AutoShape 44"/>
          <p:cNvSpPr>
            <a:spLocks noChangeArrowheads="1"/>
          </p:cNvSpPr>
          <p:nvPr/>
        </p:nvSpPr>
        <p:spPr bwMode="auto">
          <a:xfrm rot="-10040259">
            <a:off x="6553200" y="2438400"/>
            <a:ext cx="628650" cy="158750"/>
          </a:xfrm>
          <a:prstGeom prst="rightArrow">
            <a:avLst>
              <a:gd name="adj1" fmla="val 50000"/>
              <a:gd name="adj2" fmla="val 99000"/>
            </a:avLst>
          </a:prstGeom>
          <a:solidFill>
            <a:srgbClr val="CC0099"/>
          </a:solidFill>
          <a:ln w="9525">
            <a:solidFill>
              <a:srgbClr val="993300"/>
            </a:solidFill>
            <a:miter lim="800000"/>
          </a:ln>
        </p:spPr>
        <p:txBody>
          <a:bodyPr rot="10800000"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20000"/>
              </a:spcBef>
            </a:pPr>
            <a:endParaRPr kumimoji="0" lang="zh-CN" altLang="zh-CN" sz="4400">
              <a:solidFill>
                <a:srgbClr val="1C1C1C"/>
              </a:solidFill>
              <a:latin typeface="Arial" panose="020B0604020202020204" pitchFamily="34" charset="0"/>
            </a:endParaRPr>
          </a:p>
        </p:txBody>
      </p:sp>
      <p:sp>
        <p:nvSpPr>
          <p:cNvPr id="44" name="Rectangle 6"/>
          <p:cNvSpPr>
            <a:spLocks noChangeArrowheads="1"/>
          </p:cNvSpPr>
          <p:nvPr/>
        </p:nvSpPr>
        <p:spPr bwMode="auto">
          <a:xfrm>
            <a:off x="-3175" y="-9842"/>
            <a:ext cx="3617913"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§6.4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库仑土压力理论</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73771"/>
                                        </p:tgtEl>
                                        <p:attrNameLst>
                                          <p:attrName>style.visibility</p:attrName>
                                        </p:attrNameLst>
                                      </p:cBhvr>
                                      <p:to>
                                        <p:strVal val="visible"/>
                                      </p:to>
                                    </p:set>
                                    <p:animEffect transition="in" filter="wipe(right)">
                                      <p:cBhvr>
                                        <p:cTn id="22" dur="500"/>
                                        <p:tgtEl>
                                          <p:spTgt spid="73771"/>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73746"/>
                                        </p:tgtEl>
                                        <p:attrNameLst>
                                          <p:attrName>style.visibility</p:attrName>
                                        </p:attrNameLst>
                                      </p:cBhvr>
                                      <p:to>
                                        <p:strVal val="visible"/>
                                      </p:to>
                                    </p:set>
                                    <p:animEffect transition="in" filter="slide(fromBottom)">
                                      <p:cBhvr>
                                        <p:cTn id="27" dur="500"/>
                                        <p:tgtEl>
                                          <p:spTgt spid="7374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3730"/>
                                        </p:tgtEl>
                                        <p:attrNameLst>
                                          <p:attrName>style.visibility</p:attrName>
                                        </p:attrNameLst>
                                      </p:cBhvr>
                                      <p:to>
                                        <p:strVal val="visible"/>
                                      </p:to>
                                    </p:set>
                                    <p:animEffect transition="in" filter="wipe(left)">
                                      <p:cBhvr>
                                        <p:cTn id="32" dur="500"/>
                                        <p:tgtEl>
                                          <p:spTgt spid="7373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3770"/>
                                        </p:tgtEl>
                                        <p:attrNameLst>
                                          <p:attrName>style.visibility</p:attrName>
                                        </p:attrNameLst>
                                      </p:cBhvr>
                                      <p:to>
                                        <p:strVal val="visible"/>
                                      </p:to>
                                    </p:set>
                                    <p:animEffect transition="in" filter="wipe(left)">
                                      <p:cBhvr>
                                        <p:cTn id="37" dur="500"/>
                                        <p:tgtEl>
                                          <p:spTgt spid="7377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iterate type="wd">
                                    <p:tmPct val="100000"/>
                                  </p:iterate>
                                  <p:childTnLst>
                                    <p:set>
                                      <p:cBhvr>
                                        <p:cTn id="41" dur="1" fill="hold">
                                          <p:stCondLst>
                                            <p:cond delay="0"/>
                                          </p:stCondLst>
                                        </p:cTn>
                                        <p:tgtEl>
                                          <p:spTgt spid="73747"/>
                                        </p:tgtEl>
                                        <p:attrNameLst>
                                          <p:attrName>style.visibility</p:attrName>
                                        </p:attrNameLst>
                                      </p:cBhvr>
                                      <p:to>
                                        <p:strVal val="visible"/>
                                      </p:to>
                                    </p:set>
                                    <p:animEffect transition="in" filter="wipe(left)">
                                      <p:cBhvr>
                                        <p:cTn id="42" dur="300"/>
                                        <p:tgtEl>
                                          <p:spTgt spid="7374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73769"/>
                                        </p:tgtEl>
                                        <p:attrNameLst>
                                          <p:attrName>style.visibility</p:attrName>
                                        </p:attrNameLst>
                                      </p:cBhvr>
                                      <p:to>
                                        <p:strVal val="visible"/>
                                      </p:to>
                                    </p:set>
                                    <p:animEffect transition="in" filter="wipe(left)">
                                      <p:cBhvr>
                                        <p:cTn id="47" dur="500"/>
                                        <p:tgtEl>
                                          <p:spTgt spid="7376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73762"/>
                                        </p:tgtEl>
                                        <p:attrNameLst>
                                          <p:attrName>style.visibility</p:attrName>
                                        </p:attrNameLst>
                                      </p:cBhvr>
                                      <p:to>
                                        <p:strVal val="visible"/>
                                      </p:to>
                                    </p:set>
                                    <p:animEffect transition="in" filter="wipe(up)">
                                      <p:cBhvr>
                                        <p:cTn id="52" dur="500"/>
                                        <p:tgtEl>
                                          <p:spTgt spid="73762"/>
                                        </p:tgtEl>
                                      </p:cBhvr>
                                    </p:animEffect>
                                  </p:childTnLst>
                                </p:cTn>
                              </p:par>
                            </p:childTnLst>
                          </p:cTn>
                        </p:par>
                        <p:par>
                          <p:cTn id="53" fill="hold">
                            <p:stCondLst>
                              <p:cond delay="500"/>
                            </p:stCondLst>
                            <p:childTnLst>
                              <p:par>
                                <p:cTn id="54" presetID="22" presetClass="entr" presetSubtype="2" fill="hold" grpId="0" nodeType="afterEffect">
                                  <p:stCondLst>
                                    <p:cond delay="0"/>
                                  </p:stCondLst>
                                  <p:childTnLst>
                                    <p:set>
                                      <p:cBhvr>
                                        <p:cTn id="55" dur="1" fill="hold">
                                          <p:stCondLst>
                                            <p:cond delay="0"/>
                                          </p:stCondLst>
                                        </p:cTn>
                                        <p:tgtEl>
                                          <p:spTgt spid="73772"/>
                                        </p:tgtEl>
                                        <p:attrNameLst>
                                          <p:attrName>style.visibility</p:attrName>
                                        </p:attrNameLst>
                                      </p:cBhvr>
                                      <p:to>
                                        <p:strVal val="visible"/>
                                      </p:to>
                                    </p:set>
                                    <p:animEffect transition="in" filter="wipe(right)">
                                      <p:cBhvr>
                                        <p:cTn id="56" dur="500"/>
                                        <p:tgtEl>
                                          <p:spTgt spid="73772"/>
                                        </p:tgtEl>
                                      </p:cBhvr>
                                    </p:animEffect>
                                  </p:childTnLst>
                                </p:cTn>
                              </p:par>
                            </p:childTnLst>
                          </p:cTn>
                        </p:par>
                        <p:par>
                          <p:cTn id="57" fill="hold">
                            <p:stCondLst>
                              <p:cond delay="1000"/>
                            </p:stCondLst>
                            <p:childTnLst>
                              <p:par>
                                <p:cTn id="58" presetID="22" presetClass="entr" presetSubtype="1" fill="hold" nodeType="afterEffect">
                                  <p:stCondLst>
                                    <p:cond delay="0"/>
                                  </p:stCondLst>
                                  <p:childTnLst>
                                    <p:set>
                                      <p:cBhvr>
                                        <p:cTn id="59" dur="1" fill="hold">
                                          <p:stCondLst>
                                            <p:cond delay="0"/>
                                          </p:stCondLst>
                                        </p:cTn>
                                        <p:tgtEl>
                                          <p:spTgt spid="5"/>
                                        </p:tgtEl>
                                        <p:attrNameLst>
                                          <p:attrName>style.visibility</p:attrName>
                                        </p:attrNameLst>
                                      </p:cBhvr>
                                      <p:to>
                                        <p:strVal val="visible"/>
                                      </p:to>
                                    </p:set>
                                    <p:animEffect transition="in" filter="wipe(up)">
                                      <p:cBhvr>
                                        <p:cTn id="60" dur="500"/>
                                        <p:tgtEl>
                                          <p:spTgt spid="5"/>
                                        </p:tgtEl>
                                      </p:cBhvr>
                                    </p:animEffect>
                                  </p:childTnLst>
                                </p:cTn>
                              </p:par>
                            </p:childTnLst>
                          </p:cTn>
                        </p:par>
                        <p:par>
                          <p:cTn id="61" fill="hold">
                            <p:stCondLst>
                              <p:cond delay="1500"/>
                            </p:stCondLst>
                            <p:childTnLst>
                              <p:par>
                                <p:cTn id="62" presetID="9" presetClass="entr" presetSubtype="0" fill="hold" nodeType="afterEffect">
                                  <p:stCondLst>
                                    <p:cond delay="0"/>
                                  </p:stCondLst>
                                  <p:childTnLst>
                                    <p:set>
                                      <p:cBhvr>
                                        <p:cTn id="63" dur="1" fill="hold">
                                          <p:stCondLst>
                                            <p:cond delay="0"/>
                                          </p:stCondLst>
                                        </p:cTn>
                                        <p:tgtEl>
                                          <p:spTgt spid="73763"/>
                                        </p:tgtEl>
                                        <p:attrNameLst>
                                          <p:attrName>style.visibility</p:attrName>
                                        </p:attrNameLst>
                                      </p:cBhvr>
                                      <p:to>
                                        <p:strVal val="visible"/>
                                      </p:to>
                                    </p:set>
                                    <p:animEffect transition="in" filter="dissolve">
                                      <p:cBhvr>
                                        <p:cTn id="64" dur="500"/>
                                        <p:tgtEl>
                                          <p:spTgt spid="73763"/>
                                        </p:tgtEl>
                                      </p:cBhvr>
                                    </p:animEffect>
                                  </p:childTnLst>
                                </p:cTn>
                              </p:par>
                            </p:childTnLst>
                          </p:cTn>
                        </p:par>
                      </p:childTnLst>
                    </p:cTn>
                  </p:par>
                  <p:par>
                    <p:cTn id="65" fill="hold">
                      <p:stCondLst>
                        <p:cond delay="indefinite"/>
                      </p:stCondLst>
                      <p:childTnLst>
                        <p:par>
                          <p:cTn id="66" fill="hold">
                            <p:stCondLst>
                              <p:cond delay="0"/>
                            </p:stCondLst>
                            <p:childTnLst>
                              <p:par>
                                <p:cTn id="67" presetID="12" presetClass="entr" presetSubtype="2" fill="hold" nodeType="clickEffect">
                                  <p:stCondLst>
                                    <p:cond delay="0"/>
                                  </p:stCondLst>
                                  <p:childTnLst>
                                    <p:set>
                                      <p:cBhvr>
                                        <p:cTn id="68" dur="1" fill="hold">
                                          <p:stCondLst>
                                            <p:cond delay="0"/>
                                          </p:stCondLst>
                                        </p:cTn>
                                        <p:tgtEl>
                                          <p:spTgt spid="6"/>
                                        </p:tgtEl>
                                        <p:attrNameLst>
                                          <p:attrName>style.visibility</p:attrName>
                                        </p:attrNameLst>
                                      </p:cBhvr>
                                      <p:to>
                                        <p:strVal val="visible"/>
                                      </p:to>
                                    </p:set>
                                    <p:animEffect transition="in" filter="slide(fromRight)">
                                      <p:cBhvr>
                                        <p:cTn id="6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46" grpId="0" autoUpdateAnimBg="0"/>
      <p:bldP spid="73747" grpId="0" autoUpdateAnimBg="0"/>
      <p:bldP spid="73769" grpId="0" autoUpdateAnimBg="0"/>
      <p:bldP spid="73771" grpId="0" animBg="1" autoUpdateAnimBg="0"/>
      <p:bldP spid="73772" grpId="0" animBg="1"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13"/>
          <p:cNvSpPr txBox="1">
            <a:spLocks noChangeArrowheads="1"/>
          </p:cNvSpPr>
          <p:nvPr/>
        </p:nvSpPr>
        <p:spPr bwMode="auto">
          <a:xfrm>
            <a:off x="5006975" y="222250"/>
            <a:ext cx="2160588" cy="461963"/>
          </a:xfrm>
          <a:prstGeom prst="rect">
            <a:avLst/>
          </a:prstGeom>
          <a:solidFill>
            <a:schemeClr val="tx2">
              <a:lumMod val="20000"/>
              <a:lumOff val="80000"/>
            </a:schemeClr>
          </a:solidFill>
          <a:ln w="9525">
            <a:solidFill>
              <a:srgbClr val="000000"/>
            </a:solidFill>
            <a:miter lim="800000"/>
          </a:ln>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defRPr/>
            </a:pPr>
            <a:r>
              <a:rPr lang="zh-CN" altLang="en-US" b="1" dirty="0" smtClean="0">
                <a:solidFill>
                  <a:srgbClr val="3333FF"/>
                </a:solidFill>
                <a:latin typeface="+mn-ea"/>
                <a:ea typeface="+mn-ea"/>
              </a:rPr>
              <a:t>填土表面倾斜</a:t>
            </a:r>
            <a:endParaRPr lang="zh-CN" altLang="en-US" b="1" dirty="0" smtClean="0">
              <a:solidFill>
                <a:srgbClr val="3333FF"/>
              </a:solidFill>
              <a:latin typeface="+mn-ea"/>
              <a:ea typeface="+mn-ea"/>
            </a:endParaRPr>
          </a:p>
        </p:txBody>
      </p:sp>
      <p:sp>
        <p:nvSpPr>
          <p:cNvPr id="40987" name="Text Box 27"/>
          <p:cNvSpPr txBox="1">
            <a:spLocks noChangeArrowheads="1"/>
          </p:cNvSpPr>
          <p:nvPr/>
        </p:nvSpPr>
        <p:spPr bwMode="auto">
          <a:xfrm>
            <a:off x="857250" y="4221163"/>
            <a:ext cx="4870450" cy="187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25000"/>
              </a:spcBef>
            </a:pPr>
            <a:r>
              <a:rPr lang="zh-CN" altLang="en-US" b="1">
                <a:ea typeface="楷体_GB2312" pitchFamily="49" charset="-122"/>
                <a:cs typeface="Times New Roman" panose="02020603050405020304" pitchFamily="18" charset="0"/>
              </a:rPr>
              <a:t>库仑土压力理论：</a:t>
            </a:r>
            <a:endParaRPr lang="zh-CN" altLang="en-US" b="1">
              <a:ea typeface="楷体_GB2312" pitchFamily="49" charset="-122"/>
              <a:cs typeface="Times New Roman" panose="02020603050405020304" pitchFamily="18" charset="0"/>
            </a:endParaRPr>
          </a:p>
          <a:p>
            <a:pPr eaLnBrk="1" hangingPunct="1">
              <a:lnSpc>
                <a:spcPct val="150000"/>
              </a:lnSpc>
              <a:spcBef>
                <a:spcPct val="50000"/>
              </a:spcBef>
            </a:pPr>
            <a:r>
              <a:rPr lang="en-US" altLang="zh-CN" sz="2000" b="1">
                <a:ea typeface="楷体_GB2312" pitchFamily="49" charset="-122"/>
                <a:cs typeface="Times New Roman" panose="02020603050405020304" pitchFamily="18" charset="0"/>
              </a:rPr>
              <a:t>(1) </a:t>
            </a:r>
            <a:r>
              <a:rPr lang="zh-CN" altLang="en-US" sz="2000" b="1">
                <a:ea typeface="楷体_GB2312" pitchFamily="49" charset="-122"/>
                <a:cs typeface="Times New Roman" panose="02020603050405020304" pitchFamily="18" charset="0"/>
              </a:rPr>
              <a:t>求解假设墙面</a:t>
            </a:r>
            <a:r>
              <a:rPr lang="en-US" altLang="zh-CN" sz="2000" b="1">
                <a:ea typeface="楷体_GB2312" pitchFamily="49" charset="-122"/>
                <a:cs typeface="Times New Roman" panose="02020603050405020304" pitchFamily="18" charset="0"/>
              </a:rPr>
              <a:t>CB</a:t>
            </a:r>
            <a:r>
              <a:rPr lang="zh-CN" altLang="en-US" sz="2000" b="1">
                <a:ea typeface="楷体_GB2312" pitchFamily="49" charset="-122"/>
                <a:cs typeface="Times New Roman" panose="02020603050405020304" pitchFamily="18" charset="0"/>
              </a:rPr>
              <a:t>上主动土压力 </a:t>
            </a:r>
            <a:r>
              <a:rPr lang="en-US" altLang="zh-CN" sz="2000" b="1" i="1">
                <a:ea typeface="楷体_GB2312" pitchFamily="49" charset="-122"/>
                <a:cs typeface="Times New Roman" panose="02020603050405020304" pitchFamily="18" charset="0"/>
              </a:rPr>
              <a:t>E</a:t>
            </a:r>
            <a:r>
              <a:rPr lang="en-US" altLang="zh-CN" sz="2000" b="1" i="1">
                <a:ea typeface="楷体_GB2312" pitchFamily="49" charset="-122"/>
                <a:cs typeface="Times New Roman" panose="02020603050405020304" pitchFamily="18" charset="0"/>
                <a:sym typeface="Symbol" panose="05050102010706020507" pitchFamily="18" charset="2"/>
              </a:rPr>
              <a:t></a:t>
            </a:r>
            <a:r>
              <a:rPr lang="en-US" altLang="zh-CN" sz="2000" b="1" i="1" baseline="-25000">
                <a:ea typeface="楷体_GB2312" pitchFamily="49" charset="-122"/>
                <a:cs typeface="Times New Roman" panose="02020603050405020304" pitchFamily="18" charset="0"/>
              </a:rPr>
              <a:t>a</a:t>
            </a:r>
            <a:endParaRPr lang="en-US" altLang="zh-CN" sz="2000" b="1" i="1">
              <a:ea typeface="楷体_GB2312" pitchFamily="49" charset="-122"/>
              <a:cs typeface="Times New Roman" panose="02020603050405020304" pitchFamily="18" charset="0"/>
            </a:endParaRPr>
          </a:p>
          <a:p>
            <a:pPr eaLnBrk="1" hangingPunct="1">
              <a:lnSpc>
                <a:spcPct val="150000"/>
              </a:lnSpc>
              <a:spcBef>
                <a:spcPct val="50000"/>
              </a:spcBef>
            </a:pPr>
            <a:r>
              <a:rPr lang="en-US" altLang="zh-CN" sz="2000" b="1">
                <a:ea typeface="楷体_GB2312" pitchFamily="49" charset="-122"/>
                <a:cs typeface="Times New Roman" panose="02020603050405020304" pitchFamily="18" charset="0"/>
              </a:rPr>
              <a:t>(2) </a:t>
            </a:r>
            <a:r>
              <a:rPr lang="zh-CN" altLang="en-US" sz="2000" b="1">
                <a:ea typeface="楷体_GB2312" pitchFamily="49" charset="-122"/>
                <a:cs typeface="Times New Roman" panose="02020603050405020304" pitchFamily="18" charset="0"/>
              </a:rPr>
              <a:t>作用在真实墙面</a:t>
            </a:r>
            <a:r>
              <a:rPr lang="en-US" altLang="zh-CN" sz="2000" b="1">
                <a:ea typeface="楷体_GB2312" pitchFamily="49" charset="-122"/>
                <a:cs typeface="Times New Roman" panose="02020603050405020304" pitchFamily="18" charset="0"/>
              </a:rPr>
              <a:t>AC</a:t>
            </a:r>
            <a:r>
              <a:rPr lang="zh-CN" altLang="en-US" sz="2000" b="1">
                <a:ea typeface="楷体_GB2312" pitchFamily="49" charset="-122"/>
                <a:cs typeface="Times New Roman" panose="02020603050405020304" pitchFamily="18" charset="0"/>
              </a:rPr>
              <a:t>上的土压力</a:t>
            </a:r>
            <a:r>
              <a:rPr lang="zh-CN" altLang="en-US" sz="2000" b="1" i="1">
                <a:ea typeface="楷体_GB2312" pitchFamily="49" charset="-122"/>
                <a:cs typeface="Times New Roman" panose="02020603050405020304" pitchFamily="18" charset="0"/>
              </a:rPr>
              <a:t> </a:t>
            </a:r>
            <a:r>
              <a:rPr lang="en-US" altLang="zh-CN" sz="2000" b="1" i="1">
                <a:ea typeface="楷体_GB2312" pitchFamily="49" charset="-122"/>
                <a:cs typeface="Times New Roman" panose="02020603050405020304" pitchFamily="18" charset="0"/>
              </a:rPr>
              <a:t>E</a:t>
            </a:r>
            <a:r>
              <a:rPr lang="en-US" altLang="zh-CN" sz="2000" b="1" i="1" baseline="-25000">
                <a:ea typeface="楷体_GB2312" pitchFamily="49" charset="-122"/>
                <a:cs typeface="Times New Roman" panose="02020603050405020304" pitchFamily="18" charset="0"/>
              </a:rPr>
              <a:t>a</a:t>
            </a:r>
            <a:r>
              <a:rPr lang="zh-CN" altLang="en-US" sz="2000" b="1">
                <a:ea typeface="楷体_GB2312" pitchFamily="49" charset="-122"/>
                <a:cs typeface="Times New Roman" panose="02020603050405020304" pitchFamily="18" charset="0"/>
              </a:rPr>
              <a:t>：</a:t>
            </a:r>
            <a:endParaRPr lang="zh-CN" altLang="en-US" sz="2000" b="1">
              <a:ea typeface="楷体_GB2312" pitchFamily="49" charset="-122"/>
              <a:cs typeface="Times New Roman" panose="02020603050405020304" pitchFamily="18" charset="0"/>
            </a:endParaRPr>
          </a:p>
        </p:txBody>
      </p:sp>
      <p:graphicFrame>
        <p:nvGraphicFramePr>
          <p:cNvPr id="40989" name="Object 29"/>
          <p:cNvGraphicFramePr>
            <a:graphicFrameLocks noChangeAspect="1"/>
          </p:cNvGraphicFramePr>
          <p:nvPr/>
        </p:nvGraphicFramePr>
        <p:xfrm>
          <a:off x="6327775" y="5478463"/>
          <a:ext cx="2051050" cy="620712"/>
        </p:xfrm>
        <a:graphic>
          <a:graphicData uri="http://schemas.openxmlformats.org/presentationml/2006/ole">
            <mc:AlternateContent xmlns:mc="http://schemas.openxmlformats.org/markup-compatibility/2006">
              <mc:Choice xmlns:v="urn:schemas-microsoft-com:vml" Requires="v">
                <p:oleObj spid="_x0000_s18446" name="公式" r:id="rId1" imgW="837565" imgH="254000" progId="Equation.3">
                  <p:embed/>
                </p:oleObj>
              </mc:Choice>
              <mc:Fallback>
                <p:oleObj name="公式" r:id="rId1" imgW="837565" imgH="254000" progId="Equation.3">
                  <p:embed/>
                  <p:pic>
                    <p:nvPicPr>
                      <p:cNvPr id="0" name="Object 2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7775" y="5478463"/>
                        <a:ext cx="2051050" cy="620712"/>
                      </a:xfrm>
                      <a:prstGeom prst="rect">
                        <a:avLst/>
                      </a:prstGeom>
                      <a:solidFill>
                        <a:srgbClr val="CCFFCC"/>
                      </a:solidFill>
                      <a:ln w="9525">
                        <a:solidFill>
                          <a:srgbClr val="CCFFC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90" name="Object 30"/>
          <p:cNvGraphicFramePr>
            <a:graphicFrameLocks noChangeAspect="1"/>
          </p:cNvGraphicFramePr>
          <p:nvPr/>
        </p:nvGraphicFramePr>
        <p:xfrm>
          <a:off x="5105400" y="1911350"/>
          <a:ext cx="3570288" cy="755650"/>
        </p:xfrm>
        <a:graphic>
          <a:graphicData uri="http://schemas.openxmlformats.org/presentationml/2006/ole">
            <mc:AlternateContent xmlns:mc="http://schemas.openxmlformats.org/markup-compatibility/2006">
              <mc:Choice xmlns:v="urn:schemas-microsoft-com:vml" Requires="v">
                <p:oleObj spid="_x0000_s18447" name="Equation" r:id="rId3" imgW="2113915" imgH="344170" progId="Equation.DSMT4">
                  <p:embed/>
                </p:oleObj>
              </mc:Choice>
              <mc:Fallback>
                <p:oleObj name="Equation" r:id="rId3" imgW="2113915" imgH="344170" progId="Equation.DSMT4">
                  <p:embed/>
                  <p:pic>
                    <p:nvPicPr>
                      <p:cNvPr id="0" name="Object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5400" y="1911350"/>
                        <a:ext cx="3570288" cy="755650"/>
                      </a:xfrm>
                      <a:prstGeom prst="rect">
                        <a:avLst/>
                      </a:prstGeom>
                      <a:solidFill>
                        <a:srgbClr val="C0C0C0"/>
                      </a:solidFill>
                      <a:ln w="19050">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991" name="AutoShape 31"/>
          <p:cNvSpPr>
            <a:spLocks noChangeArrowheads="1"/>
          </p:cNvSpPr>
          <p:nvPr/>
        </p:nvSpPr>
        <p:spPr bwMode="auto">
          <a:xfrm>
            <a:off x="5795963" y="981075"/>
            <a:ext cx="1371600" cy="441325"/>
          </a:xfrm>
          <a:prstGeom prst="wedgeRoundRectCallout">
            <a:avLst>
              <a:gd name="adj1" fmla="val -27199"/>
              <a:gd name="adj2" fmla="val 158991"/>
              <a:gd name="adj3" fmla="val 16667"/>
            </a:avLst>
          </a:prstGeom>
          <a:noFill/>
          <a:ln w="19050" algn="ctr">
            <a:solidFill>
              <a:srgbClr val="C0C0C0"/>
            </a:solidFill>
            <a:miter lim="800000"/>
          </a:ln>
          <a:extLst>
            <a:ext uri="{909E8E84-426E-40DD-AFC4-6F175D3DCCD1}">
              <a14:hiddenFill xmlns:a14="http://schemas.microsoft.com/office/drawing/2010/main">
                <a:solidFill>
                  <a:srgbClr val="FFFFFF"/>
                </a:solidFill>
              </a14:hiddenFill>
            </a:ext>
          </a:extLst>
        </p:spPr>
        <p:txBody>
          <a:bodyPr lIns="0" r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sz="2000" b="1">
                <a:sym typeface="Symbol" panose="05050102010706020507" pitchFamily="18" charset="2"/>
              </a:rPr>
              <a:t></a:t>
            </a:r>
            <a:r>
              <a:rPr kumimoji="0" lang="zh-CN" altLang="en-US" sz="2000" b="1">
                <a:sym typeface="Symbol" panose="05050102010706020507" pitchFamily="18" charset="2"/>
              </a:rPr>
              <a:t>＝ </a:t>
            </a:r>
            <a:r>
              <a:rPr kumimoji="0" lang="zh-CN" altLang="en-US" sz="2000" b="1"/>
              <a:t>时</a:t>
            </a:r>
            <a:endParaRPr kumimoji="0" lang="zh-CN" altLang="en-US" sz="2000" b="1"/>
          </a:p>
        </p:txBody>
      </p:sp>
      <p:grpSp>
        <p:nvGrpSpPr>
          <p:cNvPr id="49159" name="Group 48"/>
          <p:cNvGrpSpPr/>
          <p:nvPr/>
        </p:nvGrpSpPr>
        <p:grpSpPr bwMode="auto">
          <a:xfrm>
            <a:off x="6804025" y="3141663"/>
            <a:ext cx="1571625" cy="1704975"/>
            <a:chOff x="4080" y="2496"/>
            <a:chExt cx="990" cy="1074"/>
          </a:xfrm>
        </p:grpSpPr>
        <p:grpSp>
          <p:nvGrpSpPr>
            <p:cNvPr id="49195" name="Group 45"/>
            <p:cNvGrpSpPr/>
            <p:nvPr/>
          </p:nvGrpSpPr>
          <p:grpSpPr bwMode="auto">
            <a:xfrm>
              <a:off x="4080" y="2496"/>
              <a:ext cx="990" cy="1074"/>
              <a:chOff x="4080" y="2496"/>
              <a:chExt cx="990" cy="1074"/>
            </a:xfrm>
          </p:grpSpPr>
          <p:sp>
            <p:nvSpPr>
              <p:cNvPr id="49197" name="Line 34"/>
              <p:cNvSpPr>
                <a:spLocks noChangeShapeType="1"/>
              </p:cNvSpPr>
              <p:nvPr/>
            </p:nvSpPr>
            <p:spPr bwMode="auto">
              <a:xfrm>
                <a:off x="4848" y="2496"/>
                <a:ext cx="0" cy="538"/>
              </a:xfrm>
              <a:prstGeom prst="line">
                <a:avLst/>
              </a:prstGeom>
              <a:noFill/>
              <a:ln w="349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98" name="Line 35"/>
              <p:cNvSpPr>
                <a:spLocks noChangeShapeType="1"/>
              </p:cNvSpPr>
              <p:nvPr/>
            </p:nvSpPr>
            <p:spPr bwMode="auto">
              <a:xfrm flipH="1">
                <a:off x="4128" y="3034"/>
                <a:ext cx="720" cy="470"/>
              </a:xfrm>
              <a:prstGeom prst="line">
                <a:avLst/>
              </a:prstGeom>
              <a:noFill/>
              <a:ln w="349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99" name="Text Box 36"/>
              <p:cNvSpPr txBox="1">
                <a:spLocks noChangeArrowheads="1"/>
              </p:cNvSpPr>
              <p:nvPr/>
            </p:nvSpPr>
            <p:spPr bwMode="auto">
              <a:xfrm>
                <a:off x="4512" y="3216"/>
                <a:ext cx="480" cy="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ct val="50000"/>
                  </a:spcBef>
                </a:pPr>
                <a:r>
                  <a:rPr lang="en-US" altLang="zh-CN" sz="2800" b="1">
                    <a:ea typeface="楷体_GB2312" pitchFamily="49" charset="-122"/>
                  </a:rPr>
                  <a:t>E</a:t>
                </a:r>
                <a:r>
                  <a:rPr lang="en-US" altLang="zh-CN" sz="2800" b="1" baseline="-25000">
                    <a:ea typeface="楷体_GB2312" pitchFamily="49" charset="-122"/>
                  </a:rPr>
                  <a:t>a</a:t>
                </a:r>
                <a:r>
                  <a:rPr lang="en-US" altLang="zh-CN" sz="2800" b="1">
                    <a:cs typeface="Times New Roman" panose="02020603050405020304" pitchFamily="18" charset="0"/>
                  </a:rPr>
                  <a:t>´</a:t>
                </a:r>
                <a:endParaRPr lang="en-US" altLang="zh-CN" sz="2800" b="1">
                  <a:ea typeface="楷体_GB2312" pitchFamily="49" charset="-122"/>
                </a:endParaRPr>
              </a:p>
            </p:txBody>
          </p:sp>
          <p:sp>
            <p:nvSpPr>
              <p:cNvPr id="49200" name="Text Box 37"/>
              <p:cNvSpPr txBox="1">
                <a:spLocks noChangeArrowheads="1"/>
              </p:cNvSpPr>
              <p:nvPr/>
            </p:nvSpPr>
            <p:spPr bwMode="auto">
              <a:xfrm>
                <a:off x="4830" y="2568"/>
                <a:ext cx="24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10000"/>
                  </a:lnSpc>
                  <a:spcBef>
                    <a:spcPct val="50000"/>
                  </a:spcBef>
                </a:pPr>
                <a:r>
                  <a:rPr lang="en-US" altLang="zh-CN" b="1">
                    <a:ea typeface="楷体_GB2312" pitchFamily="49" charset="-122"/>
                  </a:rPr>
                  <a:t>W</a:t>
                </a:r>
                <a:endParaRPr lang="en-US" altLang="zh-CN" b="1">
                  <a:ea typeface="楷体_GB2312" pitchFamily="49" charset="-122"/>
                </a:endParaRPr>
              </a:p>
            </p:txBody>
          </p:sp>
          <p:sp>
            <p:nvSpPr>
              <p:cNvPr id="49201" name="Text Box 38"/>
              <p:cNvSpPr txBox="1">
                <a:spLocks noChangeArrowheads="1"/>
              </p:cNvSpPr>
              <p:nvPr/>
            </p:nvSpPr>
            <p:spPr bwMode="auto">
              <a:xfrm>
                <a:off x="4080" y="2640"/>
                <a:ext cx="579" cy="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10000"/>
                  </a:lnSpc>
                  <a:spcBef>
                    <a:spcPct val="50000"/>
                  </a:spcBef>
                </a:pPr>
                <a:r>
                  <a:rPr lang="en-US" altLang="zh-CN" sz="2800" b="1">
                    <a:ea typeface="楷体_GB2312" pitchFamily="49" charset="-122"/>
                  </a:rPr>
                  <a:t>E</a:t>
                </a:r>
                <a:r>
                  <a:rPr lang="en-US" altLang="zh-CN" sz="2800" b="1" baseline="-25000">
                    <a:ea typeface="楷体_GB2312" pitchFamily="49" charset="-122"/>
                  </a:rPr>
                  <a:t>a</a:t>
                </a:r>
                <a:endParaRPr lang="en-US" altLang="zh-CN" sz="2800" b="1">
                  <a:ea typeface="楷体_GB2312" pitchFamily="49" charset="-122"/>
                </a:endParaRPr>
              </a:p>
            </p:txBody>
          </p:sp>
        </p:grpSp>
        <p:sp>
          <p:nvSpPr>
            <p:cNvPr id="49196" name="Line 39"/>
            <p:cNvSpPr>
              <a:spLocks noChangeShapeType="1"/>
            </p:cNvSpPr>
            <p:nvPr/>
          </p:nvSpPr>
          <p:spPr bwMode="auto">
            <a:xfrm rot="10800000" flipV="1">
              <a:off x="4128" y="2496"/>
              <a:ext cx="720" cy="1008"/>
            </a:xfrm>
            <a:prstGeom prst="line">
              <a:avLst/>
            </a:prstGeom>
            <a:noFill/>
            <a:ln w="349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9160" name="Group 46"/>
          <p:cNvGrpSpPr/>
          <p:nvPr/>
        </p:nvGrpSpPr>
        <p:grpSpPr bwMode="auto">
          <a:xfrm>
            <a:off x="250825" y="692150"/>
            <a:ext cx="5473700" cy="3595688"/>
            <a:chOff x="144" y="528"/>
            <a:chExt cx="3552" cy="2218"/>
          </a:xfrm>
        </p:grpSpPr>
        <p:sp>
          <p:nvSpPr>
            <p:cNvPr id="49167" name="Line 2"/>
            <p:cNvSpPr>
              <a:spLocks noChangeShapeType="1"/>
            </p:cNvSpPr>
            <p:nvPr/>
          </p:nvSpPr>
          <p:spPr bwMode="auto">
            <a:xfrm>
              <a:off x="1344" y="1248"/>
              <a:ext cx="346" cy="1296"/>
            </a:xfrm>
            <a:prstGeom prst="line">
              <a:avLst/>
            </a:prstGeom>
            <a:noFill/>
            <a:ln w="28575">
              <a:solidFill>
                <a:srgbClr val="0066CC"/>
              </a:solidFill>
              <a:round/>
            </a:ln>
            <a:extLst>
              <a:ext uri="{909E8E84-426E-40DD-AFC4-6F175D3DCCD1}">
                <a14:hiddenFill xmlns:a14="http://schemas.microsoft.com/office/drawing/2010/main">
                  <a:noFill/>
                </a14:hiddenFill>
              </a:ext>
            </a:extLst>
          </p:spPr>
          <p:txBody>
            <a:bodyPr wrap="none" lIns="0" tIns="0" rIns="0" bIns="0" anchor="ctr"/>
            <a:lstStyle/>
            <a:p>
              <a:endParaRPr lang="zh-CN" altLang="en-US"/>
            </a:p>
          </p:txBody>
        </p:sp>
        <p:sp>
          <p:nvSpPr>
            <p:cNvPr id="49168" name="Text Box 3"/>
            <p:cNvSpPr txBox="1">
              <a:spLocks noChangeArrowheads="1"/>
            </p:cNvSpPr>
            <p:nvPr/>
          </p:nvSpPr>
          <p:spPr bwMode="auto">
            <a:xfrm>
              <a:off x="2352" y="2160"/>
              <a:ext cx="23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i="1"/>
                <a:t>R</a:t>
              </a:r>
              <a:endParaRPr lang="en-US" altLang="zh-CN" sz="2000" i="1"/>
            </a:p>
          </p:txBody>
        </p:sp>
        <p:sp>
          <p:nvSpPr>
            <p:cNvPr id="49169" name="Line 4"/>
            <p:cNvSpPr>
              <a:spLocks noChangeShapeType="1"/>
            </p:cNvSpPr>
            <p:nvPr/>
          </p:nvSpPr>
          <p:spPr bwMode="auto">
            <a:xfrm flipV="1">
              <a:off x="1066" y="1888"/>
              <a:ext cx="453" cy="381"/>
            </a:xfrm>
            <a:prstGeom prst="line">
              <a:avLst/>
            </a:prstGeom>
            <a:noFill/>
            <a:ln w="22225">
              <a:solidFill>
                <a:schemeClr val="tx1"/>
              </a:solidFill>
              <a:round/>
              <a:tailEnd type="triangle" w="med" len="med"/>
            </a:ln>
            <a:extLst>
              <a:ext uri="{909E8E84-426E-40DD-AFC4-6F175D3DCCD1}">
                <a14:hiddenFill xmlns:a14="http://schemas.microsoft.com/office/drawing/2010/main">
                  <a:noFill/>
                </a14:hiddenFill>
              </a:ext>
            </a:extLst>
          </p:spPr>
          <p:txBody>
            <a:bodyPr wrap="none" lIns="0" tIns="0" rIns="0" bIns="0" anchor="ctr"/>
            <a:lstStyle/>
            <a:p>
              <a:endParaRPr lang="zh-CN" altLang="en-US"/>
            </a:p>
          </p:txBody>
        </p:sp>
        <p:sp>
          <p:nvSpPr>
            <p:cNvPr id="49170" name="Text Box 5"/>
            <p:cNvSpPr txBox="1">
              <a:spLocks noChangeArrowheads="1"/>
            </p:cNvSpPr>
            <p:nvPr/>
          </p:nvSpPr>
          <p:spPr bwMode="auto">
            <a:xfrm>
              <a:off x="766" y="2232"/>
              <a:ext cx="462"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i="1"/>
                <a:t> E</a:t>
              </a:r>
              <a:r>
                <a:rPr lang="en-US" altLang="zh-CN" sz="2000" i="1">
                  <a:sym typeface="Symbol" panose="05050102010706020507" pitchFamily="18" charset="2"/>
                </a:rPr>
                <a:t></a:t>
              </a:r>
              <a:r>
                <a:rPr lang="en-US" altLang="zh-CN" sz="2000" i="1" baseline="-25000"/>
                <a:t>a</a:t>
              </a:r>
              <a:endParaRPr lang="en-US" altLang="zh-CN" sz="2000" i="1"/>
            </a:p>
          </p:txBody>
        </p:sp>
        <p:sp>
          <p:nvSpPr>
            <p:cNvPr id="49171" name="Line 6"/>
            <p:cNvSpPr>
              <a:spLocks noChangeShapeType="1"/>
            </p:cNvSpPr>
            <p:nvPr/>
          </p:nvSpPr>
          <p:spPr bwMode="auto">
            <a:xfrm flipH="1" flipV="1">
              <a:off x="2268" y="1800"/>
              <a:ext cx="231" cy="384"/>
            </a:xfrm>
            <a:prstGeom prst="line">
              <a:avLst/>
            </a:prstGeom>
            <a:noFill/>
            <a:ln w="34925">
              <a:solidFill>
                <a:schemeClr val="tx1"/>
              </a:solidFill>
              <a:round/>
              <a:tailEnd type="triangle" w="med" len="med"/>
            </a:ln>
            <a:extLst>
              <a:ext uri="{909E8E84-426E-40DD-AFC4-6F175D3DCCD1}">
                <a14:hiddenFill xmlns:a14="http://schemas.microsoft.com/office/drawing/2010/main">
                  <a:noFill/>
                </a14:hiddenFill>
              </a:ext>
            </a:extLst>
          </p:spPr>
          <p:txBody>
            <a:bodyPr wrap="none" lIns="0" tIns="0" rIns="0" bIns="0" anchor="ctr"/>
            <a:lstStyle/>
            <a:p>
              <a:endParaRPr lang="zh-CN" altLang="en-US"/>
            </a:p>
          </p:txBody>
        </p:sp>
        <p:sp>
          <p:nvSpPr>
            <p:cNvPr id="49172" name="Line 7"/>
            <p:cNvSpPr>
              <a:spLocks noChangeShapeType="1"/>
            </p:cNvSpPr>
            <p:nvPr/>
          </p:nvSpPr>
          <p:spPr bwMode="auto">
            <a:xfrm flipV="1">
              <a:off x="1680" y="864"/>
              <a:ext cx="1344" cy="1680"/>
            </a:xfrm>
            <a:prstGeom prst="line">
              <a:avLst/>
            </a:prstGeom>
            <a:noFill/>
            <a:ln w="28575">
              <a:solidFill>
                <a:srgbClr val="0066CC"/>
              </a:solidFill>
              <a:round/>
            </a:ln>
            <a:extLst>
              <a:ext uri="{909E8E84-426E-40DD-AFC4-6F175D3DCCD1}">
                <a14:hiddenFill xmlns:a14="http://schemas.microsoft.com/office/drawing/2010/main">
                  <a:noFill/>
                </a14:hiddenFill>
              </a:ext>
            </a:extLst>
          </p:spPr>
          <p:txBody>
            <a:bodyPr lIns="0" tIns="0" rIns="0" bIns="0" anchor="ctr">
              <a:spAutoFit/>
            </a:bodyPr>
            <a:lstStyle/>
            <a:p>
              <a:endParaRPr lang="zh-CN" altLang="en-US"/>
            </a:p>
          </p:txBody>
        </p:sp>
        <p:sp>
          <p:nvSpPr>
            <p:cNvPr id="49173" name="Line 8"/>
            <p:cNvSpPr>
              <a:spLocks noChangeShapeType="1"/>
            </p:cNvSpPr>
            <p:nvPr/>
          </p:nvSpPr>
          <p:spPr bwMode="auto">
            <a:xfrm flipV="1">
              <a:off x="1806" y="1608"/>
              <a:ext cx="0" cy="336"/>
            </a:xfrm>
            <a:prstGeom prst="line">
              <a:avLst/>
            </a:prstGeom>
            <a:noFill/>
            <a:ln w="34925">
              <a:solidFill>
                <a:schemeClr val="tx1"/>
              </a:solidFill>
              <a:round/>
              <a:head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zh-CN" altLang="en-US"/>
            </a:p>
          </p:txBody>
        </p:sp>
        <p:sp>
          <p:nvSpPr>
            <p:cNvPr id="49174" name="Line 9"/>
            <p:cNvSpPr>
              <a:spLocks noChangeShapeType="1"/>
            </p:cNvSpPr>
            <p:nvPr/>
          </p:nvSpPr>
          <p:spPr bwMode="auto">
            <a:xfrm>
              <a:off x="2268" y="1800"/>
              <a:ext cx="520" cy="288"/>
            </a:xfrm>
            <a:prstGeom prst="line">
              <a:avLst/>
            </a:prstGeom>
            <a:noFill/>
            <a:ln w="9525">
              <a:solidFill>
                <a:schemeClr val="tx1"/>
              </a:solidFill>
              <a:prstDash val="dashDot"/>
              <a:round/>
            </a:ln>
            <a:extLst>
              <a:ext uri="{909E8E84-426E-40DD-AFC4-6F175D3DCCD1}">
                <a14:hiddenFill xmlns:a14="http://schemas.microsoft.com/office/drawing/2010/main">
                  <a:noFill/>
                </a14:hiddenFill>
              </a:ext>
            </a:extLst>
          </p:spPr>
          <p:txBody>
            <a:bodyPr wrap="none" lIns="0" tIns="0" rIns="0" bIns="0" anchor="ctr">
              <a:spAutoFit/>
            </a:bodyPr>
            <a:lstStyle/>
            <a:p>
              <a:endParaRPr lang="zh-CN" altLang="en-US"/>
            </a:p>
          </p:txBody>
        </p:sp>
        <p:sp>
          <p:nvSpPr>
            <p:cNvPr id="49175" name="Text Box 10"/>
            <p:cNvSpPr txBox="1">
              <a:spLocks noChangeArrowheads="1"/>
            </p:cNvSpPr>
            <p:nvPr/>
          </p:nvSpPr>
          <p:spPr bwMode="auto">
            <a:xfrm>
              <a:off x="1151" y="1344"/>
              <a:ext cx="289"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i="1">
                  <a:latin typeface="Symbol" panose="05050102010706020507" pitchFamily="18" charset="2"/>
                </a:rPr>
                <a:t>a</a:t>
              </a:r>
              <a:r>
                <a:rPr lang="en-US" altLang="zh-CN" sz="2000" i="1" baseline="-25000"/>
                <a:t>cr</a:t>
              </a:r>
              <a:endParaRPr lang="en-US" altLang="zh-CN" sz="2000" i="1"/>
            </a:p>
          </p:txBody>
        </p:sp>
        <p:sp>
          <p:nvSpPr>
            <p:cNvPr id="49176" name="Text Box 11"/>
            <p:cNvSpPr txBox="1">
              <a:spLocks noChangeArrowheads="1"/>
            </p:cNvSpPr>
            <p:nvPr/>
          </p:nvSpPr>
          <p:spPr bwMode="auto">
            <a:xfrm>
              <a:off x="1294" y="1011"/>
              <a:ext cx="13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10000"/>
                </a:lnSpc>
                <a:spcBef>
                  <a:spcPct val="50000"/>
                </a:spcBef>
              </a:pPr>
              <a:r>
                <a:rPr lang="en-US" altLang="zh-CN">
                  <a:ea typeface="楷体_GB2312" pitchFamily="49" charset="-122"/>
                </a:rPr>
                <a:t>B</a:t>
              </a:r>
              <a:endParaRPr lang="en-US" altLang="zh-CN">
                <a:ea typeface="楷体_GB2312" pitchFamily="49" charset="-122"/>
              </a:endParaRPr>
            </a:p>
          </p:txBody>
        </p:sp>
        <p:sp>
          <p:nvSpPr>
            <p:cNvPr id="49177" name="Text Box 12"/>
            <p:cNvSpPr txBox="1">
              <a:spLocks noChangeArrowheads="1"/>
            </p:cNvSpPr>
            <p:nvPr/>
          </p:nvSpPr>
          <p:spPr bwMode="auto">
            <a:xfrm>
              <a:off x="2832" y="626"/>
              <a:ext cx="46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10000"/>
                </a:lnSpc>
                <a:spcBef>
                  <a:spcPct val="50000"/>
                </a:spcBef>
              </a:pPr>
              <a:r>
                <a:rPr lang="en-US" altLang="zh-CN">
                  <a:ea typeface="楷体_GB2312" pitchFamily="49" charset="-122"/>
                </a:rPr>
                <a:t>B</a:t>
              </a:r>
              <a:r>
                <a:rPr lang="en-US" altLang="zh-CN" i="1">
                  <a:sym typeface="Symbol" panose="05050102010706020507" pitchFamily="18" charset="2"/>
                </a:rPr>
                <a:t></a:t>
              </a:r>
              <a:endParaRPr lang="en-US" altLang="zh-CN" i="1">
                <a:sym typeface="Symbol" panose="05050102010706020507" pitchFamily="18" charset="2"/>
              </a:endParaRPr>
            </a:p>
          </p:txBody>
        </p:sp>
        <p:grpSp>
          <p:nvGrpSpPr>
            <p:cNvPr id="49178" name="Group 14"/>
            <p:cNvGrpSpPr/>
            <p:nvPr/>
          </p:nvGrpSpPr>
          <p:grpSpPr bwMode="auto">
            <a:xfrm>
              <a:off x="144" y="816"/>
              <a:ext cx="3168" cy="1930"/>
              <a:chOff x="144" y="816"/>
              <a:chExt cx="3168" cy="1930"/>
            </a:xfrm>
          </p:grpSpPr>
          <p:sp>
            <p:nvSpPr>
              <p:cNvPr id="49187" name="Line 15"/>
              <p:cNvSpPr>
                <a:spLocks noChangeShapeType="1"/>
              </p:cNvSpPr>
              <p:nvPr/>
            </p:nvSpPr>
            <p:spPr bwMode="auto">
              <a:xfrm flipV="1">
                <a:off x="864" y="816"/>
                <a:ext cx="2448" cy="55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lIns="0" tIns="0" rIns="0" bIns="0" anchor="ctr">
                <a:spAutoFit/>
              </a:bodyPr>
              <a:lstStyle/>
              <a:p>
                <a:endParaRPr lang="zh-CN" altLang="en-US"/>
              </a:p>
            </p:txBody>
          </p:sp>
          <p:sp>
            <p:nvSpPr>
              <p:cNvPr id="49188" name="Line 16"/>
              <p:cNvSpPr>
                <a:spLocks noChangeShapeType="1"/>
              </p:cNvSpPr>
              <p:nvPr/>
            </p:nvSpPr>
            <p:spPr bwMode="auto">
              <a:xfrm flipH="1" flipV="1">
                <a:off x="868" y="1368"/>
                <a:ext cx="809" cy="1152"/>
              </a:xfrm>
              <a:prstGeom prst="line">
                <a:avLst/>
              </a:prstGeom>
              <a:noFill/>
              <a:ln w="34925">
                <a:solidFill>
                  <a:srgbClr val="993300"/>
                </a:solidFill>
                <a:round/>
              </a:ln>
              <a:extLst>
                <a:ext uri="{909E8E84-426E-40DD-AFC4-6F175D3DCCD1}">
                  <a14:hiddenFill xmlns:a14="http://schemas.microsoft.com/office/drawing/2010/main">
                    <a:noFill/>
                  </a14:hiddenFill>
                </a:ext>
              </a:extLst>
            </p:spPr>
            <p:txBody>
              <a:bodyPr lIns="0" tIns="0" rIns="0" bIns="0" anchor="ctr">
                <a:spAutoFit/>
              </a:bodyPr>
              <a:lstStyle/>
              <a:p>
                <a:endParaRPr lang="zh-CN" altLang="en-US"/>
              </a:p>
            </p:txBody>
          </p:sp>
          <p:sp>
            <p:nvSpPr>
              <p:cNvPr id="49189" name="Line 17"/>
              <p:cNvSpPr>
                <a:spLocks noChangeShapeType="1"/>
              </p:cNvSpPr>
              <p:nvPr/>
            </p:nvSpPr>
            <p:spPr bwMode="auto">
              <a:xfrm>
                <a:off x="868" y="1368"/>
                <a:ext cx="0" cy="55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nchor="ctr">
                <a:spAutoFit/>
              </a:bodyPr>
              <a:lstStyle/>
              <a:p>
                <a:endParaRPr lang="zh-CN" altLang="en-US"/>
              </a:p>
            </p:txBody>
          </p:sp>
          <p:sp>
            <p:nvSpPr>
              <p:cNvPr id="49190" name="Text Box 18"/>
              <p:cNvSpPr txBox="1">
                <a:spLocks noChangeArrowheads="1"/>
              </p:cNvSpPr>
              <p:nvPr/>
            </p:nvSpPr>
            <p:spPr bwMode="auto">
              <a:xfrm>
                <a:off x="864" y="1488"/>
                <a:ext cx="17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i="1">
                    <a:latin typeface="Symbol" panose="05050102010706020507" pitchFamily="18" charset="2"/>
                  </a:rPr>
                  <a:t>a</a:t>
                </a:r>
                <a:endParaRPr lang="en-US" altLang="zh-CN" sz="2000" i="1"/>
              </a:p>
            </p:txBody>
          </p:sp>
          <p:sp>
            <p:nvSpPr>
              <p:cNvPr id="49191" name="Text Box 19"/>
              <p:cNvSpPr txBox="1">
                <a:spLocks noChangeArrowheads="1"/>
              </p:cNvSpPr>
              <p:nvPr/>
            </p:nvSpPr>
            <p:spPr bwMode="auto">
              <a:xfrm>
                <a:off x="1726" y="2498"/>
                <a:ext cx="13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10000"/>
                  </a:lnSpc>
                  <a:spcBef>
                    <a:spcPct val="50000"/>
                  </a:spcBef>
                </a:pPr>
                <a:r>
                  <a:rPr lang="en-US" altLang="zh-CN">
                    <a:ea typeface="楷体_GB2312" pitchFamily="49" charset="-122"/>
                  </a:rPr>
                  <a:t>C</a:t>
                </a:r>
                <a:endParaRPr lang="en-US" altLang="zh-CN">
                  <a:ea typeface="楷体_GB2312" pitchFamily="49" charset="-122"/>
                </a:endParaRPr>
              </a:p>
            </p:txBody>
          </p:sp>
          <p:sp>
            <p:nvSpPr>
              <p:cNvPr id="49192" name="Text Box 20"/>
              <p:cNvSpPr txBox="1">
                <a:spLocks noChangeArrowheads="1"/>
              </p:cNvSpPr>
              <p:nvPr/>
            </p:nvSpPr>
            <p:spPr bwMode="auto">
              <a:xfrm>
                <a:off x="655" y="1064"/>
                <a:ext cx="143"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10000"/>
                  </a:lnSpc>
                  <a:spcBef>
                    <a:spcPct val="50000"/>
                  </a:spcBef>
                </a:pPr>
                <a:r>
                  <a:rPr lang="en-US" altLang="zh-CN">
                    <a:ea typeface="楷体_GB2312" pitchFamily="49" charset="-122"/>
                  </a:rPr>
                  <a:t>A</a:t>
                </a:r>
                <a:endParaRPr lang="en-US" altLang="zh-CN">
                  <a:ea typeface="楷体_GB2312" pitchFamily="49" charset="-122"/>
                </a:endParaRPr>
              </a:p>
            </p:txBody>
          </p:sp>
          <p:sp>
            <p:nvSpPr>
              <p:cNvPr id="49193" name="Line 21"/>
              <p:cNvSpPr>
                <a:spLocks noChangeShapeType="1"/>
              </p:cNvSpPr>
              <p:nvPr/>
            </p:nvSpPr>
            <p:spPr bwMode="auto">
              <a:xfrm flipH="1">
                <a:off x="144" y="1392"/>
                <a:ext cx="720" cy="0"/>
              </a:xfrm>
              <a:prstGeom prst="line">
                <a:avLst/>
              </a:prstGeom>
              <a:noFill/>
              <a:ln w="349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94" name="Line 22"/>
              <p:cNvSpPr>
                <a:spLocks noChangeShapeType="1"/>
              </p:cNvSpPr>
              <p:nvPr/>
            </p:nvSpPr>
            <p:spPr bwMode="auto">
              <a:xfrm flipH="1">
                <a:off x="144" y="2544"/>
                <a:ext cx="1536" cy="0"/>
              </a:xfrm>
              <a:prstGeom prst="line">
                <a:avLst/>
              </a:prstGeom>
              <a:noFill/>
              <a:ln w="349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9179" name="Line 23"/>
            <p:cNvSpPr>
              <a:spLocks noChangeShapeType="1"/>
            </p:cNvSpPr>
            <p:nvPr/>
          </p:nvSpPr>
          <p:spPr bwMode="auto">
            <a:xfrm>
              <a:off x="1344" y="1248"/>
              <a:ext cx="0" cy="33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80" name="Line 24"/>
            <p:cNvSpPr>
              <a:spLocks noChangeShapeType="1"/>
            </p:cNvSpPr>
            <p:nvPr/>
          </p:nvSpPr>
          <p:spPr bwMode="auto">
            <a:xfrm rot="19392216" flipH="1">
              <a:off x="1440" y="1728"/>
              <a:ext cx="608" cy="1"/>
            </a:xfrm>
            <a:prstGeom prst="line">
              <a:avLst/>
            </a:prstGeom>
            <a:noFill/>
            <a:ln w="76200">
              <a:solidFill>
                <a:srgbClr val="000000"/>
              </a:solidFill>
              <a:rou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49181" name="Line 26"/>
            <p:cNvSpPr>
              <a:spLocks noChangeShapeType="1"/>
            </p:cNvSpPr>
            <p:nvPr/>
          </p:nvSpPr>
          <p:spPr bwMode="auto">
            <a:xfrm flipH="1">
              <a:off x="1248" y="1584"/>
              <a:ext cx="1" cy="432"/>
            </a:xfrm>
            <a:prstGeom prst="line">
              <a:avLst/>
            </a:prstGeom>
            <a:noFill/>
            <a:ln w="76200" cap="sq">
              <a:solidFill>
                <a:srgbClr val="0000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9182" name="Text Box 28"/>
            <p:cNvSpPr txBox="1">
              <a:spLocks noChangeArrowheads="1"/>
            </p:cNvSpPr>
            <p:nvPr/>
          </p:nvSpPr>
          <p:spPr bwMode="auto">
            <a:xfrm>
              <a:off x="2016" y="1248"/>
              <a:ext cx="480"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ct val="50000"/>
                </a:spcBef>
              </a:pPr>
              <a:r>
                <a:rPr lang="en-US" altLang="zh-CN" sz="2800" b="1">
                  <a:ea typeface="楷体_GB2312" pitchFamily="49" charset="-122"/>
                </a:rPr>
                <a:t>E</a:t>
              </a:r>
              <a:r>
                <a:rPr lang="en-US" altLang="zh-CN" sz="2800" b="1" baseline="-25000">
                  <a:ea typeface="楷体_GB2312" pitchFamily="49" charset="-122"/>
                </a:rPr>
                <a:t>a</a:t>
              </a:r>
              <a:r>
                <a:rPr lang="en-US" altLang="zh-CN" sz="2800" b="1">
                  <a:cs typeface="Times New Roman" panose="02020603050405020304" pitchFamily="18" charset="0"/>
                </a:rPr>
                <a:t>´</a:t>
              </a:r>
              <a:endParaRPr lang="en-US" altLang="zh-CN" sz="2800" b="1">
                <a:ea typeface="楷体_GB2312" pitchFamily="49" charset="-122"/>
              </a:endParaRPr>
            </a:p>
          </p:txBody>
        </p:sp>
        <p:sp>
          <p:nvSpPr>
            <p:cNvPr id="49183" name="AutoShape 32"/>
            <p:cNvSpPr>
              <a:spLocks noChangeArrowheads="1"/>
            </p:cNvSpPr>
            <p:nvPr/>
          </p:nvSpPr>
          <p:spPr bwMode="auto">
            <a:xfrm>
              <a:off x="2640" y="2256"/>
              <a:ext cx="1056" cy="272"/>
            </a:xfrm>
            <a:prstGeom prst="wedgeRoundRectCallout">
              <a:avLst>
                <a:gd name="adj1" fmla="val -70644"/>
                <a:gd name="adj2" fmla="val -273380"/>
                <a:gd name="adj3" fmla="val 16667"/>
              </a:avLst>
            </a:prstGeom>
            <a:noFill/>
            <a:ln w="19050" algn="ctr">
              <a:solidFill>
                <a:srgbClr val="C0C0C0"/>
              </a:solidFill>
              <a:miter lim="800000"/>
            </a:ln>
            <a:extLst>
              <a:ext uri="{909E8E84-426E-40DD-AFC4-6F175D3DCCD1}">
                <a14:hiddenFill xmlns:a14="http://schemas.microsoft.com/office/drawing/2010/main">
                  <a:solidFill>
                    <a:srgbClr val="FFFFFF"/>
                  </a:solidFill>
                </a14:hiddenFill>
              </a:ext>
            </a:extLst>
          </p:spPr>
          <p:txBody>
            <a:bodyPr lIns="0" r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zh-CN" altLang="en-US" sz="2000" b="1">
                  <a:latin typeface="Arial" panose="020B0604020202020204" pitchFamily="34" charset="0"/>
                </a:rPr>
                <a:t>滑裂面</a:t>
              </a:r>
              <a:r>
                <a:rPr kumimoji="0" lang="en-US" altLang="zh-CN" sz="2000" b="1">
                  <a:latin typeface="Arial" panose="020B0604020202020204" pitchFamily="34" charset="0"/>
                </a:rPr>
                <a:t>2</a:t>
              </a:r>
              <a:endParaRPr kumimoji="0" lang="en-US" altLang="zh-CN" sz="2000" b="1">
                <a:latin typeface="Arial" panose="020B0604020202020204" pitchFamily="34" charset="0"/>
              </a:endParaRPr>
            </a:p>
          </p:txBody>
        </p:sp>
        <p:sp>
          <p:nvSpPr>
            <p:cNvPr id="49184" name="AutoShape 33"/>
            <p:cNvSpPr>
              <a:spLocks noChangeArrowheads="1"/>
            </p:cNvSpPr>
            <p:nvPr/>
          </p:nvSpPr>
          <p:spPr bwMode="auto">
            <a:xfrm>
              <a:off x="1776" y="528"/>
              <a:ext cx="1056" cy="271"/>
            </a:xfrm>
            <a:prstGeom prst="wedgeRoundRectCallout">
              <a:avLst>
                <a:gd name="adj1" fmla="val -84468"/>
                <a:gd name="adj2" fmla="val 282736"/>
                <a:gd name="adj3" fmla="val 16667"/>
              </a:avLst>
            </a:prstGeom>
            <a:noFill/>
            <a:ln w="19050" algn="ctr">
              <a:solidFill>
                <a:srgbClr val="C0C0C0"/>
              </a:solidFill>
              <a:miter lim="800000"/>
            </a:ln>
            <a:extLst>
              <a:ext uri="{909E8E84-426E-40DD-AFC4-6F175D3DCCD1}">
                <a14:hiddenFill xmlns:a14="http://schemas.microsoft.com/office/drawing/2010/main">
                  <a:solidFill>
                    <a:srgbClr val="FFFFFF"/>
                  </a:solidFill>
                </a14:hiddenFill>
              </a:ext>
            </a:extLst>
          </p:spPr>
          <p:txBody>
            <a:bodyPr lIns="0" r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zh-CN" altLang="en-US" sz="2000" b="1">
                  <a:latin typeface="Arial" panose="020B0604020202020204" pitchFamily="34" charset="0"/>
                </a:rPr>
                <a:t>滑裂面</a:t>
              </a:r>
              <a:r>
                <a:rPr kumimoji="0" lang="en-US" altLang="zh-CN" sz="2000" b="1">
                  <a:latin typeface="Arial" panose="020B0604020202020204" pitchFamily="34" charset="0"/>
                </a:rPr>
                <a:t>1</a:t>
              </a:r>
              <a:endParaRPr kumimoji="0" lang="en-US" altLang="zh-CN" sz="2000" b="1">
                <a:latin typeface="Arial" panose="020B0604020202020204" pitchFamily="34" charset="0"/>
              </a:endParaRPr>
            </a:p>
          </p:txBody>
        </p:sp>
        <p:sp>
          <p:nvSpPr>
            <p:cNvPr id="49185" name="Arc 43"/>
            <p:cNvSpPr/>
            <p:nvPr/>
          </p:nvSpPr>
          <p:spPr bwMode="auto">
            <a:xfrm flipV="1">
              <a:off x="1338" y="1389"/>
              <a:ext cx="45" cy="4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186" name="AutoShape 44"/>
            <p:cNvSpPr>
              <a:spLocks noChangeArrowheads="1"/>
            </p:cNvSpPr>
            <p:nvPr/>
          </p:nvSpPr>
          <p:spPr bwMode="auto">
            <a:xfrm rot="9866483">
              <a:off x="1056" y="1296"/>
              <a:ext cx="453" cy="1342"/>
            </a:xfrm>
            <a:prstGeom prst="rtTriangle">
              <a:avLst/>
            </a:prstGeom>
            <a:solidFill>
              <a:schemeClr val="folHlink">
                <a:alpha val="50195"/>
              </a:schemeClr>
            </a:solidFill>
            <a:ln w="9525">
              <a:solidFill>
                <a:schemeClr val="folHlink"/>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sp>
        <p:nvSpPr>
          <p:cNvPr id="49161" name="AutoShape 49"/>
          <p:cNvSpPr>
            <a:spLocks noChangeArrowheads="1"/>
          </p:cNvSpPr>
          <p:nvPr/>
        </p:nvSpPr>
        <p:spPr bwMode="auto">
          <a:xfrm rot="1260000">
            <a:off x="4787900" y="3141663"/>
            <a:ext cx="1873250" cy="215900"/>
          </a:xfrm>
          <a:prstGeom prst="rightArrow">
            <a:avLst>
              <a:gd name="adj1" fmla="val 50000"/>
              <a:gd name="adj2" fmla="val 216912"/>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49162" name="Rectangle 50"/>
          <p:cNvSpPr>
            <a:spLocks noChangeArrowheads="1"/>
          </p:cNvSpPr>
          <p:nvPr/>
        </p:nvSpPr>
        <p:spPr bwMode="auto">
          <a:xfrm>
            <a:off x="6319838" y="4946650"/>
            <a:ext cx="2247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a:ea typeface="楷体_GB2312" pitchFamily="49" charset="-122"/>
              </a:rPr>
              <a:t>根据力三角形确定</a:t>
            </a:r>
            <a:endParaRPr lang="zh-CN" altLang="en-US" sz="2000" b="1">
              <a:ea typeface="楷体_GB2312" pitchFamily="49" charset="-122"/>
            </a:endParaRPr>
          </a:p>
        </p:txBody>
      </p:sp>
      <p:sp>
        <p:nvSpPr>
          <p:cNvPr id="49163" name="Line 52"/>
          <p:cNvSpPr>
            <a:spLocks noChangeShapeType="1"/>
          </p:cNvSpPr>
          <p:nvPr/>
        </p:nvSpPr>
        <p:spPr bwMode="auto">
          <a:xfrm>
            <a:off x="1363663" y="2101850"/>
            <a:ext cx="50323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64" name="Arc 53"/>
          <p:cNvSpPr/>
          <p:nvPr/>
        </p:nvSpPr>
        <p:spPr bwMode="auto">
          <a:xfrm>
            <a:off x="1660525" y="1989138"/>
            <a:ext cx="71438" cy="71437"/>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165" name="Rectangle 54"/>
          <p:cNvSpPr>
            <a:spLocks noChangeArrowheads="1"/>
          </p:cNvSpPr>
          <p:nvPr/>
        </p:nvSpPr>
        <p:spPr bwMode="auto">
          <a:xfrm>
            <a:off x="1403350" y="1557338"/>
            <a:ext cx="334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b="1">
                <a:sym typeface="Symbol" panose="05050102010706020507" pitchFamily="18" charset="2"/>
              </a:rPr>
              <a:t></a:t>
            </a:r>
            <a:endParaRPr kumimoji="0" lang="en-US" altLang="zh-CN" b="1">
              <a:sym typeface="Symbol" panose="05050102010706020507" pitchFamily="18" charset="2"/>
            </a:endParaRPr>
          </a:p>
        </p:txBody>
      </p:sp>
      <p:sp>
        <p:nvSpPr>
          <p:cNvPr id="49" name="Rectangle 6"/>
          <p:cNvSpPr>
            <a:spLocks noChangeArrowheads="1"/>
          </p:cNvSpPr>
          <p:nvPr/>
        </p:nvSpPr>
        <p:spPr bwMode="auto">
          <a:xfrm>
            <a:off x="-3175" y="-9842"/>
            <a:ext cx="3617913"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§6.4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库仑土压力理论</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0990"/>
                                        </p:tgtEl>
                                        <p:attrNameLst>
                                          <p:attrName>style.visibility</p:attrName>
                                        </p:attrNameLst>
                                      </p:cBhvr>
                                      <p:to>
                                        <p:strVal val="visible"/>
                                      </p:to>
                                    </p:set>
                                    <p:animEffect transition="in" filter="dissolve">
                                      <p:cBhvr>
                                        <p:cTn id="7" dur="500"/>
                                        <p:tgtEl>
                                          <p:spTgt spid="40990"/>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0991"/>
                                        </p:tgtEl>
                                        <p:attrNameLst>
                                          <p:attrName>style.visibility</p:attrName>
                                        </p:attrNameLst>
                                      </p:cBhvr>
                                      <p:to>
                                        <p:strVal val="visible"/>
                                      </p:to>
                                    </p:set>
                                    <p:animEffect transition="in" filter="dissolve">
                                      <p:cBhvr>
                                        <p:cTn id="11" dur="500"/>
                                        <p:tgtEl>
                                          <p:spTgt spid="4099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0987">
                                            <p:txEl>
                                              <p:pRg st="0" end="0"/>
                                            </p:txEl>
                                          </p:spTgt>
                                        </p:tgtEl>
                                        <p:attrNameLst>
                                          <p:attrName>style.visibility</p:attrName>
                                        </p:attrNameLst>
                                      </p:cBhvr>
                                      <p:to>
                                        <p:strVal val="visible"/>
                                      </p:to>
                                    </p:set>
                                    <p:animEffect transition="in" filter="wipe(left)">
                                      <p:cBhvr>
                                        <p:cTn id="16" dur="500"/>
                                        <p:tgtEl>
                                          <p:spTgt spid="40987">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40987">
                                            <p:txEl>
                                              <p:pRg st="1" end="1"/>
                                            </p:txEl>
                                          </p:spTgt>
                                        </p:tgtEl>
                                        <p:attrNameLst>
                                          <p:attrName>style.visibility</p:attrName>
                                        </p:attrNameLst>
                                      </p:cBhvr>
                                      <p:to>
                                        <p:strVal val="visible"/>
                                      </p:to>
                                    </p:set>
                                    <p:animEffect transition="in" filter="wipe(left)">
                                      <p:cBhvr>
                                        <p:cTn id="21" dur="500"/>
                                        <p:tgtEl>
                                          <p:spTgt spid="40987">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40987">
                                            <p:txEl>
                                              <p:pRg st="2" end="2"/>
                                            </p:txEl>
                                          </p:spTgt>
                                        </p:tgtEl>
                                        <p:attrNameLst>
                                          <p:attrName>style.visibility</p:attrName>
                                        </p:attrNameLst>
                                      </p:cBhvr>
                                      <p:to>
                                        <p:strVal val="visible"/>
                                      </p:to>
                                    </p:set>
                                    <p:animEffect transition="in" filter="wipe(left)">
                                      <p:cBhvr>
                                        <p:cTn id="26" dur="500"/>
                                        <p:tgtEl>
                                          <p:spTgt spid="40987">
                                            <p:txEl>
                                              <p:pRg st="2" end="2"/>
                                            </p:txEl>
                                          </p:spTgt>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40989"/>
                                        </p:tgtEl>
                                        <p:attrNameLst>
                                          <p:attrName>style.visibility</p:attrName>
                                        </p:attrNameLst>
                                      </p:cBhvr>
                                      <p:to>
                                        <p:strVal val="visible"/>
                                      </p:to>
                                    </p:set>
                                    <p:animEffect transition="in" filter="wipe(left)">
                                      <p:cBhvr>
                                        <p:cTn id="30" dur="500"/>
                                        <p:tgtEl>
                                          <p:spTgt spid="409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7" grpId="0" autoUpdateAnimBg="0" build="p"/>
      <p:bldP spid="40991" grpId="0" animBg="1"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2" descr="fig6"/>
          <p:cNvPicPr>
            <a:picLocks noChangeAspect="1" noChangeArrowheads="1"/>
          </p:cNvPicPr>
          <p:nvPr/>
        </p:nvPicPr>
        <p:blipFill>
          <a:blip r:embed="rId1">
            <a:extLst>
              <a:ext uri="{28A0092B-C50C-407E-A947-70E740481C1C}">
                <a14:useLocalDpi xmlns:a14="http://schemas.microsoft.com/office/drawing/2010/main" val="0"/>
              </a:ext>
            </a:extLst>
          </a:blip>
          <a:srcRect b="18398"/>
          <a:stretch>
            <a:fillRect/>
          </a:stretch>
        </p:blipFill>
        <p:spPr bwMode="auto">
          <a:xfrm>
            <a:off x="0" y="2286000"/>
            <a:ext cx="91440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5" name="Line 3"/>
          <p:cNvSpPr>
            <a:spLocks noChangeAspect="1" noChangeShapeType="1"/>
          </p:cNvSpPr>
          <p:nvPr/>
        </p:nvSpPr>
        <p:spPr bwMode="auto">
          <a:xfrm>
            <a:off x="5273675" y="2663825"/>
            <a:ext cx="17463" cy="657225"/>
          </a:xfrm>
          <a:prstGeom prst="line">
            <a:avLst/>
          </a:prstGeom>
          <a:noFill/>
          <a:ln w="38100" cap="sq">
            <a:solidFill>
              <a:srgbClr val="0000FF"/>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56" name="Line 4"/>
          <p:cNvSpPr>
            <a:spLocks noChangeAspect="1" noChangeShapeType="1"/>
          </p:cNvSpPr>
          <p:nvPr/>
        </p:nvSpPr>
        <p:spPr bwMode="auto">
          <a:xfrm>
            <a:off x="5281613" y="2690813"/>
            <a:ext cx="41275" cy="1674812"/>
          </a:xfrm>
          <a:prstGeom prst="line">
            <a:avLst/>
          </a:prstGeom>
          <a:noFill/>
          <a:ln w="38100" cap="sq">
            <a:solidFill>
              <a:srgbClr val="0000FF"/>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57" name="Line 5"/>
          <p:cNvSpPr>
            <a:spLocks noChangeAspect="1" noChangeShapeType="1"/>
          </p:cNvSpPr>
          <p:nvPr/>
        </p:nvSpPr>
        <p:spPr bwMode="auto">
          <a:xfrm>
            <a:off x="5276850" y="2682875"/>
            <a:ext cx="69850" cy="2854325"/>
          </a:xfrm>
          <a:prstGeom prst="line">
            <a:avLst/>
          </a:prstGeom>
          <a:noFill/>
          <a:ln w="38100" cap="sq">
            <a:solidFill>
              <a:srgbClr val="0000FF"/>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58" name="Line 6"/>
          <p:cNvSpPr>
            <a:spLocks noChangeAspect="1" noChangeShapeType="1"/>
          </p:cNvSpPr>
          <p:nvPr/>
        </p:nvSpPr>
        <p:spPr bwMode="auto">
          <a:xfrm flipV="1">
            <a:off x="5383213" y="4887913"/>
            <a:ext cx="709612" cy="622300"/>
          </a:xfrm>
          <a:prstGeom prst="line">
            <a:avLst/>
          </a:prstGeom>
          <a:noFill/>
          <a:ln w="38100" cap="sq">
            <a:solidFill>
              <a:srgbClr val="FF00FF"/>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59" name="Line 7"/>
          <p:cNvSpPr>
            <a:spLocks noChangeAspect="1" noChangeShapeType="1"/>
          </p:cNvSpPr>
          <p:nvPr/>
        </p:nvSpPr>
        <p:spPr bwMode="auto">
          <a:xfrm>
            <a:off x="5278438" y="2668588"/>
            <a:ext cx="79375" cy="3297237"/>
          </a:xfrm>
          <a:prstGeom prst="line">
            <a:avLst/>
          </a:prstGeom>
          <a:noFill/>
          <a:ln w="38100" cap="sq">
            <a:solidFill>
              <a:srgbClr val="0000FF"/>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60" name="Text Box 8"/>
          <p:cNvSpPr txBox="1">
            <a:spLocks noChangeArrowheads="1"/>
          </p:cNvSpPr>
          <p:nvPr/>
        </p:nvSpPr>
        <p:spPr bwMode="auto">
          <a:xfrm>
            <a:off x="852488" y="779463"/>
            <a:ext cx="982662" cy="368300"/>
          </a:xfrm>
          <a:prstGeom prst="rect">
            <a:avLst/>
          </a:prstGeom>
          <a:solidFill>
            <a:srgbClr val="FFC000"/>
          </a:solidFill>
          <a:ln>
            <a:noFill/>
          </a:ln>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b="1" dirty="0" smtClean="0">
                <a:latin typeface="+mn-ea"/>
                <a:ea typeface="+mn-ea"/>
              </a:rPr>
              <a:t>图解法</a:t>
            </a:r>
            <a:endParaRPr kumimoji="0" lang="zh-CN" altLang="en-US" b="1" dirty="0" smtClean="0">
              <a:latin typeface="+mn-ea"/>
              <a:ea typeface="+mn-ea"/>
            </a:endParaRPr>
          </a:p>
        </p:txBody>
      </p:sp>
      <p:sp>
        <p:nvSpPr>
          <p:cNvPr id="74761" name="Line 9"/>
          <p:cNvSpPr>
            <a:spLocks noChangeAspect="1" noChangeShapeType="1"/>
          </p:cNvSpPr>
          <p:nvPr/>
        </p:nvSpPr>
        <p:spPr bwMode="auto">
          <a:xfrm flipV="1">
            <a:off x="5307013" y="3027363"/>
            <a:ext cx="393700" cy="346075"/>
          </a:xfrm>
          <a:prstGeom prst="line">
            <a:avLst/>
          </a:prstGeom>
          <a:noFill/>
          <a:ln w="38100" cap="sq">
            <a:solidFill>
              <a:srgbClr val="FF00FF"/>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62" name="Line 10"/>
          <p:cNvSpPr>
            <a:spLocks noChangeAspect="1" noChangeShapeType="1"/>
          </p:cNvSpPr>
          <p:nvPr/>
        </p:nvSpPr>
        <p:spPr bwMode="auto">
          <a:xfrm flipV="1">
            <a:off x="5354638" y="3768725"/>
            <a:ext cx="630237" cy="554038"/>
          </a:xfrm>
          <a:prstGeom prst="line">
            <a:avLst/>
          </a:prstGeom>
          <a:noFill/>
          <a:ln w="38100" cap="sq">
            <a:solidFill>
              <a:srgbClr val="FF00FF"/>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63" name="Line 11"/>
          <p:cNvSpPr>
            <a:spLocks noChangeAspect="1" noChangeShapeType="1"/>
          </p:cNvSpPr>
          <p:nvPr/>
        </p:nvSpPr>
        <p:spPr bwMode="auto">
          <a:xfrm flipV="1">
            <a:off x="5335588" y="4405313"/>
            <a:ext cx="769937" cy="676275"/>
          </a:xfrm>
          <a:prstGeom prst="line">
            <a:avLst/>
          </a:prstGeom>
          <a:noFill/>
          <a:ln w="38100" cap="sq">
            <a:solidFill>
              <a:srgbClr val="00FF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64" name="Line 12"/>
          <p:cNvSpPr>
            <a:spLocks noChangeAspect="1" noChangeShapeType="1"/>
          </p:cNvSpPr>
          <p:nvPr/>
        </p:nvSpPr>
        <p:spPr bwMode="auto">
          <a:xfrm flipV="1">
            <a:off x="5354638" y="5549900"/>
            <a:ext cx="490537" cy="431800"/>
          </a:xfrm>
          <a:prstGeom prst="line">
            <a:avLst/>
          </a:prstGeom>
          <a:noFill/>
          <a:ln w="38100" cap="sq">
            <a:solidFill>
              <a:srgbClr val="FF00FF"/>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65" name="Line 13"/>
          <p:cNvSpPr>
            <a:spLocks noChangeShapeType="1"/>
          </p:cNvSpPr>
          <p:nvPr/>
        </p:nvSpPr>
        <p:spPr bwMode="auto">
          <a:xfrm>
            <a:off x="5307013" y="2681288"/>
            <a:ext cx="622300" cy="2905125"/>
          </a:xfrm>
          <a:prstGeom prst="line">
            <a:avLst/>
          </a:prstGeom>
          <a:noFill/>
          <a:ln w="25400" cap="sq">
            <a:solidFill>
              <a:srgbClr val="80008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4766" name="Line 14"/>
          <p:cNvSpPr>
            <a:spLocks noChangeShapeType="1"/>
          </p:cNvSpPr>
          <p:nvPr/>
        </p:nvSpPr>
        <p:spPr bwMode="auto">
          <a:xfrm>
            <a:off x="5287963" y="2592388"/>
            <a:ext cx="819150" cy="2351087"/>
          </a:xfrm>
          <a:prstGeom prst="line">
            <a:avLst/>
          </a:prstGeom>
          <a:noFill/>
          <a:ln w="25400" cap="sq">
            <a:solidFill>
              <a:srgbClr val="80008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4767" name="Line 15"/>
          <p:cNvSpPr>
            <a:spLocks noChangeShapeType="1"/>
          </p:cNvSpPr>
          <p:nvPr/>
        </p:nvSpPr>
        <p:spPr bwMode="auto">
          <a:xfrm>
            <a:off x="5302250" y="2662238"/>
            <a:ext cx="854075" cy="1816100"/>
          </a:xfrm>
          <a:prstGeom prst="line">
            <a:avLst/>
          </a:prstGeom>
          <a:noFill/>
          <a:ln w="38100" cap="sq">
            <a:solidFill>
              <a:srgbClr val="00FF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4768" name="Line 16"/>
          <p:cNvSpPr>
            <a:spLocks noChangeShapeType="1"/>
          </p:cNvSpPr>
          <p:nvPr/>
        </p:nvSpPr>
        <p:spPr bwMode="auto">
          <a:xfrm>
            <a:off x="5283200" y="2605088"/>
            <a:ext cx="706438" cy="1166812"/>
          </a:xfrm>
          <a:prstGeom prst="line">
            <a:avLst/>
          </a:prstGeom>
          <a:noFill/>
          <a:ln w="25400" cap="sq">
            <a:solidFill>
              <a:srgbClr val="80008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4769" name="Line 17"/>
          <p:cNvSpPr>
            <a:spLocks noChangeShapeType="1"/>
          </p:cNvSpPr>
          <p:nvPr/>
        </p:nvSpPr>
        <p:spPr bwMode="auto">
          <a:xfrm>
            <a:off x="5265738" y="2671763"/>
            <a:ext cx="395287" cy="373062"/>
          </a:xfrm>
          <a:prstGeom prst="line">
            <a:avLst/>
          </a:prstGeom>
          <a:noFill/>
          <a:ln w="25400" cap="sq">
            <a:solidFill>
              <a:srgbClr val="80008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4770" name="Freeform 18"/>
          <p:cNvSpPr/>
          <p:nvPr/>
        </p:nvSpPr>
        <p:spPr bwMode="auto">
          <a:xfrm>
            <a:off x="5535613" y="2836863"/>
            <a:ext cx="627062" cy="2836862"/>
          </a:xfrm>
          <a:custGeom>
            <a:avLst/>
            <a:gdLst>
              <a:gd name="T0" fmla="*/ 0 w 350"/>
              <a:gd name="T1" fmla="*/ 0 h 1500"/>
              <a:gd name="T2" fmla="*/ 2147483646 w 350"/>
              <a:gd name="T3" fmla="*/ 2147483646 h 1500"/>
              <a:gd name="T4" fmla="*/ 2147483646 w 350"/>
              <a:gd name="T5" fmla="*/ 2147483646 h 1500"/>
              <a:gd name="T6" fmla="*/ 2147483646 w 350"/>
              <a:gd name="T7" fmla="*/ 2147483646 h 1500"/>
              <a:gd name="T8" fmla="*/ 2147483646 w 350"/>
              <a:gd name="T9" fmla="*/ 2147483646 h 1500"/>
              <a:gd name="T10" fmla="*/ 2147483646 w 350"/>
              <a:gd name="T11" fmla="*/ 2147483646 h 1500"/>
              <a:gd name="T12" fmla="*/ 0 60000 65536"/>
              <a:gd name="T13" fmla="*/ 0 60000 65536"/>
              <a:gd name="T14" fmla="*/ 0 60000 65536"/>
              <a:gd name="T15" fmla="*/ 0 60000 65536"/>
              <a:gd name="T16" fmla="*/ 0 60000 65536"/>
              <a:gd name="T17" fmla="*/ 0 60000 65536"/>
              <a:gd name="T18" fmla="*/ 0 w 350"/>
              <a:gd name="T19" fmla="*/ 0 h 1500"/>
              <a:gd name="T20" fmla="*/ 350 w 350"/>
              <a:gd name="T21" fmla="*/ 1500 h 1500"/>
            </a:gdLst>
            <a:ahLst/>
            <a:cxnLst>
              <a:cxn ang="T12">
                <a:pos x="T0" y="T1"/>
              </a:cxn>
              <a:cxn ang="T13">
                <a:pos x="T2" y="T3"/>
              </a:cxn>
              <a:cxn ang="T14">
                <a:pos x="T4" y="T5"/>
              </a:cxn>
              <a:cxn ang="T15">
                <a:pos x="T6" y="T7"/>
              </a:cxn>
              <a:cxn ang="T16">
                <a:pos x="T8" y="T9"/>
              </a:cxn>
              <a:cxn ang="T17">
                <a:pos x="T10" y="T11"/>
              </a:cxn>
            </a:cxnLst>
            <a:rect l="T18" t="T19" r="T20" b="T21"/>
            <a:pathLst>
              <a:path w="350" h="1500">
                <a:moveTo>
                  <a:pt x="0" y="0"/>
                </a:moveTo>
                <a:cubicBezTo>
                  <a:pt x="47" y="69"/>
                  <a:pt x="94" y="138"/>
                  <a:pt x="137" y="220"/>
                </a:cubicBezTo>
                <a:cubicBezTo>
                  <a:pt x="180" y="302"/>
                  <a:pt x="222" y="387"/>
                  <a:pt x="256" y="494"/>
                </a:cubicBezTo>
                <a:cubicBezTo>
                  <a:pt x="290" y="601"/>
                  <a:pt x="328" y="753"/>
                  <a:pt x="339" y="860"/>
                </a:cubicBezTo>
                <a:cubicBezTo>
                  <a:pt x="350" y="967"/>
                  <a:pt x="344" y="1028"/>
                  <a:pt x="320" y="1134"/>
                </a:cubicBezTo>
                <a:cubicBezTo>
                  <a:pt x="296" y="1240"/>
                  <a:pt x="215" y="1430"/>
                  <a:pt x="192" y="1500"/>
                </a:cubicBezTo>
              </a:path>
            </a:pathLst>
          </a:custGeom>
          <a:noFill/>
          <a:ln w="38100" cap="sq">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4771" name="Line 19"/>
          <p:cNvSpPr>
            <a:spLocks noChangeShapeType="1"/>
          </p:cNvSpPr>
          <p:nvPr/>
        </p:nvSpPr>
        <p:spPr bwMode="auto">
          <a:xfrm>
            <a:off x="6142038" y="3060700"/>
            <a:ext cx="33337" cy="2871788"/>
          </a:xfrm>
          <a:prstGeom prst="line">
            <a:avLst/>
          </a:prstGeom>
          <a:noFill/>
          <a:ln w="38100" cap="sq">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4772" name="Line 20"/>
          <p:cNvSpPr>
            <a:spLocks noChangeShapeType="1"/>
          </p:cNvSpPr>
          <p:nvPr/>
        </p:nvSpPr>
        <p:spPr bwMode="auto">
          <a:xfrm flipH="1">
            <a:off x="7223125" y="3683000"/>
            <a:ext cx="490538" cy="692150"/>
          </a:xfrm>
          <a:prstGeom prst="line">
            <a:avLst/>
          </a:prstGeom>
          <a:noFill/>
          <a:ln w="38100">
            <a:solidFill>
              <a:schemeClr val="folHlink"/>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4773" name="Line 21"/>
          <p:cNvSpPr>
            <a:spLocks noChangeShapeType="1"/>
          </p:cNvSpPr>
          <p:nvPr/>
        </p:nvSpPr>
        <p:spPr bwMode="auto">
          <a:xfrm flipH="1">
            <a:off x="1227138" y="3352800"/>
            <a:ext cx="474662" cy="2524125"/>
          </a:xfrm>
          <a:prstGeom prst="line">
            <a:avLst/>
          </a:prstGeom>
          <a:noFill/>
          <a:ln w="25400" cap="sq">
            <a:solidFill>
              <a:srgbClr val="80008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4774" name="Line 22"/>
          <p:cNvSpPr>
            <a:spLocks noChangeShapeType="1"/>
          </p:cNvSpPr>
          <p:nvPr/>
        </p:nvSpPr>
        <p:spPr bwMode="auto">
          <a:xfrm flipH="1">
            <a:off x="1225550" y="3073400"/>
            <a:ext cx="1293813" cy="2749550"/>
          </a:xfrm>
          <a:prstGeom prst="line">
            <a:avLst/>
          </a:prstGeom>
          <a:noFill/>
          <a:ln w="25400" cap="sq">
            <a:solidFill>
              <a:srgbClr val="80008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4775" name="Line 23"/>
          <p:cNvSpPr>
            <a:spLocks noChangeShapeType="1"/>
          </p:cNvSpPr>
          <p:nvPr/>
        </p:nvSpPr>
        <p:spPr bwMode="auto">
          <a:xfrm flipH="1">
            <a:off x="1225550" y="2882900"/>
            <a:ext cx="1735138" cy="2973388"/>
          </a:xfrm>
          <a:prstGeom prst="line">
            <a:avLst/>
          </a:prstGeom>
          <a:noFill/>
          <a:ln w="38100" cap="sq">
            <a:solidFill>
              <a:srgbClr val="00FF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4776" name="Line 24"/>
          <p:cNvSpPr>
            <a:spLocks noChangeShapeType="1"/>
          </p:cNvSpPr>
          <p:nvPr/>
        </p:nvSpPr>
        <p:spPr bwMode="auto">
          <a:xfrm flipH="1">
            <a:off x="1239838" y="2778125"/>
            <a:ext cx="2374900" cy="3059113"/>
          </a:xfrm>
          <a:prstGeom prst="line">
            <a:avLst/>
          </a:prstGeom>
          <a:noFill/>
          <a:ln w="25400" cap="sq">
            <a:solidFill>
              <a:srgbClr val="80008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4777" name="Line 25"/>
          <p:cNvSpPr>
            <a:spLocks noChangeShapeType="1"/>
          </p:cNvSpPr>
          <p:nvPr/>
        </p:nvSpPr>
        <p:spPr bwMode="auto">
          <a:xfrm flipH="1">
            <a:off x="1254125" y="2724150"/>
            <a:ext cx="3030538" cy="3128963"/>
          </a:xfrm>
          <a:prstGeom prst="line">
            <a:avLst/>
          </a:prstGeom>
          <a:noFill/>
          <a:ln w="25400" cap="sq">
            <a:solidFill>
              <a:srgbClr val="80008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4778" name="AutoShape 26"/>
          <p:cNvSpPr>
            <a:spLocks noChangeArrowheads="1"/>
          </p:cNvSpPr>
          <p:nvPr/>
        </p:nvSpPr>
        <p:spPr bwMode="auto">
          <a:xfrm rot="8889161">
            <a:off x="7239000" y="4114800"/>
            <a:ext cx="628650" cy="158750"/>
          </a:xfrm>
          <a:prstGeom prst="rightArrow">
            <a:avLst>
              <a:gd name="adj1" fmla="val 50000"/>
              <a:gd name="adj2" fmla="val 99000"/>
            </a:avLst>
          </a:prstGeom>
          <a:solidFill>
            <a:srgbClr val="CC0099"/>
          </a:solidFill>
          <a:ln w="9525">
            <a:solidFill>
              <a:srgbClr val="993300"/>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74779" name="AutoShape 27"/>
          <p:cNvSpPr>
            <a:spLocks noChangeArrowheads="1"/>
          </p:cNvSpPr>
          <p:nvPr/>
        </p:nvSpPr>
        <p:spPr bwMode="auto">
          <a:xfrm>
            <a:off x="2297113" y="646113"/>
            <a:ext cx="5619750" cy="1633537"/>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50000"/>
              </a:lnSpc>
              <a:defRPr/>
            </a:pPr>
            <a:r>
              <a:rPr kumimoji="0" lang="en-US" altLang="zh-CN" sz="2000" b="1" dirty="0" smtClean="0">
                <a:solidFill>
                  <a:srgbClr val="0000FF"/>
                </a:solidFill>
                <a:ea typeface="+mn-ea"/>
                <a:cs typeface="Times New Roman" panose="02020603050405020304" pitchFamily="18" charset="0"/>
              </a:rPr>
              <a:t>——</a:t>
            </a:r>
            <a:r>
              <a:rPr kumimoji="0" lang="zh-CN" altLang="en-US" sz="2000" b="1" dirty="0" smtClean="0">
                <a:solidFill>
                  <a:srgbClr val="0000FF"/>
                </a:solidFill>
                <a:ea typeface="+mn-ea"/>
                <a:cs typeface="Times New Roman" panose="02020603050405020304" pitchFamily="18" charset="0"/>
              </a:rPr>
              <a:t>填土为黏性土，</a:t>
            </a:r>
            <a:r>
              <a:rPr kumimoji="0" lang="zh-CN" altLang="en-US" sz="2000" b="1" dirty="0" smtClean="0">
                <a:solidFill>
                  <a:srgbClr val="C00000"/>
                </a:solidFill>
                <a:ea typeface="+mn-ea"/>
                <a:cs typeface="Times New Roman" panose="02020603050405020304" pitchFamily="18" charset="0"/>
              </a:rPr>
              <a:t>等值内摩擦角</a:t>
            </a:r>
            <a:r>
              <a:rPr kumimoji="0" lang="el-GR" altLang="zh-CN" sz="2000" b="1" dirty="0" smtClean="0">
                <a:solidFill>
                  <a:srgbClr val="C00000"/>
                </a:solidFill>
                <a:ea typeface="+mn-ea"/>
                <a:cs typeface="Times New Roman" panose="02020603050405020304" pitchFamily="18" charset="0"/>
              </a:rPr>
              <a:t>φ</a:t>
            </a:r>
            <a:r>
              <a:rPr kumimoji="0" lang="en-US" altLang="zh-CN" sz="2000" b="1" baseline="-25000" dirty="0" smtClean="0">
                <a:solidFill>
                  <a:srgbClr val="C00000"/>
                </a:solidFill>
                <a:ea typeface="+mn-ea"/>
                <a:cs typeface="Times New Roman" panose="02020603050405020304" pitchFamily="18" charset="0"/>
              </a:rPr>
              <a:t>D</a:t>
            </a:r>
            <a:endParaRPr kumimoji="0" lang="en-US" altLang="zh-CN" sz="2000" b="1" baseline="-25000" dirty="0" smtClean="0">
              <a:solidFill>
                <a:srgbClr val="C00000"/>
              </a:solidFill>
              <a:ea typeface="+mn-ea"/>
              <a:cs typeface="Times New Roman" panose="02020603050405020304" pitchFamily="18" charset="0"/>
            </a:endParaRPr>
          </a:p>
          <a:p>
            <a:pPr>
              <a:lnSpc>
                <a:spcPct val="150000"/>
              </a:lnSpc>
              <a:defRPr/>
            </a:pPr>
            <a:r>
              <a:rPr kumimoji="0" lang="en-US" altLang="zh-CN" sz="2000" b="1" dirty="0" smtClean="0">
                <a:solidFill>
                  <a:srgbClr val="0000FF"/>
                </a:solidFill>
                <a:ea typeface="+mn-ea"/>
                <a:cs typeface="Times New Roman" panose="02020603050405020304" pitchFamily="18" charset="0"/>
              </a:rPr>
              <a:t>——</a:t>
            </a:r>
            <a:r>
              <a:rPr kumimoji="0" lang="zh-CN" altLang="en-US" sz="2000" b="1" dirty="0" smtClean="0">
                <a:solidFill>
                  <a:srgbClr val="0000FF"/>
                </a:solidFill>
                <a:ea typeface="+mn-ea"/>
                <a:cs typeface="Times New Roman" panose="02020603050405020304" pitchFamily="18" charset="0"/>
              </a:rPr>
              <a:t>填土表面不是平面</a:t>
            </a:r>
            <a:endParaRPr kumimoji="0" lang="en-US" altLang="zh-CN" sz="2000" b="1" dirty="0" smtClean="0">
              <a:solidFill>
                <a:srgbClr val="0000FF"/>
              </a:solidFill>
              <a:ea typeface="+mn-ea"/>
              <a:cs typeface="Times New Roman" panose="02020603050405020304" pitchFamily="18" charset="0"/>
            </a:endParaRPr>
          </a:p>
          <a:p>
            <a:pPr>
              <a:lnSpc>
                <a:spcPct val="150000"/>
              </a:lnSpc>
              <a:defRPr/>
            </a:pPr>
            <a:r>
              <a:rPr kumimoji="0" lang="en-US" altLang="zh-CN" sz="2000" b="1" dirty="0" smtClean="0">
                <a:solidFill>
                  <a:srgbClr val="0000FF"/>
                </a:solidFill>
                <a:ea typeface="+mn-ea"/>
                <a:cs typeface="Times New Roman" panose="02020603050405020304" pitchFamily="18" charset="0"/>
              </a:rPr>
              <a:t>——</a:t>
            </a:r>
            <a:r>
              <a:rPr kumimoji="0" lang="zh-CN" altLang="en-US" sz="2000" b="1" dirty="0" smtClean="0">
                <a:solidFill>
                  <a:srgbClr val="0000FF"/>
                </a:solidFill>
                <a:ea typeface="+mn-ea"/>
                <a:cs typeface="Times New Roman" panose="02020603050405020304" pitchFamily="18" charset="0"/>
              </a:rPr>
              <a:t>填土表面有车辆荷载，</a:t>
            </a:r>
            <a:r>
              <a:rPr kumimoji="0" lang="en-US" altLang="zh-CN" sz="2000" b="1" dirty="0" smtClean="0">
                <a:solidFill>
                  <a:srgbClr val="C00000"/>
                </a:solidFill>
                <a:ea typeface="+mn-ea"/>
                <a:cs typeface="Times New Roman" panose="02020603050405020304" pitchFamily="18" charset="0"/>
              </a:rPr>
              <a:t>q</a:t>
            </a:r>
            <a:r>
              <a:rPr kumimoji="0" lang="zh-CN" altLang="en-US" sz="2000" b="1" dirty="0" smtClean="0">
                <a:solidFill>
                  <a:srgbClr val="C00000"/>
                </a:solidFill>
                <a:ea typeface="+mn-ea"/>
                <a:cs typeface="Times New Roman" panose="02020603050405020304" pitchFamily="18" charset="0"/>
              </a:rPr>
              <a:t>或换算成等代土层</a:t>
            </a:r>
            <a:endParaRPr kumimoji="0" lang="zh-CN" altLang="en-US" sz="2000" b="1" dirty="0" smtClean="0">
              <a:solidFill>
                <a:srgbClr val="C00000"/>
              </a:solidFill>
              <a:ea typeface="+mn-ea"/>
              <a:cs typeface="Times New Roman" panose="02020603050405020304" pitchFamily="18" charset="0"/>
            </a:endParaRPr>
          </a:p>
        </p:txBody>
      </p:sp>
      <p:sp>
        <p:nvSpPr>
          <p:cNvPr id="74781" name="Line 29"/>
          <p:cNvSpPr>
            <a:spLocks noChangeAspect="1" noChangeShapeType="1"/>
          </p:cNvSpPr>
          <p:nvPr/>
        </p:nvSpPr>
        <p:spPr bwMode="auto">
          <a:xfrm>
            <a:off x="5284788" y="2659063"/>
            <a:ext cx="58737" cy="2371725"/>
          </a:xfrm>
          <a:prstGeom prst="line">
            <a:avLst/>
          </a:prstGeom>
          <a:noFill/>
          <a:ln w="38100" cap="sq">
            <a:solidFill>
              <a:srgbClr val="00FF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50205" name="Picture 14" descr="j041644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7538" y="5368925"/>
            <a:ext cx="2098675"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Rectangle 6"/>
          <p:cNvSpPr>
            <a:spLocks noChangeArrowheads="1"/>
          </p:cNvSpPr>
          <p:nvPr/>
        </p:nvSpPr>
        <p:spPr bwMode="auto">
          <a:xfrm>
            <a:off x="-3175" y="-9842"/>
            <a:ext cx="3617913"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§6.4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库仑土压力理论</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4760"/>
                                        </p:tgtEl>
                                        <p:attrNameLst>
                                          <p:attrName>style.visibility</p:attrName>
                                        </p:attrNameLst>
                                      </p:cBhvr>
                                      <p:to>
                                        <p:strVal val="visible"/>
                                      </p:to>
                                    </p:set>
                                    <p:animEffect transition="in" filter="wipe(left)">
                                      <p:cBhvr>
                                        <p:cTn id="7" dur="500"/>
                                        <p:tgtEl>
                                          <p:spTgt spid="7476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4779"/>
                                        </p:tgtEl>
                                        <p:attrNameLst>
                                          <p:attrName>style.visibility</p:attrName>
                                        </p:attrNameLst>
                                      </p:cBhvr>
                                      <p:to>
                                        <p:strVal val="visible"/>
                                      </p:to>
                                    </p:set>
                                    <p:animEffect transition="in" filter="wipe(left)">
                                      <p:cBhvr>
                                        <p:cTn id="11" dur="500"/>
                                        <p:tgtEl>
                                          <p:spTgt spid="74779"/>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74754"/>
                                        </p:tgtEl>
                                        <p:attrNameLst>
                                          <p:attrName>style.visibility</p:attrName>
                                        </p:attrNameLst>
                                      </p:cBhvr>
                                      <p:to>
                                        <p:strVal val="visible"/>
                                      </p:to>
                                    </p:set>
                                    <p:animEffect transition="in" filter="dissolve">
                                      <p:cBhvr>
                                        <p:cTn id="16" dur="500"/>
                                        <p:tgtEl>
                                          <p:spTgt spid="7475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74773"/>
                                        </p:tgtEl>
                                        <p:attrNameLst>
                                          <p:attrName>style.visibility</p:attrName>
                                        </p:attrNameLst>
                                      </p:cBhvr>
                                      <p:to>
                                        <p:strVal val="visible"/>
                                      </p:to>
                                    </p:set>
                                    <p:animEffect transition="in" filter="wipe(down)">
                                      <p:cBhvr>
                                        <p:cTn id="21" dur="500"/>
                                        <p:tgtEl>
                                          <p:spTgt spid="7477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74755"/>
                                        </p:tgtEl>
                                        <p:attrNameLst>
                                          <p:attrName>style.visibility</p:attrName>
                                        </p:attrNameLst>
                                      </p:cBhvr>
                                      <p:to>
                                        <p:strVal val="visible"/>
                                      </p:to>
                                    </p:set>
                                    <p:animEffect transition="in" filter="wipe(up)">
                                      <p:cBhvr>
                                        <p:cTn id="26" dur="500"/>
                                        <p:tgtEl>
                                          <p:spTgt spid="7475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74769"/>
                                        </p:tgtEl>
                                        <p:attrNameLst>
                                          <p:attrName>style.visibility</p:attrName>
                                        </p:attrNameLst>
                                      </p:cBhvr>
                                      <p:to>
                                        <p:strVal val="visible"/>
                                      </p:to>
                                    </p:set>
                                    <p:animEffect transition="in" filter="wipe(up)">
                                      <p:cBhvr>
                                        <p:cTn id="31" dur="500"/>
                                        <p:tgtEl>
                                          <p:spTgt spid="7476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74761"/>
                                        </p:tgtEl>
                                        <p:attrNameLst>
                                          <p:attrName>style.visibility</p:attrName>
                                        </p:attrNameLst>
                                      </p:cBhvr>
                                      <p:to>
                                        <p:strVal val="visible"/>
                                      </p:to>
                                    </p:set>
                                    <p:animEffect transition="in" filter="wipe(down)">
                                      <p:cBhvr>
                                        <p:cTn id="36" dur="500"/>
                                        <p:tgtEl>
                                          <p:spTgt spid="74761"/>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74774"/>
                                        </p:tgtEl>
                                        <p:attrNameLst>
                                          <p:attrName>style.visibility</p:attrName>
                                        </p:attrNameLst>
                                      </p:cBhvr>
                                      <p:to>
                                        <p:strVal val="visible"/>
                                      </p:to>
                                    </p:set>
                                    <p:animEffect transition="in" filter="wipe(down)">
                                      <p:cBhvr>
                                        <p:cTn id="41" dur="500"/>
                                        <p:tgtEl>
                                          <p:spTgt spid="7477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74756"/>
                                        </p:tgtEl>
                                        <p:attrNameLst>
                                          <p:attrName>style.visibility</p:attrName>
                                        </p:attrNameLst>
                                      </p:cBhvr>
                                      <p:to>
                                        <p:strVal val="visible"/>
                                      </p:to>
                                    </p:set>
                                    <p:animEffect transition="in" filter="wipe(up)">
                                      <p:cBhvr>
                                        <p:cTn id="46" dur="500"/>
                                        <p:tgtEl>
                                          <p:spTgt spid="74756"/>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74768"/>
                                        </p:tgtEl>
                                        <p:attrNameLst>
                                          <p:attrName>style.visibility</p:attrName>
                                        </p:attrNameLst>
                                      </p:cBhvr>
                                      <p:to>
                                        <p:strVal val="visible"/>
                                      </p:to>
                                    </p:set>
                                    <p:animEffect transition="in" filter="wipe(up)">
                                      <p:cBhvr>
                                        <p:cTn id="51" dur="500"/>
                                        <p:tgtEl>
                                          <p:spTgt spid="7476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Effect">
                                  <p:stCondLst>
                                    <p:cond delay="0"/>
                                  </p:stCondLst>
                                  <p:childTnLst>
                                    <p:set>
                                      <p:cBhvr>
                                        <p:cTn id="55" dur="1" fill="hold">
                                          <p:stCondLst>
                                            <p:cond delay="0"/>
                                          </p:stCondLst>
                                        </p:cTn>
                                        <p:tgtEl>
                                          <p:spTgt spid="74762"/>
                                        </p:tgtEl>
                                        <p:attrNameLst>
                                          <p:attrName>style.visibility</p:attrName>
                                        </p:attrNameLst>
                                      </p:cBhvr>
                                      <p:to>
                                        <p:strVal val="visible"/>
                                      </p:to>
                                    </p:set>
                                    <p:animEffect transition="in" filter="wipe(down)">
                                      <p:cBhvr>
                                        <p:cTn id="56" dur="500"/>
                                        <p:tgtEl>
                                          <p:spTgt spid="74762"/>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nodeType="clickEffect">
                                  <p:stCondLst>
                                    <p:cond delay="0"/>
                                  </p:stCondLst>
                                  <p:childTnLst>
                                    <p:set>
                                      <p:cBhvr>
                                        <p:cTn id="60" dur="1" fill="hold">
                                          <p:stCondLst>
                                            <p:cond delay="0"/>
                                          </p:stCondLst>
                                        </p:cTn>
                                        <p:tgtEl>
                                          <p:spTgt spid="74776"/>
                                        </p:tgtEl>
                                        <p:attrNameLst>
                                          <p:attrName>style.visibility</p:attrName>
                                        </p:attrNameLst>
                                      </p:cBhvr>
                                      <p:to>
                                        <p:strVal val="visible"/>
                                      </p:to>
                                    </p:set>
                                    <p:animEffect transition="in" filter="wipe(down)">
                                      <p:cBhvr>
                                        <p:cTn id="61" dur="500"/>
                                        <p:tgtEl>
                                          <p:spTgt spid="74776"/>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nodeType="clickEffect">
                                  <p:stCondLst>
                                    <p:cond delay="0"/>
                                  </p:stCondLst>
                                  <p:childTnLst>
                                    <p:set>
                                      <p:cBhvr>
                                        <p:cTn id="65" dur="1" fill="hold">
                                          <p:stCondLst>
                                            <p:cond delay="0"/>
                                          </p:stCondLst>
                                        </p:cTn>
                                        <p:tgtEl>
                                          <p:spTgt spid="74757"/>
                                        </p:tgtEl>
                                        <p:attrNameLst>
                                          <p:attrName>style.visibility</p:attrName>
                                        </p:attrNameLst>
                                      </p:cBhvr>
                                      <p:to>
                                        <p:strVal val="visible"/>
                                      </p:to>
                                    </p:set>
                                    <p:animEffect transition="in" filter="wipe(up)">
                                      <p:cBhvr>
                                        <p:cTn id="66" dur="500"/>
                                        <p:tgtEl>
                                          <p:spTgt spid="74757"/>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1" fill="hold" nodeType="clickEffect">
                                  <p:stCondLst>
                                    <p:cond delay="0"/>
                                  </p:stCondLst>
                                  <p:childTnLst>
                                    <p:set>
                                      <p:cBhvr>
                                        <p:cTn id="70" dur="1" fill="hold">
                                          <p:stCondLst>
                                            <p:cond delay="0"/>
                                          </p:stCondLst>
                                        </p:cTn>
                                        <p:tgtEl>
                                          <p:spTgt spid="74766"/>
                                        </p:tgtEl>
                                        <p:attrNameLst>
                                          <p:attrName>style.visibility</p:attrName>
                                        </p:attrNameLst>
                                      </p:cBhvr>
                                      <p:to>
                                        <p:strVal val="visible"/>
                                      </p:to>
                                    </p:set>
                                    <p:animEffect transition="in" filter="wipe(up)">
                                      <p:cBhvr>
                                        <p:cTn id="71" dur="500"/>
                                        <p:tgtEl>
                                          <p:spTgt spid="74766"/>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4" fill="hold" nodeType="clickEffect">
                                  <p:stCondLst>
                                    <p:cond delay="0"/>
                                  </p:stCondLst>
                                  <p:childTnLst>
                                    <p:set>
                                      <p:cBhvr>
                                        <p:cTn id="75" dur="1" fill="hold">
                                          <p:stCondLst>
                                            <p:cond delay="0"/>
                                          </p:stCondLst>
                                        </p:cTn>
                                        <p:tgtEl>
                                          <p:spTgt spid="74758"/>
                                        </p:tgtEl>
                                        <p:attrNameLst>
                                          <p:attrName>style.visibility</p:attrName>
                                        </p:attrNameLst>
                                      </p:cBhvr>
                                      <p:to>
                                        <p:strVal val="visible"/>
                                      </p:to>
                                    </p:set>
                                    <p:animEffect transition="in" filter="wipe(down)">
                                      <p:cBhvr>
                                        <p:cTn id="76" dur="500"/>
                                        <p:tgtEl>
                                          <p:spTgt spid="74758"/>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4" fill="hold" nodeType="clickEffect">
                                  <p:stCondLst>
                                    <p:cond delay="0"/>
                                  </p:stCondLst>
                                  <p:childTnLst>
                                    <p:set>
                                      <p:cBhvr>
                                        <p:cTn id="80" dur="1" fill="hold">
                                          <p:stCondLst>
                                            <p:cond delay="0"/>
                                          </p:stCondLst>
                                        </p:cTn>
                                        <p:tgtEl>
                                          <p:spTgt spid="74777"/>
                                        </p:tgtEl>
                                        <p:attrNameLst>
                                          <p:attrName>style.visibility</p:attrName>
                                        </p:attrNameLst>
                                      </p:cBhvr>
                                      <p:to>
                                        <p:strVal val="visible"/>
                                      </p:to>
                                    </p:set>
                                    <p:animEffect transition="in" filter="wipe(down)">
                                      <p:cBhvr>
                                        <p:cTn id="81" dur="500"/>
                                        <p:tgtEl>
                                          <p:spTgt spid="74777"/>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1" fill="hold" nodeType="clickEffect">
                                  <p:stCondLst>
                                    <p:cond delay="0"/>
                                  </p:stCondLst>
                                  <p:childTnLst>
                                    <p:set>
                                      <p:cBhvr>
                                        <p:cTn id="85" dur="1" fill="hold">
                                          <p:stCondLst>
                                            <p:cond delay="0"/>
                                          </p:stCondLst>
                                        </p:cTn>
                                        <p:tgtEl>
                                          <p:spTgt spid="74759"/>
                                        </p:tgtEl>
                                        <p:attrNameLst>
                                          <p:attrName>style.visibility</p:attrName>
                                        </p:attrNameLst>
                                      </p:cBhvr>
                                      <p:to>
                                        <p:strVal val="visible"/>
                                      </p:to>
                                    </p:set>
                                    <p:animEffect transition="in" filter="wipe(up)">
                                      <p:cBhvr>
                                        <p:cTn id="86" dur="500"/>
                                        <p:tgtEl>
                                          <p:spTgt spid="74759"/>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1" fill="hold" nodeType="clickEffect">
                                  <p:stCondLst>
                                    <p:cond delay="0"/>
                                  </p:stCondLst>
                                  <p:childTnLst>
                                    <p:set>
                                      <p:cBhvr>
                                        <p:cTn id="90" dur="1" fill="hold">
                                          <p:stCondLst>
                                            <p:cond delay="0"/>
                                          </p:stCondLst>
                                        </p:cTn>
                                        <p:tgtEl>
                                          <p:spTgt spid="74765"/>
                                        </p:tgtEl>
                                        <p:attrNameLst>
                                          <p:attrName>style.visibility</p:attrName>
                                        </p:attrNameLst>
                                      </p:cBhvr>
                                      <p:to>
                                        <p:strVal val="visible"/>
                                      </p:to>
                                    </p:set>
                                    <p:animEffect transition="in" filter="wipe(up)">
                                      <p:cBhvr>
                                        <p:cTn id="91" dur="500"/>
                                        <p:tgtEl>
                                          <p:spTgt spid="74765"/>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4" fill="hold" nodeType="clickEffect">
                                  <p:stCondLst>
                                    <p:cond delay="0"/>
                                  </p:stCondLst>
                                  <p:childTnLst>
                                    <p:set>
                                      <p:cBhvr>
                                        <p:cTn id="95" dur="1" fill="hold">
                                          <p:stCondLst>
                                            <p:cond delay="0"/>
                                          </p:stCondLst>
                                        </p:cTn>
                                        <p:tgtEl>
                                          <p:spTgt spid="74764"/>
                                        </p:tgtEl>
                                        <p:attrNameLst>
                                          <p:attrName>style.visibility</p:attrName>
                                        </p:attrNameLst>
                                      </p:cBhvr>
                                      <p:to>
                                        <p:strVal val="visible"/>
                                      </p:to>
                                    </p:set>
                                    <p:animEffect transition="in" filter="wipe(down)">
                                      <p:cBhvr>
                                        <p:cTn id="96" dur="500"/>
                                        <p:tgtEl>
                                          <p:spTgt spid="74764"/>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1" fill="hold" nodeType="clickEffect">
                                  <p:stCondLst>
                                    <p:cond delay="0"/>
                                  </p:stCondLst>
                                  <p:childTnLst>
                                    <p:set>
                                      <p:cBhvr>
                                        <p:cTn id="100" dur="1" fill="hold">
                                          <p:stCondLst>
                                            <p:cond delay="0"/>
                                          </p:stCondLst>
                                        </p:cTn>
                                        <p:tgtEl>
                                          <p:spTgt spid="74770"/>
                                        </p:tgtEl>
                                        <p:attrNameLst>
                                          <p:attrName>style.visibility</p:attrName>
                                        </p:attrNameLst>
                                      </p:cBhvr>
                                      <p:to>
                                        <p:strVal val="visible"/>
                                      </p:to>
                                    </p:set>
                                    <p:animEffect transition="in" filter="wipe(up)">
                                      <p:cBhvr>
                                        <p:cTn id="101" dur="500"/>
                                        <p:tgtEl>
                                          <p:spTgt spid="74770"/>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1" fill="hold" nodeType="clickEffect">
                                  <p:stCondLst>
                                    <p:cond delay="0"/>
                                  </p:stCondLst>
                                  <p:childTnLst>
                                    <p:set>
                                      <p:cBhvr>
                                        <p:cTn id="105" dur="1" fill="hold">
                                          <p:stCondLst>
                                            <p:cond delay="0"/>
                                          </p:stCondLst>
                                        </p:cTn>
                                        <p:tgtEl>
                                          <p:spTgt spid="74771"/>
                                        </p:tgtEl>
                                        <p:attrNameLst>
                                          <p:attrName>style.visibility</p:attrName>
                                        </p:attrNameLst>
                                      </p:cBhvr>
                                      <p:to>
                                        <p:strVal val="visible"/>
                                      </p:to>
                                    </p:set>
                                    <p:animEffect transition="in" filter="wipe(up)">
                                      <p:cBhvr>
                                        <p:cTn id="106" dur="500"/>
                                        <p:tgtEl>
                                          <p:spTgt spid="74771"/>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1" fill="hold" nodeType="clickEffect">
                                  <p:stCondLst>
                                    <p:cond delay="0"/>
                                  </p:stCondLst>
                                  <p:childTnLst>
                                    <p:set>
                                      <p:cBhvr>
                                        <p:cTn id="110" dur="1" fill="hold">
                                          <p:stCondLst>
                                            <p:cond delay="0"/>
                                          </p:stCondLst>
                                        </p:cTn>
                                        <p:tgtEl>
                                          <p:spTgt spid="74767"/>
                                        </p:tgtEl>
                                        <p:attrNameLst>
                                          <p:attrName>style.visibility</p:attrName>
                                        </p:attrNameLst>
                                      </p:cBhvr>
                                      <p:to>
                                        <p:strVal val="visible"/>
                                      </p:to>
                                    </p:set>
                                    <p:animEffect transition="in" filter="wipe(up)">
                                      <p:cBhvr>
                                        <p:cTn id="111" dur="500"/>
                                        <p:tgtEl>
                                          <p:spTgt spid="74767"/>
                                        </p:tgtEl>
                                      </p:cBhvr>
                                    </p:animEffect>
                                  </p:childTnLst>
                                </p:cTn>
                              </p:par>
                            </p:childTnLst>
                          </p:cTn>
                        </p:par>
                        <p:par>
                          <p:cTn id="112" fill="hold">
                            <p:stCondLst>
                              <p:cond delay="500"/>
                            </p:stCondLst>
                            <p:childTnLst>
                              <p:par>
                                <p:cTn id="113" presetID="22" presetClass="entr" presetSubtype="1" fill="hold" nodeType="afterEffect">
                                  <p:stCondLst>
                                    <p:cond delay="0"/>
                                  </p:stCondLst>
                                  <p:childTnLst>
                                    <p:set>
                                      <p:cBhvr>
                                        <p:cTn id="114" dur="1" fill="hold">
                                          <p:stCondLst>
                                            <p:cond delay="0"/>
                                          </p:stCondLst>
                                        </p:cTn>
                                        <p:tgtEl>
                                          <p:spTgt spid="74781"/>
                                        </p:tgtEl>
                                        <p:attrNameLst>
                                          <p:attrName>style.visibility</p:attrName>
                                        </p:attrNameLst>
                                      </p:cBhvr>
                                      <p:to>
                                        <p:strVal val="visible"/>
                                      </p:to>
                                    </p:set>
                                    <p:animEffect transition="in" filter="wipe(up)">
                                      <p:cBhvr>
                                        <p:cTn id="115" dur="500"/>
                                        <p:tgtEl>
                                          <p:spTgt spid="74781"/>
                                        </p:tgtEl>
                                      </p:cBhvr>
                                    </p:animEffect>
                                  </p:childTnLst>
                                </p:cTn>
                              </p:par>
                            </p:childTnLst>
                          </p:cTn>
                        </p:par>
                        <p:par>
                          <p:cTn id="116" fill="hold">
                            <p:stCondLst>
                              <p:cond delay="1000"/>
                            </p:stCondLst>
                            <p:childTnLst>
                              <p:par>
                                <p:cTn id="117" presetID="22" presetClass="entr" presetSubtype="4" fill="hold" nodeType="afterEffect">
                                  <p:stCondLst>
                                    <p:cond delay="0"/>
                                  </p:stCondLst>
                                  <p:childTnLst>
                                    <p:set>
                                      <p:cBhvr>
                                        <p:cTn id="118" dur="1" fill="hold">
                                          <p:stCondLst>
                                            <p:cond delay="0"/>
                                          </p:stCondLst>
                                        </p:cTn>
                                        <p:tgtEl>
                                          <p:spTgt spid="74763"/>
                                        </p:tgtEl>
                                        <p:attrNameLst>
                                          <p:attrName>style.visibility</p:attrName>
                                        </p:attrNameLst>
                                      </p:cBhvr>
                                      <p:to>
                                        <p:strVal val="visible"/>
                                      </p:to>
                                    </p:set>
                                    <p:animEffect transition="in" filter="wipe(down)">
                                      <p:cBhvr>
                                        <p:cTn id="119" dur="500"/>
                                        <p:tgtEl>
                                          <p:spTgt spid="74763"/>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4" fill="hold" nodeType="clickEffect">
                                  <p:stCondLst>
                                    <p:cond delay="0"/>
                                  </p:stCondLst>
                                  <p:childTnLst>
                                    <p:set>
                                      <p:cBhvr>
                                        <p:cTn id="123" dur="1" fill="hold">
                                          <p:stCondLst>
                                            <p:cond delay="0"/>
                                          </p:stCondLst>
                                        </p:cTn>
                                        <p:tgtEl>
                                          <p:spTgt spid="74775"/>
                                        </p:tgtEl>
                                        <p:attrNameLst>
                                          <p:attrName>style.visibility</p:attrName>
                                        </p:attrNameLst>
                                      </p:cBhvr>
                                      <p:to>
                                        <p:strVal val="visible"/>
                                      </p:to>
                                    </p:set>
                                    <p:animEffect transition="in" filter="wipe(down)">
                                      <p:cBhvr>
                                        <p:cTn id="124" dur="500"/>
                                        <p:tgtEl>
                                          <p:spTgt spid="74775"/>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1" fill="hold" nodeType="clickEffect">
                                  <p:stCondLst>
                                    <p:cond delay="0"/>
                                  </p:stCondLst>
                                  <p:childTnLst>
                                    <p:set>
                                      <p:cBhvr>
                                        <p:cTn id="128" dur="1" fill="hold">
                                          <p:stCondLst>
                                            <p:cond delay="0"/>
                                          </p:stCondLst>
                                        </p:cTn>
                                        <p:tgtEl>
                                          <p:spTgt spid="74772"/>
                                        </p:tgtEl>
                                        <p:attrNameLst>
                                          <p:attrName>style.visibility</p:attrName>
                                        </p:attrNameLst>
                                      </p:cBhvr>
                                      <p:to>
                                        <p:strVal val="visible"/>
                                      </p:to>
                                    </p:set>
                                    <p:animEffect transition="in" filter="wipe(up)">
                                      <p:cBhvr>
                                        <p:cTn id="129" dur="500"/>
                                        <p:tgtEl>
                                          <p:spTgt spid="74772"/>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1" fill="hold" grpId="0" nodeType="clickEffect">
                                  <p:stCondLst>
                                    <p:cond delay="0"/>
                                  </p:stCondLst>
                                  <p:childTnLst>
                                    <p:set>
                                      <p:cBhvr>
                                        <p:cTn id="133" dur="1" fill="hold">
                                          <p:stCondLst>
                                            <p:cond delay="0"/>
                                          </p:stCondLst>
                                        </p:cTn>
                                        <p:tgtEl>
                                          <p:spTgt spid="74778"/>
                                        </p:tgtEl>
                                        <p:attrNameLst>
                                          <p:attrName>style.visibility</p:attrName>
                                        </p:attrNameLst>
                                      </p:cBhvr>
                                      <p:to>
                                        <p:strVal val="visible"/>
                                      </p:to>
                                    </p:set>
                                    <p:animEffect transition="in" filter="wipe(up)">
                                      <p:cBhvr>
                                        <p:cTn id="134" dur="500"/>
                                        <p:tgtEl>
                                          <p:spTgt spid="747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60" grpId="0" animBg="1" autoUpdateAnimBg="0"/>
      <p:bldP spid="74778" grpId="0" animBg="1"/>
      <p:bldP spid="74779"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p:cNvSpPr txBox="1">
            <a:spLocks noChangeArrowheads="1"/>
          </p:cNvSpPr>
          <p:nvPr/>
        </p:nvSpPr>
        <p:spPr bwMode="auto">
          <a:xfrm>
            <a:off x="684213" y="944563"/>
            <a:ext cx="37068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b="1" dirty="0" smtClean="0">
                <a:solidFill>
                  <a:srgbClr val="993300"/>
                </a:solidFill>
                <a:ea typeface="+mn-ea"/>
                <a:cs typeface="Times New Roman" panose="02020603050405020304" pitchFamily="18" charset="0"/>
              </a:rPr>
              <a:t>库尔曼（</a:t>
            </a:r>
            <a:r>
              <a:rPr kumimoji="0" lang="en-US" altLang="zh-CN" b="1" dirty="0" err="1" smtClean="0">
                <a:solidFill>
                  <a:srgbClr val="993300"/>
                </a:solidFill>
                <a:ea typeface="+mn-ea"/>
                <a:cs typeface="Times New Roman" panose="02020603050405020304" pitchFamily="18" charset="0"/>
              </a:rPr>
              <a:t>Culmann</a:t>
            </a:r>
            <a:r>
              <a:rPr kumimoji="0" lang="zh-CN" altLang="en-US" b="1" dirty="0" smtClean="0">
                <a:solidFill>
                  <a:srgbClr val="993300"/>
                </a:solidFill>
                <a:ea typeface="+mn-ea"/>
                <a:cs typeface="Times New Roman" panose="02020603050405020304" pitchFamily="18" charset="0"/>
              </a:rPr>
              <a:t>）图解法</a:t>
            </a:r>
            <a:endParaRPr kumimoji="0" lang="zh-CN" altLang="en-US" b="1" dirty="0" smtClean="0">
              <a:solidFill>
                <a:srgbClr val="993300"/>
              </a:solidFill>
              <a:ea typeface="+mn-ea"/>
              <a:cs typeface="Times New Roman" panose="02020603050405020304" pitchFamily="18" charset="0"/>
            </a:endParaRPr>
          </a:p>
        </p:txBody>
      </p:sp>
      <p:pic>
        <p:nvPicPr>
          <p:cNvPr id="51203"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34988" y="1484313"/>
            <a:ext cx="8021637" cy="474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4" name="Picture 14" descr="j041644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8488" y="5300663"/>
            <a:ext cx="2098675"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5" name="文本框 2"/>
          <p:cNvSpPr txBox="1">
            <a:spLocks noChangeArrowheads="1"/>
          </p:cNvSpPr>
          <p:nvPr/>
        </p:nvSpPr>
        <p:spPr bwMode="auto">
          <a:xfrm>
            <a:off x="7885113" y="4327525"/>
            <a:ext cx="1079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solidFill>
                  <a:srgbClr val="FF0000"/>
                </a:solidFill>
              </a:rPr>
              <a:t>自学</a:t>
            </a:r>
            <a:endParaRPr lang="zh-CN" altLang="en-US" sz="2800" b="1">
              <a:solidFill>
                <a:srgbClr val="FF0000"/>
              </a:solidFill>
            </a:endParaRPr>
          </a:p>
        </p:txBody>
      </p:sp>
      <p:sp>
        <p:nvSpPr>
          <p:cNvPr id="37" name="Rectangle 6"/>
          <p:cNvSpPr>
            <a:spLocks noChangeArrowheads="1"/>
          </p:cNvSpPr>
          <p:nvPr/>
        </p:nvSpPr>
        <p:spPr bwMode="auto">
          <a:xfrm>
            <a:off x="-3175" y="-9842"/>
            <a:ext cx="3617913"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§6.4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库仑土压力理论</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619250" y="620713"/>
            <a:ext cx="5232400" cy="911225"/>
          </a:xfrm>
          <a:prstGeom prst="rect">
            <a:avLst/>
          </a:prstGeom>
          <a:solidFill>
            <a:schemeClr val="bg1"/>
          </a:solidFill>
        </p:spPr>
        <p:txBody>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5pPr>
            <a:lvl6pPr marL="457200" algn="l" rtl="0" eaLnBrk="1" fontAlgn="base" hangingPunct="1">
              <a:spcBef>
                <a:spcPct val="0"/>
              </a:spcBef>
              <a:spcAft>
                <a:spcPct val="0"/>
              </a:spcAft>
              <a:defRPr sz="4200">
                <a:solidFill>
                  <a:schemeClr val="tx2"/>
                </a:solidFill>
                <a:latin typeface="Garamond" panose="02020404030301010803" pitchFamily="18" charset="0"/>
                <a:ea typeface="宋体" panose="02010600030101010101" pitchFamily="2" charset="-122"/>
              </a:defRPr>
            </a:lvl6pPr>
            <a:lvl7pPr marL="914400" algn="l" rtl="0" eaLnBrk="1" fontAlgn="base" hangingPunct="1">
              <a:spcBef>
                <a:spcPct val="0"/>
              </a:spcBef>
              <a:spcAft>
                <a:spcPct val="0"/>
              </a:spcAft>
              <a:defRPr sz="4200">
                <a:solidFill>
                  <a:schemeClr val="tx2"/>
                </a:solidFill>
                <a:latin typeface="Garamond" panose="02020404030301010803" pitchFamily="18" charset="0"/>
                <a:ea typeface="宋体" panose="02010600030101010101" pitchFamily="2" charset="-122"/>
              </a:defRPr>
            </a:lvl7pPr>
            <a:lvl8pPr marL="1371600" algn="l" rtl="0" eaLnBrk="1" fontAlgn="base" hangingPunct="1">
              <a:spcBef>
                <a:spcPct val="0"/>
              </a:spcBef>
              <a:spcAft>
                <a:spcPct val="0"/>
              </a:spcAft>
              <a:defRPr sz="4200">
                <a:solidFill>
                  <a:schemeClr val="tx2"/>
                </a:solidFill>
                <a:latin typeface="Garamond" panose="02020404030301010803" pitchFamily="18" charset="0"/>
                <a:ea typeface="宋体" panose="02010600030101010101" pitchFamily="2" charset="-122"/>
              </a:defRPr>
            </a:lvl8pPr>
            <a:lvl9pPr marL="1828800" algn="l" rtl="0" eaLnBrk="1" fontAlgn="base" hangingPunct="1">
              <a:spcBef>
                <a:spcPct val="0"/>
              </a:spcBef>
              <a:spcAft>
                <a:spcPct val="0"/>
              </a:spcAft>
              <a:defRPr sz="4200">
                <a:solidFill>
                  <a:schemeClr val="tx2"/>
                </a:solidFill>
                <a:latin typeface="Garamond" panose="02020404030301010803" pitchFamily="18" charset="0"/>
                <a:ea typeface="宋体" panose="02010600030101010101" pitchFamily="2" charset="-122"/>
              </a:defRPr>
            </a:lvl9pPr>
          </a:lstStyle>
          <a:p>
            <a:pPr eaLnBrk="1" hangingPunct="1">
              <a:defRPr/>
            </a:pPr>
            <a:r>
              <a:rPr kumimoji="0" lang="zh-CN" altLang="en-US" sz="5400" b="1" kern="0" dirty="0" smtClean="0">
                <a:solidFill>
                  <a:srgbClr val="FF0000"/>
                </a:solidFill>
                <a:latin typeface="+mj-ea"/>
              </a:rPr>
              <a:t>第六章  土压力</a:t>
            </a:r>
            <a:endParaRPr kumimoji="0" lang="zh-CN" altLang="en-US" sz="5400" b="1" kern="0" dirty="0" smtClean="0">
              <a:solidFill>
                <a:srgbClr val="FF0000"/>
              </a:solidFill>
              <a:latin typeface="+mj-ea"/>
            </a:endParaRPr>
          </a:p>
        </p:txBody>
      </p:sp>
      <p:sp>
        <p:nvSpPr>
          <p:cNvPr id="3" name="矩形 2"/>
          <p:cNvSpPr/>
          <p:nvPr/>
        </p:nvSpPr>
        <p:spPr>
          <a:xfrm>
            <a:off x="1331912" y="1844675"/>
            <a:ext cx="6696471" cy="3784600"/>
          </a:xfrm>
          <a:prstGeom prst="rect">
            <a:avLst/>
          </a:prstGeom>
        </p:spPr>
        <p:txBody>
          <a:bodyPr wrap="square">
            <a:spAutoFit/>
          </a:bodyPr>
          <a:lstStyle/>
          <a:p>
            <a:pPr eaLnBrk="1" hangingPunct="1">
              <a:lnSpc>
                <a:spcPct val="150000"/>
              </a:lnSpc>
              <a:defRPr/>
            </a:pPr>
            <a:r>
              <a:rPr lang="en-US" altLang="zh-CN" sz="3200" dirty="0">
                <a:solidFill>
                  <a:schemeClr val="bg1"/>
                </a:solidFill>
                <a:latin typeface="Times New Roman" panose="02020603050405020304" pitchFamily="18" charset="0"/>
                <a:ea typeface="+mj-ea"/>
                <a:cs typeface="Times New Roman" panose="02020603050405020304" pitchFamily="18" charset="0"/>
              </a:rPr>
              <a:t>§ 6</a:t>
            </a:r>
            <a:r>
              <a:rPr lang="en-US" altLang="zh-CN" sz="3200" b="1" dirty="0">
                <a:solidFill>
                  <a:schemeClr val="bg1"/>
                </a:solidFill>
                <a:latin typeface="Times New Roman" panose="02020603050405020304" pitchFamily="18" charset="0"/>
                <a:ea typeface="+mj-ea"/>
                <a:cs typeface="Times New Roman" panose="02020603050405020304" pitchFamily="18" charset="0"/>
              </a:rPr>
              <a:t>.1 </a:t>
            </a:r>
            <a:r>
              <a:rPr lang="zh-CN" altLang="en-US" sz="3200" b="1" dirty="0">
                <a:solidFill>
                  <a:schemeClr val="bg1"/>
                </a:solidFill>
                <a:latin typeface="Times New Roman" panose="02020603050405020304" pitchFamily="18" charset="0"/>
                <a:ea typeface="+mj-ea"/>
                <a:cs typeface="Times New Roman" panose="02020603050405020304" pitchFamily="18" charset="0"/>
              </a:rPr>
              <a:t>概述</a:t>
            </a:r>
            <a:endParaRPr lang="zh-CN" altLang="en-US" sz="3200" b="1" dirty="0">
              <a:solidFill>
                <a:schemeClr val="bg1"/>
              </a:solidFill>
              <a:latin typeface="Times New Roman" panose="02020603050405020304" pitchFamily="18" charset="0"/>
              <a:ea typeface="+mj-ea"/>
              <a:cs typeface="Times New Roman" panose="02020603050405020304" pitchFamily="18" charset="0"/>
            </a:endParaRPr>
          </a:p>
          <a:p>
            <a:pPr eaLnBrk="1" hangingPunct="1">
              <a:lnSpc>
                <a:spcPct val="150000"/>
              </a:lnSpc>
              <a:defRPr/>
            </a:pPr>
            <a:r>
              <a:rPr lang="en-US" altLang="zh-CN" sz="3200" dirty="0">
                <a:solidFill>
                  <a:schemeClr val="bg1"/>
                </a:solidFill>
                <a:latin typeface="Times New Roman" panose="02020603050405020304" pitchFamily="18" charset="0"/>
                <a:ea typeface="+mj-ea"/>
                <a:cs typeface="Times New Roman" panose="02020603050405020304" pitchFamily="18" charset="0"/>
              </a:rPr>
              <a:t>§ 6</a:t>
            </a:r>
            <a:r>
              <a:rPr lang="en-US" altLang="zh-CN" sz="3200" b="1" dirty="0">
                <a:solidFill>
                  <a:schemeClr val="bg1"/>
                </a:solidFill>
                <a:latin typeface="Times New Roman" panose="02020603050405020304" pitchFamily="18" charset="0"/>
                <a:ea typeface="+mj-ea"/>
                <a:cs typeface="Times New Roman" panose="02020603050405020304" pitchFamily="18" charset="0"/>
              </a:rPr>
              <a:t>.2 </a:t>
            </a:r>
            <a:r>
              <a:rPr lang="zh-CN" altLang="en-US" sz="3200" b="1" dirty="0">
                <a:solidFill>
                  <a:schemeClr val="bg1"/>
                </a:solidFill>
                <a:latin typeface="Times New Roman" panose="02020603050405020304" pitchFamily="18" charset="0"/>
                <a:ea typeface="+mj-ea"/>
                <a:cs typeface="Times New Roman" panose="02020603050405020304" pitchFamily="18" charset="0"/>
              </a:rPr>
              <a:t>挡土墙侧的土压力</a:t>
            </a:r>
            <a:endParaRPr lang="zh-CN" altLang="en-US" sz="3200" b="1" dirty="0">
              <a:solidFill>
                <a:schemeClr val="bg1"/>
              </a:solidFill>
              <a:latin typeface="Times New Roman" panose="02020603050405020304" pitchFamily="18" charset="0"/>
              <a:ea typeface="+mj-ea"/>
              <a:cs typeface="Times New Roman" panose="02020603050405020304" pitchFamily="18" charset="0"/>
            </a:endParaRPr>
          </a:p>
          <a:p>
            <a:pPr eaLnBrk="1" hangingPunct="1">
              <a:lnSpc>
                <a:spcPct val="150000"/>
              </a:lnSpc>
              <a:defRPr/>
            </a:pPr>
            <a:r>
              <a:rPr lang="en-US" altLang="zh-CN" sz="3200" dirty="0">
                <a:solidFill>
                  <a:schemeClr val="bg1"/>
                </a:solidFill>
                <a:latin typeface="Times New Roman" panose="02020603050405020304" pitchFamily="18" charset="0"/>
                <a:ea typeface="+mj-ea"/>
                <a:cs typeface="Times New Roman" panose="02020603050405020304" pitchFamily="18" charset="0"/>
              </a:rPr>
              <a:t>§ 6</a:t>
            </a:r>
            <a:r>
              <a:rPr lang="en-US" altLang="zh-CN" sz="3200" b="1" dirty="0">
                <a:solidFill>
                  <a:schemeClr val="bg1"/>
                </a:solidFill>
                <a:latin typeface="Times New Roman" panose="02020603050405020304" pitchFamily="18" charset="0"/>
                <a:ea typeface="+mj-ea"/>
                <a:cs typeface="Times New Roman" panose="02020603050405020304" pitchFamily="18" charset="0"/>
              </a:rPr>
              <a:t>.3 </a:t>
            </a:r>
            <a:r>
              <a:rPr lang="zh-CN" altLang="en-US" sz="3200" b="1" dirty="0">
                <a:solidFill>
                  <a:schemeClr val="bg1"/>
                </a:solidFill>
                <a:latin typeface="Times New Roman" panose="02020603050405020304" pitchFamily="18" charset="0"/>
                <a:ea typeface="+mj-ea"/>
                <a:cs typeface="Times New Roman" panose="02020603050405020304" pitchFamily="18" charset="0"/>
              </a:rPr>
              <a:t>朗肯土压力理论</a:t>
            </a:r>
            <a:endParaRPr lang="zh-CN" altLang="en-US" sz="3200" b="1" dirty="0">
              <a:solidFill>
                <a:schemeClr val="bg1"/>
              </a:solidFill>
              <a:latin typeface="Times New Roman" panose="02020603050405020304" pitchFamily="18" charset="0"/>
              <a:ea typeface="+mj-ea"/>
              <a:cs typeface="Times New Roman" panose="02020603050405020304" pitchFamily="18" charset="0"/>
            </a:endParaRPr>
          </a:p>
          <a:p>
            <a:pPr eaLnBrk="1" hangingPunct="1">
              <a:lnSpc>
                <a:spcPct val="150000"/>
              </a:lnSpc>
              <a:defRPr/>
            </a:pPr>
            <a:r>
              <a:rPr lang="en-US" altLang="zh-CN" sz="3200" dirty="0">
                <a:solidFill>
                  <a:schemeClr val="bg1"/>
                </a:solidFill>
                <a:latin typeface="Times New Roman" panose="02020603050405020304" pitchFamily="18" charset="0"/>
                <a:ea typeface="+mj-ea"/>
                <a:cs typeface="Times New Roman" panose="02020603050405020304" pitchFamily="18" charset="0"/>
              </a:rPr>
              <a:t>§ 6</a:t>
            </a:r>
            <a:r>
              <a:rPr lang="en-US" altLang="zh-CN" sz="3200" b="1" dirty="0">
                <a:solidFill>
                  <a:schemeClr val="bg1"/>
                </a:solidFill>
                <a:latin typeface="Times New Roman" panose="02020603050405020304" pitchFamily="18" charset="0"/>
                <a:ea typeface="+mj-ea"/>
                <a:cs typeface="Times New Roman" panose="02020603050405020304" pitchFamily="18" charset="0"/>
              </a:rPr>
              <a:t>.4 </a:t>
            </a:r>
            <a:r>
              <a:rPr lang="zh-CN" altLang="en-US" sz="3200" b="1" dirty="0">
                <a:solidFill>
                  <a:schemeClr val="bg1"/>
                </a:solidFill>
                <a:latin typeface="Times New Roman" panose="02020603050405020304" pitchFamily="18" charset="0"/>
                <a:ea typeface="+mj-ea"/>
                <a:cs typeface="Times New Roman" panose="02020603050405020304" pitchFamily="18" charset="0"/>
              </a:rPr>
              <a:t>库仑土压力理论</a:t>
            </a:r>
            <a:endParaRPr lang="zh-CN" altLang="en-US" sz="3200" b="1" dirty="0">
              <a:solidFill>
                <a:schemeClr val="bg1"/>
              </a:solidFill>
              <a:latin typeface="Times New Roman" panose="02020603050405020304" pitchFamily="18" charset="0"/>
              <a:ea typeface="+mj-ea"/>
              <a:cs typeface="Times New Roman" panose="02020603050405020304" pitchFamily="18" charset="0"/>
            </a:endParaRPr>
          </a:p>
          <a:p>
            <a:pPr eaLnBrk="1" hangingPunct="1">
              <a:lnSpc>
                <a:spcPct val="150000"/>
              </a:lnSpc>
              <a:defRPr/>
            </a:pPr>
            <a:r>
              <a:rPr lang="en-US" altLang="zh-CN" sz="3200" dirty="0">
                <a:latin typeface="Times New Roman" panose="02020603050405020304" pitchFamily="18" charset="0"/>
                <a:ea typeface="+mj-ea"/>
                <a:cs typeface="Times New Roman" panose="02020603050405020304" pitchFamily="18" charset="0"/>
              </a:rPr>
              <a:t>§ 6</a:t>
            </a:r>
            <a:r>
              <a:rPr lang="en-US" altLang="zh-CN" sz="3200" b="1" dirty="0">
                <a:latin typeface="Times New Roman" panose="02020603050405020304" pitchFamily="18" charset="0"/>
                <a:ea typeface="+mj-ea"/>
                <a:cs typeface="Times New Roman" panose="02020603050405020304" pitchFamily="18" charset="0"/>
              </a:rPr>
              <a:t>.5 </a:t>
            </a:r>
            <a:r>
              <a:rPr lang="zh-CN" altLang="en-US" sz="3200" b="1" dirty="0">
                <a:latin typeface="Times New Roman" panose="02020603050405020304" pitchFamily="18" charset="0"/>
                <a:ea typeface="+mj-ea"/>
                <a:cs typeface="Times New Roman" panose="02020603050405020304" pitchFamily="18" charset="0"/>
              </a:rPr>
              <a:t>朗肯理论与库仑理论的比较</a:t>
            </a:r>
            <a:endParaRPr lang="zh-CN" altLang="en-US" sz="3200" b="1" dirty="0">
              <a:latin typeface="Times New Roman" panose="02020603050405020304" pitchFamily="18" charset="0"/>
              <a:ea typeface="+mj-ea"/>
              <a:cs typeface="Times New Roman" panose="02020603050405020304" pitchFamily="18" charset="0"/>
            </a:endParaRPr>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9" name="Text Box 3"/>
          <p:cNvSpPr txBox="1">
            <a:spLocks noChangeArrowheads="1"/>
          </p:cNvSpPr>
          <p:nvPr/>
        </p:nvSpPr>
        <p:spPr bwMode="auto">
          <a:xfrm>
            <a:off x="1236663" y="1028700"/>
            <a:ext cx="12366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b="1" dirty="0" smtClean="0">
                <a:solidFill>
                  <a:srgbClr val="993300"/>
                </a:solidFill>
                <a:latin typeface="+mn-ea"/>
                <a:ea typeface="+mn-ea"/>
              </a:rPr>
              <a:t>分析方法</a:t>
            </a:r>
            <a:endParaRPr kumimoji="0" lang="zh-CN" altLang="en-US" b="1" dirty="0" smtClean="0">
              <a:solidFill>
                <a:srgbClr val="993300"/>
              </a:solidFill>
              <a:latin typeface="+mn-ea"/>
              <a:ea typeface="+mn-ea"/>
            </a:endParaRPr>
          </a:p>
        </p:txBody>
      </p:sp>
      <p:grpSp>
        <p:nvGrpSpPr>
          <p:cNvPr id="2" name="Group 4"/>
          <p:cNvGrpSpPr/>
          <p:nvPr/>
        </p:nvGrpSpPr>
        <p:grpSpPr bwMode="auto">
          <a:xfrm>
            <a:off x="1600200" y="2209800"/>
            <a:ext cx="1600200" cy="1381125"/>
            <a:chOff x="3312" y="1056"/>
            <a:chExt cx="1680" cy="1398"/>
          </a:xfrm>
        </p:grpSpPr>
        <p:sp>
          <p:nvSpPr>
            <p:cNvPr id="53279" name="AutoShape 5" descr="横向砖形"/>
            <p:cNvSpPr>
              <a:spLocks noChangeArrowheads="1"/>
            </p:cNvSpPr>
            <p:nvPr/>
          </p:nvSpPr>
          <p:spPr bwMode="auto">
            <a:xfrm rot="10800000">
              <a:off x="3312" y="1056"/>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blipFill dpi="0" rotWithShape="0">
              <a:blip r:embed="rId1"/>
              <a:srcRect/>
              <a:tile tx="0" ty="0" sx="100000" sy="100000" flip="none" algn="tl"/>
            </a:blipFill>
            <a:ln w="34925">
              <a:solidFill>
                <a:srgbClr val="000000"/>
              </a:solidFill>
              <a:miter lim="800000"/>
            </a:ln>
          </p:spPr>
          <p:txBody>
            <a:bodyPr wrap="none" anchor="ctr"/>
            <a:lstStyle/>
            <a:p>
              <a:endParaRPr lang="zh-CN" altLang="en-US"/>
            </a:p>
          </p:txBody>
        </p:sp>
        <p:sp>
          <p:nvSpPr>
            <p:cNvPr id="53280" name="Rectangle 6"/>
            <p:cNvSpPr>
              <a:spLocks noChangeArrowheads="1"/>
            </p:cNvSpPr>
            <p:nvPr/>
          </p:nvSpPr>
          <p:spPr bwMode="auto">
            <a:xfrm>
              <a:off x="3744" y="1056"/>
              <a:ext cx="1248" cy="1392"/>
            </a:xfrm>
            <a:prstGeom prst="rect">
              <a:avLst/>
            </a:prstGeom>
            <a:solidFill>
              <a:srgbClr val="FFE36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nvGrpSpPr>
            <p:cNvPr id="53281" name="Group 7"/>
            <p:cNvGrpSpPr/>
            <p:nvPr/>
          </p:nvGrpSpPr>
          <p:grpSpPr bwMode="auto">
            <a:xfrm>
              <a:off x="3745" y="1056"/>
              <a:ext cx="863" cy="1398"/>
              <a:chOff x="3361" y="1056"/>
              <a:chExt cx="863" cy="1398"/>
            </a:xfrm>
          </p:grpSpPr>
          <p:sp>
            <p:nvSpPr>
              <p:cNvPr id="53283" name="Line 8"/>
              <p:cNvSpPr>
                <a:spLocks noChangeShapeType="1"/>
              </p:cNvSpPr>
              <p:nvPr/>
            </p:nvSpPr>
            <p:spPr bwMode="auto">
              <a:xfrm flipV="1">
                <a:off x="3361" y="1063"/>
                <a:ext cx="863" cy="1391"/>
              </a:xfrm>
              <a:prstGeom prst="line">
                <a:avLst/>
              </a:prstGeom>
              <a:noFill/>
              <a:ln w="38100">
                <a:solidFill>
                  <a:srgbClr val="8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53284" name="Group 9"/>
              <p:cNvGrpSpPr/>
              <p:nvPr/>
            </p:nvGrpSpPr>
            <p:grpSpPr bwMode="auto">
              <a:xfrm>
                <a:off x="3361" y="1056"/>
                <a:ext cx="757" cy="1166"/>
                <a:chOff x="3361" y="1056"/>
                <a:chExt cx="757" cy="1166"/>
              </a:xfrm>
            </p:grpSpPr>
            <p:sp>
              <p:nvSpPr>
                <p:cNvPr id="53285" name="Line 10"/>
                <p:cNvSpPr>
                  <a:spLocks noChangeShapeType="1"/>
                </p:cNvSpPr>
                <p:nvPr/>
              </p:nvSpPr>
              <p:spPr bwMode="auto">
                <a:xfrm flipV="1">
                  <a:off x="3361" y="1063"/>
                  <a:ext cx="621" cy="1000"/>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3286" name="Line 11"/>
                <p:cNvSpPr>
                  <a:spLocks noChangeShapeType="1"/>
                </p:cNvSpPr>
                <p:nvPr/>
              </p:nvSpPr>
              <p:spPr bwMode="auto">
                <a:xfrm flipV="1">
                  <a:off x="3361" y="1056"/>
                  <a:ext cx="371" cy="623"/>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3287" name="Line 12"/>
                <p:cNvSpPr>
                  <a:spLocks noChangeShapeType="1"/>
                </p:cNvSpPr>
                <p:nvPr/>
              </p:nvSpPr>
              <p:spPr bwMode="auto">
                <a:xfrm flipV="1">
                  <a:off x="3361" y="1063"/>
                  <a:ext cx="121" cy="218"/>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3288" name="Line 13"/>
                <p:cNvSpPr>
                  <a:spLocks noChangeShapeType="1"/>
                </p:cNvSpPr>
                <p:nvPr/>
              </p:nvSpPr>
              <p:spPr bwMode="auto">
                <a:xfrm>
                  <a:off x="3361" y="1259"/>
                  <a:ext cx="394" cy="565"/>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3289" name="Line 14"/>
                <p:cNvSpPr>
                  <a:spLocks noChangeShapeType="1"/>
                </p:cNvSpPr>
                <p:nvPr/>
              </p:nvSpPr>
              <p:spPr bwMode="auto">
                <a:xfrm>
                  <a:off x="3505" y="1070"/>
                  <a:ext cx="363" cy="529"/>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3290" name="Line 15"/>
                <p:cNvSpPr>
                  <a:spLocks noChangeShapeType="1"/>
                </p:cNvSpPr>
                <p:nvPr/>
              </p:nvSpPr>
              <p:spPr bwMode="auto">
                <a:xfrm>
                  <a:off x="3739" y="1063"/>
                  <a:ext cx="265" cy="370"/>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3291" name="Line 16"/>
                <p:cNvSpPr>
                  <a:spLocks noChangeShapeType="1"/>
                </p:cNvSpPr>
                <p:nvPr/>
              </p:nvSpPr>
              <p:spPr bwMode="auto">
                <a:xfrm>
                  <a:off x="3369" y="1643"/>
                  <a:ext cx="264" cy="398"/>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3292" name="Line 17"/>
                <p:cNvSpPr>
                  <a:spLocks noChangeShapeType="1"/>
                </p:cNvSpPr>
                <p:nvPr/>
              </p:nvSpPr>
              <p:spPr bwMode="auto">
                <a:xfrm>
                  <a:off x="3361" y="2005"/>
                  <a:ext cx="151" cy="217"/>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3293" name="Line 18"/>
                <p:cNvSpPr>
                  <a:spLocks noChangeShapeType="1"/>
                </p:cNvSpPr>
                <p:nvPr/>
              </p:nvSpPr>
              <p:spPr bwMode="auto">
                <a:xfrm>
                  <a:off x="3997" y="1056"/>
                  <a:ext cx="121" cy="181"/>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53282" name="Line 19"/>
            <p:cNvSpPr>
              <a:spLocks noChangeShapeType="1"/>
            </p:cNvSpPr>
            <p:nvPr/>
          </p:nvSpPr>
          <p:spPr bwMode="auto">
            <a:xfrm>
              <a:off x="3744" y="1056"/>
              <a:ext cx="0" cy="1392"/>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20"/>
          <p:cNvGrpSpPr/>
          <p:nvPr/>
        </p:nvGrpSpPr>
        <p:grpSpPr bwMode="auto">
          <a:xfrm>
            <a:off x="4953000" y="1524000"/>
            <a:ext cx="3352800" cy="2119313"/>
            <a:chOff x="2112" y="960"/>
            <a:chExt cx="2112" cy="1335"/>
          </a:xfrm>
        </p:grpSpPr>
        <p:sp>
          <p:nvSpPr>
            <p:cNvPr id="53267" name="AutoShape 21"/>
            <p:cNvSpPr>
              <a:spLocks noChangeArrowheads="1"/>
            </p:cNvSpPr>
            <p:nvPr/>
          </p:nvSpPr>
          <p:spPr bwMode="auto">
            <a:xfrm rot="10800000">
              <a:off x="2112" y="1392"/>
              <a:ext cx="720" cy="89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8 h 21600"/>
                <a:gd name="T14" fmla="*/ 17100 w 21600"/>
                <a:gd name="T15" fmla="*/ 17092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CCECFF"/>
            </a:solidFill>
            <a:ln w="34925">
              <a:solidFill>
                <a:schemeClr val="folHlink"/>
              </a:solidFill>
              <a:miter lim="800000"/>
            </a:ln>
          </p:spPr>
          <p:txBody>
            <a:bodyPr wrap="none" anchor="ctr"/>
            <a:lstStyle/>
            <a:p>
              <a:endParaRPr lang="zh-CN" altLang="en-US"/>
            </a:p>
          </p:txBody>
        </p:sp>
        <p:sp>
          <p:nvSpPr>
            <p:cNvPr id="53268" name="Line 22"/>
            <p:cNvSpPr>
              <a:spLocks noChangeShapeType="1"/>
            </p:cNvSpPr>
            <p:nvPr/>
          </p:nvSpPr>
          <p:spPr bwMode="auto">
            <a:xfrm>
              <a:off x="2640" y="1392"/>
              <a:ext cx="1" cy="43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3269" name="Rectangle 23"/>
            <p:cNvSpPr>
              <a:spLocks noChangeArrowheads="1"/>
            </p:cNvSpPr>
            <p:nvPr/>
          </p:nvSpPr>
          <p:spPr bwMode="auto">
            <a:xfrm>
              <a:off x="2544" y="1488"/>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en-US" altLang="zh-CN" b="1">
                  <a:solidFill>
                    <a:srgbClr val="993300"/>
                  </a:solidFill>
                  <a:latin typeface="楷体_GB2312" pitchFamily="49" charset="-122"/>
                  <a:ea typeface="楷体_GB2312" pitchFamily="49" charset="-122"/>
                  <a:sym typeface="Symbol" panose="05050102010706020507" pitchFamily="18" charset="2"/>
                </a:rPr>
                <a:t></a:t>
              </a:r>
              <a:endParaRPr lang="en-US" altLang="zh-CN" b="1">
                <a:solidFill>
                  <a:srgbClr val="993300"/>
                </a:solidFill>
                <a:latin typeface="楷体_GB2312" pitchFamily="49" charset="-122"/>
                <a:ea typeface="楷体_GB2312" pitchFamily="49" charset="-122"/>
                <a:sym typeface="Symbol" panose="05050102010706020507" pitchFamily="18" charset="2"/>
              </a:endParaRPr>
            </a:p>
          </p:txBody>
        </p:sp>
        <p:sp>
          <p:nvSpPr>
            <p:cNvPr id="53270" name="Line 24"/>
            <p:cNvSpPr>
              <a:spLocks noChangeShapeType="1"/>
            </p:cNvSpPr>
            <p:nvPr/>
          </p:nvSpPr>
          <p:spPr bwMode="auto">
            <a:xfrm>
              <a:off x="2640" y="1392"/>
              <a:ext cx="480"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3271" name="Rectangle 25"/>
            <p:cNvSpPr>
              <a:spLocks noChangeArrowheads="1"/>
            </p:cNvSpPr>
            <p:nvPr/>
          </p:nvSpPr>
          <p:spPr bwMode="auto">
            <a:xfrm>
              <a:off x="2832" y="1248"/>
              <a:ext cx="2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en-US" altLang="zh-CN" sz="2000" b="1">
                  <a:solidFill>
                    <a:srgbClr val="993300"/>
                  </a:solidFill>
                  <a:latin typeface="楷体_GB2312" pitchFamily="49" charset="-122"/>
                  <a:ea typeface="楷体_GB2312" pitchFamily="49" charset="-122"/>
                  <a:sym typeface="Symbol" panose="05050102010706020507" pitchFamily="18" charset="2"/>
                </a:rPr>
                <a:t></a:t>
              </a:r>
              <a:endParaRPr lang="en-US" altLang="zh-CN" sz="2000" b="1">
                <a:solidFill>
                  <a:srgbClr val="993300"/>
                </a:solidFill>
                <a:latin typeface="楷体_GB2312" pitchFamily="49" charset="-122"/>
                <a:ea typeface="楷体_GB2312" pitchFamily="49" charset="-122"/>
                <a:sym typeface="Symbol" panose="05050102010706020507" pitchFamily="18" charset="2"/>
              </a:endParaRPr>
            </a:p>
          </p:txBody>
        </p:sp>
        <p:sp>
          <p:nvSpPr>
            <p:cNvPr id="53272" name="Line 26"/>
            <p:cNvSpPr>
              <a:spLocks noChangeShapeType="1"/>
            </p:cNvSpPr>
            <p:nvPr/>
          </p:nvSpPr>
          <p:spPr bwMode="auto">
            <a:xfrm flipV="1">
              <a:off x="2640" y="960"/>
              <a:ext cx="1584" cy="432"/>
            </a:xfrm>
            <a:prstGeom prst="line">
              <a:avLst/>
            </a:prstGeom>
            <a:noFill/>
            <a:ln w="349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3273" name="Line 27"/>
            <p:cNvSpPr>
              <a:spLocks noChangeShapeType="1"/>
            </p:cNvSpPr>
            <p:nvPr/>
          </p:nvSpPr>
          <p:spPr bwMode="auto">
            <a:xfrm flipV="1">
              <a:off x="2832" y="1152"/>
              <a:ext cx="672" cy="1104"/>
            </a:xfrm>
            <a:prstGeom prst="line">
              <a:avLst/>
            </a:prstGeom>
            <a:noFill/>
            <a:ln w="34925">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3274" name="Line 28"/>
            <p:cNvSpPr>
              <a:spLocks noChangeShapeType="1"/>
            </p:cNvSpPr>
            <p:nvPr/>
          </p:nvSpPr>
          <p:spPr bwMode="auto">
            <a:xfrm flipH="1">
              <a:off x="2304" y="1968"/>
              <a:ext cx="432" cy="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3275" name="AutoShape 29"/>
            <p:cNvSpPr>
              <a:spLocks noChangeArrowheads="1"/>
            </p:cNvSpPr>
            <p:nvPr/>
          </p:nvSpPr>
          <p:spPr bwMode="auto">
            <a:xfrm rot="-1910839">
              <a:off x="2405" y="2027"/>
              <a:ext cx="396" cy="100"/>
            </a:xfrm>
            <a:prstGeom prst="rightArrow">
              <a:avLst>
                <a:gd name="adj1" fmla="val 50000"/>
                <a:gd name="adj2" fmla="val 99000"/>
              </a:avLst>
            </a:prstGeom>
            <a:solidFill>
              <a:schemeClr val="accent1"/>
            </a:solidFill>
            <a:ln w="9525">
              <a:solidFill>
                <a:srgbClr val="993300"/>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53276" name="Rectangle 30"/>
            <p:cNvSpPr>
              <a:spLocks noChangeArrowheads="1"/>
            </p:cNvSpPr>
            <p:nvPr/>
          </p:nvSpPr>
          <p:spPr bwMode="auto">
            <a:xfrm>
              <a:off x="2496" y="1872"/>
              <a:ext cx="1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en-US" altLang="zh-CN" sz="2000" b="1">
                  <a:solidFill>
                    <a:srgbClr val="993300"/>
                  </a:solidFill>
                  <a:latin typeface="楷体_GB2312" pitchFamily="49" charset="-122"/>
                  <a:ea typeface="楷体_GB2312" pitchFamily="49" charset="-122"/>
                  <a:sym typeface="Symbol" panose="05050102010706020507" pitchFamily="18" charset="2"/>
                </a:rPr>
                <a:t></a:t>
              </a:r>
              <a:endParaRPr lang="en-US" altLang="zh-CN" sz="2000" b="1">
                <a:solidFill>
                  <a:srgbClr val="993300"/>
                </a:solidFill>
                <a:latin typeface="楷体_GB2312" pitchFamily="49" charset="-122"/>
                <a:ea typeface="楷体_GB2312" pitchFamily="49" charset="-122"/>
                <a:sym typeface="Symbol" panose="05050102010706020507" pitchFamily="18" charset="2"/>
              </a:endParaRPr>
            </a:p>
          </p:txBody>
        </p:sp>
        <p:sp>
          <p:nvSpPr>
            <p:cNvPr id="53277" name="Text Box 31"/>
            <p:cNvSpPr txBox="1">
              <a:spLocks noChangeArrowheads="1"/>
            </p:cNvSpPr>
            <p:nvPr/>
          </p:nvSpPr>
          <p:spPr bwMode="auto">
            <a:xfrm>
              <a:off x="2160" y="1968"/>
              <a:ext cx="48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olidFill>
                    <a:srgbClr val="FF0000"/>
                  </a:solidFill>
                  <a:latin typeface="楷体_GB2312" pitchFamily="49" charset="-122"/>
                  <a:ea typeface="楷体_GB2312" pitchFamily="49" charset="-122"/>
                  <a:sym typeface="Symbol" panose="05050102010706020507" pitchFamily="18" charset="2"/>
                </a:rPr>
                <a:t>E</a:t>
              </a:r>
              <a:endParaRPr lang="en-US" altLang="zh-CN" sz="2800" b="1">
                <a:solidFill>
                  <a:srgbClr val="FF0000"/>
                </a:solidFill>
                <a:latin typeface="楷体_GB2312" pitchFamily="49" charset="-122"/>
                <a:ea typeface="楷体_GB2312" pitchFamily="49" charset="-122"/>
                <a:sym typeface="Symbol" panose="05050102010706020507" pitchFamily="18" charset="2"/>
              </a:endParaRPr>
            </a:p>
          </p:txBody>
        </p:sp>
        <p:sp>
          <p:nvSpPr>
            <p:cNvPr id="53278" name="AutoShape 32"/>
            <p:cNvSpPr>
              <a:spLocks noChangeArrowheads="1"/>
            </p:cNvSpPr>
            <p:nvPr/>
          </p:nvSpPr>
          <p:spPr bwMode="auto">
            <a:xfrm rot="8889161">
              <a:off x="2736" y="1824"/>
              <a:ext cx="396" cy="100"/>
            </a:xfrm>
            <a:prstGeom prst="rightArrow">
              <a:avLst>
                <a:gd name="adj1" fmla="val 50000"/>
                <a:gd name="adj2" fmla="val 99000"/>
              </a:avLst>
            </a:prstGeom>
            <a:solidFill>
              <a:srgbClr val="CC0099"/>
            </a:solidFill>
            <a:ln w="9525">
              <a:solidFill>
                <a:srgbClr val="993300"/>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graphicFrame>
        <p:nvGraphicFramePr>
          <p:cNvPr id="65569" name="Group 33"/>
          <p:cNvGraphicFramePr>
            <a:graphicFrameLocks noGrp="1"/>
          </p:cNvGraphicFramePr>
          <p:nvPr/>
        </p:nvGraphicFramePr>
        <p:xfrm>
          <a:off x="914400" y="4038600"/>
          <a:ext cx="7689850" cy="1970088"/>
        </p:xfrm>
        <a:graphic>
          <a:graphicData uri="http://schemas.openxmlformats.org/drawingml/2006/table">
            <a:tbl>
              <a:tblPr/>
              <a:tblGrid>
                <a:gridCol w="3845824"/>
                <a:gridCol w="3844026"/>
              </a:tblGrid>
              <a:tr h="518312">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rgbClr val="9900CC"/>
                          </a:solidFill>
                          <a:effectLst/>
                          <a:latin typeface="+mn-ea"/>
                          <a:ea typeface="+mn-ea"/>
                        </a:rPr>
                        <a:t>朗肯理论</a:t>
                      </a:r>
                      <a:endParaRPr kumimoji="1" lang="zh-CN" altLang="en-US" sz="2400" b="1" i="0" u="none" strike="noStrike" cap="none" normalizeH="0" baseline="0" dirty="0">
                        <a:ln>
                          <a:noFill/>
                        </a:ln>
                        <a:solidFill>
                          <a:srgbClr val="9900CC"/>
                        </a:solidFill>
                        <a:effectLst/>
                        <a:latin typeface="+mn-ea"/>
                        <a:ea typeface="+mn-ea"/>
                      </a:endParaRPr>
                    </a:p>
                  </a:txBody>
                  <a:tcPr marL="91438" marR="91438" horzOverflow="overflow">
                    <a:lnL cap="flat">
                      <a:noFill/>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rgbClr val="9900CC"/>
                          </a:solidFill>
                          <a:effectLst/>
                          <a:latin typeface="+mn-ea"/>
                          <a:ea typeface="+mn-ea"/>
                        </a:rPr>
                        <a:t>库仑理论</a:t>
                      </a:r>
                      <a:endParaRPr kumimoji="1" lang="zh-CN" altLang="en-US" sz="2400" b="1" i="0" u="none" strike="noStrike" cap="none" normalizeH="0" baseline="0" dirty="0">
                        <a:ln>
                          <a:noFill/>
                        </a:ln>
                        <a:solidFill>
                          <a:srgbClr val="9900CC"/>
                        </a:solidFill>
                        <a:effectLst/>
                        <a:latin typeface="+mn-ea"/>
                        <a:ea typeface="+mn-ea"/>
                      </a:endParaRPr>
                    </a:p>
                  </a:txBody>
                  <a:tcPr marL="91438" marR="91438" horzOverflow="overflow">
                    <a:lnL w="12700" cap="flat" cmpd="sng" algn="ctr">
                      <a:solidFill>
                        <a:schemeClr val="tx1"/>
                      </a:solidFill>
                      <a:prstDash val="solid"/>
                      <a:round/>
                      <a:headEnd type="none" w="sm" len="sm"/>
                      <a:tailEnd type="none" w="sm" len="sm"/>
                    </a:lnL>
                    <a:lnR cap="flat">
                      <a:noFill/>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816779">
                <a:tc>
                  <a:txBody>
                    <a:bodyPr/>
                    <a:lstStyle/>
                    <a:p>
                      <a:pPr marL="0" marR="0" lvl="0" indent="0" algn="l" defTabSz="914400" rtl="0" eaLnBrk="1" fontAlgn="base" latinLnBrk="0" hangingPunct="1">
                        <a:lnSpc>
                          <a:spcPct val="100000"/>
                        </a:lnSpc>
                        <a:spcBef>
                          <a:spcPct val="50000"/>
                        </a:spcBef>
                        <a:spcAft>
                          <a:spcPct val="0"/>
                        </a:spcAft>
                        <a:buClrTx/>
                        <a:buSzTx/>
                        <a:buFontTx/>
                        <a:buNone/>
                      </a:pPr>
                      <a:r>
                        <a:rPr kumimoji="1" lang="zh-CN" altLang="en-US" sz="2000" b="1" i="0" u="none" strike="noStrike" cap="none" normalizeH="0" baseline="0" dirty="0">
                          <a:ln>
                            <a:noFill/>
                          </a:ln>
                          <a:solidFill>
                            <a:srgbClr val="0000FF"/>
                          </a:solidFill>
                          <a:effectLst/>
                          <a:latin typeface="+mn-ea"/>
                          <a:ea typeface="+mn-ea"/>
                        </a:rPr>
                        <a:t>土体内各点均处于极限平衡状态：</a:t>
                      </a:r>
                      <a:r>
                        <a:rPr kumimoji="1" lang="zh-CN" altLang="en-US" sz="2000" b="1" i="0" u="none" strike="noStrike" cap="none" normalizeH="0" baseline="0" dirty="0">
                          <a:ln>
                            <a:noFill/>
                          </a:ln>
                          <a:solidFill>
                            <a:srgbClr val="996633"/>
                          </a:solidFill>
                          <a:effectLst/>
                          <a:latin typeface="+mn-ea"/>
                          <a:ea typeface="+mn-ea"/>
                        </a:rPr>
                        <a:t>极限应力法</a:t>
                      </a:r>
                      <a:endParaRPr kumimoji="1" lang="zh-CN" altLang="en-US" sz="2000" b="1" i="0" u="none" strike="noStrike" cap="none" normalizeH="0" baseline="0" dirty="0">
                        <a:ln>
                          <a:noFill/>
                        </a:ln>
                        <a:solidFill>
                          <a:srgbClr val="996633"/>
                        </a:solidFill>
                        <a:effectLst/>
                        <a:latin typeface="+mn-ea"/>
                        <a:ea typeface="+mn-ea"/>
                      </a:endParaRPr>
                    </a:p>
                  </a:txBody>
                  <a:tcPr marL="91438" marR="91438"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dirty="0">
                          <a:ln>
                            <a:noFill/>
                          </a:ln>
                          <a:solidFill>
                            <a:srgbClr val="0000FF"/>
                          </a:solidFill>
                          <a:effectLst/>
                          <a:latin typeface="+mn-ea"/>
                          <a:ea typeface="+mn-ea"/>
                        </a:rPr>
                        <a:t>刚性楔体，滑面上处于极限平衡状态：</a:t>
                      </a:r>
                      <a:r>
                        <a:rPr kumimoji="1" lang="zh-CN" altLang="en-US" sz="2000" b="1" i="0" u="none" strike="noStrike" cap="none" normalizeH="0" baseline="0" dirty="0">
                          <a:ln>
                            <a:noFill/>
                          </a:ln>
                          <a:solidFill>
                            <a:srgbClr val="996633"/>
                          </a:solidFill>
                          <a:effectLst/>
                          <a:latin typeface="+mn-ea"/>
                          <a:ea typeface="+mn-ea"/>
                        </a:rPr>
                        <a:t>滑动楔体法</a:t>
                      </a:r>
                      <a:endParaRPr kumimoji="1" lang="zh-CN" altLang="en-US" sz="2000" b="1" i="0" u="none" strike="noStrike" cap="none" normalizeH="0" baseline="0" dirty="0">
                        <a:ln>
                          <a:noFill/>
                        </a:ln>
                        <a:solidFill>
                          <a:srgbClr val="996633"/>
                        </a:solidFill>
                        <a:effectLst/>
                        <a:latin typeface="+mn-ea"/>
                        <a:ea typeface="+mn-ea"/>
                      </a:endParaRPr>
                    </a:p>
                  </a:txBody>
                  <a:tcPr marL="91438" marR="91438"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634997">
                <a:tc>
                  <a:txBody>
                    <a:bodyPr/>
                    <a:lstStyle/>
                    <a:p>
                      <a:pPr marL="0" marR="0" lvl="0" indent="0" algn="l" defTabSz="914400" rtl="0" eaLnBrk="1" fontAlgn="base" latinLnBrk="0" hangingPunct="1">
                        <a:lnSpc>
                          <a:spcPct val="100000"/>
                        </a:lnSpc>
                        <a:spcBef>
                          <a:spcPct val="5000"/>
                        </a:spcBef>
                        <a:spcAft>
                          <a:spcPct val="5000"/>
                        </a:spcAft>
                        <a:buClrTx/>
                        <a:buSzTx/>
                        <a:buFontTx/>
                        <a:buNone/>
                      </a:pPr>
                      <a:r>
                        <a:rPr kumimoji="1" lang="zh-CN" altLang="en-US" sz="2000" b="1" i="0" u="none" strike="noStrike" cap="none" normalizeH="0" baseline="0" dirty="0">
                          <a:ln>
                            <a:noFill/>
                          </a:ln>
                          <a:solidFill>
                            <a:srgbClr val="0000FF"/>
                          </a:solidFill>
                          <a:effectLst/>
                          <a:latin typeface="+mn-ea"/>
                          <a:ea typeface="+mn-ea"/>
                        </a:rPr>
                        <a:t>先求土压力强度</a:t>
                      </a:r>
                      <a:r>
                        <a:rPr kumimoji="1" lang="en-US" altLang="zh-CN" sz="2000" b="1" i="0" u="none" strike="noStrike" cap="none" normalizeH="0" baseline="0" dirty="0">
                          <a:ln>
                            <a:noFill/>
                          </a:ln>
                          <a:solidFill>
                            <a:srgbClr val="CC3300"/>
                          </a:solidFill>
                          <a:effectLst/>
                          <a:latin typeface="+mn-ea"/>
                          <a:ea typeface="+mn-ea"/>
                          <a:sym typeface="Symbol" panose="05050102010706020507"/>
                        </a:rPr>
                        <a:t></a:t>
                      </a:r>
                      <a:endParaRPr kumimoji="1" lang="en-US" altLang="zh-CN" sz="2000" b="1" i="0" u="none" strike="noStrike" cap="none" normalizeH="0" baseline="0" dirty="0">
                        <a:ln>
                          <a:noFill/>
                        </a:ln>
                        <a:solidFill>
                          <a:srgbClr val="CC3300"/>
                        </a:solidFill>
                        <a:effectLst/>
                        <a:latin typeface="+mn-ea"/>
                        <a:ea typeface="+mn-ea"/>
                      </a:endParaRPr>
                    </a:p>
                  </a:txBody>
                  <a:tcPr marL="91438" marR="91438"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5000"/>
                        </a:spcBef>
                        <a:spcAft>
                          <a:spcPct val="5000"/>
                        </a:spcAft>
                        <a:buClrTx/>
                        <a:buSzTx/>
                        <a:buFontTx/>
                        <a:buNone/>
                      </a:pPr>
                      <a:r>
                        <a:rPr kumimoji="1" lang="zh-CN" altLang="en-US" sz="2000" b="1" i="0" u="none" strike="noStrike" cap="none" normalizeH="0" baseline="0" dirty="0">
                          <a:ln>
                            <a:noFill/>
                          </a:ln>
                          <a:solidFill>
                            <a:srgbClr val="0000FF"/>
                          </a:solidFill>
                          <a:effectLst/>
                          <a:latin typeface="+mn-ea"/>
                          <a:ea typeface="+mn-ea"/>
                        </a:rPr>
                        <a:t>先求总土压力</a:t>
                      </a:r>
                      <a:r>
                        <a:rPr kumimoji="1" lang="en-US" altLang="zh-CN" sz="2000" b="1" i="0" u="none" strike="noStrike" cap="none" normalizeH="0" baseline="0" dirty="0">
                          <a:ln>
                            <a:noFill/>
                          </a:ln>
                          <a:solidFill>
                            <a:srgbClr val="CC3300"/>
                          </a:solidFill>
                          <a:effectLst/>
                          <a:latin typeface="+mn-ea"/>
                          <a:ea typeface="+mn-ea"/>
                        </a:rPr>
                        <a:t>E</a:t>
                      </a:r>
                      <a:endParaRPr kumimoji="1" lang="en-US" altLang="zh-CN" sz="2000" b="1" i="0" u="none" strike="noStrike" cap="none" normalizeH="0" baseline="0" dirty="0">
                        <a:ln>
                          <a:noFill/>
                        </a:ln>
                        <a:solidFill>
                          <a:srgbClr val="CC3300"/>
                        </a:solidFill>
                        <a:effectLst/>
                        <a:latin typeface="+mn-ea"/>
                        <a:ea typeface="+mn-ea"/>
                      </a:endParaRPr>
                    </a:p>
                  </a:txBody>
                  <a:tcPr marL="91438" marR="91438"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sp>
        <p:nvSpPr>
          <p:cNvPr id="65587" name="Text Box 51"/>
          <p:cNvSpPr txBox="1">
            <a:spLocks noChangeArrowheads="1"/>
          </p:cNvSpPr>
          <p:nvPr/>
        </p:nvSpPr>
        <p:spPr bwMode="auto">
          <a:xfrm>
            <a:off x="3200400" y="2505075"/>
            <a:ext cx="1855788" cy="368300"/>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b="1" dirty="0" smtClean="0">
                <a:solidFill>
                  <a:schemeClr val="accent1"/>
                </a:solidFill>
                <a:latin typeface="+mn-ea"/>
                <a:ea typeface="+mn-ea"/>
              </a:rPr>
              <a:t>极限平衡状态</a:t>
            </a:r>
            <a:endParaRPr kumimoji="0" lang="zh-CN" altLang="en-US" b="1" dirty="0" smtClean="0">
              <a:solidFill>
                <a:schemeClr val="accent1"/>
              </a:solidFill>
              <a:latin typeface="+mn-ea"/>
              <a:ea typeface="+mn-ea"/>
            </a:endParaRPr>
          </a:p>
        </p:txBody>
      </p:sp>
      <p:sp>
        <p:nvSpPr>
          <p:cNvPr id="36" name="Rectangle 6"/>
          <p:cNvSpPr>
            <a:spLocks noChangeArrowheads="1"/>
          </p:cNvSpPr>
          <p:nvPr/>
        </p:nvSpPr>
        <p:spPr bwMode="auto">
          <a:xfrm>
            <a:off x="-3175" y="-9842"/>
            <a:ext cx="5583238"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§6.5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朗肯理论与库仑理论的比较</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65587"/>
                                        </p:tgtEl>
                                        <p:attrNameLst>
                                          <p:attrName>style.visibility</p:attrName>
                                        </p:attrNameLst>
                                      </p:cBhvr>
                                      <p:to>
                                        <p:strVal val="visible"/>
                                      </p:to>
                                    </p:set>
                                    <p:animEffect transition="in" filter="slide(fromBottom)">
                                      <p:cBhvr>
                                        <p:cTn id="19" dur="500"/>
                                        <p:tgtEl>
                                          <p:spTgt spid="65587"/>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65569"/>
                                        </p:tgtEl>
                                        <p:attrNameLst>
                                          <p:attrName>style.visibility</p:attrName>
                                        </p:attrNameLst>
                                      </p:cBhvr>
                                      <p:to>
                                        <p:strVal val="visible"/>
                                      </p:to>
                                    </p:set>
                                    <p:animEffect transition="in" filter="dissolve">
                                      <p:cBhvr>
                                        <p:cTn id="24" dur="500"/>
                                        <p:tgtEl>
                                          <p:spTgt spid="655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87" grpId="0" animBg="1"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a:spLocks noChangeArrowheads="1"/>
          </p:cNvSpPr>
          <p:nvPr/>
        </p:nvSpPr>
        <p:spPr bwMode="auto">
          <a:xfrm>
            <a:off x="1084263" y="896938"/>
            <a:ext cx="14112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b="1" dirty="0" smtClean="0">
                <a:solidFill>
                  <a:srgbClr val="993300"/>
                </a:solidFill>
                <a:latin typeface="+mn-ea"/>
                <a:ea typeface="+mn-ea"/>
              </a:rPr>
              <a:t>应用条件</a:t>
            </a:r>
            <a:endParaRPr kumimoji="0" lang="zh-CN" altLang="en-US" b="1" dirty="0" smtClean="0">
              <a:solidFill>
                <a:srgbClr val="993300"/>
              </a:solidFill>
              <a:latin typeface="+mn-ea"/>
              <a:ea typeface="+mn-ea"/>
            </a:endParaRPr>
          </a:p>
        </p:txBody>
      </p:sp>
      <p:grpSp>
        <p:nvGrpSpPr>
          <p:cNvPr id="54275" name="Group 3"/>
          <p:cNvGrpSpPr/>
          <p:nvPr/>
        </p:nvGrpSpPr>
        <p:grpSpPr bwMode="auto">
          <a:xfrm>
            <a:off x="1600200" y="1676400"/>
            <a:ext cx="1600200" cy="1381125"/>
            <a:chOff x="3312" y="1056"/>
            <a:chExt cx="1680" cy="1398"/>
          </a:xfrm>
        </p:grpSpPr>
        <p:sp>
          <p:nvSpPr>
            <p:cNvPr id="54302" name="AutoShape 4" descr="横向砖形"/>
            <p:cNvSpPr>
              <a:spLocks noChangeArrowheads="1"/>
            </p:cNvSpPr>
            <p:nvPr/>
          </p:nvSpPr>
          <p:spPr bwMode="auto">
            <a:xfrm rot="10800000">
              <a:off x="3312" y="1056"/>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blipFill dpi="0" rotWithShape="0">
              <a:blip r:embed="rId1"/>
              <a:srcRect/>
              <a:tile tx="0" ty="0" sx="100000" sy="100000" flip="none" algn="tl"/>
            </a:blipFill>
            <a:ln w="34925">
              <a:solidFill>
                <a:srgbClr val="000000"/>
              </a:solidFill>
              <a:miter lim="800000"/>
            </a:ln>
          </p:spPr>
          <p:txBody>
            <a:bodyPr wrap="none" anchor="ctr"/>
            <a:lstStyle/>
            <a:p>
              <a:endParaRPr lang="zh-CN" altLang="en-US"/>
            </a:p>
          </p:txBody>
        </p:sp>
        <p:sp>
          <p:nvSpPr>
            <p:cNvPr id="54303" name="Rectangle 5"/>
            <p:cNvSpPr>
              <a:spLocks noChangeArrowheads="1"/>
            </p:cNvSpPr>
            <p:nvPr/>
          </p:nvSpPr>
          <p:spPr bwMode="auto">
            <a:xfrm>
              <a:off x="3744" y="1056"/>
              <a:ext cx="1248" cy="1392"/>
            </a:xfrm>
            <a:prstGeom prst="rect">
              <a:avLst/>
            </a:prstGeom>
            <a:solidFill>
              <a:srgbClr val="FFE36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nvGrpSpPr>
            <p:cNvPr id="54304" name="Group 6"/>
            <p:cNvGrpSpPr/>
            <p:nvPr/>
          </p:nvGrpSpPr>
          <p:grpSpPr bwMode="auto">
            <a:xfrm>
              <a:off x="3745" y="1056"/>
              <a:ext cx="863" cy="1398"/>
              <a:chOff x="3361" y="1056"/>
              <a:chExt cx="863" cy="1398"/>
            </a:xfrm>
          </p:grpSpPr>
          <p:sp>
            <p:nvSpPr>
              <p:cNvPr id="54306" name="Line 7"/>
              <p:cNvSpPr>
                <a:spLocks noChangeShapeType="1"/>
              </p:cNvSpPr>
              <p:nvPr/>
            </p:nvSpPr>
            <p:spPr bwMode="auto">
              <a:xfrm flipV="1">
                <a:off x="3361" y="1063"/>
                <a:ext cx="863" cy="1391"/>
              </a:xfrm>
              <a:prstGeom prst="line">
                <a:avLst/>
              </a:prstGeom>
              <a:noFill/>
              <a:ln w="38100">
                <a:solidFill>
                  <a:srgbClr val="8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54307" name="Group 8"/>
              <p:cNvGrpSpPr/>
              <p:nvPr/>
            </p:nvGrpSpPr>
            <p:grpSpPr bwMode="auto">
              <a:xfrm>
                <a:off x="3361" y="1056"/>
                <a:ext cx="757" cy="1166"/>
                <a:chOff x="3361" y="1056"/>
                <a:chExt cx="757" cy="1166"/>
              </a:xfrm>
            </p:grpSpPr>
            <p:sp>
              <p:nvSpPr>
                <p:cNvPr id="54308" name="Line 9"/>
                <p:cNvSpPr>
                  <a:spLocks noChangeShapeType="1"/>
                </p:cNvSpPr>
                <p:nvPr/>
              </p:nvSpPr>
              <p:spPr bwMode="auto">
                <a:xfrm flipV="1">
                  <a:off x="3361" y="1063"/>
                  <a:ext cx="621" cy="1000"/>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4309" name="Line 10"/>
                <p:cNvSpPr>
                  <a:spLocks noChangeShapeType="1"/>
                </p:cNvSpPr>
                <p:nvPr/>
              </p:nvSpPr>
              <p:spPr bwMode="auto">
                <a:xfrm flipV="1">
                  <a:off x="3361" y="1056"/>
                  <a:ext cx="371" cy="623"/>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4310" name="Line 11"/>
                <p:cNvSpPr>
                  <a:spLocks noChangeShapeType="1"/>
                </p:cNvSpPr>
                <p:nvPr/>
              </p:nvSpPr>
              <p:spPr bwMode="auto">
                <a:xfrm flipV="1">
                  <a:off x="3361" y="1063"/>
                  <a:ext cx="121" cy="218"/>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4311" name="Line 12"/>
                <p:cNvSpPr>
                  <a:spLocks noChangeShapeType="1"/>
                </p:cNvSpPr>
                <p:nvPr/>
              </p:nvSpPr>
              <p:spPr bwMode="auto">
                <a:xfrm>
                  <a:off x="3361" y="1259"/>
                  <a:ext cx="394" cy="565"/>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4312" name="Line 13"/>
                <p:cNvSpPr>
                  <a:spLocks noChangeShapeType="1"/>
                </p:cNvSpPr>
                <p:nvPr/>
              </p:nvSpPr>
              <p:spPr bwMode="auto">
                <a:xfrm>
                  <a:off x="3505" y="1070"/>
                  <a:ext cx="363" cy="529"/>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4313" name="Line 14"/>
                <p:cNvSpPr>
                  <a:spLocks noChangeShapeType="1"/>
                </p:cNvSpPr>
                <p:nvPr/>
              </p:nvSpPr>
              <p:spPr bwMode="auto">
                <a:xfrm>
                  <a:off x="3739" y="1063"/>
                  <a:ext cx="265" cy="370"/>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4314" name="Line 15"/>
                <p:cNvSpPr>
                  <a:spLocks noChangeShapeType="1"/>
                </p:cNvSpPr>
                <p:nvPr/>
              </p:nvSpPr>
              <p:spPr bwMode="auto">
                <a:xfrm>
                  <a:off x="3369" y="1643"/>
                  <a:ext cx="264" cy="398"/>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4315" name="Line 16"/>
                <p:cNvSpPr>
                  <a:spLocks noChangeShapeType="1"/>
                </p:cNvSpPr>
                <p:nvPr/>
              </p:nvSpPr>
              <p:spPr bwMode="auto">
                <a:xfrm>
                  <a:off x="3361" y="2005"/>
                  <a:ext cx="151" cy="217"/>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4316" name="Line 17"/>
                <p:cNvSpPr>
                  <a:spLocks noChangeShapeType="1"/>
                </p:cNvSpPr>
                <p:nvPr/>
              </p:nvSpPr>
              <p:spPr bwMode="auto">
                <a:xfrm>
                  <a:off x="3997" y="1056"/>
                  <a:ext cx="121" cy="181"/>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54305" name="Line 18"/>
            <p:cNvSpPr>
              <a:spLocks noChangeShapeType="1"/>
            </p:cNvSpPr>
            <p:nvPr/>
          </p:nvSpPr>
          <p:spPr bwMode="auto">
            <a:xfrm>
              <a:off x="3744" y="1056"/>
              <a:ext cx="0" cy="1392"/>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4276" name="Group 19"/>
          <p:cNvGrpSpPr/>
          <p:nvPr/>
        </p:nvGrpSpPr>
        <p:grpSpPr bwMode="auto">
          <a:xfrm>
            <a:off x="4648200" y="1066800"/>
            <a:ext cx="3352800" cy="2119313"/>
            <a:chOff x="2112" y="960"/>
            <a:chExt cx="2112" cy="1335"/>
          </a:xfrm>
        </p:grpSpPr>
        <p:sp>
          <p:nvSpPr>
            <p:cNvPr id="54290" name="AutoShape 20"/>
            <p:cNvSpPr>
              <a:spLocks noChangeArrowheads="1"/>
            </p:cNvSpPr>
            <p:nvPr/>
          </p:nvSpPr>
          <p:spPr bwMode="auto">
            <a:xfrm rot="10800000">
              <a:off x="2112" y="1392"/>
              <a:ext cx="720" cy="89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8 h 21600"/>
                <a:gd name="T14" fmla="*/ 17100 w 21600"/>
                <a:gd name="T15" fmla="*/ 17092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CCECFF"/>
            </a:solidFill>
            <a:ln w="34925">
              <a:solidFill>
                <a:schemeClr val="folHlink"/>
              </a:solidFill>
              <a:miter lim="800000"/>
            </a:ln>
          </p:spPr>
          <p:txBody>
            <a:bodyPr wrap="none" anchor="ctr"/>
            <a:lstStyle/>
            <a:p>
              <a:endParaRPr lang="zh-CN" altLang="en-US"/>
            </a:p>
          </p:txBody>
        </p:sp>
        <p:sp>
          <p:nvSpPr>
            <p:cNvPr id="54291" name="Line 21"/>
            <p:cNvSpPr>
              <a:spLocks noChangeShapeType="1"/>
            </p:cNvSpPr>
            <p:nvPr/>
          </p:nvSpPr>
          <p:spPr bwMode="auto">
            <a:xfrm>
              <a:off x="2640" y="1392"/>
              <a:ext cx="1" cy="43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4292" name="Rectangle 22"/>
            <p:cNvSpPr>
              <a:spLocks noChangeArrowheads="1"/>
            </p:cNvSpPr>
            <p:nvPr/>
          </p:nvSpPr>
          <p:spPr bwMode="auto">
            <a:xfrm>
              <a:off x="2544" y="1488"/>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en-US" altLang="zh-CN" b="1">
                  <a:solidFill>
                    <a:srgbClr val="993300"/>
                  </a:solidFill>
                  <a:ea typeface="仿宋_GB2312" pitchFamily="49" charset="-122"/>
                  <a:sym typeface="Symbol" panose="05050102010706020507" pitchFamily="18" charset="2"/>
                </a:rPr>
                <a:t></a:t>
              </a:r>
              <a:endParaRPr lang="en-US" altLang="zh-CN" b="1">
                <a:solidFill>
                  <a:srgbClr val="993300"/>
                </a:solidFill>
                <a:ea typeface="仿宋_GB2312" pitchFamily="49" charset="-122"/>
                <a:sym typeface="Symbol" panose="05050102010706020507" pitchFamily="18" charset="2"/>
              </a:endParaRPr>
            </a:p>
          </p:txBody>
        </p:sp>
        <p:sp>
          <p:nvSpPr>
            <p:cNvPr id="54293" name="Line 23"/>
            <p:cNvSpPr>
              <a:spLocks noChangeShapeType="1"/>
            </p:cNvSpPr>
            <p:nvPr/>
          </p:nvSpPr>
          <p:spPr bwMode="auto">
            <a:xfrm>
              <a:off x="2640" y="1392"/>
              <a:ext cx="480"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4294" name="Rectangle 24"/>
            <p:cNvSpPr>
              <a:spLocks noChangeArrowheads="1"/>
            </p:cNvSpPr>
            <p:nvPr/>
          </p:nvSpPr>
          <p:spPr bwMode="auto">
            <a:xfrm>
              <a:off x="2832" y="1248"/>
              <a:ext cx="2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en-US" altLang="zh-CN" sz="2000" b="1">
                  <a:solidFill>
                    <a:srgbClr val="993300"/>
                  </a:solidFill>
                  <a:ea typeface="仿宋_GB2312" pitchFamily="49" charset="-122"/>
                  <a:sym typeface="Symbol" panose="05050102010706020507" pitchFamily="18" charset="2"/>
                </a:rPr>
                <a:t></a:t>
              </a:r>
              <a:endParaRPr lang="en-US" altLang="zh-CN" sz="2000" b="1">
                <a:solidFill>
                  <a:srgbClr val="993300"/>
                </a:solidFill>
                <a:ea typeface="仿宋_GB2312" pitchFamily="49" charset="-122"/>
                <a:sym typeface="Symbol" panose="05050102010706020507" pitchFamily="18" charset="2"/>
              </a:endParaRPr>
            </a:p>
          </p:txBody>
        </p:sp>
        <p:sp>
          <p:nvSpPr>
            <p:cNvPr id="54295" name="Line 25"/>
            <p:cNvSpPr>
              <a:spLocks noChangeShapeType="1"/>
            </p:cNvSpPr>
            <p:nvPr/>
          </p:nvSpPr>
          <p:spPr bwMode="auto">
            <a:xfrm flipV="1">
              <a:off x="2640" y="960"/>
              <a:ext cx="1584" cy="432"/>
            </a:xfrm>
            <a:prstGeom prst="line">
              <a:avLst/>
            </a:prstGeom>
            <a:noFill/>
            <a:ln w="349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4296" name="Line 26"/>
            <p:cNvSpPr>
              <a:spLocks noChangeShapeType="1"/>
            </p:cNvSpPr>
            <p:nvPr/>
          </p:nvSpPr>
          <p:spPr bwMode="auto">
            <a:xfrm flipV="1">
              <a:off x="2832" y="1152"/>
              <a:ext cx="672" cy="1104"/>
            </a:xfrm>
            <a:prstGeom prst="line">
              <a:avLst/>
            </a:prstGeom>
            <a:noFill/>
            <a:ln w="34925">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4297" name="Line 27"/>
            <p:cNvSpPr>
              <a:spLocks noChangeShapeType="1"/>
            </p:cNvSpPr>
            <p:nvPr/>
          </p:nvSpPr>
          <p:spPr bwMode="auto">
            <a:xfrm flipH="1">
              <a:off x="2304" y="1968"/>
              <a:ext cx="432" cy="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4298" name="AutoShape 28"/>
            <p:cNvSpPr>
              <a:spLocks noChangeArrowheads="1"/>
            </p:cNvSpPr>
            <p:nvPr/>
          </p:nvSpPr>
          <p:spPr bwMode="auto">
            <a:xfrm rot="-1910839">
              <a:off x="2405" y="2027"/>
              <a:ext cx="396" cy="100"/>
            </a:xfrm>
            <a:prstGeom prst="rightArrow">
              <a:avLst>
                <a:gd name="adj1" fmla="val 50000"/>
                <a:gd name="adj2" fmla="val 99000"/>
              </a:avLst>
            </a:prstGeom>
            <a:solidFill>
              <a:schemeClr val="accent1"/>
            </a:solidFill>
            <a:ln w="9525">
              <a:solidFill>
                <a:srgbClr val="993300"/>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54299" name="Rectangle 29"/>
            <p:cNvSpPr>
              <a:spLocks noChangeArrowheads="1"/>
            </p:cNvSpPr>
            <p:nvPr/>
          </p:nvSpPr>
          <p:spPr bwMode="auto">
            <a:xfrm>
              <a:off x="2496" y="1872"/>
              <a:ext cx="1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en-US" altLang="zh-CN" sz="2000" b="1">
                  <a:solidFill>
                    <a:srgbClr val="993300"/>
                  </a:solidFill>
                  <a:sym typeface="Symbol" panose="05050102010706020507" pitchFamily="18" charset="2"/>
                </a:rPr>
                <a:t></a:t>
              </a:r>
              <a:endParaRPr lang="en-US" altLang="zh-CN" sz="2000" b="1">
                <a:solidFill>
                  <a:srgbClr val="993300"/>
                </a:solidFill>
                <a:sym typeface="Symbol" panose="05050102010706020507" pitchFamily="18" charset="2"/>
              </a:endParaRPr>
            </a:p>
          </p:txBody>
        </p:sp>
        <p:sp>
          <p:nvSpPr>
            <p:cNvPr id="54300" name="Text Box 30"/>
            <p:cNvSpPr txBox="1">
              <a:spLocks noChangeArrowheads="1"/>
            </p:cNvSpPr>
            <p:nvPr/>
          </p:nvSpPr>
          <p:spPr bwMode="auto">
            <a:xfrm>
              <a:off x="2160" y="1968"/>
              <a:ext cx="48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olidFill>
                    <a:srgbClr val="FF0000"/>
                  </a:solidFill>
                  <a:sym typeface="Symbol" panose="05050102010706020507" pitchFamily="18" charset="2"/>
                </a:rPr>
                <a:t>E</a:t>
              </a:r>
              <a:endParaRPr lang="en-US" altLang="zh-CN" sz="2800" b="1">
                <a:solidFill>
                  <a:srgbClr val="FF0000"/>
                </a:solidFill>
                <a:sym typeface="Symbol" panose="05050102010706020507" pitchFamily="18" charset="2"/>
              </a:endParaRPr>
            </a:p>
          </p:txBody>
        </p:sp>
        <p:sp>
          <p:nvSpPr>
            <p:cNvPr id="54301" name="AutoShape 31"/>
            <p:cNvSpPr>
              <a:spLocks noChangeArrowheads="1"/>
            </p:cNvSpPr>
            <p:nvPr/>
          </p:nvSpPr>
          <p:spPr bwMode="auto">
            <a:xfrm rot="8889161">
              <a:off x="2736" y="1824"/>
              <a:ext cx="396" cy="100"/>
            </a:xfrm>
            <a:prstGeom prst="rightArrow">
              <a:avLst>
                <a:gd name="adj1" fmla="val 50000"/>
                <a:gd name="adj2" fmla="val 99000"/>
              </a:avLst>
            </a:prstGeom>
            <a:solidFill>
              <a:srgbClr val="CC0099"/>
            </a:solidFill>
            <a:ln w="9525">
              <a:solidFill>
                <a:srgbClr val="993300"/>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graphicFrame>
        <p:nvGraphicFramePr>
          <p:cNvPr id="66593" name="Group 33"/>
          <p:cNvGraphicFramePr>
            <a:graphicFrameLocks noGrp="1"/>
          </p:cNvGraphicFramePr>
          <p:nvPr/>
        </p:nvGraphicFramePr>
        <p:xfrm>
          <a:off x="838200" y="3733800"/>
          <a:ext cx="6883400" cy="2065338"/>
        </p:xfrm>
        <a:graphic>
          <a:graphicData uri="http://schemas.openxmlformats.org/drawingml/2006/table">
            <a:tbl>
              <a:tblPr/>
              <a:tblGrid>
                <a:gridCol w="3232150"/>
                <a:gridCol w="3651250"/>
              </a:tblGrid>
              <a:tr h="51809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rgbClr val="9900CC"/>
                          </a:solidFill>
                          <a:effectLst/>
                          <a:latin typeface="+mn-ea"/>
                          <a:ea typeface="+mn-ea"/>
                        </a:rPr>
                        <a:t>朗肯理论</a:t>
                      </a:r>
                      <a:endParaRPr kumimoji="1" lang="zh-CN" altLang="en-US" sz="2400" b="1" i="0" u="none" strike="noStrike" cap="none" normalizeH="0" baseline="0" dirty="0">
                        <a:ln>
                          <a:noFill/>
                        </a:ln>
                        <a:solidFill>
                          <a:srgbClr val="9900CC"/>
                        </a:solidFill>
                        <a:effectLst/>
                        <a:latin typeface="+mn-ea"/>
                        <a:ea typeface="+mn-ea"/>
                      </a:endParaRPr>
                    </a:p>
                  </a:txBody>
                  <a:tcPr marT="45704" marB="45704"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rgbClr val="9900CC"/>
                          </a:solidFill>
                          <a:effectLst/>
                          <a:latin typeface="+mn-ea"/>
                          <a:ea typeface="+mn-ea"/>
                        </a:rPr>
                        <a:t>库仑理论</a:t>
                      </a:r>
                      <a:endParaRPr kumimoji="1" lang="zh-CN" altLang="en-US" sz="2400" b="1" i="0" u="none" strike="noStrike" cap="none" normalizeH="0" baseline="0" dirty="0">
                        <a:ln>
                          <a:noFill/>
                        </a:ln>
                        <a:solidFill>
                          <a:srgbClr val="9900CC"/>
                        </a:solidFill>
                        <a:effectLst/>
                        <a:latin typeface="+mn-ea"/>
                        <a:ea typeface="+mn-ea"/>
                      </a:endParaRPr>
                    </a:p>
                  </a:txBody>
                  <a:tcPr marT="45704" marB="45704"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29909">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dirty="0">
                          <a:ln>
                            <a:noFill/>
                          </a:ln>
                          <a:solidFill>
                            <a:srgbClr val="0000FF"/>
                          </a:solidFill>
                          <a:effectLst/>
                          <a:latin typeface="+mn-ea"/>
                          <a:ea typeface="+mn-ea"/>
                        </a:rPr>
                        <a:t>   </a:t>
                      </a:r>
                      <a:r>
                        <a:rPr kumimoji="1" lang="zh-CN" altLang="en-US" sz="2000" b="1" i="0" u="none" strike="noStrike" cap="none" normalizeH="0" baseline="0" dirty="0">
                          <a:ln>
                            <a:noFill/>
                          </a:ln>
                          <a:solidFill>
                            <a:srgbClr val="0000FF"/>
                          </a:solidFill>
                          <a:effectLst/>
                          <a:latin typeface="+mn-ea"/>
                          <a:ea typeface="+mn-ea"/>
                        </a:rPr>
                        <a:t>墙背光滑竖直</a:t>
                      </a:r>
                      <a:endParaRPr kumimoji="1" lang="zh-CN" altLang="en-US" sz="2000" b="1" i="0" u="none" strike="noStrike" cap="none" normalizeH="0" baseline="0" dirty="0">
                        <a:ln>
                          <a:noFill/>
                        </a:ln>
                        <a:solidFill>
                          <a:srgbClr val="0000FF"/>
                        </a:solidFill>
                        <a:effectLst/>
                        <a:latin typeface="+mn-ea"/>
                        <a:ea typeface="+mn-ea"/>
                      </a:endParaRPr>
                    </a:p>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dirty="0">
                          <a:ln>
                            <a:noFill/>
                          </a:ln>
                          <a:solidFill>
                            <a:srgbClr val="0000FF"/>
                          </a:solidFill>
                          <a:effectLst/>
                          <a:latin typeface="+mn-ea"/>
                          <a:ea typeface="+mn-ea"/>
                        </a:rPr>
                        <a:t>   填土水平</a:t>
                      </a:r>
                      <a:endParaRPr kumimoji="1" lang="zh-CN" altLang="en-US" sz="2000" b="1" i="0" u="none" strike="noStrike" cap="none" normalizeH="0" baseline="0" dirty="0">
                        <a:ln>
                          <a:noFill/>
                        </a:ln>
                        <a:solidFill>
                          <a:srgbClr val="0000FF"/>
                        </a:solidFill>
                        <a:effectLst/>
                        <a:latin typeface="+mn-ea"/>
                        <a:ea typeface="+mn-ea"/>
                      </a:endParaRPr>
                    </a:p>
                  </a:txBody>
                  <a:tcPr marT="45704" marB="45704"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dirty="0">
                          <a:ln>
                            <a:noFill/>
                          </a:ln>
                          <a:solidFill>
                            <a:srgbClr val="0000FF"/>
                          </a:solidFill>
                          <a:effectLst/>
                          <a:latin typeface="+mn-ea"/>
                          <a:ea typeface="+mn-ea"/>
                        </a:rPr>
                        <a:t>  </a:t>
                      </a:r>
                      <a:r>
                        <a:rPr kumimoji="1" lang="zh-CN" altLang="en-US" sz="2000" b="1" i="0" u="none" strike="noStrike" cap="none" normalizeH="0" baseline="0" dirty="0">
                          <a:ln>
                            <a:noFill/>
                          </a:ln>
                          <a:solidFill>
                            <a:srgbClr val="0000FF"/>
                          </a:solidFill>
                          <a:effectLst/>
                          <a:latin typeface="+mn-ea"/>
                          <a:ea typeface="+mn-ea"/>
                        </a:rPr>
                        <a:t>墙背、填土无限制</a:t>
                      </a:r>
                      <a:endParaRPr kumimoji="1" lang="zh-CN" altLang="en-US" sz="2000" b="1" i="0" u="none" strike="noStrike" cap="none" normalizeH="0" baseline="0" dirty="0">
                        <a:ln>
                          <a:noFill/>
                        </a:ln>
                        <a:solidFill>
                          <a:srgbClr val="0000FF"/>
                        </a:solidFill>
                        <a:effectLst/>
                        <a:latin typeface="+mn-ea"/>
                        <a:ea typeface="+mn-ea"/>
                      </a:endParaRPr>
                    </a:p>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dirty="0">
                          <a:ln>
                            <a:noFill/>
                          </a:ln>
                          <a:solidFill>
                            <a:srgbClr val="0000FF"/>
                          </a:solidFill>
                          <a:effectLst/>
                          <a:latin typeface="+mn-ea"/>
                          <a:ea typeface="+mn-ea"/>
                        </a:rPr>
                        <a:t>  </a:t>
                      </a:r>
                      <a:r>
                        <a:rPr kumimoji="1" lang="zh-CN" altLang="en-US" sz="2000" b="1" i="0" u="none" strike="noStrike" cap="none" normalizeH="0" baseline="0" dirty="0" smtClean="0">
                          <a:ln>
                            <a:noFill/>
                          </a:ln>
                          <a:solidFill>
                            <a:srgbClr val="0000FF"/>
                          </a:solidFill>
                          <a:effectLst/>
                          <a:latin typeface="+mn-ea"/>
                          <a:ea typeface="+mn-ea"/>
                        </a:rPr>
                        <a:t>黏性</a:t>
                      </a:r>
                      <a:r>
                        <a:rPr kumimoji="1" lang="zh-CN" altLang="en-US" sz="2000" b="1" i="0" u="none" strike="noStrike" cap="none" normalizeH="0" baseline="0" dirty="0">
                          <a:ln>
                            <a:noFill/>
                          </a:ln>
                          <a:solidFill>
                            <a:srgbClr val="0000FF"/>
                          </a:solidFill>
                          <a:effectLst/>
                          <a:latin typeface="+mn-ea"/>
                          <a:ea typeface="+mn-ea"/>
                        </a:rPr>
                        <a:t>土一般用图解法</a:t>
                      </a:r>
                      <a:endParaRPr kumimoji="1" lang="zh-CN" altLang="en-US" sz="2000" b="1" i="0" u="none" strike="noStrike" cap="none" normalizeH="0" baseline="0" dirty="0">
                        <a:ln>
                          <a:noFill/>
                        </a:ln>
                        <a:solidFill>
                          <a:srgbClr val="0000FF"/>
                        </a:solidFill>
                        <a:effectLst/>
                        <a:latin typeface="+mn-ea"/>
                        <a:ea typeface="+mn-ea"/>
                      </a:endParaRPr>
                    </a:p>
                  </a:txBody>
                  <a:tcPr marT="45704" marB="45704"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7334">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dirty="0">
                          <a:ln>
                            <a:noFill/>
                          </a:ln>
                          <a:solidFill>
                            <a:srgbClr val="0000FF"/>
                          </a:solidFill>
                          <a:effectLst/>
                          <a:latin typeface="+mn-ea"/>
                          <a:ea typeface="+mn-ea"/>
                        </a:rPr>
                        <a:t>  </a:t>
                      </a:r>
                      <a:r>
                        <a:rPr kumimoji="1" lang="zh-CN" altLang="en-US" sz="2000" b="1" i="0" u="none" strike="noStrike" cap="none" normalizeH="0" baseline="0" dirty="0">
                          <a:ln>
                            <a:noFill/>
                          </a:ln>
                          <a:solidFill>
                            <a:srgbClr val="0000FF"/>
                          </a:solidFill>
                          <a:effectLst/>
                          <a:latin typeface="+mn-ea"/>
                          <a:ea typeface="+mn-ea"/>
                        </a:rPr>
                        <a:t>墙背垂直，填土倾斜</a:t>
                      </a:r>
                      <a:endParaRPr kumimoji="1" lang="zh-CN" altLang="en-US" sz="2000" b="1" i="0" u="none" strike="noStrike" cap="none" normalizeH="0" baseline="0" dirty="0">
                        <a:ln>
                          <a:noFill/>
                        </a:ln>
                        <a:solidFill>
                          <a:srgbClr val="0000FF"/>
                        </a:solidFill>
                        <a:effectLst/>
                        <a:latin typeface="+mn-ea"/>
                        <a:ea typeface="+mn-ea"/>
                      </a:endParaRPr>
                    </a:p>
                  </a:txBody>
                  <a:tcPr marT="45704" marB="45704"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2000" b="0" i="0" u="none" strike="noStrike" cap="none" normalizeH="0" baseline="0" dirty="0">
                        <a:ln>
                          <a:noFill/>
                        </a:ln>
                        <a:solidFill>
                          <a:srgbClr val="0000FF"/>
                        </a:solidFill>
                        <a:effectLst/>
                        <a:latin typeface="+mn-ea"/>
                        <a:ea typeface="+mn-ea"/>
                      </a:endParaRPr>
                    </a:p>
                  </a:txBody>
                  <a:tcPr marT="45704" marB="45704"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3" name="Rectangle 6"/>
          <p:cNvSpPr>
            <a:spLocks noChangeArrowheads="1"/>
          </p:cNvSpPr>
          <p:nvPr/>
        </p:nvSpPr>
        <p:spPr bwMode="auto">
          <a:xfrm>
            <a:off x="-3175" y="-9842"/>
            <a:ext cx="5583238"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§6.5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朗肯理论与库仑理论的比较</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a:spLocks noChangeArrowheads="1"/>
          </p:cNvSpPr>
          <p:nvPr/>
        </p:nvSpPr>
        <p:spPr bwMode="auto">
          <a:xfrm>
            <a:off x="1022350" y="768350"/>
            <a:ext cx="14605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zh-CN" altLang="en-US" b="1" dirty="0" smtClean="0">
                <a:solidFill>
                  <a:srgbClr val="993300"/>
                </a:solidFill>
                <a:latin typeface="+mn-ea"/>
                <a:ea typeface="+mn-ea"/>
              </a:rPr>
              <a:t>计算误差</a:t>
            </a:r>
            <a:endParaRPr kumimoji="0" lang="zh-CN" altLang="en-US" b="1" dirty="0" smtClean="0">
              <a:solidFill>
                <a:srgbClr val="993300"/>
              </a:solidFill>
              <a:latin typeface="+mn-ea"/>
              <a:ea typeface="+mn-ea"/>
            </a:endParaRPr>
          </a:p>
        </p:txBody>
      </p:sp>
      <p:grpSp>
        <p:nvGrpSpPr>
          <p:cNvPr id="2" name="Group 3"/>
          <p:cNvGrpSpPr/>
          <p:nvPr/>
        </p:nvGrpSpPr>
        <p:grpSpPr bwMode="auto">
          <a:xfrm>
            <a:off x="1524000" y="1752600"/>
            <a:ext cx="1600200" cy="1381125"/>
            <a:chOff x="3312" y="1056"/>
            <a:chExt cx="1680" cy="1398"/>
          </a:xfrm>
        </p:grpSpPr>
        <p:sp>
          <p:nvSpPr>
            <p:cNvPr id="55345" name="AutoShape 4" descr="横向砖形"/>
            <p:cNvSpPr>
              <a:spLocks noChangeArrowheads="1"/>
            </p:cNvSpPr>
            <p:nvPr/>
          </p:nvSpPr>
          <p:spPr bwMode="auto">
            <a:xfrm rot="10800000">
              <a:off x="3312" y="1056"/>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blipFill dpi="0" rotWithShape="0">
              <a:blip r:embed="rId1"/>
              <a:srcRect/>
              <a:tile tx="0" ty="0" sx="100000" sy="100000" flip="none" algn="tl"/>
            </a:blipFill>
            <a:ln w="34925">
              <a:solidFill>
                <a:srgbClr val="000000"/>
              </a:solidFill>
              <a:miter lim="800000"/>
            </a:ln>
          </p:spPr>
          <p:txBody>
            <a:bodyPr wrap="none" anchor="ctr"/>
            <a:lstStyle/>
            <a:p>
              <a:endParaRPr lang="zh-CN" altLang="en-US"/>
            </a:p>
          </p:txBody>
        </p:sp>
        <p:sp>
          <p:nvSpPr>
            <p:cNvPr id="55346" name="Rectangle 5"/>
            <p:cNvSpPr>
              <a:spLocks noChangeArrowheads="1"/>
            </p:cNvSpPr>
            <p:nvPr/>
          </p:nvSpPr>
          <p:spPr bwMode="auto">
            <a:xfrm>
              <a:off x="3744" y="1056"/>
              <a:ext cx="1248" cy="1392"/>
            </a:xfrm>
            <a:prstGeom prst="rect">
              <a:avLst/>
            </a:prstGeom>
            <a:solidFill>
              <a:srgbClr val="FFE36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nvGrpSpPr>
            <p:cNvPr id="55347" name="Group 6"/>
            <p:cNvGrpSpPr/>
            <p:nvPr/>
          </p:nvGrpSpPr>
          <p:grpSpPr bwMode="auto">
            <a:xfrm>
              <a:off x="3745" y="1056"/>
              <a:ext cx="863" cy="1398"/>
              <a:chOff x="3361" y="1056"/>
              <a:chExt cx="863" cy="1398"/>
            </a:xfrm>
          </p:grpSpPr>
          <p:sp>
            <p:nvSpPr>
              <p:cNvPr id="55349" name="Line 7"/>
              <p:cNvSpPr>
                <a:spLocks noChangeShapeType="1"/>
              </p:cNvSpPr>
              <p:nvPr/>
            </p:nvSpPr>
            <p:spPr bwMode="auto">
              <a:xfrm flipV="1">
                <a:off x="3361" y="1063"/>
                <a:ext cx="863" cy="1391"/>
              </a:xfrm>
              <a:prstGeom prst="line">
                <a:avLst/>
              </a:prstGeom>
              <a:noFill/>
              <a:ln w="38100">
                <a:solidFill>
                  <a:srgbClr val="8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55350" name="Group 8"/>
              <p:cNvGrpSpPr/>
              <p:nvPr/>
            </p:nvGrpSpPr>
            <p:grpSpPr bwMode="auto">
              <a:xfrm>
                <a:off x="3361" y="1056"/>
                <a:ext cx="757" cy="1166"/>
                <a:chOff x="3361" y="1056"/>
                <a:chExt cx="757" cy="1166"/>
              </a:xfrm>
            </p:grpSpPr>
            <p:sp>
              <p:nvSpPr>
                <p:cNvPr id="55351" name="Line 9"/>
                <p:cNvSpPr>
                  <a:spLocks noChangeShapeType="1"/>
                </p:cNvSpPr>
                <p:nvPr/>
              </p:nvSpPr>
              <p:spPr bwMode="auto">
                <a:xfrm flipV="1">
                  <a:off x="3361" y="1063"/>
                  <a:ext cx="621" cy="1000"/>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5352" name="Line 10"/>
                <p:cNvSpPr>
                  <a:spLocks noChangeShapeType="1"/>
                </p:cNvSpPr>
                <p:nvPr/>
              </p:nvSpPr>
              <p:spPr bwMode="auto">
                <a:xfrm flipV="1">
                  <a:off x="3361" y="1056"/>
                  <a:ext cx="371" cy="623"/>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5353" name="Line 11"/>
                <p:cNvSpPr>
                  <a:spLocks noChangeShapeType="1"/>
                </p:cNvSpPr>
                <p:nvPr/>
              </p:nvSpPr>
              <p:spPr bwMode="auto">
                <a:xfrm flipV="1">
                  <a:off x="3361" y="1063"/>
                  <a:ext cx="121" cy="218"/>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5354" name="Line 12"/>
                <p:cNvSpPr>
                  <a:spLocks noChangeShapeType="1"/>
                </p:cNvSpPr>
                <p:nvPr/>
              </p:nvSpPr>
              <p:spPr bwMode="auto">
                <a:xfrm>
                  <a:off x="3361" y="1259"/>
                  <a:ext cx="394" cy="565"/>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5355" name="Line 13"/>
                <p:cNvSpPr>
                  <a:spLocks noChangeShapeType="1"/>
                </p:cNvSpPr>
                <p:nvPr/>
              </p:nvSpPr>
              <p:spPr bwMode="auto">
                <a:xfrm>
                  <a:off x="3505" y="1070"/>
                  <a:ext cx="363" cy="529"/>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5356" name="Line 14"/>
                <p:cNvSpPr>
                  <a:spLocks noChangeShapeType="1"/>
                </p:cNvSpPr>
                <p:nvPr/>
              </p:nvSpPr>
              <p:spPr bwMode="auto">
                <a:xfrm>
                  <a:off x="3739" y="1063"/>
                  <a:ext cx="265" cy="370"/>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5357" name="Line 15"/>
                <p:cNvSpPr>
                  <a:spLocks noChangeShapeType="1"/>
                </p:cNvSpPr>
                <p:nvPr/>
              </p:nvSpPr>
              <p:spPr bwMode="auto">
                <a:xfrm>
                  <a:off x="3369" y="1643"/>
                  <a:ext cx="264" cy="398"/>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5358" name="Line 16"/>
                <p:cNvSpPr>
                  <a:spLocks noChangeShapeType="1"/>
                </p:cNvSpPr>
                <p:nvPr/>
              </p:nvSpPr>
              <p:spPr bwMode="auto">
                <a:xfrm>
                  <a:off x="3361" y="2005"/>
                  <a:ext cx="151" cy="217"/>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5359" name="Line 17"/>
                <p:cNvSpPr>
                  <a:spLocks noChangeShapeType="1"/>
                </p:cNvSpPr>
                <p:nvPr/>
              </p:nvSpPr>
              <p:spPr bwMode="auto">
                <a:xfrm>
                  <a:off x="3997" y="1056"/>
                  <a:ext cx="121" cy="181"/>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55348" name="Line 18"/>
            <p:cNvSpPr>
              <a:spLocks noChangeShapeType="1"/>
            </p:cNvSpPr>
            <p:nvPr/>
          </p:nvSpPr>
          <p:spPr bwMode="auto">
            <a:xfrm>
              <a:off x="3744" y="1056"/>
              <a:ext cx="0" cy="1392"/>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5300" name="AutoShape 20"/>
          <p:cNvSpPr>
            <a:spLocks noChangeArrowheads="1"/>
          </p:cNvSpPr>
          <p:nvPr/>
        </p:nvSpPr>
        <p:spPr bwMode="auto">
          <a:xfrm>
            <a:off x="2824163" y="771525"/>
            <a:ext cx="2554287" cy="509588"/>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b="1">
                <a:solidFill>
                  <a:srgbClr val="0000FF"/>
                </a:solidFill>
                <a:latin typeface="楷体_GB2312" pitchFamily="49" charset="-122"/>
                <a:ea typeface="楷体_GB2312" pitchFamily="49" charset="-122"/>
              </a:rPr>
              <a:t>朗肯土压力理论 </a:t>
            </a:r>
            <a:endParaRPr kumimoji="0" lang="zh-CN" altLang="en-US" b="1">
              <a:solidFill>
                <a:srgbClr val="0000FF"/>
              </a:solidFill>
              <a:latin typeface="楷体_GB2312" pitchFamily="49" charset="-122"/>
              <a:ea typeface="楷体_GB2312" pitchFamily="49" charset="-122"/>
            </a:endParaRPr>
          </a:p>
        </p:txBody>
      </p:sp>
      <p:grpSp>
        <p:nvGrpSpPr>
          <p:cNvPr id="5" name="Group 21"/>
          <p:cNvGrpSpPr/>
          <p:nvPr/>
        </p:nvGrpSpPr>
        <p:grpSpPr bwMode="auto">
          <a:xfrm>
            <a:off x="4191000" y="1752600"/>
            <a:ext cx="2438400" cy="1371600"/>
            <a:chOff x="2788" y="1104"/>
            <a:chExt cx="1388" cy="720"/>
          </a:xfrm>
        </p:grpSpPr>
        <p:sp>
          <p:nvSpPr>
            <p:cNvPr id="55329" name="AutoShape 22" descr="横向砖形"/>
            <p:cNvSpPr>
              <a:spLocks noChangeArrowheads="1"/>
            </p:cNvSpPr>
            <p:nvPr/>
          </p:nvSpPr>
          <p:spPr bwMode="auto">
            <a:xfrm rot="10800000">
              <a:off x="2788" y="1104"/>
              <a:ext cx="384" cy="72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blipFill dpi="0" rotWithShape="0">
              <a:blip r:embed="rId1"/>
              <a:srcRect/>
              <a:tile tx="0" ty="0" sx="100000" sy="100000" flip="none" algn="tl"/>
            </a:blipFill>
            <a:ln w="34925">
              <a:solidFill>
                <a:srgbClr val="000000"/>
              </a:solidFill>
              <a:miter lim="800000"/>
            </a:ln>
          </p:spPr>
          <p:txBody>
            <a:bodyPr wrap="none" anchor="ctr"/>
            <a:lstStyle/>
            <a:p>
              <a:endParaRPr lang="zh-CN" altLang="en-US"/>
            </a:p>
          </p:txBody>
        </p:sp>
        <p:sp>
          <p:nvSpPr>
            <p:cNvPr id="55330" name="Rectangle 23"/>
            <p:cNvSpPr>
              <a:spLocks noChangeArrowheads="1"/>
            </p:cNvSpPr>
            <p:nvPr/>
          </p:nvSpPr>
          <p:spPr bwMode="auto">
            <a:xfrm>
              <a:off x="3054" y="1104"/>
              <a:ext cx="1122" cy="720"/>
            </a:xfrm>
            <a:prstGeom prst="rect">
              <a:avLst/>
            </a:prstGeom>
            <a:solidFill>
              <a:srgbClr val="FFE36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55331" name="Line 24"/>
            <p:cNvSpPr>
              <a:spLocks noChangeShapeType="1"/>
            </p:cNvSpPr>
            <p:nvPr/>
          </p:nvSpPr>
          <p:spPr bwMode="auto">
            <a:xfrm>
              <a:off x="3054" y="1137"/>
              <a:ext cx="0" cy="687"/>
            </a:xfrm>
            <a:prstGeom prst="line">
              <a:avLst/>
            </a:prstGeom>
            <a:noFill/>
            <a:ln w="349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55332" name="Group 25"/>
            <p:cNvGrpSpPr/>
            <p:nvPr/>
          </p:nvGrpSpPr>
          <p:grpSpPr bwMode="auto">
            <a:xfrm>
              <a:off x="3054" y="1104"/>
              <a:ext cx="1033" cy="709"/>
              <a:chOff x="3173" y="1582"/>
              <a:chExt cx="2584" cy="1568"/>
            </a:xfrm>
          </p:grpSpPr>
          <p:sp>
            <p:nvSpPr>
              <p:cNvPr id="55333" name="Line 26"/>
              <p:cNvSpPr>
                <a:spLocks noChangeShapeType="1"/>
              </p:cNvSpPr>
              <p:nvPr/>
            </p:nvSpPr>
            <p:spPr bwMode="auto">
              <a:xfrm flipV="1">
                <a:off x="3189" y="1590"/>
                <a:ext cx="2568" cy="1560"/>
              </a:xfrm>
              <a:prstGeom prst="line">
                <a:avLst/>
              </a:prstGeom>
              <a:noFill/>
              <a:ln w="38100">
                <a:solidFill>
                  <a:srgbClr val="8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55334" name="Group 27"/>
              <p:cNvGrpSpPr/>
              <p:nvPr/>
            </p:nvGrpSpPr>
            <p:grpSpPr bwMode="auto">
              <a:xfrm>
                <a:off x="3173" y="1582"/>
                <a:ext cx="2244" cy="1344"/>
                <a:chOff x="3173" y="1582"/>
                <a:chExt cx="2244" cy="1344"/>
              </a:xfrm>
            </p:grpSpPr>
            <p:sp>
              <p:nvSpPr>
                <p:cNvPr id="55335" name="Line 28"/>
                <p:cNvSpPr>
                  <a:spLocks noChangeShapeType="1"/>
                </p:cNvSpPr>
                <p:nvPr/>
              </p:nvSpPr>
              <p:spPr bwMode="auto">
                <a:xfrm flipV="1">
                  <a:off x="3189" y="1590"/>
                  <a:ext cx="1952" cy="1128"/>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5336" name="Line 29"/>
                <p:cNvSpPr>
                  <a:spLocks noChangeShapeType="1"/>
                </p:cNvSpPr>
                <p:nvPr/>
              </p:nvSpPr>
              <p:spPr bwMode="auto">
                <a:xfrm flipV="1">
                  <a:off x="3189" y="1590"/>
                  <a:ext cx="1304" cy="736"/>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5337" name="Line 30"/>
                <p:cNvSpPr>
                  <a:spLocks noChangeShapeType="1"/>
                </p:cNvSpPr>
                <p:nvPr/>
              </p:nvSpPr>
              <p:spPr bwMode="auto">
                <a:xfrm flipV="1">
                  <a:off x="3197" y="1582"/>
                  <a:ext cx="623" cy="346"/>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5338" name="Line 31"/>
                <p:cNvSpPr>
                  <a:spLocks noChangeShapeType="1"/>
                </p:cNvSpPr>
                <p:nvPr/>
              </p:nvSpPr>
              <p:spPr bwMode="auto">
                <a:xfrm>
                  <a:off x="3213" y="1614"/>
                  <a:ext cx="1232" cy="754"/>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5339" name="Line 32"/>
                <p:cNvSpPr>
                  <a:spLocks noChangeShapeType="1"/>
                </p:cNvSpPr>
                <p:nvPr/>
              </p:nvSpPr>
              <p:spPr bwMode="auto">
                <a:xfrm>
                  <a:off x="3813" y="1598"/>
                  <a:ext cx="952" cy="570"/>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5340" name="Line 33"/>
                <p:cNvSpPr>
                  <a:spLocks noChangeShapeType="1"/>
                </p:cNvSpPr>
                <p:nvPr/>
              </p:nvSpPr>
              <p:spPr bwMode="auto">
                <a:xfrm>
                  <a:off x="5089" y="1590"/>
                  <a:ext cx="328" cy="184"/>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5341" name="Line 34"/>
                <p:cNvSpPr>
                  <a:spLocks noChangeShapeType="1"/>
                </p:cNvSpPr>
                <p:nvPr/>
              </p:nvSpPr>
              <p:spPr bwMode="auto">
                <a:xfrm>
                  <a:off x="3173" y="1950"/>
                  <a:ext cx="992" cy="600"/>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5342" name="Line 35"/>
                <p:cNvSpPr>
                  <a:spLocks noChangeShapeType="1"/>
                </p:cNvSpPr>
                <p:nvPr/>
              </p:nvSpPr>
              <p:spPr bwMode="auto">
                <a:xfrm>
                  <a:off x="3173" y="2350"/>
                  <a:ext cx="664" cy="392"/>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5343" name="Line 36"/>
                <p:cNvSpPr>
                  <a:spLocks noChangeShapeType="1"/>
                </p:cNvSpPr>
                <p:nvPr/>
              </p:nvSpPr>
              <p:spPr bwMode="auto">
                <a:xfrm>
                  <a:off x="4493" y="1590"/>
                  <a:ext cx="632" cy="402"/>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55344" name="Line 37"/>
                <p:cNvSpPr>
                  <a:spLocks noChangeShapeType="1"/>
                </p:cNvSpPr>
                <p:nvPr/>
              </p:nvSpPr>
              <p:spPr bwMode="auto">
                <a:xfrm>
                  <a:off x="3205" y="2742"/>
                  <a:ext cx="312" cy="184"/>
                </a:xfrm>
                <a:prstGeom prst="line">
                  <a:avLst/>
                </a:prstGeom>
                <a:noFill/>
                <a:ln w="38100">
                  <a:solidFill>
                    <a:srgbClr val="8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grpSp>
        </p:grpSp>
      </p:grpSp>
      <p:sp>
        <p:nvSpPr>
          <p:cNvPr id="67622" name="AutoShape 38"/>
          <p:cNvSpPr>
            <a:spLocks noChangeArrowheads="1"/>
          </p:cNvSpPr>
          <p:nvPr/>
        </p:nvSpPr>
        <p:spPr bwMode="auto">
          <a:xfrm rot="-1910839">
            <a:off x="1371600" y="2667000"/>
            <a:ext cx="628650" cy="158750"/>
          </a:xfrm>
          <a:prstGeom prst="rightArrow">
            <a:avLst>
              <a:gd name="adj1" fmla="val 50000"/>
              <a:gd name="adj2" fmla="val 99000"/>
            </a:avLst>
          </a:prstGeom>
          <a:solidFill>
            <a:srgbClr val="CC0099"/>
          </a:solidFill>
          <a:ln w="9525">
            <a:solidFill>
              <a:srgbClr val="993300"/>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67623" name="Line 39"/>
          <p:cNvSpPr>
            <a:spLocks noChangeShapeType="1"/>
          </p:cNvSpPr>
          <p:nvPr/>
        </p:nvSpPr>
        <p:spPr bwMode="auto">
          <a:xfrm flipH="1">
            <a:off x="1219200" y="2590800"/>
            <a:ext cx="6858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7624" name="Line 40"/>
          <p:cNvSpPr>
            <a:spLocks noChangeShapeType="1"/>
          </p:cNvSpPr>
          <p:nvPr/>
        </p:nvSpPr>
        <p:spPr bwMode="auto">
          <a:xfrm flipH="1">
            <a:off x="3962400" y="2590800"/>
            <a:ext cx="6858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7625" name="AutoShape 41"/>
          <p:cNvSpPr>
            <a:spLocks noChangeArrowheads="1"/>
          </p:cNvSpPr>
          <p:nvPr/>
        </p:nvSpPr>
        <p:spPr bwMode="auto">
          <a:xfrm rot="777177">
            <a:off x="4038600" y="2438400"/>
            <a:ext cx="628650" cy="158750"/>
          </a:xfrm>
          <a:prstGeom prst="rightArrow">
            <a:avLst>
              <a:gd name="adj1" fmla="val 50000"/>
              <a:gd name="adj2" fmla="val 99000"/>
            </a:avLst>
          </a:prstGeom>
          <a:solidFill>
            <a:srgbClr val="CC0099"/>
          </a:solidFill>
          <a:ln w="9525">
            <a:solidFill>
              <a:srgbClr val="993300"/>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nvGrpSpPr>
          <p:cNvPr id="8" name="Group 42"/>
          <p:cNvGrpSpPr/>
          <p:nvPr/>
        </p:nvGrpSpPr>
        <p:grpSpPr bwMode="auto">
          <a:xfrm>
            <a:off x="1663700" y="3771900"/>
            <a:ext cx="2058988" cy="2514600"/>
            <a:chOff x="1048" y="2376"/>
            <a:chExt cx="1297" cy="1584"/>
          </a:xfrm>
        </p:grpSpPr>
        <p:sp>
          <p:nvSpPr>
            <p:cNvPr id="55320" name="Text Box 43"/>
            <p:cNvSpPr txBox="1">
              <a:spLocks noChangeArrowheads="1"/>
            </p:cNvSpPr>
            <p:nvPr/>
          </p:nvSpPr>
          <p:spPr bwMode="auto">
            <a:xfrm>
              <a:off x="1961" y="3367"/>
              <a:ext cx="3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W</a:t>
              </a:r>
              <a:endParaRPr lang="en-US" altLang="zh-CN" sz="2800" b="1" i="1"/>
            </a:p>
          </p:txBody>
        </p:sp>
        <p:sp>
          <p:nvSpPr>
            <p:cNvPr id="55321" name="Line 44"/>
            <p:cNvSpPr>
              <a:spLocks noChangeShapeType="1"/>
            </p:cNvSpPr>
            <p:nvPr/>
          </p:nvSpPr>
          <p:spPr bwMode="auto">
            <a:xfrm>
              <a:off x="1330" y="3168"/>
              <a:ext cx="678" cy="792"/>
            </a:xfrm>
            <a:prstGeom prst="line">
              <a:avLst/>
            </a:prstGeom>
            <a:noFill/>
            <a:ln w="50800">
              <a:solidFill>
                <a:srgbClr val="800080"/>
              </a:solidFill>
              <a:round/>
              <a:headEnd type="triangle" w="med" len="me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22" name="Line 45"/>
            <p:cNvSpPr>
              <a:spLocks noChangeShapeType="1"/>
            </p:cNvSpPr>
            <p:nvPr/>
          </p:nvSpPr>
          <p:spPr bwMode="auto">
            <a:xfrm>
              <a:off x="1057" y="2798"/>
              <a:ext cx="951" cy="1"/>
            </a:xfrm>
            <a:prstGeom prst="line">
              <a:avLst/>
            </a:prstGeom>
            <a:noFill/>
            <a:ln w="50800">
              <a:solidFill>
                <a:srgbClr val="00FF00"/>
              </a:solidFill>
              <a:prstDash val="lgDash"/>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23" name="Line 46"/>
            <p:cNvSpPr>
              <a:spLocks noChangeShapeType="1"/>
            </p:cNvSpPr>
            <p:nvPr/>
          </p:nvSpPr>
          <p:spPr bwMode="auto">
            <a:xfrm>
              <a:off x="1999" y="2798"/>
              <a:ext cx="1" cy="1162"/>
            </a:xfrm>
            <a:prstGeom prst="line">
              <a:avLst/>
            </a:prstGeom>
            <a:noFill/>
            <a:ln w="50800">
              <a:solidFill>
                <a:srgbClr val="0000FF"/>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24" name="Line 47"/>
            <p:cNvSpPr>
              <a:spLocks noChangeShapeType="1"/>
            </p:cNvSpPr>
            <p:nvPr/>
          </p:nvSpPr>
          <p:spPr bwMode="auto">
            <a:xfrm flipV="1">
              <a:off x="1330" y="2798"/>
              <a:ext cx="678" cy="370"/>
            </a:xfrm>
            <a:prstGeom prst="line">
              <a:avLst/>
            </a:prstGeom>
            <a:noFill/>
            <a:ln w="63500">
              <a:solidFill>
                <a:srgbClr val="99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25" name="Line 48"/>
            <p:cNvSpPr>
              <a:spLocks noChangeShapeType="1"/>
            </p:cNvSpPr>
            <p:nvPr/>
          </p:nvSpPr>
          <p:spPr bwMode="auto">
            <a:xfrm flipH="1" flipV="1">
              <a:off x="1048" y="2798"/>
              <a:ext cx="282" cy="370"/>
            </a:xfrm>
            <a:prstGeom prst="line">
              <a:avLst/>
            </a:prstGeom>
            <a:noFill/>
            <a:ln w="50800">
              <a:solidFill>
                <a:srgbClr val="FF9900"/>
              </a:solidFill>
              <a:prstDash val="lg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26" name="Text Box 49"/>
            <p:cNvSpPr txBox="1">
              <a:spLocks noChangeArrowheads="1"/>
            </p:cNvSpPr>
            <p:nvPr/>
          </p:nvSpPr>
          <p:spPr bwMode="auto">
            <a:xfrm>
              <a:off x="1104" y="3168"/>
              <a:ext cx="45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R</a:t>
              </a:r>
              <a:endParaRPr lang="en-US" altLang="zh-CN" sz="2800" b="1" i="1"/>
            </a:p>
          </p:txBody>
        </p:sp>
        <p:sp>
          <p:nvSpPr>
            <p:cNvPr id="55327" name="Text Box 50"/>
            <p:cNvSpPr txBox="1">
              <a:spLocks noChangeArrowheads="1"/>
            </p:cNvSpPr>
            <p:nvPr/>
          </p:nvSpPr>
          <p:spPr bwMode="auto">
            <a:xfrm>
              <a:off x="1500" y="2999"/>
              <a:ext cx="45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E</a:t>
              </a:r>
              <a:r>
                <a:rPr lang="en-US" altLang="zh-CN" sz="2800" b="1" i="1" baseline="-25000"/>
                <a:t>a</a:t>
              </a:r>
              <a:r>
                <a:rPr lang="en-US" altLang="zh-CN" sz="2800" b="1" i="1">
                  <a:cs typeface="Times New Roman" panose="02020603050405020304" pitchFamily="18" charset="0"/>
                </a:rPr>
                <a:t>'</a:t>
              </a:r>
              <a:endParaRPr lang="en-US" altLang="zh-CN" sz="2800" b="1" i="1">
                <a:cs typeface="Times New Roman" panose="02020603050405020304" pitchFamily="18" charset="0"/>
              </a:endParaRPr>
            </a:p>
          </p:txBody>
        </p:sp>
        <p:sp>
          <p:nvSpPr>
            <p:cNvPr id="55328" name="Text Box 51"/>
            <p:cNvSpPr txBox="1">
              <a:spLocks noChangeArrowheads="1"/>
            </p:cNvSpPr>
            <p:nvPr/>
          </p:nvSpPr>
          <p:spPr bwMode="auto">
            <a:xfrm>
              <a:off x="1274" y="2376"/>
              <a:ext cx="5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olidFill>
                    <a:srgbClr val="990099"/>
                  </a:solidFill>
                </a:rPr>
                <a:t>E</a:t>
              </a:r>
              <a:r>
                <a:rPr lang="en-US" altLang="zh-CN" sz="2800" b="1" i="1" baseline="-25000">
                  <a:solidFill>
                    <a:srgbClr val="990099"/>
                  </a:solidFill>
                </a:rPr>
                <a:t>a</a:t>
              </a:r>
              <a:endParaRPr lang="en-US" altLang="zh-CN" sz="2800" b="1" i="1">
                <a:solidFill>
                  <a:srgbClr val="990099"/>
                </a:solidFill>
              </a:endParaRPr>
            </a:p>
          </p:txBody>
        </p:sp>
      </p:grpSp>
      <p:sp>
        <p:nvSpPr>
          <p:cNvPr id="67636" name="Rectangle 52"/>
          <p:cNvSpPr>
            <a:spLocks noChangeArrowheads="1"/>
          </p:cNvSpPr>
          <p:nvPr/>
        </p:nvSpPr>
        <p:spPr bwMode="auto">
          <a:xfrm>
            <a:off x="2895600" y="3200400"/>
            <a:ext cx="1274763" cy="461963"/>
          </a:xfrm>
          <a:prstGeom prst="rect">
            <a:avLst/>
          </a:prstGeom>
          <a:solidFill>
            <a:srgbClr val="0000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b="1">
                <a:solidFill>
                  <a:schemeClr val="accent1"/>
                </a:solidFill>
                <a:ea typeface="华文新魏" panose="02010800040101010101" pitchFamily="2" charset="-122"/>
                <a:sym typeface="Symbol" panose="05050102010706020507" pitchFamily="18" charset="2"/>
              </a:rPr>
              <a:t>实际</a:t>
            </a:r>
            <a:r>
              <a:rPr lang="en-US" altLang="zh-CN" b="1">
                <a:solidFill>
                  <a:schemeClr val="accent1"/>
                </a:solidFill>
                <a:ea typeface="华文新魏" panose="02010800040101010101" pitchFamily="2" charset="-122"/>
              </a:rPr>
              <a:t>0</a:t>
            </a:r>
            <a:endParaRPr lang="en-US" altLang="zh-CN" b="1">
              <a:solidFill>
                <a:schemeClr val="accent1"/>
              </a:solidFill>
              <a:ea typeface="华文新魏" panose="02010800040101010101" pitchFamily="2" charset="-122"/>
            </a:endParaRPr>
          </a:p>
        </p:txBody>
      </p:sp>
      <p:grpSp>
        <p:nvGrpSpPr>
          <p:cNvPr id="9" name="Group 53"/>
          <p:cNvGrpSpPr/>
          <p:nvPr/>
        </p:nvGrpSpPr>
        <p:grpSpPr bwMode="auto">
          <a:xfrm>
            <a:off x="5029200" y="3432175"/>
            <a:ext cx="2601913" cy="3048000"/>
            <a:chOff x="3168" y="2162"/>
            <a:chExt cx="1639" cy="1920"/>
          </a:xfrm>
        </p:grpSpPr>
        <p:sp>
          <p:nvSpPr>
            <p:cNvPr id="55312" name="Line 54"/>
            <p:cNvSpPr>
              <a:spLocks noChangeShapeType="1"/>
            </p:cNvSpPr>
            <p:nvPr/>
          </p:nvSpPr>
          <p:spPr bwMode="auto">
            <a:xfrm>
              <a:off x="3172" y="2258"/>
              <a:ext cx="1536" cy="530"/>
            </a:xfrm>
            <a:prstGeom prst="line">
              <a:avLst/>
            </a:prstGeom>
            <a:noFill/>
            <a:ln w="63500">
              <a:solidFill>
                <a:srgbClr val="990000"/>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13" name="Line 55"/>
            <p:cNvSpPr>
              <a:spLocks noChangeShapeType="1"/>
            </p:cNvSpPr>
            <p:nvPr/>
          </p:nvSpPr>
          <p:spPr bwMode="auto">
            <a:xfrm>
              <a:off x="4708" y="2788"/>
              <a:ext cx="0" cy="1294"/>
            </a:xfrm>
            <a:prstGeom prst="line">
              <a:avLst/>
            </a:prstGeom>
            <a:noFill/>
            <a:ln w="50800">
              <a:solidFill>
                <a:srgbClr val="0000FF"/>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14" name="Line 56"/>
            <p:cNvSpPr>
              <a:spLocks noChangeShapeType="1"/>
            </p:cNvSpPr>
            <p:nvPr/>
          </p:nvSpPr>
          <p:spPr bwMode="auto">
            <a:xfrm>
              <a:off x="3620" y="2788"/>
              <a:ext cx="1088" cy="0"/>
            </a:xfrm>
            <a:prstGeom prst="line">
              <a:avLst/>
            </a:prstGeom>
            <a:noFill/>
            <a:ln w="50800">
              <a:solidFill>
                <a:srgbClr val="00FF00"/>
              </a:solidFill>
              <a:prstDash val="lgDash"/>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15" name="Text Box 57"/>
            <p:cNvSpPr txBox="1">
              <a:spLocks noChangeArrowheads="1"/>
            </p:cNvSpPr>
            <p:nvPr/>
          </p:nvSpPr>
          <p:spPr bwMode="auto">
            <a:xfrm>
              <a:off x="4423" y="3353"/>
              <a:ext cx="3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W</a:t>
              </a:r>
              <a:endParaRPr lang="en-US" altLang="zh-CN" sz="2800" b="1" i="1"/>
            </a:p>
          </p:txBody>
        </p:sp>
        <p:sp>
          <p:nvSpPr>
            <p:cNvPr id="55316" name="Text Box 58"/>
            <p:cNvSpPr txBox="1">
              <a:spLocks noChangeArrowheads="1"/>
            </p:cNvSpPr>
            <p:nvPr/>
          </p:nvSpPr>
          <p:spPr bwMode="auto">
            <a:xfrm>
              <a:off x="3751" y="3125"/>
              <a:ext cx="3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R</a:t>
              </a:r>
              <a:endParaRPr lang="en-US" altLang="zh-CN" sz="2800" b="1" i="1"/>
            </a:p>
          </p:txBody>
        </p:sp>
        <p:sp>
          <p:nvSpPr>
            <p:cNvPr id="55317" name="Text Box 59"/>
            <p:cNvSpPr txBox="1">
              <a:spLocks noChangeArrowheads="1"/>
            </p:cNvSpPr>
            <p:nvPr/>
          </p:nvSpPr>
          <p:spPr bwMode="auto">
            <a:xfrm>
              <a:off x="3988" y="2738"/>
              <a:ext cx="3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olidFill>
                    <a:srgbClr val="9900CC"/>
                  </a:solidFill>
                </a:rPr>
                <a:t>E</a:t>
              </a:r>
              <a:r>
                <a:rPr lang="en-US" altLang="zh-CN" sz="2800" b="1" i="1" baseline="-25000">
                  <a:solidFill>
                    <a:srgbClr val="9900CC"/>
                  </a:solidFill>
                </a:rPr>
                <a:t>p</a:t>
              </a:r>
              <a:endParaRPr lang="en-US" altLang="zh-CN" sz="2800" b="1" i="1">
                <a:solidFill>
                  <a:srgbClr val="9900CC"/>
                </a:solidFill>
              </a:endParaRPr>
            </a:p>
          </p:txBody>
        </p:sp>
        <p:sp>
          <p:nvSpPr>
            <p:cNvPr id="55318" name="Text Box 60"/>
            <p:cNvSpPr txBox="1">
              <a:spLocks noChangeArrowheads="1"/>
            </p:cNvSpPr>
            <p:nvPr/>
          </p:nvSpPr>
          <p:spPr bwMode="auto">
            <a:xfrm>
              <a:off x="3796" y="2162"/>
              <a:ext cx="43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E</a:t>
              </a:r>
              <a:r>
                <a:rPr lang="en-US" altLang="zh-CN" sz="2800" b="1" i="1" baseline="-25000"/>
                <a:t>p</a:t>
              </a:r>
              <a:r>
                <a:rPr lang="en-US" altLang="zh-CN" sz="2800" b="1" i="1">
                  <a:cs typeface="Times New Roman" panose="02020603050405020304" pitchFamily="18" charset="0"/>
                </a:rPr>
                <a:t>'</a:t>
              </a:r>
              <a:endParaRPr lang="en-US" altLang="zh-CN" sz="2800" b="1" i="1">
                <a:cs typeface="Times New Roman" panose="02020603050405020304" pitchFamily="18" charset="0"/>
              </a:endParaRPr>
            </a:p>
          </p:txBody>
        </p:sp>
        <p:sp>
          <p:nvSpPr>
            <p:cNvPr id="55319" name="Line 61"/>
            <p:cNvSpPr>
              <a:spLocks noChangeShapeType="1"/>
            </p:cNvSpPr>
            <p:nvPr/>
          </p:nvSpPr>
          <p:spPr bwMode="auto">
            <a:xfrm flipH="1" flipV="1">
              <a:off x="3168" y="2256"/>
              <a:ext cx="1538" cy="1801"/>
            </a:xfrm>
            <a:prstGeom prst="line">
              <a:avLst/>
            </a:prstGeom>
            <a:noFill/>
            <a:ln w="50800" cap="sq">
              <a:solidFill>
                <a:srgbClr val="9900CC"/>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7646" name="AutoShape 62"/>
          <p:cNvSpPr>
            <a:spLocks noChangeArrowheads="1"/>
          </p:cNvSpPr>
          <p:nvPr/>
        </p:nvSpPr>
        <p:spPr bwMode="auto">
          <a:xfrm>
            <a:off x="434975" y="5562600"/>
            <a:ext cx="2120900" cy="442913"/>
          </a:xfrm>
          <a:prstGeom prst="roundRect">
            <a:avLst>
              <a:gd name="adj" fmla="val 16667"/>
            </a:avLst>
          </a:prstGeom>
          <a:solidFill>
            <a:schemeClr val="accent1"/>
          </a:solidFill>
          <a:ln w="9525" algn="ctr">
            <a:solidFill>
              <a:srgbClr val="0000FF"/>
            </a:solidFill>
            <a:round/>
          </a:ln>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CC0000"/>
                </a:solidFill>
                <a:latin typeface="华文细黑" panose="02010600040101010101" pitchFamily="2" charset="-122"/>
                <a:ea typeface="华文细黑" panose="02010600040101010101" pitchFamily="2" charset="-122"/>
              </a:rPr>
              <a:t> </a:t>
            </a:r>
            <a:r>
              <a:rPr lang="zh-CN" altLang="en-US" sz="2000" b="1">
                <a:solidFill>
                  <a:srgbClr val="CC0000"/>
                </a:solidFill>
                <a:latin typeface="华文细黑" panose="02010600040101010101" pitchFamily="2" charset="-122"/>
                <a:ea typeface="华文细黑" panose="02010600040101010101" pitchFamily="2" charset="-122"/>
              </a:rPr>
              <a:t>主动土压力偏大</a:t>
            </a:r>
            <a:endParaRPr lang="zh-CN" altLang="en-US" sz="2000" b="1">
              <a:solidFill>
                <a:srgbClr val="CC0000"/>
              </a:solidFill>
              <a:latin typeface="华文细黑" panose="02010600040101010101" pitchFamily="2" charset="-122"/>
              <a:ea typeface="华文细黑" panose="02010600040101010101" pitchFamily="2" charset="-122"/>
            </a:endParaRPr>
          </a:p>
        </p:txBody>
      </p:sp>
      <p:sp>
        <p:nvSpPr>
          <p:cNvPr id="67647" name="AutoShape 63"/>
          <p:cNvSpPr>
            <a:spLocks noChangeArrowheads="1"/>
          </p:cNvSpPr>
          <p:nvPr/>
        </p:nvSpPr>
        <p:spPr bwMode="auto">
          <a:xfrm>
            <a:off x="4284663" y="5562600"/>
            <a:ext cx="2144712" cy="442913"/>
          </a:xfrm>
          <a:prstGeom prst="roundRect">
            <a:avLst>
              <a:gd name="adj" fmla="val 16667"/>
            </a:avLst>
          </a:prstGeom>
          <a:solidFill>
            <a:schemeClr val="accent1"/>
          </a:solidFill>
          <a:ln w="9525" algn="ctr">
            <a:solidFill>
              <a:srgbClr val="0000FF"/>
            </a:solidFill>
            <a:round/>
          </a:ln>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CC0000"/>
                </a:solidFill>
                <a:latin typeface="华文细黑" panose="02010600040101010101" pitchFamily="2" charset="-122"/>
                <a:ea typeface="华文细黑" panose="02010600040101010101" pitchFamily="2" charset="-122"/>
              </a:rPr>
              <a:t> </a:t>
            </a:r>
            <a:r>
              <a:rPr lang="zh-CN" altLang="en-US" sz="2000" b="1">
                <a:solidFill>
                  <a:srgbClr val="CC0000"/>
                </a:solidFill>
                <a:latin typeface="华文细黑" panose="02010600040101010101" pitchFamily="2" charset="-122"/>
                <a:ea typeface="华文细黑" panose="02010600040101010101" pitchFamily="2" charset="-122"/>
              </a:rPr>
              <a:t>被动土压力偏小</a:t>
            </a:r>
            <a:endParaRPr lang="zh-CN" altLang="en-US" sz="2000" b="1">
              <a:solidFill>
                <a:srgbClr val="CC0000"/>
              </a:solidFill>
              <a:latin typeface="华文细黑" panose="02010600040101010101" pitchFamily="2" charset="-122"/>
              <a:ea typeface="华文细黑" panose="02010600040101010101" pitchFamily="2" charset="-122"/>
            </a:endParaRPr>
          </a:p>
        </p:txBody>
      </p:sp>
      <p:sp>
        <p:nvSpPr>
          <p:cNvPr id="63" name="Rectangle 6"/>
          <p:cNvSpPr>
            <a:spLocks noChangeArrowheads="1"/>
          </p:cNvSpPr>
          <p:nvPr/>
        </p:nvSpPr>
        <p:spPr bwMode="auto">
          <a:xfrm>
            <a:off x="-3175" y="-9842"/>
            <a:ext cx="5583238"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§6.5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朗肯理论与库仑理论的比较</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7623"/>
                                        </p:tgtEl>
                                        <p:attrNameLst>
                                          <p:attrName>style.visibility</p:attrName>
                                        </p:attrNameLst>
                                      </p:cBhvr>
                                      <p:to>
                                        <p:strVal val="visible"/>
                                      </p:to>
                                    </p:set>
                                    <p:animEffect transition="in" filter="wipe(left)">
                                      <p:cBhvr>
                                        <p:cTn id="12" dur="500"/>
                                        <p:tgtEl>
                                          <p:spTgt spid="67623"/>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67636"/>
                                        </p:tgtEl>
                                        <p:attrNameLst>
                                          <p:attrName>style.visibility</p:attrName>
                                        </p:attrNameLst>
                                      </p:cBhvr>
                                      <p:to>
                                        <p:strVal val="visible"/>
                                      </p:to>
                                    </p:set>
                                    <p:animEffect transition="in" filter="slide(fromBottom)">
                                      <p:cBhvr>
                                        <p:cTn id="17" dur="500"/>
                                        <p:tgtEl>
                                          <p:spTgt spid="6763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7622"/>
                                        </p:tgtEl>
                                        <p:attrNameLst>
                                          <p:attrName>style.visibility</p:attrName>
                                        </p:attrNameLst>
                                      </p:cBhvr>
                                      <p:to>
                                        <p:strVal val="visible"/>
                                      </p:to>
                                    </p:set>
                                    <p:animEffect transition="in" filter="wipe(left)">
                                      <p:cBhvr>
                                        <p:cTn id="22" dur="500"/>
                                        <p:tgtEl>
                                          <p:spTgt spid="6762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dissolv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7" presetClass="entr" presetSubtype="4" fill="hold" grpId="0" nodeType="clickEffect">
                                  <p:stCondLst>
                                    <p:cond delay="0"/>
                                  </p:stCondLst>
                                  <p:childTnLst>
                                    <p:set>
                                      <p:cBhvr>
                                        <p:cTn id="31" dur="1" fill="hold">
                                          <p:stCondLst>
                                            <p:cond delay="0"/>
                                          </p:stCondLst>
                                        </p:cTn>
                                        <p:tgtEl>
                                          <p:spTgt spid="67646"/>
                                        </p:tgtEl>
                                        <p:attrNameLst>
                                          <p:attrName>style.visibility</p:attrName>
                                        </p:attrNameLst>
                                      </p:cBhvr>
                                      <p:to>
                                        <p:strVal val="visible"/>
                                      </p:to>
                                    </p:set>
                                    <p:anim calcmode="lin" valueType="num">
                                      <p:cBhvr additive="base">
                                        <p:cTn id="32" dur="5000" fill="hold"/>
                                        <p:tgtEl>
                                          <p:spTgt spid="67646"/>
                                        </p:tgtEl>
                                        <p:attrNameLst>
                                          <p:attrName>ppt_x</p:attrName>
                                        </p:attrNameLst>
                                      </p:cBhvr>
                                      <p:tavLst>
                                        <p:tav tm="0">
                                          <p:val>
                                            <p:strVal val="#ppt_x"/>
                                          </p:val>
                                        </p:tav>
                                        <p:tav tm="100000">
                                          <p:val>
                                            <p:strVal val="#ppt_x"/>
                                          </p:val>
                                        </p:tav>
                                      </p:tavLst>
                                    </p:anim>
                                    <p:anim calcmode="lin" valueType="num">
                                      <p:cBhvr additive="base">
                                        <p:cTn id="33" dur="5000" fill="hold"/>
                                        <p:tgtEl>
                                          <p:spTgt spid="67646"/>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dissolve">
                                      <p:cBhvr>
                                        <p:cTn id="38" dur="500"/>
                                        <p:tgtEl>
                                          <p:spTgt spid="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67624"/>
                                        </p:tgtEl>
                                        <p:attrNameLst>
                                          <p:attrName>style.visibility</p:attrName>
                                        </p:attrNameLst>
                                      </p:cBhvr>
                                      <p:to>
                                        <p:strVal val="visible"/>
                                      </p:to>
                                    </p:set>
                                    <p:animEffect transition="in" filter="wipe(left)">
                                      <p:cBhvr>
                                        <p:cTn id="43" dur="500"/>
                                        <p:tgtEl>
                                          <p:spTgt spid="6762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67625"/>
                                        </p:tgtEl>
                                        <p:attrNameLst>
                                          <p:attrName>style.visibility</p:attrName>
                                        </p:attrNameLst>
                                      </p:cBhvr>
                                      <p:to>
                                        <p:strVal val="visible"/>
                                      </p:to>
                                    </p:set>
                                    <p:animEffect transition="in" filter="wipe(left)">
                                      <p:cBhvr>
                                        <p:cTn id="48" dur="500"/>
                                        <p:tgtEl>
                                          <p:spTgt spid="67625"/>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nodeType="click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dissolve">
                                      <p:cBhvr>
                                        <p:cTn id="53" dur="500"/>
                                        <p:tgtEl>
                                          <p:spTgt spid="9"/>
                                        </p:tgtEl>
                                      </p:cBhvr>
                                    </p:animEffect>
                                  </p:childTnLst>
                                </p:cTn>
                              </p:par>
                            </p:childTnLst>
                          </p:cTn>
                        </p:par>
                      </p:childTnLst>
                    </p:cTn>
                  </p:par>
                  <p:par>
                    <p:cTn id="54" fill="hold">
                      <p:stCondLst>
                        <p:cond delay="indefinite"/>
                      </p:stCondLst>
                      <p:childTnLst>
                        <p:par>
                          <p:cTn id="55" fill="hold">
                            <p:stCondLst>
                              <p:cond delay="0"/>
                            </p:stCondLst>
                            <p:childTnLst>
                              <p:par>
                                <p:cTn id="56" presetID="7" presetClass="entr" presetSubtype="4" fill="hold" grpId="0" nodeType="clickEffect">
                                  <p:stCondLst>
                                    <p:cond delay="0"/>
                                  </p:stCondLst>
                                  <p:childTnLst>
                                    <p:set>
                                      <p:cBhvr>
                                        <p:cTn id="57" dur="1" fill="hold">
                                          <p:stCondLst>
                                            <p:cond delay="0"/>
                                          </p:stCondLst>
                                        </p:cTn>
                                        <p:tgtEl>
                                          <p:spTgt spid="67647"/>
                                        </p:tgtEl>
                                        <p:attrNameLst>
                                          <p:attrName>style.visibility</p:attrName>
                                        </p:attrNameLst>
                                      </p:cBhvr>
                                      <p:to>
                                        <p:strVal val="visible"/>
                                      </p:to>
                                    </p:set>
                                    <p:anim calcmode="lin" valueType="num">
                                      <p:cBhvr additive="base">
                                        <p:cTn id="58" dur="5000" fill="hold"/>
                                        <p:tgtEl>
                                          <p:spTgt spid="67647"/>
                                        </p:tgtEl>
                                        <p:attrNameLst>
                                          <p:attrName>ppt_x</p:attrName>
                                        </p:attrNameLst>
                                      </p:cBhvr>
                                      <p:tavLst>
                                        <p:tav tm="0">
                                          <p:val>
                                            <p:strVal val="#ppt_x"/>
                                          </p:val>
                                        </p:tav>
                                        <p:tav tm="100000">
                                          <p:val>
                                            <p:strVal val="#ppt_x"/>
                                          </p:val>
                                        </p:tav>
                                      </p:tavLst>
                                    </p:anim>
                                    <p:anim calcmode="lin" valueType="num">
                                      <p:cBhvr additive="base">
                                        <p:cTn id="59" dur="5000" fill="hold"/>
                                        <p:tgtEl>
                                          <p:spTgt spid="676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22" grpId="0" animBg="1"/>
      <p:bldP spid="67625" grpId="0" animBg="1"/>
      <p:bldP spid="67636" grpId="0" animBg="1" autoUpdateAnimBg="0"/>
      <p:bldP spid="67646" grpId="0" animBg="1" autoUpdateAnimBg="0"/>
      <p:bldP spid="67647" grpId="0" animBg="1"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AutoShape 4"/>
          <p:cNvSpPr>
            <a:spLocks noChangeArrowheads="1"/>
          </p:cNvSpPr>
          <p:nvPr/>
        </p:nvSpPr>
        <p:spPr bwMode="auto">
          <a:xfrm>
            <a:off x="2770188" y="485775"/>
            <a:ext cx="2554287" cy="511175"/>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b="1">
                <a:solidFill>
                  <a:srgbClr val="0000FF"/>
                </a:solidFill>
                <a:latin typeface="楷体_GB2312" pitchFamily="49" charset="-122"/>
                <a:ea typeface="楷体_GB2312" pitchFamily="49" charset="-122"/>
              </a:rPr>
              <a:t>库仑土压力理论 </a:t>
            </a:r>
            <a:endParaRPr kumimoji="0" lang="zh-CN" altLang="en-US" b="1">
              <a:solidFill>
                <a:srgbClr val="0000FF"/>
              </a:solidFill>
              <a:latin typeface="楷体_GB2312" pitchFamily="49" charset="-122"/>
              <a:ea typeface="楷体_GB2312" pitchFamily="49" charset="-122"/>
            </a:endParaRPr>
          </a:p>
        </p:txBody>
      </p:sp>
      <p:sp>
        <p:nvSpPr>
          <p:cNvPr id="68613" name="Rectangle 5"/>
          <p:cNvSpPr>
            <a:spLocks noChangeArrowheads="1"/>
          </p:cNvSpPr>
          <p:nvPr/>
        </p:nvSpPr>
        <p:spPr bwMode="auto">
          <a:xfrm>
            <a:off x="2187575" y="2957513"/>
            <a:ext cx="3570288" cy="461962"/>
          </a:xfrm>
          <a:prstGeom prst="rect">
            <a:avLst/>
          </a:prstGeom>
          <a:solidFill>
            <a:srgbClr val="0000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b="1">
                <a:solidFill>
                  <a:schemeClr val="accent1"/>
                </a:solidFill>
                <a:ea typeface="华文新魏" panose="02010800040101010101" pitchFamily="2" charset="-122"/>
              </a:rPr>
              <a:t>实际滑动面不一定是平面</a:t>
            </a:r>
            <a:endParaRPr lang="zh-CN" altLang="en-US" b="1">
              <a:solidFill>
                <a:schemeClr val="accent1"/>
              </a:solidFill>
              <a:ea typeface="华文新魏" panose="02010800040101010101" pitchFamily="2" charset="-122"/>
            </a:endParaRPr>
          </a:p>
        </p:txBody>
      </p:sp>
      <p:sp>
        <p:nvSpPr>
          <p:cNvPr id="68614" name="AutoShape 6"/>
          <p:cNvSpPr>
            <a:spLocks noChangeArrowheads="1"/>
          </p:cNvSpPr>
          <p:nvPr/>
        </p:nvSpPr>
        <p:spPr bwMode="auto">
          <a:xfrm>
            <a:off x="1143000" y="5518150"/>
            <a:ext cx="2286000" cy="441325"/>
          </a:xfrm>
          <a:prstGeom prst="roundRect">
            <a:avLst>
              <a:gd name="adj" fmla="val 16667"/>
            </a:avLst>
          </a:prstGeom>
          <a:solidFill>
            <a:schemeClr val="accent1"/>
          </a:solidFill>
          <a:ln w="9525" algn="ctr">
            <a:solidFill>
              <a:srgbClr val="0000FF"/>
            </a:solidFill>
            <a:round/>
          </a:ln>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CC0000"/>
                </a:solidFill>
                <a:latin typeface="华文细黑" panose="02010600040101010101" pitchFamily="2" charset="-122"/>
                <a:ea typeface="华文细黑" panose="02010600040101010101" pitchFamily="2" charset="-122"/>
              </a:rPr>
              <a:t> </a:t>
            </a:r>
            <a:r>
              <a:rPr lang="zh-CN" altLang="en-US" sz="2000" b="1">
                <a:solidFill>
                  <a:srgbClr val="CC0000"/>
                </a:solidFill>
                <a:latin typeface="华文细黑" panose="02010600040101010101" pitchFamily="2" charset="-122"/>
                <a:ea typeface="华文细黑" panose="02010600040101010101" pitchFamily="2" charset="-122"/>
              </a:rPr>
              <a:t>主动土压力 </a:t>
            </a:r>
            <a:r>
              <a:rPr lang="zh-CN" altLang="en-US" sz="2000" b="1">
                <a:solidFill>
                  <a:srgbClr val="0000FF"/>
                </a:solidFill>
                <a:latin typeface="华文细黑" panose="02010600040101010101" pitchFamily="2" charset="-122"/>
                <a:ea typeface="华文细黑" panose="02010600040101010101" pitchFamily="2" charset="-122"/>
              </a:rPr>
              <a:t>偏小</a:t>
            </a:r>
            <a:endParaRPr lang="zh-CN" altLang="en-US" sz="2000" b="1">
              <a:solidFill>
                <a:srgbClr val="0000FF"/>
              </a:solidFill>
              <a:latin typeface="华文细黑" panose="02010600040101010101" pitchFamily="2" charset="-122"/>
              <a:ea typeface="华文细黑" panose="02010600040101010101" pitchFamily="2" charset="-122"/>
            </a:endParaRPr>
          </a:p>
        </p:txBody>
      </p:sp>
      <p:sp>
        <p:nvSpPr>
          <p:cNvPr id="68615" name="AutoShape 7"/>
          <p:cNvSpPr>
            <a:spLocks noChangeArrowheads="1"/>
          </p:cNvSpPr>
          <p:nvPr/>
        </p:nvSpPr>
        <p:spPr bwMode="auto">
          <a:xfrm>
            <a:off x="4648200" y="5518150"/>
            <a:ext cx="2516188" cy="441325"/>
          </a:xfrm>
          <a:prstGeom prst="roundRect">
            <a:avLst>
              <a:gd name="adj" fmla="val 16667"/>
            </a:avLst>
          </a:prstGeom>
          <a:solidFill>
            <a:schemeClr val="accent1"/>
          </a:solidFill>
          <a:ln w="9525" algn="ctr">
            <a:solidFill>
              <a:srgbClr val="0000FF"/>
            </a:solidFill>
            <a:round/>
          </a:ln>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CC0000"/>
                </a:solidFill>
                <a:latin typeface="华文细黑" panose="02010600040101010101" pitchFamily="2" charset="-122"/>
                <a:ea typeface="华文细黑" panose="02010600040101010101" pitchFamily="2" charset="-122"/>
              </a:rPr>
              <a:t> </a:t>
            </a:r>
            <a:r>
              <a:rPr lang="zh-CN" altLang="en-US" sz="2000" b="1">
                <a:solidFill>
                  <a:srgbClr val="CC0000"/>
                </a:solidFill>
                <a:latin typeface="华文细黑" panose="02010600040101010101" pitchFamily="2" charset="-122"/>
                <a:ea typeface="华文细黑" panose="02010600040101010101" pitchFamily="2" charset="-122"/>
              </a:rPr>
              <a:t>被动土压力 </a:t>
            </a:r>
            <a:r>
              <a:rPr lang="zh-CN" altLang="en-US" sz="2000" b="1">
                <a:solidFill>
                  <a:srgbClr val="0000FF"/>
                </a:solidFill>
                <a:latin typeface="华文细黑" panose="02010600040101010101" pitchFamily="2" charset="-122"/>
                <a:ea typeface="华文细黑" panose="02010600040101010101" pitchFamily="2" charset="-122"/>
              </a:rPr>
              <a:t>偏大</a:t>
            </a:r>
            <a:endParaRPr lang="zh-CN" altLang="en-US" sz="2000" b="1">
              <a:solidFill>
                <a:srgbClr val="0000FF"/>
              </a:solidFill>
              <a:latin typeface="华文细黑" panose="02010600040101010101" pitchFamily="2" charset="-122"/>
              <a:ea typeface="华文细黑" panose="02010600040101010101" pitchFamily="2" charset="-122"/>
            </a:endParaRPr>
          </a:p>
        </p:txBody>
      </p:sp>
      <p:sp>
        <p:nvSpPr>
          <p:cNvPr id="68616" name="Line 8"/>
          <p:cNvSpPr>
            <a:spLocks noChangeShapeType="1"/>
          </p:cNvSpPr>
          <p:nvPr/>
        </p:nvSpPr>
        <p:spPr bwMode="auto">
          <a:xfrm>
            <a:off x="4610100" y="1098550"/>
            <a:ext cx="342900" cy="508000"/>
          </a:xfrm>
          <a:prstGeom prst="line">
            <a:avLst/>
          </a:prstGeom>
          <a:noFill/>
          <a:ln w="76200">
            <a:solidFill>
              <a:srgbClr val="0000CC"/>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8617" name="Freeform 9"/>
          <p:cNvSpPr/>
          <p:nvPr/>
        </p:nvSpPr>
        <p:spPr bwMode="auto">
          <a:xfrm>
            <a:off x="4826000" y="1416050"/>
            <a:ext cx="1905000" cy="1270000"/>
          </a:xfrm>
          <a:custGeom>
            <a:avLst/>
            <a:gdLst>
              <a:gd name="T0" fmla="*/ 0 w 1264"/>
              <a:gd name="T1" fmla="*/ 2147483646 h 800"/>
              <a:gd name="T2" fmla="*/ 2147483646 w 1264"/>
              <a:gd name="T3" fmla="*/ 2147483646 h 800"/>
              <a:gd name="T4" fmla="*/ 2147483646 w 1264"/>
              <a:gd name="T5" fmla="*/ 2147483646 h 800"/>
              <a:gd name="T6" fmla="*/ 2147483646 w 1264"/>
              <a:gd name="T7" fmla="*/ 2147483646 h 800"/>
              <a:gd name="T8" fmla="*/ 2147483646 w 1264"/>
              <a:gd name="T9" fmla="*/ 0 h 800"/>
              <a:gd name="T10" fmla="*/ 2147483646 w 1264"/>
              <a:gd name="T11" fmla="*/ 2147483646 h 800"/>
              <a:gd name="T12" fmla="*/ 2147483646 w 1264"/>
              <a:gd name="T13" fmla="*/ 2147483646 h 800"/>
              <a:gd name="T14" fmla="*/ 2147483646 w 1264"/>
              <a:gd name="T15" fmla="*/ 2147483646 h 800"/>
              <a:gd name="T16" fmla="*/ 2147483646 w 1264"/>
              <a:gd name="T17" fmla="*/ 2147483646 h 800"/>
              <a:gd name="T18" fmla="*/ 2147483646 w 1264"/>
              <a:gd name="T19" fmla="*/ 2147483646 h 800"/>
              <a:gd name="T20" fmla="*/ 2147483646 w 1264"/>
              <a:gd name="T21" fmla="*/ 2147483646 h 800"/>
              <a:gd name="T22" fmla="*/ 2147483646 w 1264"/>
              <a:gd name="T23" fmla="*/ 2147483646 h 800"/>
              <a:gd name="T24" fmla="*/ 2147483646 w 1264"/>
              <a:gd name="T25" fmla="*/ 2147483646 h 800"/>
              <a:gd name="T26" fmla="*/ 2147483646 w 1264"/>
              <a:gd name="T27" fmla="*/ 2147483646 h 800"/>
              <a:gd name="T28" fmla="*/ 2147483646 w 1264"/>
              <a:gd name="T29" fmla="*/ 2147483646 h 8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64"/>
              <a:gd name="T46" fmla="*/ 0 h 800"/>
              <a:gd name="T47" fmla="*/ 1264 w 1264"/>
              <a:gd name="T48" fmla="*/ 800 h 8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64" h="800">
                <a:moveTo>
                  <a:pt x="0" y="800"/>
                </a:moveTo>
                <a:lnTo>
                  <a:pt x="72" y="232"/>
                </a:lnTo>
                <a:lnTo>
                  <a:pt x="200" y="104"/>
                </a:lnTo>
                <a:lnTo>
                  <a:pt x="352" y="128"/>
                </a:lnTo>
                <a:lnTo>
                  <a:pt x="480" y="0"/>
                </a:lnTo>
                <a:lnTo>
                  <a:pt x="1208" y="24"/>
                </a:lnTo>
                <a:lnTo>
                  <a:pt x="1264" y="24"/>
                </a:lnTo>
                <a:lnTo>
                  <a:pt x="1192" y="192"/>
                </a:lnTo>
                <a:lnTo>
                  <a:pt x="1088" y="368"/>
                </a:lnTo>
                <a:lnTo>
                  <a:pt x="976" y="496"/>
                </a:lnTo>
                <a:lnTo>
                  <a:pt x="784" y="680"/>
                </a:lnTo>
                <a:lnTo>
                  <a:pt x="640" y="752"/>
                </a:lnTo>
                <a:lnTo>
                  <a:pt x="472" y="792"/>
                </a:lnTo>
                <a:lnTo>
                  <a:pt x="376" y="792"/>
                </a:lnTo>
                <a:lnTo>
                  <a:pt x="352" y="112"/>
                </a:lnTo>
              </a:path>
            </a:pathLst>
          </a:custGeom>
          <a:noFill/>
          <a:ln w="57150">
            <a:solidFill>
              <a:srgbClr val="CC0000"/>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8618" name="Text Box 10"/>
          <p:cNvSpPr txBox="1">
            <a:spLocks noChangeArrowheads="1"/>
          </p:cNvSpPr>
          <p:nvPr/>
        </p:nvSpPr>
        <p:spPr bwMode="auto">
          <a:xfrm>
            <a:off x="6248400" y="2165350"/>
            <a:ext cx="1143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a:solidFill>
                  <a:srgbClr val="FF0000"/>
                </a:solidFill>
                <a:ea typeface="楷体_GB2312" pitchFamily="49" charset="-122"/>
              </a:rPr>
              <a:t>滑动面</a:t>
            </a:r>
            <a:endParaRPr lang="zh-CN" altLang="en-US" sz="2000" b="1">
              <a:solidFill>
                <a:srgbClr val="FF0000"/>
              </a:solidFill>
              <a:ea typeface="楷体_GB2312" pitchFamily="49" charset="-122"/>
            </a:endParaRPr>
          </a:p>
        </p:txBody>
      </p:sp>
      <p:sp>
        <p:nvSpPr>
          <p:cNvPr id="68619" name="Line 11"/>
          <p:cNvSpPr>
            <a:spLocks noChangeShapeType="1"/>
          </p:cNvSpPr>
          <p:nvPr/>
        </p:nvSpPr>
        <p:spPr bwMode="auto">
          <a:xfrm flipV="1">
            <a:off x="5410200" y="1479550"/>
            <a:ext cx="2133600" cy="1193800"/>
          </a:xfrm>
          <a:prstGeom prst="line">
            <a:avLst/>
          </a:prstGeom>
          <a:noFill/>
          <a:ln w="76200">
            <a:solidFill>
              <a:srgbClr val="CC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2" name="Group 12"/>
          <p:cNvGrpSpPr/>
          <p:nvPr/>
        </p:nvGrpSpPr>
        <p:grpSpPr bwMode="auto">
          <a:xfrm>
            <a:off x="4343400" y="1174750"/>
            <a:ext cx="3848100" cy="1498600"/>
            <a:chOff x="2736" y="1008"/>
            <a:chExt cx="2424" cy="944"/>
          </a:xfrm>
        </p:grpSpPr>
        <p:sp>
          <p:nvSpPr>
            <p:cNvPr id="56343" name="Line 13"/>
            <p:cNvSpPr>
              <a:spLocks noChangeShapeType="1"/>
            </p:cNvSpPr>
            <p:nvPr/>
          </p:nvSpPr>
          <p:spPr bwMode="auto">
            <a:xfrm flipH="1" flipV="1">
              <a:off x="2736" y="1944"/>
              <a:ext cx="288" cy="8"/>
            </a:xfrm>
            <a:prstGeom prst="line">
              <a:avLst/>
            </a:prstGeom>
            <a:noFill/>
            <a:ln w="57150">
              <a:solidFill>
                <a:srgbClr val="3366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56344" name="Group 14"/>
            <p:cNvGrpSpPr/>
            <p:nvPr/>
          </p:nvGrpSpPr>
          <p:grpSpPr bwMode="auto">
            <a:xfrm>
              <a:off x="2912" y="1008"/>
              <a:ext cx="2248" cy="944"/>
              <a:chOff x="2912" y="1008"/>
              <a:chExt cx="2248" cy="944"/>
            </a:xfrm>
          </p:grpSpPr>
          <p:sp>
            <p:nvSpPr>
              <p:cNvPr id="56345" name="Freeform 15"/>
              <p:cNvSpPr/>
              <p:nvPr/>
            </p:nvSpPr>
            <p:spPr bwMode="auto">
              <a:xfrm>
                <a:off x="3024" y="1208"/>
                <a:ext cx="1216" cy="744"/>
              </a:xfrm>
              <a:custGeom>
                <a:avLst/>
                <a:gdLst>
                  <a:gd name="T0" fmla="*/ 1216 w 1216"/>
                  <a:gd name="T1" fmla="*/ 0 h 744"/>
                  <a:gd name="T2" fmla="*/ 152 w 1216"/>
                  <a:gd name="T3" fmla="*/ 8 h 744"/>
                  <a:gd name="T4" fmla="*/ 0 w 1216"/>
                  <a:gd name="T5" fmla="*/ 184 h 744"/>
                  <a:gd name="T6" fmla="*/ 0 w 1216"/>
                  <a:gd name="T7" fmla="*/ 744 h 744"/>
                  <a:gd name="T8" fmla="*/ 392 w 1216"/>
                  <a:gd name="T9" fmla="*/ 736 h 744"/>
                  <a:gd name="T10" fmla="*/ 224 w 1216"/>
                  <a:gd name="T11" fmla="*/ 32 h 744"/>
                  <a:gd name="T12" fmla="*/ 0 60000 65536"/>
                  <a:gd name="T13" fmla="*/ 0 60000 65536"/>
                  <a:gd name="T14" fmla="*/ 0 60000 65536"/>
                  <a:gd name="T15" fmla="*/ 0 60000 65536"/>
                  <a:gd name="T16" fmla="*/ 0 60000 65536"/>
                  <a:gd name="T17" fmla="*/ 0 60000 65536"/>
                  <a:gd name="T18" fmla="*/ 0 w 1216"/>
                  <a:gd name="T19" fmla="*/ 0 h 744"/>
                  <a:gd name="T20" fmla="*/ 1216 w 1216"/>
                  <a:gd name="T21" fmla="*/ 744 h 744"/>
                </a:gdLst>
                <a:ahLst/>
                <a:cxnLst>
                  <a:cxn ang="T12">
                    <a:pos x="T0" y="T1"/>
                  </a:cxn>
                  <a:cxn ang="T13">
                    <a:pos x="T2" y="T3"/>
                  </a:cxn>
                  <a:cxn ang="T14">
                    <a:pos x="T4" y="T5"/>
                  </a:cxn>
                  <a:cxn ang="T15">
                    <a:pos x="T6" y="T7"/>
                  </a:cxn>
                  <a:cxn ang="T16">
                    <a:pos x="T8" y="T9"/>
                  </a:cxn>
                  <a:cxn ang="T17">
                    <a:pos x="T10" y="T11"/>
                  </a:cxn>
                </a:cxnLst>
                <a:rect l="T18" t="T19" r="T20" b="T21"/>
                <a:pathLst>
                  <a:path w="1216" h="744">
                    <a:moveTo>
                      <a:pt x="1216" y="0"/>
                    </a:moveTo>
                    <a:lnTo>
                      <a:pt x="152" y="8"/>
                    </a:lnTo>
                    <a:lnTo>
                      <a:pt x="0" y="184"/>
                    </a:lnTo>
                    <a:lnTo>
                      <a:pt x="0" y="744"/>
                    </a:lnTo>
                    <a:lnTo>
                      <a:pt x="392" y="736"/>
                    </a:lnTo>
                    <a:lnTo>
                      <a:pt x="224" y="32"/>
                    </a:lnTo>
                  </a:path>
                </a:pathLst>
              </a:custGeom>
              <a:noFill/>
              <a:ln w="76200">
                <a:solidFill>
                  <a:srgbClr val="3366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346" name="Freeform 16"/>
              <p:cNvSpPr/>
              <p:nvPr/>
            </p:nvSpPr>
            <p:spPr bwMode="auto">
              <a:xfrm>
                <a:off x="2912" y="1008"/>
                <a:ext cx="280" cy="376"/>
              </a:xfrm>
              <a:custGeom>
                <a:avLst/>
                <a:gdLst>
                  <a:gd name="T0" fmla="*/ 280 w 280"/>
                  <a:gd name="T1" fmla="*/ 200 h 376"/>
                  <a:gd name="T2" fmla="*/ 168 w 280"/>
                  <a:gd name="T3" fmla="*/ 0 h 376"/>
                  <a:gd name="T4" fmla="*/ 88 w 280"/>
                  <a:gd name="T5" fmla="*/ 64 h 376"/>
                  <a:gd name="T6" fmla="*/ 40 w 280"/>
                  <a:gd name="T7" fmla="*/ 112 h 376"/>
                  <a:gd name="T8" fmla="*/ 0 w 280"/>
                  <a:gd name="T9" fmla="*/ 136 h 376"/>
                  <a:gd name="T10" fmla="*/ 144 w 280"/>
                  <a:gd name="T11" fmla="*/ 376 h 376"/>
                  <a:gd name="T12" fmla="*/ 0 60000 65536"/>
                  <a:gd name="T13" fmla="*/ 0 60000 65536"/>
                  <a:gd name="T14" fmla="*/ 0 60000 65536"/>
                  <a:gd name="T15" fmla="*/ 0 60000 65536"/>
                  <a:gd name="T16" fmla="*/ 0 60000 65536"/>
                  <a:gd name="T17" fmla="*/ 0 60000 65536"/>
                  <a:gd name="T18" fmla="*/ 0 w 280"/>
                  <a:gd name="T19" fmla="*/ 0 h 376"/>
                  <a:gd name="T20" fmla="*/ 280 w 280"/>
                  <a:gd name="T21" fmla="*/ 376 h 376"/>
                </a:gdLst>
                <a:ahLst/>
                <a:cxnLst>
                  <a:cxn ang="T12">
                    <a:pos x="T0" y="T1"/>
                  </a:cxn>
                  <a:cxn ang="T13">
                    <a:pos x="T2" y="T3"/>
                  </a:cxn>
                  <a:cxn ang="T14">
                    <a:pos x="T4" y="T5"/>
                  </a:cxn>
                  <a:cxn ang="T15">
                    <a:pos x="T6" y="T7"/>
                  </a:cxn>
                  <a:cxn ang="T16">
                    <a:pos x="T8" y="T9"/>
                  </a:cxn>
                  <a:cxn ang="T17">
                    <a:pos x="T10" y="T11"/>
                  </a:cxn>
                </a:cxnLst>
                <a:rect l="T18" t="T19" r="T20" b="T21"/>
                <a:pathLst>
                  <a:path w="280" h="376">
                    <a:moveTo>
                      <a:pt x="280" y="200"/>
                    </a:moveTo>
                    <a:lnTo>
                      <a:pt x="168" y="0"/>
                    </a:lnTo>
                    <a:lnTo>
                      <a:pt x="88" y="64"/>
                    </a:lnTo>
                    <a:lnTo>
                      <a:pt x="40" y="112"/>
                    </a:lnTo>
                    <a:lnTo>
                      <a:pt x="0" y="136"/>
                    </a:lnTo>
                    <a:lnTo>
                      <a:pt x="144" y="376"/>
                    </a:lnTo>
                  </a:path>
                </a:pathLst>
              </a:custGeom>
              <a:noFill/>
              <a:ln w="57150">
                <a:solidFill>
                  <a:srgbClr val="3366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347" name="Line 17"/>
              <p:cNvSpPr>
                <a:spLocks noChangeShapeType="1"/>
              </p:cNvSpPr>
              <p:nvPr/>
            </p:nvSpPr>
            <p:spPr bwMode="auto">
              <a:xfrm flipV="1">
                <a:off x="4224" y="1200"/>
                <a:ext cx="936" cy="8"/>
              </a:xfrm>
              <a:prstGeom prst="line">
                <a:avLst/>
              </a:prstGeom>
              <a:noFill/>
              <a:ln w="76200">
                <a:solidFill>
                  <a:srgbClr val="336600"/>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68626" name="Freeform 18"/>
          <p:cNvSpPr/>
          <p:nvPr/>
        </p:nvSpPr>
        <p:spPr bwMode="auto">
          <a:xfrm>
            <a:off x="990600" y="1250950"/>
            <a:ext cx="2171700" cy="1524000"/>
          </a:xfrm>
          <a:custGeom>
            <a:avLst/>
            <a:gdLst>
              <a:gd name="T0" fmla="*/ 2147483646 w 1368"/>
              <a:gd name="T1" fmla="*/ 0 h 960"/>
              <a:gd name="T2" fmla="*/ 2147483646 w 1368"/>
              <a:gd name="T3" fmla="*/ 2147483646 h 960"/>
              <a:gd name="T4" fmla="*/ 2147483646 w 1368"/>
              <a:gd name="T5" fmla="*/ 2147483646 h 960"/>
              <a:gd name="T6" fmla="*/ 0 w 1368"/>
              <a:gd name="T7" fmla="*/ 2147483646 h 960"/>
              <a:gd name="T8" fmla="*/ 2147483646 w 1368"/>
              <a:gd name="T9" fmla="*/ 2147483646 h 960"/>
              <a:gd name="T10" fmla="*/ 2147483646 w 1368"/>
              <a:gd name="T11" fmla="*/ 2147483646 h 960"/>
              <a:gd name="T12" fmla="*/ 0 60000 65536"/>
              <a:gd name="T13" fmla="*/ 0 60000 65536"/>
              <a:gd name="T14" fmla="*/ 0 60000 65536"/>
              <a:gd name="T15" fmla="*/ 0 60000 65536"/>
              <a:gd name="T16" fmla="*/ 0 60000 65536"/>
              <a:gd name="T17" fmla="*/ 0 60000 65536"/>
              <a:gd name="T18" fmla="*/ 0 w 1368"/>
              <a:gd name="T19" fmla="*/ 0 h 960"/>
              <a:gd name="T20" fmla="*/ 1368 w 1368"/>
              <a:gd name="T21" fmla="*/ 960 h 960"/>
            </a:gdLst>
            <a:ahLst/>
            <a:cxnLst>
              <a:cxn ang="T12">
                <a:pos x="T0" y="T1"/>
              </a:cxn>
              <a:cxn ang="T13">
                <a:pos x="T2" y="T3"/>
              </a:cxn>
              <a:cxn ang="T14">
                <a:pos x="T4" y="T5"/>
              </a:cxn>
              <a:cxn ang="T15">
                <a:pos x="T6" y="T7"/>
              </a:cxn>
              <a:cxn ang="T16">
                <a:pos x="T8" y="T9"/>
              </a:cxn>
              <a:cxn ang="T17">
                <a:pos x="T10" y="T11"/>
              </a:cxn>
            </a:cxnLst>
            <a:rect l="T18" t="T19" r="T20" b="T21"/>
            <a:pathLst>
              <a:path w="1368" h="960">
                <a:moveTo>
                  <a:pt x="1368" y="0"/>
                </a:moveTo>
                <a:lnTo>
                  <a:pt x="416" y="288"/>
                </a:lnTo>
                <a:lnTo>
                  <a:pt x="320" y="960"/>
                </a:lnTo>
                <a:lnTo>
                  <a:pt x="0" y="944"/>
                </a:lnTo>
                <a:lnTo>
                  <a:pt x="272" y="280"/>
                </a:lnTo>
                <a:lnTo>
                  <a:pt x="416" y="304"/>
                </a:lnTo>
              </a:path>
            </a:pathLst>
          </a:custGeom>
          <a:solidFill>
            <a:srgbClr val="CCFFCC">
              <a:alpha val="50195"/>
            </a:srgbClr>
          </a:solidFill>
          <a:ln w="57150">
            <a:solidFill>
              <a:srgbClr val="336600"/>
            </a:solidFill>
            <a:round/>
          </a:ln>
        </p:spPr>
        <p:txBody>
          <a:bodyPr/>
          <a:lstStyle/>
          <a:p>
            <a:endParaRPr lang="zh-CN" altLang="en-US"/>
          </a:p>
        </p:txBody>
      </p:sp>
      <p:sp>
        <p:nvSpPr>
          <p:cNvPr id="68627" name="Freeform 19"/>
          <p:cNvSpPr/>
          <p:nvPr/>
        </p:nvSpPr>
        <p:spPr bwMode="auto">
          <a:xfrm>
            <a:off x="914400" y="1708150"/>
            <a:ext cx="635000" cy="1054100"/>
          </a:xfrm>
          <a:custGeom>
            <a:avLst/>
            <a:gdLst>
              <a:gd name="T0" fmla="*/ 2147483646 w 400"/>
              <a:gd name="T1" fmla="*/ 0 h 664"/>
              <a:gd name="T2" fmla="*/ 2147483646 w 400"/>
              <a:gd name="T3" fmla="*/ 2147483646 h 664"/>
              <a:gd name="T4" fmla="*/ 2147483646 w 400"/>
              <a:gd name="T5" fmla="*/ 2147483646 h 664"/>
              <a:gd name="T6" fmla="*/ 0 w 400"/>
              <a:gd name="T7" fmla="*/ 2147483646 h 664"/>
              <a:gd name="T8" fmla="*/ 2147483646 w 400"/>
              <a:gd name="T9" fmla="*/ 2147483646 h 664"/>
              <a:gd name="T10" fmla="*/ 0 60000 65536"/>
              <a:gd name="T11" fmla="*/ 0 60000 65536"/>
              <a:gd name="T12" fmla="*/ 0 60000 65536"/>
              <a:gd name="T13" fmla="*/ 0 60000 65536"/>
              <a:gd name="T14" fmla="*/ 0 60000 65536"/>
              <a:gd name="T15" fmla="*/ 0 w 400"/>
              <a:gd name="T16" fmla="*/ 0 h 664"/>
              <a:gd name="T17" fmla="*/ 400 w 400"/>
              <a:gd name="T18" fmla="*/ 664 h 664"/>
            </a:gdLst>
            <a:ahLst/>
            <a:cxnLst>
              <a:cxn ang="T10">
                <a:pos x="T0" y="T1"/>
              </a:cxn>
              <a:cxn ang="T11">
                <a:pos x="T2" y="T3"/>
              </a:cxn>
              <a:cxn ang="T12">
                <a:pos x="T4" y="T5"/>
              </a:cxn>
              <a:cxn ang="T13">
                <a:pos x="T6" y="T7"/>
              </a:cxn>
              <a:cxn ang="T14">
                <a:pos x="T8" y="T9"/>
              </a:cxn>
            </a:cxnLst>
            <a:rect l="T15" t="T16" r="T17" b="T18"/>
            <a:pathLst>
              <a:path w="400" h="664">
                <a:moveTo>
                  <a:pt x="216" y="0"/>
                </a:moveTo>
                <a:lnTo>
                  <a:pt x="400" y="8"/>
                </a:lnTo>
                <a:lnTo>
                  <a:pt x="392" y="664"/>
                </a:lnTo>
                <a:lnTo>
                  <a:pt x="0" y="664"/>
                </a:lnTo>
                <a:lnTo>
                  <a:pt x="264" y="8"/>
                </a:lnTo>
              </a:path>
            </a:pathLst>
          </a:custGeom>
          <a:noFill/>
          <a:ln w="57150">
            <a:solidFill>
              <a:srgbClr val="FF0066"/>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8628" name="Freeform 20"/>
          <p:cNvSpPr/>
          <p:nvPr/>
        </p:nvSpPr>
        <p:spPr bwMode="auto">
          <a:xfrm>
            <a:off x="1485900" y="1416050"/>
            <a:ext cx="1065213" cy="1358900"/>
          </a:xfrm>
          <a:custGeom>
            <a:avLst/>
            <a:gdLst>
              <a:gd name="T0" fmla="*/ 0 w 671"/>
              <a:gd name="T1" fmla="*/ 2147483646 h 856"/>
              <a:gd name="T2" fmla="*/ 2147483646 w 671"/>
              <a:gd name="T3" fmla="*/ 2147483646 h 856"/>
              <a:gd name="T4" fmla="*/ 2147483646 w 671"/>
              <a:gd name="T5" fmla="*/ 2147483646 h 856"/>
              <a:gd name="T6" fmla="*/ 2147483646 w 671"/>
              <a:gd name="T7" fmla="*/ 2147483646 h 856"/>
              <a:gd name="T8" fmla="*/ 2147483646 w 671"/>
              <a:gd name="T9" fmla="*/ 2147483646 h 856"/>
              <a:gd name="T10" fmla="*/ 2147483646 w 671"/>
              <a:gd name="T11" fmla="*/ 0 h 856"/>
              <a:gd name="T12" fmla="*/ 0 60000 65536"/>
              <a:gd name="T13" fmla="*/ 0 60000 65536"/>
              <a:gd name="T14" fmla="*/ 0 60000 65536"/>
              <a:gd name="T15" fmla="*/ 0 60000 65536"/>
              <a:gd name="T16" fmla="*/ 0 60000 65536"/>
              <a:gd name="T17" fmla="*/ 0 60000 65536"/>
              <a:gd name="T18" fmla="*/ 0 w 671"/>
              <a:gd name="T19" fmla="*/ 0 h 856"/>
              <a:gd name="T20" fmla="*/ 671 w 671"/>
              <a:gd name="T21" fmla="*/ 856 h 856"/>
            </a:gdLst>
            <a:ahLst/>
            <a:cxnLst>
              <a:cxn ang="T12">
                <a:pos x="T0" y="T1"/>
              </a:cxn>
              <a:cxn ang="T13">
                <a:pos x="T2" y="T3"/>
              </a:cxn>
              <a:cxn ang="T14">
                <a:pos x="T4" y="T5"/>
              </a:cxn>
              <a:cxn ang="T15">
                <a:pos x="T6" y="T7"/>
              </a:cxn>
              <a:cxn ang="T16">
                <a:pos x="T8" y="T9"/>
              </a:cxn>
              <a:cxn ang="T17">
                <a:pos x="T10" y="T11"/>
              </a:cxn>
            </a:cxnLst>
            <a:rect l="T18" t="T19" r="T20" b="T21"/>
            <a:pathLst>
              <a:path w="671" h="856">
                <a:moveTo>
                  <a:pt x="0" y="856"/>
                </a:moveTo>
                <a:cubicBezTo>
                  <a:pt x="56" y="845"/>
                  <a:pt x="112" y="835"/>
                  <a:pt x="176" y="792"/>
                </a:cubicBezTo>
                <a:cubicBezTo>
                  <a:pt x="240" y="749"/>
                  <a:pt x="325" y="669"/>
                  <a:pt x="384" y="600"/>
                </a:cubicBezTo>
                <a:cubicBezTo>
                  <a:pt x="443" y="531"/>
                  <a:pt x="484" y="463"/>
                  <a:pt x="528" y="376"/>
                </a:cubicBezTo>
                <a:cubicBezTo>
                  <a:pt x="572" y="289"/>
                  <a:pt x="625" y="143"/>
                  <a:pt x="648" y="80"/>
                </a:cubicBezTo>
                <a:cubicBezTo>
                  <a:pt x="671" y="17"/>
                  <a:pt x="667" y="8"/>
                  <a:pt x="664" y="0"/>
                </a:cubicBezTo>
              </a:path>
            </a:pathLst>
          </a:custGeom>
          <a:noFill/>
          <a:ln w="38100">
            <a:solidFill>
              <a:srgbClr val="CC0000"/>
            </a:soli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8629" name="Text Box 21"/>
          <p:cNvSpPr txBox="1">
            <a:spLocks noChangeArrowheads="1"/>
          </p:cNvSpPr>
          <p:nvPr/>
        </p:nvSpPr>
        <p:spPr bwMode="auto">
          <a:xfrm>
            <a:off x="2209800" y="2241550"/>
            <a:ext cx="1143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a:solidFill>
                  <a:srgbClr val="FF0000"/>
                </a:solidFill>
                <a:ea typeface="楷体_GB2312" pitchFamily="49" charset="-122"/>
              </a:rPr>
              <a:t>滑动面</a:t>
            </a:r>
            <a:endParaRPr lang="zh-CN" altLang="en-US" sz="2000" b="1">
              <a:solidFill>
                <a:srgbClr val="FF0000"/>
              </a:solidFill>
              <a:ea typeface="楷体_GB2312" pitchFamily="49" charset="-122"/>
            </a:endParaRPr>
          </a:p>
        </p:txBody>
      </p:sp>
      <p:sp>
        <p:nvSpPr>
          <p:cNvPr id="68630" name="Line 22"/>
          <p:cNvSpPr>
            <a:spLocks noChangeShapeType="1"/>
          </p:cNvSpPr>
          <p:nvPr/>
        </p:nvSpPr>
        <p:spPr bwMode="auto">
          <a:xfrm flipV="1">
            <a:off x="1498600" y="1441450"/>
            <a:ext cx="990600" cy="1320800"/>
          </a:xfrm>
          <a:prstGeom prst="line">
            <a:avLst/>
          </a:prstGeom>
          <a:noFill/>
          <a:ln w="76200">
            <a:solidFill>
              <a:srgbClr val="CC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8631" name="AutoShape 23"/>
          <p:cNvSpPr>
            <a:spLocks noChangeArrowheads="1"/>
          </p:cNvSpPr>
          <p:nvPr/>
        </p:nvSpPr>
        <p:spPr bwMode="auto">
          <a:xfrm>
            <a:off x="3367088" y="3563938"/>
            <a:ext cx="1477962" cy="533400"/>
          </a:xfrm>
          <a:prstGeom prst="downArrow">
            <a:avLst>
              <a:gd name="adj1" fmla="val 50000"/>
              <a:gd name="adj2" fmla="val 25000"/>
            </a:avLst>
          </a:prstGeom>
          <a:solidFill>
            <a:srgbClr val="99FFCC"/>
          </a:solidFill>
          <a:ln w="9525">
            <a:solidFill>
              <a:srgbClr val="FF0066"/>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68632" name="Rectangle 24"/>
          <p:cNvSpPr>
            <a:spLocks noChangeArrowheads="1"/>
          </p:cNvSpPr>
          <p:nvPr/>
        </p:nvSpPr>
        <p:spPr bwMode="auto">
          <a:xfrm>
            <a:off x="838200" y="4298950"/>
            <a:ext cx="3048000" cy="708025"/>
          </a:xfrm>
          <a:prstGeom prst="rect">
            <a:avLst/>
          </a:prstGeom>
          <a:solidFill>
            <a:srgbClr val="0000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sz="2000" b="1">
                <a:solidFill>
                  <a:schemeClr val="accent1"/>
                </a:solidFill>
              </a:rPr>
              <a:t>主动土压力搜索得到的不一定是最大值</a:t>
            </a:r>
            <a:endParaRPr lang="zh-CN" altLang="en-US" sz="2000" b="1">
              <a:solidFill>
                <a:schemeClr val="accent1"/>
              </a:solidFill>
            </a:endParaRPr>
          </a:p>
        </p:txBody>
      </p:sp>
      <p:sp>
        <p:nvSpPr>
          <p:cNvPr id="68633" name="Rectangle 25"/>
          <p:cNvSpPr>
            <a:spLocks noChangeArrowheads="1"/>
          </p:cNvSpPr>
          <p:nvPr/>
        </p:nvSpPr>
        <p:spPr bwMode="auto">
          <a:xfrm>
            <a:off x="4419600" y="4298950"/>
            <a:ext cx="3048000" cy="708025"/>
          </a:xfrm>
          <a:prstGeom prst="rect">
            <a:avLst/>
          </a:prstGeom>
          <a:solidFill>
            <a:srgbClr val="0000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sz="2000" b="1">
                <a:solidFill>
                  <a:schemeClr val="accent1"/>
                </a:solidFill>
              </a:rPr>
              <a:t>被动土压力搜索得到的不一定是最小值</a:t>
            </a:r>
            <a:endParaRPr lang="zh-CN" altLang="en-US" sz="2000" b="1">
              <a:solidFill>
                <a:schemeClr val="accent1"/>
              </a:solidFill>
            </a:endParaRPr>
          </a:p>
        </p:txBody>
      </p:sp>
      <p:sp>
        <p:nvSpPr>
          <p:cNvPr id="68634" name="AutoShape 26"/>
          <p:cNvSpPr>
            <a:spLocks noChangeArrowheads="1"/>
          </p:cNvSpPr>
          <p:nvPr/>
        </p:nvSpPr>
        <p:spPr bwMode="auto">
          <a:xfrm>
            <a:off x="2133600" y="5213350"/>
            <a:ext cx="381000" cy="152400"/>
          </a:xfrm>
          <a:prstGeom prst="downArrow">
            <a:avLst>
              <a:gd name="adj1" fmla="val 50000"/>
              <a:gd name="adj2" fmla="val 25000"/>
            </a:avLst>
          </a:prstGeom>
          <a:solidFill>
            <a:srgbClr val="FF0000"/>
          </a:solidFill>
          <a:ln w="9525">
            <a:solidFill>
              <a:srgbClr val="0000FF"/>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68635" name="AutoShape 27"/>
          <p:cNvSpPr>
            <a:spLocks noChangeArrowheads="1"/>
          </p:cNvSpPr>
          <p:nvPr/>
        </p:nvSpPr>
        <p:spPr bwMode="auto">
          <a:xfrm>
            <a:off x="5562600" y="5213350"/>
            <a:ext cx="381000" cy="152400"/>
          </a:xfrm>
          <a:prstGeom prst="downArrow">
            <a:avLst>
              <a:gd name="adj1" fmla="val 50000"/>
              <a:gd name="adj2" fmla="val 25000"/>
            </a:avLst>
          </a:prstGeom>
          <a:solidFill>
            <a:srgbClr val="FF0000"/>
          </a:solidFill>
          <a:ln w="9525">
            <a:solidFill>
              <a:srgbClr val="0000FF"/>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68636" name="Rectangle 28"/>
          <p:cNvSpPr>
            <a:spLocks noChangeArrowheads="1"/>
          </p:cNvSpPr>
          <p:nvPr/>
        </p:nvSpPr>
        <p:spPr bwMode="auto">
          <a:xfrm>
            <a:off x="1171575" y="6172200"/>
            <a:ext cx="6119813" cy="400050"/>
          </a:xfrm>
          <a:prstGeom prst="rect">
            <a:avLst/>
          </a:prstGeom>
          <a:solidFill>
            <a:schemeClr val="accent1"/>
          </a:solidFill>
          <a:ln w="9525">
            <a:solidFill>
              <a:srgbClr val="0000FF"/>
            </a:solidFill>
            <a:miter lim="800000"/>
          </a:ln>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zh-CN" altLang="en-US" sz="2000" b="1">
                <a:solidFill>
                  <a:srgbClr val="FF0066"/>
                </a:solidFill>
              </a:rPr>
              <a:t>工程中使用被动土压力较少，因为所需相对位移太大</a:t>
            </a:r>
            <a:endParaRPr lang="zh-CN" altLang="en-US" sz="2000" b="1">
              <a:solidFill>
                <a:srgbClr val="FF0066"/>
              </a:solidFill>
            </a:endParaRPr>
          </a:p>
        </p:txBody>
      </p:sp>
      <p:sp>
        <p:nvSpPr>
          <p:cNvPr id="28" name="Rectangle 6"/>
          <p:cNvSpPr>
            <a:spLocks noChangeArrowheads="1"/>
          </p:cNvSpPr>
          <p:nvPr/>
        </p:nvSpPr>
        <p:spPr bwMode="auto">
          <a:xfrm>
            <a:off x="-3175" y="-9842"/>
            <a:ext cx="5583238"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defRPr/>
            </a:pPr>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§6.5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朗肯理论与库仑理论的比较</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68626"/>
                                        </p:tgtEl>
                                        <p:attrNameLst>
                                          <p:attrName>style.visibility</p:attrName>
                                        </p:attrNameLst>
                                      </p:cBhvr>
                                      <p:to>
                                        <p:strVal val="visible"/>
                                      </p:to>
                                    </p:set>
                                    <p:animEffect transition="in" filter="dissolve">
                                      <p:cBhvr>
                                        <p:cTn id="7" dur="500"/>
                                        <p:tgtEl>
                                          <p:spTgt spid="686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8630"/>
                                        </p:tgtEl>
                                        <p:attrNameLst>
                                          <p:attrName>style.visibility</p:attrName>
                                        </p:attrNameLst>
                                      </p:cBhvr>
                                      <p:to>
                                        <p:strVal val="visible"/>
                                      </p:to>
                                    </p:set>
                                    <p:animEffect transition="in" filter="wipe(left)">
                                      <p:cBhvr>
                                        <p:cTn id="12" dur="500"/>
                                        <p:tgtEl>
                                          <p:spTgt spid="6863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68616"/>
                                        </p:tgtEl>
                                        <p:attrNameLst>
                                          <p:attrName>style.visibility</p:attrName>
                                        </p:attrNameLst>
                                      </p:cBhvr>
                                      <p:to>
                                        <p:strVal val="visible"/>
                                      </p:to>
                                    </p:set>
                                    <p:animEffect transition="in" filter="wipe(up)">
                                      <p:cBhvr>
                                        <p:cTn id="22" dur="500"/>
                                        <p:tgtEl>
                                          <p:spTgt spid="686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8619"/>
                                        </p:tgtEl>
                                        <p:attrNameLst>
                                          <p:attrName>style.visibility</p:attrName>
                                        </p:attrNameLst>
                                      </p:cBhvr>
                                      <p:to>
                                        <p:strVal val="visible"/>
                                      </p:to>
                                    </p:set>
                                    <p:animEffect transition="in" filter="wipe(left)">
                                      <p:cBhvr>
                                        <p:cTn id="27" dur="500"/>
                                        <p:tgtEl>
                                          <p:spTgt spid="68619"/>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68613"/>
                                        </p:tgtEl>
                                        <p:attrNameLst>
                                          <p:attrName>style.visibility</p:attrName>
                                        </p:attrNameLst>
                                      </p:cBhvr>
                                      <p:to>
                                        <p:strVal val="visible"/>
                                      </p:to>
                                    </p:set>
                                    <p:animEffect transition="in" filter="slide(fromBottom)">
                                      <p:cBhvr>
                                        <p:cTn id="32" dur="500"/>
                                        <p:tgtEl>
                                          <p:spTgt spid="686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68627"/>
                                        </p:tgtEl>
                                        <p:attrNameLst>
                                          <p:attrName>style.visibility</p:attrName>
                                        </p:attrNameLst>
                                      </p:cBhvr>
                                      <p:to>
                                        <p:strVal val="visible"/>
                                      </p:to>
                                    </p:set>
                                    <p:animEffect transition="in" filter="wipe(right)">
                                      <p:cBhvr>
                                        <p:cTn id="37" dur="500"/>
                                        <p:tgtEl>
                                          <p:spTgt spid="68627"/>
                                        </p:tgtEl>
                                      </p:cBhvr>
                                    </p:animEffect>
                                  </p:childTnLst>
                                </p:cTn>
                              </p:par>
                            </p:childTnLst>
                          </p:cTn>
                        </p:par>
                        <p:par>
                          <p:cTn id="38" fill="hold">
                            <p:stCondLst>
                              <p:cond delay="500"/>
                            </p:stCondLst>
                            <p:childTnLst>
                              <p:par>
                                <p:cTn id="39" presetID="22" presetClass="entr" presetSubtype="2" fill="hold" nodeType="afterEffect">
                                  <p:stCondLst>
                                    <p:cond delay="0"/>
                                  </p:stCondLst>
                                  <p:childTnLst>
                                    <p:set>
                                      <p:cBhvr>
                                        <p:cTn id="40" dur="1" fill="hold">
                                          <p:stCondLst>
                                            <p:cond delay="0"/>
                                          </p:stCondLst>
                                        </p:cTn>
                                        <p:tgtEl>
                                          <p:spTgt spid="68628"/>
                                        </p:tgtEl>
                                        <p:attrNameLst>
                                          <p:attrName>style.visibility</p:attrName>
                                        </p:attrNameLst>
                                      </p:cBhvr>
                                      <p:to>
                                        <p:strVal val="visible"/>
                                      </p:to>
                                    </p:set>
                                    <p:animEffect transition="in" filter="wipe(right)">
                                      <p:cBhvr>
                                        <p:cTn id="41" dur="500"/>
                                        <p:tgtEl>
                                          <p:spTgt spid="68628"/>
                                        </p:tgtEl>
                                      </p:cBhvr>
                                    </p:animEffect>
                                  </p:childTnLst>
                                </p:cTn>
                              </p:par>
                            </p:childTnLst>
                          </p:cTn>
                        </p:par>
                        <p:par>
                          <p:cTn id="42" fill="hold">
                            <p:stCondLst>
                              <p:cond delay="1000"/>
                            </p:stCondLst>
                            <p:childTnLst>
                              <p:par>
                                <p:cTn id="43" presetID="9" presetClass="entr" presetSubtype="0" fill="hold" grpId="0" nodeType="afterEffect">
                                  <p:stCondLst>
                                    <p:cond delay="0"/>
                                  </p:stCondLst>
                                  <p:childTnLst>
                                    <p:set>
                                      <p:cBhvr>
                                        <p:cTn id="44" dur="1" fill="hold">
                                          <p:stCondLst>
                                            <p:cond delay="0"/>
                                          </p:stCondLst>
                                        </p:cTn>
                                        <p:tgtEl>
                                          <p:spTgt spid="68629"/>
                                        </p:tgtEl>
                                        <p:attrNameLst>
                                          <p:attrName>style.visibility</p:attrName>
                                        </p:attrNameLst>
                                      </p:cBhvr>
                                      <p:to>
                                        <p:strVal val="visible"/>
                                      </p:to>
                                    </p:set>
                                    <p:animEffect transition="in" filter="dissolve">
                                      <p:cBhvr>
                                        <p:cTn id="45" dur="500"/>
                                        <p:tgtEl>
                                          <p:spTgt spid="68629"/>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68617"/>
                                        </p:tgtEl>
                                        <p:attrNameLst>
                                          <p:attrName>style.visibility</p:attrName>
                                        </p:attrNameLst>
                                      </p:cBhvr>
                                      <p:to>
                                        <p:strVal val="visible"/>
                                      </p:to>
                                    </p:set>
                                    <p:animEffect transition="in" filter="wipe(left)">
                                      <p:cBhvr>
                                        <p:cTn id="50" dur="500"/>
                                        <p:tgtEl>
                                          <p:spTgt spid="68617"/>
                                        </p:tgtEl>
                                      </p:cBhvr>
                                    </p:animEffect>
                                  </p:childTnLst>
                                </p:cTn>
                              </p:par>
                            </p:childTnLst>
                          </p:cTn>
                        </p:par>
                        <p:par>
                          <p:cTn id="51" fill="hold">
                            <p:stCondLst>
                              <p:cond delay="500"/>
                            </p:stCondLst>
                            <p:childTnLst>
                              <p:par>
                                <p:cTn id="52" presetID="9" presetClass="entr" presetSubtype="0" fill="hold" grpId="0" nodeType="afterEffect">
                                  <p:stCondLst>
                                    <p:cond delay="0"/>
                                  </p:stCondLst>
                                  <p:childTnLst>
                                    <p:set>
                                      <p:cBhvr>
                                        <p:cTn id="53" dur="1" fill="hold">
                                          <p:stCondLst>
                                            <p:cond delay="0"/>
                                          </p:stCondLst>
                                        </p:cTn>
                                        <p:tgtEl>
                                          <p:spTgt spid="68618"/>
                                        </p:tgtEl>
                                        <p:attrNameLst>
                                          <p:attrName>style.visibility</p:attrName>
                                        </p:attrNameLst>
                                      </p:cBhvr>
                                      <p:to>
                                        <p:strVal val="visible"/>
                                      </p:to>
                                    </p:set>
                                    <p:animEffect transition="in" filter="dissolve">
                                      <p:cBhvr>
                                        <p:cTn id="54" dur="500"/>
                                        <p:tgtEl>
                                          <p:spTgt spid="68618"/>
                                        </p:tgtEl>
                                      </p:cBhvr>
                                    </p:animEffect>
                                  </p:childTnLst>
                                </p:cTn>
                              </p:par>
                            </p:childTnLst>
                          </p:cTn>
                        </p:par>
                      </p:childTnLst>
                    </p:cTn>
                  </p:par>
                  <p:par>
                    <p:cTn id="55" fill="hold">
                      <p:stCondLst>
                        <p:cond delay="indefinite"/>
                      </p:stCondLst>
                      <p:childTnLst>
                        <p:par>
                          <p:cTn id="56" fill="hold">
                            <p:stCondLst>
                              <p:cond delay="0"/>
                            </p:stCondLst>
                            <p:childTnLst>
                              <p:par>
                                <p:cTn id="57" presetID="12" presetClass="entr" presetSubtype="1" fill="hold" grpId="0" nodeType="clickEffect">
                                  <p:stCondLst>
                                    <p:cond delay="0"/>
                                  </p:stCondLst>
                                  <p:childTnLst>
                                    <p:set>
                                      <p:cBhvr>
                                        <p:cTn id="58" dur="1" fill="hold">
                                          <p:stCondLst>
                                            <p:cond delay="0"/>
                                          </p:stCondLst>
                                        </p:cTn>
                                        <p:tgtEl>
                                          <p:spTgt spid="68631"/>
                                        </p:tgtEl>
                                        <p:attrNameLst>
                                          <p:attrName>style.visibility</p:attrName>
                                        </p:attrNameLst>
                                      </p:cBhvr>
                                      <p:to>
                                        <p:strVal val="visible"/>
                                      </p:to>
                                    </p:set>
                                    <p:animEffect transition="in" filter="slide(fromTop)">
                                      <p:cBhvr>
                                        <p:cTn id="59" dur="500"/>
                                        <p:tgtEl>
                                          <p:spTgt spid="68631"/>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grpId="0" nodeType="clickEffect">
                                  <p:stCondLst>
                                    <p:cond delay="0"/>
                                  </p:stCondLst>
                                  <p:childTnLst>
                                    <p:set>
                                      <p:cBhvr>
                                        <p:cTn id="63" dur="1" fill="hold">
                                          <p:stCondLst>
                                            <p:cond delay="0"/>
                                          </p:stCondLst>
                                        </p:cTn>
                                        <p:tgtEl>
                                          <p:spTgt spid="68632"/>
                                        </p:tgtEl>
                                        <p:attrNameLst>
                                          <p:attrName>style.visibility</p:attrName>
                                        </p:attrNameLst>
                                      </p:cBhvr>
                                      <p:to>
                                        <p:strVal val="visible"/>
                                      </p:to>
                                    </p:set>
                                    <p:animEffect transition="in" filter="wipe(up)">
                                      <p:cBhvr>
                                        <p:cTn id="64" dur="500"/>
                                        <p:tgtEl>
                                          <p:spTgt spid="68632"/>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grpId="0" nodeType="clickEffect">
                                  <p:stCondLst>
                                    <p:cond delay="0"/>
                                  </p:stCondLst>
                                  <p:childTnLst>
                                    <p:set>
                                      <p:cBhvr>
                                        <p:cTn id="68" dur="1" fill="hold">
                                          <p:stCondLst>
                                            <p:cond delay="0"/>
                                          </p:stCondLst>
                                        </p:cTn>
                                        <p:tgtEl>
                                          <p:spTgt spid="68634"/>
                                        </p:tgtEl>
                                        <p:attrNameLst>
                                          <p:attrName>style.visibility</p:attrName>
                                        </p:attrNameLst>
                                      </p:cBhvr>
                                      <p:to>
                                        <p:strVal val="visible"/>
                                      </p:to>
                                    </p:set>
                                    <p:animEffect transition="in" filter="wipe(up)">
                                      <p:cBhvr>
                                        <p:cTn id="69" dur="500"/>
                                        <p:tgtEl>
                                          <p:spTgt spid="68634"/>
                                        </p:tgtEl>
                                      </p:cBhvr>
                                    </p:animEffect>
                                  </p:childTnLst>
                                </p:cTn>
                              </p:par>
                            </p:childTnLst>
                          </p:cTn>
                        </p:par>
                        <p:par>
                          <p:cTn id="70" fill="hold">
                            <p:stCondLst>
                              <p:cond delay="500"/>
                            </p:stCondLst>
                            <p:childTnLst>
                              <p:par>
                                <p:cTn id="71" presetID="12" presetClass="entr" presetSubtype="4" fill="hold" grpId="0" nodeType="afterEffect">
                                  <p:stCondLst>
                                    <p:cond delay="0"/>
                                  </p:stCondLst>
                                  <p:childTnLst>
                                    <p:set>
                                      <p:cBhvr>
                                        <p:cTn id="72" dur="1" fill="hold">
                                          <p:stCondLst>
                                            <p:cond delay="0"/>
                                          </p:stCondLst>
                                        </p:cTn>
                                        <p:tgtEl>
                                          <p:spTgt spid="68614"/>
                                        </p:tgtEl>
                                        <p:attrNameLst>
                                          <p:attrName>style.visibility</p:attrName>
                                        </p:attrNameLst>
                                      </p:cBhvr>
                                      <p:to>
                                        <p:strVal val="visible"/>
                                      </p:to>
                                    </p:set>
                                    <p:animEffect transition="in" filter="slide(fromBottom)">
                                      <p:cBhvr>
                                        <p:cTn id="73" dur="500"/>
                                        <p:tgtEl>
                                          <p:spTgt spid="68614"/>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grpId="0" nodeType="clickEffect">
                                  <p:stCondLst>
                                    <p:cond delay="0"/>
                                  </p:stCondLst>
                                  <p:childTnLst>
                                    <p:set>
                                      <p:cBhvr>
                                        <p:cTn id="77" dur="1" fill="hold">
                                          <p:stCondLst>
                                            <p:cond delay="0"/>
                                          </p:stCondLst>
                                        </p:cTn>
                                        <p:tgtEl>
                                          <p:spTgt spid="68633"/>
                                        </p:tgtEl>
                                        <p:attrNameLst>
                                          <p:attrName>style.visibility</p:attrName>
                                        </p:attrNameLst>
                                      </p:cBhvr>
                                      <p:to>
                                        <p:strVal val="visible"/>
                                      </p:to>
                                    </p:set>
                                    <p:animEffect transition="in" filter="wipe(up)">
                                      <p:cBhvr>
                                        <p:cTn id="78" dur="500"/>
                                        <p:tgtEl>
                                          <p:spTgt spid="68633"/>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1" fill="hold" grpId="0" nodeType="clickEffect">
                                  <p:stCondLst>
                                    <p:cond delay="0"/>
                                  </p:stCondLst>
                                  <p:childTnLst>
                                    <p:set>
                                      <p:cBhvr>
                                        <p:cTn id="82" dur="1" fill="hold">
                                          <p:stCondLst>
                                            <p:cond delay="0"/>
                                          </p:stCondLst>
                                        </p:cTn>
                                        <p:tgtEl>
                                          <p:spTgt spid="68635"/>
                                        </p:tgtEl>
                                        <p:attrNameLst>
                                          <p:attrName>style.visibility</p:attrName>
                                        </p:attrNameLst>
                                      </p:cBhvr>
                                      <p:to>
                                        <p:strVal val="visible"/>
                                      </p:to>
                                    </p:set>
                                    <p:animEffect transition="in" filter="wipe(up)">
                                      <p:cBhvr>
                                        <p:cTn id="83" dur="500"/>
                                        <p:tgtEl>
                                          <p:spTgt spid="68635"/>
                                        </p:tgtEl>
                                      </p:cBhvr>
                                    </p:animEffect>
                                  </p:childTnLst>
                                </p:cTn>
                              </p:par>
                            </p:childTnLst>
                          </p:cTn>
                        </p:par>
                        <p:par>
                          <p:cTn id="84" fill="hold">
                            <p:stCondLst>
                              <p:cond delay="500"/>
                            </p:stCondLst>
                            <p:childTnLst>
                              <p:par>
                                <p:cTn id="85" presetID="12" presetClass="entr" presetSubtype="4" fill="hold" grpId="0" nodeType="afterEffect">
                                  <p:stCondLst>
                                    <p:cond delay="0"/>
                                  </p:stCondLst>
                                  <p:childTnLst>
                                    <p:set>
                                      <p:cBhvr>
                                        <p:cTn id="86" dur="1" fill="hold">
                                          <p:stCondLst>
                                            <p:cond delay="0"/>
                                          </p:stCondLst>
                                        </p:cTn>
                                        <p:tgtEl>
                                          <p:spTgt spid="68615"/>
                                        </p:tgtEl>
                                        <p:attrNameLst>
                                          <p:attrName>style.visibility</p:attrName>
                                        </p:attrNameLst>
                                      </p:cBhvr>
                                      <p:to>
                                        <p:strVal val="visible"/>
                                      </p:to>
                                    </p:set>
                                    <p:animEffect transition="in" filter="slide(fromBottom)">
                                      <p:cBhvr>
                                        <p:cTn id="87" dur="500"/>
                                        <p:tgtEl>
                                          <p:spTgt spid="68615"/>
                                        </p:tgtEl>
                                      </p:cBhvr>
                                    </p:animEffect>
                                  </p:childTnLst>
                                </p:cTn>
                              </p:par>
                            </p:childTnLst>
                          </p:cTn>
                        </p:par>
                      </p:childTnLst>
                    </p:cTn>
                  </p:par>
                  <p:par>
                    <p:cTn id="88" fill="hold">
                      <p:stCondLst>
                        <p:cond delay="indefinite"/>
                      </p:stCondLst>
                      <p:childTnLst>
                        <p:par>
                          <p:cTn id="89" fill="hold">
                            <p:stCondLst>
                              <p:cond delay="0"/>
                            </p:stCondLst>
                            <p:childTnLst>
                              <p:par>
                                <p:cTn id="90" presetID="12" presetClass="entr" presetSubtype="4" fill="hold" grpId="0" nodeType="clickEffect">
                                  <p:stCondLst>
                                    <p:cond delay="0"/>
                                  </p:stCondLst>
                                  <p:childTnLst>
                                    <p:set>
                                      <p:cBhvr>
                                        <p:cTn id="91" dur="1" fill="hold">
                                          <p:stCondLst>
                                            <p:cond delay="0"/>
                                          </p:stCondLst>
                                        </p:cTn>
                                        <p:tgtEl>
                                          <p:spTgt spid="68636"/>
                                        </p:tgtEl>
                                        <p:attrNameLst>
                                          <p:attrName>style.visibility</p:attrName>
                                        </p:attrNameLst>
                                      </p:cBhvr>
                                      <p:to>
                                        <p:strVal val="visible"/>
                                      </p:to>
                                    </p:set>
                                    <p:animEffect transition="in" filter="slide(fromBottom)">
                                      <p:cBhvr>
                                        <p:cTn id="92" dur="500"/>
                                        <p:tgtEl>
                                          <p:spTgt spid="686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3" grpId="0" animBg="1" autoUpdateAnimBg="0"/>
      <p:bldP spid="68614" grpId="0" animBg="1" autoUpdateAnimBg="0"/>
      <p:bldP spid="68615" grpId="0" animBg="1" autoUpdateAnimBg="0"/>
      <p:bldP spid="68618" grpId="0" autoUpdateAnimBg="0"/>
      <p:bldP spid="68629" grpId="0" autoUpdateAnimBg="0"/>
      <p:bldP spid="68631" grpId="0" animBg="1"/>
      <p:bldP spid="68632" grpId="0" animBg="1" autoUpdateAnimBg="0"/>
      <p:bldP spid="68633" grpId="0" animBg="1" autoUpdateAnimBg="0"/>
      <p:bldP spid="68634" grpId="0" animBg="1"/>
      <p:bldP spid="68635" grpId="0" animBg="1"/>
      <p:bldP spid="68636" grpId="0" animBg="1"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5148263" y="47625"/>
            <a:ext cx="2160587" cy="430213"/>
          </a:xfrm>
        </p:spPr>
        <p:txBody>
          <a:bodyPr/>
          <a:lstStyle/>
          <a:p>
            <a:r>
              <a:rPr lang="zh-CN" altLang="en-US" sz="2400" b="1" smtClean="0">
                <a:ea typeface="隶书" panose="02010509060101010101" pitchFamily="49" charset="-122"/>
              </a:rPr>
              <a:t>课外阅读资料</a:t>
            </a:r>
            <a:endParaRPr lang="zh-CN" altLang="en-US" sz="2400" b="1" smtClean="0">
              <a:ea typeface="隶书" panose="02010509060101010101" pitchFamily="49" charset="-122"/>
            </a:endParaRPr>
          </a:p>
        </p:txBody>
      </p:sp>
      <p:graphicFrame>
        <p:nvGraphicFramePr>
          <p:cNvPr id="49238" name="Group 86"/>
          <p:cNvGraphicFramePr>
            <a:graphicFrameLocks noGrp="1"/>
          </p:cNvGraphicFramePr>
          <p:nvPr>
            <p:ph idx="1"/>
          </p:nvPr>
        </p:nvGraphicFramePr>
        <p:xfrm>
          <a:off x="252413" y="476250"/>
          <a:ext cx="8640762" cy="6356353"/>
        </p:xfrm>
        <a:graphic>
          <a:graphicData uri="http://schemas.openxmlformats.org/drawingml/2006/table">
            <a:tbl>
              <a:tblPr/>
              <a:tblGrid>
                <a:gridCol w="3024187"/>
                <a:gridCol w="719138"/>
                <a:gridCol w="649287"/>
                <a:gridCol w="555625"/>
                <a:gridCol w="663575"/>
                <a:gridCol w="1109663"/>
                <a:gridCol w="736600"/>
                <a:gridCol w="519112"/>
                <a:gridCol w="663575"/>
              </a:tblGrid>
              <a:tr h="507925">
                <a:tc rowSpan="3">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教材版本</a:t>
                      </a:r>
                      <a:endParaRPr kumimoji="1"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挡墙后填土在水位以上</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c gridSpan="4">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挡墙后填土在水位以下</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r>
              <a:tr h="507925">
                <a:tc vMerge="1">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黏性</a:t>
                      </a:r>
                      <a:r>
                        <a:rPr kumimoji="1"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土</a:t>
                      </a:r>
                      <a:endParaRPr kumimoji="1"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砂土</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黏性</a:t>
                      </a:r>
                      <a:r>
                        <a:rPr kumimoji="1"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土</a:t>
                      </a:r>
                      <a:endParaRPr kumimoji="1"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砂土</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507925">
                <a:tc vMerge="1">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c</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c</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c</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c</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44866">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东南大学、浙江大学、湖南大学、苏州科技学院合编。</a:t>
                      </a: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土力学</a:t>
                      </a: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第四版，</a:t>
                      </a: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2017</a:t>
                      </a: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年，中国建筑工业出版社。</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9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9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zh-CN" altLang="en-US" sz="9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（认为以下同以上），回避粘聚力的选择</a:t>
                      </a:r>
                      <a:endParaRPr kumimoji="1" lang="zh-CN" altLang="en-US" sz="9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9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9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zh-CN" altLang="en-US" sz="9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（认为影响可忽略）</a:t>
                      </a:r>
                      <a:endParaRPr kumimoji="1" lang="zh-CN" altLang="en-US" sz="9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84108">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陈仲颐、周景星、王洪瑾编著</a:t>
                      </a: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土力学</a:t>
                      </a: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1994</a:t>
                      </a: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，清华出版社。</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zh-CN" altLang="en-US" sz="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认为选择</a:t>
                      </a:r>
                      <a:r>
                        <a:rPr kumimoji="1" lang="en-US" altLang="zh-CN" sz="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c</a:t>
                      </a:r>
                      <a:r>
                        <a:rPr kumimoji="1" lang="en-US" altLang="zh-CN" sz="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1" lang="zh-CN" altLang="en-US" sz="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1" lang="en-US" altLang="zh-CN" sz="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endParaRPr kumimoji="1" lang="zh-CN" altLang="en-US" sz="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p>
                      <a:pPr marL="0" marR="0" lvl="0" indent="0" algn="l" defTabSz="914400" rtl="0" eaLnBrk="0" fontAlgn="base" latinLnBrk="0" hangingPunct="0">
                        <a:lnSpc>
                          <a:spcPct val="100000"/>
                        </a:lnSpc>
                        <a:spcBef>
                          <a:spcPct val="20000"/>
                        </a:spcBef>
                        <a:spcAft>
                          <a:spcPct val="0"/>
                        </a:spcAft>
                        <a:buClrTx/>
                        <a:buSzTx/>
                        <a:buFontTx/>
                        <a:buNone/>
                      </a:pPr>
                      <a:r>
                        <a:rPr kumimoji="1" lang="zh-CN" altLang="en-US" sz="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是合理，但是工程中比较困难。因此根据经验，</a:t>
                      </a:r>
                      <a:r>
                        <a:rPr kumimoji="1" lang="en-US" altLang="zh-CN" sz="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5m</a:t>
                      </a:r>
                      <a:r>
                        <a:rPr kumimoji="1" lang="zh-CN" altLang="en-US" sz="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高挡墙，设计中采用三轴</a:t>
                      </a:r>
                      <a:r>
                        <a:rPr kumimoji="1" lang="en-US" altLang="zh-CN" sz="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CU</a:t>
                      </a:r>
                      <a:r>
                        <a:rPr kumimoji="1" lang="zh-CN" altLang="en-US" sz="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试验中</a:t>
                      </a:r>
                      <a:r>
                        <a:rPr kumimoji="1" lang="en-US" altLang="zh-CN" sz="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c</a:t>
                      </a:r>
                      <a:r>
                        <a:rPr kumimoji="1" lang="en-US" altLang="zh-CN" sz="8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cu</a:t>
                      </a:r>
                      <a:r>
                        <a:rPr kumimoji="1" lang="zh-CN" altLang="en-US" sz="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和</a:t>
                      </a:r>
                      <a:r>
                        <a:rPr kumimoji="1" lang="zh-CN" altLang="en-US" sz="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1" lang="zh-CN" altLang="en-US" sz="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1" lang="en-US" altLang="zh-CN" sz="8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cu</a:t>
                      </a:r>
                      <a:endParaRPr kumimoji="1" lang="zh-CN" altLang="en-US" sz="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9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zh-CN" altLang="en-US" sz="9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（认为影响可忽略）</a:t>
                      </a:r>
                      <a:endParaRPr kumimoji="1" lang="zh-CN" altLang="en-US" sz="9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46013">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Terzaghi K., Peck R.B., Mesri G. (1996) Soil Mechanics in Engineering Practice. John Wiley &amp; Sons, Inc., N.Y. </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55539">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Das B.M. (1998) Fundamentals of Geotechnical Engineering. 4</a:t>
                      </a:r>
                      <a:r>
                        <a:rPr kumimoji="1" lang="en-US" altLang="zh-CN" sz="14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th</a:t>
                      </a: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Edition, Thomson, Inc., N.Y. </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61986">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Lamb, Whitman (1979) Soil Mechanics. John Wiley &amp; Sons, Inc., N.Y. </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0066">
                <a:tc gridSpan="9">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dirty="0" smtClean="0">
                          <a:ln>
                            <a:noFill/>
                          </a:ln>
                          <a:solidFill>
                            <a:srgbClr val="2D2DB9"/>
                          </a:solidFill>
                          <a:effectLst/>
                          <a:latin typeface="隶书" panose="02010509060101010101" pitchFamily="49" charset="-122"/>
                          <a:ea typeface="隶书" panose="02010509060101010101" pitchFamily="49" charset="-122"/>
                        </a:rPr>
                        <a:t>备注：</a:t>
                      </a:r>
                      <a:r>
                        <a:rPr kumimoji="1" lang="zh-CN" altLang="en-US" sz="1800" b="0" i="0" u="none" strike="noStrike" cap="none" normalizeH="0" baseline="0" dirty="0">
                          <a:ln>
                            <a:noFill/>
                          </a:ln>
                          <a:solidFill>
                            <a:srgbClr val="2D2DB9"/>
                          </a:solidFill>
                          <a:effectLst/>
                          <a:latin typeface="隶书" panose="02010509060101010101" pitchFamily="49" charset="-122"/>
                          <a:ea typeface="隶书" panose="02010509060101010101" pitchFamily="49" charset="-122"/>
                        </a:rPr>
                        <a:t>水位以上，利用给出的强度指标进行计算</a:t>
                      </a:r>
                      <a:r>
                        <a:rPr kumimoji="1" lang="zh-CN" altLang="en-US" sz="1800" b="0" i="0" u="none" strike="noStrike" cap="none" normalizeH="0" baseline="0" dirty="0">
                          <a:ln>
                            <a:noFill/>
                          </a:ln>
                          <a:solidFill>
                            <a:schemeClr val="tx1"/>
                          </a:solidFill>
                          <a:effectLst/>
                          <a:latin typeface="隶书" panose="02010509060101010101" pitchFamily="49" charset="-122"/>
                          <a:ea typeface="隶书" panose="02010509060101010101" pitchFamily="49" charset="-122"/>
                        </a:rPr>
                        <a:t>，</a:t>
                      </a:r>
                      <a:r>
                        <a:rPr kumimoji="1" lang="zh-CN" altLang="en-US" sz="1800" b="0" i="0" u="sng" strike="noStrike" cap="none" normalizeH="0" baseline="0" dirty="0">
                          <a:ln>
                            <a:noFill/>
                          </a:ln>
                          <a:solidFill>
                            <a:srgbClr val="FF0000"/>
                          </a:solidFill>
                          <a:effectLst/>
                          <a:latin typeface="隶书" panose="02010509060101010101" pitchFamily="49" charset="-122"/>
                          <a:ea typeface="隶书" panose="02010509060101010101" pitchFamily="49" charset="-122"/>
                        </a:rPr>
                        <a:t>但是重度采用天然重度</a:t>
                      </a:r>
                      <a:r>
                        <a:rPr kumimoji="1" lang="zh-CN" altLang="en-US" sz="1800" b="0" i="0" u="sng" strike="noStrike" cap="none" normalizeH="0" baseline="0" dirty="0">
                          <a:ln>
                            <a:noFill/>
                          </a:ln>
                          <a:solidFill>
                            <a:srgbClr val="FF0000"/>
                          </a:solidFill>
                          <a:effectLst/>
                          <a:latin typeface="隶书" panose="02010509060101010101" pitchFamily="49" charset="-122"/>
                          <a:ea typeface="隶书" panose="02010509060101010101" pitchFamily="49" charset="-122"/>
                          <a:sym typeface="Symbol" panose="05050102010706020507" pitchFamily="18" charset="2"/>
                        </a:rPr>
                        <a:t></a:t>
                      </a:r>
                      <a:r>
                        <a:rPr kumimoji="1" lang="zh-CN" altLang="en-US" sz="1800" b="0" i="0" u="none" strike="noStrike" cap="none" normalizeH="0" baseline="0" dirty="0">
                          <a:ln>
                            <a:noFill/>
                          </a:ln>
                          <a:solidFill>
                            <a:schemeClr val="tx1"/>
                          </a:solidFill>
                          <a:effectLst/>
                          <a:latin typeface="隶书" panose="02010509060101010101" pitchFamily="49" charset="-122"/>
                          <a:ea typeface="隶书" panose="02010509060101010101" pitchFamily="49" charset="-122"/>
                        </a:rPr>
                        <a:t>；</a:t>
                      </a:r>
                      <a:r>
                        <a:rPr kumimoji="1" lang="zh-CN" altLang="en-US" sz="1800" b="0" i="0" u="none" strike="noStrike" cap="none" normalizeH="0" baseline="0" dirty="0">
                          <a:ln>
                            <a:noFill/>
                          </a:ln>
                          <a:solidFill>
                            <a:srgbClr val="2D2DB9"/>
                          </a:solidFill>
                          <a:effectLst/>
                          <a:latin typeface="隶书" panose="02010509060101010101" pitchFamily="49" charset="-122"/>
                          <a:ea typeface="隶书" panose="02010509060101010101" pitchFamily="49" charset="-122"/>
                        </a:rPr>
                        <a:t>水位以下，利用给出的有效强度指标进行计算</a:t>
                      </a:r>
                      <a:r>
                        <a:rPr kumimoji="1" lang="zh-CN" altLang="en-US" sz="1800" b="0" i="0" u="none" strike="noStrike" cap="none" normalizeH="0" baseline="0" dirty="0">
                          <a:ln>
                            <a:noFill/>
                          </a:ln>
                          <a:solidFill>
                            <a:schemeClr val="tx1"/>
                          </a:solidFill>
                          <a:effectLst/>
                          <a:latin typeface="隶书" panose="02010509060101010101" pitchFamily="49" charset="-122"/>
                          <a:ea typeface="隶书" panose="02010509060101010101" pitchFamily="49" charset="-122"/>
                        </a:rPr>
                        <a:t>，</a:t>
                      </a:r>
                      <a:r>
                        <a:rPr kumimoji="1" lang="zh-CN" altLang="en-US" sz="1800" b="0" i="0" u="sng" strike="noStrike" cap="none" normalizeH="0" baseline="0" dirty="0">
                          <a:ln>
                            <a:noFill/>
                          </a:ln>
                          <a:solidFill>
                            <a:srgbClr val="FF0000"/>
                          </a:solidFill>
                          <a:effectLst/>
                          <a:latin typeface="隶书" panose="02010509060101010101" pitchFamily="49" charset="-122"/>
                          <a:ea typeface="隶书" panose="02010509060101010101" pitchFamily="49" charset="-122"/>
                        </a:rPr>
                        <a:t>重度必须用有效重度</a:t>
                      </a:r>
                      <a:r>
                        <a:rPr kumimoji="1" lang="zh-CN" altLang="en-US" sz="1800" b="0" i="0" u="sng" strike="noStrike" cap="none" normalizeH="0" baseline="0" dirty="0">
                          <a:ln>
                            <a:noFill/>
                          </a:ln>
                          <a:solidFill>
                            <a:srgbClr val="FF0000"/>
                          </a:solidFill>
                          <a:effectLst/>
                          <a:latin typeface="隶书" panose="02010509060101010101" pitchFamily="49" charset="-122"/>
                          <a:ea typeface="隶书" panose="02010509060101010101" pitchFamily="49" charset="-122"/>
                          <a:sym typeface="Symbol" panose="05050102010706020507" pitchFamily="18" charset="2"/>
                        </a:rPr>
                        <a:t></a:t>
                      </a:r>
                      <a:r>
                        <a:rPr kumimoji="1" lang="en-US" altLang="zh-CN" sz="1800" b="0" i="0" u="sng" strike="noStrike" cap="none" normalizeH="0" baseline="0" dirty="0">
                          <a:ln>
                            <a:noFill/>
                          </a:ln>
                          <a:solidFill>
                            <a:srgbClr val="FF0000"/>
                          </a:solidFill>
                          <a:effectLst/>
                          <a:latin typeface="隶书" panose="02010509060101010101" pitchFamily="49" charset="-122"/>
                          <a:ea typeface="隶书" panose="02010509060101010101" pitchFamily="49" charset="-122"/>
                          <a:sym typeface="Symbol" panose="05050102010706020507" pitchFamily="18" charset="2"/>
                        </a:rPr>
                        <a:t>’</a:t>
                      </a:r>
                      <a:r>
                        <a:rPr kumimoji="1" lang="zh-CN" altLang="en-US" sz="1800" b="0" i="0" u="sng" strike="noStrike" cap="none" normalizeH="0" baseline="0" dirty="0">
                          <a:ln>
                            <a:noFill/>
                          </a:ln>
                          <a:solidFill>
                            <a:srgbClr val="FF0000"/>
                          </a:solidFill>
                          <a:effectLst/>
                          <a:latin typeface="隶书" panose="02010509060101010101" pitchFamily="49" charset="-122"/>
                          <a:ea typeface="隶书" panose="02010509060101010101" pitchFamily="49" charset="-122"/>
                        </a:rPr>
                        <a:t> </a:t>
                      </a:r>
                      <a:r>
                        <a:rPr kumimoji="1" lang="zh-CN" altLang="en-US" sz="1800" b="0" i="0" u="none" strike="noStrike" cap="none" normalizeH="0" baseline="0" dirty="0">
                          <a:ln>
                            <a:noFill/>
                          </a:ln>
                          <a:solidFill>
                            <a:schemeClr val="tx1"/>
                          </a:solidFill>
                          <a:effectLst/>
                          <a:latin typeface="隶书" panose="02010509060101010101" pitchFamily="49" charset="-122"/>
                          <a:ea typeface="隶书" panose="02010509060101010101" pitchFamily="49" charset="-122"/>
                        </a:rPr>
                        <a:t>。</a:t>
                      </a:r>
                      <a:endParaRPr kumimoji="1" lang="zh-CN" altLang="en-US" sz="1800" b="0" i="0" u="none" strike="noStrike" cap="none" normalizeH="0" baseline="0" dirty="0">
                        <a:ln>
                          <a:noFill/>
                        </a:ln>
                        <a:solidFill>
                          <a:schemeClr val="tx1"/>
                        </a:solidFill>
                        <a:effectLst/>
                        <a:latin typeface="隶书" panose="02010509060101010101" pitchFamily="49" charset="-122"/>
                        <a:ea typeface="隶书" panose="02010509060101010101" pitchFamily="49" charset="-122"/>
                      </a:endParaRPr>
                    </a:p>
                  </a:txBody>
                  <a:tcPr marT="45713" marB="4571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c hMerge="1">
                  <a:tcPr/>
                </a:tc>
                <a:tc hMerge="1">
                  <a:tcPr/>
                </a:tc>
                <a:tc hMerge="1">
                  <a:tcPr/>
                </a:tc>
                <a:tc hMerge="1">
                  <a:tcPr/>
                </a:tc>
                <a:tc hMerge="1">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5148263" y="0"/>
            <a:ext cx="2087562" cy="476250"/>
          </a:xfrm>
        </p:spPr>
        <p:txBody>
          <a:bodyPr/>
          <a:lstStyle/>
          <a:p>
            <a:r>
              <a:rPr lang="zh-CN" altLang="en-US" sz="2400" b="1" smtClean="0">
                <a:ea typeface="隶书" panose="02010509060101010101" pitchFamily="49" charset="-122"/>
              </a:rPr>
              <a:t>课外阅读资料</a:t>
            </a:r>
            <a:endParaRPr lang="zh-CN" altLang="en-US" sz="2400" b="1" smtClean="0">
              <a:ea typeface="隶书" panose="02010509060101010101" pitchFamily="49" charset="-122"/>
            </a:endParaRPr>
          </a:p>
        </p:txBody>
      </p:sp>
      <p:graphicFrame>
        <p:nvGraphicFramePr>
          <p:cNvPr id="49238" name="Group 86"/>
          <p:cNvGraphicFramePr>
            <a:graphicFrameLocks noGrp="1"/>
          </p:cNvGraphicFramePr>
          <p:nvPr>
            <p:ph idx="1"/>
          </p:nvPr>
        </p:nvGraphicFramePr>
        <p:xfrm>
          <a:off x="252413" y="404813"/>
          <a:ext cx="8280399" cy="6340475"/>
        </p:xfrm>
        <a:graphic>
          <a:graphicData uri="http://schemas.openxmlformats.org/drawingml/2006/table">
            <a:tbl>
              <a:tblPr/>
              <a:tblGrid>
                <a:gridCol w="3095590"/>
                <a:gridCol w="647903"/>
                <a:gridCol w="649316"/>
                <a:gridCol w="555650"/>
                <a:gridCol w="663605"/>
                <a:gridCol w="796043"/>
                <a:gridCol w="648101"/>
                <a:gridCol w="576090"/>
                <a:gridCol w="648101"/>
              </a:tblGrid>
              <a:tr h="640086">
                <a:tc rowSpan="3">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教材版本</a:t>
                      </a:r>
                      <a:endParaRPr kumimoji="1"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l" defTabSz="914400" rtl="0" eaLnBrk="0" fontAlgn="base" latinLnBrk="0" hangingPunct="0">
                        <a:lnSpc>
                          <a:spcPct val="100000"/>
                        </a:lnSpc>
                        <a:spcBef>
                          <a:spcPct val="20000"/>
                        </a:spcBef>
                        <a:spcAft>
                          <a:spcPct val="0"/>
                        </a:spcAft>
                        <a:buClrTx/>
                        <a:buSzTx/>
                        <a:buFontTx/>
                        <a:buNone/>
                        <a:defRPr/>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挡墙后填土在水位以上竖向应力和水平应力</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c gridSpan="4">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挡墙后填土在水位以下</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r>
              <a:tr h="508005">
                <a:tc vMerge="1">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黏性</a:t>
                      </a:r>
                      <a:r>
                        <a:rPr kumimoji="1"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土</a:t>
                      </a:r>
                      <a:endParaRPr kumimoji="1"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砂土</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黏性</a:t>
                      </a:r>
                      <a:r>
                        <a:rPr kumimoji="1"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土</a:t>
                      </a:r>
                      <a:endParaRPr kumimoji="1"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砂土</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694951">
                <a:tc vMerge="1">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a:rPr>
                        <a:t></a:t>
                      </a:r>
                      <a:r>
                        <a:rPr kumimoji="1" lang="en-US" altLang="zh-CN" sz="18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sym typeface="Symbol" panose="05050102010706020507"/>
                        </a:rPr>
                        <a:t>v</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a:rPr>
                        <a:t></a:t>
                      </a:r>
                      <a:r>
                        <a:rPr kumimoji="1" lang="en-US" altLang="zh-CN" sz="18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sym typeface="Symbol" panose="05050102010706020507"/>
                        </a:rPr>
                        <a:t>h</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a:rPr>
                        <a:t></a:t>
                      </a:r>
                      <a:r>
                        <a:rPr kumimoji="1" lang="en-US" altLang="zh-CN" sz="18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sym typeface="Symbol" panose="05050102010706020507"/>
                        </a:rPr>
                        <a:t>v</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a:rPr>
                        <a:t></a:t>
                      </a:r>
                      <a:r>
                        <a:rPr kumimoji="1" lang="en-US" altLang="zh-CN" sz="18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sym typeface="Symbol" panose="05050102010706020507"/>
                        </a:rPr>
                        <a:t>h</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a:rPr>
                        <a:t></a:t>
                      </a:r>
                      <a:r>
                        <a:rPr kumimoji="1" lang="en-US" altLang="zh-CN" sz="18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sym typeface="Symbol" panose="05050102010706020507"/>
                        </a:rPr>
                        <a:t>v</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a:rPr>
                        <a:t></a:t>
                      </a:r>
                      <a:r>
                        <a:rPr kumimoji="1" lang="en-US" altLang="zh-CN" sz="18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sym typeface="Symbol" panose="05050102010706020507"/>
                        </a:rPr>
                        <a:t>h</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a:rPr>
                        <a:t></a:t>
                      </a:r>
                      <a:r>
                        <a:rPr kumimoji="1" lang="en-US" altLang="zh-CN" sz="18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sym typeface="Symbol" panose="05050102010706020507"/>
                        </a:rPr>
                        <a:t>v</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a:rPr>
                        <a:t></a:t>
                      </a:r>
                      <a:r>
                        <a:rPr kumimoji="1" lang="en-US" altLang="zh-CN" sz="18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sym typeface="Symbol" panose="05050102010706020507"/>
                        </a:rPr>
                        <a:t>h</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a:rPr>
                        <a:t></a:t>
                      </a:r>
                      <a:r>
                        <a:rPr kumimoji="1" lang="en-US" altLang="zh-CN" sz="18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sym typeface="Symbol" panose="05050102010706020507"/>
                        </a:rPr>
                        <a:t>v</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a:rPr>
                        <a:t></a:t>
                      </a:r>
                      <a:r>
                        <a:rPr kumimoji="1" lang="en-US" altLang="zh-CN" sz="18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sym typeface="Symbol" panose="05050102010706020507"/>
                        </a:rPr>
                        <a:t>h</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a:rPr>
                        <a:t></a:t>
                      </a:r>
                      <a:r>
                        <a:rPr kumimoji="1" lang="en-US" altLang="zh-CN" sz="18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sym typeface="Symbol" panose="05050102010706020507"/>
                        </a:rPr>
                        <a:t>v</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a:rPr>
                        <a:t></a:t>
                      </a:r>
                      <a:r>
                        <a:rPr kumimoji="1" lang="en-US" altLang="zh-CN" sz="18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sym typeface="Symbol" panose="05050102010706020507"/>
                        </a:rPr>
                        <a:t>h</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a:rPr>
                        <a:t></a:t>
                      </a:r>
                      <a:r>
                        <a:rPr kumimoji="1" lang="en-US" altLang="zh-CN" sz="18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sym typeface="Symbol" panose="05050102010706020507"/>
                        </a:rPr>
                        <a:t>v</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a:rPr>
                        <a:t></a:t>
                      </a:r>
                      <a:r>
                        <a:rPr kumimoji="1" lang="en-US" altLang="zh-CN" sz="18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sym typeface="Symbol" panose="05050102010706020507"/>
                        </a:rPr>
                        <a:t>h</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a:rPr>
                        <a:t></a:t>
                      </a:r>
                      <a:r>
                        <a:rPr kumimoji="1" lang="en-US" altLang="zh-CN" sz="18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sym typeface="Symbol" panose="05050102010706020507"/>
                        </a:rPr>
                        <a:t>v</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a:rPr>
                        <a:t></a:t>
                      </a:r>
                      <a:r>
                        <a:rPr kumimoji="1" lang="en-US" altLang="zh-CN" sz="18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sym typeface="Symbol" panose="05050102010706020507"/>
                        </a:rPr>
                        <a:t>h</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L="91444" marR="914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31527">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东南大学、浙江大学、湖南大学、苏州科技学院合编。</a:t>
                      </a: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土力学</a:t>
                      </a: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第四版，</a:t>
                      </a: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2017</a:t>
                      </a: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年，中国建筑工业出版社。</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9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9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9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9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9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62008">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陈仲颐、周景星、王洪瑾编著</a:t>
                      </a: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土力学</a:t>
                      </a: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1994</a:t>
                      </a: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，清华出版社。</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9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zh-CN" altLang="en-US" sz="9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46146">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Terzaghi K., Peck R.B., Mesri G. (1996) Soil Mechanics in Engineering Practice. John Wiley &amp; Sons, Inc., N.Y. </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55658">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Das B.M. (1998) Fundamentals of Geotechnical Engineering. 4</a:t>
                      </a:r>
                      <a:r>
                        <a:rPr kumimoji="1" lang="en-US" altLang="zh-CN" sz="14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th</a:t>
                      </a: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Edition, Thomson, Inc., N.Y. </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62008">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Lamb, Whitman (1979) Soil Mechanics. John Wiley &amp; Sons, Inc., N.Y. </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4" marR="914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0086">
                <a:tc gridSpan="9">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zh-CN" altLang="en-US" sz="1800" b="0" i="0" u="none" strike="noStrike" cap="none" normalizeH="0" baseline="0" dirty="0" smtClean="0">
                          <a:ln>
                            <a:noFill/>
                          </a:ln>
                          <a:solidFill>
                            <a:srgbClr val="2D2DB9"/>
                          </a:solidFill>
                          <a:effectLst/>
                          <a:latin typeface="隶书" panose="02010509060101010101" pitchFamily="49" charset="-122"/>
                          <a:ea typeface="隶书" panose="02010509060101010101" pitchFamily="49" charset="-122"/>
                        </a:rPr>
                        <a:t>备注：</a:t>
                      </a:r>
                      <a:r>
                        <a:rPr kumimoji="1" lang="zh-CN" altLang="en-US" sz="1800" b="0" i="0" u="none" strike="noStrike" cap="none" normalizeH="0" baseline="0" dirty="0">
                          <a:ln>
                            <a:noFill/>
                          </a:ln>
                          <a:solidFill>
                            <a:srgbClr val="2D2DB9"/>
                          </a:solidFill>
                          <a:effectLst/>
                          <a:latin typeface="隶书" panose="02010509060101010101" pitchFamily="49" charset="-122"/>
                          <a:ea typeface="隶书" panose="02010509060101010101" pitchFamily="49" charset="-122"/>
                        </a:rPr>
                        <a:t>水位以上，</a:t>
                      </a:r>
                      <a:r>
                        <a:rPr kumimoji="1" lang="zh-CN" altLang="en-US" sz="1800" b="0" i="0" u="sng" strike="noStrike" cap="none" normalizeH="0" baseline="0" dirty="0">
                          <a:ln>
                            <a:noFill/>
                          </a:ln>
                          <a:solidFill>
                            <a:srgbClr val="FF0000"/>
                          </a:solidFill>
                          <a:effectLst/>
                          <a:latin typeface="隶书" panose="02010509060101010101" pitchFamily="49" charset="-122"/>
                          <a:ea typeface="隶书" panose="02010509060101010101" pitchFamily="49" charset="-122"/>
                        </a:rPr>
                        <a:t>重度采用天然重度</a:t>
                      </a:r>
                      <a:r>
                        <a:rPr kumimoji="1" lang="zh-CN" altLang="en-US" sz="1800" b="0" i="0" u="sng" strike="noStrike" cap="none" normalizeH="0" baseline="0" dirty="0">
                          <a:ln>
                            <a:noFill/>
                          </a:ln>
                          <a:solidFill>
                            <a:srgbClr val="FF0000"/>
                          </a:solidFill>
                          <a:effectLst/>
                          <a:latin typeface="隶书" panose="02010509060101010101" pitchFamily="49" charset="-122"/>
                          <a:ea typeface="隶书" panose="02010509060101010101" pitchFamily="49" charset="-122"/>
                          <a:sym typeface="Symbol" panose="05050102010706020507" pitchFamily="18" charset="2"/>
                        </a:rPr>
                        <a:t></a:t>
                      </a:r>
                      <a:r>
                        <a:rPr kumimoji="1" lang="zh-CN" altLang="en-US" sz="1800" b="0" i="0" u="none" strike="noStrike" cap="none" normalizeH="0" baseline="0" dirty="0">
                          <a:ln>
                            <a:noFill/>
                          </a:ln>
                          <a:solidFill>
                            <a:schemeClr val="tx1"/>
                          </a:solidFill>
                          <a:effectLst/>
                          <a:latin typeface="隶书" panose="02010509060101010101" pitchFamily="49" charset="-122"/>
                          <a:ea typeface="隶书" panose="02010509060101010101" pitchFamily="49" charset="-122"/>
                        </a:rPr>
                        <a:t>；</a:t>
                      </a:r>
                      <a:r>
                        <a:rPr kumimoji="1" lang="zh-CN" altLang="en-US" sz="1800" b="0" i="0" u="none" strike="noStrike" cap="none" normalizeH="0" baseline="0" dirty="0">
                          <a:ln>
                            <a:noFill/>
                          </a:ln>
                          <a:solidFill>
                            <a:srgbClr val="2D2DB9"/>
                          </a:solidFill>
                          <a:effectLst/>
                          <a:latin typeface="隶书" panose="02010509060101010101" pitchFamily="49" charset="-122"/>
                          <a:ea typeface="隶书" panose="02010509060101010101" pitchFamily="49" charset="-122"/>
                        </a:rPr>
                        <a:t>水位以下（饱和土），利用孔隙水压力进行有效应力计算</a:t>
                      </a:r>
                      <a:r>
                        <a:rPr kumimoji="1" lang="zh-CN" altLang="en-US" sz="1800" b="0" i="0" u="none" strike="noStrike" cap="none" normalizeH="0" baseline="0" dirty="0">
                          <a:ln>
                            <a:noFill/>
                          </a:ln>
                          <a:solidFill>
                            <a:schemeClr val="tx1"/>
                          </a:solidFill>
                          <a:effectLst/>
                          <a:latin typeface="隶书" panose="02010509060101010101" pitchFamily="49" charset="-122"/>
                          <a:ea typeface="隶书" panose="02010509060101010101" pitchFamily="49" charset="-122"/>
                        </a:rPr>
                        <a:t>（或利用孔隙水压力系数求算孔压），</a:t>
                      </a:r>
                      <a:r>
                        <a:rPr kumimoji="1" lang="zh-CN" altLang="en-US" sz="1800" b="0" i="0" u="sng" strike="noStrike" cap="none" normalizeH="0" baseline="0" dirty="0">
                          <a:ln>
                            <a:noFill/>
                          </a:ln>
                          <a:solidFill>
                            <a:srgbClr val="FF0000"/>
                          </a:solidFill>
                          <a:effectLst/>
                          <a:latin typeface="隶书" panose="02010509060101010101" pitchFamily="49" charset="-122"/>
                          <a:ea typeface="隶书" panose="02010509060101010101" pitchFamily="49" charset="-122"/>
                        </a:rPr>
                        <a:t>重度必须用有效重度</a:t>
                      </a:r>
                      <a:endParaRPr kumimoji="1" lang="zh-CN" altLang="en-US" sz="1800" b="0" i="0" u="none" strike="noStrike" cap="none" normalizeH="0" baseline="0" dirty="0">
                        <a:ln>
                          <a:noFill/>
                        </a:ln>
                        <a:solidFill>
                          <a:schemeClr val="tx1"/>
                        </a:solidFill>
                        <a:effectLst/>
                        <a:latin typeface="隶书" panose="02010509060101010101" pitchFamily="49" charset="-122"/>
                        <a:ea typeface="隶书" panose="02010509060101010101" pitchFamily="49" charset="-122"/>
                      </a:endParaRPr>
                    </a:p>
                  </a:txBody>
                  <a:tcPr marL="91444" marR="914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c hMerge="1">
                  <a:tcPr/>
                </a:tc>
                <a:tc hMerge="1">
                  <a:tcPr/>
                </a:tc>
                <a:tc hMerge="1">
                  <a:tcPr/>
                </a:tc>
                <a:tc hMerge="1">
                  <a:tcPr/>
                </a:tc>
                <a:tc hMerge="1">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2386" name="Rectangle 2"/>
          <p:cNvSpPr>
            <a:spLocks noGrp="1" noChangeArrowheads="1"/>
          </p:cNvSpPr>
          <p:nvPr>
            <p:ph type="title"/>
          </p:nvPr>
        </p:nvSpPr>
        <p:spPr>
          <a:xfrm>
            <a:off x="2411413" y="908050"/>
            <a:ext cx="4176712" cy="504825"/>
          </a:xfrm>
          <a:solidFill>
            <a:schemeClr val="tx2">
              <a:lumMod val="20000"/>
              <a:lumOff val="80000"/>
            </a:schemeClr>
          </a:solidFill>
        </p:spPr>
        <p:txBody>
          <a:bodyPr/>
          <a:lstStyle/>
          <a:p>
            <a:pPr eaLnBrk="1" hangingPunct="1">
              <a:defRPr/>
            </a:pPr>
            <a:r>
              <a:rPr lang="zh-CN" altLang="en-US" sz="2400" b="1" dirty="0" smtClean="0">
                <a:solidFill>
                  <a:schemeClr val="tx1"/>
                </a:solidFill>
              </a:rPr>
              <a:t>挡土结构位移对土压力的影响</a:t>
            </a:r>
            <a:endParaRPr lang="zh-CN" altLang="en-US" sz="2400" b="1" dirty="0" smtClean="0">
              <a:solidFill>
                <a:schemeClr val="tx1"/>
              </a:solidFill>
            </a:endParaRPr>
          </a:p>
        </p:txBody>
      </p:sp>
      <p:sp>
        <p:nvSpPr>
          <p:cNvPr id="272387" name="Rectangle 3"/>
          <p:cNvSpPr>
            <a:spLocks noGrp="1" noChangeArrowheads="1"/>
          </p:cNvSpPr>
          <p:nvPr>
            <p:ph type="body" idx="4294967295"/>
          </p:nvPr>
        </p:nvSpPr>
        <p:spPr>
          <a:xfrm>
            <a:off x="539750" y="1844675"/>
            <a:ext cx="8064500" cy="3960813"/>
          </a:xfrm>
        </p:spPr>
        <p:txBody>
          <a:bodyPr/>
          <a:lstStyle/>
          <a:p>
            <a:pPr eaLnBrk="1" hangingPunct="1">
              <a:lnSpc>
                <a:spcPct val="150000"/>
              </a:lnSpc>
              <a:buFont typeface="Wingdings" panose="05000000000000000000" pitchFamily="2" charset="2"/>
              <a:buChar char="Ø"/>
              <a:defRPr/>
            </a:pPr>
            <a:r>
              <a:rPr lang="zh-CN" altLang="en-US" sz="2000" b="1" dirty="0" smtClean="0">
                <a:latin typeface="+mn-ea"/>
              </a:rPr>
              <a:t>由于基坑支护结构的刚度与一般挡土墙的刚度有相当大的差异，因此，作用在挡土结构上的土压力与挡土墙墙背的土压力分布以及量值也存在相当大的差异。挡土结构对土压力的影响主要表现在两个方面，一方面是对主动土压力的分布产生影响，另一方面对土压力的量值产生影响。</a:t>
            </a:r>
            <a:endParaRPr lang="zh-CN" altLang="en-US" sz="2000" b="1" dirty="0" smtClean="0">
              <a:latin typeface="+mn-ea"/>
            </a:endParaRPr>
          </a:p>
          <a:p>
            <a:pPr eaLnBrk="1" hangingPunct="1">
              <a:lnSpc>
                <a:spcPct val="150000"/>
              </a:lnSpc>
              <a:buFont typeface="Wingdings" panose="05000000000000000000" pitchFamily="2" charset="2"/>
              <a:buChar char="Ø"/>
              <a:defRPr/>
            </a:pPr>
            <a:r>
              <a:rPr lang="zh-CN" altLang="en-US" sz="2000" b="1" dirty="0" smtClean="0">
                <a:latin typeface="+mn-ea"/>
              </a:rPr>
              <a:t>研究表明：当墙顶位移达到墙高的</a:t>
            </a:r>
            <a:r>
              <a:rPr lang="en-US" altLang="zh-CN" sz="2000" b="1" dirty="0" smtClean="0">
                <a:solidFill>
                  <a:srgbClr val="FF0000"/>
                </a:solidFill>
                <a:latin typeface="Times New Roman" panose="02020603050405020304" pitchFamily="18" charset="0"/>
                <a:cs typeface="Times New Roman" panose="02020603050405020304" pitchFamily="18" charset="0"/>
              </a:rPr>
              <a:t>0.1%~0.5%</a:t>
            </a:r>
            <a:r>
              <a:rPr lang="zh-CN" altLang="en-US" sz="2000" b="1" dirty="0" smtClean="0">
                <a:latin typeface="+mn-ea"/>
              </a:rPr>
              <a:t>时，砂性填土的压力将降低到主动土压力；而砂性填土要达到被动土压力，则墙顶位移约为墙高的</a:t>
            </a:r>
            <a:r>
              <a:rPr lang="en-US" altLang="zh-CN" sz="2000" b="1" dirty="0" smtClean="0">
                <a:solidFill>
                  <a:srgbClr val="FF0000"/>
                </a:solidFill>
                <a:latin typeface="Times New Roman" panose="02020603050405020304" pitchFamily="18" charset="0"/>
                <a:cs typeface="Times New Roman" panose="02020603050405020304" pitchFamily="18" charset="0"/>
              </a:rPr>
              <a:t>5%</a:t>
            </a:r>
            <a:r>
              <a:rPr lang="zh-CN" altLang="en-US" sz="2000" b="1" dirty="0" smtClean="0">
                <a:latin typeface="+mn-ea"/>
              </a:rPr>
              <a:t>。</a:t>
            </a:r>
            <a:endParaRPr lang="zh-CN" altLang="en-US" sz="2000" b="1" dirty="0" smtClean="0">
              <a:latin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indefinite" fill="hold">
                                          <p:stCondLst>
                                            <p:cond delay="0"/>
                                          </p:stCondLst>
                                        </p:cTn>
                                        <p:tgtEl>
                                          <p:spTgt spid="272386">
                                            <p:txEl>
                                              <p:charRg st="4294967295" end="4294967295"/>
                                            </p:txEl>
                                          </p:spTgt>
                                        </p:tgtEl>
                                        <p:attrNameLst>
                                          <p:attrName>style.visibility</p:attrName>
                                        </p:attrNameLst>
                                      </p:cBhvr>
                                      <p:to>
                                        <p:strVal val="visible"/>
                                      </p:to>
                                    </p:set>
                                    <p:anim calcmode="lin" valueType="num">
                                      <p:cBhvr>
                                        <p:cTn id="7" dur="1000" fill="hold"/>
                                        <p:tgtEl>
                                          <p:spTgt spid="272386">
                                            <p:txEl>
                                              <p:charRg st="4294967295" end="4294967295"/>
                                            </p:txEl>
                                          </p:spTgt>
                                        </p:tgtEl>
                                        <p:attrNameLst>
                                          <p:attrName>ppt_x</p:attrName>
                                        </p:attrNameLst>
                                      </p:cBhvr>
                                      <p:tavLst>
                                        <p:tav tm="0">
                                          <p:val>
                                            <p:strVal val="#ppt_x-.2"/>
                                          </p:val>
                                        </p:tav>
                                        <p:tav tm="100000">
                                          <p:val>
                                            <p:strVal val="#ppt_x"/>
                                          </p:val>
                                        </p:tav>
                                      </p:tavLst>
                                    </p:anim>
                                    <p:anim calcmode="lin" valueType="num">
                                      <p:cBhvr>
                                        <p:cTn id="8" dur="1000" fill="hold"/>
                                        <p:tgtEl>
                                          <p:spTgt spid="272386">
                                            <p:txEl>
                                              <p:charRg st="4294967295" end="4294967295"/>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272386">
                                            <p:txEl>
                                              <p:charRg st="4294967295" end="4294967295"/>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44" presetClass="entr" presetSubtype="0" fill="hold" grpId="0" nodeType="clickEffect">
                                  <p:stCondLst>
                                    <p:cond delay="0"/>
                                  </p:stCondLst>
                                  <p:childTnLst>
                                    <p:set>
                                      <p:cBhvr>
                                        <p:cTn id="13" dur="indefinite" fill="hold">
                                          <p:stCondLst>
                                            <p:cond delay="0"/>
                                          </p:stCondLst>
                                        </p:cTn>
                                        <p:tgtEl>
                                          <p:spTgt spid="272387">
                                            <p:txEl>
                                              <p:pRg st="0" end="0"/>
                                            </p:txEl>
                                          </p:spTgt>
                                        </p:tgtEl>
                                        <p:attrNameLst>
                                          <p:attrName>style.visibility</p:attrName>
                                        </p:attrNameLst>
                                      </p:cBhvr>
                                      <p:to>
                                        <p:strVal val="visible"/>
                                      </p:to>
                                    </p:set>
                                    <p:animEffect transition="in" filter="fade">
                                      <p:cBhvr>
                                        <p:cTn id="14" dur="500"/>
                                        <p:tgtEl>
                                          <p:spTgt spid="272387">
                                            <p:txEl>
                                              <p:pRg st="0" end="0"/>
                                            </p:txEl>
                                          </p:spTgt>
                                        </p:tgtEl>
                                      </p:cBhvr>
                                    </p:animEffect>
                                    <p:anim calcmode="lin" valueType="num">
                                      <p:cBhvr>
                                        <p:cTn id="15" dur="500" fill="hold"/>
                                        <p:tgtEl>
                                          <p:spTgt spid="272387">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272387">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4" presetClass="entr" presetSubtype="0" fill="hold" grpId="0" nodeType="clickEffect">
                                  <p:stCondLst>
                                    <p:cond delay="0"/>
                                  </p:stCondLst>
                                  <p:childTnLst>
                                    <p:set>
                                      <p:cBhvr>
                                        <p:cTn id="20" dur="indefinite" fill="hold">
                                          <p:stCondLst>
                                            <p:cond delay="0"/>
                                          </p:stCondLst>
                                        </p:cTn>
                                        <p:tgtEl>
                                          <p:spTgt spid="272387">
                                            <p:txEl>
                                              <p:pRg st="1" end="1"/>
                                            </p:txEl>
                                          </p:spTgt>
                                        </p:tgtEl>
                                        <p:attrNameLst>
                                          <p:attrName>style.visibility</p:attrName>
                                        </p:attrNameLst>
                                      </p:cBhvr>
                                      <p:to>
                                        <p:strVal val="visible"/>
                                      </p:to>
                                    </p:set>
                                    <p:animEffect transition="in" filter="fade">
                                      <p:cBhvr>
                                        <p:cTn id="21" dur="500"/>
                                        <p:tgtEl>
                                          <p:spTgt spid="272387">
                                            <p:txEl>
                                              <p:pRg st="1" end="1"/>
                                            </p:txEl>
                                          </p:spTgt>
                                        </p:tgtEl>
                                      </p:cBhvr>
                                    </p:animEffect>
                                    <p:anim calcmode="lin" valueType="num">
                                      <p:cBhvr>
                                        <p:cTn id="22" dur="500" fill="hold"/>
                                        <p:tgtEl>
                                          <p:spTgt spid="272387">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272387">
                                            <p:txEl>
                                              <p:pRg st="1" end="1"/>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386" grpId="0"/>
      <p:bldP spid="272387" grpId="0" build="p"/>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3348038" y="404813"/>
            <a:ext cx="2160587" cy="504825"/>
          </a:xfrm>
        </p:spPr>
        <p:txBody>
          <a:bodyPr/>
          <a:lstStyle/>
          <a:p>
            <a:pPr eaLnBrk="1" hangingPunct="1"/>
            <a:r>
              <a:rPr lang="zh-CN" altLang="en-US" sz="4000" b="1" smtClean="0"/>
              <a:t> </a:t>
            </a:r>
            <a:endParaRPr lang="zh-CN" altLang="en-US" sz="4000" b="1" smtClean="0"/>
          </a:p>
        </p:txBody>
      </p:sp>
      <p:pic>
        <p:nvPicPr>
          <p:cNvPr id="60419" name="Picture 3" descr="4-28"/>
          <p:cNvPicPr>
            <a:picLocks noGrp="1" noChangeAspect="1" noChangeArrowheads="1"/>
          </p:cNvPicPr>
          <p:nvPr>
            <p:ph idx="4294967295"/>
          </p:nvPr>
        </p:nvPicPr>
        <p:blipFill>
          <a:blip r:embed="rId1">
            <a:extLst>
              <a:ext uri="{28A0092B-C50C-407E-A947-70E740481C1C}">
                <a14:useLocalDpi xmlns:a14="http://schemas.microsoft.com/office/drawing/2010/main" val="0"/>
              </a:ext>
            </a:extLst>
          </a:blip>
          <a:srcRect l="3082" t="2223" r="3061" b="31546"/>
          <a:stretch>
            <a:fillRect/>
          </a:stretch>
        </p:blipFill>
        <p:spPr>
          <a:xfrm>
            <a:off x="1547813" y="4395788"/>
            <a:ext cx="6408737" cy="2349500"/>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88772" name="Text Box 4"/>
          <p:cNvSpPr txBox="1">
            <a:spLocks noChangeArrowheads="1"/>
          </p:cNvSpPr>
          <p:nvPr/>
        </p:nvSpPr>
        <p:spPr bwMode="auto">
          <a:xfrm>
            <a:off x="539750" y="1060450"/>
            <a:ext cx="8353425" cy="298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b="1">
                <a:solidFill>
                  <a:schemeClr val="folHlink"/>
                </a:solidFill>
                <a:latin typeface="幼圆" panose="02010509060101010101" pitchFamily="49" charset="-122"/>
                <a:ea typeface="幼圆" panose="02010509060101010101" pitchFamily="49" charset="-122"/>
              </a:defRPr>
            </a:lvl1pPr>
            <a:lvl2pPr marL="742950" indent="-285750">
              <a:defRPr kumimoji="1" sz="2800" b="1">
                <a:solidFill>
                  <a:schemeClr val="folHlink"/>
                </a:solidFill>
                <a:latin typeface="幼圆" panose="02010509060101010101" pitchFamily="49" charset="-122"/>
                <a:ea typeface="幼圆" panose="02010509060101010101" pitchFamily="49" charset="-122"/>
              </a:defRPr>
            </a:lvl2pPr>
            <a:lvl3pPr marL="1143000" indent="-228600">
              <a:defRPr kumimoji="1" sz="2800" b="1">
                <a:solidFill>
                  <a:schemeClr val="folHlink"/>
                </a:solidFill>
                <a:latin typeface="幼圆" panose="02010509060101010101" pitchFamily="49" charset="-122"/>
                <a:ea typeface="幼圆" panose="02010509060101010101" pitchFamily="49" charset="-122"/>
              </a:defRPr>
            </a:lvl3pPr>
            <a:lvl4pPr marL="1600200" indent="-228600">
              <a:defRPr kumimoji="1" sz="2800" b="1">
                <a:solidFill>
                  <a:schemeClr val="folHlink"/>
                </a:solidFill>
                <a:latin typeface="幼圆" panose="02010509060101010101" pitchFamily="49" charset="-122"/>
                <a:ea typeface="幼圆" panose="02010509060101010101" pitchFamily="49" charset="-122"/>
              </a:defRPr>
            </a:lvl4pPr>
            <a:lvl5pPr marL="2057400" indent="-228600">
              <a:defRPr kumimoji="1" sz="2800" b="1">
                <a:solidFill>
                  <a:schemeClr val="folHlink"/>
                </a:solidFill>
                <a:latin typeface="幼圆" panose="02010509060101010101" pitchFamily="49" charset="-122"/>
                <a:ea typeface="幼圆" panose="02010509060101010101" pitchFamily="49" charset="-122"/>
              </a:defRPr>
            </a:lvl5pPr>
            <a:lvl6pPr marL="2514600" indent="-228600" eaLnBrk="0" fontAlgn="base" hangingPunct="0">
              <a:spcBef>
                <a:spcPct val="0"/>
              </a:spcBef>
              <a:spcAft>
                <a:spcPct val="0"/>
              </a:spcAft>
              <a:defRPr kumimoji="1" sz="2800" b="1">
                <a:solidFill>
                  <a:schemeClr val="folHlink"/>
                </a:solidFill>
                <a:latin typeface="幼圆" panose="02010509060101010101" pitchFamily="49" charset="-122"/>
                <a:ea typeface="幼圆" panose="02010509060101010101" pitchFamily="49" charset="-122"/>
              </a:defRPr>
            </a:lvl6pPr>
            <a:lvl7pPr marL="2971800" indent="-228600" eaLnBrk="0" fontAlgn="base" hangingPunct="0">
              <a:spcBef>
                <a:spcPct val="0"/>
              </a:spcBef>
              <a:spcAft>
                <a:spcPct val="0"/>
              </a:spcAft>
              <a:defRPr kumimoji="1" sz="2800" b="1">
                <a:solidFill>
                  <a:schemeClr val="folHlink"/>
                </a:solidFill>
                <a:latin typeface="幼圆" panose="02010509060101010101" pitchFamily="49" charset="-122"/>
                <a:ea typeface="幼圆" panose="02010509060101010101" pitchFamily="49" charset="-122"/>
              </a:defRPr>
            </a:lvl7pPr>
            <a:lvl8pPr marL="3429000" indent="-228600" eaLnBrk="0" fontAlgn="base" hangingPunct="0">
              <a:spcBef>
                <a:spcPct val="0"/>
              </a:spcBef>
              <a:spcAft>
                <a:spcPct val="0"/>
              </a:spcAft>
              <a:defRPr kumimoji="1" sz="2800" b="1">
                <a:solidFill>
                  <a:schemeClr val="folHlink"/>
                </a:solidFill>
                <a:latin typeface="幼圆" panose="02010509060101010101" pitchFamily="49" charset="-122"/>
                <a:ea typeface="幼圆" panose="02010509060101010101" pitchFamily="49" charset="-122"/>
              </a:defRPr>
            </a:lvl8pPr>
            <a:lvl9pPr marL="3886200" indent="-228600" eaLnBrk="0" fontAlgn="base" hangingPunct="0">
              <a:spcBef>
                <a:spcPct val="0"/>
              </a:spcBef>
              <a:spcAft>
                <a:spcPct val="0"/>
              </a:spcAft>
              <a:defRPr kumimoji="1" sz="2800" b="1">
                <a:solidFill>
                  <a:schemeClr val="folHlink"/>
                </a:solidFill>
                <a:latin typeface="幼圆" panose="02010509060101010101" pitchFamily="49" charset="-122"/>
                <a:ea typeface="幼圆" panose="02010509060101010101" pitchFamily="49" charset="-122"/>
              </a:defRPr>
            </a:lvl9pPr>
          </a:lstStyle>
          <a:p>
            <a:pPr marL="285750" indent="-285750" eaLnBrk="1" hangingPunct="1">
              <a:lnSpc>
                <a:spcPct val="150000"/>
              </a:lnSpc>
              <a:spcBef>
                <a:spcPct val="20000"/>
              </a:spcBef>
              <a:buFont typeface="Wingdings" panose="05000000000000000000" pitchFamily="2" charset="2"/>
              <a:buChar char="Ø"/>
              <a:defRPr/>
            </a:pPr>
            <a:r>
              <a:rPr kumimoji="0" lang="zh-CN" altLang="en-US" sz="1800" b="0" dirty="0" smtClean="0">
                <a:solidFill>
                  <a:schemeClr val="tx1"/>
                </a:solidFill>
                <a:latin typeface="Arial" panose="020B0604020202020204" pitchFamily="34" charset="0"/>
                <a:ea typeface="宋体" panose="02010600030101010101" pitchFamily="2" charset="-122"/>
              </a:rPr>
              <a:t> </a:t>
            </a:r>
            <a:r>
              <a:rPr kumimoji="0" lang="zh-CN" altLang="en-US" sz="2000" dirty="0" smtClean="0">
                <a:solidFill>
                  <a:schemeClr val="tx1"/>
                </a:solidFill>
                <a:latin typeface="Times New Roman" panose="02020603050405020304" pitchFamily="18" charset="0"/>
                <a:ea typeface="+mn-ea"/>
                <a:cs typeface="Times New Roman" panose="02020603050405020304" pitchFamily="18" charset="0"/>
              </a:rPr>
              <a:t>根据墙背的坡度分为仰斜</a:t>
            </a:r>
            <a:r>
              <a:rPr kumimoji="0" lang="en-US" altLang="zh-CN" sz="2000" dirty="0" smtClean="0">
                <a:solidFill>
                  <a:schemeClr val="tx1"/>
                </a:solidFill>
                <a:latin typeface="Times New Roman" panose="02020603050405020304" pitchFamily="18" charset="0"/>
                <a:ea typeface="+mn-ea"/>
                <a:cs typeface="Times New Roman" panose="02020603050405020304" pitchFamily="18" charset="0"/>
              </a:rPr>
              <a:t>(a)</a:t>
            </a:r>
            <a:r>
              <a:rPr kumimoji="0" lang="zh-CN" altLang="en-US" sz="2000" dirty="0" smtClean="0">
                <a:solidFill>
                  <a:schemeClr val="tx1"/>
                </a:solidFill>
                <a:latin typeface="Times New Roman" panose="02020603050405020304" pitchFamily="18" charset="0"/>
                <a:ea typeface="+mn-ea"/>
                <a:cs typeface="Times New Roman" panose="02020603050405020304" pitchFamily="18" charset="0"/>
              </a:rPr>
              <a:t>，垂直</a:t>
            </a:r>
            <a:r>
              <a:rPr kumimoji="0" lang="en-US" altLang="zh-CN" sz="2000" dirty="0" smtClean="0">
                <a:solidFill>
                  <a:schemeClr val="tx1"/>
                </a:solidFill>
                <a:latin typeface="Times New Roman" panose="02020603050405020304" pitchFamily="18" charset="0"/>
                <a:ea typeface="+mn-ea"/>
                <a:cs typeface="Times New Roman" panose="02020603050405020304" pitchFamily="18" charset="0"/>
              </a:rPr>
              <a:t>(b)</a:t>
            </a:r>
            <a:r>
              <a:rPr kumimoji="0" lang="zh-CN" altLang="en-US" sz="2000" dirty="0" smtClean="0">
                <a:solidFill>
                  <a:schemeClr val="tx1"/>
                </a:solidFill>
                <a:latin typeface="Times New Roman" panose="02020603050405020304" pitchFamily="18" charset="0"/>
                <a:ea typeface="+mn-ea"/>
                <a:cs typeface="Times New Roman" panose="02020603050405020304" pitchFamily="18" charset="0"/>
              </a:rPr>
              <a:t>和俯斜</a:t>
            </a:r>
            <a:r>
              <a:rPr kumimoji="0" lang="en-US" altLang="zh-CN" sz="2000" dirty="0" smtClean="0">
                <a:solidFill>
                  <a:schemeClr val="tx1"/>
                </a:solidFill>
                <a:latin typeface="Times New Roman" panose="02020603050405020304" pitchFamily="18" charset="0"/>
                <a:ea typeface="+mn-ea"/>
                <a:cs typeface="Times New Roman" panose="02020603050405020304" pitchFamily="18" charset="0"/>
              </a:rPr>
              <a:t>(c)</a:t>
            </a:r>
            <a:r>
              <a:rPr kumimoji="0" lang="zh-CN" altLang="en-US" sz="2000" dirty="0" smtClean="0">
                <a:solidFill>
                  <a:schemeClr val="tx1"/>
                </a:solidFill>
                <a:latin typeface="Times New Roman" panose="02020603050405020304" pitchFamily="18" charset="0"/>
                <a:ea typeface="+mn-ea"/>
                <a:cs typeface="Times New Roman" panose="02020603050405020304" pitchFamily="18" charset="0"/>
              </a:rPr>
              <a:t>三种类型。</a:t>
            </a:r>
            <a:endParaRPr kumimoji="0" lang="zh-CN" altLang="en-US" sz="2000" dirty="0" smtClean="0">
              <a:solidFill>
                <a:schemeClr val="tx1"/>
              </a:solidFill>
              <a:latin typeface="Times New Roman" panose="02020603050405020304" pitchFamily="18" charset="0"/>
              <a:ea typeface="+mn-ea"/>
              <a:cs typeface="Times New Roman" panose="02020603050405020304" pitchFamily="18" charset="0"/>
            </a:endParaRPr>
          </a:p>
          <a:p>
            <a:pPr marL="342900" indent="-342900" eaLnBrk="1" hangingPunct="1">
              <a:lnSpc>
                <a:spcPct val="150000"/>
              </a:lnSpc>
              <a:spcBef>
                <a:spcPct val="20000"/>
              </a:spcBef>
              <a:buFont typeface="Wingdings" panose="05000000000000000000" pitchFamily="2" charset="2"/>
              <a:buChar char="Ø"/>
              <a:defRPr/>
            </a:pPr>
            <a:r>
              <a:rPr kumimoji="0" lang="zh-CN" altLang="en-US" sz="2000" dirty="0" smtClean="0">
                <a:solidFill>
                  <a:schemeClr val="tx1"/>
                </a:solidFill>
                <a:latin typeface="Times New Roman" panose="02020603050405020304" pitchFamily="18" charset="0"/>
                <a:ea typeface="+mn-ea"/>
                <a:cs typeface="Times New Roman" panose="02020603050405020304" pitchFamily="18" charset="0"/>
              </a:rPr>
              <a:t> 受力情况分析，仰斜式的主动土压力最小，俯斜式的主动土压力最大。</a:t>
            </a:r>
            <a:endParaRPr kumimoji="0" lang="zh-CN" altLang="en-US" sz="2000" dirty="0" smtClean="0">
              <a:solidFill>
                <a:schemeClr val="tx1"/>
              </a:solidFill>
              <a:latin typeface="Times New Roman" panose="02020603050405020304" pitchFamily="18" charset="0"/>
              <a:ea typeface="+mn-ea"/>
              <a:cs typeface="Times New Roman" panose="02020603050405020304" pitchFamily="18" charset="0"/>
            </a:endParaRPr>
          </a:p>
          <a:p>
            <a:pPr marL="342900" indent="-342900" eaLnBrk="1" hangingPunct="1">
              <a:lnSpc>
                <a:spcPct val="150000"/>
              </a:lnSpc>
              <a:spcBef>
                <a:spcPct val="20000"/>
              </a:spcBef>
              <a:buFont typeface="Wingdings" panose="05000000000000000000" pitchFamily="2" charset="2"/>
              <a:buChar char="Ø"/>
              <a:defRPr/>
            </a:pPr>
            <a:r>
              <a:rPr kumimoji="0" lang="zh-CN" altLang="en-US" sz="2000" dirty="0" smtClean="0">
                <a:solidFill>
                  <a:schemeClr val="tx1"/>
                </a:solidFill>
                <a:latin typeface="Times New Roman" panose="02020603050405020304" pitchFamily="18" charset="0"/>
                <a:ea typeface="+mn-ea"/>
                <a:cs typeface="Times New Roman" panose="02020603050405020304" pitchFamily="18" charset="0"/>
              </a:rPr>
              <a:t> 从挖、填方角度来看，如果边坡为挖方，采用仰斜式较合理，如果边坡为填方，则采用俯斜式或垂直式较合理；当墙前地形平坦时，采用仰斜式较好，而当地形较陡时，则采用垂直墙背较好；设计时，优先采用仰斜式，其次是垂直式。</a:t>
            </a:r>
            <a:endParaRPr kumimoji="0" lang="zh-CN" altLang="en-US" sz="2000" dirty="0" smtClean="0">
              <a:solidFill>
                <a:schemeClr val="tx1"/>
              </a:solidFill>
              <a:latin typeface="Times New Roman" panose="02020603050405020304" pitchFamily="18" charset="0"/>
              <a:ea typeface="+mn-ea"/>
              <a:cs typeface="Times New Roman" panose="02020603050405020304" pitchFamily="18" charset="0"/>
            </a:endParaRPr>
          </a:p>
        </p:txBody>
      </p:sp>
      <p:sp>
        <p:nvSpPr>
          <p:cNvPr id="2" name="矩形 1"/>
          <p:cNvSpPr/>
          <p:nvPr/>
        </p:nvSpPr>
        <p:spPr>
          <a:xfrm>
            <a:off x="3551238" y="555625"/>
            <a:ext cx="2348720" cy="523220"/>
          </a:xfrm>
          <a:prstGeom prst="rect">
            <a:avLst/>
          </a:prstGeom>
          <a:solidFill>
            <a:schemeClr val="tx2">
              <a:lumMod val="20000"/>
              <a:lumOff val="80000"/>
            </a:schemeClr>
          </a:solidFill>
        </p:spPr>
        <p:txBody>
          <a:bodyPr wrap="none">
            <a:spAutoFit/>
          </a:bodyPr>
          <a:lstStyle/>
          <a:p>
            <a:pPr>
              <a:defRPr/>
            </a:pPr>
            <a:r>
              <a:rPr lang="zh-CN" altLang="en-US" b="1" dirty="0">
                <a:latin typeface="+mn-ea"/>
                <a:ea typeface="+mn-ea"/>
              </a:rPr>
              <a:t>重力式挡土墙</a:t>
            </a:r>
            <a:endParaRPr lang="zh-CN" altLang="en-US" dirty="0">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indefinite" fill="hold">
                                          <p:stCondLst>
                                            <p:cond delay="0"/>
                                          </p:stCondLst>
                                        </p:cTn>
                                        <p:tgtEl>
                                          <p:spTgt spid="60418"/>
                                        </p:tgtEl>
                                        <p:attrNameLst>
                                          <p:attrName>style.visibility</p:attrName>
                                        </p:attrNameLst>
                                      </p:cBhvr>
                                      <p:to>
                                        <p:strVal val="visible"/>
                                      </p:to>
                                    </p:set>
                                    <p:anim calcmode="lin" valueType="num">
                                      <p:cBhvr>
                                        <p:cTn id="7" dur="1000" fill="hold"/>
                                        <p:tgtEl>
                                          <p:spTgt spid="60418"/>
                                        </p:tgtEl>
                                        <p:attrNameLst>
                                          <p:attrName>ppt_x</p:attrName>
                                        </p:attrNameLst>
                                      </p:cBhvr>
                                      <p:tavLst>
                                        <p:tav tm="0">
                                          <p:val>
                                            <p:strVal val="#ppt_x-.2"/>
                                          </p:val>
                                        </p:tav>
                                        <p:tav tm="100000">
                                          <p:val>
                                            <p:strVal val="#ppt_x"/>
                                          </p:val>
                                        </p:tav>
                                      </p:tavLst>
                                    </p:anim>
                                    <p:anim calcmode="lin" valueType="num">
                                      <p:cBhvr>
                                        <p:cTn id="8" dur="1000" fill="hold"/>
                                        <p:tgtEl>
                                          <p:spTgt spid="60418"/>
                                        </p:tgtEl>
                                        <p:attrNameLst>
                                          <p:attrName>ppt_y</p:attrName>
                                        </p:attrNameLst>
                                      </p:cBhvr>
                                      <p:tavLst>
                                        <p:tav tm="0">
                                          <p:val>
                                            <p:strVal val="#ppt_y"/>
                                          </p:val>
                                        </p:tav>
                                        <p:tav tm="100000">
                                          <p:val>
                                            <p:strVal val="#ppt_y"/>
                                          </p:val>
                                        </p:tav>
                                      </p:tavLst>
                                    </p:anim>
                                    <p:animEffect transition="in" filter="wipe(right)" prLst="gradientSize: 0.1">
                                      <p:cBhvr>
                                        <p:cTn id="9" dur="1000"/>
                                        <p:tgtEl>
                                          <p:spTgt spid="60418"/>
                                        </p:tgtEl>
                                      </p:cBhvr>
                                    </p:animEffect>
                                  </p:childTnLst>
                                </p:cTn>
                              </p:par>
                            </p:childTnLst>
                          </p:cTn>
                        </p:par>
                      </p:childTnLst>
                    </p:cTn>
                  </p:par>
                  <p:par>
                    <p:cTn id="10" fill="hold">
                      <p:stCondLst>
                        <p:cond delay="indefinite"/>
                      </p:stCondLst>
                      <p:childTnLst>
                        <p:par>
                          <p:cTn id="11" fill="hold">
                            <p:stCondLst>
                              <p:cond delay="0"/>
                            </p:stCondLst>
                            <p:childTnLst>
                              <p:par>
                                <p:cTn id="12" presetID="44" presetClass="entr" presetSubtype="0" fill="hold" nodeType="clickEffect">
                                  <p:stCondLst>
                                    <p:cond delay="0"/>
                                  </p:stCondLst>
                                  <p:childTnLst>
                                    <p:set>
                                      <p:cBhvr>
                                        <p:cTn id="13" dur="indefinite" fill="hold">
                                          <p:stCondLst>
                                            <p:cond delay="0"/>
                                          </p:stCondLst>
                                        </p:cTn>
                                        <p:tgtEl>
                                          <p:spTgt spid="60419"/>
                                        </p:tgtEl>
                                        <p:attrNameLst>
                                          <p:attrName>style.visibility</p:attrName>
                                        </p:attrNameLst>
                                      </p:cBhvr>
                                      <p:to>
                                        <p:strVal val="visible"/>
                                      </p:to>
                                    </p:set>
                                    <p:animEffect transition="in" filter="fade">
                                      <p:cBhvr>
                                        <p:cTn id="14" dur="500"/>
                                        <p:tgtEl>
                                          <p:spTgt spid="60419"/>
                                        </p:tgtEl>
                                      </p:cBhvr>
                                    </p:animEffect>
                                    <p:anim calcmode="lin" valueType="num">
                                      <p:cBhvr>
                                        <p:cTn id="15" dur="500" fill="hold"/>
                                        <p:tgtEl>
                                          <p:spTgt spid="60419"/>
                                        </p:tgtEl>
                                        <p:attrNameLst>
                                          <p:attrName>ppt_x</p:attrName>
                                        </p:attrNameLst>
                                      </p:cBhvr>
                                      <p:tavLst>
                                        <p:tav tm="0">
                                          <p:val>
                                            <p:strVal val="#ppt_x"/>
                                          </p:val>
                                        </p:tav>
                                        <p:tav tm="100000">
                                          <p:val>
                                            <p:strVal val="#ppt_x"/>
                                          </p:val>
                                        </p:tav>
                                      </p:tavLst>
                                    </p:anim>
                                    <p:anim calcmode="lin" valueType="num">
                                      <p:cBhvr>
                                        <p:cTn id="16" dur="500" fill="hold"/>
                                        <p:tgtEl>
                                          <p:spTgt spid="60419"/>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8" grpId="0"/>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619250" y="908050"/>
            <a:ext cx="1223963" cy="720725"/>
          </a:xfrm>
        </p:spPr>
        <p:txBody>
          <a:bodyPr/>
          <a:lstStyle/>
          <a:p>
            <a:pPr eaLnBrk="1" hangingPunct="1"/>
            <a:r>
              <a:rPr lang="zh-CN" altLang="en-US" sz="3200" b="1" smtClean="0">
                <a:solidFill>
                  <a:srgbClr val="C00000"/>
                </a:solidFill>
              </a:rPr>
              <a:t>要  点</a:t>
            </a:r>
            <a:endParaRPr lang="zh-CN" altLang="en-US" sz="3200" b="1" smtClean="0">
              <a:solidFill>
                <a:srgbClr val="C00000"/>
              </a:solidFill>
            </a:endParaRPr>
          </a:p>
        </p:txBody>
      </p:sp>
      <p:sp>
        <p:nvSpPr>
          <p:cNvPr id="61443" name="Rectangle 3"/>
          <p:cNvSpPr>
            <a:spLocks noGrp="1" noChangeArrowheads="1"/>
          </p:cNvSpPr>
          <p:nvPr>
            <p:ph type="body" idx="4294967295"/>
          </p:nvPr>
        </p:nvSpPr>
        <p:spPr>
          <a:xfrm>
            <a:off x="1403350" y="2349500"/>
            <a:ext cx="6553200" cy="2736850"/>
          </a:xfrm>
        </p:spPr>
        <p:txBody>
          <a:bodyPr/>
          <a:lstStyle/>
          <a:p>
            <a:pPr marL="514350" indent="-514350" eaLnBrk="1" hangingPunct="1">
              <a:buFont typeface="Garamond" panose="02020404030301010803" pitchFamily="18" charset="0"/>
              <a:buAutoNum type="arabicPeriod"/>
            </a:pPr>
            <a:r>
              <a:rPr lang="zh-CN" altLang="en-US" sz="2800" b="1" smtClean="0"/>
              <a:t>土压力的三种类型、概念及相对大小</a:t>
            </a:r>
            <a:endParaRPr lang="zh-CN" altLang="en-US" sz="2800" b="1" smtClean="0"/>
          </a:p>
          <a:p>
            <a:pPr marL="514350" indent="-514350" eaLnBrk="1" hangingPunct="1">
              <a:buFont typeface="Garamond" panose="02020404030301010803" pitchFamily="18" charset="0"/>
              <a:buAutoNum type="arabicPeriod"/>
            </a:pPr>
            <a:r>
              <a:rPr lang="zh-CN" altLang="en-US" sz="2800" b="1" smtClean="0"/>
              <a:t>朗肯土压力理论和计算</a:t>
            </a:r>
            <a:endParaRPr lang="zh-CN" altLang="en-US" sz="2800" b="1" smtClean="0"/>
          </a:p>
          <a:p>
            <a:pPr marL="514350" indent="-514350" eaLnBrk="1" hangingPunct="1">
              <a:buFont typeface="Garamond" panose="02020404030301010803" pitchFamily="18" charset="0"/>
              <a:buAutoNum type="arabicPeriod"/>
            </a:pPr>
            <a:r>
              <a:rPr lang="zh-CN" altLang="en-US" sz="2800" b="1" smtClean="0"/>
              <a:t>库仑土压力理论</a:t>
            </a:r>
            <a:endParaRPr lang="zh-CN" altLang="en-US" sz="2800" b="1" smtClean="0"/>
          </a:p>
          <a:p>
            <a:pPr marL="514350" indent="-514350" eaLnBrk="1" hangingPunct="1">
              <a:buFont typeface="Garamond" panose="02020404030301010803" pitchFamily="18" charset="0"/>
              <a:buAutoNum type="arabicPeriod"/>
            </a:pPr>
            <a:r>
              <a:rPr lang="zh-CN" altLang="en-US" sz="2800" b="1" smtClean="0"/>
              <a:t>两种土压力理论的比较</a:t>
            </a:r>
            <a:endParaRPr lang="zh-CN" altLang="en-US" sz="2800" b="1"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indefinite" fill="hold">
                                          <p:stCondLst>
                                            <p:cond delay="0"/>
                                          </p:stCondLst>
                                        </p:cTn>
                                        <p:tgtEl>
                                          <p:spTgt spid="61442"/>
                                        </p:tgtEl>
                                        <p:attrNameLst>
                                          <p:attrName>style.visibility</p:attrName>
                                        </p:attrNameLst>
                                      </p:cBhvr>
                                      <p:to>
                                        <p:strVal val="visible"/>
                                      </p:to>
                                    </p:set>
                                    <p:anim calcmode="lin" valueType="num">
                                      <p:cBhvr>
                                        <p:cTn id="7" dur="1000" fill="hold"/>
                                        <p:tgtEl>
                                          <p:spTgt spid="61442"/>
                                        </p:tgtEl>
                                        <p:attrNameLst>
                                          <p:attrName>ppt_x</p:attrName>
                                        </p:attrNameLst>
                                      </p:cBhvr>
                                      <p:tavLst>
                                        <p:tav tm="0">
                                          <p:val>
                                            <p:strVal val="#ppt_x-.2"/>
                                          </p:val>
                                        </p:tav>
                                        <p:tav tm="100000">
                                          <p:val>
                                            <p:strVal val="#ppt_x"/>
                                          </p:val>
                                        </p:tav>
                                      </p:tavLst>
                                    </p:anim>
                                    <p:anim calcmode="lin" valueType="num">
                                      <p:cBhvr>
                                        <p:cTn id="8" dur="1000" fill="hold"/>
                                        <p:tgtEl>
                                          <p:spTgt spid="61442"/>
                                        </p:tgtEl>
                                        <p:attrNameLst>
                                          <p:attrName>ppt_y</p:attrName>
                                        </p:attrNameLst>
                                      </p:cBhvr>
                                      <p:tavLst>
                                        <p:tav tm="0">
                                          <p:val>
                                            <p:strVal val="#ppt_y"/>
                                          </p:val>
                                        </p:tav>
                                        <p:tav tm="100000">
                                          <p:val>
                                            <p:strVal val="#ppt_y"/>
                                          </p:val>
                                        </p:tav>
                                      </p:tavLst>
                                    </p:anim>
                                    <p:animEffect transition="in" filter="wipe(right)" prLst="gradientSize: 0.1">
                                      <p:cBhvr>
                                        <p:cTn id="9" dur="1000"/>
                                        <p:tgtEl>
                                          <p:spTgt spid="61442"/>
                                        </p:tgtEl>
                                      </p:cBhvr>
                                    </p:animEffect>
                                  </p:childTnLst>
                                </p:cTn>
                              </p:par>
                            </p:childTnLst>
                          </p:cTn>
                        </p:par>
                      </p:childTnLst>
                    </p:cTn>
                  </p:par>
                  <p:par>
                    <p:cTn id="10" fill="hold">
                      <p:stCondLst>
                        <p:cond delay="indefinite"/>
                      </p:stCondLst>
                      <p:childTnLst>
                        <p:par>
                          <p:cTn id="11" fill="hold">
                            <p:stCondLst>
                              <p:cond delay="0"/>
                            </p:stCondLst>
                            <p:childTnLst>
                              <p:par>
                                <p:cTn id="12" presetID="44" presetClass="entr" presetSubtype="0" fill="hold" grpId="0" nodeType="clickEffect">
                                  <p:stCondLst>
                                    <p:cond delay="0"/>
                                  </p:stCondLst>
                                  <p:childTnLst>
                                    <p:set>
                                      <p:cBhvr>
                                        <p:cTn id="13" dur="indefinite" fill="hold">
                                          <p:stCondLst>
                                            <p:cond delay="0"/>
                                          </p:stCondLst>
                                        </p:cTn>
                                        <p:tgtEl>
                                          <p:spTgt spid="61443">
                                            <p:txEl>
                                              <p:pRg st="0" end="0"/>
                                            </p:txEl>
                                          </p:spTgt>
                                        </p:tgtEl>
                                        <p:attrNameLst>
                                          <p:attrName>style.visibility</p:attrName>
                                        </p:attrNameLst>
                                      </p:cBhvr>
                                      <p:to>
                                        <p:strVal val="visible"/>
                                      </p:to>
                                    </p:set>
                                    <p:animEffect transition="in" filter="fade">
                                      <p:cBhvr>
                                        <p:cTn id="14" dur="500"/>
                                        <p:tgtEl>
                                          <p:spTgt spid="61443">
                                            <p:txEl>
                                              <p:pRg st="0" end="0"/>
                                            </p:txEl>
                                          </p:spTgt>
                                        </p:tgtEl>
                                      </p:cBhvr>
                                    </p:animEffect>
                                    <p:anim calcmode="lin" valueType="num">
                                      <p:cBhvr>
                                        <p:cTn id="15" dur="500" fill="hold"/>
                                        <p:tgtEl>
                                          <p:spTgt spid="61443">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61443">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4" presetClass="entr" presetSubtype="0" fill="hold" grpId="0" nodeType="clickEffect">
                                  <p:stCondLst>
                                    <p:cond delay="0"/>
                                  </p:stCondLst>
                                  <p:childTnLst>
                                    <p:set>
                                      <p:cBhvr>
                                        <p:cTn id="20" dur="indefinite" fill="hold">
                                          <p:stCondLst>
                                            <p:cond delay="0"/>
                                          </p:stCondLst>
                                        </p:cTn>
                                        <p:tgtEl>
                                          <p:spTgt spid="61443">
                                            <p:txEl>
                                              <p:pRg st="1" end="1"/>
                                            </p:txEl>
                                          </p:spTgt>
                                        </p:tgtEl>
                                        <p:attrNameLst>
                                          <p:attrName>style.visibility</p:attrName>
                                        </p:attrNameLst>
                                      </p:cBhvr>
                                      <p:to>
                                        <p:strVal val="visible"/>
                                      </p:to>
                                    </p:set>
                                    <p:animEffect transition="in" filter="fade">
                                      <p:cBhvr>
                                        <p:cTn id="21" dur="500"/>
                                        <p:tgtEl>
                                          <p:spTgt spid="61443">
                                            <p:txEl>
                                              <p:pRg st="1" end="1"/>
                                            </p:txEl>
                                          </p:spTgt>
                                        </p:tgtEl>
                                      </p:cBhvr>
                                    </p:animEffect>
                                    <p:anim calcmode="lin" valueType="num">
                                      <p:cBhvr>
                                        <p:cTn id="22" dur="500" fill="hold"/>
                                        <p:tgtEl>
                                          <p:spTgt spid="61443">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61443">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4" presetClass="entr" presetSubtype="0" fill="hold" grpId="0" nodeType="clickEffect">
                                  <p:stCondLst>
                                    <p:cond delay="0"/>
                                  </p:stCondLst>
                                  <p:childTnLst>
                                    <p:set>
                                      <p:cBhvr>
                                        <p:cTn id="27" dur="indefinite" fill="hold">
                                          <p:stCondLst>
                                            <p:cond delay="0"/>
                                          </p:stCondLst>
                                        </p:cTn>
                                        <p:tgtEl>
                                          <p:spTgt spid="61443">
                                            <p:txEl>
                                              <p:pRg st="2" end="2"/>
                                            </p:txEl>
                                          </p:spTgt>
                                        </p:tgtEl>
                                        <p:attrNameLst>
                                          <p:attrName>style.visibility</p:attrName>
                                        </p:attrNameLst>
                                      </p:cBhvr>
                                      <p:to>
                                        <p:strVal val="visible"/>
                                      </p:to>
                                    </p:set>
                                    <p:animEffect transition="in" filter="fade">
                                      <p:cBhvr>
                                        <p:cTn id="28" dur="500"/>
                                        <p:tgtEl>
                                          <p:spTgt spid="61443">
                                            <p:txEl>
                                              <p:pRg st="2" end="2"/>
                                            </p:txEl>
                                          </p:spTgt>
                                        </p:tgtEl>
                                      </p:cBhvr>
                                    </p:animEffect>
                                    <p:anim calcmode="lin" valueType="num">
                                      <p:cBhvr>
                                        <p:cTn id="29" dur="500" fill="hold"/>
                                        <p:tgtEl>
                                          <p:spTgt spid="61443">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61443">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4" presetClass="entr" presetSubtype="0" fill="hold" grpId="0" nodeType="clickEffect">
                                  <p:stCondLst>
                                    <p:cond delay="0"/>
                                  </p:stCondLst>
                                  <p:childTnLst>
                                    <p:set>
                                      <p:cBhvr>
                                        <p:cTn id="34" dur="indefinite" fill="hold">
                                          <p:stCondLst>
                                            <p:cond delay="0"/>
                                          </p:stCondLst>
                                        </p:cTn>
                                        <p:tgtEl>
                                          <p:spTgt spid="61443">
                                            <p:txEl>
                                              <p:pRg st="3" end="3"/>
                                            </p:txEl>
                                          </p:spTgt>
                                        </p:tgtEl>
                                        <p:attrNameLst>
                                          <p:attrName>style.visibility</p:attrName>
                                        </p:attrNameLst>
                                      </p:cBhvr>
                                      <p:to>
                                        <p:strVal val="visible"/>
                                      </p:to>
                                    </p:set>
                                    <p:animEffect transition="in" filter="fade">
                                      <p:cBhvr>
                                        <p:cTn id="35" dur="500"/>
                                        <p:tgtEl>
                                          <p:spTgt spid="61443">
                                            <p:txEl>
                                              <p:pRg st="3" end="3"/>
                                            </p:txEl>
                                          </p:spTgt>
                                        </p:tgtEl>
                                      </p:cBhvr>
                                    </p:animEffect>
                                    <p:anim calcmode="lin" valueType="num">
                                      <p:cBhvr>
                                        <p:cTn id="36" dur="500" fill="hold"/>
                                        <p:tgtEl>
                                          <p:spTgt spid="61443">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61443">
                                            <p:txEl>
                                              <p:pRg st="3" end="3"/>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2" grpId="0"/>
      <p:bldP spid="6144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灯片编号占位符 2"/>
          <p:cNvSpPr>
            <a:spLocks noGrp="1"/>
          </p:cNvSpPr>
          <p:nvPr>
            <p:ph type="sldNum" sz="quarter" idx="12"/>
          </p:nvPr>
        </p:nvSpPr>
        <p:spPr/>
        <p:txBody>
          <a:bodyPr/>
          <a:p>
            <a:pPr>
              <a:defRPr/>
            </a:pPr>
            <a:fld id="{322D5396-4059-4B0A-8E8E-3660E5748EDC}" type="slidenum">
              <a:rPr lang="zh-CN" altLang="en-US"/>
            </a:fld>
            <a:endParaRPr lang="en-US" altLang="zh-CN"/>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7" name="Rectangle 3"/>
          <p:cNvSpPr>
            <a:spLocks noGrp="1" noChangeArrowheads="1"/>
          </p:cNvSpPr>
          <p:nvPr>
            <p:ph type="body" idx="1"/>
          </p:nvPr>
        </p:nvSpPr>
        <p:spPr bwMode="auto">
          <a:xfrm>
            <a:off x="1600200" y="2057400"/>
            <a:ext cx="6629400" cy="3429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buClr>
                <a:schemeClr val="folHlink"/>
              </a:buClr>
              <a:buFontTx/>
              <a:buNone/>
            </a:pPr>
            <a:r>
              <a:rPr lang="en-US" altLang="zh-CN" sz="3600" b="1" dirty="0" smtClean="0">
                <a:latin typeface="Times New Roman" panose="02020603050405020304" pitchFamily="18" charset="0"/>
                <a:cs typeface="Times New Roman" panose="02020603050405020304" pitchFamily="18" charset="0"/>
              </a:rPr>
              <a:t>§6.1 </a:t>
            </a:r>
            <a:r>
              <a:rPr lang="zh-CN" altLang="en-US" sz="3600" b="1" dirty="0" smtClean="0">
                <a:latin typeface="Times New Roman" panose="02020603050405020304" pitchFamily="18" charset="0"/>
                <a:cs typeface="Times New Roman" panose="02020603050405020304" pitchFamily="18" charset="0"/>
              </a:rPr>
              <a:t>概述</a:t>
            </a:r>
            <a:endParaRPr lang="zh-CN" altLang="en-US" sz="3600" b="1" dirty="0" smtClean="0">
              <a:latin typeface="Times New Roman" panose="02020603050405020304" pitchFamily="18" charset="0"/>
              <a:cs typeface="Times New Roman" panose="02020603050405020304" pitchFamily="18" charset="0"/>
            </a:endParaRPr>
          </a:p>
          <a:p>
            <a:pPr eaLnBrk="1" hangingPunct="1">
              <a:buClr>
                <a:schemeClr val="folHlink"/>
              </a:buClr>
              <a:buFontTx/>
              <a:buNone/>
            </a:pPr>
            <a:r>
              <a:rPr lang="en-US" altLang="zh-CN" sz="3600" b="1" dirty="0" smtClean="0">
                <a:latin typeface="Times New Roman" panose="02020603050405020304" pitchFamily="18" charset="0"/>
                <a:cs typeface="Times New Roman" panose="02020603050405020304" pitchFamily="18" charset="0"/>
              </a:rPr>
              <a:t>§6.2 </a:t>
            </a:r>
            <a:r>
              <a:rPr lang="zh-CN" altLang="en-US" sz="3600" b="1" dirty="0" smtClean="0">
                <a:latin typeface="Times New Roman" panose="02020603050405020304" pitchFamily="18" charset="0"/>
                <a:cs typeface="Times New Roman" panose="02020603050405020304" pitchFamily="18" charset="0"/>
              </a:rPr>
              <a:t>无黏性土坡的稳定性</a:t>
            </a:r>
            <a:endParaRPr lang="zh-CN" altLang="en-US" sz="3600" b="1" dirty="0" smtClean="0">
              <a:latin typeface="Times New Roman" panose="02020603050405020304" pitchFamily="18" charset="0"/>
              <a:cs typeface="Times New Roman" panose="02020603050405020304" pitchFamily="18" charset="0"/>
            </a:endParaRPr>
          </a:p>
          <a:p>
            <a:pPr eaLnBrk="1" hangingPunct="1">
              <a:buClr>
                <a:schemeClr val="folHlink"/>
              </a:buClr>
              <a:buFontTx/>
              <a:buNone/>
            </a:pPr>
            <a:r>
              <a:rPr lang="en-US" altLang="zh-CN" sz="3600" b="1" dirty="0" smtClean="0">
                <a:latin typeface="Times New Roman" panose="02020603050405020304" pitchFamily="18" charset="0"/>
                <a:cs typeface="Times New Roman" panose="02020603050405020304" pitchFamily="18" charset="0"/>
              </a:rPr>
              <a:t>§6.3 </a:t>
            </a:r>
            <a:r>
              <a:rPr lang="zh-CN" altLang="en-US" sz="3600" b="1" dirty="0" smtClean="0">
                <a:latin typeface="Times New Roman" panose="02020603050405020304" pitchFamily="18" charset="0"/>
                <a:cs typeface="Times New Roman" panose="02020603050405020304" pitchFamily="18" charset="0"/>
              </a:rPr>
              <a:t>黏性土坡的稳定性</a:t>
            </a:r>
            <a:endParaRPr lang="zh-CN" altLang="en-US" sz="3600" b="1" dirty="0" smtClean="0">
              <a:latin typeface="Times New Roman" panose="02020603050405020304" pitchFamily="18" charset="0"/>
              <a:cs typeface="Times New Roman" panose="02020603050405020304" pitchFamily="18" charset="0"/>
            </a:endParaRPr>
          </a:p>
          <a:p>
            <a:pPr eaLnBrk="1" hangingPunct="1">
              <a:buClr>
                <a:schemeClr val="folHlink"/>
              </a:buClr>
              <a:buFontTx/>
              <a:buNone/>
            </a:pPr>
            <a:r>
              <a:rPr lang="en-US" altLang="zh-CN" sz="3600" b="1" dirty="0" smtClean="0">
                <a:latin typeface="Times New Roman" panose="02020603050405020304" pitchFamily="18" charset="0"/>
                <a:cs typeface="Times New Roman" panose="02020603050405020304" pitchFamily="18" charset="0"/>
              </a:rPr>
              <a:t>§6.4 </a:t>
            </a:r>
            <a:r>
              <a:rPr lang="zh-CN" altLang="en-US" sz="3600" b="1" dirty="0" smtClean="0">
                <a:latin typeface="Times New Roman" panose="02020603050405020304" pitchFamily="18" charset="0"/>
                <a:cs typeface="Times New Roman" panose="02020603050405020304" pitchFamily="18" charset="0"/>
              </a:rPr>
              <a:t>土坡稳定性的影响因素</a:t>
            </a:r>
            <a:endParaRPr lang="zh-CN" altLang="en-US" sz="3600" b="1" dirty="0" smtClean="0">
              <a:latin typeface="Times New Roman" panose="02020603050405020304" pitchFamily="18" charset="0"/>
              <a:cs typeface="Times New Roman" panose="02020603050405020304" pitchFamily="18" charset="0"/>
            </a:endParaRPr>
          </a:p>
          <a:p>
            <a:pPr eaLnBrk="1" hangingPunct="1">
              <a:buClr>
                <a:schemeClr val="folHlink"/>
              </a:buClr>
              <a:buFontTx/>
              <a:buNone/>
            </a:pPr>
            <a:r>
              <a:rPr lang="en-US" altLang="zh-CN" sz="3600" b="1" dirty="0" smtClean="0">
                <a:latin typeface="Times New Roman" panose="02020603050405020304" pitchFamily="18" charset="0"/>
                <a:cs typeface="Times New Roman" panose="02020603050405020304" pitchFamily="18" charset="0"/>
              </a:rPr>
              <a:t>§6.5 </a:t>
            </a:r>
            <a:r>
              <a:rPr lang="zh-CN" altLang="en-US" sz="3600" b="1" dirty="0" smtClean="0">
                <a:latin typeface="Times New Roman" panose="02020603050405020304" pitchFamily="18" charset="0"/>
                <a:cs typeface="Times New Roman" panose="02020603050405020304" pitchFamily="18" charset="0"/>
              </a:rPr>
              <a:t>地基的稳定性</a:t>
            </a:r>
            <a:r>
              <a:rPr lang="en-US" altLang="zh-CN" sz="3600" b="1" dirty="0" smtClean="0">
                <a:latin typeface="Times New Roman" panose="02020603050405020304" pitchFamily="18" charset="0"/>
                <a:cs typeface="Times New Roman" panose="02020603050405020304" pitchFamily="18" charset="0"/>
              </a:rPr>
              <a:t> </a:t>
            </a:r>
            <a:endParaRPr lang="zh-CN" altLang="en-US" sz="3600" b="1" dirty="0" smtClean="0">
              <a:latin typeface="Times New Roman" panose="02020603050405020304" pitchFamily="18" charset="0"/>
              <a:cs typeface="Times New Roman" panose="02020603050405020304" pitchFamily="18" charset="0"/>
            </a:endParaRPr>
          </a:p>
        </p:txBody>
      </p:sp>
      <p:sp>
        <p:nvSpPr>
          <p:cNvPr id="3075" name="Rectangle 52"/>
          <p:cNvSpPr>
            <a:spLocks noChangeArrowheads="1"/>
          </p:cNvSpPr>
          <p:nvPr/>
        </p:nvSpPr>
        <p:spPr bwMode="auto">
          <a:xfrm>
            <a:off x="1071563" y="762000"/>
            <a:ext cx="74295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lang="zh-CN" altLang="en-US" b="1" dirty="0" smtClean="0">
                <a:solidFill>
                  <a:srgbClr val="FF0000"/>
                </a:solidFill>
                <a:latin typeface="+mj-ea"/>
                <a:ea typeface="+mj-ea"/>
              </a:rPr>
              <a:t>第</a:t>
            </a:r>
            <a:r>
              <a:rPr lang="zh-CN" altLang="en-US" b="1" dirty="0" smtClean="0">
                <a:solidFill>
                  <a:srgbClr val="FF0000"/>
                </a:solidFill>
                <a:latin typeface="+mj-ea"/>
                <a:ea typeface="+mj-ea"/>
              </a:rPr>
              <a:t>六章 </a:t>
            </a:r>
            <a:r>
              <a:rPr lang="zh-CN" altLang="en-US" b="1" dirty="0">
                <a:solidFill>
                  <a:srgbClr val="FF0000"/>
                </a:solidFill>
                <a:latin typeface="+mj-ea"/>
                <a:ea typeface="+mj-ea"/>
              </a:rPr>
              <a:t>土坡和地基的稳定性</a:t>
            </a:r>
            <a:endParaRPr lang="zh-CN" altLang="en-US" b="1" dirty="0">
              <a:solidFill>
                <a:srgbClr val="FF0000"/>
              </a:solidFill>
              <a:latin typeface="+mj-ea"/>
              <a:ea typeface="+mj-ea"/>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6627"/>
                                        </p:tgtEl>
                                        <p:attrNameLst>
                                          <p:attrName>style.visibility</p:attrName>
                                        </p:attrNameLst>
                                      </p:cBhvr>
                                      <p:to>
                                        <p:strVal val="visible"/>
                                      </p:to>
                                    </p:set>
                                    <p:animEffect transition="in" filter="barn(outVertical)">
                                      <p:cBhvr>
                                        <p:cTn id="7" dur="500"/>
                                        <p:tgtEl>
                                          <p:spTgt spid="26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7" name="Rectangle 3"/>
          <p:cNvSpPr>
            <a:spLocks noGrp="1" noChangeArrowheads="1"/>
          </p:cNvSpPr>
          <p:nvPr>
            <p:ph type="body" idx="1"/>
          </p:nvPr>
        </p:nvSpPr>
        <p:spPr bwMode="auto">
          <a:xfrm>
            <a:off x="1600200" y="2057400"/>
            <a:ext cx="6629400" cy="3429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buClr>
                <a:schemeClr val="folHlink"/>
              </a:buClr>
              <a:buFontTx/>
              <a:buNone/>
            </a:pPr>
            <a:r>
              <a:rPr lang="en-US" altLang="zh-CN" sz="3600" b="1" dirty="0" smtClean="0">
                <a:latin typeface="Times New Roman" panose="02020603050405020304" pitchFamily="18" charset="0"/>
                <a:cs typeface="Times New Roman" panose="02020603050405020304" pitchFamily="18" charset="0"/>
              </a:rPr>
              <a:t>§6.1 </a:t>
            </a:r>
            <a:r>
              <a:rPr lang="zh-CN" altLang="en-US" sz="3600" b="1" dirty="0" smtClean="0">
                <a:latin typeface="Times New Roman" panose="02020603050405020304" pitchFamily="18" charset="0"/>
                <a:cs typeface="Times New Roman" panose="02020603050405020304" pitchFamily="18" charset="0"/>
              </a:rPr>
              <a:t>概述</a:t>
            </a:r>
            <a:endParaRPr lang="zh-CN" altLang="en-US" sz="3600" b="1" dirty="0" smtClean="0">
              <a:latin typeface="Times New Roman" panose="02020603050405020304" pitchFamily="18" charset="0"/>
              <a:cs typeface="Times New Roman" panose="02020603050405020304" pitchFamily="18" charset="0"/>
            </a:endParaRPr>
          </a:p>
          <a:p>
            <a:pPr eaLnBrk="1" hangingPunct="1">
              <a:buClr>
                <a:schemeClr val="folHlink"/>
              </a:buClr>
              <a:buFontTx/>
              <a:buNone/>
            </a:pPr>
            <a:r>
              <a:rPr lang="en-US" altLang="zh-CN" sz="3600" b="1" dirty="0" smtClean="0">
                <a:solidFill>
                  <a:schemeClr val="bg1">
                    <a:lumMod val="95000"/>
                  </a:schemeClr>
                </a:solidFill>
                <a:latin typeface="Times New Roman" panose="02020603050405020304" pitchFamily="18" charset="0"/>
                <a:cs typeface="Times New Roman" panose="02020603050405020304" pitchFamily="18" charset="0"/>
              </a:rPr>
              <a:t>§6.2 </a:t>
            </a:r>
            <a:r>
              <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rPr>
              <a:t>无黏性土坡的稳定性</a:t>
            </a:r>
            <a:endPar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endParaRPr>
          </a:p>
          <a:p>
            <a:pPr eaLnBrk="1" hangingPunct="1">
              <a:buClr>
                <a:schemeClr val="folHlink"/>
              </a:buClr>
              <a:buFontTx/>
              <a:buNone/>
            </a:pPr>
            <a:r>
              <a:rPr lang="en-US" altLang="zh-CN" sz="3600" b="1" dirty="0" smtClean="0">
                <a:solidFill>
                  <a:schemeClr val="bg1">
                    <a:lumMod val="95000"/>
                  </a:schemeClr>
                </a:solidFill>
                <a:latin typeface="Times New Roman" panose="02020603050405020304" pitchFamily="18" charset="0"/>
                <a:cs typeface="Times New Roman" panose="02020603050405020304" pitchFamily="18" charset="0"/>
              </a:rPr>
              <a:t>§6.3 </a:t>
            </a:r>
            <a:r>
              <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rPr>
              <a:t>黏性土坡的稳定性</a:t>
            </a:r>
            <a:endPar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endParaRPr>
          </a:p>
          <a:p>
            <a:pPr eaLnBrk="1" hangingPunct="1">
              <a:buClr>
                <a:schemeClr val="folHlink"/>
              </a:buClr>
              <a:buFontTx/>
              <a:buNone/>
            </a:pPr>
            <a:r>
              <a:rPr lang="en-US" altLang="zh-CN" sz="3600" b="1" dirty="0" smtClean="0">
                <a:solidFill>
                  <a:schemeClr val="bg1">
                    <a:lumMod val="95000"/>
                  </a:schemeClr>
                </a:solidFill>
                <a:latin typeface="Times New Roman" panose="02020603050405020304" pitchFamily="18" charset="0"/>
                <a:cs typeface="Times New Roman" panose="02020603050405020304" pitchFamily="18" charset="0"/>
              </a:rPr>
              <a:t>§6.4 </a:t>
            </a:r>
            <a:r>
              <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rPr>
              <a:t>土坡稳定性的影响因素</a:t>
            </a:r>
            <a:endPar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endParaRPr>
          </a:p>
          <a:p>
            <a:pPr eaLnBrk="1" hangingPunct="1">
              <a:buClr>
                <a:schemeClr val="folHlink"/>
              </a:buClr>
              <a:buFontTx/>
              <a:buNone/>
            </a:pPr>
            <a:r>
              <a:rPr lang="en-US" altLang="zh-CN" sz="3600" b="1" dirty="0" smtClean="0">
                <a:solidFill>
                  <a:schemeClr val="bg1">
                    <a:lumMod val="95000"/>
                  </a:schemeClr>
                </a:solidFill>
                <a:latin typeface="Times New Roman" panose="02020603050405020304" pitchFamily="18" charset="0"/>
                <a:cs typeface="Times New Roman" panose="02020603050405020304" pitchFamily="18" charset="0"/>
              </a:rPr>
              <a:t>§6.5 </a:t>
            </a:r>
            <a:r>
              <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rPr>
              <a:t>地基的稳定性</a:t>
            </a:r>
            <a:r>
              <a:rPr lang="en-US" altLang="zh-CN" sz="3600" b="1" dirty="0" smtClean="0">
                <a:solidFill>
                  <a:schemeClr val="bg1">
                    <a:lumMod val="95000"/>
                  </a:schemeClr>
                </a:solidFill>
                <a:latin typeface="Times New Roman" panose="02020603050405020304" pitchFamily="18" charset="0"/>
                <a:cs typeface="Times New Roman" panose="02020603050405020304" pitchFamily="18" charset="0"/>
              </a:rPr>
              <a:t> </a:t>
            </a:r>
            <a:endPar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endParaRPr>
          </a:p>
        </p:txBody>
      </p:sp>
      <p:sp>
        <p:nvSpPr>
          <p:cNvPr id="3075" name="Rectangle 52"/>
          <p:cNvSpPr>
            <a:spLocks noChangeArrowheads="1"/>
          </p:cNvSpPr>
          <p:nvPr/>
        </p:nvSpPr>
        <p:spPr bwMode="auto">
          <a:xfrm>
            <a:off x="1071563" y="762000"/>
            <a:ext cx="74295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lang="zh-CN" altLang="en-US" b="1" dirty="0" smtClean="0">
                <a:solidFill>
                  <a:srgbClr val="FF0000"/>
                </a:solidFill>
                <a:latin typeface="+mj-ea"/>
                <a:ea typeface="+mj-ea"/>
              </a:rPr>
              <a:t>第六章 </a:t>
            </a:r>
            <a:r>
              <a:rPr lang="zh-CN" altLang="en-US" b="1" dirty="0">
                <a:solidFill>
                  <a:srgbClr val="FF0000"/>
                </a:solidFill>
                <a:latin typeface="+mj-ea"/>
                <a:ea typeface="+mj-ea"/>
              </a:rPr>
              <a:t>土坡和地基的稳定性</a:t>
            </a:r>
            <a:endParaRPr lang="zh-CN" altLang="en-US" b="1" dirty="0">
              <a:solidFill>
                <a:srgbClr val="FF0000"/>
              </a:solidFill>
              <a:latin typeface="+mj-ea"/>
              <a:ea typeface="+mj-ea"/>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6627"/>
                                        </p:tgtEl>
                                        <p:attrNameLst>
                                          <p:attrName>style.visibility</p:attrName>
                                        </p:attrNameLst>
                                      </p:cBhvr>
                                      <p:to>
                                        <p:strVal val="visible"/>
                                      </p:to>
                                    </p:set>
                                    <p:animEffect transition="in" filter="barn(outVertical)">
                                      <p:cBhvr>
                                        <p:cTn id="7" dur="500"/>
                                        <p:tgtEl>
                                          <p:spTgt spid="26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20"/>
          <p:cNvGrpSpPr/>
          <p:nvPr/>
        </p:nvGrpSpPr>
        <p:grpSpPr bwMode="auto">
          <a:xfrm>
            <a:off x="1143000" y="1931343"/>
            <a:ext cx="7608888" cy="2163762"/>
            <a:chOff x="720" y="2539"/>
            <a:chExt cx="4793" cy="1363"/>
          </a:xfrm>
        </p:grpSpPr>
        <p:grpSp>
          <p:nvGrpSpPr>
            <p:cNvPr id="5139" name="Group 219"/>
            <p:cNvGrpSpPr/>
            <p:nvPr/>
          </p:nvGrpSpPr>
          <p:grpSpPr bwMode="auto">
            <a:xfrm>
              <a:off x="720" y="2539"/>
              <a:ext cx="4752" cy="1363"/>
              <a:chOff x="720" y="2539"/>
              <a:chExt cx="4752" cy="1363"/>
            </a:xfrm>
          </p:grpSpPr>
          <p:sp>
            <p:nvSpPr>
              <p:cNvPr id="5147" name="Freeform 190" descr="画布"/>
              <p:cNvSpPr/>
              <p:nvPr/>
            </p:nvSpPr>
            <p:spPr bwMode="auto">
              <a:xfrm>
                <a:off x="2800" y="2539"/>
                <a:ext cx="2672" cy="1363"/>
              </a:xfrm>
              <a:custGeom>
                <a:avLst/>
                <a:gdLst>
                  <a:gd name="T0" fmla="*/ 0 w 2672"/>
                  <a:gd name="T1" fmla="*/ 1349 h 1363"/>
                  <a:gd name="T2" fmla="*/ 2672 w 2672"/>
                  <a:gd name="T3" fmla="*/ 1363 h 1363"/>
                  <a:gd name="T4" fmla="*/ 2672 w 2672"/>
                  <a:gd name="T5" fmla="*/ 0 h 1363"/>
                  <a:gd name="T6" fmla="*/ 1529 w 2672"/>
                  <a:gd name="T7" fmla="*/ 0 h 1363"/>
                  <a:gd name="T8" fmla="*/ 0 w 2672"/>
                  <a:gd name="T9" fmla="*/ 1349 h 1363"/>
                  <a:gd name="T10" fmla="*/ 0 60000 65536"/>
                  <a:gd name="T11" fmla="*/ 0 60000 65536"/>
                  <a:gd name="T12" fmla="*/ 0 60000 65536"/>
                  <a:gd name="T13" fmla="*/ 0 60000 65536"/>
                  <a:gd name="T14" fmla="*/ 0 60000 65536"/>
                  <a:gd name="T15" fmla="*/ 0 w 2672"/>
                  <a:gd name="T16" fmla="*/ 0 h 1363"/>
                  <a:gd name="T17" fmla="*/ 2672 w 2672"/>
                  <a:gd name="T18" fmla="*/ 1363 h 1363"/>
                </a:gdLst>
                <a:ahLst/>
                <a:cxnLst>
                  <a:cxn ang="T10">
                    <a:pos x="T0" y="T1"/>
                  </a:cxn>
                  <a:cxn ang="T11">
                    <a:pos x="T2" y="T3"/>
                  </a:cxn>
                  <a:cxn ang="T12">
                    <a:pos x="T4" y="T5"/>
                  </a:cxn>
                  <a:cxn ang="T13">
                    <a:pos x="T6" y="T7"/>
                  </a:cxn>
                  <a:cxn ang="T14">
                    <a:pos x="T8" y="T9"/>
                  </a:cxn>
                </a:cxnLst>
                <a:rect l="T15" t="T16" r="T17" b="T18"/>
                <a:pathLst>
                  <a:path w="2672" h="1363">
                    <a:moveTo>
                      <a:pt x="0" y="1349"/>
                    </a:moveTo>
                    <a:lnTo>
                      <a:pt x="2672" y="1363"/>
                    </a:lnTo>
                    <a:lnTo>
                      <a:pt x="2672" y="0"/>
                    </a:lnTo>
                    <a:lnTo>
                      <a:pt x="1529" y="0"/>
                    </a:lnTo>
                    <a:lnTo>
                      <a:pt x="0" y="1349"/>
                    </a:lnTo>
                    <a:close/>
                  </a:path>
                </a:pathLst>
              </a:custGeom>
              <a:blipFill dpi="0" rotWithShape="0">
                <a:blip r:embed="rId1"/>
                <a:srcRect/>
                <a:tile tx="0" ty="0" sx="100000" sy="100000" flip="none" algn="tl"/>
              </a:blip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a:p>
            </p:txBody>
          </p:sp>
          <p:sp>
            <p:nvSpPr>
              <p:cNvPr id="5148" name="Line 194"/>
              <p:cNvSpPr>
                <a:spLocks noChangeShapeType="1"/>
              </p:cNvSpPr>
              <p:nvPr/>
            </p:nvSpPr>
            <p:spPr bwMode="auto">
              <a:xfrm>
                <a:off x="720" y="3888"/>
                <a:ext cx="2064" cy="0"/>
              </a:xfrm>
              <a:prstGeom prst="line">
                <a:avLst/>
              </a:prstGeom>
              <a:noFill/>
              <a:ln w="76200">
                <a:solidFill>
                  <a:srgbClr val="CC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49" name="Line 195"/>
              <p:cNvSpPr>
                <a:spLocks noChangeShapeType="1"/>
              </p:cNvSpPr>
              <p:nvPr/>
            </p:nvSpPr>
            <p:spPr bwMode="auto">
              <a:xfrm flipV="1">
                <a:off x="2784" y="2544"/>
                <a:ext cx="1536" cy="1344"/>
              </a:xfrm>
              <a:prstGeom prst="line">
                <a:avLst/>
              </a:prstGeom>
              <a:noFill/>
              <a:ln w="76200">
                <a:solidFill>
                  <a:srgbClr val="CC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50" name="Line 196"/>
              <p:cNvSpPr>
                <a:spLocks noChangeShapeType="1"/>
              </p:cNvSpPr>
              <p:nvPr/>
            </p:nvSpPr>
            <p:spPr bwMode="auto">
              <a:xfrm>
                <a:off x="4320" y="2544"/>
                <a:ext cx="1152" cy="0"/>
              </a:xfrm>
              <a:prstGeom prst="line">
                <a:avLst/>
              </a:prstGeom>
              <a:noFill/>
              <a:ln w="76200">
                <a:solidFill>
                  <a:srgbClr val="CC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51" name="Line 198"/>
              <p:cNvSpPr>
                <a:spLocks noChangeShapeType="1"/>
              </p:cNvSpPr>
              <p:nvPr/>
            </p:nvSpPr>
            <p:spPr bwMode="auto">
              <a:xfrm>
                <a:off x="2786" y="3902"/>
                <a:ext cx="1408" cy="0"/>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140" name="Line 202"/>
            <p:cNvSpPr>
              <a:spLocks noChangeShapeType="1"/>
            </p:cNvSpPr>
            <p:nvPr/>
          </p:nvSpPr>
          <p:spPr bwMode="auto">
            <a:xfrm>
              <a:off x="4322" y="2539"/>
              <a:ext cx="94" cy="149"/>
            </a:xfrm>
            <a:prstGeom prst="line">
              <a:avLst/>
            </a:prstGeom>
            <a:noFill/>
            <a:ln w="57150" cmpd="thickThin">
              <a:solidFill>
                <a:srgbClr val="CC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41" name="Line 203"/>
            <p:cNvSpPr>
              <a:spLocks noChangeShapeType="1"/>
            </p:cNvSpPr>
            <p:nvPr/>
          </p:nvSpPr>
          <p:spPr bwMode="auto">
            <a:xfrm>
              <a:off x="4499" y="2544"/>
              <a:ext cx="94" cy="149"/>
            </a:xfrm>
            <a:prstGeom prst="line">
              <a:avLst/>
            </a:prstGeom>
            <a:noFill/>
            <a:ln w="57150" cmpd="thickThin">
              <a:solidFill>
                <a:srgbClr val="CC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42" name="Line 204"/>
            <p:cNvSpPr>
              <a:spLocks noChangeShapeType="1"/>
            </p:cNvSpPr>
            <p:nvPr/>
          </p:nvSpPr>
          <p:spPr bwMode="auto">
            <a:xfrm>
              <a:off x="4692" y="2552"/>
              <a:ext cx="94" cy="149"/>
            </a:xfrm>
            <a:prstGeom prst="line">
              <a:avLst/>
            </a:prstGeom>
            <a:noFill/>
            <a:ln w="57150" cmpd="thickThin">
              <a:solidFill>
                <a:srgbClr val="CC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43" name="Line 205"/>
            <p:cNvSpPr>
              <a:spLocks noChangeShapeType="1"/>
            </p:cNvSpPr>
            <p:nvPr/>
          </p:nvSpPr>
          <p:spPr bwMode="auto">
            <a:xfrm>
              <a:off x="4869" y="2557"/>
              <a:ext cx="94" cy="149"/>
            </a:xfrm>
            <a:prstGeom prst="line">
              <a:avLst/>
            </a:prstGeom>
            <a:noFill/>
            <a:ln w="57150" cmpd="thickThin">
              <a:solidFill>
                <a:srgbClr val="CC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44" name="Line 206"/>
            <p:cNvSpPr>
              <a:spLocks noChangeShapeType="1"/>
            </p:cNvSpPr>
            <p:nvPr/>
          </p:nvSpPr>
          <p:spPr bwMode="auto">
            <a:xfrm>
              <a:off x="5049" y="2552"/>
              <a:ext cx="94" cy="149"/>
            </a:xfrm>
            <a:prstGeom prst="line">
              <a:avLst/>
            </a:prstGeom>
            <a:noFill/>
            <a:ln w="57150" cmpd="thickThin">
              <a:solidFill>
                <a:srgbClr val="CC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45" name="Line 207"/>
            <p:cNvSpPr>
              <a:spLocks noChangeShapeType="1"/>
            </p:cNvSpPr>
            <p:nvPr/>
          </p:nvSpPr>
          <p:spPr bwMode="auto">
            <a:xfrm>
              <a:off x="5226" y="2557"/>
              <a:ext cx="94" cy="149"/>
            </a:xfrm>
            <a:prstGeom prst="line">
              <a:avLst/>
            </a:prstGeom>
            <a:noFill/>
            <a:ln w="57150" cmpd="thickThin">
              <a:solidFill>
                <a:srgbClr val="CC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46" name="Line 208"/>
            <p:cNvSpPr>
              <a:spLocks noChangeShapeType="1"/>
            </p:cNvSpPr>
            <p:nvPr/>
          </p:nvSpPr>
          <p:spPr bwMode="auto">
            <a:xfrm>
              <a:off x="5419" y="2565"/>
              <a:ext cx="94" cy="149"/>
            </a:xfrm>
            <a:prstGeom prst="line">
              <a:avLst/>
            </a:prstGeom>
            <a:noFill/>
            <a:ln w="57150" cmpd="thickThin">
              <a:solidFill>
                <a:srgbClr val="CC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70500" name="Text Box 164"/>
          <p:cNvSpPr txBox="1">
            <a:spLocks noChangeArrowheads="1"/>
          </p:cNvSpPr>
          <p:nvPr/>
        </p:nvSpPr>
        <p:spPr bwMode="auto">
          <a:xfrm>
            <a:off x="807746" y="985839"/>
            <a:ext cx="432810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2800" b="1" dirty="0">
                <a:solidFill>
                  <a:srgbClr val="0000FF"/>
                </a:solidFill>
              </a:rPr>
              <a:t>土坡：具有</a:t>
            </a:r>
            <a:r>
              <a:rPr lang="zh-CN" altLang="en-US" sz="2800" b="1" dirty="0" smtClean="0">
                <a:solidFill>
                  <a:srgbClr val="0000FF"/>
                </a:solidFill>
              </a:rPr>
              <a:t>倾斜坡面的</a:t>
            </a:r>
            <a:r>
              <a:rPr lang="zh-CN" altLang="en-US" sz="2800" b="1" dirty="0">
                <a:solidFill>
                  <a:srgbClr val="0000FF"/>
                </a:solidFill>
              </a:rPr>
              <a:t>土体</a:t>
            </a:r>
            <a:endParaRPr lang="zh-CN" altLang="en-US" sz="2800" b="1" dirty="0">
              <a:solidFill>
                <a:srgbClr val="0000FF"/>
              </a:solidFill>
            </a:endParaRPr>
          </a:p>
        </p:txBody>
      </p:sp>
      <p:sp>
        <p:nvSpPr>
          <p:cNvPr id="270528" name="Text Box 192"/>
          <p:cNvSpPr txBox="1">
            <a:spLocks noChangeArrowheads="1"/>
          </p:cNvSpPr>
          <p:nvPr/>
        </p:nvSpPr>
        <p:spPr bwMode="auto">
          <a:xfrm>
            <a:off x="6565900" y="1401415"/>
            <a:ext cx="20367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zh-CN" altLang="en-US" sz="2400" b="1" dirty="0">
                <a:solidFill>
                  <a:srgbClr val="0000FF"/>
                </a:solidFill>
                <a:latin typeface="Times New Roman" panose="02020603050405020304" pitchFamily="18" charset="0"/>
                <a:ea typeface="华文新魏" panose="02010800040101010101" pitchFamily="2" charset="-122"/>
              </a:rPr>
              <a:t>坡肩      坡顶</a:t>
            </a:r>
            <a:endParaRPr kumimoji="1" lang="zh-CN" altLang="en-US" sz="2400" b="1" dirty="0">
              <a:solidFill>
                <a:srgbClr val="0000FF"/>
              </a:solidFill>
              <a:latin typeface="Times New Roman" panose="02020603050405020304" pitchFamily="18" charset="0"/>
              <a:ea typeface="华文新魏" panose="02010800040101010101" pitchFamily="2" charset="-122"/>
            </a:endParaRPr>
          </a:p>
        </p:txBody>
      </p:sp>
      <p:sp>
        <p:nvSpPr>
          <p:cNvPr id="270533" name="Text Box 197"/>
          <p:cNvSpPr txBox="1">
            <a:spLocks noChangeArrowheads="1"/>
          </p:cNvSpPr>
          <p:nvPr/>
        </p:nvSpPr>
        <p:spPr bwMode="auto">
          <a:xfrm rot="-2400000">
            <a:off x="4648200" y="2455366"/>
            <a:ext cx="1600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400" b="1" dirty="0">
                <a:solidFill>
                  <a:srgbClr val="0000FF"/>
                </a:solidFill>
                <a:latin typeface="Times New Roman" panose="02020603050405020304" pitchFamily="18" charset="0"/>
                <a:ea typeface="华文新魏" panose="02010800040101010101" pitchFamily="2" charset="-122"/>
              </a:rPr>
              <a:t>坡面</a:t>
            </a:r>
            <a:endParaRPr kumimoji="1" lang="zh-CN" altLang="en-US" sz="2400" b="1" dirty="0">
              <a:solidFill>
                <a:srgbClr val="0000FF"/>
              </a:solidFill>
              <a:latin typeface="Times New Roman" panose="02020603050405020304" pitchFamily="18" charset="0"/>
              <a:ea typeface="华文新魏" panose="02010800040101010101" pitchFamily="2" charset="-122"/>
            </a:endParaRPr>
          </a:p>
        </p:txBody>
      </p:sp>
      <p:sp>
        <p:nvSpPr>
          <p:cNvPr id="270535" name="Freeform 199"/>
          <p:cNvSpPr/>
          <p:nvPr/>
        </p:nvSpPr>
        <p:spPr bwMode="auto">
          <a:xfrm>
            <a:off x="4953000" y="3615680"/>
            <a:ext cx="254000" cy="457200"/>
          </a:xfrm>
          <a:custGeom>
            <a:avLst/>
            <a:gdLst>
              <a:gd name="T0" fmla="*/ 0 w 160"/>
              <a:gd name="T1" fmla="*/ 0 h 288"/>
              <a:gd name="T2" fmla="*/ 2147483646 w 160"/>
              <a:gd name="T3" fmla="*/ 2147483646 h 288"/>
              <a:gd name="T4" fmla="*/ 2147483646 w 160"/>
              <a:gd name="T5" fmla="*/ 2147483646 h 288"/>
              <a:gd name="T6" fmla="*/ 0 60000 65536"/>
              <a:gd name="T7" fmla="*/ 0 60000 65536"/>
              <a:gd name="T8" fmla="*/ 0 60000 65536"/>
              <a:gd name="T9" fmla="*/ 0 w 160"/>
              <a:gd name="T10" fmla="*/ 0 h 288"/>
              <a:gd name="T11" fmla="*/ 160 w 160"/>
              <a:gd name="T12" fmla="*/ 288 h 288"/>
            </a:gdLst>
            <a:ahLst/>
            <a:cxnLst>
              <a:cxn ang="T6">
                <a:pos x="T0" y="T1"/>
              </a:cxn>
              <a:cxn ang="T7">
                <a:pos x="T2" y="T3"/>
              </a:cxn>
              <a:cxn ang="T8">
                <a:pos x="T4" y="T5"/>
              </a:cxn>
            </a:cxnLst>
            <a:rect l="T9" t="T10" r="T11" b="T12"/>
            <a:pathLst>
              <a:path w="160" h="288">
                <a:moveTo>
                  <a:pt x="0" y="0"/>
                </a:moveTo>
                <a:cubicBezTo>
                  <a:pt x="36" y="24"/>
                  <a:pt x="72" y="48"/>
                  <a:pt x="96" y="96"/>
                </a:cubicBezTo>
                <a:cubicBezTo>
                  <a:pt x="120" y="144"/>
                  <a:pt x="160" y="224"/>
                  <a:pt x="144" y="288"/>
                </a:cubicBezTo>
              </a:path>
            </a:pathLst>
          </a:custGeom>
          <a:noFill/>
          <a:ln w="28575">
            <a:solidFill>
              <a:srgbClr val="CC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0536" name="Text Box 200"/>
          <p:cNvSpPr txBox="1">
            <a:spLocks noChangeArrowheads="1"/>
          </p:cNvSpPr>
          <p:nvPr/>
        </p:nvSpPr>
        <p:spPr bwMode="auto">
          <a:xfrm>
            <a:off x="5207000" y="3521787"/>
            <a:ext cx="8305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zh-CN" altLang="en-US" sz="2400" b="1" dirty="0">
                <a:solidFill>
                  <a:srgbClr val="0000FF"/>
                </a:solidFill>
                <a:latin typeface="Times New Roman" panose="02020603050405020304" pitchFamily="18" charset="0"/>
                <a:ea typeface="华文新魏" panose="02010800040101010101" pitchFamily="2" charset="-122"/>
              </a:rPr>
              <a:t>坡角</a:t>
            </a:r>
            <a:endParaRPr kumimoji="1" lang="zh-CN" altLang="en-US" sz="2400" b="1" dirty="0">
              <a:solidFill>
                <a:srgbClr val="0000FF"/>
              </a:solidFill>
              <a:latin typeface="Times New Roman" panose="02020603050405020304" pitchFamily="18" charset="0"/>
              <a:ea typeface="华文新魏" panose="02010800040101010101" pitchFamily="2" charset="-122"/>
            </a:endParaRPr>
          </a:p>
        </p:txBody>
      </p:sp>
      <p:sp>
        <p:nvSpPr>
          <p:cNvPr id="270537" name="Text Box 201"/>
          <p:cNvSpPr txBox="1">
            <a:spLocks noChangeArrowheads="1"/>
          </p:cNvSpPr>
          <p:nvPr/>
        </p:nvSpPr>
        <p:spPr bwMode="auto">
          <a:xfrm>
            <a:off x="3505200" y="3569643"/>
            <a:ext cx="1066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zh-CN" altLang="en-US" sz="2400" b="1" dirty="0">
                <a:solidFill>
                  <a:srgbClr val="0000FF"/>
                </a:solidFill>
                <a:latin typeface="Times New Roman" panose="02020603050405020304" pitchFamily="18" charset="0"/>
                <a:ea typeface="华文新魏" panose="02010800040101010101" pitchFamily="2" charset="-122"/>
              </a:rPr>
              <a:t>坡趾</a:t>
            </a:r>
            <a:endParaRPr kumimoji="1" lang="zh-CN" altLang="en-US" sz="2400" b="1" dirty="0">
              <a:solidFill>
                <a:srgbClr val="0000FF"/>
              </a:solidFill>
              <a:latin typeface="Times New Roman" panose="02020603050405020304" pitchFamily="18" charset="0"/>
              <a:ea typeface="华文新魏" panose="02010800040101010101" pitchFamily="2" charset="-122"/>
            </a:endParaRPr>
          </a:p>
        </p:txBody>
      </p:sp>
      <p:sp>
        <p:nvSpPr>
          <p:cNvPr id="270549" name="Line 213"/>
          <p:cNvSpPr>
            <a:spLocks noChangeShapeType="1"/>
          </p:cNvSpPr>
          <p:nvPr/>
        </p:nvSpPr>
        <p:spPr bwMode="auto">
          <a:xfrm flipH="1" flipV="1">
            <a:off x="2667000" y="1939280"/>
            <a:ext cx="1277938" cy="0"/>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0550" name="Line 214"/>
          <p:cNvSpPr>
            <a:spLocks noChangeShapeType="1"/>
          </p:cNvSpPr>
          <p:nvPr/>
        </p:nvSpPr>
        <p:spPr bwMode="auto">
          <a:xfrm>
            <a:off x="3200400" y="1909118"/>
            <a:ext cx="0" cy="2163762"/>
          </a:xfrm>
          <a:prstGeom prst="line">
            <a:avLst/>
          </a:prstGeom>
          <a:noFill/>
          <a:ln w="28575">
            <a:solidFill>
              <a:srgbClr val="CC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0551" name="Text Box 215"/>
          <p:cNvSpPr txBox="1">
            <a:spLocks noChangeArrowheads="1"/>
          </p:cNvSpPr>
          <p:nvPr/>
        </p:nvSpPr>
        <p:spPr bwMode="auto">
          <a:xfrm>
            <a:off x="3137610" y="2564904"/>
            <a:ext cx="824789"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lnSpc>
                <a:spcPct val="80000"/>
              </a:lnSpc>
              <a:spcBef>
                <a:spcPct val="0"/>
              </a:spcBef>
            </a:pPr>
            <a:r>
              <a:rPr kumimoji="1" lang="zh-CN" altLang="en-US" sz="2400" b="1" dirty="0">
                <a:solidFill>
                  <a:srgbClr val="0000FF"/>
                </a:solidFill>
                <a:latin typeface="Times New Roman" panose="02020603050405020304" pitchFamily="18" charset="0"/>
                <a:ea typeface="华文新魏" panose="02010800040101010101" pitchFamily="2" charset="-122"/>
              </a:rPr>
              <a:t>坡高</a:t>
            </a:r>
            <a:endParaRPr kumimoji="1" lang="zh-CN" altLang="en-US" sz="2400" b="1" dirty="0">
              <a:solidFill>
                <a:srgbClr val="0000FF"/>
              </a:solidFill>
              <a:latin typeface="Times New Roman" panose="02020603050405020304" pitchFamily="18" charset="0"/>
              <a:ea typeface="华文新魏" panose="02010800040101010101" pitchFamily="2" charset="-122"/>
            </a:endParaRPr>
          </a:p>
        </p:txBody>
      </p:sp>
      <p:sp>
        <p:nvSpPr>
          <p:cNvPr id="270553" name="Text Box 217"/>
          <p:cNvSpPr txBox="1">
            <a:spLocks noChangeArrowheads="1"/>
          </p:cNvSpPr>
          <p:nvPr/>
        </p:nvSpPr>
        <p:spPr bwMode="auto">
          <a:xfrm>
            <a:off x="1600200" y="3539480"/>
            <a:ext cx="1066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zh-CN" altLang="en-US" sz="2400" b="1" dirty="0">
                <a:solidFill>
                  <a:srgbClr val="0000FF"/>
                </a:solidFill>
                <a:latin typeface="Times New Roman" panose="02020603050405020304" pitchFamily="18" charset="0"/>
                <a:ea typeface="华文新魏" panose="02010800040101010101" pitchFamily="2" charset="-122"/>
              </a:rPr>
              <a:t>坡底</a:t>
            </a:r>
            <a:endParaRPr kumimoji="1" lang="zh-CN" altLang="en-US" sz="2400" b="1" dirty="0">
              <a:solidFill>
                <a:srgbClr val="0000FF"/>
              </a:solidFill>
              <a:latin typeface="Times New Roman" panose="02020603050405020304" pitchFamily="18" charset="0"/>
              <a:ea typeface="华文新魏" panose="02010800040101010101" pitchFamily="2" charset="-122"/>
            </a:endParaRPr>
          </a:p>
        </p:txBody>
      </p:sp>
      <p:sp>
        <p:nvSpPr>
          <p:cNvPr id="270554" name="AutoShape 218"/>
          <p:cNvSpPr>
            <a:spLocks noChangeArrowheads="1"/>
          </p:cNvSpPr>
          <p:nvPr/>
        </p:nvSpPr>
        <p:spPr bwMode="auto">
          <a:xfrm>
            <a:off x="889000" y="2663261"/>
            <a:ext cx="2057400" cy="578882"/>
          </a:xfrm>
          <a:prstGeom prst="roundRect">
            <a:avLst>
              <a:gd name="adj" fmla="val 16667"/>
            </a:avLst>
          </a:prstGeom>
          <a:solidFill>
            <a:schemeClr val="accent1"/>
          </a:solidFill>
          <a:ln w="9525" algn="ctr">
            <a:solidFill>
              <a:srgbClr val="FF6600"/>
            </a:solidFill>
            <a:round/>
          </a:ln>
        </p:spPr>
        <p:txBody>
          <a:bodyPr wrap="square">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2800" b="1" dirty="0">
                <a:solidFill>
                  <a:srgbClr val="0000FF"/>
                </a:solidFill>
                <a:ea typeface="华文新魏" panose="02010800040101010101" pitchFamily="2" charset="-122"/>
              </a:rPr>
              <a:t>坡度：</a:t>
            </a:r>
            <a:r>
              <a:rPr lang="en-US" altLang="zh-CN" sz="2800" b="1" dirty="0">
                <a:solidFill>
                  <a:srgbClr val="0000FF"/>
                </a:solidFill>
                <a:ea typeface="华文新魏" panose="02010800040101010101" pitchFamily="2" charset="-122"/>
              </a:rPr>
              <a:t>1:m</a:t>
            </a:r>
            <a:endParaRPr lang="en-US" altLang="zh-CN" sz="2800" b="1" dirty="0">
              <a:solidFill>
                <a:srgbClr val="0000FF"/>
              </a:solidFill>
              <a:ea typeface="华文新魏" panose="02010800040101010101" pitchFamily="2" charset="-122"/>
            </a:endParaRPr>
          </a:p>
        </p:txBody>
      </p:sp>
      <p:sp>
        <p:nvSpPr>
          <p:cNvPr id="32" name="Rectangle 6"/>
          <p:cNvSpPr>
            <a:spLocks noChangeArrowheads="1"/>
          </p:cNvSpPr>
          <p:nvPr/>
        </p:nvSpPr>
        <p:spPr bwMode="auto">
          <a:xfrm>
            <a:off x="1" y="2"/>
            <a:ext cx="2267744" cy="492125"/>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3200" dirty="0" smtClean="0">
                <a:solidFill>
                  <a:srgbClr val="FF3300"/>
                </a:solidFill>
                <a:latin typeface="Times New Roman" panose="02020603050405020304" pitchFamily="18" charset="0"/>
                <a:ea typeface="+mj-ea"/>
                <a:cs typeface="Times New Roman" panose="02020603050405020304" pitchFamily="18" charset="0"/>
              </a:rPr>
              <a:t>§6.1 </a:t>
            </a:r>
            <a:r>
              <a:rPr lang="zh-CN" altLang="en-US" sz="3200" dirty="0" smtClean="0">
                <a:solidFill>
                  <a:srgbClr val="FF3300"/>
                </a:solidFill>
                <a:latin typeface="Times New Roman" panose="02020603050405020304" pitchFamily="18" charset="0"/>
                <a:ea typeface="+mj-ea"/>
                <a:cs typeface="Times New Roman" panose="02020603050405020304" pitchFamily="18" charset="0"/>
              </a:rPr>
              <a:t>概述</a:t>
            </a:r>
            <a:endParaRPr lang="zh-CN" altLang="en-US" sz="3200" dirty="0">
              <a:solidFill>
                <a:srgbClr val="FF3300"/>
              </a:solidFill>
              <a:latin typeface="Times New Roman" panose="02020603050405020304" pitchFamily="18" charset="0"/>
              <a:ea typeface="+mj-ea"/>
              <a:cs typeface="Times New Roman" panose="02020603050405020304" pitchFamily="18" charset="0"/>
            </a:endParaRPr>
          </a:p>
        </p:txBody>
      </p:sp>
      <p:sp>
        <p:nvSpPr>
          <p:cNvPr id="4" name="矩形 3"/>
          <p:cNvSpPr/>
          <p:nvPr/>
        </p:nvSpPr>
        <p:spPr>
          <a:xfrm>
            <a:off x="773051" y="4557197"/>
            <a:ext cx="7827920" cy="1574855"/>
          </a:xfrm>
          <a:prstGeom prst="rect">
            <a:avLst/>
          </a:prstGeom>
        </p:spPr>
        <p:txBody>
          <a:bodyPr wrap="square">
            <a:spAutoFit/>
          </a:bodyPr>
          <a:lstStyle/>
          <a:p>
            <a:pPr>
              <a:lnSpc>
                <a:spcPct val="120000"/>
              </a:lnSpc>
            </a:pPr>
            <a:r>
              <a:rPr lang="zh-CN" altLang="en-US" b="1" dirty="0">
                <a:solidFill>
                  <a:srgbClr val="C00000"/>
                </a:solidFill>
                <a:latin typeface="+mn-ea"/>
              </a:rPr>
              <a:t>分类：</a:t>
            </a:r>
            <a:r>
              <a:rPr lang="zh-CN" altLang="en-US" b="1" dirty="0">
                <a:latin typeface="+mn-ea"/>
              </a:rPr>
              <a:t>天然土坡和人工土坡</a:t>
            </a:r>
            <a:endParaRPr lang="en-US" altLang="zh-CN" b="1" dirty="0">
              <a:latin typeface="+mn-ea"/>
            </a:endParaRPr>
          </a:p>
          <a:p>
            <a:pPr>
              <a:lnSpc>
                <a:spcPct val="120000"/>
              </a:lnSpc>
            </a:pPr>
            <a:r>
              <a:rPr lang="zh-CN" altLang="en-US" b="1" dirty="0">
                <a:solidFill>
                  <a:srgbClr val="C00000"/>
                </a:solidFill>
                <a:latin typeface="+mn-ea"/>
              </a:rPr>
              <a:t>简单土坡：</a:t>
            </a:r>
            <a:r>
              <a:rPr lang="zh-CN" altLang="en-US" b="1" dirty="0">
                <a:latin typeface="+mn-ea"/>
              </a:rPr>
              <a:t>土坡的顶面和底面都是水平，并延伸至无穷远，且由均质土组成。</a:t>
            </a:r>
            <a:endParaRPr lang="zh-CN" altLang="en-US" b="1" dirty="0">
              <a:latin typeface="+mn-ea"/>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70500"/>
                                        </p:tgtEl>
                                        <p:attrNameLst>
                                          <p:attrName>style.visibility</p:attrName>
                                        </p:attrNameLst>
                                      </p:cBhvr>
                                      <p:to>
                                        <p:strVal val="visible"/>
                                      </p:to>
                                    </p:set>
                                    <p:animEffect transition="in" filter="wipe(left)">
                                      <p:cBhvr>
                                        <p:cTn id="7" dur="500"/>
                                        <p:tgtEl>
                                          <p:spTgt spid="27050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0-#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270528"/>
                                        </p:tgtEl>
                                        <p:attrNameLst>
                                          <p:attrName>style.visibility</p:attrName>
                                        </p:attrNameLst>
                                      </p:cBhvr>
                                      <p:to>
                                        <p:strVal val="visible"/>
                                      </p:to>
                                    </p:set>
                                    <p:animEffect transition="in" filter="dissolve">
                                      <p:cBhvr>
                                        <p:cTn id="18" dur="500"/>
                                        <p:tgtEl>
                                          <p:spTgt spid="270528"/>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270533"/>
                                        </p:tgtEl>
                                        <p:attrNameLst>
                                          <p:attrName>style.visibility</p:attrName>
                                        </p:attrNameLst>
                                      </p:cBhvr>
                                      <p:to>
                                        <p:strVal val="visible"/>
                                      </p:to>
                                    </p:set>
                                    <p:animEffect transition="in" filter="dissolve">
                                      <p:cBhvr>
                                        <p:cTn id="23" dur="500"/>
                                        <p:tgtEl>
                                          <p:spTgt spid="270533"/>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270537"/>
                                        </p:tgtEl>
                                        <p:attrNameLst>
                                          <p:attrName>style.visibility</p:attrName>
                                        </p:attrNameLst>
                                      </p:cBhvr>
                                      <p:to>
                                        <p:strVal val="visible"/>
                                      </p:to>
                                    </p:set>
                                    <p:animEffect transition="in" filter="dissolve">
                                      <p:cBhvr>
                                        <p:cTn id="28" dur="500"/>
                                        <p:tgtEl>
                                          <p:spTgt spid="270537"/>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270553"/>
                                        </p:tgtEl>
                                        <p:attrNameLst>
                                          <p:attrName>style.visibility</p:attrName>
                                        </p:attrNameLst>
                                      </p:cBhvr>
                                      <p:to>
                                        <p:strVal val="visible"/>
                                      </p:to>
                                    </p:set>
                                    <p:animEffect transition="in" filter="dissolve">
                                      <p:cBhvr>
                                        <p:cTn id="33" dur="500"/>
                                        <p:tgtEl>
                                          <p:spTgt spid="270553"/>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270535"/>
                                        </p:tgtEl>
                                        <p:attrNameLst>
                                          <p:attrName>style.visibility</p:attrName>
                                        </p:attrNameLst>
                                      </p:cBhvr>
                                      <p:to>
                                        <p:strVal val="visible"/>
                                      </p:to>
                                    </p:set>
                                    <p:animEffect transition="in" filter="dissolve">
                                      <p:cBhvr>
                                        <p:cTn id="38" dur="500"/>
                                        <p:tgtEl>
                                          <p:spTgt spid="270535"/>
                                        </p:tgtEl>
                                      </p:cBhvr>
                                    </p:animEffect>
                                  </p:childTnLst>
                                </p:cTn>
                              </p:par>
                            </p:childTnLst>
                          </p:cTn>
                        </p:par>
                        <p:par>
                          <p:cTn id="39" fill="hold">
                            <p:stCondLst>
                              <p:cond delay="500"/>
                            </p:stCondLst>
                            <p:childTnLst>
                              <p:par>
                                <p:cTn id="40" presetID="9" presetClass="entr" presetSubtype="0" fill="hold" grpId="0" nodeType="afterEffect">
                                  <p:stCondLst>
                                    <p:cond delay="0"/>
                                  </p:stCondLst>
                                  <p:childTnLst>
                                    <p:set>
                                      <p:cBhvr>
                                        <p:cTn id="41" dur="1" fill="hold">
                                          <p:stCondLst>
                                            <p:cond delay="0"/>
                                          </p:stCondLst>
                                        </p:cTn>
                                        <p:tgtEl>
                                          <p:spTgt spid="270536"/>
                                        </p:tgtEl>
                                        <p:attrNameLst>
                                          <p:attrName>style.visibility</p:attrName>
                                        </p:attrNameLst>
                                      </p:cBhvr>
                                      <p:to>
                                        <p:strVal val="visible"/>
                                      </p:to>
                                    </p:set>
                                    <p:animEffect transition="in" filter="dissolve">
                                      <p:cBhvr>
                                        <p:cTn id="42" dur="500"/>
                                        <p:tgtEl>
                                          <p:spTgt spid="270536"/>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270549"/>
                                        </p:tgtEl>
                                        <p:attrNameLst>
                                          <p:attrName>style.visibility</p:attrName>
                                        </p:attrNameLst>
                                      </p:cBhvr>
                                      <p:to>
                                        <p:strVal val="visible"/>
                                      </p:to>
                                    </p:set>
                                    <p:animEffect transition="in" filter="dissolve">
                                      <p:cBhvr>
                                        <p:cTn id="47" dur="500"/>
                                        <p:tgtEl>
                                          <p:spTgt spid="270549"/>
                                        </p:tgtEl>
                                      </p:cBhvr>
                                    </p:animEffect>
                                  </p:childTnLst>
                                </p:cTn>
                              </p:par>
                            </p:childTnLst>
                          </p:cTn>
                        </p:par>
                        <p:par>
                          <p:cTn id="48" fill="hold">
                            <p:stCondLst>
                              <p:cond delay="500"/>
                            </p:stCondLst>
                            <p:childTnLst>
                              <p:par>
                                <p:cTn id="49" presetID="16" presetClass="entr" presetSubtype="42" fill="hold" nodeType="afterEffect">
                                  <p:stCondLst>
                                    <p:cond delay="0"/>
                                  </p:stCondLst>
                                  <p:childTnLst>
                                    <p:set>
                                      <p:cBhvr>
                                        <p:cTn id="50" dur="1" fill="hold">
                                          <p:stCondLst>
                                            <p:cond delay="0"/>
                                          </p:stCondLst>
                                        </p:cTn>
                                        <p:tgtEl>
                                          <p:spTgt spid="270550"/>
                                        </p:tgtEl>
                                        <p:attrNameLst>
                                          <p:attrName>style.visibility</p:attrName>
                                        </p:attrNameLst>
                                      </p:cBhvr>
                                      <p:to>
                                        <p:strVal val="visible"/>
                                      </p:to>
                                    </p:set>
                                    <p:animEffect transition="in" filter="barn(outHorizontal)">
                                      <p:cBhvr>
                                        <p:cTn id="51" dur="500"/>
                                        <p:tgtEl>
                                          <p:spTgt spid="270550"/>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270551"/>
                                        </p:tgtEl>
                                        <p:attrNameLst>
                                          <p:attrName>style.visibility</p:attrName>
                                        </p:attrNameLst>
                                      </p:cBhvr>
                                      <p:to>
                                        <p:strVal val="visible"/>
                                      </p:to>
                                    </p:set>
                                    <p:animEffect transition="in" filter="dissolve">
                                      <p:cBhvr>
                                        <p:cTn id="56" dur="500"/>
                                        <p:tgtEl>
                                          <p:spTgt spid="270551"/>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70554"/>
                                        </p:tgtEl>
                                        <p:attrNameLst>
                                          <p:attrName>style.visibility</p:attrName>
                                        </p:attrNameLst>
                                      </p:cBhvr>
                                      <p:to>
                                        <p:strVal val="visible"/>
                                      </p:to>
                                    </p:set>
                                    <p:animEffect transition="in" filter="wipe(left)">
                                      <p:cBhvr>
                                        <p:cTn id="61" dur="500"/>
                                        <p:tgtEl>
                                          <p:spTgt spid="2705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500" grpId="0" autoUpdateAnimBg="0"/>
      <p:bldP spid="270528" grpId="0" autoUpdateAnimBg="0"/>
      <p:bldP spid="270533" grpId="0" autoUpdateAnimBg="0"/>
      <p:bldP spid="270536" grpId="0" autoUpdateAnimBg="0"/>
      <p:bldP spid="270537" grpId="0" autoUpdateAnimBg="0"/>
      <p:bldP spid="270551" grpId="0" autoUpdateAnimBg="0"/>
      <p:bldP spid="270553" grpId="0" autoUpdateAnimBg="0"/>
      <p:bldP spid="270554" grpId="0" bldLvl="0" animBg="1"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5"/>
          <p:cNvSpPr>
            <a:spLocks noChangeArrowheads="1"/>
          </p:cNvSpPr>
          <p:nvPr/>
        </p:nvSpPr>
        <p:spPr bwMode="auto">
          <a:xfrm>
            <a:off x="2807296" y="592460"/>
            <a:ext cx="6336704"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just" eaLnBrk="1" hangingPunct="1"/>
            <a:r>
              <a:rPr kumimoji="1" lang="zh-CN" altLang="en-US" sz="3200" dirty="0">
                <a:solidFill>
                  <a:schemeClr val="tx1"/>
                </a:solidFill>
                <a:latin typeface="隶书" panose="02010509060101010101" pitchFamily="49" charset="-122"/>
                <a:ea typeface="隶书" panose="02010509060101010101" pitchFamily="49" charset="-122"/>
              </a:rPr>
              <a:t>城市中的滑坡问题（香港，重庆）</a:t>
            </a:r>
            <a:endParaRPr kumimoji="1" lang="zh-CN" altLang="en-US" sz="3200" dirty="0">
              <a:solidFill>
                <a:schemeClr val="tx1"/>
              </a:solidFill>
              <a:latin typeface="隶书" panose="02010509060101010101" pitchFamily="49" charset="-122"/>
              <a:ea typeface="隶书" panose="02010509060101010101" pitchFamily="49" charset="-122"/>
            </a:endParaRPr>
          </a:p>
        </p:txBody>
      </p:sp>
      <p:grpSp>
        <p:nvGrpSpPr>
          <p:cNvPr id="9219" name="Group 6"/>
          <p:cNvGrpSpPr/>
          <p:nvPr/>
        </p:nvGrpSpPr>
        <p:grpSpPr bwMode="auto">
          <a:xfrm>
            <a:off x="3892748" y="1447801"/>
            <a:ext cx="4711700" cy="5194300"/>
            <a:chOff x="1440" y="576"/>
            <a:chExt cx="2968" cy="3272"/>
          </a:xfrm>
        </p:grpSpPr>
        <p:graphicFrame>
          <p:nvGraphicFramePr>
            <p:cNvPr id="9220" name="Object 7"/>
            <p:cNvGraphicFramePr>
              <a:graphicFrameLocks noChangeAspect="1"/>
            </p:cNvGraphicFramePr>
            <p:nvPr/>
          </p:nvGraphicFramePr>
          <p:xfrm>
            <a:off x="1440" y="576"/>
            <a:ext cx="2968" cy="3272"/>
          </p:xfrm>
          <a:graphic>
            <a:graphicData uri="http://schemas.openxmlformats.org/presentationml/2006/ole">
              <mc:AlternateContent xmlns:mc="http://schemas.openxmlformats.org/markup-compatibility/2006">
                <mc:Choice xmlns:v="urn:schemas-microsoft-com:vml" Requires="v">
                  <p:oleObj spid="_x0000_s1047" name="Drawing" r:id="rId1" imgW="6610350" imgH="5448300" progId="AutoCAD.Drawing.15">
                    <p:embed/>
                  </p:oleObj>
                </mc:Choice>
                <mc:Fallback>
                  <p:oleObj name="Drawing" r:id="rId1" imgW="6610350" imgH="5448300" progId="AutoCAD.Drawing.15">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l="13342" t="7335" r="24615" b="9714"/>
                        <a:stretch>
                          <a:fillRect/>
                        </a:stretch>
                      </p:blipFill>
                      <p:spPr bwMode="auto">
                        <a:xfrm>
                          <a:off x="1440" y="576"/>
                          <a:ext cx="2968" cy="3272"/>
                        </a:xfrm>
                        <a:prstGeom prst="rect">
                          <a:avLst/>
                        </a:prstGeom>
                        <a:noFill/>
                        <a:ln w="57150" cmpd="thinThick">
                          <a:solidFill>
                            <a:srgbClr val="0080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1" name="Text Box 8"/>
            <p:cNvSpPr txBox="1">
              <a:spLocks noChangeArrowheads="1"/>
            </p:cNvSpPr>
            <p:nvPr/>
          </p:nvSpPr>
          <p:spPr bwMode="auto">
            <a:xfrm>
              <a:off x="2160" y="2832"/>
              <a:ext cx="336"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lnSpc>
                  <a:spcPct val="80000"/>
                </a:lnSpc>
                <a:spcBef>
                  <a:spcPct val="0"/>
                </a:spcBef>
              </a:pPr>
              <a:r>
                <a:rPr kumimoji="1" lang="zh-CN" altLang="en-US" sz="2800">
                  <a:solidFill>
                    <a:schemeClr val="tx1"/>
                  </a:solidFill>
                  <a:latin typeface="Times New Roman" panose="02020603050405020304" pitchFamily="18" charset="0"/>
                  <a:ea typeface="华文新魏" panose="02010800040101010101" pitchFamily="2" charset="-122"/>
                </a:rPr>
                <a:t>填方</a:t>
              </a:r>
              <a:endParaRPr kumimoji="1" lang="zh-CN" altLang="en-US" sz="2800">
                <a:solidFill>
                  <a:schemeClr val="tx1"/>
                </a:solidFill>
                <a:latin typeface="Times New Roman" panose="02020603050405020304" pitchFamily="18" charset="0"/>
                <a:ea typeface="华文新魏" panose="02010800040101010101" pitchFamily="2" charset="-122"/>
              </a:endParaRPr>
            </a:p>
          </p:txBody>
        </p:sp>
        <p:sp>
          <p:nvSpPr>
            <p:cNvPr id="9222" name="Text Box 9"/>
            <p:cNvSpPr txBox="1">
              <a:spLocks noChangeArrowheads="1"/>
            </p:cNvSpPr>
            <p:nvPr/>
          </p:nvSpPr>
          <p:spPr bwMode="auto">
            <a:xfrm>
              <a:off x="3360" y="1546"/>
              <a:ext cx="336"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lnSpc>
                  <a:spcPct val="80000"/>
                </a:lnSpc>
                <a:spcBef>
                  <a:spcPct val="0"/>
                </a:spcBef>
              </a:pPr>
              <a:r>
                <a:rPr kumimoji="1" lang="zh-CN" altLang="en-US" sz="2800">
                  <a:solidFill>
                    <a:srgbClr val="0000CC"/>
                  </a:solidFill>
                  <a:latin typeface="Times New Roman" panose="02020603050405020304" pitchFamily="18" charset="0"/>
                  <a:ea typeface="华文新魏" panose="02010800040101010101" pitchFamily="2" charset="-122"/>
                </a:rPr>
                <a:t>挖方</a:t>
              </a:r>
              <a:endParaRPr kumimoji="1" lang="zh-CN" altLang="en-US" sz="2800">
                <a:solidFill>
                  <a:srgbClr val="0000CC"/>
                </a:solidFill>
                <a:latin typeface="Times New Roman" panose="02020603050405020304" pitchFamily="18" charset="0"/>
                <a:ea typeface="华文新魏" panose="02010800040101010101" pitchFamily="2" charset="-122"/>
              </a:endParaRPr>
            </a:p>
          </p:txBody>
        </p:sp>
      </p:grpSp>
      <p:sp>
        <p:nvSpPr>
          <p:cNvPr id="7" name="Text Box 4"/>
          <p:cNvSpPr txBox="1">
            <a:spLocks noChangeArrowheads="1"/>
          </p:cNvSpPr>
          <p:nvPr/>
        </p:nvSpPr>
        <p:spPr bwMode="auto">
          <a:xfrm>
            <a:off x="539552" y="2564904"/>
            <a:ext cx="3132348"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lnSpc>
                <a:spcPct val="150000"/>
              </a:lnSpc>
              <a:spcBef>
                <a:spcPct val="0"/>
              </a:spcBef>
            </a:pPr>
            <a:r>
              <a:rPr lang="zh-CN" altLang="en-US" sz="2800" b="1" dirty="0">
                <a:solidFill>
                  <a:srgbClr val="990033"/>
                </a:solidFill>
                <a:latin typeface="+mn-ea"/>
                <a:ea typeface="+mn-ea"/>
              </a:rPr>
              <a:t>滑坡</a:t>
            </a:r>
            <a:r>
              <a:rPr lang="zh-CN" altLang="en-US" sz="2800" b="1" dirty="0" smtClean="0">
                <a:solidFill>
                  <a:srgbClr val="990033"/>
                </a:solidFill>
                <a:latin typeface="+mn-ea"/>
                <a:ea typeface="+mn-ea"/>
              </a:rPr>
              <a:t>：</a:t>
            </a:r>
            <a:r>
              <a:rPr lang="zh-CN" altLang="en-US" sz="2800" b="1" dirty="0">
                <a:solidFill>
                  <a:srgbClr val="0000FF"/>
                </a:solidFill>
                <a:latin typeface="+mn-ea"/>
                <a:ea typeface="+mn-ea"/>
              </a:rPr>
              <a:t>一部分土体在外因作用下，相对于另一部分土体</a:t>
            </a:r>
            <a:r>
              <a:rPr lang="zh-CN" altLang="en-US" sz="2800" b="1" dirty="0" smtClean="0">
                <a:solidFill>
                  <a:srgbClr val="0000FF"/>
                </a:solidFill>
                <a:latin typeface="+mn-ea"/>
                <a:ea typeface="+mn-ea"/>
              </a:rPr>
              <a:t>滑动</a:t>
            </a:r>
            <a:endParaRPr lang="zh-CN" altLang="en-US" sz="2800" b="1" dirty="0">
              <a:solidFill>
                <a:srgbClr val="990033"/>
              </a:solidFill>
              <a:latin typeface="+mn-ea"/>
              <a:ea typeface="+mn-ea"/>
            </a:endParaRPr>
          </a:p>
        </p:txBody>
      </p:sp>
      <p:sp>
        <p:nvSpPr>
          <p:cNvPr id="8" name="Rectangle 6"/>
          <p:cNvSpPr>
            <a:spLocks noChangeArrowheads="1"/>
          </p:cNvSpPr>
          <p:nvPr/>
        </p:nvSpPr>
        <p:spPr bwMode="auto">
          <a:xfrm>
            <a:off x="1" y="2"/>
            <a:ext cx="2267744" cy="492125"/>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3200" dirty="0" smtClean="0">
                <a:solidFill>
                  <a:srgbClr val="FF3300"/>
                </a:solidFill>
                <a:latin typeface="Times New Roman" panose="02020603050405020304" pitchFamily="18" charset="0"/>
                <a:ea typeface="+mj-ea"/>
                <a:cs typeface="Times New Roman" panose="02020603050405020304" pitchFamily="18" charset="0"/>
              </a:rPr>
              <a:t>§6.1 </a:t>
            </a:r>
            <a:r>
              <a:rPr lang="zh-CN" altLang="en-US" sz="3200" dirty="0" smtClean="0">
                <a:solidFill>
                  <a:srgbClr val="FF3300"/>
                </a:solidFill>
                <a:latin typeface="Times New Roman" panose="02020603050405020304" pitchFamily="18" charset="0"/>
                <a:ea typeface="+mj-ea"/>
                <a:cs typeface="Times New Roman" panose="02020603050405020304" pitchFamily="18" charset="0"/>
              </a:rPr>
              <a:t>概述</a:t>
            </a:r>
            <a:endParaRPr lang="zh-CN" altLang="en-US" sz="3200"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7" descr="Z"/>
          <p:cNvSpPr>
            <a:spLocks noChangeAspect="1" noChangeArrowheads="1"/>
          </p:cNvSpPr>
          <p:nvPr/>
        </p:nvSpPr>
        <p:spPr bwMode="auto">
          <a:xfrm>
            <a:off x="3438525" y="2614613"/>
            <a:ext cx="2266950" cy="162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zh-CN" altLang="en-US"/>
          </a:p>
        </p:txBody>
      </p:sp>
      <p:sp>
        <p:nvSpPr>
          <p:cNvPr id="10243" name="AutoShape 9" descr="Z"/>
          <p:cNvSpPr>
            <a:spLocks noChangeAspect="1" noChangeArrowheads="1"/>
          </p:cNvSpPr>
          <p:nvPr/>
        </p:nvSpPr>
        <p:spPr bwMode="auto">
          <a:xfrm>
            <a:off x="3438525" y="2614613"/>
            <a:ext cx="2266950" cy="162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zh-CN" altLang="en-US"/>
          </a:p>
        </p:txBody>
      </p:sp>
      <p:pic>
        <p:nvPicPr>
          <p:cNvPr id="10244" name="Picture 11" descr="3A49133D6A1215D97CFBFBF286F5C28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0113" y="620713"/>
            <a:ext cx="7632700" cy="506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5" name="Rectangle 12"/>
          <p:cNvSpPr>
            <a:spLocks noChangeArrowheads="1"/>
          </p:cNvSpPr>
          <p:nvPr/>
        </p:nvSpPr>
        <p:spPr bwMode="auto">
          <a:xfrm>
            <a:off x="1691680" y="5805264"/>
            <a:ext cx="6294437" cy="64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a:r>
              <a:rPr lang="en-US" altLang="zh-CN" sz="1800" dirty="0">
                <a:latin typeface="隶书" panose="02010509060101010101" pitchFamily="49" charset="-122"/>
                <a:ea typeface="隶书" panose="02010509060101010101" pitchFamily="49" charset="-122"/>
              </a:rPr>
              <a:t>2008</a:t>
            </a:r>
            <a:r>
              <a:rPr lang="zh-CN" altLang="en-US" sz="1800" dirty="0">
                <a:latin typeface="隶书" panose="02010509060101010101" pitchFamily="49" charset="-122"/>
                <a:ea typeface="隶书" panose="02010509060101010101" pitchFamily="49" charset="-122"/>
              </a:rPr>
              <a:t>年</a:t>
            </a:r>
            <a:r>
              <a:rPr lang="en-US" altLang="zh-CN" sz="1800" dirty="0">
                <a:latin typeface="隶书" panose="02010509060101010101" pitchFamily="49" charset="-122"/>
                <a:ea typeface="隶书" panose="02010509060101010101" pitchFamily="49" charset="-122"/>
              </a:rPr>
              <a:t>5</a:t>
            </a:r>
            <a:r>
              <a:rPr lang="zh-CN" altLang="en-US" sz="1800" dirty="0">
                <a:latin typeface="隶书" panose="02010509060101010101" pitchFamily="49" charset="-122"/>
                <a:ea typeface="隶书" panose="02010509060101010101" pitchFamily="49" charset="-122"/>
              </a:rPr>
              <a:t>月</a:t>
            </a:r>
            <a:r>
              <a:rPr lang="en-US" altLang="zh-CN" sz="1800" dirty="0">
                <a:latin typeface="隶书" panose="02010509060101010101" pitchFamily="49" charset="-122"/>
                <a:ea typeface="隶书" panose="02010509060101010101" pitchFamily="49" charset="-122"/>
              </a:rPr>
              <a:t>14</a:t>
            </a:r>
            <a:r>
              <a:rPr lang="zh-CN" altLang="en-US" sz="1800" dirty="0">
                <a:latin typeface="隶书" panose="02010509060101010101" pitchFamily="49" charset="-122"/>
                <a:ea typeface="隶书" panose="02010509060101010101" pitchFamily="49" charset="-122"/>
              </a:rPr>
              <a:t>日 地震造成青川山体大面积滑坡 汶川地震造成青川县红光乡东河村山体大面积滑坡 </a:t>
            </a:r>
            <a:endParaRPr lang="zh-CN" altLang="en-US" sz="1800" dirty="0">
              <a:latin typeface="隶书" panose="02010509060101010101" pitchFamily="49" charset="-122"/>
              <a:ea typeface="隶书" panose="02010509060101010101" pitchFamily="49" charset="-122"/>
            </a:endParaRPr>
          </a:p>
        </p:txBody>
      </p:sp>
      <p:sp>
        <p:nvSpPr>
          <p:cNvPr id="6" name="Rectangle 6"/>
          <p:cNvSpPr>
            <a:spLocks noChangeArrowheads="1"/>
          </p:cNvSpPr>
          <p:nvPr/>
        </p:nvSpPr>
        <p:spPr bwMode="auto">
          <a:xfrm>
            <a:off x="1" y="2"/>
            <a:ext cx="2267744" cy="492125"/>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3200" dirty="0" smtClean="0">
                <a:solidFill>
                  <a:srgbClr val="FF3300"/>
                </a:solidFill>
                <a:latin typeface="Times New Roman" panose="02020603050405020304" pitchFamily="18" charset="0"/>
                <a:ea typeface="+mj-ea"/>
                <a:cs typeface="Times New Roman" panose="02020603050405020304" pitchFamily="18" charset="0"/>
              </a:rPr>
              <a:t>§6.1 </a:t>
            </a:r>
            <a:r>
              <a:rPr lang="zh-CN" altLang="en-US" sz="3200" dirty="0" smtClean="0">
                <a:solidFill>
                  <a:srgbClr val="FF3300"/>
                </a:solidFill>
                <a:latin typeface="Times New Roman" panose="02020603050405020304" pitchFamily="18" charset="0"/>
                <a:ea typeface="+mj-ea"/>
                <a:cs typeface="Times New Roman" panose="02020603050405020304" pitchFamily="18" charset="0"/>
              </a:rPr>
              <a:t>概述</a:t>
            </a:r>
            <a:endParaRPr lang="zh-CN" altLang="en-US" sz="3200"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53779" y="620688"/>
            <a:ext cx="4474840" cy="630907"/>
          </a:xfrm>
        </p:spPr>
        <p:txBody>
          <a:bodyPr/>
          <a:lstStyle/>
          <a:p>
            <a:r>
              <a:rPr lang="zh-CN" altLang="en-US" sz="3200" b="1" dirty="0"/>
              <a:t>土坡滑动失稳的</a:t>
            </a:r>
            <a:r>
              <a:rPr lang="zh-CN" altLang="en-US" sz="3200" b="1" dirty="0" smtClean="0"/>
              <a:t>原因</a:t>
            </a:r>
            <a:endParaRPr lang="zh-CN" altLang="en-US" sz="3200" dirty="0"/>
          </a:p>
        </p:txBody>
      </p:sp>
      <p:sp>
        <p:nvSpPr>
          <p:cNvPr id="3" name="内容占位符 2"/>
          <p:cNvSpPr>
            <a:spLocks noGrp="1"/>
          </p:cNvSpPr>
          <p:nvPr>
            <p:ph idx="1"/>
          </p:nvPr>
        </p:nvSpPr>
        <p:spPr>
          <a:xfrm>
            <a:off x="457200" y="1251594"/>
            <a:ext cx="8229600" cy="5345757"/>
          </a:xfrm>
        </p:spPr>
        <p:txBody>
          <a:bodyPr/>
          <a:lstStyle/>
          <a:p>
            <a:pPr marL="0" indent="0" eaLnBrk="1" hangingPunct="1">
              <a:lnSpc>
                <a:spcPct val="150000"/>
              </a:lnSpc>
              <a:buNone/>
              <a:defRPr/>
            </a:pPr>
            <a:r>
              <a:rPr lang="en-US" altLang="zh-CN" sz="2800" b="1" dirty="0">
                <a:solidFill>
                  <a:srgbClr val="C00000"/>
                </a:solidFill>
                <a:latin typeface="Times New Roman" panose="02020603050405020304" pitchFamily="18" charset="0"/>
                <a:cs typeface="Times New Roman" panose="02020603050405020304" pitchFamily="18" charset="0"/>
              </a:rPr>
              <a:t>(1)</a:t>
            </a:r>
            <a:r>
              <a:rPr lang="zh-CN" altLang="en-US" sz="2800" b="1" dirty="0">
                <a:solidFill>
                  <a:srgbClr val="C00000"/>
                </a:solidFill>
                <a:latin typeface="Times New Roman" panose="02020603050405020304" pitchFamily="18" charset="0"/>
                <a:cs typeface="Times New Roman" panose="02020603050405020304" pitchFamily="18" charset="0"/>
              </a:rPr>
              <a:t>外界力的作用破坏了土体内原来的应力平衡状态。</a:t>
            </a:r>
            <a:r>
              <a:rPr lang="zh-CN" altLang="en-US" sz="2400" b="1" dirty="0">
                <a:latin typeface="Times New Roman" panose="02020603050405020304" pitchFamily="18" charset="0"/>
                <a:cs typeface="Times New Roman" panose="02020603050405020304" pitchFamily="18" charset="0"/>
              </a:rPr>
              <a:t>如路堑或基坑的开挖，是因为土自身的重力发生变化，从而改变了土体原来的应力平衡状态；此外</a:t>
            </a:r>
            <a:r>
              <a:rPr lang="zh-CN" altLang="en-US" sz="2400" b="1" dirty="0" smtClean="0">
                <a:latin typeface="Times New Roman" panose="02020603050405020304" pitchFamily="18" charset="0"/>
                <a:cs typeface="Times New Roman" panose="02020603050405020304" pitchFamily="18" charset="0"/>
              </a:rPr>
              <a:t>，外荷载、渗流力</a:t>
            </a:r>
            <a:r>
              <a:rPr lang="zh-CN" altLang="en-US" sz="2400" b="1" dirty="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地震力等作用。</a:t>
            </a:r>
            <a:endParaRPr lang="zh-CN" altLang="en-US" sz="2400" b="1" dirty="0">
              <a:latin typeface="Times New Roman" panose="02020603050405020304" pitchFamily="18" charset="0"/>
              <a:cs typeface="Times New Roman" panose="02020603050405020304" pitchFamily="18" charset="0"/>
            </a:endParaRPr>
          </a:p>
          <a:p>
            <a:pPr marL="0" indent="0" eaLnBrk="1" hangingPunct="1">
              <a:lnSpc>
                <a:spcPct val="150000"/>
              </a:lnSpc>
              <a:buNone/>
              <a:defRPr/>
            </a:pPr>
            <a:r>
              <a:rPr lang="en-US" altLang="zh-CN" sz="2800" b="1" dirty="0">
                <a:solidFill>
                  <a:srgbClr val="C00000"/>
                </a:solidFill>
                <a:latin typeface="Times New Roman" panose="02020603050405020304" pitchFamily="18" charset="0"/>
                <a:cs typeface="Times New Roman" panose="02020603050405020304" pitchFamily="18" charset="0"/>
              </a:rPr>
              <a:t>(2)</a:t>
            </a:r>
            <a:r>
              <a:rPr lang="zh-CN" altLang="en-US" sz="2800" b="1" dirty="0">
                <a:solidFill>
                  <a:srgbClr val="C00000"/>
                </a:solidFill>
                <a:latin typeface="Times New Roman" panose="02020603050405020304" pitchFamily="18" charset="0"/>
                <a:cs typeface="Times New Roman" panose="02020603050405020304" pitchFamily="18" charset="0"/>
              </a:rPr>
              <a:t>土的抗剪强度由于受到外界各种因素的影响而降低，促使土坡失稳破坏</a:t>
            </a:r>
            <a:r>
              <a:rPr lang="zh-CN" altLang="en-US" sz="2800" b="1" dirty="0" smtClean="0">
                <a:solidFill>
                  <a:srgbClr val="C00000"/>
                </a:solidFill>
                <a:latin typeface="Times New Roman" panose="02020603050405020304" pitchFamily="18" charset="0"/>
                <a:cs typeface="Times New Roman" panose="02020603050405020304" pitchFamily="18" charset="0"/>
              </a:rPr>
              <a:t>。</a:t>
            </a:r>
            <a:endParaRPr lang="en-US" altLang="zh-CN" sz="2800" b="1" dirty="0" smtClean="0">
              <a:solidFill>
                <a:srgbClr val="C00000"/>
              </a:solidFill>
              <a:latin typeface="Times New Roman" panose="02020603050405020304" pitchFamily="18" charset="0"/>
              <a:cs typeface="Times New Roman" panose="02020603050405020304" pitchFamily="18" charset="0"/>
            </a:endParaRPr>
          </a:p>
          <a:p>
            <a:pPr marL="0" indent="0" eaLnBrk="1" hangingPunct="1">
              <a:lnSpc>
                <a:spcPct val="150000"/>
              </a:lnSpc>
              <a:buNone/>
              <a:defRPr/>
            </a:pPr>
            <a:r>
              <a:rPr lang="zh-CN" altLang="en-US" sz="2400" b="1" dirty="0" smtClean="0">
                <a:latin typeface="Times New Roman" panose="02020603050405020304" pitchFamily="18" charset="0"/>
                <a:cs typeface="Times New Roman" panose="02020603050405020304" pitchFamily="18" charset="0"/>
              </a:rPr>
              <a:t>如</a:t>
            </a:r>
            <a:r>
              <a:rPr lang="zh-CN" altLang="en-US" sz="2400" b="1" dirty="0">
                <a:latin typeface="Times New Roman" panose="02020603050405020304" pitchFamily="18" charset="0"/>
                <a:cs typeface="Times New Roman" panose="02020603050405020304" pitchFamily="18" charset="0"/>
              </a:rPr>
              <a:t>由于外界气候等自然条件的变化，使</a:t>
            </a:r>
            <a:r>
              <a:rPr lang="zh-CN" altLang="en-US" sz="2400" b="1" dirty="0" smtClean="0">
                <a:latin typeface="Times New Roman" panose="02020603050405020304" pitchFamily="18" charset="0"/>
                <a:cs typeface="Times New Roman" panose="02020603050405020304" pitchFamily="18" charset="0"/>
              </a:rPr>
              <a:t>土浸水、时干时</a:t>
            </a:r>
            <a:r>
              <a:rPr lang="zh-CN" altLang="en-US" sz="2400" b="1" dirty="0">
                <a:latin typeface="Times New Roman" panose="02020603050405020304" pitchFamily="18" charset="0"/>
                <a:cs typeface="Times New Roman" panose="02020603050405020304" pitchFamily="18" charset="0"/>
              </a:rPr>
              <a:t>湿、收缩膨胀、冻结、融化等，从而使土强度降低</a:t>
            </a:r>
            <a:r>
              <a:rPr lang="zh-CN" altLang="en-US" sz="2400" b="1" dirty="0" smtClean="0">
                <a:latin typeface="Times New Roman" panose="02020603050405020304" pitchFamily="18" charset="0"/>
                <a:cs typeface="Times New Roman" panose="02020603050405020304" pitchFamily="18" charset="0"/>
              </a:rPr>
              <a:t>；附近</a:t>
            </a:r>
            <a:r>
              <a:rPr lang="zh-CN" altLang="en-US" sz="2400" b="1" dirty="0">
                <a:latin typeface="Times New Roman" panose="02020603050405020304" pitchFamily="18" charset="0"/>
                <a:cs typeface="Times New Roman" panose="02020603050405020304" pitchFamily="18" charset="0"/>
              </a:rPr>
              <a:t>因</a:t>
            </a:r>
            <a:r>
              <a:rPr lang="zh-CN" altLang="en-US" sz="2400" b="1" dirty="0" smtClean="0">
                <a:latin typeface="Times New Roman" panose="02020603050405020304" pitchFamily="18" charset="0"/>
                <a:cs typeface="Times New Roman" panose="02020603050405020304" pitchFamily="18" charset="0"/>
              </a:rPr>
              <a:t>施工震动，引起土液化</a:t>
            </a:r>
            <a:r>
              <a:rPr lang="zh-CN" altLang="en-US" sz="2400" b="1" dirty="0">
                <a:latin typeface="Times New Roman" panose="02020603050405020304" pitchFamily="18" charset="0"/>
                <a:cs typeface="Times New Roman" panose="02020603050405020304" pitchFamily="18" charset="0"/>
              </a:rPr>
              <a:t>或触</a:t>
            </a:r>
            <a:r>
              <a:rPr lang="zh-CN" altLang="en-US" sz="2400" b="1" dirty="0" smtClean="0">
                <a:latin typeface="Times New Roman" panose="02020603050405020304" pitchFamily="18" charset="0"/>
                <a:cs typeface="Times New Roman" panose="02020603050405020304" pitchFamily="18" charset="0"/>
              </a:rPr>
              <a:t>变等。 </a:t>
            </a:r>
            <a:endParaRPr lang="zh-CN" altLang="en-US" sz="2400" b="1"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pPr>
              <a:defRPr/>
            </a:pPr>
            <a:fld id="{B93A7F3C-2558-4387-BD53-CADCA4D14A82}" type="slidenum">
              <a:rPr lang="zh-CN" altLang="en-US" smtClean="0"/>
            </a:fld>
            <a:endParaRPr lang="en-US" altLang="zh-CN"/>
          </a:p>
        </p:txBody>
      </p:sp>
      <p:sp>
        <p:nvSpPr>
          <p:cNvPr id="5" name="Rectangle 6"/>
          <p:cNvSpPr>
            <a:spLocks noChangeArrowheads="1"/>
          </p:cNvSpPr>
          <p:nvPr/>
        </p:nvSpPr>
        <p:spPr bwMode="auto">
          <a:xfrm>
            <a:off x="1" y="2"/>
            <a:ext cx="2267744" cy="492125"/>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3200" dirty="0" smtClean="0">
                <a:solidFill>
                  <a:srgbClr val="FF3300"/>
                </a:solidFill>
                <a:latin typeface="Times New Roman" panose="02020603050405020304" pitchFamily="18" charset="0"/>
                <a:ea typeface="+mj-ea"/>
                <a:cs typeface="Times New Roman" panose="02020603050405020304" pitchFamily="18" charset="0"/>
              </a:rPr>
              <a:t>§6.1 </a:t>
            </a:r>
            <a:r>
              <a:rPr lang="zh-CN" altLang="en-US" sz="3200" dirty="0" smtClean="0">
                <a:solidFill>
                  <a:srgbClr val="FF3300"/>
                </a:solidFill>
                <a:latin typeface="Times New Roman" panose="02020603050405020304" pitchFamily="18" charset="0"/>
                <a:ea typeface="+mj-ea"/>
                <a:cs typeface="Times New Roman" panose="02020603050405020304" pitchFamily="18" charset="0"/>
              </a:rPr>
              <a:t>概述</a:t>
            </a:r>
            <a:endParaRPr lang="zh-CN" altLang="en-US" sz="3200"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2819400" y="851899"/>
            <a:ext cx="280608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3200" b="1" dirty="0" smtClean="0">
                <a:solidFill>
                  <a:srgbClr val="990000"/>
                </a:solidFill>
                <a:latin typeface="Times New Roman" panose="02020603050405020304" pitchFamily="18" charset="0"/>
                <a:ea typeface="华文新魏" panose="02010800040101010101" pitchFamily="2" charset="-122"/>
              </a:rPr>
              <a:t>常见滑坡现象</a:t>
            </a:r>
            <a:endParaRPr lang="zh-CN" altLang="en-US" sz="3200" b="1" dirty="0">
              <a:solidFill>
                <a:srgbClr val="990000"/>
              </a:solidFill>
              <a:latin typeface="Times New Roman" panose="02020603050405020304" pitchFamily="18" charset="0"/>
              <a:ea typeface="华文新魏" panose="02010800040101010101" pitchFamily="2" charset="-122"/>
            </a:endParaRPr>
          </a:p>
        </p:txBody>
      </p:sp>
      <p:sp>
        <p:nvSpPr>
          <p:cNvPr id="735239" name="Rectangle 7"/>
          <p:cNvSpPr>
            <a:spLocks noChangeArrowheads="1"/>
          </p:cNvSpPr>
          <p:nvPr/>
        </p:nvSpPr>
        <p:spPr bwMode="auto">
          <a:xfrm>
            <a:off x="1119188" y="1752600"/>
            <a:ext cx="30940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a:solidFill>
                  <a:srgbClr val="0000FF"/>
                </a:solidFill>
                <a:latin typeface="Times New Roman" panose="02020603050405020304" pitchFamily="18" charset="0"/>
              </a:rPr>
              <a:t>1</a:t>
            </a:r>
            <a:r>
              <a:rPr kumimoji="1" lang="zh-CN" altLang="en-US" sz="2400" b="1">
                <a:solidFill>
                  <a:srgbClr val="0000FF"/>
                </a:solidFill>
                <a:latin typeface="Times New Roman" panose="02020603050405020304" pitchFamily="18" charset="0"/>
              </a:rPr>
              <a:t>）振动：地震、爆破</a:t>
            </a:r>
            <a:endParaRPr kumimoji="1" lang="zh-CN" altLang="en-US" sz="2400" b="1">
              <a:solidFill>
                <a:srgbClr val="0000FF"/>
              </a:solidFill>
              <a:latin typeface="Times New Roman" panose="02020603050405020304" pitchFamily="18" charset="0"/>
            </a:endParaRPr>
          </a:p>
        </p:txBody>
      </p:sp>
      <p:sp>
        <p:nvSpPr>
          <p:cNvPr id="735240" name="Rectangle 8"/>
          <p:cNvSpPr>
            <a:spLocks noChangeArrowheads="1"/>
          </p:cNvSpPr>
          <p:nvPr/>
        </p:nvSpPr>
        <p:spPr bwMode="auto">
          <a:xfrm>
            <a:off x="1130300" y="2438400"/>
            <a:ext cx="2787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kumimoji="1" lang="en-US" altLang="zh-CN" sz="2400" b="1">
                <a:solidFill>
                  <a:srgbClr val="0000FF"/>
                </a:solidFill>
                <a:latin typeface="Times New Roman" panose="02020603050405020304" pitchFamily="18" charset="0"/>
              </a:rPr>
              <a:t>2</a:t>
            </a:r>
            <a:r>
              <a:rPr kumimoji="1" lang="zh-CN" altLang="en-US" sz="2400" b="1">
                <a:solidFill>
                  <a:srgbClr val="0000FF"/>
                </a:solidFill>
                <a:latin typeface="Times New Roman" panose="02020603050405020304" pitchFamily="18" charset="0"/>
              </a:rPr>
              <a:t>）土中水位升、降</a:t>
            </a:r>
            <a:endParaRPr kumimoji="1" lang="zh-CN" altLang="en-US" sz="2400" b="1">
              <a:solidFill>
                <a:srgbClr val="0000FF"/>
              </a:solidFill>
              <a:latin typeface="Times New Roman" panose="02020603050405020304" pitchFamily="18" charset="0"/>
            </a:endParaRPr>
          </a:p>
        </p:txBody>
      </p:sp>
      <p:sp>
        <p:nvSpPr>
          <p:cNvPr id="735241" name="Rectangle 9"/>
          <p:cNvSpPr>
            <a:spLocks noChangeArrowheads="1"/>
          </p:cNvSpPr>
          <p:nvPr/>
        </p:nvSpPr>
        <p:spPr bwMode="auto">
          <a:xfrm>
            <a:off x="1135063" y="3886200"/>
            <a:ext cx="3706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kumimoji="1" lang="en-US" altLang="zh-CN" sz="2400" b="1">
                <a:solidFill>
                  <a:srgbClr val="0000FF"/>
                </a:solidFill>
                <a:latin typeface="Times New Roman" panose="02020603050405020304" pitchFamily="18" charset="0"/>
              </a:rPr>
              <a:t>4</a:t>
            </a:r>
            <a:r>
              <a:rPr kumimoji="1" lang="zh-CN" altLang="en-US" sz="2400" b="1">
                <a:solidFill>
                  <a:srgbClr val="0000FF"/>
                </a:solidFill>
                <a:latin typeface="Times New Roman" panose="02020603050405020304" pitchFamily="18" charset="0"/>
              </a:rPr>
              <a:t>）水流冲刷：使坡脚变陡</a:t>
            </a:r>
            <a:endParaRPr kumimoji="1" lang="zh-CN" altLang="en-US" sz="2400" b="1">
              <a:solidFill>
                <a:srgbClr val="0000FF"/>
              </a:solidFill>
              <a:latin typeface="Times New Roman" panose="02020603050405020304" pitchFamily="18" charset="0"/>
            </a:endParaRPr>
          </a:p>
        </p:txBody>
      </p:sp>
      <p:sp>
        <p:nvSpPr>
          <p:cNvPr id="735242" name="Rectangle 10"/>
          <p:cNvSpPr>
            <a:spLocks noChangeArrowheads="1"/>
          </p:cNvSpPr>
          <p:nvPr/>
        </p:nvSpPr>
        <p:spPr bwMode="auto">
          <a:xfrm>
            <a:off x="1131888" y="4572000"/>
            <a:ext cx="4932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kumimoji="1" lang="en-US" altLang="zh-CN" sz="2400" b="1">
                <a:solidFill>
                  <a:srgbClr val="0000FF"/>
                </a:solidFill>
                <a:latin typeface="Times New Roman" panose="02020603050405020304" pitchFamily="18" charset="0"/>
              </a:rPr>
              <a:t>5</a:t>
            </a:r>
            <a:r>
              <a:rPr kumimoji="1" lang="zh-CN" altLang="en-US" sz="2400" b="1">
                <a:solidFill>
                  <a:srgbClr val="0000FF"/>
                </a:solidFill>
                <a:latin typeface="Times New Roman" panose="02020603050405020304" pitchFamily="18" charset="0"/>
              </a:rPr>
              <a:t>）冻融：冻胀力及融化含水量升高</a:t>
            </a:r>
            <a:endParaRPr kumimoji="1" lang="zh-CN" altLang="en-US" sz="2400" b="1">
              <a:solidFill>
                <a:srgbClr val="0000FF"/>
              </a:solidFill>
              <a:latin typeface="Times New Roman" panose="02020603050405020304" pitchFamily="18" charset="0"/>
            </a:endParaRPr>
          </a:p>
        </p:txBody>
      </p:sp>
      <p:sp>
        <p:nvSpPr>
          <p:cNvPr id="735243" name="Rectangle 11"/>
          <p:cNvSpPr>
            <a:spLocks noChangeArrowheads="1"/>
          </p:cNvSpPr>
          <p:nvPr/>
        </p:nvSpPr>
        <p:spPr bwMode="auto">
          <a:xfrm>
            <a:off x="1143000" y="5257800"/>
            <a:ext cx="7683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a:solidFill>
                  <a:srgbClr val="0000FF"/>
                </a:solidFill>
                <a:latin typeface="Times New Roman" panose="02020603050405020304" pitchFamily="18" charset="0"/>
              </a:rPr>
              <a:t>6</a:t>
            </a:r>
            <a:r>
              <a:rPr kumimoji="1" lang="zh-CN" altLang="en-US" sz="2400" b="1">
                <a:solidFill>
                  <a:srgbClr val="0000FF"/>
                </a:solidFill>
                <a:latin typeface="Times New Roman" panose="02020603050405020304" pitchFamily="18" charset="0"/>
              </a:rPr>
              <a:t>）人工开挖：基坑、船闸、坝肩、隧洞出入口</a:t>
            </a:r>
            <a:endParaRPr kumimoji="1" lang="zh-CN" altLang="en-US" sz="2400" b="1">
              <a:solidFill>
                <a:srgbClr val="0000FF"/>
              </a:solidFill>
              <a:latin typeface="Times New Roman" panose="02020603050405020304" pitchFamily="18" charset="0"/>
            </a:endParaRPr>
          </a:p>
        </p:txBody>
      </p:sp>
      <p:sp>
        <p:nvSpPr>
          <p:cNvPr id="735244" name="Rectangle 12"/>
          <p:cNvSpPr>
            <a:spLocks noChangeArrowheads="1"/>
          </p:cNvSpPr>
          <p:nvPr/>
        </p:nvSpPr>
        <p:spPr bwMode="auto">
          <a:xfrm>
            <a:off x="1119188" y="3124200"/>
            <a:ext cx="3400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kumimoji="1" lang="en-US" altLang="zh-CN" sz="2400" b="1">
                <a:solidFill>
                  <a:srgbClr val="0000FF"/>
                </a:solidFill>
                <a:latin typeface="Times New Roman" panose="02020603050405020304" pitchFamily="18" charset="0"/>
              </a:rPr>
              <a:t>3</a:t>
            </a:r>
            <a:r>
              <a:rPr kumimoji="1" lang="zh-CN" altLang="en-US" sz="2400" b="1">
                <a:solidFill>
                  <a:srgbClr val="0000FF"/>
                </a:solidFill>
                <a:latin typeface="Times New Roman" panose="02020603050405020304" pitchFamily="18" charset="0"/>
              </a:rPr>
              <a:t>）降雨引起渗流、软化</a:t>
            </a:r>
            <a:endParaRPr kumimoji="1" lang="zh-CN" altLang="en-US" sz="2400" b="1">
              <a:solidFill>
                <a:srgbClr val="0000FF"/>
              </a:solidFill>
              <a:latin typeface="Times New Roman" panose="02020603050405020304" pitchFamily="18" charset="0"/>
            </a:endParaRPr>
          </a:p>
        </p:txBody>
      </p:sp>
      <p:sp>
        <p:nvSpPr>
          <p:cNvPr id="9" name="Rectangle 6"/>
          <p:cNvSpPr>
            <a:spLocks noChangeArrowheads="1"/>
          </p:cNvSpPr>
          <p:nvPr/>
        </p:nvSpPr>
        <p:spPr bwMode="auto">
          <a:xfrm>
            <a:off x="1" y="2"/>
            <a:ext cx="2267744" cy="492125"/>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3200" dirty="0" smtClean="0">
                <a:solidFill>
                  <a:srgbClr val="FF3300"/>
                </a:solidFill>
                <a:latin typeface="Times New Roman" panose="02020603050405020304" pitchFamily="18" charset="0"/>
                <a:ea typeface="+mj-ea"/>
                <a:cs typeface="Times New Roman" panose="02020603050405020304" pitchFamily="18" charset="0"/>
              </a:rPr>
              <a:t>§6.1 </a:t>
            </a:r>
            <a:r>
              <a:rPr lang="zh-CN" altLang="en-US" sz="3200" dirty="0" smtClean="0">
                <a:solidFill>
                  <a:srgbClr val="FF3300"/>
                </a:solidFill>
                <a:latin typeface="Times New Roman" panose="02020603050405020304" pitchFamily="18" charset="0"/>
                <a:ea typeface="+mj-ea"/>
                <a:cs typeface="Times New Roman" panose="02020603050405020304" pitchFamily="18" charset="0"/>
              </a:rPr>
              <a:t>概述</a:t>
            </a:r>
            <a:endParaRPr lang="zh-CN" altLang="en-US" sz="3200"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35239"/>
                                        </p:tgtEl>
                                        <p:attrNameLst>
                                          <p:attrName>style.visibility</p:attrName>
                                        </p:attrNameLst>
                                      </p:cBhvr>
                                      <p:to>
                                        <p:strVal val="visible"/>
                                      </p:to>
                                    </p:set>
                                    <p:anim calcmode="lin" valueType="num">
                                      <p:cBhvr additive="base">
                                        <p:cTn id="7" dur="500" fill="hold"/>
                                        <p:tgtEl>
                                          <p:spTgt spid="735239"/>
                                        </p:tgtEl>
                                        <p:attrNameLst>
                                          <p:attrName>ppt_x</p:attrName>
                                        </p:attrNameLst>
                                      </p:cBhvr>
                                      <p:tavLst>
                                        <p:tav tm="0">
                                          <p:val>
                                            <p:strVal val="0-#ppt_w/2"/>
                                          </p:val>
                                        </p:tav>
                                        <p:tav tm="100000">
                                          <p:val>
                                            <p:strVal val="#ppt_x"/>
                                          </p:val>
                                        </p:tav>
                                      </p:tavLst>
                                    </p:anim>
                                    <p:anim calcmode="lin" valueType="num">
                                      <p:cBhvr additive="base">
                                        <p:cTn id="8" dur="500" fill="hold"/>
                                        <p:tgtEl>
                                          <p:spTgt spid="73523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iterate type="lt">
                                    <p:tmPct val="100000"/>
                                  </p:iterate>
                                  <p:childTnLst>
                                    <p:set>
                                      <p:cBhvr>
                                        <p:cTn id="12" dur="1" fill="hold">
                                          <p:stCondLst>
                                            <p:cond delay="0"/>
                                          </p:stCondLst>
                                        </p:cTn>
                                        <p:tgtEl>
                                          <p:spTgt spid="735240">
                                            <p:txEl>
                                              <p:pRg st="0" end="0"/>
                                            </p:txEl>
                                          </p:spTgt>
                                        </p:tgtEl>
                                        <p:attrNameLst>
                                          <p:attrName>style.visibility</p:attrName>
                                        </p:attrNameLst>
                                      </p:cBhvr>
                                      <p:to>
                                        <p:strVal val="visible"/>
                                      </p:to>
                                    </p:set>
                                    <p:animEffect transition="in" filter="wipe(up)">
                                      <p:cBhvr>
                                        <p:cTn id="13" dur="75"/>
                                        <p:tgtEl>
                                          <p:spTgt spid="735240">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1" name="TYPE.WAV"/>
                                        </p:tgtEl>
                                      </p:cMediaNode>
                                    </p:audio>
                                  </p:subTnLst>
                                </p:cTn>
                              </p:par>
                            </p:childTnLst>
                          </p:cTn>
                        </p:par>
                      </p:childTnLst>
                    </p:cTn>
                  </p:par>
                  <p:par>
                    <p:cTn id="14" fill="hold">
                      <p:stCondLst>
                        <p:cond delay="indefinite"/>
                      </p:stCondLst>
                      <p:childTnLst>
                        <p:par>
                          <p:cTn id="15" fill="hold">
                            <p:stCondLst>
                              <p:cond delay="0"/>
                            </p:stCondLst>
                            <p:childTnLst>
                              <p:par>
                                <p:cTn id="16" presetID="16" presetClass="entr" presetSubtype="42" fill="hold" grpId="0" nodeType="clickEffect">
                                  <p:stCondLst>
                                    <p:cond delay="0"/>
                                  </p:stCondLst>
                                  <p:childTnLst>
                                    <p:set>
                                      <p:cBhvr>
                                        <p:cTn id="17" dur="1" fill="hold">
                                          <p:stCondLst>
                                            <p:cond delay="0"/>
                                          </p:stCondLst>
                                        </p:cTn>
                                        <p:tgtEl>
                                          <p:spTgt spid="735244"/>
                                        </p:tgtEl>
                                        <p:attrNameLst>
                                          <p:attrName>style.visibility</p:attrName>
                                        </p:attrNameLst>
                                      </p:cBhvr>
                                      <p:to>
                                        <p:strVal val="visible"/>
                                      </p:to>
                                    </p:set>
                                    <p:animEffect transition="in" filter="barn(outHorizontal)">
                                      <p:cBhvr>
                                        <p:cTn id="18" dur="500"/>
                                        <p:tgtEl>
                                          <p:spTgt spid="735244"/>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735241"/>
                                        </p:tgtEl>
                                        <p:attrNameLst>
                                          <p:attrName>style.visibility</p:attrName>
                                        </p:attrNameLst>
                                      </p:cBhvr>
                                      <p:to>
                                        <p:strVal val="visible"/>
                                      </p:to>
                                    </p:set>
                                    <p:anim calcmode="lin" valueType="num">
                                      <p:cBhvr additive="base">
                                        <p:cTn id="23" dur="500" fill="hold"/>
                                        <p:tgtEl>
                                          <p:spTgt spid="735241"/>
                                        </p:tgtEl>
                                        <p:attrNameLst>
                                          <p:attrName>ppt_x</p:attrName>
                                        </p:attrNameLst>
                                      </p:cBhvr>
                                      <p:tavLst>
                                        <p:tav tm="0">
                                          <p:val>
                                            <p:strVal val="0-#ppt_w/2"/>
                                          </p:val>
                                        </p:tav>
                                        <p:tav tm="100000">
                                          <p:val>
                                            <p:strVal val="#ppt_x"/>
                                          </p:val>
                                        </p:tav>
                                      </p:tavLst>
                                    </p:anim>
                                    <p:anim calcmode="lin" valueType="num">
                                      <p:cBhvr additive="base">
                                        <p:cTn id="24" dur="500" fill="hold"/>
                                        <p:tgtEl>
                                          <p:spTgt spid="735241"/>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735242"/>
                                        </p:tgtEl>
                                        <p:attrNameLst>
                                          <p:attrName>style.visibility</p:attrName>
                                        </p:attrNameLst>
                                      </p:cBhvr>
                                      <p:to>
                                        <p:strVal val="visible"/>
                                      </p:to>
                                    </p:set>
                                    <p:anim calcmode="lin" valueType="num">
                                      <p:cBhvr additive="base">
                                        <p:cTn id="29" dur="500" fill="hold"/>
                                        <p:tgtEl>
                                          <p:spTgt spid="735242"/>
                                        </p:tgtEl>
                                        <p:attrNameLst>
                                          <p:attrName>ppt_x</p:attrName>
                                        </p:attrNameLst>
                                      </p:cBhvr>
                                      <p:tavLst>
                                        <p:tav tm="0">
                                          <p:val>
                                            <p:strVal val="0-#ppt_w/2"/>
                                          </p:val>
                                        </p:tav>
                                        <p:tav tm="100000">
                                          <p:val>
                                            <p:strVal val="#ppt_x"/>
                                          </p:val>
                                        </p:tav>
                                      </p:tavLst>
                                    </p:anim>
                                    <p:anim calcmode="lin" valueType="num">
                                      <p:cBhvr additive="base">
                                        <p:cTn id="30" dur="500" fill="hold"/>
                                        <p:tgtEl>
                                          <p:spTgt spid="735242"/>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735243"/>
                                        </p:tgtEl>
                                        <p:attrNameLst>
                                          <p:attrName>style.visibility</p:attrName>
                                        </p:attrNameLst>
                                      </p:cBhvr>
                                      <p:to>
                                        <p:strVal val="visible"/>
                                      </p:to>
                                    </p:set>
                                    <p:anim calcmode="lin" valueType="num">
                                      <p:cBhvr additive="base">
                                        <p:cTn id="35" dur="500" fill="hold"/>
                                        <p:tgtEl>
                                          <p:spTgt spid="735243"/>
                                        </p:tgtEl>
                                        <p:attrNameLst>
                                          <p:attrName>ppt_x</p:attrName>
                                        </p:attrNameLst>
                                      </p:cBhvr>
                                      <p:tavLst>
                                        <p:tav tm="0">
                                          <p:val>
                                            <p:strVal val="0-#ppt_w/2"/>
                                          </p:val>
                                        </p:tav>
                                        <p:tav tm="100000">
                                          <p:val>
                                            <p:strVal val="#ppt_x"/>
                                          </p:val>
                                        </p:tav>
                                      </p:tavLst>
                                    </p:anim>
                                    <p:anim calcmode="lin" valueType="num">
                                      <p:cBhvr additive="base">
                                        <p:cTn id="36" dur="500" fill="hold"/>
                                        <p:tgtEl>
                                          <p:spTgt spid="7352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5239" grpId="0" autoUpdateAnimBg="0"/>
      <p:bldP spid="735240" grpId="0" autoUpdateAnimBg="0" build="p"/>
      <p:bldP spid="735241" grpId="0" autoUpdateAnimBg="0"/>
      <p:bldP spid="735242" grpId="0" autoUpdateAnimBg="0"/>
      <p:bldP spid="735243" grpId="0" autoUpdateAnimBg="0"/>
      <p:bldP spid="735244"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3505200" y="533400"/>
            <a:ext cx="274320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3200" b="1">
                <a:solidFill>
                  <a:srgbClr val="990000"/>
                </a:solidFill>
                <a:latin typeface="Times New Roman" panose="02020603050405020304" pitchFamily="18" charset="0"/>
                <a:ea typeface="华文新魏" panose="02010800040101010101" pitchFamily="2" charset="-122"/>
              </a:rPr>
              <a:t>滑坡形式</a:t>
            </a:r>
            <a:endParaRPr lang="zh-CN" altLang="en-US" sz="3200" b="1">
              <a:solidFill>
                <a:srgbClr val="990000"/>
              </a:solidFill>
              <a:latin typeface="Times New Roman" panose="02020603050405020304" pitchFamily="18" charset="0"/>
              <a:ea typeface="华文新魏" panose="02010800040101010101" pitchFamily="2" charset="-122"/>
            </a:endParaRPr>
          </a:p>
        </p:txBody>
      </p:sp>
      <p:graphicFrame>
        <p:nvGraphicFramePr>
          <p:cNvPr id="14339" name="Object 4"/>
          <p:cNvGraphicFramePr>
            <a:graphicFrameLocks noChangeAspect="1"/>
          </p:cNvGraphicFramePr>
          <p:nvPr/>
        </p:nvGraphicFramePr>
        <p:xfrm>
          <a:off x="609600" y="1143000"/>
          <a:ext cx="8077200" cy="5486400"/>
        </p:xfrm>
        <a:graphic>
          <a:graphicData uri="http://schemas.openxmlformats.org/presentationml/2006/ole">
            <mc:AlternateContent xmlns:mc="http://schemas.openxmlformats.org/markup-compatibility/2006">
              <mc:Choice xmlns:v="urn:schemas-microsoft-com:vml" Requires="v">
                <p:oleObj spid="_x0000_s2070" name="文档" r:id="rId1" imgW="5256530" imgH="3738880" progId="Word.Document.8">
                  <p:embed/>
                </p:oleObj>
              </mc:Choice>
              <mc:Fallback>
                <p:oleObj name="文档" r:id="rId1" imgW="5256530" imgH="3738880" progId="Word.Document.8">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b="6778"/>
                      <a:stretch>
                        <a:fillRect/>
                      </a:stretch>
                    </p:blipFill>
                    <p:spPr bwMode="auto">
                      <a:xfrm>
                        <a:off x="609600" y="1143000"/>
                        <a:ext cx="80772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41382" name="AutoShape 6"/>
          <p:cNvSpPr/>
          <p:nvPr/>
        </p:nvSpPr>
        <p:spPr bwMode="auto">
          <a:xfrm>
            <a:off x="5410200" y="3124200"/>
            <a:ext cx="990600" cy="436563"/>
          </a:xfrm>
          <a:prstGeom prst="borderCallout2">
            <a:avLst>
              <a:gd name="adj1" fmla="val 26181"/>
              <a:gd name="adj2" fmla="val -7694"/>
              <a:gd name="adj3" fmla="val 26181"/>
              <a:gd name="adj4" fmla="val -12819"/>
              <a:gd name="adj5" fmla="val 116366"/>
              <a:gd name="adj6" fmla="val -18269"/>
            </a:avLst>
          </a:prstGeom>
          <a:solidFill>
            <a:srgbClr val="66FF66"/>
          </a:solidFill>
          <a:ln w="9525">
            <a:solidFill>
              <a:schemeClr val="accent1"/>
            </a:solidFill>
            <a:miter lim="800000"/>
          </a:ln>
        </p:spPr>
        <p:txBody>
          <a:bodyPr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kumimoji="1" lang="zh-CN" altLang="en-US" sz="2200" b="1">
                <a:solidFill>
                  <a:srgbClr val="0000FF"/>
                </a:solidFill>
                <a:latin typeface="Times New Roman" panose="02020603050405020304" pitchFamily="18" charset="0"/>
                <a:ea typeface="仿宋_GB2312" pitchFamily="49" charset="-122"/>
              </a:rPr>
              <a:t>平移</a:t>
            </a:r>
            <a:endParaRPr kumimoji="1" lang="zh-CN" altLang="en-US" sz="2200" b="1">
              <a:solidFill>
                <a:srgbClr val="0000FF"/>
              </a:solidFill>
              <a:latin typeface="Times New Roman" panose="02020603050405020304" pitchFamily="18" charset="0"/>
              <a:ea typeface="仿宋_GB2312" pitchFamily="49" charset="-122"/>
            </a:endParaRPr>
          </a:p>
        </p:txBody>
      </p:sp>
      <p:sp>
        <p:nvSpPr>
          <p:cNvPr id="741383" name="AutoShape 7"/>
          <p:cNvSpPr/>
          <p:nvPr/>
        </p:nvSpPr>
        <p:spPr bwMode="auto">
          <a:xfrm>
            <a:off x="2209800" y="3124200"/>
            <a:ext cx="892175" cy="436563"/>
          </a:xfrm>
          <a:prstGeom prst="borderCallout2">
            <a:avLst>
              <a:gd name="adj1" fmla="val 26181"/>
              <a:gd name="adj2" fmla="val 108542"/>
              <a:gd name="adj3" fmla="val 26181"/>
              <a:gd name="adj4" fmla="val 155514"/>
              <a:gd name="adj5" fmla="val 21454"/>
              <a:gd name="adj6" fmla="val 202491"/>
            </a:avLst>
          </a:prstGeom>
          <a:solidFill>
            <a:srgbClr val="66FF66"/>
          </a:solidFill>
          <a:ln w="9525">
            <a:solidFill>
              <a:schemeClr val="accent1"/>
            </a:solidFill>
            <a:miter lim="800000"/>
          </a:ln>
        </p:spPr>
        <p:txBody>
          <a:bodyPr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kumimoji="1" lang="zh-CN" altLang="en-US" sz="2200" b="1">
                <a:solidFill>
                  <a:srgbClr val="0000FF"/>
                </a:solidFill>
                <a:latin typeface="Times New Roman" panose="02020603050405020304" pitchFamily="18" charset="0"/>
                <a:ea typeface="仿宋_GB2312" pitchFamily="49" charset="-122"/>
              </a:rPr>
              <a:t>崩塌</a:t>
            </a:r>
            <a:endParaRPr kumimoji="1" lang="zh-CN" altLang="en-US" sz="2200" b="1">
              <a:solidFill>
                <a:srgbClr val="0000FF"/>
              </a:solidFill>
              <a:latin typeface="Times New Roman" panose="02020603050405020304" pitchFamily="18" charset="0"/>
              <a:ea typeface="仿宋_GB2312" pitchFamily="49" charset="-122"/>
            </a:endParaRPr>
          </a:p>
        </p:txBody>
      </p:sp>
      <p:sp>
        <p:nvSpPr>
          <p:cNvPr id="741384" name="AutoShape 8"/>
          <p:cNvSpPr/>
          <p:nvPr/>
        </p:nvSpPr>
        <p:spPr bwMode="auto">
          <a:xfrm>
            <a:off x="1371600" y="4572000"/>
            <a:ext cx="838200" cy="436563"/>
          </a:xfrm>
          <a:prstGeom prst="borderCallout2">
            <a:avLst>
              <a:gd name="adj1" fmla="val 26181"/>
              <a:gd name="adj2" fmla="val 109093"/>
              <a:gd name="adj3" fmla="val 26181"/>
              <a:gd name="adj4" fmla="val 147347"/>
              <a:gd name="adj5" fmla="val -56366"/>
              <a:gd name="adj6" fmla="val 186741"/>
            </a:avLst>
          </a:prstGeom>
          <a:solidFill>
            <a:srgbClr val="66FF66"/>
          </a:solidFill>
          <a:ln w="9525">
            <a:solidFill>
              <a:schemeClr val="accent1"/>
            </a:solidFill>
            <a:miter lim="800000"/>
          </a:ln>
        </p:spPr>
        <p:txBody>
          <a:bodyPr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kumimoji="1" lang="zh-CN" altLang="en-US" sz="2200" b="1">
                <a:solidFill>
                  <a:srgbClr val="0000FF"/>
                </a:solidFill>
                <a:latin typeface="Times New Roman" panose="02020603050405020304" pitchFamily="18" charset="0"/>
                <a:ea typeface="仿宋_GB2312" pitchFamily="49" charset="-122"/>
              </a:rPr>
              <a:t>转动</a:t>
            </a:r>
            <a:endParaRPr kumimoji="1" lang="zh-CN" altLang="en-US" sz="2200" b="1">
              <a:solidFill>
                <a:srgbClr val="0000FF"/>
              </a:solidFill>
              <a:latin typeface="Times New Roman" panose="02020603050405020304" pitchFamily="18" charset="0"/>
              <a:ea typeface="仿宋_GB2312" pitchFamily="49" charset="-122"/>
            </a:endParaRPr>
          </a:p>
        </p:txBody>
      </p:sp>
      <p:sp>
        <p:nvSpPr>
          <p:cNvPr id="741385" name="AutoShape 9"/>
          <p:cNvSpPr/>
          <p:nvPr/>
        </p:nvSpPr>
        <p:spPr bwMode="auto">
          <a:xfrm>
            <a:off x="5257800" y="4648200"/>
            <a:ext cx="1108075" cy="436563"/>
          </a:xfrm>
          <a:prstGeom prst="borderCallout2">
            <a:avLst>
              <a:gd name="adj1" fmla="val 26181"/>
              <a:gd name="adj2" fmla="val -6875"/>
              <a:gd name="adj3" fmla="val 26181"/>
              <a:gd name="adj4" fmla="val -7449"/>
              <a:gd name="adj5" fmla="val -100366"/>
              <a:gd name="adj6" fmla="val -8023"/>
            </a:avLst>
          </a:prstGeom>
          <a:solidFill>
            <a:srgbClr val="66FF66"/>
          </a:solidFill>
          <a:ln w="9525">
            <a:solidFill>
              <a:schemeClr val="accent1"/>
            </a:solidFill>
            <a:miter lim="800000"/>
          </a:ln>
        </p:spPr>
        <p:txBody>
          <a:bodyPr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kumimoji="1" lang="zh-CN" altLang="en-US" sz="2200" b="1">
                <a:solidFill>
                  <a:srgbClr val="0000FF"/>
                </a:solidFill>
                <a:latin typeface="Times New Roman" panose="02020603050405020304" pitchFamily="18" charset="0"/>
                <a:ea typeface="仿宋_GB2312" pitchFamily="49" charset="-122"/>
              </a:rPr>
              <a:t>流滑</a:t>
            </a:r>
            <a:endParaRPr kumimoji="1" lang="zh-CN" altLang="en-US" sz="2200" b="1">
              <a:solidFill>
                <a:srgbClr val="0000FF"/>
              </a:solidFill>
              <a:latin typeface="Times New Roman" panose="02020603050405020304" pitchFamily="18" charset="0"/>
              <a:ea typeface="仿宋_GB2312" pitchFamily="49" charset="-122"/>
            </a:endParaRPr>
          </a:p>
        </p:txBody>
      </p:sp>
      <p:sp>
        <p:nvSpPr>
          <p:cNvPr id="8" name="Rectangle 6"/>
          <p:cNvSpPr>
            <a:spLocks noChangeArrowheads="1"/>
          </p:cNvSpPr>
          <p:nvPr/>
        </p:nvSpPr>
        <p:spPr bwMode="auto">
          <a:xfrm>
            <a:off x="1" y="2"/>
            <a:ext cx="2267744" cy="492125"/>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3200" dirty="0" smtClean="0">
                <a:solidFill>
                  <a:srgbClr val="FF3300"/>
                </a:solidFill>
                <a:latin typeface="Times New Roman" panose="02020603050405020304" pitchFamily="18" charset="0"/>
                <a:ea typeface="+mj-ea"/>
                <a:cs typeface="Times New Roman" panose="02020603050405020304" pitchFamily="18" charset="0"/>
              </a:rPr>
              <a:t>§6.1 </a:t>
            </a:r>
            <a:r>
              <a:rPr lang="zh-CN" altLang="en-US" sz="3200" dirty="0" smtClean="0">
                <a:solidFill>
                  <a:srgbClr val="FF3300"/>
                </a:solidFill>
                <a:latin typeface="Times New Roman" panose="02020603050405020304" pitchFamily="18" charset="0"/>
                <a:ea typeface="+mj-ea"/>
                <a:cs typeface="Times New Roman" panose="02020603050405020304" pitchFamily="18" charset="0"/>
              </a:rPr>
              <a:t>概述</a:t>
            </a:r>
            <a:endParaRPr lang="zh-CN" altLang="en-US" sz="3200"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741383"/>
                                        </p:tgtEl>
                                        <p:attrNameLst>
                                          <p:attrName>style.visibility</p:attrName>
                                        </p:attrNameLst>
                                      </p:cBhvr>
                                      <p:to>
                                        <p:strVal val="visible"/>
                                      </p:to>
                                    </p:set>
                                    <p:anim calcmode="lin" valueType="num">
                                      <p:cBhvr>
                                        <p:cTn id="7" dur="500" fill="hold"/>
                                        <p:tgtEl>
                                          <p:spTgt spid="741383"/>
                                        </p:tgtEl>
                                        <p:attrNameLst>
                                          <p:attrName>ppt_x</p:attrName>
                                        </p:attrNameLst>
                                      </p:cBhvr>
                                      <p:tavLst>
                                        <p:tav tm="0">
                                          <p:val>
                                            <p:strVal val="#ppt_x"/>
                                          </p:val>
                                        </p:tav>
                                        <p:tav tm="100000">
                                          <p:val>
                                            <p:strVal val="#ppt_x"/>
                                          </p:val>
                                        </p:tav>
                                      </p:tavLst>
                                    </p:anim>
                                    <p:anim calcmode="lin" valueType="num">
                                      <p:cBhvr>
                                        <p:cTn id="8" dur="500" fill="hold"/>
                                        <p:tgtEl>
                                          <p:spTgt spid="741383"/>
                                        </p:tgtEl>
                                        <p:attrNameLst>
                                          <p:attrName>ppt_y</p:attrName>
                                        </p:attrNameLst>
                                      </p:cBhvr>
                                      <p:tavLst>
                                        <p:tav tm="0">
                                          <p:val>
                                            <p:strVal val="#ppt_y-#ppt_h/2"/>
                                          </p:val>
                                        </p:tav>
                                        <p:tav tm="100000">
                                          <p:val>
                                            <p:strVal val="#ppt_y"/>
                                          </p:val>
                                        </p:tav>
                                      </p:tavLst>
                                    </p:anim>
                                    <p:anim calcmode="lin" valueType="num">
                                      <p:cBhvr>
                                        <p:cTn id="9" dur="500" fill="hold"/>
                                        <p:tgtEl>
                                          <p:spTgt spid="741383"/>
                                        </p:tgtEl>
                                        <p:attrNameLst>
                                          <p:attrName>ppt_w</p:attrName>
                                        </p:attrNameLst>
                                      </p:cBhvr>
                                      <p:tavLst>
                                        <p:tav tm="0">
                                          <p:val>
                                            <p:strVal val="#ppt_w"/>
                                          </p:val>
                                        </p:tav>
                                        <p:tav tm="100000">
                                          <p:val>
                                            <p:strVal val="#ppt_w"/>
                                          </p:val>
                                        </p:tav>
                                      </p:tavLst>
                                    </p:anim>
                                    <p:anim calcmode="lin" valueType="num">
                                      <p:cBhvr>
                                        <p:cTn id="10" dur="500" fill="hold"/>
                                        <p:tgtEl>
                                          <p:spTgt spid="741383"/>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1" fill="hold" grpId="0" nodeType="clickEffect">
                                  <p:stCondLst>
                                    <p:cond delay="0"/>
                                  </p:stCondLst>
                                  <p:childTnLst>
                                    <p:set>
                                      <p:cBhvr>
                                        <p:cTn id="14" dur="1" fill="hold">
                                          <p:stCondLst>
                                            <p:cond delay="0"/>
                                          </p:stCondLst>
                                        </p:cTn>
                                        <p:tgtEl>
                                          <p:spTgt spid="741382"/>
                                        </p:tgtEl>
                                        <p:attrNameLst>
                                          <p:attrName>style.visibility</p:attrName>
                                        </p:attrNameLst>
                                      </p:cBhvr>
                                      <p:to>
                                        <p:strVal val="visible"/>
                                      </p:to>
                                    </p:set>
                                    <p:anim calcmode="lin" valueType="num">
                                      <p:cBhvr>
                                        <p:cTn id="15" dur="500" fill="hold"/>
                                        <p:tgtEl>
                                          <p:spTgt spid="741382"/>
                                        </p:tgtEl>
                                        <p:attrNameLst>
                                          <p:attrName>ppt_x</p:attrName>
                                        </p:attrNameLst>
                                      </p:cBhvr>
                                      <p:tavLst>
                                        <p:tav tm="0">
                                          <p:val>
                                            <p:strVal val="#ppt_x"/>
                                          </p:val>
                                        </p:tav>
                                        <p:tav tm="100000">
                                          <p:val>
                                            <p:strVal val="#ppt_x"/>
                                          </p:val>
                                        </p:tav>
                                      </p:tavLst>
                                    </p:anim>
                                    <p:anim calcmode="lin" valueType="num">
                                      <p:cBhvr>
                                        <p:cTn id="16" dur="500" fill="hold"/>
                                        <p:tgtEl>
                                          <p:spTgt spid="741382"/>
                                        </p:tgtEl>
                                        <p:attrNameLst>
                                          <p:attrName>ppt_y</p:attrName>
                                        </p:attrNameLst>
                                      </p:cBhvr>
                                      <p:tavLst>
                                        <p:tav tm="0">
                                          <p:val>
                                            <p:strVal val="#ppt_y-#ppt_h/2"/>
                                          </p:val>
                                        </p:tav>
                                        <p:tav tm="100000">
                                          <p:val>
                                            <p:strVal val="#ppt_y"/>
                                          </p:val>
                                        </p:tav>
                                      </p:tavLst>
                                    </p:anim>
                                    <p:anim calcmode="lin" valueType="num">
                                      <p:cBhvr>
                                        <p:cTn id="17" dur="500" fill="hold"/>
                                        <p:tgtEl>
                                          <p:spTgt spid="741382"/>
                                        </p:tgtEl>
                                        <p:attrNameLst>
                                          <p:attrName>ppt_w</p:attrName>
                                        </p:attrNameLst>
                                      </p:cBhvr>
                                      <p:tavLst>
                                        <p:tav tm="0">
                                          <p:val>
                                            <p:strVal val="#ppt_w"/>
                                          </p:val>
                                        </p:tav>
                                        <p:tav tm="100000">
                                          <p:val>
                                            <p:strVal val="#ppt_w"/>
                                          </p:val>
                                        </p:tav>
                                      </p:tavLst>
                                    </p:anim>
                                    <p:anim calcmode="lin" valueType="num">
                                      <p:cBhvr>
                                        <p:cTn id="18" dur="500" fill="hold"/>
                                        <p:tgtEl>
                                          <p:spTgt spid="741382"/>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1" fill="hold" grpId="0" nodeType="clickEffect">
                                  <p:stCondLst>
                                    <p:cond delay="0"/>
                                  </p:stCondLst>
                                  <p:childTnLst>
                                    <p:set>
                                      <p:cBhvr>
                                        <p:cTn id="22" dur="1" fill="hold">
                                          <p:stCondLst>
                                            <p:cond delay="0"/>
                                          </p:stCondLst>
                                        </p:cTn>
                                        <p:tgtEl>
                                          <p:spTgt spid="741384"/>
                                        </p:tgtEl>
                                        <p:attrNameLst>
                                          <p:attrName>style.visibility</p:attrName>
                                        </p:attrNameLst>
                                      </p:cBhvr>
                                      <p:to>
                                        <p:strVal val="visible"/>
                                      </p:to>
                                    </p:set>
                                    <p:anim calcmode="lin" valueType="num">
                                      <p:cBhvr>
                                        <p:cTn id="23" dur="500" fill="hold"/>
                                        <p:tgtEl>
                                          <p:spTgt spid="741384"/>
                                        </p:tgtEl>
                                        <p:attrNameLst>
                                          <p:attrName>ppt_x</p:attrName>
                                        </p:attrNameLst>
                                      </p:cBhvr>
                                      <p:tavLst>
                                        <p:tav tm="0">
                                          <p:val>
                                            <p:strVal val="#ppt_x"/>
                                          </p:val>
                                        </p:tav>
                                        <p:tav tm="100000">
                                          <p:val>
                                            <p:strVal val="#ppt_x"/>
                                          </p:val>
                                        </p:tav>
                                      </p:tavLst>
                                    </p:anim>
                                    <p:anim calcmode="lin" valueType="num">
                                      <p:cBhvr>
                                        <p:cTn id="24" dur="500" fill="hold"/>
                                        <p:tgtEl>
                                          <p:spTgt spid="741384"/>
                                        </p:tgtEl>
                                        <p:attrNameLst>
                                          <p:attrName>ppt_y</p:attrName>
                                        </p:attrNameLst>
                                      </p:cBhvr>
                                      <p:tavLst>
                                        <p:tav tm="0">
                                          <p:val>
                                            <p:strVal val="#ppt_y-#ppt_h/2"/>
                                          </p:val>
                                        </p:tav>
                                        <p:tav tm="100000">
                                          <p:val>
                                            <p:strVal val="#ppt_y"/>
                                          </p:val>
                                        </p:tav>
                                      </p:tavLst>
                                    </p:anim>
                                    <p:anim calcmode="lin" valueType="num">
                                      <p:cBhvr>
                                        <p:cTn id="25" dur="500" fill="hold"/>
                                        <p:tgtEl>
                                          <p:spTgt spid="741384"/>
                                        </p:tgtEl>
                                        <p:attrNameLst>
                                          <p:attrName>ppt_w</p:attrName>
                                        </p:attrNameLst>
                                      </p:cBhvr>
                                      <p:tavLst>
                                        <p:tav tm="0">
                                          <p:val>
                                            <p:strVal val="#ppt_w"/>
                                          </p:val>
                                        </p:tav>
                                        <p:tav tm="100000">
                                          <p:val>
                                            <p:strVal val="#ppt_w"/>
                                          </p:val>
                                        </p:tav>
                                      </p:tavLst>
                                    </p:anim>
                                    <p:anim calcmode="lin" valueType="num">
                                      <p:cBhvr>
                                        <p:cTn id="26" dur="500" fill="hold"/>
                                        <p:tgtEl>
                                          <p:spTgt spid="741384"/>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1" fill="hold" grpId="0" nodeType="clickEffect">
                                  <p:stCondLst>
                                    <p:cond delay="0"/>
                                  </p:stCondLst>
                                  <p:childTnLst>
                                    <p:set>
                                      <p:cBhvr>
                                        <p:cTn id="30" dur="1" fill="hold">
                                          <p:stCondLst>
                                            <p:cond delay="0"/>
                                          </p:stCondLst>
                                        </p:cTn>
                                        <p:tgtEl>
                                          <p:spTgt spid="741385"/>
                                        </p:tgtEl>
                                        <p:attrNameLst>
                                          <p:attrName>style.visibility</p:attrName>
                                        </p:attrNameLst>
                                      </p:cBhvr>
                                      <p:to>
                                        <p:strVal val="visible"/>
                                      </p:to>
                                    </p:set>
                                    <p:anim calcmode="lin" valueType="num">
                                      <p:cBhvr>
                                        <p:cTn id="31" dur="500" fill="hold"/>
                                        <p:tgtEl>
                                          <p:spTgt spid="741385"/>
                                        </p:tgtEl>
                                        <p:attrNameLst>
                                          <p:attrName>ppt_x</p:attrName>
                                        </p:attrNameLst>
                                      </p:cBhvr>
                                      <p:tavLst>
                                        <p:tav tm="0">
                                          <p:val>
                                            <p:strVal val="#ppt_x"/>
                                          </p:val>
                                        </p:tav>
                                        <p:tav tm="100000">
                                          <p:val>
                                            <p:strVal val="#ppt_x"/>
                                          </p:val>
                                        </p:tav>
                                      </p:tavLst>
                                    </p:anim>
                                    <p:anim calcmode="lin" valueType="num">
                                      <p:cBhvr>
                                        <p:cTn id="32" dur="500" fill="hold"/>
                                        <p:tgtEl>
                                          <p:spTgt spid="741385"/>
                                        </p:tgtEl>
                                        <p:attrNameLst>
                                          <p:attrName>ppt_y</p:attrName>
                                        </p:attrNameLst>
                                      </p:cBhvr>
                                      <p:tavLst>
                                        <p:tav tm="0">
                                          <p:val>
                                            <p:strVal val="#ppt_y-#ppt_h/2"/>
                                          </p:val>
                                        </p:tav>
                                        <p:tav tm="100000">
                                          <p:val>
                                            <p:strVal val="#ppt_y"/>
                                          </p:val>
                                        </p:tav>
                                      </p:tavLst>
                                    </p:anim>
                                    <p:anim calcmode="lin" valueType="num">
                                      <p:cBhvr>
                                        <p:cTn id="33" dur="500" fill="hold"/>
                                        <p:tgtEl>
                                          <p:spTgt spid="741385"/>
                                        </p:tgtEl>
                                        <p:attrNameLst>
                                          <p:attrName>ppt_w</p:attrName>
                                        </p:attrNameLst>
                                      </p:cBhvr>
                                      <p:tavLst>
                                        <p:tav tm="0">
                                          <p:val>
                                            <p:strVal val="#ppt_w"/>
                                          </p:val>
                                        </p:tav>
                                        <p:tav tm="100000">
                                          <p:val>
                                            <p:strVal val="#ppt_w"/>
                                          </p:val>
                                        </p:tav>
                                      </p:tavLst>
                                    </p:anim>
                                    <p:anim calcmode="lin" valueType="num">
                                      <p:cBhvr>
                                        <p:cTn id="34" dur="500" fill="hold"/>
                                        <p:tgtEl>
                                          <p:spTgt spid="74138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1382" grpId="0" bldLvl="0" animBg="1" autoUpdateAnimBg="0"/>
      <p:bldP spid="741383" grpId="0" bldLvl="0" animBg="1" autoUpdateAnimBg="0"/>
      <p:bldP spid="741384" grpId="0" bldLvl="0" animBg="1" autoUpdateAnimBg="0"/>
      <p:bldP spid="741385" grpId="0" bldLvl="0" animBg="1"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3492500" y="260350"/>
            <a:ext cx="274320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3200" b="1" dirty="0" smtClean="0">
                <a:solidFill>
                  <a:srgbClr val="990000"/>
                </a:solidFill>
                <a:latin typeface="Times New Roman" panose="02020603050405020304" pitchFamily="18" charset="0"/>
                <a:ea typeface="华文新魏" panose="02010800040101010101" pitchFamily="2" charset="-122"/>
              </a:rPr>
              <a:t>滑坡要素</a:t>
            </a:r>
            <a:endParaRPr lang="zh-CN" altLang="en-US" sz="3200" b="1" dirty="0">
              <a:solidFill>
                <a:srgbClr val="990000"/>
              </a:solidFill>
              <a:latin typeface="Times New Roman" panose="02020603050405020304" pitchFamily="18" charset="0"/>
              <a:ea typeface="华文新魏" panose="02010800040101010101" pitchFamily="2" charset="-122"/>
            </a:endParaRPr>
          </a:p>
        </p:txBody>
      </p:sp>
      <p:pic>
        <p:nvPicPr>
          <p:cNvPr id="16387" name="Picture 9"/>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684213" y="990600"/>
            <a:ext cx="7559675" cy="5867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6"/>
          <p:cNvSpPr>
            <a:spLocks noChangeArrowheads="1"/>
          </p:cNvSpPr>
          <p:nvPr/>
        </p:nvSpPr>
        <p:spPr bwMode="auto">
          <a:xfrm>
            <a:off x="1" y="2"/>
            <a:ext cx="2267744" cy="492125"/>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3200" dirty="0" smtClean="0">
                <a:solidFill>
                  <a:srgbClr val="FF3300"/>
                </a:solidFill>
                <a:latin typeface="Times New Roman" panose="02020603050405020304" pitchFamily="18" charset="0"/>
                <a:ea typeface="+mj-ea"/>
                <a:cs typeface="Times New Roman" panose="02020603050405020304" pitchFamily="18" charset="0"/>
              </a:rPr>
              <a:t>§6.1 </a:t>
            </a:r>
            <a:r>
              <a:rPr lang="zh-CN" altLang="en-US" sz="3200" dirty="0" smtClean="0">
                <a:solidFill>
                  <a:srgbClr val="FF3300"/>
                </a:solidFill>
                <a:latin typeface="Times New Roman" panose="02020603050405020304" pitchFamily="18" charset="0"/>
                <a:ea typeface="+mj-ea"/>
                <a:cs typeface="Times New Roman" panose="02020603050405020304" pitchFamily="18" charset="0"/>
              </a:rPr>
              <a:t>概述</a:t>
            </a:r>
            <a:endParaRPr lang="zh-CN" altLang="en-US" sz="3200"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93A7F3C-2558-4387-BD53-CADCA4D14A82}" type="slidenum">
              <a:rPr lang="zh-CN" altLang="en-US" smtClean="0"/>
            </a:fld>
            <a:endParaRPr lang="en-US" altLang="zh-CN" dirty="0"/>
          </a:p>
        </p:txBody>
      </p:sp>
      <p:sp>
        <p:nvSpPr>
          <p:cNvPr id="5" name="Rectangle 3"/>
          <p:cNvSpPr txBox="1">
            <a:spLocks noChangeArrowheads="1"/>
          </p:cNvSpPr>
          <p:nvPr/>
        </p:nvSpPr>
        <p:spPr bwMode="auto">
          <a:xfrm>
            <a:off x="424682" y="1203351"/>
            <a:ext cx="8291512"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vl6pPr marL="2138680" indent="-339725" algn="l" rtl="0" eaLnBrk="1" fontAlgn="base" hangingPunct="1">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6pPr>
            <a:lvl7pPr marL="2595880" indent="-339725" algn="l" rtl="0" eaLnBrk="1" fontAlgn="base" hangingPunct="1">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7pPr>
            <a:lvl8pPr marL="3053080" indent="-339725" algn="l" rtl="0" eaLnBrk="1" fontAlgn="base" hangingPunct="1">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8pPr>
            <a:lvl9pPr marL="3510280" indent="-339725" algn="l" rtl="0" eaLnBrk="1" fontAlgn="base" hangingPunct="1">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9pPr>
          </a:lstStyle>
          <a:p>
            <a:pPr eaLnBrk="1" hangingPunct="1">
              <a:lnSpc>
                <a:spcPct val="150000"/>
              </a:lnSpc>
              <a:buFont typeface="Wingdings" panose="05000000000000000000" pitchFamily="2" charset="2"/>
              <a:buChar char="Ø"/>
              <a:defRPr/>
            </a:pPr>
            <a:r>
              <a:rPr kumimoji="0" lang="zh-CN" altLang="en-US" sz="2800" b="1" kern="0" dirty="0" smtClean="0">
                <a:latin typeface="+mn-ea"/>
              </a:rPr>
              <a:t>土坡的稳定安全度是用</a:t>
            </a:r>
            <a:r>
              <a:rPr kumimoji="0" lang="zh-CN" altLang="en-US" sz="2800" b="1" kern="0" dirty="0" smtClean="0">
                <a:solidFill>
                  <a:srgbClr val="FF0000"/>
                </a:solidFill>
                <a:latin typeface="+mn-ea"/>
              </a:rPr>
              <a:t>稳定安全系数</a:t>
            </a:r>
            <a:r>
              <a:rPr kumimoji="0" lang="zh-CN" altLang="en-US" sz="2800" b="1" kern="0" dirty="0" smtClean="0">
                <a:latin typeface="+mn-ea"/>
              </a:rPr>
              <a:t>来表示的，它是指土的抗剪强度</a:t>
            </a:r>
            <a:r>
              <a:rPr kumimoji="0" lang="zh-CN" altLang="en-US" sz="2800" b="1" i="1" kern="0" dirty="0" smtClean="0">
                <a:latin typeface="+mn-ea"/>
                <a:sym typeface="Symbol" panose="05050102010706020507" pitchFamily="18" charset="2"/>
              </a:rPr>
              <a:t></a:t>
            </a:r>
            <a:r>
              <a:rPr kumimoji="0" lang="en-US" altLang="zh-CN" sz="2800" b="1" kern="0" baseline="-25000" dirty="0" smtClean="0">
                <a:latin typeface="+mn-ea"/>
              </a:rPr>
              <a:t>f </a:t>
            </a:r>
            <a:r>
              <a:rPr kumimoji="0" lang="zh-CN" altLang="en-US" sz="2800" b="1" kern="0" dirty="0" smtClean="0">
                <a:latin typeface="+mn-ea"/>
              </a:rPr>
              <a:t>与土坡中可能滑动面上产生的剪应力</a:t>
            </a:r>
            <a:r>
              <a:rPr kumimoji="0" lang="zh-CN" altLang="en-US" sz="2800" b="1" i="1" kern="0" dirty="0" smtClean="0">
                <a:latin typeface="+mn-ea"/>
                <a:sym typeface="Symbol" panose="05050102010706020507" pitchFamily="18" charset="2"/>
              </a:rPr>
              <a:t> </a:t>
            </a:r>
            <a:r>
              <a:rPr kumimoji="0" lang="zh-CN" altLang="en-US" sz="2800" b="1" kern="0" dirty="0" smtClean="0">
                <a:latin typeface="+mn-ea"/>
              </a:rPr>
              <a:t>之间的比值</a:t>
            </a:r>
            <a:endParaRPr kumimoji="0" lang="zh-CN" altLang="en-US" sz="2800" b="1" kern="0" dirty="0" smtClean="0">
              <a:latin typeface="+mn-ea"/>
            </a:endParaRPr>
          </a:p>
          <a:p>
            <a:pPr marL="0" indent="0" eaLnBrk="1" hangingPunct="1">
              <a:lnSpc>
                <a:spcPct val="150000"/>
              </a:lnSpc>
              <a:buNone/>
              <a:defRPr/>
            </a:pPr>
            <a:r>
              <a:rPr kumimoji="0" lang="zh-CN" altLang="en-US" sz="2800" b="1" kern="0" dirty="0" smtClean="0">
                <a:latin typeface="+mn-ea"/>
              </a:rPr>
              <a:t>         即    </a:t>
            </a:r>
            <a:r>
              <a:rPr kumimoji="0" lang="en-US" altLang="zh-CN" sz="2800" b="1" i="1" kern="0" dirty="0" smtClean="0">
                <a:latin typeface="+mn-ea"/>
              </a:rPr>
              <a:t>K</a:t>
            </a:r>
            <a:r>
              <a:rPr kumimoji="0" lang="en-US" altLang="zh-CN" sz="2800" b="1" kern="0" dirty="0" smtClean="0">
                <a:latin typeface="+mn-ea"/>
              </a:rPr>
              <a:t>= </a:t>
            </a:r>
            <a:r>
              <a:rPr kumimoji="0" lang="en-US" altLang="zh-CN" sz="2800" b="1" i="1" kern="0" dirty="0" smtClean="0">
                <a:latin typeface="+mn-ea"/>
                <a:sym typeface="Symbol" panose="05050102010706020507" pitchFamily="18" charset="2"/>
              </a:rPr>
              <a:t></a:t>
            </a:r>
            <a:r>
              <a:rPr kumimoji="0" lang="en-US" altLang="zh-CN" sz="2800" b="1" kern="0" baseline="-25000" dirty="0" smtClean="0">
                <a:latin typeface="+mn-ea"/>
              </a:rPr>
              <a:t>f </a:t>
            </a:r>
            <a:r>
              <a:rPr kumimoji="0" lang="en-US" altLang="zh-CN" sz="2800" b="1" kern="0" dirty="0" smtClean="0">
                <a:latin typeface="+mn-ea"/>
              </a:rPr>
              <a:t>/</a:t>
            </a:r>
            <a:r>
              <a:rPr kumimoji="0" lang="en-US" altLang="zh-CN" sz="2800" b="1" i="1" kern="0" dirty="0" smtClean="0">
                <a:latin typeface="+mn-ea"/>
                <a:sym typeface="Symbol" panose="05050102010706020507" pitchFamily="18" charset="2"/>
              </a:rPr>
              <a:t> </a:t>
            </a:r>
            <a:endParaRPr kumimoji="0" lang="en-US" altLang="zh-CN" sz="2800" b="1" i="1" kern="0" dirty="0" smtClean="0">
              <a:latin typeface="+mn-ea"/>
              <a:sym typeface="Symbol" panose="05050102010706020507" pitchFamily="18" charset="2"/>
            </a:endParaRPr>
          </a:p>
          <a:p>
            <a:pPr eaLnBrk="1" hangingPunct="1">
              <a:lnSpc>
                <a:spcPct val="150000"/>
              </a:lnSpc>
              <a:buFont typeface="Wingdings" panose="05000000000000000000" pitchFamily="2" charset="2"/>
              <a:buChar char="Ø"/>
              <a:defRPr/>
            </a:pPr>
            <a:r>
              <a:rPr kumimoji="0" lang="zh-CN" altLang="en-US" sz="2800" b="1" kern="0" dirty="0" smtClean="0">
                <a:latin typeface="+mn-ea"/>
              </a:rPr>
              <a:t>应用：</a:t>
            </a:r>
            <a:endParaRPr kumimoji="0" lang="zh-CN" altLang="en-US" sz="2800" b="1" kern="0" dirty="0" smtClean="0">
              <a:latin typeface="+mn-ea"/>
            </a:endParaRPr>
          </a:p>
          <a:p>
            <a:pPr marL="0" indent="0" eaLnBrk="1" hangingPunct="1">
              <a:lnSpc>
                <a:spcPct val="150000"/>
              </a:lnSpc>
              <a:buNone/>
              <a:defRPr/>
            </a:pPr>
            <a:r>
              <a:rPr kumimoji="0" lang="zh-CN" altLang="en-US" sz="2800" b="1" kern="0" dirty="0" smtClean="0">
                <a:latin typeface="+mn-ea"/>
              </a:rPr>
              <a:t>   设计土坡（坡高、坡角）</a:t>
            </a:r>
            <a:endParaRPr kumimoji="0" lang="zh-CN" altLang="en-US" sz="2800" b="1" kern="0" dirty="0" smtClean="0">
              <a:latin typeface="+mn-ea"/>
            </a:endParaRPr>
          </a:p>
          <a:p>
            <a:pPr marL="0" indent="0" eaLnBrk="1" hangingPunct="1">
              <a:lnSpc>
                <a:spcPct val="150000"/>
              </a:lnSpc>
              <a:buNone/>
              <a:defRPr/>
            </a:pPr>
            <a:r>
              <a:rPr kumimoji="0" lang="zh-CN" altLang="en-US" sz="2800" b="1" kern="0" dirty="0" smtClean="0">
                <a:latin typeface="+mn-ea"/>
              </a:rPr>
              <a:t>   已有土坡稳定性分析 </a:t>
            </a:r>
            <a:endParaRPr kumimoji="0" lang="zh-CN" altLang="en-US" sz="2800" b="1" kern="0" dirty="0" smtClean="0">
              <a:latin typeface="+mn-ea"/>
            </a:endParaRPr>
          </a:p>
        </p:txBody>
      </p:sp>
      <p:sp>
        <p:nvSpPr>
          <p:cNvPr id="6" name="Rectangle 6"/>
          <p:cNvSpPr>
            <a:spLocks noChangeArrowheads="1"/>
          </p:cNvSpPr>
          <p:nvPr/>
        </p:nvSpPr>
        <p:spPr bwMode="auto">
          <a:xfrm>
            <a:off x="1" y="2"/>
            <a:ext cx="2267744" cy="492125"/>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3200" dirty="0" smtClean="0">
                <a:solidFill>
                  <a:srgbClr val="FF3300"/>
                </a:solidFill>
                <a:latin typeface="Times New Roman" panose="02020603050405020304" pitchFamily="18" charset="0"/>
                <a:ea typeface="+mj-ea"/>
                <a:cs typeface="Times New Roman" panose="02020603050405020304" pitchFamily="18" charset="0"/>
              </a:rPr>
              <a:t>§6.1 </a:t>
            </a:r>
            <a:r>
              <a:rPr lang="zh-CN" altLang="en-US" sz="3200" dirty="0" smtClean="0">
                <a:solidFill>
                  <a:srgbClr val="FF3300"/>
                </a:solidFill>
                <a:latin typeface="Times New Roman" panose="02020603050405020304" pitchFamily="18" charset="0"/>
                <a:ea typeface="+mj-ea"/>
                <a:cs typeface="Times New Roman" panose="02020603050405020304" pitchFamily="18" charset="0"/>
              </a:rPr>
              <a:t>概述</a:t>
            </a:r>
            <a:endParaRPr lang="zh-CN" altLang="en-US" sz="3200"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7" name="Rectangle 3"/>
          <p:cNvSpPr>
            <a:spLocks noGrp="1" noChangeArrowheads="1"/>
          </p:cNvSpPr>
          <p:nvPr>
            <p:ph type="body" idx="1"/>
          </p:nvPr>
        </p:nvSpPr>
        <p:spPr bwMode="auto">
          <a:xfrm>
            <a:off x="1600200" y="2057400"/>
            <a:ext cx="6629400" cy="3429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buClr>
                <a:schemeClr val="folHlink"/>
              </a:buClr>
              <a:buFontTx/>
              <a:buNone/>
            </a:pPr>
            <a:r>
              <a:rPr lang="en-US" altLang="zh-CN" sz="3600" b="1" dirty="0" smtClean="0">
                <a:solidFill>
                  <a:schemeClr val="bg1">
                    <a:lumMod val="95000"/>
                  </a:schemeClr>
                </a:solidFill>
                <a:latin typeface="Times New Roman" panose="02020603050405020304" pitchFamily="18" charset="0"/>
                <a:cs typeface="Times New Roman" panose="02020603050405020304" pitchFamily="18" charset="0"/>
              </a:rPr>
              <a:t>§6.1 </a:t>
            </a:r>
            <a:r>
              <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rPr>
              <a:t>概述</a:t>
            </a:r>
            <a:endPar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endParaRPr>
          </a:p>
          <a:p>
            <a:pPr eaLnBrk="1" hangingPunct="1">
              <a:buClr>
                <a:schemeClr val="folHlink"/>
              </a:buClr>
              <a:buFontTx/>
              <a:buNone/>
            </a:pPr>
            <a:r>
              <a:rPr lang="en-US" altLang="zh-CN" sz="3600" b="1" dirty="0" smtClean="0">
                <a:latin typeface="Times New Roman" panose="02020603050405020304" pitchFamily="18" charset="0"/>
                <a:cs typeface="Times New Roman" panose="02020603050405020304" pitchFamily="18" charset="0"/>
              </a:rPr>
              <a:t>§6.2 </a:t>
            </a:r>
            <a:r>
              <a:rPr lang="zh-CN" altLang="en-US" sz="3600" b="1" dirty="0" smtClean="0">
                <a:latin typeface="Times New Roman" panose="02020603050405020304" pitchFamily="18" charset="0"/>
                <a:cs typeface="Times New Roman" panose="02020603050405020304" pitchFamily="18" charset="0"/>
              </a:rPr>
              <a:t>无黏性土坡的稳定性</a:t>
            </a:r>
            <a:endParaRPr lang="zh-CN" altLang="en-US" sz="3600" b="1" dirty="0" smtClean="0">
              <a:latin typeface="Times New Roman" panose="02020603050405020304" pitchFamily="18" charset="0"/>
              <a:cs typeface="Times New Roman" panose="02020603050405020304" pitchFamily="18" charset="0"/>
            </a:endParaRPr>
          </a:p>
          <a:p>
            <a:pPr eaLnBrk="1" hangingPunct="1">
              <a:buClr>
                <a:schemeClr val="folHlink"/>
              </a:buClr>
              <a:buFontTx/>
              <a:buNone/>
            </a:pPr>
            <a:r>
              <a:rPr lang="en-US" altLang="zh-CN" sz="3600" b="1" dirty="0" smtClean="0">
                <a:solidFill>
                  <a:schemeClr val="bg1">
                    <a:lumMod val="95000"/>
                  </a:schemeClr>
                </a:solidFill>
                <a:latin typeface="Times New Roman" panose="02020603050405020304" pitchFamily="18" charset="0"/>
                <a:cs typeface="Times New Roman" panose="02020603050405020304" pitchFamily="18" charset="0"/>
              </a:rPr>
              <a:t>§6.3 </a:t>
            </a:r>
            <a:r>
              <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rPr>
              <a:t>黏性土坡的稳定性</a:t>
            </a:r>
            <a:endPar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endParaRPr>
          </a:p>
          <a:p>
            <a:pPr eaLnBrk="1" hangingPunct="1">
              <a:buClr>
                <a:schemeClr val="folHlink"/>
              </a:buClr>
              <a:buFontTx/>
              <a:buNone/>
            </a:pPr>
            <a:r>
              <a:rPr lang="en-US" altLang="zh-CN" sz="3600" b="1" dirty="0" smtClean="0">
                <a:solidFill>
                  <a:schemeClr val="bg1">
                    <a:lumMod val="95000"/>
                  </a:schemeClr>
                </a:solidFill>
                <a:latin typeface="Times New Roman" panose="02020603050405020304" pitchFamily="18" charset="0"/>
                <a:cs typeface="Times New Roman" panose="02020603050405020304" pitchFamily="18" charset="0"/>
              </a:rPr>
              <a:t>§6.4 </a:t>
            </a:r>
            <a:r>
              <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rPr>
              <a:t>土坡稳定性的影响因素</a:t>
            </a:r>
            <a:endPar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endParaRPr>
          </a:p>
          <a:p>
            <a:pPr eaLnBrk="1" hangingPunct="1">
              <a:buClr>
                <a:schemeClr val="folHlink"/>
              </a:buClr>
              <a:buFontTx/>
              <a:buNone/>
            </a:pPr>
            <a:r>
              <a:rPr lang="en-US" altLang="zh-CN" sz="3600" b="1" dirty="0" smtClean="0">
                <a:solidFill>
                  <a:schemeClr val="bg1">
                    <a:lumMod val="95000"/>
                  </a:schemeClr>
                </a:solidFill>
                <a:latin typeface="Times New Roman" panose="02020603050405020304" pitchFamily="18" charset="0"/>
                <a:cs typeface="Times New Roman" panose="02020603050405020304" pitchFamily="18" charset="0"/>
              </a:rPr>
              <a:t>§6.5 </a:t>
            </a:r>
            <a:r>
              <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rPr>
              <a:t>地基的稳定性</a:t>
            </a:r>
            <a:r>
              <a:rPr lang="en-US" altLang="zh-CN" sz="3600" b="1" dirty="0" smtClean="0">
                <a:solidFill>
                  <a:schemeClr val="bg1">
                    <a:lumMod val="95000"/>
                  </a:schemeClr>
                </a:solidFill>
                <a:latin typeface="Times New Roman" panose="02020603050405020304" pitchFamily="18" charset="0"/>
                <a:cs typeface="Times New Roman" panose="02020603050405020304" pitchFamily="18" charset="0"/>
              </a:rPr>
              <a:t> </a:t>
            </a:r>
            <a:endPar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endParaRPr>
          </a:p>
        </p:txBody>
      </p:sp>
      <p:sp>
        <p:nvSpPr>
          <p:cNvPr id="3075" name="Rectangle 52"/>
          <p:cNvSpPr>
            <a:spLocks noChangeArrowheads="1"/>
          </p:cNvSpPr>
          <p:nvPr/>
        </p:nvSpPr>
        <p:spPr bwMode="auto">
          <a:xfrm>
            <a:off x="1071563" y="762000"/>
            <a:ext cx="74295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lang="zh-CN" altLang="en-US" b="1" dirty="0" smtClean="0">
                <a:solidFill>
                  <a:srgbClr val="FF0000"/>
                </a:solidFill>
                <a:latin typeface="+mj-ea"/>
                <a:ea typeface="+mj-ea"/>
              </a:rPr>
              <a:t>第六章 </a:t>
            </a:r>
            <a:r>
              <a:rPr lang="zh-CN" altLang="en-US" b="1" dirty="0">
                <a:solidFill>
                  <a:srgbClr val="FF0000"/>
                </a:solidFill>
                <a:latin typeface="+mj-ea"/>
                <a:ea typeface="+mj-ea"/>
              </a:rPr>
              <a:t>土坡和地基的稳定性</a:t>
            </a:r>
            <a:endParaRPr lang="zh-CN" altLang="en-US" b="1" dirty="0">
              <a:solidFill>
                <a:srgbClr val="FF0000"/>
              </a:solidFill>
              <a:latin typeface="+mj-ea"/>
              <a:ea typeface="+mj-ea"/>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6627"/>
                                        </p:tgtEl>
                                        <p:attrNameLst>
                                          <p:attrName>style.visibility</p:attrName>
                                        </p:attrNameLst>
                                      </p:cBhvr>
                                      <p:to>
                                        <p:strVal val="visible"/>
                                      </p:to>
                                    </p:set>
                                    <p:animEffect transition="in" filter="barn(outVertical)">
                                      <p:cBhvr>
                                        <p:cTn id="7" dur="500"/>
                                        <p:tgtEl>
                                          <p:spTgt spid="26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6499" name="Text Box 3"/>
          <p:cNvSpPr txBox="1">
            <a:spLocks noChangeArrowheads="1"/>
          </p:cNvSpPr>
          <p:nvPr/>
        </p:nvSpPr>
        <p:spPr bwMode="auto">
          <a:xfrm>
            <a:off x="609600" y="1295400"/>
            <a:ext cx="4487863"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3200" b="1">
                <a:solidFill>
                  <a:srgbClr val="990033"/>
                </a:solidFill>
                <a:ea typeface="隶书" panose="02010509060101010101" pitchFamily="49" charset="-122"/>
              </a:rPr>
              <a:t>破坏形式：表面浅层滑动</a:t>
            </a:r>
            <a:endParaRPr lang="zh-CN" altLang="en-US" sz="3200" b="1">
              <a:solidFill>
                <a:srgbClr val="990033"/>
              </a:solidFill>
              <a:ea typeface="隶书" panose="02010509060101010101" pitchFamily="49" charset="-122"/>
            </a:endParaRPr>
          </a:p>
        </p:txBody>
      </p:sp>
      <p:sp>
        <p:nvSpPr>
          <p:cNvPr id="746527" name="Rectangle 31"/>
          <p:cNvSpPr>
            <a:spLocks noGrp="1" noChangeArrowheads="1"/>
          </p:cNvSpPr>
          <p:nvPr>
            <p:ph type="body" sz="half" idx="1"/>
          </p:nvPr>
        </p:nvSpPr>
        <p:spPr bwMode="auto">
          <a:xfrm>
            <a:off x="533400" y="2590800"/>
            <a:ext cx="4953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indent="0" algn="just" eaLnBrk="1" hangingPunct="1">
              <a:buFontTx/>
              <a:buNone/>
            </a:pPr>
            <a:r>
              <a:rPr lang="en-US" altLang="zh-CN" sz="2400" b="1" dirty="0" smtClean="0"/>
              <a:t>1</a:t>
            </a:r>
            <a:r>
              <a:rPr lang="zh-CN" altLang="en-US" sz="2400" b="1" dirty="0" smtClean="0"/>
              <a:t>）微单元</a:t>
            </a:r>
            <a:r>
              <a:rPr lang="en-US" altLang="zh-CN" sz="2400" b="1" dirty="0" smtClean="0"/>
              <a:t>A</a:t>
            </a:r>
            <a:r>
              <a:rPr lang="zh-CN" altLang="en-US" sz="2400" b="1" dirty="0" smtClean="0"/>
              <a:t>自重</a:t>
            </a:r>
            <a:r>
              <a:rPr lang="en-US" altLang="zh-CN" sz="2400" b="1" dirty="0" smtClean="0"/>
              <a:t>: </a:t>
            </a:r>
            <a:r>
              <a:rPr lang="en-US" altLang="zh-CN" sz="2400" b="1" i="1" dirty="0" smtClean="0"/>
              <a:t>G=</a:t>
            </a:r>
            <a:r>
              <a:rPr lang="en-US" altLang="zh-CN" sz="2400" b="1" i="1" dirty="0" smtClean="0">
                <a:sym typeface="Symbol" panose="05050102010706020507" pitchFamily="18" charset="2"/>
              </a:rPr>
              <a:t></a:t>
            </a:r>
            <a:r>
              <a:rPr lang="en-US" altLang="zh-CN" sz="2400" b="1" i="1" dirty="0" smtClean="0"/>
              <a:t>V</a:t>
            </a:r>
            <a:endParaRPr lang="en-US" altLang="zh-CN" sz="2400" b="1" dirty="0" smtClean="0"/>
          </a:p>
        </p:txBody>
      </p:sp>
      <p:sp>
        <p:nvSpPr>
          <p:cNvPr id="18470" name="Text Box 34"/>
          <p:cNvSpPr txBox="1">
            <a:spLocks noChangeArrowheads="1"/>
          </p:cNvSpPr>
          <p:nvPr/>
        </p:nvSpPr>
        <p:spPr bwMode="auto">
          <a:xfrm>
            <a:off x="533400" y="3124200"/>
            <a:ext cx="259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dirty="0">
                <a:solidFill>
                  <a:schemeClr val="tx1"/>
                </a:solidFill>
                <a:latin typeface="Times New Roman" panose="02020603050405020304" pitchFamily="18" charset="0"/>
              </a:rPr>
              <a:t>2</a:t>
            </a:r>
            <a:r>
              <a:rPr kumimoji="1" lang="zh-CN" altLang="en-US" sz="2400" b="1" dirty="0">
                <a:solidFill>
                  <a:schemeClr val="tx1"/>
                </a:solidFill>
                <a:latin typeface="Times New Roman" panose="02020603050405020304" pitchFamily="18" charset="0"/>
              </a:rPr>
              <a:t>）沿坡滑动力：</a:t>
            </a:r>
            <a:endParaRPr kumimoji="1" lang="zh-CN" altLang="en-US" sz="2400" b="1" dirty="0">
              <a:solidFill>
                <a:schemeClr val="tx1"/>
              </a:solidFill>
              <a:latin typeface="Times New Roman" panose="02020603050405020304" pitchFamily="18" charset="0"/>
            </a:endParaRPr>
          </a:p>
        </p:txBody>
      </p:sp>
      <p:sp>
        <p:nvSpPr>
          <p:cNvPr id="18468" name="Text Box 37"/>
          <p:cNvSpPr txBox="1">
            <a:spLocks noChangeArrowheads="1"/>
          </p:cNvSpPr>
          <p:nvPr/>
        </p:nvSpPr>
        <p:spPr bwMode="auto">
          <a:xfrm>
            <a:off x="533400" y="3657600"/>
            <a:ext cx="259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chemeClr val="tx1"/>
                </a:solidFill>
                <a:latin typeface="Times New Roman" panose="02020603050405020304" pitchFamily="18" charset="0"/>
              </a:rPr>
              <a:t>3</a:t>
            </a:r>
            <a:r>
              <a:rPr kumimoji="1" lang="zh-CN" altLang="en-US" sz="2400" b="1">
                <a:solidFill>
                  <a:schemeClr val="tx1"/>
                </a:solidFill>
                <a:latin typeface="Times New Roman" panose="02020603050405020304" pitchFamily="18" charset="0"/>
              </a:rPr>
              <a:t>）对坡面压力：</a:t>
            </a:r>
            <a:endParaRPr kumimoji="1" lang="zh-CN" altLang="en-US" sz="2400" b="1">
              <a:solidFill>
                <a:schemeClr val="tx1"/>
              </a:solidFill>
              <a:latin typeface="Times New Roman" panose="02020603050405020304" pitchFamily="18" charset="0"/>
            </a:endParaRPr>
          </a:p>
        </p:txBody>
      </p:sp>
      <p:sp>
        <p:nvSpPr>
          <p:cNvPr id="746534" name="Text Box 38"/>
          <p:cNvSpPr txBox="1">
            <a:spLocks noChangeArrowheads="1"/>
          </p:cNvSpPr>
          <p:nvPr/>
        </p:nvSpPr>
        <p:spPr bwMode="auto">
          <a:xfrm>
            <a:off x="1828800" y="4191000"/>
            <a:ext cx="502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zh-CN" altLang="en-US" sz="2400" b="1">
                <a:solidFill>
                  <a:srgbClr val="0000FF"/>
                </a:solidFill>
                <a:latin typeface="Times New Roman" panose="02020603050405020304" pitchFamily="18" charset="0"/>
              </a:rPr>
              <a:t>（由于无限土坡两侧作用力抵消） </a:t>
            </a:r>
            <a:endParaRPr kumimoji="1" lang="zh-CN" altLang="en-US" sz="2400" b="1">
              <a:solidFill>
                <a:srgbClr val="0000FF"/>
              </a:solidFill>
              <a:latin typeface="Times New Roman" panose="02020603050405020304" pitchFamily="18" charset="0"/>
            </a:endParaRPr>
          </a:p>
        </p:txBody>
      </p:sp>
      <p:sp>
        <p:nvSpPr>
          <p:cNvPr id="18466" name="Text Box 41"/>
          <p:cNvSpPr txBox="1">
            <a:spLocks noChangeArrowheads="1"/>
          </p:cNvSpPr>
          <p:nvPr/>
        </p:nvSpPr>
        <p:spPr bwMode="auto">
          <a:xfrm>
            <a:off x="609600" y="4800595"/>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chemeClr val="tx1"/>
                </a:solidFill>
                <a:latin typeface="Times New Roman" panose="02020603050405020304" pitchFamily="18" charset="0"/>
              </a:rPr>
              <a:t>4</a:t>
            </a:r>
            <a:r>
              <a:rPr kumimoji="1" lang="zh-CN" altLang="en-US" sz="2400" b="1">
                <a:solidFill>
                  <a:schemeClr val="tx1"/>
                </a:solidFill>
                <a:latin typeface="Times New Roman" panose="02020603050405020304" pitchFamily="18" charset="0"/>
              </a:rPr>
              <a:t>）抗滑力： </a:t>
            </a:r>
            <a:endParaRPr kumimoji="1" lang="zh-CN" altLang="en-US" sz="2400" b="1">
              <a:solidFill>
                <a:schemeClr val="tx1"/>
              </a:solidFill>
              <a:latin typeface="Times New Roman" panose="02020603050405020304" pitchFamily="18" charset="0"/>
            </a:endParaRPr>
          </a:p>
        </p:txBody>
      </p:sp>
      <p:sp>
        <p:nvSpPr>
          <p:cNvPr id="18464" name="Text Box 44"/>
          <p:cNvSpPr txBox="1">
            <a:spLocks noChangeArrowheads="1"/>
          </p:cNvSpPr>
          <p:nvPr/>
        </p:nvSpPr>
        <p:spPr bwMode="auto">
          <a:xfrm>
            <a:off x="533400" y="5638797"/>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chemeClr val="tx1"/>
                </a:solidFill>
                <a:latin typeface="Times New Roman" panose="02020603050405020304" pitchFamily="18" charset="0"/>
              </a:rPr>
              <a:t>5</a:t>
            </a:r>
            <a:r>
              <a:rPr kumimoji="1" lang="zh-CN" altLang="en-US" sz="2400" b="1">
                <a:solidFill>
                  <a:schemeClr val="tx1"/>
                </a:solidFill>
                <a:latin typeface="Times New Roman" panose="02020603050405020304" pitchFamily="18" charset="0"/>
              </a:rPr>
              <a:t>）抗滑安全系数： </a:t>
            </a:r>
            <a:endParaRPr kumimoji="1" lang="zh-CN" altLang="en-US" sz="2400" b="1">
              <a:solidFill>
                <a:schemeClr val="tx1"/>
              </a:solidFill>
              <a:latin typeface="Times New Roman" panose="02020603050405020304" pitchFamily="18" charset="0"/>
            </a:endParaRPr>
          </a:p>
        </p:txBody>
      </p:sp>
      <p:sp>
        <p:nvSpPr>
          <p:cNvPr id="746543" name="Line 47"/>
          <p:cNvSpPr>
            <a:spLocks noChangeShapeType="1"/>
          </p:cNvSpPr>
          <p:nvPr/>
        </p:nvSpPr>
        <p:spPr bwMode="auto">
          <a:xfrm flipH="1">
            <a:off x="5562600" y="1219200"/>
            <a:ext cx="2895600" cy="1752600"/>
          </a:xfrm>
          <a:prstGeom prst="line">
            <a:avLst/>
          </a:prstGeom>
          <a:noFill/>
          <a:ln w="47625">
            <a:solidFill>
              <a:srgbClr val="99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6553" name="Text Box 57"/>
          <p:cNvSpPr txBox="1">
            <a:spLocks noChangeArrowheads="1"/>
          </p:cNvSpPr>
          <p:nvPr/>
        </p:nvSpPr>
        <p:spPr bwMode="auto">
          <a:xfrm>
            <a:off x="7010400" y="228600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dirty="0" smtClean="0">
                <a:solidFill>
                  <a:srgbClr val="0000FF"/>
                </a:solidFill>
                <a:latin typeface="Times New Roman" panose="02020603050405020304" pitchFamily="18" charset="0"/>
              </a:rPr>
              <a:t>G</a:t>
            </a:r>
            <a:endParaRPr kumimoji="1" lang="en-US" altLang="zh-CN" sz="2400" b="1" dirty="0">
              <a:solidFill>
                <a:srgbClr val="0000FF"/>
              </a:solidFill>
              <a:latin typeface="Times New Roman" panose="02020603050405020304" pitchFamily="18" charset="0"/>
            </a:endParaRPr>
          </a:p>
        </p:txBody>
      </p:sp>
      <p:sp>
        <p:nvSpPr>
          <p:cNvPr id="746554" name="Text Box 58"/>
          <p:cNvSpPr txBox="1">
            <a:spLocks noChangeArrowheads="1"/>
          </p:cNvSpPr>
          <p:nvPr/>
        </p:nvSpPr>
        <p:spPr bwMode="auto">
          <a:xfrm>
            <a:off x="7772400" y="251460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0000FF"/>
                </a:solidFill>
                <a:latin typeface="Times New Roman" panose="02020603050405020304" pitchFamily="18" charset="0"/>
              </a:rPr>
              <a:t>T</a:t>
            </a:r>
            <a:endParaRPr kumimoji="1" lang="en-US" altLang="zh-CN" sz="2400" b="1">
              <a:solidFill>
                <a:srgbClr val="0000FF"/>
              </a:solidFill>
              <a:latin typeface="Times New Roman" panose="02020603050405020304" pitchFamily="18" charset="0"/>
            </a:endParaRPr>
          </a:p>
        </p:txBody>
      </p:sp>
      <p:sp>
        <p:nvSpPr>
          <p:cNvPr id="746555" name="Text Box 59"/>
          <p:cNvSpPr txBox="1">
            <a:spLocks noChangeArrowheads="1"/>
          </p:cNvSpPr>
          <p:nvPr/>
        </p:nvSpPr>
        <p:spPr bwMode="auto">
          <a:xfrm>
            <a:off x="7772400" y="1905000"/>
            <a:ext cx="385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0000FF"/>
                </a:solidFill>
                <a:latin typeface="Times New Roman" panose="02020603050405020304" pitchFamily="18" charset="0"/>
              </a:rPr>
              <a:t>N</a:t>
            </a:r>
            <a:endParaRPr kumimoji="1" lang="en-US" altLang="zh-CN" sz="2400" b="1">
              <a:solidFill>
                <a:srgbClr val="0000FF"/>
              </a:solidFill>
              <a:latin typeface="Times New Roman" panose="02020603050405020304" pitchFamily="18" charset="0"/>
            </a:endParaRPr>
          </a:p>
        </p:txBody>
      </p:sp>
      <p:grpSp>
        <p:nvGrpSpPr>
          <p:cNvPr id="6" name="Group 80"/>
          <p:cNvGrpSpPr/>
          <p:nvPr/>
        </p:nvGrpSpPr>
        <p:grpSpPr bwMode="auto">
          <a:xfrm>
            <a:off x="5867400" y="2514600"/>
            <a:ext cx="538163" cy="463550"/>
            <a:chOff x="3696" y="1584"/>
            <a:chExt cx="339" cy="292"/>
          </a:xfrm>
        </p:grpSpPr>
        <p:sp>
          <p:nvSpPr>
            <p:cNvPr id="18461" name="Arc 52"/>
            <p:cNvSpPr/>
            <p:nvPr/>
          </p:nvSpPr>
          <p:spPr bwMode="auto">
            <a:xfrm>
              <a:off x="3696" y="1776"/>
              <a:ext cx="96" cy="10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462" name="Text Box 60"/>
            <p:cNvSpPr txBox="1">
              <a:spLocks noChangeArrowheads="1"/>
            </p:cNvSpPr>
            <p:nvPr/>
          </p:nvSpPr>
          <p:spPr bwMode="auto">
            <a:xfrm>
              <a:off x="3792" y="1584"/>
              <a:ext cx="24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dirty="0" smtClean="0">
                  <a:solidFill>
                    <a:srgbClr val="0000FF"/>
                  </a:solidFill>
                  <a:latin typeface="Symbol" panose="05050102010706020507" pitchFamily="18" charset="2"/>
                  <a:sym typeface="Symbol" panose="05050102010706020507" pitchFamily="18" charset="2"/>
                </a:rPr>
                <a:t></a:t>
              </a:r>
              <a:endParaRPr kumimoji="1" lang="en-US" altLang="zh-CN" sz="2400" b="1" dirty="0">
                <a:solidFill>
                  <a:srgbClr val="0000FF"/>
                </a:solidFill>
                <a:latin typeface="Times New Roman" panose="02020603050405020304" pitchFamily="18" charset="0"/>
              </a:endParaRPr>
            </a:p>
          </p:txBody>
        </p:sp>
      </p:grpSp>
      <p:sp>
        <p:nvSpPr>
          <p:cNvPr id="746558" name="Rectangle 62"/>
          <p:cNvSpPr>
            <a:spLocks noChangeArrowheads="1"/>
          </p:cNvSpPr>
          <p:nvPr/>
        </p:nvSpPr>
        <p:spPr bwMode="auto">
          <a:xfrm>
            <a:off x="609600" y="1981200"/>
            <a:ext cx="6108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r>
              <a:rPr kumimoji="1" lang="zh-CN" altLang="en-US" sz="2400" b="1" dirty="0">
                <a:solidFill>
                  <a:srgbClr val="0000FF"/>
                </a:solidFill>
                <a:latin typeface="Times New Roman" panose="02020603050405020304" pitchFamily="18" charset="0"/>
              </a:rPr>
              <a:t>坡与水平夹角</a:t>
            </a:r>
            <a:r>
              <a:rPr kumimoji="1" lang="zh-CN" altLang="en-US" sz="2400" b="1" dirty="0" smtClean="0">
                <a:solidFill>
                  <a:srgbClr val="0000FF"/>
                </a:solidFill>
                <a:latin typeface="Times New Roman" panose="02020603050405020304" pitchFamily="18" charset="0"/>
              </a:rPr>
              <a:t>为 </a:t>
            </a:r>
            <a:r>
              <a:rPr kumimoji="1" lang="zh-CN" altLang="en-US" sz="2400" b="1" i="1" dirty="0" smtClean="0">
                <a:solidFill>
                  <a:srgbClr val="0000FF"/>
                </a:solidFill>
                <a:latin typeface="Times New Roman" panose="02020603050405020304" pitchFamily="18" charset="0"/>
                <a:sym typeface="Symbol" panose="05050102010706020507" pitchFamily="18" charset="2"/>
              </a:rPr>
              <a:t> </a:t>
            </a:r>
            <a:r>
              <a:rPr kumimoji="1" lang="zh-CN" altLang="en-US" sz="2400" b="1" dirty="0" smtClean="0">
                <a:solidFill>
                  <a:srgbClr val="0000FF"/>
                </a:solidFill>
                <a:latin typeface="Times New Roman" panose="02020603050405020304" pitchFamily="18" charset="0"/>
                <a:sym typeface="Symbol" panose="05050102010706020507" pitchFamily="18" charset="2"/>
              </a:rPr>
              <a:t> ，</a:t>
            </a:r>
            <a:r>
              <a:rPr kumimoji="1" lang="zh-CN" altLang="en-US" sz="2400" b="1" dirty="0" smtClean="0">
                <a:solidFill>
                  <a:srgbClr val="0000FF"/>
                </a:solidFill>
                <a:latin typeface="Times New Roman" panose="02020603050405020304" pitchFamily="18" charset="0"/>
              </a:rPr>
              <a:t>砂土</a:t>
            </a:r>
            <a:r>
              <a:rPr kumimoji="1" lang="zh-CN" altLang="en-US" sz="2400" b="1" dirty="0">
                <a:solidFill>
                  <a:srgbClr val="0000FF"/>
                </a:solidFill>
                <a:latin typeface="Times New Roman" panose="02020603050405020304" pitchFamily="18" charset="0"/>
              </a:rPr>
              <a:t>内摩擦角为</a:t>
            </a:r>
            <a:r>
              <a:rPr kumimoji="1" lang="zh-CN" altLang="en-US" sz="2400" b="1" i="1" dirty="0">
                <a:solidFill>
                  <a:srgbClr val="0000FF"/>
                </a:solidFill>
                <a:latin typeface="Times New Roman" panose="02020603050405020304" pitchFamily="18" charset="0"/>
                <a:sym typeface="Symbol" panose="05050102010706020507" pitchFamily="18" charset="2"/>
              </a:rPr>
              <a:t></a:t>
            </a:r>
            <a:endParaRPr kumimoji="1" lang="zh-CN" altLang="en-US" sz="2400" b="1" i="1" dirty="0">
              <a:solidFill>
                <a:srgbClr val="0000FF"/>
              </a:solidFill>
              <a:latin typeface="Times New Roman" panose="02020603050405020304" pitchFamily="18" charset="0"/>
              <a:sym typeface="Symbol" panose="05050102010706020507" pitchFamily="18" charset="2"/>
            </a:endParaRPr>
          </a:p>
        </p:txBody>
      </p:sp>
      <p:sp>
        <p:nvSpPr>
          <p:cNvPr id="746559" name="AutoShape 63"/>
          <p:cNvSpPr>
            <a:spLocks noChangeArrowheads="1"/>
          </p:cNvSpPr>
          <p:nvPr/>
        </p:nvSpPr>
        <p:spPr bwMode="auto">
          <a:xfrm rot="5400000" flipV="1">
            <a:off x="7200900" y="1866900"/>
            <a:ext cx="533400" cy="304800"/>
          </a:xfrm>
          <a:prstGeom prst="parallelogram">
            <a:avLst>
              <a:gd name="adj" fmla="val 43750"/>
            </a:avLst>
          </a:prstGeom>
          <a:solidFill>
            <a:schemeClr val="accent2">
              <a:alpha val="50195"/>
            </a:schemeClr>
          </a:solidFill>
          <a:ln w="9525">
            <a:solidFill>
              <a:schemeClr val="folHlink"/>
            </a:solidFill>
            <a:miter lim="800000"/>
          </a:ln>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746560" name="Line 64"/>
          <p:cNvSpPr>
            <a:spLocks noChangeShapeType="1"/>
          </p:cNvSpPr>
          <p:nvPr/>
        </p:nvSpPr>
        <p:spPr bwMode="auto">
          <a:xfrm>
            <a:off x="5562600" y="2971800"/>
            <a:ext cx="2590800" cy="0"/>
          </a:xfrm>
          <a:prstGeom prst="line">
            <a:avLst/>
          </a:prstGeom>
          <a:noFill/>
          <a:ln w="47625">
            <a:solidFill>
              <a:srgbClr val="99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46549" name="Line 53"/>
          <p:cNvSpPr>
            <a:spLocks noChangeShapeType="1"/>
          </p:cNvSpPr>
          <p:nvPr/>
        </p:nvSpPr>
        <p:spPr bwMode="auto">
          <a:xfrm flipH="1">
            <a:off x="7467600" y="1985963"/>
            <a:ext cx="11113" cy="833437"/>
          </a:xfrm>
          <a:prstGeom prst="line">
            <a:avLst/>
          </a:prstGeom>
          <a:noFill/>
          <a:ln w="34925">
            <a:solidFill>
              <a:schemeClr val="tx1"/>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6550" name="Line 54"/>
          <p:cNvSpPr>
            <a:spLocks noChangeShapeType="1"/>
          </p:cNvSpPr>
          <p:nvPr/>
        </p:nvSpPr>
        <p:spPr bwMode="auto">
          <a:xfrm>
            <a:off x="7478713" y="1981200"/>
            <a:ext cx="369887" cy="685800"/>
          </a:xfrm>
          <a:prstGeom prst="line">
            <a:avLst/>
          </a:prstGeom>
          <a:noFill/>
          <a:ln w="34925">
            <a:solidFill>
              <a:schemeClr val="tx1"/>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6551" name="Line 55"/>
          <p:cNvSpPr>
            <a:spLocks noChangeShapeType="1"/>
          </p:cNvSpPr>
          <p:nvPr/>
        </p:nvSpPr>
        <p:spPr bwMode="auto">
          <a:xfrm flipH="1">
            <a:off x="7467600" y="2667000"/>
            <a:ext cx="381000" cy="152400"/>
          </a:xfrm>
          <a:prstGeom prst="line">
            <a:avLst/>
          </a:prstGeom>
          <a:noFill/>
          <a:ln w="34925">
            <a:solidFill>
              <a:schemeClr val="tx1"/>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6563" name="Text Box 67"/>
          <p:cNvSpPr txBox="1">
            <a:spLocks noChangeArrowheads="1"/>
          </p:cNvSpPr>
          <p:nvPr/>
        </p:nvSpPr>
        <p:spPr bwMode="auto">
          <a:xfrm>
            <a:off x="6999288" y="4114800"/>
            <a:ext cx="3873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dirty="0" smtClean="0">
                <a:solidFill>
                  <a:srgbClr val="0000FF"/>
                </a:solidFill>
                <a:latin typeface="Times New Roman" panose="02020603050405020304" pitchFamily="18" charset="0"/>
              </a:rPr>
              <a:t>G</a:t>
            </a:r>
            <a:endParaRPr kumimoji="1" lang="en-US" altLang="zh-CN" sz="2400" b="1" dirty="0" smtClean="0">
              <a:solidFill>
                <a:srgbClr val="0000FF"/>
              </a:solidFill>
              <a:latin typeface="Times New Roman" panose="02020603050405020304" pitchFamily="18" charset="0"/>
            </a:endParaRPr>
          </a:p>
        </p:txBody>
      </p:sp>
      <p:sp>
        <p:nvSpPr>
          <p:cNvPr id="746564" name="Text Box 68"/>
          <p:cNvSpPr txBox="1">
            <a:spLocks noChangeArrowheads="1"/>
          </p:cNvSpPr>
          <p:nvPr/>
        </p:nvSpPr>
        <p:spPr bwMode="auto">
          <a:xfrm>
            <a:off x="7772400" y="3810000"/>
            <a:ext cx="5479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dirty="0" err="1" smtClean="0">
                <a:solidFill>
                  <a:srgbClr val="FF6600"/>
                </a:solidFill>
                <a:latin typeface="Times New Roman" panose="02020603050405020304" pitchFamily="18" charset="0"/>
              </a:rPr>
              <a:t>T</a:t>
            </a:r>
            <a:r>
              <a:rPr kumimoji="1" lang="en-US" altLang="zh-CN" sz="1600" b="1" dirty="0" err="1" smtClean="0">
                <a:solidFill>
                  <a:srgbClr val="FF6600"/>
                </a:solidFill>
                <a:latin typeface="Times New Roman" panose="02020603050405020304" pitchFamily="18" charset="0"/>
              </a:rPr>
              <a:t>f</a:t>
            </a:r>
            <a:endParaRPr kumimoji="1" lang="en-US" altLang="zh-CN" sz="1600" b="1" dirty="0">
              <a:solidFill>
                <a:srgbClr val="FF6600"/>
              </a:solidFill>
              <a:latin typeface="Times New Roman" panose="02020603050405020304" pitchFamily="18" charset="0"/>
            </a:endParaRPr>
          </a:p>
        </p:txBody>
      </p:sp>
      <p:sp>
        <p:nvSpPr>
          <p:cNvPr id="746565" name="AutoShape 69"/>
          <p:cNvSpPr>
            <a:spLocks noChangeArrowheads="1"/>
          </p:cNvSpPr>
          <p:nvPr/>
        </p:nvSpPr>
        <p:spPr bwMode="auto">
          <a:xfrm rot="5400000" flipV="1">
            <a:off x="7081044" y="3423444"/>
            <a:ext cx="838200" cy="544512"/>
          </a:xfrm>
          <a:prstGeom prst="parallelogram">
            <a:avLst>
              <a:gd name="adj" fmla="val 38484"/>
            </a:avLst>
          </a:prstGeom>
          <a:solidFill>
            <a:schemeClr val="accent2">
              <a:alpha val="50195"/>
            </a:schemeClr>
          </a:solidFill>
          <a:ln w="9525">
            <a:solidFill>
              <a:schemeClr val="folHlink"/>
            </a:solidFill>
            <a:miter lim="800000"/>
          </a:ln>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746566" name="Line 70"/>
          <p:cNvSpPr>
            <a:spLocks noChangeShapeType="1"/>
          </p:cNvSpPr>
          <p:nvPr/>
        </p:nvSpPr>
        <p:spPr bwMode="auto">
          <a:xfrm flipH="1">
            <a:off x="7467600" y="3657600"/>
            <a:ext cx="11113" cy="833438"/>
          </a:xfrm>
          <a:prstGeom prst="line">
            <a:avLst/>
          </a:prstGeom>
          <a:noFill/>
          <a:ln w="34925">
            <a:solidFill>
              <a:schemeClr val="tx1"/>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6567" name="Line 71"/>
          <p:cNvSpPr>
            <a:spLocks noChangeShapeType="1"/>
          </p:cNvSpPr>
          <p:nvPr/>
        </p:nvSpPr>
        <p:spPr bwMode="auto">
          <a:xfrm rot="10800000">
            <a:off x="7620000" y="4191000"/>
            <a:ext cx="369888" cy="685800"/>
          </a:xfrm>
          <a:prstGeom prst="line">
            <a:avLst/>
          </a:prstGeom>
          <a:noFill/>
          <a:ln w="34925">
            <a:solidFill>
              <a:schemeClr val="folHlink"/>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6568" name="Line 72"/>
          <p:cNvSpPr>
            <a:spLocks noChangeShapeType="1"/>
          </p:cNvSpPr>
          <p:nvPr/>
        </p:nvSpPr>
        <p:spPr bwMode="auto">
          <a:xfrm rot="10800000" flipH="1">
            <a:off x="7315200" y="3962400"/>
            <a:ext cx="533400" cy="242888"/>
          </a:xfrm>
          <a:prstGeom prst="line">
            <a:avLst/>
          </a:prstGeom>
          <a:noFill/>
          <a:ln w="34925">
            <a:solidFill>
              <a:srgbClr val="FF66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6569" name="Text Box 73"/>
          <p:cNvSpPr txBox="1">
            <a:spLocks noChangeArrowheads="1"/>
          </p:cNvSpPr>
          <p:nvPr/>
        </p:nvSpPr>
        <p:spPr bwMode="auto">
          <a:xfrm>
            <a:off x="7467600" y="4495800"/>
            <a:ext cx="385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chemeClr val="folHlink"/>
                </a:solidFill>
                <a:latin typeface="Times New Roman" panose="02020603050405020304" pitchFamily="18" charset="0"/>
              </a:rPr>
              <a:t>N</a:t>
            </a:r>
            <a:endParaRPr kumimoji="1" lang="en-US" altLang="zh-CN" sz="2400" b="1">
              <a:solidFill>
                <a:schemeClr val="folHlink"/>
              </a:solidFill>
              <a:latin typeface="Times New Roman" panose="02020603050405020304" pitchFamily="18" charset="0"/>
            </a:endParaRPr>
          </a:p>
        </p:txBody>
      </p:sp>
      <p:sp>
        <p:nvSpPr>
          <p:cNvPr id="746570" name="Text Box 74"/>
          <p:cNvSpPr txBox="1">
            <a:spLocks noChangeArrowheads="1"/>
          </p:cNvSpPr>
          <p:nvPr/>
        </p:nvSpPr>
        <p:spPr bwMode="auto">
          <a:xfrm>
            <a:off x="7086600" y="137160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0000FF"/>
                </a:solidFill>
                <a:latin typeface="Times New Roman" panose="02020603050405020304" pitchFamily="18" charset="0"/>
              </a:rPr>
              <a:t>A</a:t>
            </a:r>
            <a:endParaRPr kumimoji="1" lang="en-US" altLang="zh-CN" sz="2400" b="1">
              <a:solidFill>
                <a:srgbClr val="0000FF"/>
              </a:solidFill>
              <a:latin typeface="Times New Roman" panose="02020603050405020304" pitchFamily="18" charset="0"/>
            </a:endParaRPr>
          </a:p>
        </p:txBody>
      </p:sp>
      <p:sp>
        <p:nvSpPr>
          <p:cNvPr id="39" name="Rectangle 6"/>
          <p:cNvSpPr>
            <a:spLocks noChangeArrowheads="1"/>
          </p:cNvSpPr>
          <p:nvPr/>
        </p:nvSpPr>
        <p:spPr bwMode="auto">
          <a:xfrm>
            <a:off x="0" y="-7396"/>
            <a:ext cx="45720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§6.2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无黏性土坡的稳定性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
        <p:nvSpPr>
          <p:cNvPr id="41" name="Rectangle 3"/>
          <p:cNvSpPr txBox="1">
            <a:spLocks noChangeArrowheads="1"/>
          </p:cNvSpPr>
          <p:nvPr/>
        </p:nvSpPr>
        <p:spPr bwMode="auto">
          <a:xfrm>
            <a:off x="533400" y="675481"/>
            <a:ext cx="7558884"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vl6pPr marL="2138680" indent="-339725" algn="l" rtl="0" eaLnBrk="1" fontAlgn="base" hangingPunct="1">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6pPr>
            <a:lvl7pPr marL="2595880" indent="-339725" algn="l" rtl="0" eaLnBrk="1" fontAlgn="base" hangingPunct="1">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7pPr>
            <a:lvl8pPr marL="3053080" indent="-339725" algn="l" rtl="0" eaLnBrk="1" fontAlgn="base" hangingPunct="1">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8pPr>
            <a:lvl9pPr marL="3510280" indent="-339725" algn="l" rtl="0" eaLnBrk="1" fontAlgn="base" hangingPunct="1">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9pPr>
          </a:lstStyle>
          <a:p>
            <a:pPr marL="0" indent="0" eaLnBrk="1" hangingPunct="1">
              <a:buNone/>
              <a:defRPr/>
            </a:pPr>
            <a:r>
              <a:rPr kumimoji="0" lang="zh-CN" altLang="en-US" sz="2800" b="1" kern="0" dirty="0" smtClean="0"/>
              <a:t>滑动面形式</a:t>
            </a:r>
            <a:r>
              <a:rPr kumimoji="0" lang="en-US" altLang="zh-CN" sz="2800" b="1" kern="0" dirty="0" smtClean="0">
                <a:latin typeface="Arial" panose="020B0604020202020204" pitchFamily="34" charset="0"/>
              </a:rPr>
              <a:t>——</a:t>
            </a:r>
            <a:r>
              <a:rPr kumimoji="0" lang="zh-CN" altLang="en-US" sz="2800" b="1" kern="0" dirty="0" smtClean="0"/>
              <a:t>平面   最危险滑动面</a:t>
            </a:r>
            <a:r>
              <a:rPr kumimoji="0" lang="en-US" altLang="zh-CN" sz="2800" b="1" kern="0" dirty="0" smtClean="0">
                <a:latin typeface="Arial" panose="020B0604020202020204" pitchFamily="34" charset="0"/>
              </a:rPr>
              <a:t>——</a:t>
            </a:r>
            <a:r>
              <a:rPr kumimoji="0" lang="zh-CN" altLang="en-US" sz="2800" b="1" kern="0" dirty="0" smtClean="0"/>
              <a:t>已知</a:t>
            </a:r>
            <a:endParaRPr kumimoji="0" lang="zh-CN" altLang="en-US" sz="2800" b="1" kern="0" dirty="0" smtClean="0"/>
          </a:p>
        </p:txBody>
      </p:sp>
      <mc:AlternateContent xmlns:mc="http://schemas.openxmlformats.org/markup-compatibility/2006">
        <mc:Choice xmlns:a14="http://schemas.microsoft.com/office/drawing/2010/main" Requires="a14">
          <p:sp>
            <p:nvSpPr>
              <p:cNvPr id="8" name="文本框 7"/>
              <p:cNvSpPr txBox="1"/>
              <p:nvPr/>
            </p:nvSpPr>
            <p:spPr>
              <a:xfrm>
                <a:off x="3009900" y="3192552"/>
                <a:ext cx="1537321" cy="369332"/>
              </a:xfrm>
              <a:prstGeom prst="rect">
                <a:avLst/>
              </a:prstGeom>
              <a:noFill/>
            </p:spPr>
            <p:txBody>
              <a:bodyPr wrap="square" lIns="0" tIns="0" rIns="0" bIns="0" rtlCol="0">
                <a:spAutoFit/>
              </a:bodyPr>
              <a:lstStyle/>
              <a:p>
                <a:r>
                  <a:rPr lang="en-US" altLang="zh-CN" sz="2400" dirty="0">
                    <a:latin typeface="Times New Roman" panose="02020603050405020304" pitchFamily="18" charset="0"/>
                    <a:ea typeface="+mn-ea"/>
                    <a:cs typeface="Times New Roman" panose="02020603050405020304" pitchFamily="18" charset="0"/>
                  </a:rPr>
                  <a:t>T</a:t>
                </a:r>
                <a:r>
                  <a:rPr lang="en-US" altLang="zh-CN" sz="2400" dirty="0" smtClean="0">
                    <a:latin typeface="Times New Roman" panose="02020603050405020304" pitchFamily="18" charset="0"/>
                    <a:ea typeface="+mn-ea"/>
                    <a:cs typeface="Times New Roman" panose="02020603050405020304" pitchFamily="18" charset="0"/>
                  </a:rPr>
                  <a:t>=G</a:t>
                </a:r>
                <a14:m>
                  <m:oMath xmlns:m="http://schemas.openxmlformats.org/officeDocument/2006/math">
                    <m:func>
                      <m:funcPr>
                        <m:ctrlPr>
                          <a:rPr lang="en-US" altLang="zh-CN" sz="2400" i="1" smtClean="0">
                            <a:latin typeface="Cambria Math" panose="02040503050406030204" pitchFamily="18" charset="0"/>
                            <a:ea typeface="+mn-ea"/>
                          </a:rPr>
                        </m:ctrlPr>
                      </m:funcPr>
                      <m:fName>
                        <m:r>
                          <m:rPr>
                            <m:sty m:val="p"/>
                          </m:rPr>
                          <a:rPr lang="en-US" altLang="zh-CN" sz="2400" i="0" smtClean="0">
                            <a:latin typeface="Cambria Math" panose="02040503050406030204" pitchFamily="18" charset="0"/>
                            <a:ea typeface="+mn-ea"/>
                          </a:rPr>
                          <m:t>sin</m:t>
                        </m:r>
                      </m:fName>
                      <m:e>
                        <m:r>
                          <a:rPr lang="zh-CN" altLang="en-US" sz="2400" i="1" smtClean="0">
                            <a:latin typeface="Cambria Math" panose="02040503050406030204" pitchFamily="18" charset="0"/>
                            <a:ea typeface="+mn-ea"/>
                          </a:rPr>
                          <m:t>𝛽</m:t>
                        </m:r>
                      </m:e>
                    </m:func>
                  </m:oMath>
                </a14:m>
                <a:endParaRPr lang="zh-CN" altLang="en-US" sz="2400" dirty="0">
                  <a:latin typeface="Times New Roman" panose="02020603050405020304" pitchFamily="18" charset="0"/>
                  <a:ea typeface="+mn-ea"/>
                  <a:cs typeface="Times New Roman" panose="02020603050405020304" pitchFamily="18" charset="0"/>
                </a:endParaRPr>
              </a:p>
            </p:txBody>
          </p:sp>
        </mc:Choice>
        <mc:Fallback>
          <p:sp>
            <p:nvSpPr>
              <p:cNvPr id="8" name="文本框 7"/>
              <p:cNvSpPr txBox="1">
                <a:spLocks noRot="1" noChangeAspect="1" noMove="1" noResize="1" noEditPoints="1" noAdjustHandles="1" noChangeArrowheads="1" noChangeShapeType="1" noTextEdit="1"/>
              </p:cNvSpPr>
              <p:nvPr/>
            </p:nvSpPr>
            <p:spPr>
              <a:xfrm>
                <a:off x="3009900" y="3192552"/>
                <a:ext cx="1537321" cy="369332"/>
              </a:xfrm>
              <a:prstGeom prst="rect">
                <a:avLst/>
              </a:prstGeom>
              <a:blipFill rotWithShape="1">
                <a:blip r:embed="rId1"/>
                <a:stretch>
                  <a:fillRect t="-110" r="40" b="4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2997258" y="3682246"/>
                <a:ext cx="1298112" cy="369332"/>
              </a:xfrm>
              <a:prstGeom prst="rect">
                <a:avLst/>
              </a:prstGeom>
              <a:noFill/>
            </p:spPr>
            <p:txBody>
              <a:bodyPr wrap="none" lIns="0" tIns="0" rIns="0" bIns="0" rtlCol="0">
                <a:spAutoFit/>
              </a:bodyPr>
              <a:lstStyle/>
              <a:p>
                <a:r>
                  <a:rPr lang="en-US" altLang="zh-CN" sz="2400" dirty="0" smtClean="0">
                    <a:latin typeface="Times New Roman" panose="02020603050405020304" pitchFamily="18" charset="0"/>
                    <a:cs typeface="Times New Roman" panose="02020603050405020304" pitchFamily="18" charset="0"/>
                  </a:rPr>
                  <a:t>N=G</a:t>
                </a:r>
                <a14:m>
                  <m:oMath xmlns:m="http://schemas.openxmlformats.org/officeDocument/2006/math">
                    <m:func>
                      <m:funcPr>
                        <m:ctrlPr>
                          <a:rPr lang="en-US" altLang="zh-CN" sz="2400" i="1" smtClean="0">
                            <a:latin typeface="Cambria Math" panose="02040503050406030204" pitchFamily="18" charset="0"/>
                          </a:rPr>
                        </m:ctrlPr>
                      </m:funcPr>
                      <m:fName>
                        <m:r>
                          <m:rPr>
                            <m:sty m:val="p"/>
                          </m:rPr>
                          <a:rPr lang="en-US" altLang="zh-CN" sz="2400" i="0" smtClean="0">
                            <a:latin typeface="Cambria Math" panose="02040503050406030204" pitchFamily="18" charset="0"/>
                          </a:rPr>
                          <m:t>cos</m:t>
                        </m:r>
                      </m:fName>
                      <m:e>
                        <m:r>
                          <a:rPr lang="zh-CN" altLang="en-US" sz="2400" i="1" smtClean="0">
                            <a:latin typeface="Cambria Math" panose="02040503050406030204" pitchFamily="18" charset="0"/>
                          </a:rPr>
                          <m:t>𝛽</m:t>
                        </m:r>
                      </m:e>
                    </m:func>
                  </m:oMath>
                </a14:m>
                <a:endParaRPr lang="zh-CN" altLang="en-US" sz="2400" dirty="0">
                  <a:latin typeface="Times New Roman" panose="02020603050405020304" pitchFamily="18" charset="0"/>
                  <a:cs typeface="Times New Roman" panose="02020603050405020304" pitchFamily="18" charset="0"/>
                </a:endParaRPr>
              </a:p>
            </p:txBody>
          </p:sp>
        </mc:Choice>
        <mc:Fallback>
          <p:sp>
            <p:nvSpPr>
              <p:cNvPr id="9" name="文本框 8"/>
              <p:cNvSpPr txBox="1">
                <a:spLocks noRot="1" noChangeAspect="1" noMove="1" noResize="1" noEditPoints="1" noAdjustHandles="1" noChangeArrowheads="1" noChangeShapeType="1" noTextEdit="1"/>
              </p:cNvSpPr>
              <p:nvPr/>
            </p:nvSpPr>
            <p:spPr>
              <a:xfrm>
                <a:off x="2997258" y="3682246"/>
                <a:ext cx="1298112" cy="369332"/>
              </a:xfrm>
              <a:prstGeom prst="rect">
                <a:avLst/>
              </a:prstGeom>
              <a:blipFill rotWithShape="1">
                <a:blip r:embed="rId2"/>
                <a:stretch>
                  <a:fillRect l="-4" t="-140" r="-4727" b="7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矩形 10"/>
              <p:cNvSpPr/>
              <p:nvPr/>
            </p:nvSpPr>
            <p:spPr>
              <a:xfrm>
                <a:off x="2411760" y="4754096"/>
                <a:ext cx="4215193" cy="557717"/>
              </a:xfrm>
              <a:prstGeom prst="rect">
                <a:avLst/>
              </a:prstGeom>
            </p:spPr>
            <p:txBody>
              <a:bodyPr wrap="none">
                <a:spAutoFit/>
              </a:bodyPr>
              <a:lstStyle/>
              <a:p>
                <a14:m>
                  <m:oMath xmlns:m="http://schemas.openxmlformats.org/officeDocument/2006/math">
                    <m:sSub>
                      <m:sSubPr>
                        <m:ctrlPr>
                          <a:rPr lang="en-US" altLang="zh-CN" i="1" smtClean="0">
                            <a:latin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cs typeface="Times New Roman" panose="02020603050405020304" pitchFamily="18" charset="0"/>
                          </a:rPr>
                          <m:t>𝑇</m:t>
                        </m:r>
                      </m:e>
                      <m:sub>
                        <m:r>
                          <a:rPr lang="en-US" altLang="zh-CN" b="0" i="1" smtClean="0">
                            <a:latin typeface="Cambria Math" panose="02040503050406030204" pitchFamily="18" charset="0"/>
                            <a:cs typeface="Times New Roman" panose="02020603050405020304" pitchFamily="18" charset="0"/>
                          </a:rPr>
                          <m:t>𝑓</m:t>
                        </m:r>
                      </m:sub>
                    </m:sSub>
                  </m:oMath>
                </a14:m>
                <a:r>
                  <a:rPr lang="en-US" altLang="zh-CN" dirty="0" smtClean="0">
                    <a:latin typeface="Times New Roman" panose="02020603050405020304" pitchFamily="18" charset="0"/>
                    <a:cs typeface="Times New Roman" panose="02020603050405020304" pitchFamily="18" charset="0"/>
                  </a:rPr>
                  <a:t>=N</a:t>
                </a:r>
                <a14:m>
                  <m:oMath xmlns:m="http://schemas.openxmlformats.org/officeDocument/2006/math">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tan</m:t>
                        </m:r>
                      </m:fName>
                      <m:e>
                        <m:r>
                          <a:rPr lang="zh-CN" altLang="en-US" i="1">
                            <a:latin typeface="Cambria Math" panose="02040503050406030204" pitchFamily="18" charset="0"/>
                          </a:rPr>
                          <m:t>𝜑</m:t>
                        </m:r>
                        <m:r>
                          <a:rPr lang="en-US" altLang="zh-CN" i="1">
                            <a:latin typeface="Cambria Math" panose="02040503050406030204" pitchFamily="18" charset="0"/>
                          </a:rPr>
                          <m:t>=</m:t>
                        </m:r>
                        <m:r>
                          <a:rPr lang="en-US" altLang="zh-CN" i="1">
                            <a:latin typeface="Cambria Math" panose="02040503050406030204" pitchFamily="18" charset="0"/>
                          </a:rPr>
                          <m:t>𝐺</m:t>
                        </m:r>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cos</m:t>
                            </m:r>
                          </m:fName>
                          <m:e>
                            <m:r>
                              <a:rPr lang="zh-CN" altLang="en-US" i="1">
                                <a:latin typeface="Cambria Math" panose="02040503050406030204" pitchFamily="18" charset="0"/>
                              </a:rPr>
                              <m:t>𝛽</m:t>
                            </m:r>
                          </m:e>
                        </m:func>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tan</m:t>
                            </m:r>
                          </m:fName>
                          <m:e>
                            <m:r>
                              <a:rPr lang="zh-CN" altLang="en-US" i="1">
                                <a:latin typeface="Cambria Math" panose="02040503050406030204" pitchFamily="18" charset="0"/>
                              </a:rPr>
                              <m:t>𝜑</m:t>
                            </m:r>
                          </m:e>
                        </m:func>
                      </m:e>
                    </m:func>
                  </m:oMath>
                </a14:m>
                <a:endParaRPr lang="zh-CN" altLang="en-US" dirty="0"/>
              </a:p>
            </p:txBody>
          </p:sp>
        </mc:Choice>
        <mc:Fallback>
          <p:sp>
            <p:nvSpPr>
              <p:cNvPr id="11" name="矩形 10"/>
              <p:cNvSpPr>
                <a:spLocks noRot="1" noChangeAspect="1" noMove="1" noResize="1" noEditPoints="1" noAdjustHandles="1" noChangeArrowheads="1" noChangeShapeType="1" noTextEdit="1"/>
              </p:cNvSpPr>
              <p:nvPr/>
            </p:nvSpPr>
            <p:spPr>
              <a:xfrm>
                <a:off x="2411760" y="4754096"/>
                <a:ext cx="4215193" cy="557717"/>
              </a:xfrm>
              <a:prstGeom prst="rect">
                <a:avLst/>
              </a:prstGeom>
              <a:blipFill rotWithShape="1">
                <a:blip r:embed="rId3"/>
                <a:stretch>
                  <a:fillRect l="-1" t="-87" r="2" b="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3762935" y="5509928"/>
                <a:ext cx="3954544" cy="702244"/>
              </a:xfrm>
              <a:prstGeom prst="rect">
                <a:avLst/>
              </a:prstGeom>
              <a:solidFill>
                <a:srgbClr val="FFFF00"/>
              </a:solidFill>
            </p:spPr>
            <p:txBody>
              <a:bodyPr wrap="none" lIns="0" tIns="0" rIns="0" bIns="0" rtlCol="0">
                <a:spAutoFit/>
              </a:bodyPr>
              <a:lstStyle/>
              <a:p>
                <a:r>
                  <a:rPr lang="en-US" altLang="zh-CN" dirty="0" smtClean="0"/>
                  <a:t>K=</a:t>
                </a:r>
                <a14:m>
                  <m:oMath xmlns:m="http://schemas.openxmlformats.org/officeDocument/2006/math">
                    <m:f>
                      <m:fPr>
                        <m:ctrlPr>
                          <a:rPr lang="en-US" altLang="zh-CN" i="1" smtClean="0">
                            <a:latin typeface="Cambria Math" panose="02040503050406030204" pitchFamily="18" charset="0"/>
                          </a:rPr>
                        </m:ctrlPr>
                      </m:fPr>
                      <m:num>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𝑇</m:t>
                            </m:r>
                          </m:e>
                          <m:sub>
                            <m:r>
                              <a:rPr lang="en-US" altLang="zh-CN" b="0" i="1" smtClean="0">
                                <a:latin typeface="Cambria Math" panose="02040503050406030204" pitchFamily="18" charset="0"/>
                              </a:rPr>
                              <m:t>𝑓</m:t>
                            </m:r>
                          </m:sub>
                        </m:sSub>
                      </m:num>
                      <m:den>
                        <m:r>
                          <a:rPr lang="en-US" altLang="zh-CN" b="0" i="1" smtClean="0">
                            <a:latin typeface="Cambria Math" panose="02040503050406030204" pitchFamily="18" charset="0"/>
                          </a:rPr>
                          <m:t>𝑇</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𝐺</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cos</m:t>
                            </m:r>
                          </m:fName>
                          <m:e>
                            <m:r>
                              <a:rPr lang="zh-CN" altLang="en-US" b="0" i="1" smtClean="0">
                                <a:latin typeface="Cambria Math" panose="02040503050406030204" pitchFamily="18" charset="0"/>
                              </a:rPr>
                              <m:t>𝛽</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tan</m:t>
                                </m:r>
                              </m:fName>
                              <m:e>
                                <m:r>
                                  <a:rPr lang="zh-CN" altLang="en-US" b="0" i="1" smtClean="0">
                                    <a:latin typeface="Cambria Math" panose="02040503050406030204" pitchFamily="18" charset="0"/>
                                  </a:rPr>
                                  <m:t>𝜑</m:t>
                                </m:r>
                              </m:e>
                            </m:func>
                          </m:e>
                        </m:func>
                      </m:num>
                      <m:den>
                        <m:r>
                          <a:rPr lang="en-US" altLang="zh-CN" b="0" i="1" smtClean="0">
                            <a:latin typeface="Cambria Math" panose="02040503050406030204" pitchFamily="18" charset="0"/>
                          </a:rPr>
                          <m:t>𝐺</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sin</m:t>
                            </m:r>
                          </m:fName>
                          <m:e>
                            <m:r>
                              <a:rPr lang="zh-CN" altLang="en-US" b="0" i="1" smtClean="0">
                                <a:latin typeface="Cambria Math" panose="02040503050406030204" pitchFamily="18" charset="0"/>
                              </a:rPr>
                              <m:t>𝛽</m:t>
                            </m:r>
                          </m:e>
                        </m:func>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tan</m:t>
                            </m:r>
                          </m:fName>
                          <m:e>
                            <m:r>
                              <a:rPr lang="zh-CN" altLang="en-US" b="0" i="1" smtClean="0">
                                <a:latin typeface="Cambria Math" panose="02040503050406030204" pitchFamily="18" charset="0"/>
                              </a:rPr>
                              <m:t>𝜑</m:t>
                            </m:r>
                          </m:e>
                        </m:func>
                      </m:num>
                      <m:den>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tan</m:t>
                            </m:r>
                          </m:fName>
                          <m:e>
                            <m:r>
                              <a:rPr lang="zh-CN" altLang="en-US" b="0" i="1" smtClean="0">
                                <a:latin typeface="Cambria Math" panose="02040503050406030204" pitchFamily="18" charset="0"/>
                              </a:rPr>
                              <m:t>𝛽</m:t>
                            </m:r>
                          </m:e>
                        </m:func>
                      </m:den>
                    </m:f>
                  </m:oMath>
                </a14:m>
                <a:endParaRPr lang="zh-CN" altLang="en-US" dirty="0"/>
              </a:p>
            </p:txBody>
          </p:sp>
        </mc:Choice>
        <mc:Fallback>
          <p:sp>
            <p:nvSpPr>
              <p:cNvPr id="12" name="文本框 11"/>
              <p:cNvSpPr txBox="1">
                <a:spLocks noRot="1" noChangeAspect="1" noMove="1" noResize="1" noEditPoints="1" noAdjustHandles="1" noChangeArrowheads="1" noChangeShapeType="1" noTextEdit="1"/>
              </p:cNvSpPr>
              <p:nvPr/>
            </p:nvSpPr>
            <p:spPr>
              <a:xfrm>
                <a:off x="3762935" y="5509928"/>
                <a:ext cx="3954544" cy="702244"/>
              </a:xfrm>
              <a:prstGeom prst="rect">
                <a:avLst/>
              </a:prstGeom>
              <a:blipFill rotWithShape="1">
                <a:blip r:embed="rId4"/>
                <a:stretch>
                  <a:fillRect l="-14" t="-5" r="8" b="86"/>
                </a:stretch>
              </a:blipFill>
            </p:spPr>
            <p:txBody>
              <a:bodyPr/>
              <a:lstStyle/>
              <a:p>
                <a:r>
                  <a:rPr lang="zh-CN" altLang="en-US">
                    <a:noFill/>
                  </a:rPr>
                  <a:t> </a:t>
                </a:r>
              </a:p>
            </p:txBody>
          </p:sp>
        </mc:Fallback>
      </mc:AlternateContent>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46560"/>
                                        </p:tgtEl>
                                        <p:attrNameLst>
                                          <p:attrName>style.visibility</p:attrName>
                                        </p:attrNameLst>
                                      </p:cBhvr>
                                      <p:to>
                                        <p:strVal val="visible"/>
                                      </p:to>
                                    </p:set>
                                    <p:animEffect transition="in" filter="wipe(left)">
                                      <p:cBhvr>
                                        <p:cTn id="7" dur="500"/>
                                        <p:tgtEl>
                                          <p:spTgt spid="74656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746543"/>
                                        </p:tgtEl>
                                        <p:attrNameLst>
                                          <p:attrName>style.visibility</p:attrName>
                                        </p:attrNameLst>
                                      </p:cBhvr>
                                      <p:to>
                                        <p:strVal val="visible"/>
                                      </p:to>
                                    </p:set>
                                    <p:animEffect transition="in" filter="wipe(left)">
                                      <p:cBhvr>
                                        <p:cTn id="11" dur="500"/>
                                        <p:tgtEl>
                                          <p:spTgt spid="746543"/>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746499"/>
                                        </p:tgtEl>
                                        <p:attrNameLst>
                                          <p:attrName>style.visibility</p:attrName>
                                        </p:attrNameLst>
                                      </p:cBhvr>
                                      <p:to>
                                        <p:strVal val="visible"/>
                                      </p:to>
                                    </p:set>
                                    <p:animEffect transition="in" filter="dissolve">
                                      <p:cBhvr>
                                        <p:cTn id="16" dur="500"/>
                                        <p:tgtEl>
                                          <p:spTgt spid="74649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46558"/>
                                        </p:tgtEl>
                                        <p:attrNameLst>
                                          <p:attrName>style.visibility</p:attrName>
                                        </p:attrNameLst>
                                      </p:cBhvr>
                                      <p:to>
                                        <p:strVal val="visible"/>
                                      </p:to>
                                    </p:set>
                                    <p:animEffect transition="in" filter="wipe(left)">
                                      <p:cBhvr>
                                        <p:cTn id="21" dur="500"/>
                                        <p:tgtEl>
                                          <p:spTgt spid="746558"/>
                                        </p:tgtEl>
                                      </p:cBhvr>
                                    </p:animEffect>
                                  </p:childTnLst>
                                </p:cTn>
                              </p:par>
                            </p:childTnLst>
                          </p:cTn>
                        </p:par>
                        <p:par>
                          <p:cTn id="22" fill="hold">
                            <p:stCondLst>
                              <p:cond delay="500"/>
                            </p:stCondLst>
                            <p:childTnLst>
                              <p:par>
                                <p:cTn id="23" presetID="9" presetClass="entr" presetSubtype="0" fill="hold"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dissolve">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1" fill="hold" grpId="0" nodeType="clickEffect">
                                  <p:stCondLst>
                                    <p:cond delay="0"/>
                                  </p:stCondLst>
                                  <p:childTnLst>
                                    <p:set>
                                      <p:cBhvr>
                                        <p:cTn id="29" dur="1" fill="hold">
                                          <p:stCondLst>
                                            <p:cond delay="0"/>
                                          </p:stCondLst>
                                        </p:cTn>
                                        <p:tgtEl>
                                          <p:spTgt spid="746559"/>
                                        </p:tgtEl>
                                        <p:attrNameLst>
                                          <p:attrName>style.visibility</p:attrName>
                                        </p:attrNameLst>
                                      </p:cBhvr>
                                      <p:to>
                                        <p:strVal val="visible"/>
                                      </p:to>
                                    </p:set>
                                    <p:animEffect transition="in" filter="slide(fromTop)">
                                      <p:cBhvr>
                                        <p:cTn id="30" dur="500"/>
                                        <p:tgtEl>
                                          <p:spTgt spid="746559"/>
                                        </p:tgtEl>
                                      </p:cBhvr>
                                    </p:animEffect>
                                  </p:childTnLst>
                                </p:cTn>
                              </p:par>
                            </p:childTnLst>
                          </p:cTn>
                        </p:par>
                        <p:par>
                          <p:cTn id="31" fill="hold">
                            <p:stCondLst>
                              <p:cond delay="500"/>
                            </p:stCondLst>
                            <p:childTnLst>
                              <p:par>
                                <p:cTn id="32" presetID="9" presetClass="entr" presetSubtype="0" fill="hold" grpId="0" nodeType="afterEffect">
                                  <p:stCondLst>
                                    <p:cond delay="0"/>
                                  </p:stCondLst>
                                  <p:childTnLst>
                                    <p:set>
                                      <p:cBhvr>
                                        <p:cTn id="33" dur="1" fill="hold">
                                          <p:stCondLst>
                                            <p:cond delay="0"/>
                                          </p:stCondLst>
                                        </p:cTn>
                                        <p:tgtEl>
                                          <p:spTgt spid="746570"/>
                                        </p:tgtEl>
                                        <p:attrNameLst>
                                          <p:attrName>style.visibility</p:attrName>
                                        </p:attrNameLst>
                                      </p:cBhvr>
                                      <p:to>
                                        <p:strVal val="visible"/>
                                      </p:to>
                                    </p:set>
                                    <p:animEffect transition="in" filter="dissolve">
                                      <p:cBhvr>
                                        <p:cTn id="34" dur="500"/>
                                        <p:tgtEl>
                                          <p:spTgt spid="74657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746527">
                                            <p:txEl>
                                              <p:pRg st="0" end="0"/>
                                            </p:txEl>
                                          </p:spTgt>
                                        </p:tgtEl>
                                        <p:attrNameLst>
                                          <p:attrName>style.visibility</p:attrName>
                                        </p:attrNameLst>
                                      </p:cBhvr>
                                      <p:to>
                                        <p:strVal val="visible"/>
                                      </p:to>
                                    </p:set>
                                    <p:animEffect transition="in" filter="wipe(left)">
                                      <p:cBhvr>
                                        <p:cTn id="39" dur="500"/>
                                        <p:tgtEl>
                                          <p:spTgt spid="746527">
                                            <p:txEl>
                                              <p:pRg st="0" end="0"/>
                                            </p:txEl>
                                          </p:spTgt>
                                        </p:tgtEl>
                                      </p:cBhvr>
                                    </p:animEffect>
                                  </p:childTnLst>
                                </p:cTn>
                              </p:par>
                            </p:childTnLst>
                          </p:cTn>
                        </p:par>
                        <p:par>
                          <p:cTn id="40" fill="hold">
                            <p:stCondLst>
                              <p:cond delay="500"/>
                            </p:stCondLst>
                            <p:childTnLst>
                              <p:par>
                                <p:cTn id="41" presetID="22" presetClass="entr" presetSubtype="1" fill="hold" nodeType="afterEffect">
                                  <p:stCondLst>
                                    <p:cond delay="0"/>
                                  </p:stCondLst>
                                  <p:childTnLst>
                                    <p:set>
                                      <p:cBhvr>
                                        <p:cTn id="42" dur="1" fill="hold">
                                          <p:stCondLst>
                                            <p:cond delay="0"/>
                                          </p:stCondLst>
                                        </p:cTn>
                                        <p:tgtEl>
                                          <p:spTgt spid="746549"/>
                                        </p:tgtEl>
                                        <p:attrNameLst>
                                          <p:attrName>style.visibility</p:attrName>
                                        </p:attrNameLst>
                                      </p:cBhvr>
                                      <p:to>
                                        <p:strVal val="visible"/>
                                      </p:to>
                                    </p:set>
                                    <p:animEffect transition="in" filter="wipe(up)">
                                      <p:cBhvr>
                                        <p:cTn id="43" dur="500"/>
                                        <p:tgtEl>
                                          <p:spTgt spid="746549"/>
                                        </p:tgtEl>
                                      </p:cBhvr>
                                    </p:animEffect>
                                  </p:childTnLst>
                                </p:cTn>
                              </p:par>
                            </p:childTnLst>
                          </p:cTn>
                        </p:par>
                        <p:par>
                          <p:cTn id="44" fill="hold">
                            <p:stCondLst>
                              <p:cond delay="1000"/>
                            </p:stCondLst>
                            <p:childTnLst>
                              <p:par>
                                <p:cTn id="45" presetID="9" presetClass="entr" presetSubtype="0" fill="hold" grpId="0" nodeType="afterEffect">
                                  <p:stCondLst>
                                    <p:cond delay="0"/>
                                  </p:stCondLst>
                                  <p:childTnLst>
                                    <p:set>
                                      <p:cBhvr>
                                        <p:cTn id="46" dur="1" fill="hold">
                                          <p:stCondLst>
                                            <p:cond delay="0"/>
                                          </p:stCondLst>
                                        </p:cTn>
                                        <p:tgtEl>
                                          <p:spTgt spid="746553"/>
                                        </p:tgtEl>
                                        <p:attrNameLst>
                                          <p:attrName>style.visibility</p:attrName>
                                        </p:attrNameLst>
                                      </p:cBhvr>
                                      <p:to>
                                        <p:strVal val="visible"/>
                                      </p:to>
                                    </p:set>
                                    <p:animEffect transition="in" filter="dissolve">
                                      <p:cBhvr>
                                        <p:cTn id="47" dur="500"/>
                                        <p:tgtEl>
                                          <p:spTgt spid="74655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746550"/>
                                        </p:tgtEl>
                                        <p:attrNameLst>
                                          <p:attrName>style.visibility</p:attrName>
                                        </p:attrNameLst>
                                      </p:cBhvr>
                                      <p:to>
                                        <p:strVal val="visible"/>
                                      </p:to>
                                    </p:set>
                                    <p:animEffect transition="in" filter="wipe(up)">
                                      <p:cBhvr>
                                        <p:cTn id="52" dur="500"/>
                                        <p:tgtEl>
                                          <p:spTgt spid="746550"/>
                                        </p:tgtEl>
                                      </p:cBhvr>
                                    </p:animEffect>
                                  </p:childTnLst>
                                </p:cTn>
                              </p:par>
                            </p:childTnLst>
                          </p:cTn>
                        </p:par>
                        <p:par>
                          <p:cTn id="53" fill="hold">
                            <p:stCondLst>
                              <p:cond delay="500"/>
                            </p:stCondLst>
                            <p:childTnLst>
                              <p:par>
                                <p:cTn id="54" presetID="9" presetClass="entr" presetSubtype="0" fill="hold" grpId="0" nodeType="afterEffect">
                                  <p:stCondLst>
                                    <p:cond delay="0"/>
                                  </p:stCondLst>
                                  <p:childTnLst>
                                    <p:set>
                                      <p:cBhvr>
                                        <p:cTn id="55" dur="1" fill="hold">
                                          <p:stCondLst>
                                            <p:cond delay="0"/>
                                          </p:stCondLst>
                                        </p:cTn>
                                        <p:tgtEl>
                                          <p:spTgt spid="746555"/>
                                        </p:tgtEl>
                                        <p:attrNameLst>
                                          <p:attrName>style.visibility</p:attrName>
                                        </p:attrNameLst>
                                      </p:cBhvr>
                                      <p:to>
                                        <p:strVal val="visible"/>
                                      </p:to>
                                    </p:set>
                                    <p:animEffect transition="in" filter="dissolve">
                                      <p:cBhvr>
                                        <p:cTn id="56" dur="500"/>
                                        <p:tgtEl>
                                          <p:spTgt spid="746555"/>
                                        </p:tgtEl>
                                      </p:cBhvr>
                                    </p:animEffect>
                                  </p:childTnLst>
                                </p:cTn>
                              </p:par>
                            </p:childTnLst>
                          </p:cTn>
                        </p:par>
                        <p:par>
                          <p:cTn id="57" fill="hold">
                            <p:stCondLst>
                              <p:cond delay="1000"/>
                            </p:stCondLst>
                            <p:childTnLst>
                              <p:par>
                                <p:cTn id="58" presetID="22" presetClass="entr" presetSubtype="2" fill="hold" nodeType="afterEffect">
                                  <p:stCondLst>
                                    <p:cond delay="0"/>
                                  </p:stCondLst>
                                  <p:childTnLst>
                                    <p:set>
                                      <p:cBhvr>
                                        <p:cTn id="59" dur="1" fill="hold">
                                          <p:stCondLst>
                                            <p:cond delay="0"/>
                                          </p:stCondLst>
                                        </p:cTn>
                                        <p:tgtEl>
                                          <p:spTgt spid="746551"/>
                                        </p:tgtEl>
                                        <p:attrNameLst>
                                          <p:attrName>style.visibility</p:attrName>
                                        </p:attrNameLst>
                                      </p:cBhvr>
                                      <p:to>
                                        <p:strVal val="visible"/>
                                      </p:to>
                                    </p:set>
                                    <p:animEffect transition="in" filter="wipe(right)">
                                      <p:cBhvr>
                                        <p:cTn id="60" dur="500"/>
                                        <p:tgtEl>
                                          <p:spTgt spid="746551"/>
                                        </p:tgtEl>
                                      </p:cBhvr>
                                    </p:animEffect>
                                  </p:childTnLst>
                                </p:cTn>
                              </p:par>
                            </p:childTnLst>
                          </p:cTn>
                        </p:par>
                        <p:par>
                          <p:cTn id="61" fill="hold">
                            <p:stCondLst>
                              <p:cond delay="1500"/>
                            </p:stCondLst>
                            <p:childTnLst>
                              <p:par>
                                <p:cTn id="62" presetID="9" presetClass="entr" presetSubtype="0" fill="hold" grpId="0" nodeType="afterEffect">
                                  <p:stCondLst>
                                    <p:cond delay="0"/>
                                  </p:stCondLst>
                                  <p:childTnLst>
                                    <p:set>
                                      <p:cBhvr>
                                        <p:cTn id="63" dur="1" fill="hold">
                                          <p:stCondLst>
                                            <p:cond delay="0"/>
                                          </p:stCondLst>
                                        </p:cTn>
                                        <p:tgtEl>
                                          <p:spTgt spid="746554"/>
                                        </p:tgtEl>
                                        <p:attrNameLst>
                                          <p:attrName>style.visibility</p:attrName>
                                        </p:attrNameLst>
                                      </p:cBhvr>
                                      <p:to>
                                        <p:strVal val="visible"/>
                                      </p:to>
                                    </p:set>
                                    <p:animEffect transition="in" filter="dissolve">
                                      <p:cBhvr>
                                        <p:cTn id="64" dur="500"/>
                                        <p:tgtEl>
                                          <p:spTgt spid="746554"/>
                                        </p:tgtEl>
                                      </p:cBhvr>
                                    </p:animEffect>
                                  </p:childTnLst>
                                </p:cTn>
                              </p:par>
                            </p:childTnLst>
                          </p:cTn>
                        </p:par>
                      </p:childTnLst>
                    </p:cTn>
                  </p:par>
                  <p:par>
                    <p:cTn id="65" fill="hold">
                      <p:stCondLst>
                        <p:cond delay="indefinite"/>
                      </p:stCondLst>
                      <p:childTnLst>
                        <p:par>
                          <p:cTn id="66" fill="hold">
                            <p:stCondLst>
                              <p:cond delay="0"/>
                            </p:stCondLst>
                            <p:childTnLst>
                              <p:par>
                                <p:cTn id="67" presetID="9" presetClass="entr" presetSubtype="0" fill="hold" grpId="0" nodeType="clickEffect">
                                  <p:stCondLst>
                                    <p:cond delay="0"/>
                                  </p:stCondLst>
                                  <p:childTnLst>
                                    <p:set>
                                      <p:cBhvr>
                                        <p:cTn id="68" dur="1" fill="hold">
                                          <p:stCondLst>
                                            <p:cond delay="0"/>
                                          </p:stCondLst>
                                        </p:cTn>
                                        <p:tgtEl>
                                          <p:spTgt spid="746565"/>
                                        </p:tgtEl>
                                        <p:attrNameLst>
                                          <p:attrName>style.visibility</p:attrName>
                                        </p:attrNameLst>
                                      </p:cBhvr>
                                      <p:to>
                                        <p:strVal val="visible"/>
                                      </p:to>
                                    </p:set>
                                    <p:animEffect transition="in" filter="dissolve">
                                      <p:cBhvr>
                                        <p:cTn id="69" dur="500"/>
                                        <p:tgtEl>
                                          <p:spTgt spid="746565"/>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nodeType="clickEffect">
                                  <p:stCondLst>
                                    <p:cond delay="0"/>
                                  </p:stCondLst>
                                  <p:childTnLst>
                                    <p:set>
                                      <p:cBhvr>
                                        <p:cTn id="73" dur="1" fill="hold">
                                          <p:stCondLst>
                                            <p:cond delay="0"/>
                                          </p:stCondLst>
                                        </p:cTn>
                                        <p:tgtEl>
                                          <p:spTgt spid="746566"/>
                                        </p:tgtEl>
                                        <p:attrNameLst>
                                          <p:attrName>style.visibility</p:attrName>
                                        </p:attrNameLst>
                                      </p:cBhvr>
                                      <p:to>
                                        <p:strVal val="visible"/>
                                      </p:to>
                                    </p:set>
                                    <p:animEffect transition="in" filter="wipe(up)">
                                      <p:cBhvr>
                                        <p:cTn id="74" dur="500"/>
                                        <p:tgtEl>
                                          <p:spTgt spid="746566"/>
                                        </p:tgtEl>
                                      </p:cBhvr>
                                    </p:animEffect>
                                  </p:childTnLst>
                                </p:cTn>
                              </p:par>
                            </p:childTnLst>
                          </p:cTn>
                        </p:par>
                        <p:par>
                          <p:cTn id="75" fill="hold">
                            <p:stCondLst>
                              <p:cond delay="500"/>
                            </p:stCondLst>
                            <p:childTnLst>
                              <p:par>
                                <p:cTn id="76" presetID="9" presetClass="entr" presetSubtype="0" fill="hold" grpId="0" nodeType="afterEffect">
                                  <p:stCondLst>
                                    <p:cond delay="0"/>
                                  </p:stCondLst>
                                  <p:childTnLst>
                                    <p:set>
                                      <p:cBhvr>
                                        <p:cTn id="77" dur="1" fill="hold">
                                          <p:stCondLst>
                                            <p:cond delay="0"/>
                                          </p:stCondLst>
                                        </p:cTn>
                                        <p:tgtEl>
                                          <p:spTgt spid="746563"/>
                                        </p:tgtEl>
                                        <p:attrNameLst>
                                          <p:attrName>style.visibility</p:attrName>
                                        </p:attrNameLst>
                                      </p:cBhvr>
                                      <p:to>
                                        <p:strVal val="visible"/>
                                      </p:to>
                                    </p:set>
                                    <p:animEffect transition="in" filter="dissolve">
                                      <p:cBhvr>
                                        <p:cTn id="78" dur="500"/>
                                        <p:tgtEl>
                                          <p:spTgt spid="746563"/>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4" fill="hold" nodeType="clickEffect">
                                  <p:stCondLst>
                                    <p:cond delay="0"/>
                                  </p:stCondLst>
                                  <p:childTnLst>
                                    <p:set>
                                      <p:cBhvr>
                                        <p:cTn id="82" dur="1" fill="hold">
                                          <p:stCondLst>
                                            <p:cond delay="0"/>
                                          </p:stCondLst>
                                        </p:cTn>
                                        <p:tgtEl>
                                          <p:spTgt spid="746567"/>
                                        </p:tgtEl>
                                        <p:attrNameLst>
                                          <p:attrName>style.visibility</p:attrName>
                                        </p:attrNameLst>
                                      </p:cBhvr>
                                      <p:to>
                                        <p:strVal val="visible"/>
                                      </p:to>
                                    </p:set>
                                    <p:animEffect transition="in" filter="wipe(down)">
                                      <p:cBhvr>
                                        <p:cTn id="83" dur="500"/>
                                        <p:tgtEl>
                                          <p:spTgt spid="746567"/>
                                        </p:tgtEl>
                                      </p:cBhvr>
                                    </p:animEffect>
                                  </p:childTnLst>
                                </p:cTn>
                              </p:par>
                            </p:childTnLst>
                          </p:cTn>
                        </p:par>
                        <p:par>
                          <p:cTn id="84" fill="hold">
                            <p:stCondLst>
                              <p:cond delay="500"/>
                            </p:stCondLst>
                            <p:childTnLst>
                              <p:par>
                                <p:cTn id="85" presetID="9" presetClass="entr" presetSubtype="0" fill="hold" grpId="0" nodeType="afterEffect">
                                  <p:stCondLst>
                                    <p:cond delay="0"/>
                                  </p:stCondLst>
                                  <p:childTnLst>
                                    <p:set>
                                      <p:cBhvr>
                                        <p:cTn id="86" dur="1" fill="hold">
                                          <p:stCondLst>
                                            <p:cond delay="0"/>
                                          </p:stCondLst>
                                        </p:cTn>
                                        <p:tgtEl>
                                          <p:spTgt spid="746569"/>
                                        </p:tgtEl>
                                        <p:attrNameLst>
                                          <p:attrName>style.visibility</p:attrName>
                                        </p:attrNameLst>
                                      </p:cBhvr>
                                      <p:to>
                                        <p:strVal val="visible"/>
                                      </p:to>
                                    </p:set>
                                    <p:animEffect transition="in" filter="dissolve">
                                      <p:cBhvr>
                                        <p:cTn id="87" dur="500"/>
                                        <p:tgtEl>
                                          <p:spTgt spid="746569"/>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746568"/>
                                        </p:tgtEl>
                                        <p:attrNameLst>
                                          <p:attrName>style.visibility</p:attrName>
                                        </p:attrNameLst>
                                      </p:cBhvr>
                                      <p:to>
                                        <p:strVal val="visible"/>
                                      </p:to>
                                    </p:set>
                                    <p:animEffect transition="in" filter="wipe(left)">
                                      <p:cBhvr>
                                        <p:cTn id="92" dur="500"/>
                                        <p:tgtEl>
                                          <p:spTgt spid="746568"/>
                                        </p:tgtEl>
                                      </p:cBhvr>
                                    </p:animEffect>
                                  </p:childTnLst>
                                </p:cTn>
                              </p:par>
                            </p:childTnLst>
                          </p:cTn>
                        </p:par>
                        <p:par>
                          <p:cTn id="93" fill="hold">
                            <p:stCondLst>
                              <p:cond delay="500"/>
                            </p:stCondLst>
                            <p:childTnLst>
                              <p:par>
                                <p:cTn id="94" presetID="9" presetClass="entr" presetSubtype="0" fill="hold" grpId="0" nodeType="afterEffect">
                                  <p:stCondLst>
                                    <p:cond delay="0"/>
                                  </p:stCondLst>
                                  <p:childTnLst>
                                    <p:set>
                                      <p:cBhvr>
                                        <p:cTn id="95" dur="1" fill="hold">
                                          <p:stCondLst>
                                            <p:cond delay="0"/>
                                          </p:stCondLst>
                                        </p:cTn>
                                        <p:tgtEl>
                                          <p:spTgt spid="746564"/>
                                        </p:tgtEl>
                                        <p:attrNameLst>
                                          <p:attrName>style.visibility</p:attrName>
                                        </p:attrNameLst>
                                      </p:cBhvr>
                                      <p:to>
                                        <p:strVal val="visible"/>
                                      </p:to>
                                    </p:set>
                                    <p:animEffect transition="in" filter="dissolve">
                                      <p:cBhvr>
                                        <p:cTn id="96" dur="500"/>
                                        <p:tgtEl>
                                          <p:spTgt spid="746564"/>
                                        </p:tgtEl>
                                      </p:cBhvr>
                                    </p:animEffect>
                                  </p:childTnLst>
                                </p:cTn>
                              </p:par>
                            </p:childTnLst>
                          </p:cTn>
                        </p:par>
                      </p:childTnLst>
                    </p:cTn>
                  </p:par>
                  <p:par>
                    <p:cTn id="97" fill="hold">
                      <p:stCondLst>
                        <p:cond delay="indefinite"/>
                      </p:stCondLst>
                      <p:childTnLst>
                        <p:par>
                          <p:cTn id="98" fill="hold">
                            <p:stCondLst>
                              <p:cond delay="0"/>
                            </p:stCondLst>
                            <p:childTnLst>
                              <p:par>
                                <p:cTn id="99" presetID="2" presetClass="entr" presetSubtype="8" fill="hold" grpId="0" nodeType="clickEffect">
                                  <p:stCondLst>
                                    <p:cond delay="0"/>
                                  </p:stCondLst>
                                  <p:childTnLst>
                                    <p:set>
                                      <p:cBhvr>
                                        <p:cTn id="100" dur="1" fill="hold">
                                          <p:stCondLst>
                                            <p:cond delay="0"/>
                                          </p:stCondLst>
                                        </p:cTn>
                                        <p:tgtEl>
                                          <p:spTgt spid="746534"/>
                                        </p:tgtEl>
                                        <p:attrNameLst>
                                          <p:attrName>style.visibility</p:attrName>
                                        </p:attrNameLst>
                                      </p:cBhvr>
                                      <p:to>
                                        <p:strVal val="visible"/>
                                      </p:to>
                                    </p:set>
                                    <p:anim calcmode="lin" valueType="num">
                                      <p:cBhvr additive="base">
                                        <p:cTn id="101" dur="500" fill="hold"/>
                                        <p:tgtEl>
                                          <p:spTgt spid="746534"/>
                                        </p:tgtEl>
                                        <p:attrNameLst>
                                          <p:attrName>ppt_x</p:attrName>
                                        </p:attrNameLst>
                                      </p:cBhvr>
                                      <p:tavLst>
                                        <p:tav tm="0">
                                          <p:val>
                                            <p:strVal val="0-#ppt_w/2"/>
                                          </p:val>
                                        </p:tav>
                                        <p:tav tm="100000">
                                          <p:val>
                                            <p:strVal val="#ppt_x"/>
                                          </p:val>
                                        </p:tav>
                                      </p:tavLst>
                                    </p:anim>
                                    <p:anim calcmode="lin" valueType="num">
                                      <p:cBhvr additive="base">
                                        <p:cTn id="102" dur="500" fill="hold"/>
                                        <p:tgtEl>
                                          <p:spTgt spid="7465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6499" grpId="0" autoUpdateAnimBg="0"/>
      <p:bldP spid="746527" grpId="0" autoUpdateAnimBg="0" build="p"/>
      <p:bldP spid="746534" grpId="0" autoUpdateAnimBg="0"/>
      <p:bldP spid="746553" grpId="0" autoUpdateAnimBg="0"/>
      <p:bldP spid="746554" grpId="0" autoUpdateAnimBg="0"/>
      <p:bldP spid="746555" grpId="0" autoUpdateAnimBg="0"/>
      <p:bldP spid="746558" grpId="0" autoUpdateAnimBg="0"/>
      <p:bldP spid="746559" grpId="0" bldLvl="0" animBg="1"/>
      <p:bldP spid="746563" grpId="0" autoUpdateAnimBg="0"/>
      <p:bldP spid="746564" grpId="0" autoUpdateAnimBg="0"/>
      <p:bldP spid="746565" grpId="0" bldLvl="0" animBg="1"/>
      <p:bldP spid="746569" grpId="0" autoUpdateAnimBg="0"/>
      <p:bldP spid="746570"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62" name="Rectangle 42"/>
          <p:cNvSpPr>
            <a:spLocks noGrp="1" noChangeArrowheads="1"/>
          </p:cNvSpPr>
          <p:nvPr>
            <p:ph type="body" sz="half" idx="1"/>
          </p:nvPr>
        </p:nvSpPr>
        <p:spPr bwMode="auto">
          <a:xfrm>
            <a:off x="381000" y="1371600"/>
            <a:ext cx="565785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indent="0" algn="just" eaLnBrk="1" hangingPunct="1">
              <a:lnSpc>
                <a:spcPct val="90000"/>
              </a:lnSpc>
            </a:pPr>
            <a:r>
              <a:rPr lang="zh-CN" altLang="en-US" sz="2800" dirty="0" smtClean="0">
                <a:latin typeface="华文新魏" panose="02010800040101010101" pitchFamily="2" charset="-122"/>
                <a:ea typeface="华文新魏" panose="02010800040101010101" pitchFamily="2" charset="-122"/>
              </a:rPr>
              <a:t>当</a:t>
            </a:r>
            <a:r>
              <a:rPr lang="zh-CN" altLang="en-US" sz="2800" dirty="0" smtClean="0">
                <a:latin typeface="华文新魏" panose="02010800040101010101" pitchFamily="2" charset="-122"/>
                <a:ea typeface="华文新魏" panose="02010800040101010101" pitchFamily="2" charset="-122"/>
                <a:sym typeface="Symbol" panose="05050102010706020507" pitchFamily="18" charset="2"/>
              </a:rPr>
              <a:t></a:t>
            </a:r>
            <a:r>
              <a:rPr lang="en-US" altLang="zh-CN" sz="2800" dirty="0" smtClean="0">
                <a:latin typeface="华文新魏" panose="02010800040101010101" pitchFamily="2" charset="-122"/>
                <a:ea typeface="华文新魏" panose="02010800040101010101" pitchFamily="2" charset="-122"/>
              </a:rPr>
              <a:t>=</a:t>
            </a:r>
            <a:r>
              <a:rPr lang="en-US" altLang="zh-CN" sz="2800" dirty="0" smtClean="0">
                <a:latin typeface="华文新魏" panose="02010800040101010101" pitchFamily="2" charset="-122"/>
                <a:ea typeface="华文新魏" panose="02010800040101010101" pitchFamily="2" charset="-122"/>
                <a:sym typeface="Symbol" panose="05050102010706020507" pitchFamily="18" charset="2"/>
              </a:rPr>
              <a:t></a:t>
            </a:r>
            <a:r>
              <a:rPr lang="zh-CN" altLang="en-US" sz="2800" dirty="0" smtClean="0">
                <a:latin typeface="华文新魏" panose="02010800040101010101" pitchFamily="2" charset="-122"/>
                <a:ea typeface="华文新魏" panose="02010800040101010101" pitchFamily="2" charset="-122"/>
              </a:rPr>
              <a:t>时，</a:t>
            </a:r>
            <a:r>
              <a:rPr lang="en-US" altLang="zh-CN" sz="2800" dirty="0" smtClean="0">
                <a:latin typeface="华文新魏" panose="02010800040101010101" pitchFamily="2" charset="-122"/>
                <a:ea typeface="华文新魏" panose="02010800040101010101" pitchFamily="2" charset="-122"/>
              </a:rPr>
              <a:t>K</a:t>
            </a:r>
            <a:r>
              <a:rPr lang="en-US" altLang="zh-CN" sz="2400" dirty="0" smtClean="0"/>
              <a:t>=1.0</a:t>
            </a:r>
            <a:r>
              <a:rPr lang="zh-CN" altLang="en-US" sz="2400" dirty="0" smtClean="0"/>
              <a:t>，</a:t>
            </a:r>
            <a:r>
              <a:rPr lang="zh-CN" altLang="en-US" sz="2800" dirty="0" smtClean="0">
                <a:ea typeface="华文新魏" panose="02010800040101010101" pitchFamily="2" charset="-122"/>
              </a:rPr>
              <a:t>天然休止角</a:t>
            </a:r>
            <a:endParaRPr lang="zh-CN" altLang="en-US" sz="2800" dirty="0" smtClean="0">
              <a:ea typeface="华文新魏" panose="02010800040101010101" pitchFamily="2" charset="-122"/>
            </a:endParaRPr>
          </a:p>
        </p:txBody>
      </p:sp>
      <p:sp>
        <p:nvSpPr>
          <p:cNvPr id="747564" name="Rectangle 44"/>
          <p:cNvSpPr>
            <a:spLocks noChangeArrowheads="1"/>
          </p:cNvSpPr>
          <p:nvPr/>
        </p:nvSpPr>
        <p:spPr bwMode="auto">
          <a:xfrm>
            <a:off x="362060" y="2055347"/>
            <a:ext cx="404790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buFontTx/>
              <a:buChar char="•"/>
            </a:pPr>
            <a:r>
              <a:rPr kumimoji="1" lang="zh-CN" altLang="en-US" sz="2800" dirty="0">
                <a:solidFill>
                  <a:schemeClr val="tx1"/>
                </a:solidFill>
                <a:latin typeface="Times New Roman" panose="02020603050405020304" pitchFamily="18" charset="0"/>
                <a:ea typeface="华文新魏" panose="02010800040101010101" pitchFamily="2" charset="-122"/>
              </a:rPr>
              <a:t>安全系数与</a:t>
            </a:r>
            <a:r>
              <a:rPr kumimoji="1" lang="zh-CN" altLang="en-US" sz="2800" dirty="0" smtClean="0">
                <a:solidFill>
                  <a:schemeClr val="tx1"/>
                </a:solidFill>
                <a:latin typeface="Times New Roman" panose="02020603050405020304" pitchFamily="18" charset="0"/>
                <a:ea typeface="华文新魏" panose="02010800040101010101" pitchFamily="2" charset="-122"/>
              </a:rPr>
              <a:t>土重</a:t>
            </a:r>
            <a:r>
              <a:rPr lang="zh-CN" altLang="en-US" sz="2800" dirty="0" smtClean="0">
                <a:solidFill>
                  <a:schemeClr val="tx1"/>
                </a:solidFill>
                <a:latin typeface="Times New Roman" panose="02020603050405020304" pitchFamily="18" charset="0"/>
                <a:ea typeface="华文新魏" panose="02010800040101010101" pitchFamily="2" charset="-122"/>
              </a:rPr>
              <a:t>度</a:t>
            </a:r>
            <a:r>
              <a:rPr kumimoji="1" lang="zh-CN" altLang="en-US" sz="2800" dirty="0" smtClean="0">
                <a:solidFill>
                  <a:schemeClr val="tx1"/>
                </a:solidFill>
                <a:latin typeface="Times New Roman" panose="02020603050405020304" pitchFamily="18" charset="0"/>
                <a:sym typeface="Symbol" panose="05050102010706020507" pitchFamily="18" charset="2"/>
              </a:rPr>
              <a:t></a:t>
            </a:r>
            <a:r>
              <a:rPr kumimoji="1" lang="zh-CN" altLang="en-US" sz="2800" dirty="0">
                <a:solidFill>
                  <a:schemeClr val="tx1"/>
                </a:solidFill>
                <a:latin typeface="Times New Roman" panose="02020603050405020304" pitchFamily="18" charset="0"/>
                <a:ea typeface="华文新魏" panose="02010800040101010101" pitchFamily="2" charset="-122"/>
              </a:rPr>
              <a:t>无关</a:t>
            </a:r>
            <a:endParaRPr kumimoji="1" lang="zh-CN" altLang="en-US" sz="2800" dirty="0">
              <a:solidFill>
                <a:schemeClr val="tx1"/>
              </a:solidFill>
              <a:latin typeface="Times New Roman" panose="02020603050405020304" pitchFamily="18" charset="0"/>
              <a:ea typeface="华文新魏" panose="02010800040101010101" pitchFamily="2" charset="-122"/>
            </a:endParaRPr>
          </a:p>
        </p:txBody>
      </p:sp>
      <p:sp>
        <p:nvSpPr>
          <p:cNvPr id="747565" name="Rectangle 45"/>
          <p:cNvSpPr>
            <a:spLocks noChangeArrowheads="1"/>
          </p:cNvSpPr>
          <p:nvPr/>
        </p:nvSpPr>
        <p:spPr bwMode="auto">
          <a:xfrm>
            <a:off x="381000" y="2667000"/>
            <a:ext cx="4876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buFontTx/>
              <a:buChar char="•"/>
            </a:pPr>
            <a:r>
              <a:rPr kumimoji="1" lang="zh-CN" altLang="en-US" sz="2800">
                <a:solidFill>
                  <a:schemeClr val="tx1"/>
                </a:solidFill>
                <a:latin typeface="华文新魏" panose="02010800040101010101" pitchFamily="2" charset="-122"/>
                <a:ea typeface="华文新魏" panose="02010800040101010101" pitchFamily="2" charset="-122"/>
              </a:rPr>
              <a:t>与所选的微单元大小无关</a:t>
            </a:r>
            <a:endParaRPr kumimoji="1" lang="zh-CN" altLang="en-US" sz="2800">
              <a:solidFill>
                <a:schemeClr val="tx1"/>
              </a:solidFill>
              <a:latin typeface="Times New Roman" panose="02020603050405020304" pitchFamily="18" charset="0"/>
              <a:ea typeface="华文新魏" panose="02010800040101010101" pitchFamily="2" charset="-122"/>
            </a:endParaRPr>
          </a:p>
        </p:txBody>
      </p:sp>
      <p:grpSp>
        <p:nvGrpSpPr>
          <p:cNvPr id="19463" name="Group 72"/>
          <p:cNvGrpSpPr/>
          <p:nvPr/>
        </p:nvGrpSpPr>
        <p:grpSpPr bwMode="auto">
          <a:xfrm>
            <a:off x="5105400" y="1066800"/>
            <a:ext cx="3527425" cy="1957388"/>
            <a:chOff x="3216" y="672"/>
            <a:chExt cx="2222" cy="1233"/>
          </a:xfrm>
        </p:grpSpPr>
        <p:sp>
          <p:nvSpPr>
            <p:cNvPr id="19476" name="Freeform 50" descr="大纸屑"/>
            <p:cNvSpPr/>
            <p:nvPr/>
          </p:nvSpPr>
          <p:spPr bwMode="auto">
            <a:xfrm>
              <a:off x="3414" y="1098"/>
              <a:ext cx="1862" cy="791"/>
            </a:xfrm>
            <a:custGeom>
              <a:avLst/>
              <a:gdLst>
                <a:gd name="T0" fmla="*/ 2065 w 1320"/>
                <a:gd name="T1" fmla="*/ 67 h 532"/>
                <a:gd name="T2" fmla="*/ 1964 w 1320"/>
                <a:gd name="T3" fmla="*/ 0 h 532"/>
                <a:gd name="T4" fmla="*/ 1784 w 1320"/>
                <a:gd name="T5" fmla="*/ 40 h 532"/>
                <a:gd name="T6" fmla="*/ 1707 w 1320"/>
                <a:gd name="T7" fmla="*/ 106 h 532"/>
                <a:gd name="T8" fmla="*/ 1449 w 1320"/>
                <a:gd name="T9" fmla="*/ 394 h 532"/>
                <a:gd name="T10" fmla="*/ 718 w 1320"/>
                <a:gd name="T11" fmla="*/ 1066 h 532"/>
                <a:gd name="T12" fmla="*/ 190 w 1320"/>
                <a:gd name="T13" fmla="*/ 1579 h 532"/>
                <a:gd name="T14" fmla="*/ 0 w 1320"/>
                <a:gd name="T15" fmla="*/ 1749 h 532"/>
                <a:gd name="T16" fmla="*/ 3706 w 1320"/>
                <a:gd name="T17" fmla="*/ 1708 h 532"/>
                <a:gd name="T18" fmla="*/ 3233 w 1320"/>
                <a:gd name="T19" fmla="*/ 1276 h 532"/>
                <a:gd name="T20" fmla="*/ 2941 w 1320"/>
                <a:gd name="T21" fmla="*/ 946 h 532"/>
                <a:gd name="T22" fmla="*/ 2706 w 1320"/>
                <a:gd name="T23" fmla="*/ 709 h 532"/>
                <a:gd name="T24" fmla="*/ 2526 w 1320"/>
                <a:gd name="T25" fmla="*/ 513 h 532"/>
                <a:gd name="T26" fmla="*/ 2234 w 1320"/>
                <a:gd name="T27" fmla="*/ 210 h 532"/>
                <a:gd name="T28" fmla="*/ 2065 w 1320"/>
                <a:gd name="T29" fmla="*/ 67 h 53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20"/>
                <a:gd name="T46" fmla="*/ 0 h 532"/>
                <a:gd name="T47" fmla="*/ 1320 w 1320"/>
                <a:gd name="T48" fmla="*/ 532 h 53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20" h="532">
                  <a:moveTo>
                    <a:pt x="736" y="20"/>
                  </a:moveTo>
                  <a:lnTo>
                    <a:pt x="700" y="0"/>
                  </a:lnTo>
                  <a:lnTo>
                    <a:pt x="636" y="12"/>
                  </a:lnTo>
                  <a:lnTo>
                    <a:pt x="608" y="32"/>
                  </a:lnTo>
                  <a:lnTo>
                    <a:pt x="516" y="120"/>
                  </a:lnTo>
                  <a:lnTo>
                    <a:pt x="256" y="324"/>
                  </a:lnTo>
                  <a:lnTo>
                    <a:pt x="68" y="480"/>
                  </a:lnTo>
                  <a:lnTo>
                    <a:pt x="0" y="532"/>
                  </a:lnTo>
                  <a:lnTo>
                    <a:pt x="1320" y="520"/>
                  </a:lnTo>
                  <a:lnTo>
                    <a:pt x="1152" y="388"/>
                  </a:lnTo>
                  <a:lnTo>
                    <a:pt x="1048" y="288"/>
                  </a:lnTo>
                  <a:lnTo>
                    <a:pt x="964" y="216"/>
                  </a:lnTo>
                  <a:lnTo>
                    <a:pt x="900" y="156"/>
                  </a:lnTo>
                  <a:lnTo>
                    <a:pt x="796" y="64"/>
                  </a:lnTo>
                  <a:lnTo>
                    <a:pt x="736" y="20"/>
                  </a:lnTo>
                  <a:close/>
                </a:path>
              </a:pathLst>
            </a:custGeom>
            <a:blipFill dpi="0" rotWithShape="0">
              <a:blip r:embed="rId1"/>
              <a:srcRect/>
              <a:tile tx="0" ty="0" sx="100000" sy="100000" flip="none" algn="tl"/>
            </a:blipFill>
            <a:ln w="9525">
              <a:solidFill>
                <a:schemeClr val="tx1"/>
              </a:solidFill>
              <a:round/>
            </a:ln>
          </p:spPr>
          <p:txBody>
            <a:bodyPr wrap="none" anchor="ctr"/>
            <a:lstStyle/>
            <a:p>
              <a:endParaRPr lang="zh-CN" altLang="en-US"/>
            </a:p>
          </p:txBody>
        </p:sp>
        <p:sp>
          <p:nvSpPr>
            <p:cNvPr id="19477" name="Rectangle 51"/>
            <p:cNvSpPr>
              <a:spLocks noChangeArrowheads="1"/>
            </p:cNvSpPr>
            <p:nvPr/>
          </p:nvSpPr>
          <p:spPr bwMode="auto">
            <a:xfrm>
              <a:off x="4267" y="672"/>
              <a:ext cx="119" cy="255"/>
            </a:xfrm>
            <a:prstGeom prst="rect">
              <a:avLst/>
            </a:prstGeom>
            <a:gradFill rotWithShape="1">
              <a:gsLst>
                <a:gs pos="0">
                  <a:srgbClr val="008000"/>
                </a:gs>
                <a:gs pos="100000">
                  <a:schemeClr val="bg1"/>
                </a:gs>
              </a:gsLst>
              <a:lin ang="5400000" scaled="1"/>
            </a:gradFill>
            <a:ln w="9525">
              <a:solidFill>
                <a:schemeClr val="tx1"/>
              </a:solidFill>
              <a:miter lim="800000"/>
            </a:ln>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19478" name="Line 52"/>
            <p:cNvSpPr>
              <a:spLocks noChangeShapeType="1"/>
            </p:cNvSpPr>
            <p:nvPr/>
          </p:nvSpPr>
          <p:spPr bwMode="auto">
            <a:xfrm flipH="1">
              <a:off x="4265" y="933"/>
              <a:ext cx="6" cy="188"/>
            </a:xfrm>
            <a:prstGeom prst="line">
              <a:avLst/>
            </a:prstGeom>
            <a:noFill/>
            <a:ln w="9525">
              <a:solidFill>
                <a:srgbClr val="FF9933"/>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9" name="Line 53"/>
            <p:cNvSpPr>
              <a:spLocks noChangeShapeType="1"/>
            </p:cNvSpPr>
            <p:nvPr/>
          </p:nvSpPr>
          <p:spPr bwMode="auto">
            <a:xfrm flipH="1">
              <a:off x="4298" y="933"/>
              <a:ext cx="3" cy="188"/>
            </a:xfrm>
            <a:prstGeom prst="line">
              <a:avLst/>
            </a:prstGeom>
            <a:noFill/>
            <a:ln w="9525">
              <a:solidFill>
                <a:srgbClr val="FF9933"/>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80" name="Line 54"/>
            <p:cNvSpPr>
              <a:spLocks noChangeShapeType="1"/>
            </p:cNvSpPr>
            <p:nvPr/>
          </p:nvSpPr>
          <p:spPr bwMode="auto">
            <a:xfrm>
              <a:off x="4326" y="927"/>
              <a:ext cx="2" cy="180"/>
            </a:xfrm>
            <a:prstGeom prst="line">
              <a:avLst/>
            </a:prstGeom>
            <a:noFill/>
            <a:ln w="9525">
              <a:solidFill>
                <a:srgbClr val="FF9933"/>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81" name="Line 55"/>
            <p:cNvSpPr>
              <a:spLocks noChangeShapeType="1"/>
            </p:cNvSpPr>
            <p:nvPr/>
          </p:nvSpPr>
          <p:spPr bwMode="auto">
            <a:xfrm>
              <a:off x="4353" y="925"/>
              <a:ext cx="3" cy="173"/>
            </a:xfrm>
            <a:prstGeom prst="line">
              <a:avLst/>
            </a:prstGeom>
            <a:noFill/>
            <a:ln w="9525">
              <a:solidFill>
                <a:srgbClr val="FF9933"/>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82" name="Line 56"/>
            <p:cNvSpPr>
              <a:spLocks noChangeShapeType="1"/>
            </p:cNvSpPr>
            <p:nvPr/>
          </p:nvSpPr>
          <p:spPr bwMode="auto">
            <a:xfrm>
              <a:off x="4381" y="922"/>
              <a:ext cx="16" cy="190"/>
            </a:xfrm>
            <a:prstGeom prst="line">
              <a:avLst/>
            </a:prstGeom>
            <a:noFill/>
            <a:ln w="9525">
              <a:solidFill>
                <a:srgbClr val="FF9933"/>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83" name="Freeform 57"/>
            <p:cNvSpPr/>
            <p:nvPr/>
          </p:nvSpPr>
          <p:spPr bwMode="auto">
            <a:xfrm>
              <a:off x="3592" y="1732"/>
              <a:ext cx="58" cy="151"/>
            </a:xfrm>
            <a:custGeom>
              <a:avLst/>
              <a:gdLst>
                <a:gd name="T0" fmla="*/ 0 w 42"/>
                <a:gd name="T1" fmla="*/ 0 h 103"/>
                <a:gd name="T2" fmla="*/ 70 w 42"/>
                <a:gd name="T3" fmla="*/ 135 h 103"/>
                <a:gd name="T4" fmla="*/ 110 w 42"/>
                <a:gd name="T5" fmla="*/ 324 h 103"/>
                <a:gd name="T6" fmla="*/ 0 60000 65536"/>
                <a:gd name="T7" fmla="*/ 0 60000 65536"/>
                <a:gd name="T8" fmla="*/ 0 60000 65536"/>
                <a:gd name="T9" fmla="*/ 0 w 42"/>
                <a:gd name="T10" fmla="*/ 0 h 103"/>
                <a:gd name="T11" fmla="*/ 42 w 42"/>
                <a:gd name="T12" fmla="*/ 103 h 103"/>
              </a:gdLst>
              <a:ahLst/>
              <a:cxnLst>
                <a:cxn ang="T6">
                  <a:pos x="T0" y="T1"/>
                </a:cxn>
                <a:cxn ang="T7">
                  <a:pos x="T2" y="T3"/>
                </a:cxn>
                <a:cxn ang="T8">
                  <a:pos x="T4" y="T5"/>
                </a:cxn>
              </a:cxnLst>
              <a:rect l="T9" t="T10" r="T11" b="T12"/>
              <a:pathLst>
                <a:path w="42" h="103">
                  <a:moveTo>
                    <a:pt x="0" y="0"/>
                  </a:moveTo>
                  <a:cubicBezTo>
                    <a:pt x="10" y="13"/>
                    <a:pt x="20" y="26"/>
                    <a:pt x="27" y="43"/>
                  </a:cubicBezTo>
                  <a:cubicBezTo>
                    <a:pt x="34" y="60"/>
                    <a:pt x="39" y="95"/>
                    <a:pt x="42" y="103"/>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484" name="Text Box 58"/>
            <p:cNvSpPr txBox="1">
              <a:spLocks noChangeArrowheads="1"/>
            </p:cNvSpPr>
            <p:nvPr/>
          </p:nvSpPr>
          <p:spPr bwMode="auto">
            <a:xfrm>
              <a:off x="3650" y="1614"/>
              <a:ext cx="38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smtClean="0">
                  <a:solidFill>
                    <a:srgbClr val="993300"/>
                  </a:solidFill>
                  <a:latin typeface="Times New Roman" panose="02020603050405020304" pitchFamily="18" charset="0"/>
                  <a:sym typeface="Symbol" panose="05050102010706020507" pitchFamily="18" charset="2"/>
                </a:rPr>
                <a:t></a:t>
              </a:r>
              <a:endParaRPr kumimoji="1" lang="en-US" altLang="zh-CN" sz="2400" b="1" dirty="0">
                <a:solidFill>
                  <a:srgbClr val="993300"/>
                </a:solidFill>
                <a:latin typeface="Times New Roman" panose="02020603050405020304" pitchFamily="18" charset="0"/>
                <a:sym typeface="Symbol" panose="05050102010706020507" pitchFamily="18" charset="2"/>
              </a:endParaRPr>
            </a:p>
          </p:txBody>
        </p:sp>
        <p:sp>
          <p:nvSpPr>
            <p:cNvPr id="19485" name="Line 59"/>
            <p:cNvSpPr>
              <a:spLocks noChangeShapeType="1"/>
            </p:cNvSpPr>
            <p:nvPr/>
          </p:nvSpPr>
          <p:spPr bwMode="auto">
            <a:xfrm flipV="1">
              <a:off x="3216" y="1869"/>
              <a:ext cx="2222" cy="2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 name="Group 74"/>
          <p:cNvGrpSpPr/>
          <p:nvPr/>
        </p:nvGrpSpPr>
        <p:grpSpPr bwMode="auto">
          <a:xfrm>
            <a:off x="622298" y="4916488"/>
            <a:ext cx="3527425" cy="1260475"/>
            <a:chOff x="381" y="3042"/>
            <a:chExt cx="2222" cy="794"/>
          </a:xfrm>
        </p:grpSpPr>
        <p:sp>
          <p:nvSpPr>
            <p:cNvPr id="19472" name="Freeform 61" descr="大纸屑"/>
            <p:cNvSpPr/>
            <p:nvPr/>
          </p:nvSpPr>
          <p:spPr bwMode="auto">
            <a:xfrm>
              <a:off x="579" y="3042"/>
              <a:ext cx="1862" cy="791"/>
            </a:xfrm>
            <a:custGeom>
              <a:avLst/>
              <a:gdLst>
                <a:gd name="T0" fmla="*/ 2065 w 1320"/>
                <a:gd name="T1" fmla="*/ 67 h 532"/>
                <a:gd name="T2" fmla="*/ 1964 w 1320"/>
                <a:gd name="T3" fmla="*/ 0 h 532"/>
                <a:gd name="T4" fmla="*/ 1784 w 1320"/>
                <a:gd name="T5" fmla="*/ 40 h 532"/>
                <a:gd name="T6" fmla="*/ 1707 w 1320"/>
                <a:gd name="T7" fmla="*/ 106 h 532"/>
                <a:gd name="T8" fmla="*/ 1449 w 1320"/>
                <a:gd name="T9" fmla="*/ 394 h 532"/>
                <a:gd name="T10" fmla="*/ 718 w 1320"/>
                <a:gd name="T11" fmla="*/ 1066 h 532"/>
                <a:gd name="T12" fmla="*/ 190 w 1320"/>
                <a:gd name="T13" fmla="*/ 1579 h 532"/>
                <a:gd name="T14" fmla="*/ 0 w 1320"/>
                <a:gd name="T15" fmla="*/ 1749 h 532"/>
                <a:gd name="T16" fmla="*/ 3706 w 1320"/>
                <a:gd name="T17" fmla="*/ 1708 h 532"/>
                <a:gd name="T18" fmla="*/ 3233 w 1320"/>
                <a:gd name="T19" fmla="*/ 1276 h 532"/>
                <a:gd name="T20" fmla="*/ 2941 w 1320"/>
                <a:gd name="T21" fmla="*/ 946 h 532"/>
                <a:gd name="T22" fmla="*/ 2706 w 1320"/>
                <a:gd name="T23" fmla="*/ 709 h 532"/>
                <a:gd name="T24" fmla="*/ 2526 w 1320"/>
                <a:gd name="T25" fmla="*/ 513 h 532"/>
                <a:gd name="T26" fmla="*/ 2234 w 1320"/>
                <a:gd name="T27" fmla="*/ 210 h 532"/>
                <a:gd name="T28" fmla="*/ 2065 w 1320"/>
                <a:gd name="T29" fmla="*/ 67 h 53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20"/>
                <a:gd name="T46" fmla="*/ 0 h 532"/>
                <a:gd name="T47" fmla="*/ 1320 w 1320"/>
                <a:gd name="T48" fmla="*/ 532 h 53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20" h="532">
                  <a:moveTo>
                    <a:pt x="736" y="20"/>
                  </a:moveTo>
                  <a:lnTo>
                    <a:pt x="700" y="0"/>
                  </a:lnTo>
                  <a:lnTo>
                    <a:pt x="636" y="12"/>
                  </a:lnTo>
                  <a:lnTo>
                    <a:pt x="608" y="32"/>
                  </a:lnTo>
                  <a:lnTo>
                    <a:pt x="516" y="120"/>
                  </a:lnTo>
                  <a:lnTo>
                    <a:pt x="256" y="324"/>
                  </a:lnTo>
                  <a:lnTo>
                    <a:pt x="68" y="480"/>
                  </a:lnTo>
                  <a:lnTo>
                    <a:pt x="0" y="532"/>
                  </a:lnTo>
                  <a:lnTo>
                    <a:pt x="1320" y="520"/>
                  </a:lnTo>
                  <a:lnTo>
                    <a:pt x="1152" y="388"/>
                  </a:lnTo>
                  <a:lnTo>
                    <a:pt x="1048" y="288"/>
                  </a:lnTo>
                  <a:lnTo>
                    <a:pt x="964" y="216"/>
                  </a:lnTo>
                  <a:lnTo>
                    <a:pt x="900" y="156"/>
                  </a:lnTo>
                  <a:lnTo>
                    <a:pt x="796" y="64"/>
                  </a:lnTo>
                  <a:lnTo>
                    <a:pt x="736" y="20"/>
                  </a:lnTo>
                  <a:close/>
                </a:path>
              </a:pathLst>
            </a:custGeom>
            <a:blipFill dpi="0" rotWithShape="0">
              <a:blip r:embed="rId1"/>
              <a:srcRect/>
              <a:tile tx="0" ty="0" sx="100000" sy="100000" flip="none" algn="tl"/>
            </a:blipFill>
            <a:ln w="28575">
              <a:solidFill>
                <a:schemeClr val="tx1"/>
              </a:solidFill>
              <a:round/>
            </a:ln>
          </p:spPr>
          <p:txBody>
            <a:bodyPr wrap="none" anchor="ctr"/>
            <a:lstStyle/>
            <a:p>
              <a:endParaRPr lang="zh-CN" altLang="en-US"/>
            </a:p>
          </p:txBody>
        </p:sp>
        <p:sp>
          <p:nvSpPr>
            <p:cNvPr id="19473" name="Freeform 62"/>
            <p:cNvSpPr/>
            <p:nvPr/>
          </p:nvSpPr>
          <p:spPr bwMode="auto">
            <a:xfrm>
              <a:off x="757" y="3676"/>
              <a:ext cx="58" cy="151"/>
            </a:xfrm>
            <a:custGeom>
              <a:avLst/>
              <a:gdLst>
                <a:gd name="T0" fmla="*/ 0 w 42"/>
                <a:gd name="T1" fmla="*/ 0 h 103"/>
                <a:gd name="T2" fmla="*/ 70 w 42"/>
                <a:gd name="T3" fmla="*/ 135 h 103"/>
                <a:gd name="T4" fmla="*/ 110 w 42"/>
                <a:gd name="T5" fmla="*/ 324 h 103"/>
                <a:gd name="T6" fmla="*/ 0 60000 65536"/>
                <a:gd name="T7" fmla="*/ 0 60000 65536"/>
                <a:gd name="T8" fmla="*/ 0 60000 65536"/>
                <a:gd name="T9" fmla="*/ 0 w 42"/>
                <a:gd name="T10" fmla="*/ 0 h 103"/>
                <a:gd name="T11" fmla="*/ 42 w 42"/>
                <a:gd name="T12" fmla="*/ 103 h 103"/>
              </a:gdLst>
              <a:ahLst/>
              <a:cxnLst>
                <a:cxn ang="T6">
                  <a:pos x="T0" y="T1"/>
                </a:cxn>
                <a:cxn ang="T7">
                  <a:pos x="T2" y="T3"/>
                </a:cxn>
                <a:cxn ang="T8">
                  <a:pos x="T4" y="T5"/>
                </a:cxn>
              </a:cxnLst>
              <a:rect l="T9" t="T10" r="T11" b="T12"/>
              <a:pathLst>
                <a:path w="42" h="103">
                  <a:moveTo>
                    <a:pt x="0" y="0"/>
                  </a:moveTo>
                  <a:cubicBezTo>
                    <a:pt x="10" y="13"/>
                    <a:pt x="20" y="26"/>
                    <a:pt x="27" y="43"/>
                  </a:cubicBezTo>
                  <a:cubicBezTo>
                    <a:pt x="34" y="60"/>
                    <a:pt x="39" y="95"/>
                    <a:pt x="42" y="103"/>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474" name="Text Box 63"/>
            <p:cNvSpPr txBox="1">
              <a:spLocks noChangeArrowheads="1"/>
            </p:cNvSpPr>
            <p:nvPr/>
          </p:nvSpPr>
          <p:spPr bwMode="auto">
            <a:xfrm>
              <a:off x="922" y="3533"/>
              <a:ext cx="28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dirty="0" smtClean="0">
                  <a:solidFill>
                    <a:srgbClr val="993300"/>
                  </a:solidFill>
                  <a:latin typeface="Times New Roman" panose="02020603050405020304" pitchFamily="18" charset="0"/>
                  <a:sym typeface="Symbol" panose="05050102010706020507" pitchFamily="18" charset="2"/>
                </a:rPr>
                <a:t></a:t>
              </a:r>
              <a:endParaRPr kumimoji="1" lang="en-US" altLang="zh-CN" sz="2400" b="1" dirty="0">
                <a:solidFill>
                  <a:srgbClr val="993300"/>
                </a:solidFill>
                <a:latin typeface="Times New Roman" panose="02020603050405020304" pitchFamily="18" charset="0"/>
                <a:sym typeface="Symbol" panose="05050102010706020507" pitchFamily="18" charset="2"/>
              </a:endParaRPr>
            </a:p>
          </p:txBody>
        </p:sp>
        <p:sp>
          <p:nvSpPr>
            <p:cNvPr id="19475" name="Line 64"/>
            <p:cNvSpPr>
              <a:spLocks noChangeShapeType="1"/>
            </p:cNvSpPr>
            <p:nvPr/>
          </p:nvSpPr>
          <p:spPr bwMode="auto">
            <a:xfrm flipV="1">
              <a:off x="381" y="3813"/>
              <a:ext cx="2222" cy="23"/>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 name="Group 73"/>
          <p:cNvGrpSpPr/>
          <p:nvPr/>
        </p:nvGrpSpPr>
        <p:grpSpPr bwMode="auto">
          <a:xfrm>
            <a:off x="533400" y="4495800"/>
            <a:ext cx="3743325" cy="441325"/>
            <a:chOff x="336" y="2832"/>
            <a:chExt cx="2358" cy="278"/>
          </a:xfrm>
        </p:grpSpPr>
        <p:sp>
          <p:nvSpPr>
            <p:cNvPr id="19468" name="Line 65"/>
            <p:cNvSpPr>
              <a:spLocks noChangeShapeType="1"/>
            </p:cNvSpPr>
            <p:nvPr/>
          </p:nvSpPr>
          <p:spPr bwMode="auto">
            <a:xfrm>
              <a:off x="336" y="3014"/>
              <a:ext cx="2358" cy="0"/>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9" name="AutoShape 66"/>
            <p:cNvSpPr>
              <a:spLocks noChangeArrowheads="1"/>
            </p:cNvSpPr>
            <p:nvPr/>
          </p:nvSpPr>
          <p:spPr bwMode="auto">
            <a:xfrm rot="10800000">
              <a:off x="744" y="2832"/>
              <a:ext cx="181" cy="182"/>
            </a:xfrm>
            <a:prstGeom prst="triangle">
              <a:avLst>
                <a:gd name="adj" fmla="val 50000"/>
              </a:avLst>
            </a:prstGeom>
            <a:solidFill>
              <a:srgbClr val="0000CC"/>
            </a:solidFill>
            <a:ln w="9525">
              <a:solidFill>
                <a:srgbClr val="0000CC"/>
              </a:solidFill>
              <a:miter lim="800000"/>
            </a:ln>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19470" name="Line 67"/>
            <p:cNvSpPr>
              <a:spLocks noChangeShapeType="1"/>
            </p:cNvSpPr>
            <p:nvPr/>
          </p:nvSpPr>
          <p:spPr bwMode="auto">
            <a:xfrm>
              <a:off x="653" y="3059"/>
              <a:ext cx="363" cy="0"/>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1" name="Line 68"/>
            <p:cNvSpPr>
              <a:spLocks noChangeShapeType="1"/>
            </p:cNvSpPr>
            <p:nvPr/>
          </p:nvSpPr>
          <p:spPr bwMode="auto">
            <a:xfrm>
              <a:off x="683" y="3110"/>
              <a:ext cx="296" cy="0"/>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47589" name="Rectangle 69"/>
          <p:cNvSpPr>
            <a:spLocks noChangeArrowheads="1"/>
          </p:cNvSpPr>
          <p:nvPr/>
        </p:nvSpPr>
        <p:spPr bwMode="auto">
          <a:xfrm>
            <a:off x="4724400" y="5106442"/>
            <a:ext cx="3810000" cy="769441"/>
          </a:xfrm>
          <a:prstGeom prst="rect">
            <a:avLst/>
          </a:prstGeom>
          <a:solidFill>
            <a:srgbClr val="66FF66"/>
          </a:solidFill>
          <a:ln w="9525">
            <a:solidFill>
              <a:srgbClr val="0099CC"/>
            </a:solidFill>
            <a:miter lim="800000"/>
          </a:ln>
        </p:spPr>
        <p:txBody>
          <a:bodyPr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kumimoji="1" lang="zh-CN" altLang="en-US" sz="2000" b="1" u="sng" dirty="0">
                <a:solidFill>
                  <a:srgbClr val="FF5050"/>
                </a:solidFill>
                <a:latin typeface="Times New Roman" panose="02020603050405020304" pitchFamily="18" charset="0"/>
              </a:rPr>
              <a:t>思考</a:t>
            </a:r>
            <a:r>
              <a:rPr kumimoji="1" lang="zh-CN" altLang="en-US" sz="2000" b="1" dirty="0">
                <a:solidFill>
                  <a:schemeClr val="tx1"/>
                </a:solidFill>
                <a:latin typeface="Times New Roman" panose="02020603050405020304" pitchFamily="18" charset="0"/>
              </a:rPr>
              <a:t>：在干坡及静水下坡中，</a:t>
            </a:r>
            <a:endParaRPr kumimoji="1" lang="zh-CN" altLang="en-US" sz="2000" b="1" dirty="0">
              <a:solidFill>
                <a:schemeClr val="tx1"/>
              </a:solidFill>
              <a:latin typeface="Times New Roman" panose="02020603050405020304" pitchFamily="18" charset="0"/>
            </a:endParaRPr>
          </a:p>
          <a:p>
            <a:pPr algn="ctr" eaLnBrk="1" hangingPunct="1"/>
            <a:r>
              <a:rPr kumimoji="1" lang="zh-CN" altLang="en-US" sz="2000" b="1" dirty="0">
                <a:solidFill>
                  <a:schemeClr val="tx1"/>
                </a:solidFill>
                <a:latin typeface="Times New Roman" panose="02020603050405020304" pitchFamily="18" charset="0"/>
              </a:rPr>
              <a:t>             如</a:t>
            </a:r>
            <a:r>
              <a:rPr kumimoji="1" lang="zh-CN" altLang="en-US" sz="2000" b="1" dirty="0">
                <a:solidFill>
                  <a:schemeClr val="tx1"/>
                </a:solidFill>
                <a:latin typeface="Times New Roman" panose="02020603050405020304" pitchFamily="18" charset="0"/>
                <a:sym typeface="Symbol" panose="05050102010706020507" pitchFamily="18" charset="2"/>
              </a:rPr>
              <a:t></a:t>
            </a:r>
            <a:r>
              <a:rPr kumimoji="1" lang="zh-CN" altLang="en-US" sz="2000" b="1" dirty="0">
                <a:solidFill>
                  <a:schemeClr val="tx1"/>
                </a:solidFill>
                <a:latin typeface="Times New Roman" panose="02020603050405020304" pitchFamily="18" charset="0"/>
              </a:rPr>
              <a:t>不变</a:t>
            </a:r>
            <a:r>
              <a:rPr kumimoji="1" lang="zh-CN" altLang="en-US" sz="2000" b="1" dirty="0" smtClean="0">
                <a:solidFill>
                  <a:schemeClr val="tx1"/>
                </a:solidFill>
                <a:latin typeface="Times New Roman" panose="02020603050405020304" pitchFamily="18" charset="0"/>
              </a:rPr>
              <a:t>，</a:t>
            </a:r>
            <a:r>
              <a:rPr kumimoji="1" lang="en-US" altLang="zh-CN" sz="2000" b="1" dirty="0" smtClean="0">
                <a:solidFill>
                  <a:schemeClr val="tx1"/>
                </a:solidFill>
                <a:latin typeface="Times New Roman" panose="02020603050405020304" pitchFamily="18" charset="0"/>
              </a:rPr>
              <a:t>K</a:t>
            </a:r>
            <a:r>
              <a:rPr kumimoji="1" lang="zh-CN" altLang="en-US" sz="2000" b="1" dirty="0" smtClean="0">
                <a:solidFill>
                  <a:schemeClr val="tx1"/>
                </a:solidFill>
                <a:latin typeface="Times New Roman" panose="02020603050405020304" pitchFamily="18" charset="0"/>
              </a:rPr>
              <a:t>有</a:t>
            </a:r>
            <a:r>
              <a:rPr kumimoji="1" lang="zh-CN" altLang="en-US" sz="2000" b="1" dirty="0">
                <a:solidFill>
                  <a:schemeClr val="tx1"/>
                </a:solidFill>
                <a:latin typeface="Times New Roman" panose="02020603050405020304" pitchFamily="18" charset="0"/>
              </a:rPr>
              <a:t>什么变化</a:t>
            </a:r>
            <a:endParaRPr kumimoji="1" lang="zh-CN" altLang="en-US" sz="2000" b="1" dirty="0">
              <a:solidFill>
                <a:schemeClr val="tx1"/>
              </a:solidFill>
              <a:latin typeface="Times New Roman" panose="02020603050405020304" pitchFamily="18" charset="0"/>
            </a:endParaRPr>
          </a:p>
        </p:txBody>
      </p:sp>
      <p:sp>
        <p:nvSpPr>
          <p:cNvPr id="747595" name="Rectangle 75"/>
          <p:cNvSpPr>
            <a:spLocks noChangeArrowheads="1"/>
          </p:cNvSpPr>
          <p:nvPr/>
        </p:nvSpPr>
        <p:spPr bwMode="auto">
          <a:xfrm>
            <a:off x="380999" y="3200400"/>
            <a:ext cx="82518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buFontTx/>
              <a:buChar char="•"/>
            </a:pPr>
            <a:r>
              <a:rPr kumimoji="1" lang="zh-CN" altLang="en-US" sz="2800" dirty="0">
                <a:solidFill>
                  <a:schemeClr val="tx1"/>
                </a:solidFill>
                <a:latin typeface="华文新魏" panose="02010800040101010101" pitchFamily="2" charset="-122"/>
                <a:ea typeface="华文新魏" panose="02010800040101010101" pitchFamily="2" charset="-122"/>
              </a:rPr>
              <a:t>坡内任一点或平行于坡的任一滑裂</a:t>
            </a:r>
            <a:r>
              <a:rPr kumimoji="1" lang="zh-CN" altLang="en-US" sz="2800" dirty="0" smtClean="0">
                <a:solidFill>
                  <a:schemeClr val="tx1"/>
                </a:solidFill>
                <a:latin typeface="华文新魏" panose="02010800040101010101" pitchFamily="2" charset="-122"/>
                <a:ea typeface="华文新魏" panose="02010800040101010101" pitchFamily="2" charset="-122"/>
              </a:rPr>
              <a:t>面上安全系数</a:t>
            </a:r>
            <a:r>
              <a:rPr kumimoji="1" lang="en-US" altLang="zh-CN" sz="2800" i="1" dirty="0" smtClean="0">
                <a:solidFill>
                  <a:schemeClr val="tx1"/>
                </a:solidFill>
                <a:latin typeface="华文新魏" panose="02010800040101010101" pitchFamily="2" charset="-122"/>
                <a:ea typeface="华文新魏" panose="02010800040101010101" pitchFamily="2" charset="-122"/>
              </a:rPr>
              <a:t>K</a:t>
            </a:r>
            <a:r>
              <a:rPr kumimoji="1" lang="zh-CN" altLang="en-US" sz="2800" dirty="0" smtClean="0">
                <a:solidFill>
                  <a:schemeClr val="tx1"/>
                </a:solidFill>
                <a:latin typeface="Times New Roman" panose="02020603050405020304" pitchFamily="18" charset="0"/>
                <a:ea typeface="华文新魏" panose="02010800040101010101" pitchFamily="2" charset="-122"/>
              </a:rPr>
              <a:t>都</a:t>
            </a:r>
            <a:r>
              <a:rPr kumimoji="1" lang="zh-CN" altLang="en-US" sz="2800" dirty="0">
                <a:solidFill>
                  <a:schemeClr val="tx1"/>
                </a:solidFill>
                <a:latin typeface="Times New Roman" panose="02020603050405020304" pitchFamily="18" charset="0"/>
                <a:ea typeface="华文新魏" panose="02010800040101010101" pitchFamily="2" charset="-122"/>
              </a:rPr>
              <a:t>相等</a:t>
            </a:r>
            <a:endParaRPr kumimoji="1" lang="zh-CN" altLang="en-US" sz="2800" dirty="0">
              <a:solidFill>
                <a:schemeClr val="tx1"/>
              </a:solidFill>
              <a:latin typeface="Times New Roman" panose="02020603050405020304" pitchFamily="18" charset="0"/>
              <a:ea typeface="华文新魏" panose="02010800040101010101" pitchFamily="2" charset="-122"/>
            </a:endParaRPr>
          </a:p>
        </p:txBody>
      </p:sp>
      <mc:AlternateContent xmlns:mc="http://schemas.openxmlformats.org/markup-compatibility/2006">
        <mc:Choice xmlns:a14="http://schemas.microsoft.com/office/drawing/2010/main" Requires="a14">
          <p:sp>
            <p:nvSpPr>
              <p:cNvPr id="2" name="文本框 1"/>
              <p:cNvSpPr txBox="1"/>
              <p:nvPr/>
            </p:nvSpPr>
            <p:spPr>
              <a:xfrm>
                <a:off x="7624118" y="944540"/>
                <a:ext cx="1033681" cy="658835"/>
              </a:xfrm>
              <a:prstGeom prst="rect">
                <a:avLst/>
              </a:prstGeom>
              <a:solidFill>
                <a:srgbClr val="FFFF00"/>
              </a:solidFill>
            </p:spPr>
            <p:txBody>
              <a:bodyPr wrap="none" lIns="0" tIns="0" rIns="0" bIns="0" rtlCol="0">
                <a:spAutoFit/>
              </a:bodyPr>
              <a:lstStyle/>
              <a:p>
                <a:r>
                  <a:rPr lang="en-US" altLang="zh-CN" i="1" dirty="0" smtClean="0"/>
                  <a:t>K</a:t>
                </a:r>
                <a:r>
                  <a:rPr lang="en-US" altLang="zh-CN" dirty="0" smtClean="0"/>
                  <a:t>=</a:t>
                </a:r>
                <a14:m>
                  <m:oMath xmlns:m="http://schemas.openxmlformats.org/officeDocument/2006/math">
                    <m:f>
                      <m:fPr>
                        <m:ctrlPr>
                          <a:rPr lang="en-US" altLang="zh-CN" i="1" smtClean="0">
                            <a:latin typeface="Cambria Math" panose="02040503050406030204" pitchFamily="18" charset="0"/>
                          </a:rPr>
                        </m:ctrlPr>
                      </m:fPr>
                      <m:num>
                        <m:func>
                          <m:funcPr>
                            <m:ctrlPr>
                              <a:rPr lang="en-US" altLang="zh-CN" i="1" smtClean="0">
                                <a:latin typeface="Cambria Math" panose="02040503050406030204" pitchFamily="18" charset="0"/>
                              </a:rPr>
                            </m:ctrlPr>
                          </m:funcPr>
                          <m:fName>
                            <m:r>
                              <m:rPr>
                                <m:sty m:val="p"/>
                              </m:rPr>
                              <a:rPr lang="en-US" altLang="zh-CN" i="0" smtClean="0">
                                <a:latin typeface="Cambria Math" panose="02040503050406030204" pitchFamily="18" charset="0"/>
                              </a:rPr>
                              <m:t>tan</m:t>
                            </m:r>
                          </m:fName>
                          <m:e>
                            <m:r>
                              <a:rPr lang="zh-CN" altLang="en-US" i="1" smtClean="0">
                                <a:latin typeface="Cambria Math" panose="02040503050406030204" pitchFamily="18" charset="0"/>
                              </a:rPr>
                              <m:t>𝜑</m:t>
                            </m:r>
                          </m:e>
                        </m:func>
                      </m:num>
                      <m:den>
                        <m:func>
                          <m:funcPr>
                            <m:ctrlPr>
                              <a:rPr lang="en-US" altLang="zh-CN" i="1" smtClean="0">
                                <a:latin typeface="Cambria Math" panose="02040503050406030204" pitchFamily="18" charset="0"/>
                              </a:rPr>
                            </m:ctrlPr>
                          </m:funcPr>
                          <m:fName>
                            <m:r>
                              <m:rPr>
                                <m:sty m:val="p"/>
                              </m:rPr>
                              <a:rPr lang="en-US" altLang="zh-CN" i="0" smtClean="0">
                                <a:latin typeface="Cambria Math" panose="02040503050406030204" pitchFamily="18" charset="0"/>
                              </a:rPr>
                              <m:t>tan</m:t>
                            </m:r>
                          </m:fName>
                          <m:e>
                            <m:r>
                              <a:rPr lang="zh-CN" altLang="en-US" i="1" smtClean="0">
                                <a:latin typeface="Cambria Math" panose="02040503050406030204" pitchFamily="18" charset="0"/>
                              </a:rPr>
                              <m:t>𝛽</m:t>
                            </m:r>
                          </m:e>
                        </m:func>
                      </m:den>
                    </m:f>
                  </m:oMath>
                </a14:m>
                <a:endParaRPr lang="zh-CN" altLang="en-US" dirty="0"/>
              </a:p>
            </p:txBody>
          </p:sp>
        </mc:Choice>
        <mc:Fallback>
          <p:sp>
            <p:nvSpPr>
              <p:cNvPr id="2" name="文本框 1"/>
              <p:cNvSpPr txBox="1">
                <a:spLocks noRot="1" noChangeAspect="1" noMove="1" noResize="1" noEditPoints="1" noAdjustHandles="1" noChangeArrowheads="1" noChangeShapeType="1" noTextEdit="1"/>
              </p:cNvSpPr>
              <p:nvPr/>
            </p:nvSpPr>
            <p:spPr>
              <a:xfrm>
                <a:off x="7624118" y="944540"/>
                <a:ext cx="1033681" cy="658835"/>
              </a:xfrm>
              <a:prstGeom prst="rect">
                <a:avLst/>
              </a:prstGeom>
              <a:blipFill rotWithShape="1">
                <a:blip r:embed="rId2"/>
                <a:stretch>
                  <a:fillRect l="-30" t="-45" r="-6246"/>
                </a:stretch>
              </a:blipFill>
            </p:spPr>
            <p:txBody>
              <a:bodyPr/>
              <a:lstStyle/>
              <a:p>
                <a:r>
                  <a:rPr lang="zh-CN" altLang="en-US">
                    <a:noFill/>
                  </a:rPr>
                  <a:t> </a:t>
                </a:r>
              </a:p>
            </p:txBody>
          </p:sp>
        </mc:Fallback>
      </mc:AlternateContent>
      <p:sp>
        <p:nvSpPr>
          <p:cNvPr id="31" name="Rectangle 7"/>
          <p:cNvSpPr>
            <a:spLocks noChangeArrowheads="1"/>
          </p:cNvSpPr>
          <p:nvPr/>
        </p:nvSpPr>
        <p:spPr bwMode="auto">
          <a:xfrm>
            <a:off x="4778718" y="4248150"/>
            <a:ext cx="3889375" cy="519113"/>
          </a:xfrm>
          <a:prstGeom prst="rect">
            <a:avLst/>
          </a:prstGeom>
          <a:solidFill>
            <a:schemeClr val="tx2">
              <a:lumMod val="20000"/>
              <a:lumOff val="80000"/>
            </a:schemeClr>
          </a:solidFill>
          <a:ln>
            <a:noFill/>
          </a:ln>
          <a:effectLst/>
        </p:spPr>
        <p:txBody>
          <a:bodyPr anchor="ctr">
            <a:spAutoFit/>
          </a:bodyPr>
          <a:lstStyle>
            <a:lvl1pPr>
              <a:defRPr kumimoji="1" sz="2800" b="1">
                <a:solidFill>
                  <a:schemeClr val="folHlink"/>
                </a:solidFill>
                <a:latin typeface="幼圆" panose="02010509060101010101" pitchFamily="49" charset="-122"/>
                <a:ea typeface="幼圆" panose="02010509060101010101" pitchFamily="49" charset="-122"/>
              </a:defRPr>
            </a:lvl1pPr>
            <a:lvl2pPr marL="742950" indent="-285750">
              <a:defRPr kumimoji="1" sz="2800" b="1">
                <a:solidFill>
                  <a:schemeClr val="folHlink"/>
                </a:solidFill>
                <a:latin typeface="幼圆" panose="02010509060101010101" pitchFamily="49" charset="-122"/>
                <a:ea typeface="幼圆" panose="02010509060101010101" pitchFamily="49" charset="-122"/>
              </a:defRPr>
            </a:lvl2pPr>
            <a:lvl3pPr marL="1143000" indent="-228600">
              <a:defRPr kumimoji="1" sz="2800" b="1">
                <a:solidFill>
                  <a:schemeClr val="folHlink"/>
                </a:solidFill>
                <a:latin typeface="幼圆" panose="02010509060101010101" pitchFamily="49" charset="-122"/>
                <a:ea typeface="幼圆" panose="02010509060101010101" pitchFamily="49" charset="-122"/>
              </a:defRPr>
            </a:lvl3pPr>
            <a:lvl4pPr marL="1600200" indent="-228600">
              <a:defRPr kumimoji="1" sz="2800" b="1">
                <a:solidFill>
                  <a:schemeClr val="folHlink"/>
                </a:solidFill>
                <a:latin typeface="幼圆" panose="02010509060101010101" pitchFamily="49" charset="-122"/>
                <a:ea typeface="幼圆" panose="02010509060101010101" pitchFamily="49" charset="-122"/>
              </a:defRPr>
            </a:lvl4pPr>
            <a:lvl5pPr marL="2057400" indent="-228600">
              <a:defRPr kumimoji="1" sz="2800" b="1">
                <a:solidFill>
                  <a:schemeClr val="folHlink"/>
                </a:solidFill>
                <a:latin typeface="幼圆" panose="02010509060101010101" pitchFamily="49" charset="-122"/>
                <a:ea typeface="幼圆" panose="02010509060101010101" pitchFamily="49" charset="-122"/>
              </a:defRPr>
            </a:lvl5pPr>
            <a:lvl6pPr marL="2514600" indent="-228600" eaLnBrk="0" fontAlgn="base" hangingPunct="0">
              <a:spcBef>
                <a:spcPct val="0"/>
              </a:spcBef>
              <a:spcAft>
                <a:spcPct val="0"/>
              </a:spcAft>
              <a:defRPr kumimoji="1" sz="2800" b="1">
                <a:solidFill>
                  <a:schemeClr val="folHlink"/>
                </a:solidFill>
                <a:latin typeface="幼圆" panose="02010509060101010101" pitchFamily="49" charset="-122"/>
                <a:ea typeface="幼圆" panose="02010509060101010101" pitchFamily="49" charset="-122"/>
              </a:defRPr>
            </a:lvl6pPr>
            <a:lvl7pPr marL="2971800" indent="-228600" eaLnBrk="0" fontAlgn="base" hangingPunct="0">
              <a:spcBef>
                <a:spcPct val="0"/>
              </a:spcBef>
              <a:spcAft>
                <a:spcPct val="0"/>
              </a:spcAft>
              <a:defRPr kumimoji="1" sz="2800" b="1">
                <a:solidFill>
                  <a:schemeClr val="folHlink"/>
                </a:solidFill>
                <a:latin typeface="幼圆" panose="02010509060101010101" pitchFamily="49" charset="-122"/>
                <a:ea typeface="幼圆" panose="02010509060101010101" pitchFamily="49" charset="-122"/>
              </a:defRPr>
            </a:lvl7pPr>
            <a:lvl8pPr marL="3429000" indent="-228600" eaLnBrk="0" fontAlgn="base" hangingPunct="0">
              <a:spcBef>
                <a:spcPct val="0"/>
              </a:spcBef>
              <a:spcAft>
                <a:spcPct val="0"/>
              </a:spcAft>
              <a:defRPr kumimoji="1" sz="2800" b="1">
                <a:solidFill>
                  <a:schemeClr val="folHlink"/>
                </a:solidFill>
                <a:latin typeface="幼圆" panose="02010509060101010101" pitchFamily="49" charset="-122"/>
                <a:ea typeface="幼圆" panose="02010509060101010101" pitchFamily="49" charset="-122"/>
              </a:defRPr>
            </a:lvl8pPr>
            <a:lvl9pPr marL="3886200" indent="-228600" eaLnBrk="0" fontAlgn="base" hangingPunct="0">
              <a:spcBef>
                <a:spcPct val="0"/>
              </a:spcBef>
              <a:spcAft>
                <a:spcPct val="0"/>
              </a:spcAft>
              <a:defRPr kumimoji="1" sz="2800" b="1">
                <a:solidFill>
                  <a:schemeClr val="folHlink"/>
                </a:solidFill>
                <a:latin typeface="幼圆" panose="02010509060101010101" pitchFamily="49" charset="-122"/>
                <a:ea typeface="幼圆" panose="02010509060101010101" pitchFamily="49" charset="-122"/>
              </a:defRPr>
            </a:lvl9pPr>
          </a:lstStyle>
          <a:p>
            <a:pPr eaLnBrk="1" hangingPunct="1">
              <a:buFont typeface="Arial" panose="020B0604020202020204" pitchFamily="34" charset="0"/>
              <a:buNone/>
            </a:pPr>
            <a:r>
              <a:rPr kumimoji="0" lang="zh-CN" altLang="en-US" dirty="0">
                <a:solidFill>
                  <a:schemeClr val="tx1"/>
                </a:solidFill>
                <a:latin typeface="Arial" panose="020B0604020202020204" pitchFamily="34" charset="0"/>
                <a:ea typeface="宋体" panose="02010600030101010101" pitchFamily="2" charset="-122"/>
              </a:rPr>
              <a:t>一般要求</a:t>
            </a:r>
            <a:r>
              <a:rPr kumimoji="0" lang="en-US" altLang="zh-CN" i="1" dirty="0">
                <a:solidFill>
                  <a:schemeClr val="tx1"/>
                </a:solidFill>
                <a:latin typeface="Arial" panose="020B0604020202020204" pitchFamily="34" charset="0"/>
                <a:ea typeface="宋体" panose="02010600030101010101" pitchFamily="2" charset="-122"/>
              </a:rPr>
              <a:t>K&gt;1.25</a:t>
            </a:r>
            <a:r>
              <a:rPr kumimoji="0" lang="en-US" altLang="zh-CN" i="1" dirty="0">
                <a:solidFill>
                  <a:schemeClr val="tx1"/>
                </a:solidFill>
                <a:latin typeface="Arial" panose="020B0604020202020204" pitchFamily="34" charset="0"/>
                <a:ea typeface="宋体" panose="02010600030101010101" pitchFamily="2" charset="-122"/>
                <a:sym typeface="Symbol" panose="05050102010706020507" pitchFamily="18" charset="2"/>
              </a:rPr>
              <a:t></a:t>
            </a:r>
            <a:r>
              <a:rPr kumimoji="0" lang="en-US" altLang="zh-CN" i="1" dirty="0">
                <a:solidFill>
                  <a:schemeClr val="tx1"/>
                </a:solidFill>
                <a:latin typeface="Arial" panose="020B0604020202020204" pitchFamily="34" charset="0"/>
                <a:ea typeface="宋体" panose="02010600030101010101" pitchFamily="2" charset="-122"/>
              </a:rPr>
              <a:t>1.30</a:t>
            </a:r>
            <a:r>
              <a:rPr kumimoji="0" lang="en-US" altLang="zh-CN" sz="2400" b="0" dirty="0">
                <a:solidFill>
                  <a:schemeClr val="tx1"/>
                </a:solidFill>
                <a:latin typeface="Arial" panose="020B0604020202020204" pitchFamily="34" charset="0"/>
                <a:ea typeface="宋体" panose="02010600030101010101" pitchFamily="2" charset="-122"/>
                <a:sym typeface="Symbol" panose="05050102010706020507" pitchFamily="18" charset="2"/>
              </a:rPr>
              <a:t> </a:t>
            </a:r>
            <a:endParaRPr kumimoji="0" lang="en-US" altLang="zh-CN" sz="2400" b="0" dirty="0">
              <a:solidFill>
                <a:schemeClr val="tx1"/>
              </a:solidFill>
              <a:latin typeface="Arial" panose="020B0604020202020204" pitchFamily="34" charset="0"/>
              <a:ea typeface="宋体" panose="02010600030101010101" pitchFamily="2" charset="-122"/>
              <a:sym typeface="Symbol" panose="05050102010706020507" pitchFamily="18" charset="2"/>
            </a:endParaRPr>
          </a:p>
        </p:txBody>
      </p:sp>
      <p:sp>
        <p:nvSpPr>
          <p:cNvPr id="32" name="Rectangle 6"/>
          <p:cNvSpPr>
            <a:spLocks noChangeArrowheads="1"/>
          </p:cNvSpPr>
          <p:nvPr/>
        </p:nvSpPr>
        <p:spPr bwMode="auto">
          <a:xfrm>
            <a:off x="0" y="-7396"/>
            <a:ext cx="45720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§6.2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无黏性土坡的稳定性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47562">
                                            <p:txEl>
                                              <p:pRg st="0" end="0"/>
                                            </p:txEl>
                                          </p:spTgt>
                                        </p:tgtEl>
                                        <p:attrNameLst>
                                          <p:attrName>style.visibility</p:attrName>
                                        </p:attrNameLst>
                                      </p:cBhvr>
                                      <p:to>
                                        <p:strVal val="visible"/>
                                      </p:to>
                                    </p:set>
                                    <p:animEffect transition="in" filter="wipe(left)">
                                      <p:cBhvr>
                                        <p:cTn id="7" dur="500"/>
                                        <p:tgtEl>
                                          <p:spTgt spid="7475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47564"/>
                                        </p:tgtEl>
                                        <p:attrNameLst>
                                          <p:attrName>style.visibility</p:attrName>
                                        </p:attrNameLst>
                                      </p:cBhvr>
                                      <p:to>
                                        <p:strVal val="visible"/>
                                      </p:to>
                                    </p:set>
                                    <p:animEffect transition="in" filter="wipe(left)">
                                      <p:cBhvr>
                                        <p:cTn id="12" dur="500"/>
                                        <p:tgtEl>
                                          <p:spTgt spid="74756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47565"/>
                                        </p:tgtEl>
                                        <p:attrNameLst>
                                          <p:attrName>style.visibility</p:attrName>
                                        </p:attrNameLst>
                                      </p:cBhvr>
                                      <p:to>
                                        <p:strVal val="visible"/>
                                      </p:to>
                                    </p:set>
                                    <p:animEffect transition="in" filter="wipe(left)">
                                      <p:cBhvr>
                                        <p:cTn id="17" dur="500"/>
                                        <p:tgtEl>
                                          <p:spTgt spid="74756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47595"/>
                                        </p:tgtEl>
                                        <p:attrNameLst>
                                          <p:attrName>style.visibility</p:attrName>
                                        </p:attrNameLst>
                                      </p:cBhvr>
                                      <p:to>
                                        <p:strVal val="visible"/>
                                      </p:to>
                                    </p:set>
                                    <p:animEffect transition="in" filter="wipe(left)">
                                      <p:cBhvr>
                                        <p:cTn id="22" dur="500"/>
                                        <p:tgtEl>
                                          <p:spTgt spid="747595"/>
                                        </p:tgtEl>
                                      </p:cBhvr>
                                    </p:animEffect>
                                  </p:childTnLst>
                                </p:cTn>
                              </p:par>
                            </p:childTnLst>
                          </p:cTn>
                        </p:par>
                      </p:childTnLst>
                    </p:cTn>
                  </p:par>
                  <p:par>
                    <p:cTn id="23" fill="hold">
                      <p:stCondLst>
                        <p:cond delay="indefinite"/>
                      </p:stCondLst>
                      <p:childTnLst>
                        <p:par>
                          <p:cTn id="24" fill="hold">
                            <p:stCondLst>
                              <p:cond delay="0"/>
                            </p:stCondLst>
                            <p:childTnLst>
                              <p:par>
                                <p:cTn id="25" presetID="7" presetClass="entr" presetSubtype="4" fill="hold" grpId="0" nodeType="clickEffect">
                                  <p:stCondLst>
                                    <p:cond delay="0"/>
                                  </p:stCondLst>
                                  <p:childTnLst>
                                    <p:set>
                                      <p:cBhvr>
                                        <p:cTn id="26" dur="1" fill="hold">
                                          <p:stCondLst>
                                            <p:cond delay="0"/>
                                          </p:stCondLst>
                                        </p:cTn>
                                        <p:tgtEl>
                                          <p:spTgt spid="747589"/>
                                        </p:tgtEl>
                                        <p:attrNameLst>
                                          <p:attrName>style.visibility</p:attrName>
                                        </p:attrNameLst>
                                      </p:cBhvr>
                                      <p:to>
                                        <p:strVal val="visible"/>
                                      </p:to>
                                    </p:set>
                                    <p:anim calcmode="lin" valueType="num">
                                      <p:cBhvr additive="base">
                                        <p:cTn id="27" dur="5000" fill="hold"/>
                                        <p:tgtEl>
                                          <p:spTgt spid="747589"/>
                                        </p:tgtEl>
                                        <p:attrNameLst>
                                          <p:attrName>ppt_x</p:attrName>
                                        </p:attrNameLst>
                                      </p:cBhvr>
                                      <p:tavLst>
                                        <p:tav tm="0">
                                          <p:val>
                                            <p:strVal val="#ppt_x"/>
                                          </p:val>
                                        </p:tav>
                                        <p:tav tm="100000">
                                          <p:val>
                                            <p:strVal val="#ppt_x"/>
                                          </p:val>
                                        </p:tav>
                                      </p:tavLst>
                                    </p:anim>
                                    <p:anim calcmode="lin" valueType="num">
                                      <p:cBhvr additive="base">
                                        <p:cTn id="28" dur="5000" fill="hold"/>
                                        <p:tgtEl>
                                          <p:spTgt spid="747589"/>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dissolve">
                                      <p:cBhvr>
                                        <p:cTn id="33" dur="500"/>
                                        <p:tgtEl>
                                          <p:spTgt spid="3"/>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1" fill="hold" nodeType="click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slide(fromTop)">
                                      <p:cBhvr>
                                        <p:cTn id="3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62" grpId="0" autoUpdateAnimBg="0" build="p"/>
      <p:bldP spid="747564" grpId="0" autoUpdateAnimBg="0"/>
      <p:bldP spid="747565" grpId="0" autoUpdateAnimBg="0"/>
      <p:bldP spid="747589" grpId="0" bldLvl="0" animBg="1" autoUpdateAnimBg="0"/>
      <p:bldP spid="747595"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Text Box 42"/>
          <p:cNvSpPr txBox="1">
            <a:spLocks noChangeArrowheads="1"/>
          </p:cNvSpPr>
          <p:nvPr/>
        </p:nvSpPr>
        <p:spPr bwMode="auto">
          <a:xfrm>
            <a:off x="533400" y="914400"/>
            <a:ext cx="2855913"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3200" b="1">
                <a:solidFill>
                  <a:srgbClr val="990033"/>
                </a:solidFill>
                <a:ea typeface="隶书" panose="02010509060101010101" pitchFamily="49" charset="-122"/>
              </a:rPr>
              <a:t>有沿坡渗流情况</a:t>
            </a:r>
            <a:endParaRPr lang="zh-CN" altLang="en-US" sz="3200" b="1">
              <a:solidFill>
                <a:srgbClr val="990033"/>
              </a:solidFill>
              <a:ea typeface="隶书" panose="02010509060101010101" pitchFamily="49" charset="-122"/>
            </a:endParaRPr>
          </a:p>
        </p:txBody>
      </p:sp>
      <p:grpSp>
        <p:nvGrpSpPr>
          <p:cNvPr id="2" name="Group 91"/>
          <p:cNvGrpSpPr/>
          <p:nvPr/>
        </p:nvGrpSpPr>
        <p:grpSpPr bwMode="auto">
          <a:xfrm>
            <a:off x="2438400" y="1676400"/>
            <a:ext cx="3846513" cy="1871663"/>
            <a:chOff x="1536" y="1104"/>
            <a:chExt cx="2423" cy="1179"/>
          </a:xfrm>
        </p:grpSpPr>
        <p:sp>
          <p:nvSpPr>
            <p:cNvPr id="20513" name="Line 44"/>
            <p:cNvSpPr>
              <a:spLocks noChangeShapeType="1"/>
            </p:cNvSpPr>
            <p:nvPr/>
          </p:nvSpPr>
          <p:spPr bwMode="auto">
            <a:xfrm flipH="1">
              <a:off x="2143" y="1104"/>
              <a:ext cx="1737" cy="1179"/>
            </a:xfrm>
            <a:prstGeom prst="line">
              <a:avLst/>
            </a:prstGeom>
            <a:noFill/>
            <a:ln w="38100">
              <a:solidFill>
                <a:srgbClr val="CC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14" name="Line 45"/>
            <p:cNvSpPr>
              <a:spLocks noChangeShapeType="1"/>
            </p:cNvSpPr>
            <p:nvPr/>
          </p:nvSpPr>
          <p:spPr bwMode="auto">
            <a:xfrm>
              <a:off x="1536" y="2016"/>
              <a:ext cx="971"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15" name="AutoShape 46"/>
            <p:cNvSpPr>
              <a:spLocks noChangeArrowheads="1"/>
            </p:cNvSpPr>
            <p:nvPr/>
          </p:nvSpPr>
          <p:spPr bwMode="auto">
            <a:xfrm rot="-10649345">
              <a:off x="1843" y="1904"/>
              <a:ext cx="182" cy="105"/>
            </a:xfrm>
            <a:prstGeom prst="triangle">
              <a:avLst>
                <a:gd name="adj" fmla="val 50000"/>
              </a:avLst>
            </a:prstGeom>
            <a:solidFill>
              <a:schemeClr val="folHlink"/>
            </a:solidFill>
            <a:ln w="9525">
              <a:solidFill>
                <a:schemeClr val="folHlink"/>
              </a:solidFill>
              <a:miter lim="800000"/>
            </a:ln>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20516" name="Line 47"/>
            <p:cNvSpPr>
              <a:spLocks noChangeShapeType="1"/>
            </p:cNvSpPr>
            <p:nvPr/>
          </p:nvSpPr>
          <p:spPr bwMode="auto">
            <a:xfrm>
              <a:off x="1779" y="2066"/>
              <a:ext cx="303" cy="0"/>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17" name="Line 48"/>
            <p:cNvSpPr>
              <a:spLocks noChangeShapeType="1"/>
            </p:cNvSpPr>
            <p:nvPr/>
          </p:nvSpPr>
          <p:spPr bwMode="auto">
            <a:xfrm>
              <a:off x="1900" y="2118"/>
              <a:ext cx="61" cy="0"/>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18" name="Line 49"/>
            <p:cNvSpPr>
              <a:spLocks noChangeShapeType="1"/>
            </p:cNvSpPr>
            <p:nvPr/>
          </p:nvSpPr>
          <p:spPr bwMode="auto">
            <a:xfrm>
              <a:off x="2447" y="1594"/>
              <a:ext cx="0" cy="262"/>
            </a:xfrm>
            <a:prstGeom prst="line">
              <a:avLst/>
            </a:prstGeom>
            <a:noFill/>
            <a:ln w="28575">
              <a:solidFill>
                <a:srgbClr val="00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19" name="Line 50"/>
            <p:cNvSpPr>
              <a:spLocks noChangeShapeType="1"/>
            </p:cNvSpPr>
            <p:nvPr/>
          </p:nvSpPr>
          <p:spPr bwMode="auto">
            <a:xfrm>
              <a:off x="2629" y="1490"/>
              <a:ext cx="0" cy="262"/>
            </a:xfrm>
            <a:prstGeom prst="line">
              <a:avLst/>
            </a:prstGeom>
            <a:noFill/>
            <a:ln w="28575">
              <a:solidFill>
                <a:srgbClr val="00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20" name="Line 51"/>
            <p:cNvSpPr>
              <a:spLocks noChangeShapeType="1"/>
            </p:cNvSpPr>
            <p:nvPr/>
          </p:nvSpPr>
          <p:spPr bwMode="auto">
            <a:xfrm>
              <a:off x="2811" y="1437"/>
              <a:ext cx="0" cy="262"/>
            </a:xfrm>
            <a:prstGeom prst="line">
              <a:avLst/>
            </a:prstGeom>
            <a:noFill/>
            <a:ln w="28575">
              <a:solidFill>
                <a:srgbClr val="00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21" name="Line 52"/>
            <p:cNvSpPr>
              <a:spLocks noChangeShapeType="1"/>
            </p:cNvSpPr>
            <p:nvPr/>
          </p:nvSpPr>
          <p:spPr bwMode="auto">
            <a:xfrm>
              <a:off x="2993" y="1333"/>
              <a:ext cx="0" cy="261"/>
            </a:xfrm>
            <a:prstGeom prst="line">
              <a:avLst/>
            </a:prstGeom>
            <a:noFill/>
            <a:ln w="28575">
              <a:solidFill>
                <a:srgbClr val="00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22" name="Line 53"/>
            <p:cNvSpPr>
              <a:spLocks noChangeShapeType="1"/>
            </p:cNvSpPr>
            <p:nvPr/>
          </p:nvSpPr>
          <p:spPr bwMode="auto">
            <a:xfrm>
              <a:off x="3175" y="1228"/>
              <a:ext cx="0" cy="262"/>
            </a:xfrm>
            <a:prstGeom prst="line">
              <a:avLst/>
            </a:prstGeom>
            <a:noFill/>
            <a:ln w="28575">
              <a:solidFill>
                <a:srgbClr val="00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23" name="Line 54"/>
            <p:cNvSpPr>
              <a:spLocks noChangeShapeType="1"/>
            </p:cNvSpPr>
            <p:nvPr/>
          </p:nvSpPr>
          <p:spPr bwMode="auto">
            <a:xfrm>
              <a:off x="2507" y="2013"/>
              <a:ext cx="911" cy="0"/>
            </a:xfrm>
            <a:prstGeom prst="line">
              <a:avLst/>
            </a:prstGeom>
            <a:noFill/>
            <a:ln w="38100">
              <a:solidFill>
                <a:schemeClr val="tx1"/>
              </a:solidFill>
              <a:prstDash val="lg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24" name="Line 55"/>
            <p:cNvSpPr>
              <a:spLocks noChangeShapeType="1"/>
            </p:cNvSpPr>
            <p:nvPr/>
          </p:nvSpPr>
          <p:spPr bwMode="auto">
            <a:xfrm flipH="1">
              <a:off x="3357" y="1437"/>
              <a:ext cx="182" cy="105"/>
            </a:xfrm>
            <a:prstGeom prst="line">
              <a:avLst/>
            </a:prstGeom>
            <a:noFill/>
            <a:ln w="28575">
              <a:solidFill>
                <a:srgbClr val="00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25" name="Line 56"/>
            <p:cNvSpPr>
              <a:spLocks noChangeShapeType="1"/>
            </p:cNvSpPr>
            <p:nvPr/>
          </p:nvSpPr>
          <p:spPr bwMode="auto">
            <a:xfrm flipH="1">
              <a:off x="3418" y="1542"/>
              <a:ext cx="182" cy="105"/>
            </a:xfrm>
            <a:prstGeom prst="line">
              <a:avLst/>
            </a:prstGeom>
            <a:noFill/>
            <a:ln w="28575">
              <a:solidFill>
                <a:srgbClr val="00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26" name="Line 57"/>
            <p:cNvSpPr>
              <a:spLocks noChangeShapeType="1"/>
            </p:cNvSpPr>
            <p:nvPr/>
          </p:nvSpPr>
          <p:spPr bwMode="auto">
            <a:xfrm flipH="1">
              <a:off x="3175" y="1699"/>
              <a:ext cx="182" cy="105"/>
            </a:xfrm>
            <a:prstGeom prst="line">
              <a:avLst/>
            </a:prstGeom>
            <a:noFill/>
            <a:ln w="28575">
              <a:solidFill>
                <a:srgbClr val="00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27" name="Line 58"/>
            <p:cNvSpPr>
              <a:spLocks noChangeShapeType="1"/>
            </p:cNvSpPr>
            <p:nvPr/>
          </p:nvSpPr>
          <p:spPr bwMode="auto">
            <a:xfrm flipH="1">
              <a:off x="2872" y="1856"/>
              <a:ext cx="182" cy="105"/>
            </a:xfrm>
            <a:prstGeom prst="line">
              <a:avLst/>
            </a:prstGeom>
            <a:noFill/>
            <a:ln w="28575">
              <a:solidFill>
                <a:srgbClr val="00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28" name="Line 59"/>
            <p:cNvSpPr>
              <a:spLocks noChangeShapeType="1"/>
            </p:cNvSpPr>
            <p:nvPr/>
          </p:nvSpPr>
          <p:spPr bwMode="auto">
            <a:xfrm flipH="1">
              <a:off x="3114" y="1594"/>
              <a:ext cx="182" cy="105"/>
            </a:xfrm>
            <a:prstGeom prst="line">
              <a:avLst/>
            </a:prstGeom>
            <a:noFill/>
            <a:ln w="28575">
              <a:solidFill>
                <a:srgbClr val="00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29" name="Line 60"/>
            <p:cNvSpPr>
              <a:spLocks noChangeShapeType="1"/>
            </p:cNvSpPr>
            <p:nvPr/>
          </p:nvSpPr>
          <p:spPr bwMode="auto">
            <a:xfrm flipH="1">
              <a:off x="2872" y="1752"/>
              <a:ext cx="182" cy="104"/>
            </a:xfrm>
            <a:prstGeom prst="line">
              <a:avLst/>
            </a:prstGeom>
            <a:noFill/>
            <a:ln w="28575">
              <a:solidFill>
                <a:srgbClr val="00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30" name="Text Box 61"/>
            <p:cNvSpPr txBox="1">
              <a:spLocks noChangeArrowheads="1"/>
            </p:cNvSpPr>
            <p:nvPr/>
          </p:nvSpPr>
          <p:spPr bwMode="auto">
            <a:xfrm>
              <a:off x="2022" y="1123"/>
              <a:ext cx="60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zh-CN" altLang="en-US" sz="2800">
                  <a:solidFill>
                    <a:srgbClr val="0000FF"/>
                  </a:solidFill>
                  <a:latin typeface="Times New Roman" panose="02020603050405020304" pitchFamily="18" charset="0"/>
                  <a:ea typeface="华文新魏" panose="02010800040101010101" pitchFamily="2" charset="-122"/>
                </a:rPr>
                <a:t>降雨</a:t>
              </a:r>
              <a:endParaRPr kumimoji="1" lang="zh-CN" altLang="en-US" sz="2800">
                <a:solidFill>
                  <a:srgbClr val="0000FF"/>
                </a:solidFill>
                <a:latin typeface="Times New Roman" panose="02020603050405020304" pitchFamily="18" charset="0"/>
                <a:ea typeface="华文新魏" panose="02010800040101010101" pitchFamily="2" charset="-122"/>
              </a:endParaRPr>
            </a:p>
          </p:txBody>
        </p:sp>
        <p:sp>
          <p:nvSpPr>
            <p:cNvPr id="20531" name="Line 62"/>
            <p:cNvSpPr>
              <a:spLocks noChangeShapeType="1"/>
            </p:cNvSpPr>
            <p:nvPr/>
          </p:nvSpPr>
          <p:spPr bwMode="auto">
            <a:xfrm>
              <a:off x="3680" y="1235"/>
              <a:ext cx="136" cy="56"/>
            </a:xfrm>
            <a:prstGeom prst="line">
              <a:avLst/>
            </a:prstGeom>
            <a:noFill/>
            <a:ln w="19050">
              <a:solidFill>
                <a:srgbClr val="CC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32" name="Line 63"/>
            <p:cNvSpPr>
              <a:spLocks noChangeShapeType="1"/>
            </p:cNvSpPr>
            <p:nvPr/>
          </p:nvSpPr>
          <p:spPr bwMode="auto">
            <a:xfrm>
              <a:off x="3760" y="1187"/>
              <a:ext cx="136" cy="56"/>
            </a:xfrm>
            <a:prstGeom prst="line">
              <a:avLst/>
            </a:prstGeom>
            <a:noFill/>
            <a:ln w="19050">
              <a:solidFill>
                <a:srgbClr val="CC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33" name="Line 64"/>
            <p:cNvSpPr>
              <a:spLocks noChangeShapeType="1"/>
            </p:cNvSpPr>
            <p:nvPr/>
          </p:nvSpPr>
          <p:spPr bwMode="auto">
            <a:xfrm>
              <a:off x="3545" y="1333"/>
              <a:ext cx="144" cy="56"/>
            </a:xfrm>
            <a:prstGeom prst="line">
              <a:avLst/>
            </a:prstGeom>
            <a:noFill/>
            <a:ln w="19050">
              <a:solidFill>
                <a:srgbClr val="CC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34" name="Line 65"/>
            <p:cNvSpPr>
              <a:spLocks noChangeShapeType="1"/>
            </p:cNvSpPr>
            <p:nvPr/>
          </p:nvSpPr>
          <p:spPr bwMode="auto">
            <a:xfrm>
              <a:off x="3605" y="1279"/>
              <a:ext cx="151" cy="62"/>
            </a:xfrm>
            <a:prstGeom prst="line">
              <a:avLst/>
            </a:prstGeom>
            <a:noFill/>
            <a:ln w="19050">
              <a:solidFill>
                <a:srgbClr val="CC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35" name="Line 66"/>
            <p:cNvSpPr>
              <a:spLocks noChangeShapeType="1"/>
            </p:cNvSpPr>
            <p:nvPr/>
          </p:nvSpPr>
          <p:spPr bwMode="auto">
            <a:xfrm>
              <a:off x="3823" y="1142"/>
              <a:ext cx="136" cy="56"/>
            </a:xfrm>
            <a:prstGeom prst="line">
              <a:avLst/>
            </a:prstGeom>
            <a:noFill/>
            <a:ln w="19050">
              <a:solidFill>
                <a:srgbClr val="CC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48612" name="Rectangle 68"/>
          <p:cNvSpPr>
            <a:spLocks noChangeArrowheads="1"/>
          </p:cNvSpPr>
          <p:nvPr/>
        </p:nvSpPr>
        <p:spPr bwMode="auto">
          <a:xfrm>
            <a:off x="990600" y="3810000"/>
            <a:ext cx="3041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r>
              <a:rPr kumimoji="1" lang="zh-CN" altLang="en-US" sz="2800" b="1">
                <a:solidFill>
                  <a:srgbClr val="0000FF"/>
                </a:solidFill>
                <a:latin typeface="Times New Roman" panose="02020603050405020304" pitchFamily="18" charset="0"/>
                <a:ea typeface="隶书" panose="02010509060101010101" pitchFamily="49" charset="-122"/>
              </a:rPr>
              <a:t>正常蓄水土坝下游</a:t>
            </a:r>
            <a:endParaRPr kumimoji="1" lang="zh-CN" altLang="en-US" sz="2800" b="1">
              <a:solidFill>
                <a:srgbClr val="0000FF"/>
              </a:solidFill>
              <a:latin typeface="Times New Roman" panose="02020603050405020304" pitchFamily="18" charset="0"/>
              <a:ea typeface="隶书" panose="02010509060101010101" pitchFamily="49" charset="-122"/>
            </a:endParaRPr>
          </a:p>
        </p:txBody>
      </p:sp>
      <p:sp>
        <p:nvSpPr>
          <p:cNvPr id="748621" name="Rectangle 77"/>
          <p:cNvSpPr>
            <a:spLocks noChangeArrowheads="1"/>
          </p:cNvSpPr>
          <p:nvPr/>
        </p:nvSpPr>
        <p:spPr bwMode="auto">
          <a:xfrm>
            <a:off x="4953000" y="3810000"/>
            <a:ext cx="33988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r>
              <a:rPr kumimoji="1" lang="zh-CN" altLang="en-US" sz="2800" b="1">
                <a:solidFill>
                  <a:srgbClr val="0000FF"/>
                </a:solidFill>
                <a:latin typeface="Times New Roman" panose="02020603050405020304" pitchFamily="18" charset="0"/>
                <a:ea typeface="隶书" panose="02010509060101010101" pitchFamily="49" charset="-122"/>
              </a:rPr>
              <a:t>水位骤降的土坝上游</a:t>
            </a:r>
            <a:endParaRPr kumimoji="1" lang="zh-CN" altLang="en-US" sz="2800" b="1">
              <a:solidFill>
                <a:srgbClr val="0000FF"/>
              </a:solidFill>
              <a:latin typeface="Times New Roman" panose="02020603050405020304" pitchFamily="18" charset="0"/>
              <a:ea typeface="隶书" panose="02010509060101010101" pitchFamily="49" charset="-122"/>
            </a:endParaRPr>
          </a:p>
        </p:txBody>
      </p:sp>
      <p:grpSp>
        <p:nvGrpSpPr>
          <p:cNvPr id="3" name="Group 94"/>
          <p:cNvGrpSpPr/>
          <p:nvPr/>
        </p:nvGrpSpPr>
        <p:grpSpPr bwMode="auto">
          <a:xfrm>
            <a:off x="4648200" y="4713288"/>
            <a:ext cx="3975100" cy="1428750"/>
            <a:chOff x="2928" y="2969"/>
            <a:chExt cx="2504" cy="900"/>
          </a:xfrm>
        </p:grpSpPr>
        <p:sp>
          <p:nvSpPr>
            <p:cNvPr id="20501" name="Line 78"/>
            <p:cNvSpPr>
              <a:spLocks noChangeShapeType="1"/>
            </p:cNvSpPr>
            <p:nvPr/>
          </p:nvSpPr>
          <p:spPr bwMode="auto">
            <a:xfrm flipV="1">
              <a:off x="2959" y="3869"/>
              <a:ext cx="2473" cy="0"/>
            </a:xfrm>
            <a:prstGeom prst="line">
              <a:avLst/>
            </a:prstGeom>
            <a:noFill/>
            <a:ln w="3810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02" name="Freeform 79"/>
            <p:cNvSpPr/>
            <p:nvPr/>
          </p:nvSpPr>
          <p:spPr bwMode="auto">
            <a:xfrm>
              <a:off x="3421" y="2969"/>
              <a:ext cx="1840" cy="900"/>
            </a:xfrm>
            <a:custGeom>
              <a:avLst/>
              <a:gdLst>
                <a:gd name="T0" fmla="*/ 0 w 1840"/>
                <a:gd name="T1" fmla="*/ 900 h 900"/>
                <a:gd name="T2" fmla="*/ 648 w 1840"/>
                <a:gd name="T3" fmla="*/ 0 h 900"/>
                <a:gd name="T4" fmla="*/ 1152 w 1840"/>
                <a:gd name="T5" fmla="*/ 0 h 900"/>
                <a:gd name="T6" fmla="*/ 1840 w 1840"/>
                <a:gd name="T7" fmla="*/ 896 h 900"/>
                <a:gd name="T8" fmla="*/ 0 w 1840"/>
                <a:gd name="T9" fmla="*/ 900 h 900"/>
                <a:gd name="T10" fmla="*/ 0 60000 65536"/>
                <a:gd name="T11" fmla="*/ 0 60000 65536"/>
                <a:gd name="T12" fmla="*/ 0 60000 65536"/>
                <a:gd name="T13" fmla="*/ 0 60000 65536"/>
                <a:gd name="T14" fmla="*/ 0 60000 65536"/>
                <a:gd name="T15" fmla="*/ 0 w 1840"/>
                <a:gd name="T16" fmla="*/ 0 h 900"/>
                <a:gd name="T17" fmla="*/ 1840 w 1840"/>
                <a:gd name="T18" fmla="*/ 900 h 900"/>
              </a:gdLst>
              <a:ahLst/>
              <a:cxnLst>
                <a:cxn ang="T10">
                  <a:pos x="T0" y="T1"/>
                </a:cxn>
                <a:cxn ang="T11">
                  <a:pos x="T2" y="T3"/>
                </a:cxn>
                <a:cxn ang="T12">
                  <a:pos x="T4" y="T5"/>
                </a:cxn>
                <a:cxn ang="T13">
                  <a:pos x="T6" y="T7"/>
                </a:cxn>
                <a:cxn ang="T14">
                  <a:pos x="T8" y="T9"/>
                </a:cxn>
              </a:cxnLst>
              <a:rect l="T15" t="T16" r="T17" b="T18"/>
              <a:pathLst>
                <a:path w="1840" h="900">
                  <a:moveTo>
                    <a:pt x="0" y="900"/>
                  </a:moveTo>
                  <a:lnTo>
                    <a:pt x="648" y="0"/>
                  </a:lnTo>
                  <a:lnTo>
                    <a:pt x="1152" y="0"/>
                  </a:lnTo>
                  <a:lnTo>
                    <a:pt x="1840" y="896"/>
                  </a:lnTo>
                  <a:lnTo>
                    <a:pt x="0" y="900"/>
                  </a:lnTo>
                  <a:close/>
                </a:path>
              </a:pathLst>
            </a:custGeom>
            <a:noFill/>
            <a:ln w="28575">
              <a:solidFill>
                <a:srgbClr val="CC33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503" name="Line 80"/>
            <p:cNvSpPr>
              <a:spLocks noChangeShapeType="1"/>
            </p:cNvSpPr>
            <p:nvPr/>
          </p:nvSpPr>
          <p:spPr bwMode="auto">
            <a:xfrm>
              <a:off x="2928" y="3138"/>
              <a:ext cx="1009" cy="1"/>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04" name="AutoShape 81"/>
            <p:cNvSpPr>
              <a:spLocks noChangeArrowheads="1"/>
            </p:cNvSpPr>
            <p:nvPr/>
          </p:nvSpPr>
          <p:spPr bwMode="auto">
            <a:xfrm rot="10800000">
              <a:off x="3393" y="2990"/>
              <a:ext cx="133" cy="154"/>
            </a:xfrm>
            <a:prstGeom prst="triangle">
              <a:avLst>
                <a:gd name="adj" fmla="val 50000"/>
              </a:avLst>
            </a:prstGeom>
            <a:solidFill>
              <a:srgbClr val="0000CC"/>
            </a:solidFill>
            <a:ln w="9525">
              <a:solidFill>
                <a:srgbClr val="0000CC"/>
              </a:solidFill>
              <a:miter lim="800000"/>
            </a:ln>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20505" name="Line 82"/>
            <p:cNvSpPr>
              <a:spLocks noChangeShapeType="1"/>
            </p:cNvSpPr>
            <p:nvPr/>
          </p:nvSpPr>
          <p:spPr bwMode="auto">
            <a:xfrm flipV="1">
              <a:off x="3346" y="3189"/>
              <a:ext cx="215" cy="0"/>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06" name="Line 83"/>
            <p:cNvSpPr>
              <a:spLocks noChangeShapeType="1"/>
            </p:cNvSpPr>
            <p:nvPr/>
          </p:nvSpPr>
          <p:spPr bwMode="auto">
            <a:xfrm flipV="1">
              <a:off x="3380" y="3231"/>
              <a:ext cx="129" cy="1"/>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07" name="Freeform 84"/>
            <p:cNvSpPr/>
            <p:nvPr/>
          </p:nvSpPr>
          <p:spPr bwMode="auto">
            <a:xfrm>
              <a:off x="3935" y="3143"/>
              <a:ext cx="1218" cy="594"/>
            </a:xfrm>
            <a:custGeom>
              <a:avLst/>
              <a:gdLst>
                <a:gd name="T0" fmla="*/ 0 w 1218"/>
                <a:gd name="T1" fmla="*/ 0 h 594"/>
                <a:gd name="T2" fmla="*/ 246 w 1218"/>
                <a:gd name="T3" fmla="*/ 26 h 594"/>
                <a:gd name="T4" fmla="*/ 502 w 1218"/>
                <a:gd name="T5" fmla="*/ 98 h 594"/>
                <a:gd name="T6" fmla="*/ 798 w 1218"/>
                <a:gd name="T7" fmla="*/ 262 h 594"/>
                <a:gd name="T8" fmla="*/ 1062 w 1218"/>
                <a:gd name="T9" fmla="*/ 462 h 594"/>
                <a:gd name="T10" fmla="*/ 1218 w 1218"/>
                <a:gd name="T11" fmla="*/ 594 h 594"/>
                <a:gd name="T12" fmla="*/ 0 60000 65536"/>
                <a:gd name="T13" fmla="*/ 0 60000 65536"/>
                <a:gd name="T14" fmla="*/ 0 60000 65536"/>
                <a:gd name="T15" fmla="*/ 0 60000 65536"/>
                <a:gd name="T16" fmla="*/ 0 60000 65536"/>
                <a:gd name="T17" fmla="*/ 0 60000 65536"/>
                <a:gd name="T18" fmla="*/ 0 w 1218"/>
                <a:gd name="T19" fmla="*/ 0 h 594"/>
                <a:gd name="T20" fmla="*/ 1218 w 1218"/>
                <a:gd name="T21" fmla="*/ 594 h 594"/>
              </a:gdLst>
              <a:ahLst/>
              <a:cxnLst>
                <a:cxn ang="T12">
                  <a:pos x="T0" y="T1"/>
                </a:cxn>
                <a:cxn ang="T13">
                  <a:pos x="T2" y="T3"/>
                </a:cxn>
                <a:cxn ang="T14">
                  <a:pos x="T4" y="T5"/>
                </a:cxn>
                <a:cxn ang="T15">
                  <a:pos x="T6" y="T7"/>
                </a:cxn>
                <a:cxn ang="T16">
                  <a:pos x="T8" y="T9"/>
                </a:cxn>
                <a:cxn ang="T17">
                  <a:pos x="T10" y="T11"/>
                </a:cxn>
              </a:cxnLst>
              <a:rect l="T18" t="T19" r="T20" b="T21"/>
              <a:pathLst>
                <a:path w="1218" h="594">
                  <a:moveTo>
                    <a:pt x="0" y="0"/>
                  </a:moveTo>
                  <a:cubicBezTo>
                    <a:pt x="81" y="5"/>
                    <a:pt x="162" y="10"/>
                    <a:pt x="246" y="26"/>
                  </a:cubicBezTo>
                  <a:cubicBezTo>
                    <a:pt x="330" y="42"/>
                    <a:pt x="410" y="59"/>
                    <a:pt x="502" y="98"/>
                  </a:cubicBezTo>
                  <a:cubicBezTo>
                    <a:pt x="594" y="137"/>
                    <a:pt x="705" y="201"/>
                    <a:pt x="798" y="262"/>
                  </a:cubicBezTo>
                  <a:cubicBezTo>
                    <a:pt x="891" y="323"/>
                    <a:pt x="992" y="407"/>
                    <a:pt x="1062" y="462"/>
                  </a:cubicBezTo>
                  <a:cubicBezTo>
                    <a:pt x="1132" y="517"/>
                    <a:pt x="1191" y="573"/>
                    <a:pt x="1218" y="594"/>
                  </a:cubicBezTo>
                </a:path>
              </a:pathLst>
            </a:custGeom>
            <a:noFill/>
            <a:ln w="28575">
              <a:solidFill>
                <a:srgbClr val="0000CC"/>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508" name="Line 85"/>
            <p:cNvSpPr>
              <a:spLocks noChangeShapeType="1"/>
            </p:cNvSpPr>
            <p:nvPr/>
          </p:nvSpPr>
          <p:spPr bwMode="auto">
            <a:xfrm>
              <a:off x="2988" y="3568"/>
              <a:ext cx="655" cy="1"/>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09" name="AutoShape 86"/>
            <p:cNvSpPr>
              <a:spLocks noChangeArrowheads="1"/>
            </p:cNvSpPr>
            <p:nvPr/>
          </p:nvSpPr>
          <p:spPr bwMode="auto">
            <a:xfrm rot="10800000">
              <a:off x="3359" y="3422"/>
              <a:ext cx="133" cy="154"/>
            </a:xfrm>
            <a:prstGeom prst="triangle">
              <a:avLst>
                <a:gd name="adj" fmla="val 50000"/>
              </a:avLst>
            </a:prstGeom>
            <a:solidFill>
              <a:srgbClr val="0000CC"/>
            </a:solidFill>
            <a:ln w="9525">
              <a:solidFill>
                <a:srgbClr val="0000CC"/>
              </a:solidFill>
              <a:miter lim="800000"/>
            </a:ln>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20510" name="Line 87"/>
            <p:cNvSpPr>
              <a:spLocks noChangeShapeType="1"/>
            </p:cNvSpPr>
            <p:nvPr/>
          </p:nvSpPr>
          <p:spPr bwMode="auto">
            <a:xfrm flipV="1">
              <a:off x="3312" y="3621"/>
              <a:ext cx="215" cy="0"/>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11" name="Line 88"/>
            <p:cNvSpPr>
              <a:spLocks noChangeShapeType="1"/>
            </p:cNvSpPr>
            <p:nvPr/>
          </p:nvSpPr>
          <p:spPr bwMode="auto">
            <a:xfrm flipV="1">
              <a:off x="3346" y="3663"/>
              <a:ext cx="129" cy="1"/>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12" name="Freeform 89"/>
            <p:cNvSpPr/>
            <p:nvPr/>
          </p:nvSpPr>
          <p:spPr bwMode="auto">
            <a:xfrm>
              <a:off x="3663" y="3343"/>
              <a:ext cx="1493" cy="389"/>
            </a:xfrm>
            <a:custGeom>
              <a:avLst/>
              <a:gdLst>
                <a:gd name="T0" fmla="*/ 0 w 1493"/>
                <a:gd name="T1" fmla="*/ 215 h 389"/>
                <a:gd name="T2" fmla="*/ 169 w 1493"/>
                <a:gd name="T3" fmla="*/ 101 h 389"/>
                <a:gd name="T4" fmla="*/ 329 w 1493"/>
                <a:gd name="T5" fmla="*/ 29 h 389"/>
                <a:gd name="T6" fmla="*/ 509 w 1493"/>
                <a:gd name="T7" fmla="*/ 1 h 389"/>
                <a:gd name="T8" fmla="*/ 705 w 1493"/>
                <a:gd name="T9" fmla="*/ 21 h 389"/>
                <a:gd name="T10" fmla="*/ 937 w 1493"/>
                <a:gd name="T11" fmla="*/ 89 h 389"/>
                <a:gd name="T12" fmla="*/ 1173 w 1493"/>
                <a:gd name="T13" fmla="*/ 193 h 389"/>
                <a:gd name="T14" fmla="*/ 1385 w 1493"/>
                <a:gd name="T15" fmla="*/ 313 h 389"/>
                <a:gd name="T16" fmla="*/ 1493 w 1493"/>
                <a:gd name="T17" fmla="*/ 389 h 3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93"/>
                <a:gd name="T28" fmla="*/ 0 h 389"/>
                <a:gd name="T29" fmla="*/ 1493 w 1493"/>
                <a:gd name="T30" fmla="*/ 389 h 38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93" h="389">
                  <a:moveTo>
                    <a:pt x="0" y="215"/>
                  </a:moveTo>
                  <a:cubicBezTo>
                    <a:pt x="57" y="173"/>
                    <a:pt x="114" y="132"/>
                    <a:pt x="169" y="101"/>
                  </a:cubicBezTo>
                  <a:cubicBezTo>
                    <a:pt x="224" y="70"/>
                    <a:pt x="272" y="46"/>
                    <a:pt x="329" y="29"/>
                  </a:cubicBezTo>
                  <a:cubicBezTo>
                    <a:pt x="386" y="12"/>
                    <a:pt x="446" y="2"/>
                    <a:pt x="509" y="1"/>
                  </a:cubicBezTo>
                  <a:cubicBezTo>
                    <a:pt x="572" y="0"/>
                    <a:pt x="634" y="6"/>
                    <a:pt x="705" y="21"/>
                  </a:cubicBezTo>
                  <a:cubicBezTo>
                    <a:pt x="776" y="36"/>
                    <a:pt x="859" y="60"/>
                    <a:pt x="937" y="89"/>
                  </a:cubicBezTo>
                  <a:cubicBezTo>
                    <a:pt x="1015" y="118"/>
                    <a:pt x="1098" y="156"/>
                    <a:pt x="1173" y="193"/>
                  </a:cubicBezTo>
                  <a:cubicBezTo>
                    <a:pt x="1248" y="230"/>
                    <a:pt x="1332" y="280"/>
                    <a:pt x="1385" y="313"/>
                  </a:cubicBezTo>
                  <a:cubicBezTo>
                    <a:pt x="1438" y="346"/>
                    <a:pt x="1474" y="375"/>
                    <a:pt x="1493" y="389"/>
                  </a:cubicBezTo>
                </a:path>
              </a:pathLst>
            </a:custGeom>
            <a:noFill/>
            <a:ln w="28575">
              <a:solidFill>
                <a:srgbClr val="0000CC"/>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748634" name="Line 90"/>
          <p:cNvSpPr>
            <a:spLocks noChangeShapeType="1"/>
          </p:cNvSpPr>
          <p:nvPr/>
        </p:nvSpPr>
        <p:spPr bwMode="auto">
          <a:xfrm>
            <a:off x="8001000" y="5486400"/>
            <a:ext cx="425450" cy="565150"/>
          </a:xfrm>
          <a:prstGeom prst="line">
            <a:avLst/>
          </a:prstGeom>
          <a:noFill/>
          <a:ln w="38100">
            <a:solidFill>
              <a:srgbClr val="FF66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8636" name="Line 92"/>
          <p:cNvSpPr>
            <a:spLocks noChangeShapeType="1"/>
          </p:cNvSpPr>
          <p:nvPr/>
        </p:nvSpPr>
        <p:spPr bwMode="auto">
          <a:xfrm flipH="1">
            <a:off x="5562600" y="5029200"/>
            <a:ext cx="457200" cy="685800"/>
          </a:xfrm>
          <a:prstGeom prst="line">
            <a:avLst/>
          </a:prstGeom>
          <a:noFill/>
          <a:ln w="38100">
            <a:solidFill>
              <a:srgbClr val="FF66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8637" name="Line 93"/>
          <p:cNvSpPr>
            <a:spLocks noChangeShapeType="1"/>
          </p:cNvSpPr>
          <p:nvPr/>
        </p:nvSpPr>
        <p:spPr bwMode="auto">
          <a:xfrm>
            <a:off x="3657600" y="5410200"/>
            <a:ext cx="425450" cy="565150"/>
          </a:xfrm>
          <a:prstGeom prst="line">
            <a:avLst/>
          </a:prstGeom>
          <a:noFill/>
          <a:ln w="38100">
            <a:solidFill>
              <a:srgbClr val="FF66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 name="Group 100"/>
          <p:cNvGrpSpPr/>
          <p:nvPr/>
        </p:nvGrpSpPr>
        <p:grpSpPr bwMode="auto">
          <a:xfrm>
            <a:off x="304800" y="4724400"/>
            <a:ext cx="3960813" cy="1428750"/>
            <a:chOff x="192" y="2976"/>
            <a:chExt cx="2495" cy="900"/>
          </a:xfrm>
        </p:grpSpPr>
        <p:sp>
          <p:nvSpPr>
            <p:cNvPr id="20493" name="Line 69"/>
            <p:cNvSpPr>
              <a:spLocks noChangeShapeType="1"/>
            </p:cNvSpPr>
            <p:nvPr/>
          </p:nvSpPr>
          <p:spPr bwMode="auto">
            <a:xfrm flipV="1">
              <a:off x="509" y="3876"/>
              <a:ext cx="2178" cy="0"/>
            </a:xfrm>
            <a:prstGeom prst="line">
              <a:avLst/>
            </a:prstGeom>
            <a:noFill/>
            <a:ln w="3810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4" name="Freeform 70"/>
            <p:cNvSpPr/>
            <p:nvPr/>
          </p:nvSpPr>
          <p:spPr bwMode="auto">
            <a:xfrm>
              <a:off x="676" y="2976"/>
              <a:ext cx="1840" cy="900"/>
            </a:xfrm>
            <a:custGeom>
              <a:avLst/>
              <a:gdLst>
                <a:gd name="T0" fmla="*/ 0 w 1840"/>
                <a:gd name="T1" fmla="*/ 900 h 900"/>
                <a:gd name="T2" fmla="*/ 648 w 1840"/>
                <a:gd name="T3" fmla="*/ 0 h 900"/>
                <a:gd name="T4" fmla="*/ 1152 w 1840"/>
                <a:gd name="T5" fmla="*/ 0 h 900"/>
                <a:gd name="T6" fmla="*/ 1840 w 1840"/>
                <a:gd name="T7" fmla="*/ 896 h 900"/>
                <a:gd name="T8" fmla="*/ 0 w 1840"/>
                <a:gd name="T9" fmla="*/ 900 h 900"/>
                <a:gd name="T10" fmla="*/ 0 60000 65536"/>
                <a:gd name="T11" fmla="*/ 0 60000 65536"/>
                <a:gd name="T12" fmla="*/ 0 60000 65536"/>
                <a:gd name="T13" fmla="*/ 0 60000 65536"/>
                <a:gd name="T14" fmla="*/ 0 60000 65536"/>
                <a:gd name="T15" fmla="*/ 0 w 1840"/>
                <a:gd name="T16" fmla="*/ 0 h 900"/>
                <a:gd name="T17" fmla="*/ 1840 w 1840"/>
                <a:gd name="T18" fmla="*/ 900 h 900"/>
              </a:gdLst>
              <a:ahLst/>
              <a:cxnLst>
                <a:cxn ang="T10">
                  <a:pos x="T0" y="T1"/>
                </a:cxn>
                <a:cxn ang="T11">
                  <a:pos x="T2" y="T3"/>
                </a:cxn>
                <a:cxn ang="T12">
                  <a:pos x="T4" y="T5"/>
                </a:cxn>
                <a:cxn ang="T13">
                  <a:pos x="T6" y="T7"/>
                </a:cxn>
                <a:cxn ang="T14">
                  <a:pos x="T8" y="T9"/>
                </a:cxn>
              </a:cxnLst>
              <a:rect l="T15" t="T16" r="T17" b="T18"/>
              <a:pathLst>
                <a:path w="1840" h="900">
                  <a:moveTo>
                    <a:pt x="0" y="900"/>
                  </a:moveTo>
                  <a:lnTo>
                    <a:pt x="648" y="0"/>
                  </a:lnTo>
                  <a:lnTo>
                    <a:pt x="1152" y="0"/>
                  </a:lnTo>
                  <a:lnTo>
                    <a:pt x="1840" y="896"/>
                  </a:lnTo>
                  <a:lnTo>
                    <a:pt x="0" y="900"/>
                  </a:lnTo>
                  <a:close/>
                </a:path>
              </a:pathLst>
            </a:custGeom>
            <a:noFill/>
            <a:ln w="28575">
              <a:solidFill>
                <a:srgbClr val="CC33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495" name="Line 71"/>
            <p:cNvSpPr>
              <a:spLocks noChangeShapeType="1"/>
            </p:cNvSpPr>
            <p:nvPr/>
          </p:nvSpPr>
          <p:spPr bwMode="auto">
            <a:xfrm flipV="1">
              <a:off x="192" y="3146"/>
              <a:ext cx="1000" cy="5"/>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6" name="AutoShape 72"/>
            <p:cNvSpPr>
              <a:spLocks noChangeArrowheads="1"/>
            </p:cNvSpPr>
            <p:nvPr/>
          </p:nvSpPr>
          <p:spPr bwMode="auto">
            <a:xfrm rot="10800000">
              <a:off x="648" y="2997"/>
              <a:ext cx="133" cy="154"/>
            </a:xfrm>
            <a:prstGeom prst="triangle">
              <a:avLst>
                <a:gd name="adj" fmla="val 50000"/>
              </a:avLst>
            </a:prstGeom>
            <a:solidFill>
              <a:srgbClr val="0000CC"/>
            </a:solidFill>
            <a:ln w="9525">
              <a:solidFill>
                <a:srgbClr val="0000CC"/>
              </a:solidFill>
              <a:miter lim="800000"/>
            </a:ln>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20497" name="Line 73"/>
            <p:cNvSpPr>
              <a:spLocks noChangeShapeType="1"/>
            </p:cNvSpPr>
            <p:nvPr/>
          </p:nvSpPr>
          <p:spPr bwMode="auto">
            <a:xfrm flipV="1">
              <a:off x="601" y="3196"/>
              <a:ext cx="215" cy="0"/>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8" name="Line 74"/>
            <p:cNvSpPr>
              <a:spLocks noChangeShapeType="1"/>
            </p:cNvSpPr>
            <p:nvPr/>
          </p:nvSpPr>
          <p:spPr bwMode="auto">
            <a:xfrm flipV="1">
              <a:off x="635" y="3238"/>
              <a:ext cx="129" cy="1"/>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9" name="Freeform 75"/>
            <p:cNvSpPr/>
            <p:nvPr/>
          </p:nvSpPr>
          <p:spPr bwMode="auto">
            <a:xfrm>
              <a:off x="1200" y="3168"/>
              <a:ext cx="1104" cy="402"/>
            </a:xfrm>
            <a:custGeom>
              <a:avLst/>
              <a:gdLst>
                <a:gd name="T0" fmla="*/ 0 w 1218"/>
                <a:gd name="T1" fmla="*/ 0 h 594"/>
                <a:gd name="T2" fmla="*/ 183 w 1218"/>
                <a:gd name="T3" fmla="*/ 8 h 594"/>
                <a:gd name="T4" fmla="*/ 373 w 1218"/>
                <a:gd name="T5" fmla="*/ 30 h 594"/>
                <a:gd name="T6" fmla="*/ 594 w 1218"/>
                <a:gd name="T7" fmla="*/ 81 h 594"/>
                <a:gd name="T8" fmla="*/ 791 w 1218"/>
                <a:gd name="T9" fmla="*/ 143 h 594"/>
                <a:gd name="T10" fmla="*/ 907 w 1218"/>
                <a:gd name="T11" fmla="*/ 184 h 594"/>
                <a:gd name="T12" fmla="*/ 0 60000 65536"/>
                <a:gd name="T13" fmla="*/ 0 60000 65536"/>
                <a:gd name="T14" fmla="*/ 0 60000 65536"/>
                <a:gd name="T15" fmla="*/ 0 60000 65536"/>
                <a:gd name="T16" fmla="*/ 0 60000 65536"/>
                <a:gd name="T17" fmla="*/ 0 60000 65536"/>
                <a:gd name="T18" fmla="*/ 0 w 1218"/>
                <a:gd name="T19" fmla="*/ 0 h 594"/>
                <a:gd name="T20" fmla="*/ 1218 w 1218"/>
                <a:gd name="T21" fmla="*/ 594 h 594"/>
              </a:gdLst>
              <a:ahLst/>
              <a:cxnLst>
                <a:cxn ang="T12">
                  <a:pos x="T0" y="T1"/>
                </a:cxn>
                <a:cxn ang="T13">
                  <a:pos x="T2" y="T3"/>
                </a:cxn>
                <a:cxn ang="T14">
                  <a:pos x="T4" y="T5"/>
                </a:cxn>
                <a:cxn ang="T15">
                  <a:pos x="T6" y="T7"/>
                </a:cxn>
                <a:cxn ang="T16">
                  <a:pos x="T8" y="T9"/>
                </a:cxn>
                <a:cxn ang="T17">
                  <a:pos x="T10" y="T11"/>
                </a:cxn>
              </a:cxnLst>
              <a:rect l="T18" t="T19" r="T20" b="T21"/>
              <a:pathLst>
                <a:path w="1218" h="594">
                  <a:moveTo>
                    <a:pt x="0" y="0"/>
                  </a:moveTo>
                  <a:cubicBezTo>
                    <a:pt x="81" y="5"/>
                    <a:pt x="162" y="10"/>
                    <a:pt x="246" y="26"/>
                  </a:cubicBezTo>
                  <a:cubicBezTo>
                    <a:pt x="330" y="42"/>
                    <a:pt x="410" y="59"/>
                    <a:pt x="502" y="98"/>
                  </a:cubicBezTo>
                  <a:cubicBezTo>
                    <a:pt x="594" y="137"/>
                    <a:pt x="705" y="201"/>
                    <a:pt x="798" y="262"/>
                  </a:cubicBezTo>
                  <a:cubicBezTo>
                    <a:pt x="891" y="323"/>
                    <a:pt x="992" y="407"/>
                    <a:pt x="1062" y="462"/>
                  </a:cubicBezTo>
                  <a:cubicBezTo>
                    <a:pt x="1132" y="517"/>
                    <a:pt x="1191" y="573"/>
                    <a:pt x="1218" y="594"/>
                  </a:cubicBezTo>
                </a:path>
              </a:pathLst>
            </a:custGeom>
            <a:noFill/>
            <a:ln w="28575">
              <a:solidFill>
                <a:srgbClr val="0000CC"/>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500" name="Line 95"/>
            <p:cNvSpPr>
              <a:spLocks noChangeShapeType="1"/>
            </p:cNvSpPr>
            <p:nvPr/>
          </p:nvSpPr>
          <p:spPr bwMode="auto">
            <a:xfrm>
              <a:off x="2256" y="3552"/>
              <a:ext cx="240" cy="288"/>
            </a:xfrm>
            <a:prstGeom prst="line">
              <a:avLst/>
            </a:prstGeom>
            <a:noFill/>
            <a:ln w="34925">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48641" name="AutoShape 97"/>
          <p:cNvSpPr>
            <a:spLocks noChangeArrowheads="1"/>
          </p:cNvSpPr>
          <p:nvPr/>
        </p:nvSpPr>
        <p:spPr bwMode="auto">
          <a:xfrm>
            <a:off x="3352800" y="4419600"/>
            <a:ext cx="1143000" cy="508000"/>
          </a:xfrm>
          <a:prstGeom prst="wedgeRoundRectCallout">
            <a:avLst>
              <a:gd name="adj1" fmla="val -17500"/>
              <a:gd name="adj2" fmla="val 224296"/>
              <a:gd name="adj3" fmla="val 16667"/>
            </a:avLst>
          </a:prstGeom>
          <a:noFill/>
          <a:ln w="19050" algn="ctr">
            <a:solidFill>
              <a:srgbClr val="FF00FF"/>
            </a:solidFill>
            <a:miter lim="800000"/>
          </a:ln>
          <a:extLst>
            <a:ext uri="{909E8E84-426E-40DD-AFC4-6F175D3DCCD1}">
              <a14:hiddenFill xmlns:a14="http://schemas.microsoft.com/office/drawing/2010/main">
                <a:solidFill>
                  <a:srgbClr val="FFFFFF"/>
                </a:solidFill>
              </a14:hiddenFill>
            </a:ext>
          </a:extLst>
        </p:spPr>
        <p:txBody>
          <a:bodyPr lIns="0" r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lang="zh-CN" altLang="en-US" sz="2400" b="1">
                <a:solidFill>
                  <a:srgbClr val="009900"/>
                </a:solidFill>
              </a:rPr>
              <a:t>逸出段</a:t>
            </a:r>
            <a:endParaRPr lang="zh-CN" altLang="en-US" sz="2400" b="1">
              <a:solidFill>
                <a:srgbClr val="FF00FF"/>
              </a:solidFill>
            </a:endParaRPr>
          </a:p>
        </p:txBody>
      </p:sp>
      <p:sp>
        <p:nvSpPr>
          <p:cNvPr id="56" name="Rectangle 6"/>
          <p:cNvSpPr>
            <a:spLocks noChangeArrowheads="1"/>
          </p:cNvSpPr>
          <p:nvPr/>
        </p:nvSpPr>
        <p:spPr bwMode="auto">
          <a:xfrm>
            <a:off x="0" y="-7396"/>
            <a:ext cx="45720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§6.2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无黏性土坡的稳定性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748612"/>
                                        </p:tgtEl>
                                        <p:attrNameLst>
                                          <p:attrName>style.visibility</p:attrName>
                                        </p:attrNameLst>
                                      </p:cBhvr>
                                      <p:to>
                                        <p:strVal val="visible"/>
                                      </p:to>
                                    </p:set>
                                    <p:anim calcmode="lin" valueType="num">
                                      <p:cBhvr additive="base">
                                        <p:cTn id="12" dur="500" fill="hold"/>
                                        <p:tgtEl>
                                          <p:spTgt spid="748612"/>
                                        </p:tgtEl>
                                        <p:attrNameLst>
                                          <p:attrName>ppt_x</p:attrName>
                                        </p:attrNameLst>
                                      </p:cBhvr>
                                      <p:tavLst>
                                        <p:tav tm="0">
                                          <p:val>
                                            <p:strVal val="0-#ppt_w/2"/>
                                          </p:val>
                                        </p:tav>
                                        <p:tav tm="100000">
                                          <p:val>
                                            <p:strVal val="#ppt_x"/>
                                          </p:val>
                                        </p:tav>
                                      </p:tavLst>
                                    </p:anim>
                                    <p:anim calcmode="lin" valueType="num">
                                      <p:cBhvr additive="base">
                                        <p:cTn id="13" dur="500" fill="hold"/>
                                        <p:tgtEl>
                                          <p:spTgt spid="74861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dissolve">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4864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748637"/>
                                        </p:tgtEl>
                                        <p:attrNameLst>
                                          <p:attrName>style.visibility</p:attrName>
                                        </p:attrNameLst>
                                      </p:cBhvr>
                                      <p:to>
                                        <p:strVal val="visible"/>
                                      </p:to>
                                    </p:set>
                                    <p:animEffect transition="in" filter="wipe(up)">
                                      <p:cBhvr>
                                        <p:cTn id="27" dur="500"/>
                                        <p:tgtEl>
                                          <p:spTgt spid="748637"/>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748621"/>
                                        </p:tgtEl>
                                        <p:attrNameLst>
                                          <p:attrName>style.visibility</p:attrName>
                                        </p:attrNameLst>
                                      </p:cBhvr>
                                      <p:to>
                                        <p:strVal val="visible"/>
                                      </p:to>
                                    </p:set>
                                    <p:anim calcmode="lin" valueType="num">
                                      <p:cBhvr additive="base">
                                        <p:cTn id="32" dur="500" fill="hold"/>
                                        <p:tgtEl>
                                          <p:spTgt spid="748621"/>
                                        </p:tgtEl>
                                        <p:attrNameLst>
                                          <p:attrName>ppt_x</p:attrName>
                                        </p:attrNameLst>
                                      </p:cBhvr>
                                      <p:tavLst>
                                        <p:tav tm="0">
                                          <p:val>
                                            <p:strVal val="0-#ppt_w/2"/>
                                          </p:val>
                                        </p:tav>
                                        <p:tav tm="100000">
                                          <p:val>
                                            <p:strVal val="#ppt_x"/>
                                          </p:val>
                                        </p:tav>
                                      </p:tavLst>
                                    </p:anim>
                                    <p:anim calcmode="lin" valueType="num">
                                      <p:cBhvr additive="base">
                                        <p:cTn id="33" dur="500" fill="hold"/>
                                        <p:tgtEl>
                                          <p:spTgt spid="748621"/>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dissolve">
                                      <p:cBhvr>
                                        <p:cTn id="38" dur="500"/>
                                        <p:tgtEl>
                                          <p:spTgt spid="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748634"/>
                                        </p:tgtEl>
                                        <p:attrNameLst>
                                          <p:attrName>style.visibility</p:attrName>
                                        </p:attrNameLst>
                                      </p:cBhvr>
                                      <p:to>
                                        <p:strVal val="visible"/>
                                      </p:to>
                                    </p:set>
                                    <p:animEffect transition="in" filter="wipe(up)">
                                      <p:cBhvr>
                                        <p:cTn id="43" dur="500"/>
                                        <p:tgtEl>
                                          <p:spTgt spid="74863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748636"/>
                                        </p:tgtEl>
                                        <p:attrNameLst>
                                          <p:attrName>style.visibility</p:attrName>
                                        </p:attrNameLst>
                                      </p:cBhvr>
                                      <p:to>
                                        <p:strVal val="visible"/>
                                      </p:to>
                                    </p:set>
                                    <p:animEffect transition="in" filter="wipe(up)">
                                      <p:cBhvr>
                                        <p:cTn id="48" dur="500"/>
                                        <p:tgtEl>
                                          <p:spTgt spid="7486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8612" grpId="0" autoUpdateAnimBg="0"/>
      <p:bldP spid="748621" grpId="0" autoUpdateAnimBg="0"/>
      <p:bldP spid="748641" grpId="0" bldLvl="0" animBg="1"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2410" name="AutoShape 10"/>
          <p:cNvSpPr>
            <a:spLocks noChangeArrowheads="1"/>
          </p:cNvSpPr>
          <p:nvPr/>
        </p:nvSpPr>
        <p:spPr bwMode="auto">
          <a:xfrm rot="5400000" flipV="1">
            <a:off x="7429500" y="1714500"/>
            <a:ext cx="533400" cy="304800"/>
          </a:xfrm>
          <a:prstGeom prst="parallelogram">
            <a:avLst>
              <a:gd name="adj" fmla="val 43750"/>
            </a:avLst>
          </a:prstGeom>
          <a:solidFill>
            <a:schemeClr val="accent2">
              <a:alpha val="50195"/>
            </a:schemeClr>
          </a:solidFill>
          <a:ln w="9525">
            <a:solidFill>
              <a:schemeClr val="folHlink"/>
            </a:solidFill>
            <a:miter lim="800000"/>
          </a:ln>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grpSp>
        <p:nvGrpSpPr>
          <p:cNvPr id="21507" name="Group 51"/>
          <p:cNvGrpSpPr/>
          <p:nvPr/>
        </p:nvGrpSpPr>
        <p:grpSpPr bwMode="auto">
          <a:xfrm>
            <a:off x="5562600" y="1219200"/>
            <a:ext cx="2971800" cy="1828800"/>
            <a:chOff x="3504" y="768"/>
            <a:chExt cx="1872" cy="1152"/>
          </a:xfrm>
        </p:grpSpPr>
        <p:sp>
          <p:nvSpPr>
            <p:cNvPr id="21550" name="Line 4"/>
            <p:cNvSpPr>
              <a:spLocks noChangeShapeType="1"/>
            </p:cNvSpPr>
            <p:nvPr/>
          </p:nvSpPr>
          <p:spPr bwMode="auto">
            <a:xfrm flipH="1">
              <a:off x="3504" y="768"/>
              <a:ext cx="1824" cy="1104"/>
            </a:xfrm>
            <a:prstGeom prst="line">
              <a:avLst/>
            </a:prstGeom>
            <a:noFill/>
            <a:ln w="47625">
              <a:solidFill>
                <a:srgbClr val="99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51" name="Arc 5"/>
            <p:cNvSpPr/>
            <p:nvPr/>
          </p:nvSpPr>
          <p:spPr bwMode="auto">
            <a:xfrm>
              <a:off x="3696" y="1776"/>
              <a:ext cx="96" cy="10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552" name="Text Box 9"/>
            <p:cNvSpPr txBox="1">
              <a:spLocks noChangeArrowheads="1"/>
            </p:cNvSpPr>
            <p:nvPr/>
          </p:nvSpPr>
          <p:spPr bwMode="auto">
            <a:xfrm>
              <a:off x="3744" y="1632"/>
              <a:ext cx="24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dirty="0" smtClean="0">
                  <a:solidFill>
                    <a:srgbClr val="0000FF"/>
                  </a:solidFill>
                  <a:latin typeface="Symbol" panose="05050102010706020507" pitchFamily="18" charset="2"/>
                  <a:sym typeface="Symbol" panose="05050102010706020507" pitchFamily="18" charset="2"/>
                </a:rPr>
                <a:t></a:t>
              </a:r>
              <a:endParaRPr kumimoji="1" lang="en-US" altLang="zh-CN" sz="2400" b="1" dirty="0">
                <a:solidFill>
                  <a:srgbClr val="0000FF"/>
                </a:solidFill>
                <a:latin typeface="Times New Roman" panose="02020603050405020304" pitchFamily="18" charset="0"/>
              </a:endParaRPr>
            </a:p>
          </p:txBody>
        </p:sp>
        <p:sp>
          <p:nvSpPr>
            <p:cNvPr id="21553" name="Line 11"/>
            <p:cNvSpPr>
              <a:spLocks noChangeShapeType="1"/>
            </p:cNvSpPr>
            <p:nvPr/>
          </p:nvSpPr>
          <p:spPr bwMode="auto">
            <a:xfrm>
              <a:off x="3504" y="1872"/>
              <a:ext cx="1872" cy="0"/>
            </a:xfrm>
            <a:prstGeom prst="line">
              <a:avLst/>
            </a:prstGeom>
            <a:noFill/>
            <a:ln w="47625">
              <a:solidFill>
                <a:srgbClr val="9933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54"/>
          <p:cNvGrpSpPr/>
          <p:nvPr/>
        </p:nvGrpSpPr>
        <p:grpSpPr bwMode="auto">
          <a:xfrm>
            <a:off x="7162800" y="1828800"/>
            <a:ext cx="838200" cy="833438"/>
            <a:chOff x="4512" y="1152"/>
            <a:chExt cx="528" cy="525"/>
          </a:xfrm>
        </p:grpSpPr>
        <p:sp>
          <p:nvSpPr>
            <p:cNvPr id="21548" name="Text Box 6"/>
            <p:cNvSpPr txBox="1">
              <a:spLocks noChangeArrowheads="1"/>
            </p:cNvSpPr>
            <p:nvPr/>
          </p:nvSpPr>
          <p:spPr bwMode="auto">
            <a:xfrm>
              <a:off x="4512" y="1344"/>
              <a:ext cx="52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dirty="0" smtClean="0">
                  <a:solidFill>
                    <a:srgbClr val="0000FF"/>
                  </a:solidFill>
                  <a:latin typeface="Times New Roman" panose="02020603050405020304" pitchFamily="18" charset="0"/>
                </a:rPr>
                <a:t>G</a:t>
              </a:r>
              <a:r>
                <a:rPr kumimoji="1" lang="en-US" altLang="zh-CN" sz="2400" b="1" baseline="30000" dirty="0" smtClean="0">
                  <a:solidFill>
                    <a:srgbClr val="0000FF"/>
                  </a:solidFill>
                  <a:latin typeface="Times New Roman" panose="02020603050405020304" pitchFamily="18" charset="0"/>
                  <a:sym typeface="Symbol" panose="05050102010706020507" pitchFamily="18" charset="2"/>
                </a:rPr>
                <a:t></a:t>
              </a:r>
              <a:endParaRPr kumimoji="1" lang="en-US" altLang="zh-CN" sz="2400" b="1" baseline="30000" dirty="0">
                <a:solidFill>
                  <a:srgbClr val="0000FF"/>
                </a:solidFill>
                <a:latin typeface="Times New Roman" panose="02020603050405020304" pitchFamily="18" charset="0"/>
                <a:sym typeface="Symbol" panose="05050102010706020507" pitchFamily="18" charset="2"/>
              </a:endParaRPr>
            </a:p>
          </p:txBody>
        </p:sp>
        <p:sp>
          <p:nvSpPr>
            <p:cNvPr id="21549" name="Line 12"/>
            <p:cNvSpPr>
              <a:spLocks noChangeShapeType="1"/>
            </p:cNvSpPr>
            <p:nvPr/>
          </p:nvSpPr>
          <p:spPr bwMode="auto">
            <a:xfrm flipH="1">
              <a:off x="4848" y="1152"/>
              <a:ext cx="7" cy="525"/>
            </a:xfrm>
            <a:prstGeom prst="line">
              <a:avLst/>
            </a:prstGeom>
            <a:noFill/>
            <a:ln w="34925">
              <a:solidFill>
                <a:schemeClr val="tx1"/>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 name="Group 55"/>
          <p:cNvGrpSpPr/>
          <p:nvPr/>
        </p:nvGrpSpPr>
        <p:grpSpPr bwMode="auto">
          <a:xfrm>
            <a:off x="7620000" y="1828800"/>
            <a:ext cx="990600" cy="1066800"/>
            <a:chOff x="4800" y="1152"/>
            <a:chExt cx="624" cy="672"/>
          </a:xfrm>
        </p:grpSpPr>
        <p:sp>
          <p:nvSpPr>
            <p:cNvPr id="21544" name="Text Box 7"/>
            <p:cNvSpPr txBox="1">
              <a:spLocks noChangeArrowheads="1"/>
            </p:cNvSpPr>
            <p:nvPr/>
          </p:nvSpPr>
          <p:spPr bwMode="auto">
            <a:xfrm>
              <a:off x="4992" y="1536"/>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0000FF"/>
                  </a:solidFill>
                  <a:latin typeface="Times New Roman" panose="02020603050405020304" pitchFamily="18" charset="0"/>
                </a:rPr>
                <a:t>T</a:t>
              </a:r>
              <a:r>
                <a:rPr kumimoji="1" lang="en-US" altLang="zh-CN" sz="2400" b="1" baseline="30000">
                  <a:solidFill>
                    <a:srgbClr val="0000FF"/>
                  </a:solidFill>
                  <a:latin typeface="Times New Roman" panose="02020603050405020304" pitchFamily="18" charset="0"/>
                  <a:sym typeface="Symbol" panose="05050102010706020507" pitchFamily="18" charset="2"/>
                </a:rPr>
                <a:t></a:t>
              </a:r>
              <a:endParaRPr kumimoji="1" lang="en-US" altLang="zh-CN" sz="2400" b="1" baseline="30000">
                <a:solidFill>
                  <a:srgbClr val="0000FF"/>
                </a:solidFill>
                <a:latin typeface="Times New Roman" panose="02020603050405020304" pitchFamily="18" charset="0"/>
                <a:sym typeface="Symbol" panose="05050102010706020507" pitchFamily="18" charset="2"/>
              </a:endParaRPr>
            </a:p>
          </p:txBody>
        </p:sp>
        <p:sp>
          <p:nvSpPr>
            <p:cNvPr id="21545" name="Text Box 8"/>
            <p:cNvSpPr txBox="1">
              <a:spLocks noChangeArrowheads="1"/>
            </p:cNvSpPr>
            <p:nvPr/>
          </p:nvSpPr>
          <p:spPr bwMode="auto">
            <a:xfrm>
              <a:off x="5040" y="1200"/>
              <a:ext cx="24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0000FF"/>
                  </a:solidFill>
                  <a:latin typeface="Times New Roman" panose="02020603050405020304" pitchFamily="18" charset="0"/>
                </a:rPr>
                <a:t>N</a:t>
              </a:r>
              <a:endParaRPr kumimoji="1" lang="en-US" altLang="zh-CN" sz="2400" b="1">
                <a:solidFill>
                  <a:srgbClr val="0000FF"/>
                </a:solidFill>
                <a:latin typeface="Times New Roman" panose="02020603050405020304" pitchFamily="18" charset="0"/>
              </a:endParaRPr>
            </a:p>
          </p:txBody>
        </p:sp>
        <p:sp>
          <p:nvSpPr>
            <p:cNvPr id="21546" name="Line 13"/>
            <p:cNvSpPr>
              <a:spLocks noChangeShapeType="1"/>
            </p:cNvSpPr>
            <p:nvPr/>
          </p:nvSpPr>
          <p:spPr bwMode="auto">
            <a:xfrm>
              <a:off x="4855" y="1152"/>
              <a:ext cx="233" cy="432"/>
            </a:xfrm>
            <a:prstGeom prst="line">
              <a:avLst/>
            </a:prstGeom>
            <a:noFill/>
            <a:ln w="34925">
              <a:solidFill>
                <a:schemeClr val="tx1"/>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47" name="Line 14"/>
            <p:cNvSpPr>
              <a:spLocks noChangeShapeType="1"/>
            </p:cNvSpPr>
            <p:nvPr/>
          </p:nvSpPr>
          <p:spPr bwMode="auto">
            <a:xfrm flipH="1">
              <a:off x="4800" y="1584"/>
              <a:ext cx="288" cy="144"/>
            </a:xfrm>
            <a:prstGeom prst="line">
              <a:avLst/>
            </a:prstGeom>
            <a:noFill/>
            <a:ln w="34925">
              <a:solidFill>
                <a:schemeClr val="tx1"/>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42415" name="Text Box 15"/>
          <p:cNvSpPr txBox="1">
            <a:spLocks noChangeArrowheads="1"/>
          </p:cNvSpPr>
          <p:nvPr/>
        </p:nvSpPr>
        <p:spPr bwMode="auto">
          <a:xfrm>
            <a:off x="7315200" y="121920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0000FF"/>
                </a:solidFill>
                <a:latin typeface="Times New Roman" panose="02020603050405020304" pitchFamily="18" charset="0"/>
              </a:rPr>
              <a:t>A</a:t>
            </a:r>
            <a:endParaRPr kumimoji="1" lang="en-US" altLang="zh-CN" sz="2400" b="1">
              <a:solidFill>
                <a:srgbClr val="0000FF"/>
              </a:solidFill>
              <a:latin typeface="Times New Roman" panose="02020603050405020304" pitchFamily="18" charset="0"/>
            </a:endParaRPr>
          </a:p>
        </p:txBody>
      </p:sp>
      <p:sp>
        <p:nvSpPr>
          <p:cNvPr id="742418" name="AutoShape 18"/>
          <p:cNvSpPr>
            <a:spLocks noChangeArrowheads="1"/>
          </p:cNvSpPr>
          <p:nvPr/>
        </p:nvSpPr>
        <p:spPr bwMode="auto">
          <a:xfrm rot="5400000" flipV="1">
            <a:off x="7309644" y="3652044"/>
            <a:ext cx="838200" cy="544512"/>
          </a:xfrm>
          <a:prstGeom prst="parallelogram">
            <a:avLst>
              <a:gd name="adj" fmla="val 38484"/>
            </a:avLst>
          </a:prstGeom>
          <a:solidFill>
            <a:schemeClr val="accent2">
              <a:alpha val="50195"/>
            </a:schemeClr>
          </a:solidFill>
          <a:ln w="9525">
            <a:solidFill>
              <a:schemeClr val="folHlink"/>
            </a:solidFill>
            <a:miter lim="800000"/>
          </a:ln>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grpSp>
        <p:nvGrpSpPr>
          <p:cNvPr id="5" name="Group 56"/>
          <p:cNvGrpSpPr/>
          <p:nvPr/>
        </p:nvGrpSpPr>
        <p:grpSpPr bwMode="auto">
          <a:xfrm>
            <a:off x="7086600" y="3962400"/>
            <a:ext cx="990600" cy="838200"/>
            <a:chOff x="4464" y="2496"/>
            <a:chExt cx="624" cy="528"/>
          </a:xfrm>
        </p:grpSpPr>
        <p:sp>
          <p:nvSpPr>
            <p:cNvPr id="21542" name="Text Box 16"/>
            <p:cNvSpPr txBox="1">
              <a:spLocks noChangeArrowheads="1"/>
            </p:cNvSpPr>
            <p:nvPr/>
          </p:nvSpPr>
          <p:spPr bwMode="auto">
            <a:xfrm>
              <a:off x="4464" y="2736"/>
              <a:ext cx="6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dirty="0" smtClean="0">
                  <a:solidFill>
                    <a:srgbClr val="0000FF"/>
                  </a:solidFill>
                  <a:latin typeface="Times New Roman" panose="02020603050405020304" pitchFamily="18" charset="0"/>
                </a:rPr>
                <a:t>G</a:t>
              </a:r>
              <a:r>
                <a:rPr kumimoji="1" lang="en-US" altLang="zh-CN" sz="2400" b="1" baseline="30000" dirty="0" smtClean="0">
                  <a:solidFill>
                    <a:srgbClr val="0000FF"/>
                  </a:solidFill>
                  <a:latin typeface="Times New Roman" panose="02020603050405020304" pitchFamily="18" charset="0"/>
                  <a:sym typeface="Symbol" panose="05050102010706020507" pitchFamily="18" charset="2"/>
                </a:rPr>
                <a:t></a:t>
              </a:r>
              <a:endParaRPr kumimoji="1" lang="en-US" altLang="zh-CN" sz="2400" b="1" dirty="0">
                <a:solidFill>
                  <a:srgbClr val="0000FF"/>
                </a:solidFill>
                <a:latin typeface="Times New Roman" panose="02020603050405020304" pitchFamily="18" charset="0"/>
              </a:endParaRPr>
            </a:p>
          </p:txBody>
        </p:sp>
        <p:sp>
          <p:nvSpPr>
            <p:cNvPr id="21543" name="Line 19"/>
            <p:cNvSpPr>
              <a:spLocks noChangeShapeType="1"/>
            </p:cNvSpPr>
            <p:nvPr/>
          </p:nvSpPr>
          <p:spPr bwMode="auto">
            <a:xfrm flipH="1">
              <a:off x="4848" y="2496"/>
              <a:ext cx="7" cy="525"/>
            </a:xfrm>
            <a:prstGeom prst="line">
              <a:avLst/>
            </a:prstGeom>
            <a:noFill/>
            <a:ln w="34925">
              <a:solidFill>
                <a:schemeClr val="tx1"/>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 name="Group 58"/>
          <p:cNvGrpSpPr/>
          <p:nvPr/>
        </p:nvGrpSpPr>
        <p:grpSpPr bwMode="auto">
          <a:xfrm>
            <a:off x="7543807" y="4044954"/>
            <a:ext cx="1028701" cy="461963"/>
            <a:chOff x="4752" y="2548"/>
            <a:chExt cx="648" cy="291"/>
          </a:xfrm>
        </p:grpSpPr>
        <p:sp>
          <p:nvSpPr>
            <p:cNvPr id="21540" name="Text Box 17"/>
            <p:cNvSpPr txBox="1">
              <a:spLocks noChangeArrowheads="1"/>
            </p:cNvSpPr>
            <p:nvPr/>
          </p:nvSpPr>
          <p:spPr bwMode="auto">
            <a:xfrm>
              <a:off x="5064" y="2548"/>
              <a:ext cx="33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dirty="0" err="1" smtClean="0">
                  <a:solidFill>
                    <a:srgbClr val="FF6600"/>
                  </a:solidFill>
                  <a:latin typeface="Times New Roman" panose="02020603050405020304" pitchFamily="18" charset="0"/>
                </a:rPr>
                <a:t>T</a:t>
              </a:r>
              <a:r>
                <a:rPr kumimoji="1" lang="en-US" altLang="zh-CN" sz="1600" b="1" dirty="0" err="1" smtClean="0">
                  <a:solidFill>
                    <a:srgbClr val="FF6600"/>
                  </a:solidFill>
                  <a:latin typeface="Times New Roman" panose="02020603050405020304" pitchFamily="18" charset="0"/>
                </a:rPr>
                <a:t>f</a:t>
              </a:r>
              <a:endParaRPr kumimoji="1" lang="en-US" altLang="zh-CN" sz="1600" b="1" dirty="0">
                <a:solidFill>
                  <a:srgbClr val="FF6600"/>
                </a:solidFill>
                <a:latin typeface="Times New Roman" panose="02020603050405020304" pitchFamily="18" charset="0"/>
              </a:endParaRPr>
            </a:p>
          </p:txBody>
        </p:sp>
        <p:sp>
          <p:nvSpPr>
            <p:cNvPr id="21541" name="Line 21"/>
            <p:cNvSpPr>
              <a:spLocks noChangeShapeType="1"/>
            </p:cNvSpPr>
            <p:nvPr/>
          </p:nvSpPr>
          <p:spPr bwMode="auto">
            <a:xfrm rot="10800000" flipH="1">
              <a:off x="4752" y="2640"/>
              <a:ext cx="336" cy="153"/>
            </a:xfrm>
            <a:prstGeom prst="line">
              <a:avLst/>
            </a:prstGeom>
            <a:noFill/>
            <a:ln w="34925">
              <a:solidFill>
                <a:srgbClr val="FF66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7" name="Group 57"/>
          <p:cNvGrpSpPr/>
          <p:nvPr/>
        </p:nvGrpSpPr>
        <p:grpSpPr bwMode="auto">
          <a:xfrm>
            <a:off x="7696200" y="4419600"/>
            <a:ext cx="522288" cy="762000"/>
            <a:chOff x="4848" y="2784"/>
            <a:chExt cx="329" cy="480"/>
          </a:xfrm>
        </p:grpSpPr>
        <p:sp>
          <p:nvSpPr>
            <p:cNvPr id="21538" name="Line 20"/>
            <p:cNvSpPr>
              <a:spLocks noChangeShapeType="1"/>
            </p:cNvSpPr>
            <p:nvPr/>
          </p:nvSpPr>
          <p:spPr bwMode="auto">
            <a:xfrm rot="10800000">
              <a:off x="4944" y="2784"/>
              <a:ext cx="233" cy="432"/>
            </a:xfrm>
            <a:prstGeom prst="line">
              <a:avLst/>
            </a:prstGeom>
            <a:noFill/>
            <a:ln w="34925">
              <a:solidFill>
                <a:schemeClr val="folHlink"/>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9" name="Text Box 22"/>
            <p:cNvSpPr txBox="1">
              <a:spLocks noChangeArrowheads="1"/>
            </p:cNvSpPr>
            <p:nvPr/>
          </p:nvSpPr>
          <p:spPr bwMode="auto">
            <a:xfrm>
              <a:off x="4848" y="2976"/>
              <a:ext cx="24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chemeClr val="folHlink"/>
                  </a:solidFill>
                  <a:latin typeface="Times New Roman" panose="02020603050405020304" pitchFamily="18" charset="0"/>
                </a:rPr>
                <a:t>N</a:t>
              </a:r>
              <a:endParaRPr kumimoji="1" lang="en-US" altLang="zh-CN" sz="2400" b="1">
                <a:solidFill>
                  <a:schemeClr val="folHlink"/>
                </a:solidFill>
                <a:latin typeface="Times New Roman" panose="02020603050405020304" pitchFamily="18" charset="0"/>
              </a:endParaRPr>
            </a:p>
          </p:txBody>
        </p:sp>
      </p:grpSp>
      <p:sp>
        <p:nvSpPr>
          <p:cNvPr id="742423" name="Rectangle 23"/>
          <p:cNvSpPr>
            <a:spLocks noGrp="1" noChangeArrowheads="1"/>
          </p:cNvSpPr>
          <p:nvPr>
            <p:ph type="body" sz="half" idx="1"/>
          </p:nvPr>
        </p:nvSpPr>
        <p:spPr bwMode="auto">
          <a:xfrm>
            <a:off x="609600" y="1524000"/>
            <a:ext cx="1979613"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indent="0" algn="just" eaLnBrk="1" hangingPunct="1">
              <a:lnSpc>
                <a:spcPct val="90000"/>
              </a:lnSpc>
              <a:buFontTx/>
              <a:buNone/>
            </a:pPr>
            <a:r>
              <a:rPr lang="en-US" altLang="zh-CN" sz="2400" b="1" smtClean="0">
                <a:solidFill>
                  <a:srgbClr val="0000FF"/>
                </a:solidFill>
              </a:rPr>
              <a:t>(1) </a:t>
            </a:r>
            <a:r>
              <a:rPr lang="zh-CN" altLang="en-US" sz="2400" b="1" smtClean="0">
                <a:solidFill>
                  <a:srgbClr val="0000FF"/>
                </a:solidFill>
              </a:rPr>
              <a:t>自重：</a:t>
            </a:r>
            <a:endParaRPr lang="zh-CN" altLang="en-US" sz="2400" b="1" smtClean="0">
              <a:solidFill>
                <a:srgbClr val="0000FF"/>
              </a:solidFill>
            </a:endParaRPr>
          </a:p>
        </p:txBody>
      </p:sp>
      <p:sp>
        <p:nvSpPr>
          <p:cNvPr id="742425" name="Text Box 25"/>
          <p:cNvSpPr txBox="1">
            <a:spLocks noChangeArrowheads="1"/>
          </p:cNvSpPr>
          <p:nvPr/>
        </p:nvSpPr>
        <p:spPr bwMode="auto">
          <a:xfrm>
            <a:off x="533400" y="2057400"/>
            <a:ext cx="518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0000FF"/>
                </a:solidFill>
                <a:latin typeface="Times New Roman" panose="02020603050405020304" pitchFamily="18" charset="0"/>
              </a:rPr>
              <a:t>    </a:t>
            </a:r>
            <a:r>
              <a:rPr kumimoji="1" lang="zh-CN" altLang="en-US" sz="2400" b="1">
                <a:solidFill>
                  <a:srgbClr val="0000FF"/>
                </a:solidFill>
                <a:latin typeface="Times New Roman" panose="02020603050405020304" pitchFamily="18" charset="0"/>
              </a:rPr>
              <a:t>渗透力： </a:t>
            </a:r>
            <a:r>
              <a:rPr kumimoji="1" lang="zh-CN" altLang="en-US" sz="2400" b="1">
                <a:solidFill>
                  <a:schemeClr val="folHlink"/>
                </a:solidFill>
                <a:latin typeface="Times New Roman" panose="02020603050405020304" pitchFamily="18" charset="0"/>
              </a:rPr>
              <a:t>（方向：平行于土坡）</a:t>
            </a:r>
            <a:endParaRPr kumimoji="1" lang="zh-CN" altLang="en-US" sz="2400" b="1">
              <a:solidFill>
                <a:schemeClr val="folHlink"/>
              </a:solidFill>
              <a:latin typeface="Times New Roman" panose="02020603050405020304" pitchFamily="18" charset="0"/>
            </a:endParaRPr>
          </a:p>
        </p:txBody>
      </p:sp>
      <p:sp>
        <p:nvSpPr>
          <p:cNvPr id="742426" name="Text Box 26"/>
          <p:cNvSpPr txBox="1">
            <a:spLocks noChangeArrowheads="1"/>
          </p:cNvSpPr>
          <p:nvPr/>
        </p:nvSpPr>
        <p:spPr bwMode="auto">
          <a:xfrm>
            <a:off x="609600" y="3200400"/>
            <a:ext cx="259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0000FF"/>
                </a:solidFill>
                <a:latin typeface="Times New Roman" panose="02020603050405020304" pitchFamily="18" charset="0"/>
              </a:rPr>
              <a:t>(2) </a:t>
            </a:r>
            <a:r>
              <a:rPr kumimoji="1" lang="zh-CN" altLang="en-US" sz="2400" b="1">
                <a:solidFill>
                  <a:srgbClr val="0000FF"/>
                </a:solidFill>
                <a:latin typeface="Times New Roman" panose="02020603050405020304" pitchFamily="18" charset="0"/>
              </a:rPr>
              <a:t>滑动力：</a:t>
            </a:r>
            <a:endParaRPr kumimoji="1" lang="zh-CN" altLang="en-US" sz="2400" b="1">
              <a:solidFill>
                <a:srgbClr val="0000FF"/>
              </a:solidFill>
              <a:latin typeface="Times New Roman" panose="02020603050405020304" pitchFamily="18" charset="0"/>
            </a:endParaRPr>
          </a:p>
        </p:txBody>
      </p:sp>
      <p:sp>
        <p:nvSpPr>
          <p:cNvPr id="742427" name="Text Box 27"/>
          <p:cNvSpPr txBox="1">
            <a:spLocks noChangeArrowheads="1"/>
          </p:cNvSpPr>
          <p:nvPr/>
        </p:nvSpPr>
        <p:spPr bwMode="auto">
          <a:xfrm>
            <a:off x="609600" y="403860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0000FF"/>
                </a:solidFill>
                <a:latin typeface="Times New Roman" panose="02020603050405020304" pitchFamily="18" charset="0"/>
              </a:rPr>
              <a:t>(3) </a:t>
            </a:r>
            <a:r>
              <a:rPr kumimoji="1" lang="zh-CN" altLang="en-US" sz="2400" b="1">
                <a:solidFill>
                  <a:srgbClr val="0000FF"/>
                </a:solidFill>
                <a:latin typeface="Times New Roman" panose="02020603050405020304" pitchFamily="18" charset="0"/>
              </a:rPr>
              <a:t>抗滑力： </a:t>
            </a:r>
            <a:endParaRPr kumimoji="1" lang="zh-CN" altLang="en-US" sz="2400" b="1">
              <a:solidFill>
                <a:srgbClr val="0000FF"/>
              </a:solidFill>
              <a:latin typeface="Times New Roman" panose="02020603050405020304" pitchFamily="18" charset="0"/>
            </a:endParaRPr>
          </a:p>
        </p:txBody>
      </p:sp>
      <p:sp>
        <p:nvSpPr>
          <p:cNvPr id="742428" name="Text Box 28"/>
          <p:cNvSpPr txBox="1">
            <a:spLocks noChangeArrowheads="1"/>
          </p:cNvSpPr>
          <p:nvPr/>
        </p:nvSpPr>
        <p:spPr bwMode="auto">
          <a:xfrm>
            <a:off x="609600" y="5029200"/>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0000FF"/>
                </a:solidFill>
                <a:latin typeface="Times New Roman" panose="02020603050405020304" pitchFamily="18" charset="0"/>
              </a:rPr>
              <a:t>(4) </a:t>
            </a:r>
            <a:r>
              <a:rPr kumimoji="1" lang="zh-CN" altLang="en-US" sz="2400" b="1">
                <a:solidFill>
                  <a:srgbClr val="0000FF"/>
                </a:solidFill>
                <a:latin typeface="Times New Roman" panose="02020603050405020304" pitchFamily="18" charset="0"/>
              </a:rPr>
              <a:t>抗滑安全系数： </a:t>
            </a:r>
            <a:endParaRPr kumimoji="1" lang="zh-CN" altLang="en-US" sz="2400" b="1">
              <a:solidFill>
                <a:srgbClr val="0000FF"/>
              </a:solidFill>
              <a:latin typeface="Times New Roman" panose="02020603050405020304" pitchFamily="18" charset="0"/>
            </a:endParaRPr>
          </a:p>
        </p:txBody>
      </p:sp>
      <p:sp>
        <p:nvSpPr>
          <p:cNvPr id="742436" name="Text Box 36"/>
          <p:cNvSpPr txBox="1">
            <a:spLocks noChangeArrowheads="1"/>
          </p:cNvSpPr>
          <p:nvPr/>
        </p:nvSpPr>
        <p:spPr bwMode="auto">
          <a:xfrm>
            <a:off x="304800" y="762000"/>
            <a:ext cx="6118225"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3200" b="1">
                <a:solidFill>
                  <a:srgbClr val="990033"/>
                </a:solidFill>
                <a:ea typeface="隶书" panose="02010509060101010101" pitchFamily="49" charset="-122"/>
              </a:rPr>
              <a:t>取微单元 </a:t>
            </a:r>
            <a:r>
              <a:rPr lang="en-US" altLang="zh-CN" sz="3200" b="1">
                <a:solidFill>
                  <a:srgbClr val="990033"/>
                </a:solidFill>
                <a:latin typeface="Times New Roman" panose="02020603050405020304" pitchFamily="18" charset="0"/>
                <a:ea typeface="隶书" panose="02010509060101010101" pitchFamily="49" charset="-122"/>
              </a:rPr>
              <a:t>A</a:t>
            </a:r>
            <a:r>
              <a:rPr lang="zh-CN" altLang="en-US" sz="3200" b="1">
                <a:solidFill>
                  <a:srgbClr val="990033"/>
                </a:solidFill>
                <a:ea typeface="隶书" panose="02010509060101010101" pitchFamily="49" charset="-122"/>
              </a:rPr>
              <a:t>，以土骨架为隔离体：</a:t>
            </a:r>
            <a:endParaRPr lang="zh-CN" altLang="en-US" sz="3200" b="1">
              <a:solidFill>
                <a:srgbClr val="990033"/>
              </a:solidFill>
              <a:ea typeface="隶书" panose="02010509060101010101" pitchFamily="49" charset="-122"/>
            </a:endParaRPr>
          </a:p>
        </p:txBody>
      </p:sp>
      <p:sp>
        <p:nvSpPr>
          <p:cNvPr id="742437" name="Line 37"/>
          <p:cNvSpPr>
            <a:spLocks noChangeShapeType="1"/>
          </p:cNvSpPr>
          <p:nvPr/>
        </p:nvSpPr>
        <p:spPr bwMode="auto">
          <a:xfrm>
            <a:off x="6781800" y="2286000"/>
            <a:ext cx="0" cy="381000"/>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2438" name="Line 38"/>
          <p:cNvSpPr>
            <a:spLocks noChangeShapeType="1"/>
          </p:cNvSpPr>
          <p:nvPr/>
        </p:nvSpPr>
        <p:spPr bwMode="auto">
          <a:xfrm flipH="1">
            <a:off x="6096000" y="2667000"/>
            <a:ext cx="685800" cy="0"/>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2439" name="Line 39"/>
          <p:cNvSpPr>
            <a:spLocks noChangeShapeType="1"/>
          </p:cNvSpPr>
          <p:nvPr/>
        </p:nvSpPr>
        <p:spPr bwMode="auto">
          <a:xfrm flipH="1">
            <a:off x="6096000" y="2260600"/>
            <a:ext cx="685800" cy="420688"/>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2440" name="Text Box 40"/>
          <p:cNvSpPr txBox="1">
            <a:spLocks noChangeArrowheads="1"/>
          </p:cNvSpPr>
          <p:nvPr/>
        </p:nvSpPr>
        <p:spPr bwMode="auto">
          <a:xfrm>
            <a:off x="6096000" y="20574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FF6600"/>
                </a:solidFill>
                <a:latin typeface="Times New Roman" panose="02020603050405020304" pitchFamily="18" charset="0"/>
                <a:sym typeface="Symbol" panose="05050102010706020507" pitchFamily="18" charset="2"/>
              </a:rPr>
              <a:t></a:t>
            </a:r>
            <a:r>
              <a:rPr kumimoji="1" lang="en-US" altLang="zh-CN" sz="2400" b="1" i="1">
                <a:solidFill>
                  <a:srgbClr val="FF6600"/>
                </a:solidFill>
                <a:latin typeface="Times New Roman" panose="02020603050405020304" pitchFamily="18" charset="0"/>
                <a:sym typeface="Symbol" panose="05050102010706020507" pitchFamily="18" charset="2"/>
              </a:rPr>
              <a:t>l</a:t>
            </a:r>
            <a:endParaRPr kumimoji="1" lang="en-US" altLang="zh-CN" sz="2400" b="1" i="1">
              <a:solidFill>
                <a:srgbClr val="FF6600"/>
              </a:solidFill>
              <a:latin typeface="Times New Roman" panose="02020603050405020304" pitchFamily="18" charset="0"/>
            </a:endParaRPr>
          </a:p>
        </p:txBody>
      </p:sp>
      <p:sp>
        <p:nvSpPr>
          <p:cNvPr id="742441" name="Text Box 41"/>
          <p:cNvSpPr txBox="1">
            <a:spLocks noChangeArrowheads="1"/>
          </p:cNvSpPr>
          <p:nvPr/>
        </p:nvSpPr>
        <p:spPr bwMode="auto">
          <a:xfrm>
            <a:off x="6553200" y="2209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FF6600"/>
                </a:solidFill>
                <a:latin typeface="Times New Roman" panose="02020603050405020304" pitchFamily="18" charset="0"/>
                <a:sym typeface="Symbol" panose="05050102010706020507" pitchFamily="18" charset="2"/>
              </a:rPr>
              <a:t></a:t>
            </a:r>
            <a:r>
              <a:rPr kumimoji="1" lang="en-US" altLang="zh-CN" sz="2400" b="1" i="1">
                <a:solidFill>
                  <a:srgbClr val="FF6600"/>
                </a:solidFill>
                <a:latin typeface="Times New Roman" panose="02020603050405020304" pitchFamily="18" charset="0"/>
                <a:sym typeface="Symbol" panose="05050102010706020507" pitchFamily="18" charset="2"/>
              </a:rPr>
              <a:t>h</a:t>
            </a:r>
            <a:endParaRPr kumimoji="1" lang="en-US" altLang="zh-CN" sz="2400" b="1" i="1">
              <a:solidFill>
                <a:srgbClr val="FF6600"/>
              </a:solidFill>
              <a:latin typeface="Times New Roman" panose="02020603050405020304" pitchFamily="18" charset="0"/>
            </a:endParaRPr>
          </a:p>
        </p:txBody>
      </p:sp>
      <p:sp>
        <p:nvSpPr>
          <p:cNvPr id="742442" name="Line 42"/>
          <p:cNvSpPr>
            <a:spLocks noChangeShapeType="1"/>
          </p:cNvSpPr>
          <p:nvPr/>
        </p:nvSpPr>
        <p:spPr bwMode="auto">
          <a:xfrm flipH="1">
            <a:off x="7162800" y="3962400"/>
            <a:ext cx="533400" cy="242888"/>
          </a:xfrm>
          <a:prstGeom prst="line">
            <a:avLst/>
          </a:prstGeom>
          <a:noFill/>
          <a:ln w="34925">
            <a:solidFill>
              <a:srgbClr val="80008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2443" name="Line 43"/>
          <p:cNvSpPr>
            <a:spLocks noChangeShapeType="1"/>
          </p:cNvSpPr>
          <p:nvPr/>
        </p:nvSpPr>
        <p:spPr bwMode="auto">
          <a:xfrm flipH="1">
            <a:off x="7239000" y="1828800"/>
            <a:ext cx="457200" cy="304800"/>
          </a:xfrm>
          <a:prstGeom prst="line">
            <a:avLst/>
          </a:prstGeom>
          <a:noFill/>
          <a:ln w="34925">
            <a:solidFill>
              <a:srgbClr val="80008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2444" name="Text Box 44"/>
          <p:cNvSpPr txBox="1">
            <a:spLocks noChangeArrowheads="1"/>
          </p:cNvSpPr>
          <p:nvPr/>
        </p:nvSpPr>
        <p:spPr bwMode="auto">
          <a:xfrm>
            <a:off x="6934200" y="381000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800080"/>
                </a:solidFill>
                <a:latin typeface="Times New Roman" panose="02020603050405020304" pitchFamily="18" charset="0"/>
              </a:rPr>
              <a:t>J</a:t>
            </a:r>
            <a:endParaRPr kumimoji="1" lang="en-US" altLang="zh-CN" sz="2400" b="1">
              <a:solidFill>
                <a:srgbClr val="800080"/>
              </a:solidFill>
              <a:latin typeface="Times New Roman" panose="02020603050405020304" pitchFamily="18" charset="0"/>
            </a:endParaRPr>
          </a:p>
        </p:txBody>
      </p:sp>
      <p:sp>
        <p:nvSpPr>
          <p:cNvPr id="742445" name="Text Box 45"/>
          <p:cNvSpPr txBox="1">
            <a:spLocks noChangeArrowheads="1"/>
          </p:cNvSpPr>
          <p:nvPr/>
        </p:nvSpPr>
        <p:spPr bwMode="auto">
          <a:xfrm>
            <a:off x="7010400" y="190500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800080"/>
                </a:solidFill>
                <a:latin typeface="Times New Roman" panose="02020603050405020304" pitchFamily="18" charset="0"/>
              </a:rPr>
              <a:t>J</a:t>
            </a:r>
            <a:endParaRPr kumimoji="1" lang="en-US" altLang="zh-CN" sz="2400" b="1">
              <a:solidFill>
                <a:srgbClr val="800080"/>
              </a:solidFill>
              <a:latin typeface="Times New Roman" panose="02020603050405020304" pitchFamily="18" charset="0"/>
            </a:endParaRPr>
          </a:p>
        </p:txBody>
      </p:sp>
      <mc:AlternateContent xmlns:mc="http://schemas.openxmlformats.org/markup-compatibility/2006">
        <mc:Choice xmlns:a14="http://schemas.microsoft.com/office/drawing/2010/main" Requires="a14">
          <p:sp>
            <p:nvSpPr>
              <p:cNvPr id="2" name="文本框 1"/>
              <p:cNvSpPr txBox="1"/>
              <p:nvPr/>
            </p:nvSpPr>
            <p:spPr>
              <a:xfrm>
                <a:off x="4400628" y="1322388"/>
                <a:ext cx="1622239" cy="533736"/>
              </a:xfrm>
              <a:prstGeom prst="rect">
                <a:avLst/>
              </a:prstGeom>
              <a:noFill/>
            </p:spPr>
            <p:txBody>
              <a:bodyPr wrap="none" lIns="0" tIns="0" rIns="0" bIns="0" rtlCol="0">
                <a:spAutoFit/>
              </a:bodyPr>
              <a:lstStyle/>
              <a:p>
                <a:r>
                  <a:rPr lang="en-US" altLang="zh-CN" sz="2400" i="1" dirty="0" smtClean="0"/>
                  <a:t>i</a:t>
                </a:r>
                <a:r>
                  <a:rPr lang="en-US" altLang="zh-CN" sz="2400" dirty="0" smtClean="0"/>
                  <a:t>=</a:t>
                </a:r>
                <a14:m>
                  <m:oMath xmlns:m="http://schemas.openxmlformats.org/officeDocument/2006/math">
                    <m:f>
                      <m:fPr>
                        <m:ctrlPr>
                          <a:rPr lang="en-US" altLang="zh-CN" sz="2400" i="1" smtClean="0">
                            <a:latin typeface="Cambria Math" panose="02040503050406030204" pitchFamily="18" charset="0"/>
                          </a:rPr>
                        </m:ctrlPr>
                      </m:fPr>
                      <m:num>
                        <m:r>
                          <a:rPr lang="en-US" altLang="zh-CN" sz="240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ℎ</m:t>
                        </m:r>
                      </m:num>
                      <m:den>
                        <m:r>
                          <a:rPr lang="en-US" altLang="zh-CN" sz="240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𝑙</m:t>
                        </m:r>
                      </m:den>
                    </m:f>
                    <m:r>
                      <a:rPr lang="en-US" altLang="zh-CN" sz="2400" b="0" i="1" smtClean="0">
                        <a:latin typeface="Cambria Math" panose="02040503050406030204" pitchFamily="18" charset="0"/>
                      </a:rPr>
                      <m:t>=</m:t>
                    </m:r>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sin</m:t>
                        </m:r>
                      </m:fName>
                      <m:e>
                        <m:r>
                          <a:rPr lang="zh-CN" altLang="en-US" sz="2400" b="0" i="1" smtClean="0">
                            <a:latin typeface="Cambria Math" panose="02040503050406030204" pitchFamily="18" charset="0"/>
                          </a:rPr>
                          <m:t>𝛽</m:t>
                        </m:r>
                      </m:e>
                    </m:func>
                  </m:oMath>
                </a14:m>
                <a:endParaRPr lang="zh-CN" altLang="en-US" sz="2400" dirty="0"/>
              </a:p>
            </p:txBody>
          </p:sp>
        </mc:Choice>
        <mc:Fallback>
          <p:sp>
            <p:nvSpPr>
              <p:cNvPr id="2" name="文本框 1"/>
              <p:cNvSpPr txBox="1">
                <a:spLocks noRot="1" noChangeAspect="1" noMove="1" noResize="1" noEditPoints="1" noAdjustHandles="1" noChangeArrowheads="1" noChangeShapeType="1" noTextEdit="1"/>
              </p:cNvSpPr>
              <p:nvPr/>
            </p:nvSpPr>
            <p:spPr>
              <a:xfrm>
                <a:off x="4400628" y="1322388"/>
                <a:ext cx="1622239" cy="533736"/>
              </a:xfrm>
              <a:prstGeom prst="rect">
                <a:avLst/>
              </a:prstGeom>
              <a:blipFill rotWithShape="1">
                <a:blip r:embed="rId1"/>
                <a:stretch>
                  <a:fillRect l="-5" t="-60" r="-4078" b="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2171700" y="1469807"/>
                <a:ext cx="1517403" cy="36933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𝐺</m:t>
                          </m:r>
                        </m:e>
                        <m:sup>
                          <m:r>
                            <a:rPr lang="en-US" altLang="zh-CN" sz="2400" b="0" i="1" smtClean="0">
                              <a:latin typeface="Cambria Math" panose="02040503050406030204" pitchFamily="18" charset="0"/>
                            </a:rPr>
                            <m:t>′</m:t>
                          </m:r>
                        </m:sup>
                      </m:sSup>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zh-CN" altLang="en-US" sz="2400" b="0" i="1" smtClean="0">
                              <a:latin typeface="Cambria Math" panose="02040503050406030204" pitchFamily="18" charset="0"/>
                            </a:rPr>
                            <m:t>𝛾</m:t>
                          </m:r>
                        </m:e>
                        <m:sup>
                          <m:r>
                            <a:rPr lang="en-US" altLang="zh-CN" sz="2400" b="0" i="1" smtClean="0">
                              <a:latin typeface="Cambria Math" panose="02040503050406030204" pitchFamily="18" charset="0"/>
                            </a:rPr>
                            <m:t>′</m:t>
                          </m:r>
                        </m:sup>
                      </m:sSup>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𝑉</m:t>
                      </m:r>
                    </m:oMath>
                  </m:oMathPara>
                </a14:m>
                <a:endParaRPr lang="zh-CN" altLang="en-US" sz="2400" dirty="0"/>
              </a:p>
            </p:txBody>
          </p:sp>
        </mc:Choice>
        <mc:Fallback>
          <p:sp>
            <p:nvSpPr>
              <p:cNvPr id="8" name="文本框 7"/>
              <p:cNvSpPr txBox="1">
                <a:spLocks noRot="1" noChangeAspect="1" noMove="1" noResize="1" noEditPoints="1" noAdjustHandles="1" noChangeArrowheads="1" noChangeShapeType="1" noTextEdit="1"/>
              </p:cNvSpPr>
              <p:nvPr/>
            </p:nvSpPr>
            <p:spPr>
              <a:xfrm>
                <a:off x="2171700" y="1469807"/>
                <a:ext cx="1517403" cy="369332"/>
              </a:xfrm>
              <a:prstGeom prst="rect">
                <a:avLst/>
              </a:prstGeom>
              <a:blipFill rotWithShape="1">
                <a:blip r:embed="rId2"/>
                <a:stretch>
                  <a:fillRect t="-113" r="-3029" b="4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849350" y="2602680"/>
                <a:ext cx="3882025" cy="369332"/>
              </a:xfrm>
              <a:prstGeom prst="rect">
                <a:avLst/>
              </a:prstGeom>
              <a:noFill/>
            </p:spPr>
            <p:txBody>
              <a:bodyPr wrap="none" lIns="0" tIns="0" rIns="0" bIns="0" rtlCol="0">
                <a:spAutoFit/>
              </a:bodyPr>
              <a:lstStyle/>
              <a:p>
                <a:r>
                  <a:rPr lang="en-US" altLang="zh-CN" sz="2400" i="1" dirty="0" smtClean="0"/>
                  <a:t>J</a:t>
                </a:r>
                <a:r>
                  <a:rPr lang="en-US" altLang="zh-CN" sz="2400" dirty="0" smtClean="0"/>
                  <a:t>=</a:t>
                </a:r>
                <a:r>
                  <a:rPr lang="en-US" altLang="zh-CN" sz="2400" i="1" dirty="0" smtClean="0"/>
                  <a:t>j</a:t>
                </a:r>
                <a14:m>
                  <m:oMath xmlns:m="http://schemas.openxmlformats.org/officeDocument/2006/math">
                    <m:r>
                      <a:rPr lang="zh-CN" altLang="en-US" sz="2400" i="1" smtClean="0">
                        <a:latin typeface="Cambria Math" panose="02040503050406030204" pitchFamily="18" charset="0"/>
                      </a:rPr>
                      <m:t>∆</m:t>
                    </m:r>
                    <m:r>
                      <a:rPr lang="en-US" altLang="zh-CN" sz="2400" b="0" i="1" smtClean="0">
                        <a:latin typeface="Cambria Math" panose="02040503050406030204" pitchFamily="18" charset="0"/>
                      </a:rPr>
                      <m:t>𝑉</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𝑖</m:t>
                    </m:r>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𝛾</m:t>
                        </m:r>
                      </m:e>
                      <m:sub>
                        <m:r>
                          <a:rPr lang="en-US" altLang="zh-CN" sz="2400" b="0" i="1" smtClean="0">
                            <a:latin typeface="Cambria Math" panose="02040503050406030204" pitchFamily="18" charset="0"/>
                          </a:rPr>
                          <m:t>𝑤</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𝑉</m:t>
                    </m:r>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zh-CN" altLang="en-US" sz="2400" b="0" i="1" smtClean="0">
                            <a:latin typeface="Cambria Math" panose="02040503050406030204" pitchFamily="18" charset="0"/>
                            <a:ea typeface="Cambria Math" panose="02040503050406030204" pitchFamily="18" charset="0"/>
                          </a:rPr>
                          <m:t>𝛾</m:t>
                        </m:r>
                      </m:e>
                      <m:sub>
                        <m:r>
                          <a:rPr lang="en-US" altLang="zh-CN" sz="2400" b="0" i="1" smtClean="0">
                            <a:latin typeface="Cambria Math" panose="02040503050406030204" pitchFamily="18" charset="0"/>
                            <a:ea typeface="Cambria Math" panose="02040503050406030204" pitchFamily="18" charset="0"/>
                          </a:rPr>
                          <m:t>𝑤</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𝑉</m:t>
                    </m:r>
                    <m:func>
                      <m:funcPr>
                        <m:ctrlPr>
                          <a:rPr lang="en-US" altLang="zh-CN" sz="2400" b="0" i="1" smtClean="0">
                            <a:latin typeface="Cambria Math" panose="02040503050406030204" pitchFamily="18" charset="0"/>
                            <a:ea typeface="Cambria Math" panose="02040503050406030204" pitchFamily="18" charset="0"/>
                          </a:rPr>
                        </m:ctrlPr>
                      </m:funcPr>
                      <m:fName>
                        <m:r>
                          <m:rPr>
                            <m:sty m:val="p"/>
                          </m:rPr>
                          <a:rPr lang="en-US" altLang="zh-CN" sz="2400" b="0" i="0" smtClean="0">
                            <a:latin typeface="Cambria Math" panose="02040503050406030204" pitchFamily="18" charset="0"/>
                            <a:ea typeface="Cambria Math" panose="02040503050406030204" pitchFamily="18" charset="0"/>
                          </a:rPr>
                          <m:t>sin</m:t>
                        </m:r>
                      </m:fName>
                      <m:e>
                        <m:r>
                          <a:rPr lang="zh-CN" altLang="en-US" sz="2400" b="0" i="1" smtClean="0">
                            <a:latin typeface="Cambria Math" panose="02040503050406030204" pitchFamily="18" charset="0"/>
                            <a:ea typeface="Cambria Math" panose="02040503050406030204" pitchFamily="18" charset="0"/>
                          </a:rPr>
                          <m:t>𝛽</m:t>
                        </m:r>
                      </m:e>
                    </m:func>
                  </m:oMath>
                </a14:m>
                <a:endParaRPr lang="zh-CN" altLang="en-US" sz="2400" dirty="0"/>
              </a:p>
            </p:txBody>
          </p:sp>
        </mc:Choice>
        <mc:Fallback>
          <p:sp>
            <p:nvSpPr>
              <p:cNvPr id="9" name="文本框 8"/>
              <p:cNvSpPr txBox="1">
                <a:spLocks noRot="1" noChangeAspect="1" noMove="1" noResize="1" noEditPoints="1" noAdjustHandles="1" noChangeArrowheads="1" noChangeShapeType="1" noTextEdit="1"/>
              </p:cNvSpPr>
              <p:nvPr/>
            </p:nvSpPr>
            <p:spPr>
              <a:xfrm>
                <a:off x="849350" y="2602680"/>
                <a:ext cx="3882025" cy="369332"/>
              </a:xfrm>
              <a:prstGeom prst="rect">
                <a:avLst/>
              </a:prstGeom>
              <a:blipFill rotWithShape="1">
                <a:blip r:embed="rId3"/>
                <a:stretch>
                  <a:fillRect l="-9" t="-122" r="-1652" b="5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552481" y="3657600"/>
                <a:ext cx="6317883" cy="36933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𝑇</m:t>
                          </m:r>
                        </m:e>
                        <m:sup>
                          <m:r>
                            <a:rPr lang="en-US" altLang="zh-CN" sz="2400" b="0" i="1" smtClean="0">
                              <a:latin typeface="Cambria Math" panose="02040503050406030204" pitchFamily="18" charset="0"/>
                            </a:rPr>
                            <m:t>′</m:t>
                          </m:r>
                        </m:sup>
                      </m:s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𝐽</m:t>
                      </m:r>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zh-CN" altLang="en-US" sz="2400" b="0" i="1" smtClean="0">
                              <a:latin typeface="Cambria Math" panose="02040503050406030204" pitchFamily="18" charset="0"/>
                            </a:rPr>
                            <m:t>𝛾</m:t>
                          </m:r>
                        </m:e>
                        <m:sup>
                          <m:r>
                            <a:rPr lang="en-US" altLang="zh-CN" sz="2400" b="0" i="1" smtClean="0">
                              <a:latin typeface="Cambria Math" panose="02040503050406030204" pitchFamily="18" charset="0"/>
                            </a:rPr>
                            <m:t>′</m:t>
                          </m:r>
                        </m:sup>
                      </m:sSup>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sin</m:t>
                          </m:r>
                        </m:fName>
                        <m:e>
                          <m:r>
                            <a:rPr lang="zh-CN" altLang="en-US" sz="2400" b="0" i="1" smtClean="0">
                              <a:latin typeface="Cambria Math" panose="02040503050406030204" pitchFamily="18" charset="0"/>
                            </a:rPr>
                            <m:t>𝛽</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𝛾</m:t>
                              </m:r>
                            </m:e>
                            <m:sub>
                              <m:r>
                                <a:rPr lang="en-US" altLang="zh-CN" sz="2400" b="0" i="1" smtClean="0">
                                  <a:latin typeface="Cambria Math" panose="02040503050406030204" pitchFamily="18" charset="0"/>
                                </a:rPr>
                                <m:t>𝑤</m:t>
                              </m:r>
                            </m:sub>
                          </m:sSub>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sin</m:t>
                              </m:r>
                            </m:fName>
                            <m:e>
                              <m:r>
                                <a:rPr lang="zh-CN" altLang="en-US" sz="2400" b="0" i="1" smtClean="0">
                                  <a:latin typeface="Cambria Math" panose="02040503050406030204" pitchFamily="18" charset="0"/>
                                </a:rPr>
                                <m:t>𝛽</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𝑉</m:t>
                              </m:r>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zh-CN" altLang="en-US" sz="2400" b="0" i="1" smtClean="0">
                                      <a:latin typeface="Cambria Math" panose="02040503050406030204" pitchFamily="18" charset="0"/>
                                      <a:ea typeface="Cambria Math" panose="02040503050406030204" pitchFamily="18" charset="0"/>
                                    </a:rPr>
                                    <m:t>𝛾</m:t>
                                  </m:r>
                                </m:e>
                                <m:sub>
                                  <m:r>
                                    <a:rPr lang="en-US" altLang="zh-CN" sz="2400" b="0" i="1" smtClean="0">
                                      <a:latin typeface="Cambria Math" panose="02040503050406030204" pitchFamily="18" charset="0"/>
                                      <a:ea typeface="Cambria Math" panose="02040503050406030204" pitchFamily="18" charset="0"/>
                                    </a:rPr>
                                    <m:t>𝑠𝑎𝑡</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𝑉</m:t>
                              </m:r>
                              <m:func>
                                <m:funcPr>
                                  <m:ctrlPr>
                                    <a:rPr lang="en-US" altLang="zh-CN" sz="2400" b="0" i="1" smtClean="0">
                                      <a:latin typeface="Cambria Math" panose="02040503050406030204" pitchFamily="18" charset="0"/>
                                      <a:ea typeface="Cambria Math" panose="02040503050406030204" pitchFamily="18" charset="0"/>
                                    </a:rPr>
                                  </m:ctrlPr>
                                </m:funcPr>
                                <m:fName>
                                  <m:r>
                                    <m:rPr>
                                      <m:sty m:val="p"/>
                                    </m:rPr>
                                    <a:rPr lang="en-US" altLang="zh-CN" sz="2400" b="0" i="0" smtClean="0">
                                      <a:latin typeface="Cambria Math" panose="02040503050406030204" pitchFamily="18" charset="0"/>
                                      <a:ea typeface="Cambria Math" panose="02040503050406030204" pitchFamily="18" charset="0"/>
                                    </a:rPr>
                                    <m:t>sin</m:t>
                                  </m:r>
                                </m:fName>
                                <m:e>
                                  <m:r>
                                    <a:rPr lang="zh-CN" altLang="en-US" sz="2400" b="0" i="1" smtClean="0">
                                      <a:latin typeface="Cambria Math" panose="02040503050406030204" pitchFamily="18" charset="0"/>
                                      <a:ea typeface="Cambria Math" panose="02040503050406030204" pitchFamily="18" charset="0"/>
                                    </a:rPr>
                                    <m:t>𝛽</m:t>
                                  </m:r>
                                </m:e>
                              </m:func>
                            </m:e>
                          </m:func>
                        </m:e>
                      </m:func>
                    </m:oMath>
                  </m:oMathPara>
                </a14:m>
                <a:endParaRPr lang="zh-CN" altLang="en-US" sz="2400" dirty="0"/>
              </a:p>
            </p:txBody>
          </p:sp>
        </mc:Choice>
        <mc:Fallback>
          <p:sp>
            <p:nvSpPr>
              <p:cNvPr id="10" name="文本框 9"/>
              <p:cNvSpPr txBox="1">
                <a:spLocks noRot="1" noChangeAspect="1" noMove="1" noResize="1" noEditPoints="1" noAdjustHandles="1" noChangeArrowheads="1" noChangeShapeType="1" noTextEdit="1"/>
              </p:cNvSpPr>
              <p:nvPr/>
            </p:nvSpPr>
            <p:spPr>
              <a:xfrm>
                <a:off x="552481" y="3657600"/>
                <a:ext cx="6317883" cy="369332"/>
              </a:xfrm>
              <a:prstGeom prst="rect">
                <a:avLst/>
              </a:prstGeom>
              <a:blipFill rotWithShape="1">
                <a:blip r:embed="rId4"/>
                <a:stretch>
                  <a:fillRect r="5" b="10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1433382" y="4484132"/>
                <a:ext cx="2970813" cy="39895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𝑓</m:t>
                          </m:r>
                        </m:sub>
                      </m:sSub>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zh-CN" altLang="en-US" sz="2400" b="0" i="1" smtClean="0">
                              <a:latin typeface="Cambria Math" panose="02040503050406030204" pitchFamily="18" charset="0"/>
                            </a:rPr>
                            <m:t>𝛾</m:t>
                          </m:r>
                        </m:e>
                        <m:sup>
                          <m:r>
                            <a:rPr lang="en-US" altLang="zh-CN" sz="2400" b="0" i="1" smtClean="0">
                              <a:latin typeface="Cambria Math" panose="02040503050406030204" pitchFamily="18" charset="0"/>
                            </a:rPr>
                            <m:t>′</m:t>
                          </m:r>
                        </m:sup>
                      </m:sSup>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𝑉</m:t>
                      </m:r>
                      <m:func>
                        <m:funcPr>
                          <m:ctrlPr>
                            <a:rPr lang="en-US" altLang="zh-CN" sz="2400" b="0" i="1" smtClean="0">
                              <a:latin typeface="Cambria Math" panose="02040503050406030204" pitchFamily="18" charset="0"/>
                              <a:ea typeface="Cambria Math" panose="02040503050406030204" pitchFamily="18" charset="0"/>
                            </a:rPr>
                          </m:ctrlPr>
                        </m:funcPr>
                        <m:fName>
                          <m:r>
                            <m:rPr>
                              <m:sty m:val="p"/>
                            </m:rPr>
                            <a:rPr lang="en-US" altLang="zh-CN" sz="2400" b="0" i="0" smtClean="0">
                              <a:latin typeface="Cambria Math" panose="02040503050406030204" pitchFamily="18" charset="0"/>
                              <a:ea typeface="Cambria Math" panose="02040503050406030204" pitchFamily="18" charset="0"/>
                            </a:rPr>
                            <m:t>cos</m:t>
                          </m:r>
                        </m:fName>
                        <m:e>
                          <m:r>
                            <a:rPr lang="zh-CN" altLang="en-US" sz="2400" b="0" i="1" smtClean="0">
                              <a:latin typeface="Cambria Math" panose="02040503050406030204" pitchFamily="18" charset="0"/>
                              <a:ea typeface="Cambria Math" panose="02040503050406030204" pitchFamily="18" charset="0"/>
                            </a:rPr>
                            <m:t>𝛽</m:t>
                          </m:r>
                          <m:func>
                            <m:funcPr>
                              <m:ctrlPr>
                                <a:rPr lang="en-US" altLang="zh-CN" sz="2400" b="0" i="1" smtClean="0">
                                  <a:latin typeface="Cambria Math" panose="02040503050406030204" pitchFamily="18" charset="0"/>
                                  <a:ea typeface="Cambria Math" panose="02040503050406030204" pitchFamily="18" charset="0"/>
                                </a:rPr>
                              </m:ctrlPr>
                            </m:funcPr>
                            <m:fName>
                              <m:r>
                                <m:rPr>
                                  <m:sty m:val="p"/>
                                </m:rPr>
                                <a:rPr lang="en-US" altLang="zh-CN" sz="2400" b="0" i="0" smtClean="0">
                                  <a:latin typeface="Cambria Math" panose="02040503050406030204" pitchFamily="18" charset="0"/>
                                  <a:ea typeface="Cambria Math" panose="02040503050406030204" pitchFamily="18" charset="0"/>
                                </a:rPr>
                                <m:t>tan</m:t>
                              </m:r>
                            </m:fName>
                            <m:e>
                              <m:r>
                                <a:rPr lang="zh-CN" altLang="en-US" sz="2400" b="0" i="1" smtClean="0">
                                  <a:latin typeface="Cambria Math" panose="02040503050406030204" pitchFamily="18" charset="0"/>
                                  <a:ea typeface="Cambria Math" panose="02040503050406030204" pitchFamily="18" charset="0"/>
                                </a:rPr>
                                <m:t>𝜑</m:t>
                              </m:r>
                            </m:e>
                          </m:func>
                        </m:e>
                      </m:func>
                    </m:oMath>
                  </m:oMathPara>
                </a14:m>
                <a:endParaRPr lang="zh-CN" altLang="en-US" sz="2400" dirty="0"/>
              </a:p>
            </p:txBody>
          </p:sp>
        </mc:Choice>
        <mc:Fallback>
          <p:sp>
            <p:nvSpPr>
              <p:cNvPr id="11" name="文本框 10"/>
              <p:cNvSpPr txBox="1">
                <a:spLocks noRot="1" noChangeAspect="1" noMove="1" noResize="1" noEditPoints="1" noAdjustHandles="1" noChangeArrowheads="1" noChangeShapeType="1" noTextEdit="1"/>
              </p:cNvSpPr>
              <p:nvPr/>
            </p:nvSpPr>
            <p:spPr>
              <a:xfrm>
                <a:off x="1433382" y="4484132"/>
                <a:ext cx="2970813" cy="398955"/>
              </a:xfrm>
              <a:prstGeom prst="rect">
                <a:avLst/>
              </a:prstGeom>
              <a:blipFill rotWithShape="1">
                <a:blip r:embed="rId5"/>
                <a:stretch>
                  <a:fillRect l="-6" t="-100" r="-369" b="14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1539287" y="5657361"/>
                <a:ext cx="5858463" cy="724878"/>
              </a:xfrm>
              <a:prstGeom prst="rect">
                <a:avLst/>
              </a:prstGeom>
              <a:solidFill>
                <a:srgbClr val="FFFF00"/>
              </a:solidFill>
            </p:spPr>
            <p:txBody>
              <a:bodyPr wrap="none" lIns="0" tIns="0" rIns="0" bIns="0" rtlCol="0">
                <a:spAutoFit/>
              </a:bodyPr>
              <a:lstStyle/>
              <a:p>
                <a:r>
                  <a:rPr lang="en-US" altLang="zh-CN" i="1" dirty="0" smtClean="0"/>
                  <a:t>K</a:t>
                </a:r>
                <a:r>
                  <a:rPr lang="en-US" altLang="zh-CN" dirty="0" smtClean="0"/>
                  <a:t>=</a:t>
                </a:r>
                <a14:m>
                  <m:oMath xmlns:m="http://schemas.openxmlformats.org/officeDocument/2006/math">
                    <m:f>
                      <m:fPr>
                        <m:ctrlPr>
                          <a:rPr lang="en-US" altLang="zh-CN" i="1" smtClean="0">
                            <a:latin typeface="Cambria Math" panose="02040503050406030204" pitchFamily="18" charset="0"/>
                          </a:rPr>
                        </m:ctrlPr>
                      </m:fPr>
                      <m:num>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𝑇</m:t>
                            </m:r>
                          </m:e>
                          <m:sub>
                            <m:r>
                              <a:rPr lang="en-US" altLang="zh-CN" b="0" i="1" smtClean="0">
                                <a:latin typeface="Cambria Math" panose="02040503050406030204" pitchFamily="18" charset="0"/>
                              </a:rPr>
                              <m:t>𝑓</m:t>
                            </m:r>
                          </m:sub>
                        </m:sSub>
                      </m:num>
                      <m:den>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𝑇</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𝐽</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p>
                          <m:sSupPr>
                            <m:ctrlPr>
                              <a:rPr lang="en-US" altLang="zh-CN" b="0" i="1" smtClean="0">
                                <a:latin typeface="Cambria Math" panose="02040503050406030204" pitchFamily="18" charset="0"/>
                              </a:rPr>
                            </m:ctrlPr>
                          </m:sSupPr>
                          <m:e>
                            <m:r>
                              <a:rPr lang="zh-CN" altLang="en-US" b="0" i="1" smtClean="0">
                                <a:latin typeface="Cambria Math" panose="02040503050406030204" pitchFamily="18" charset="0"/>
                              </a:rPr>
                              <m:t>𝛾</m:t>
                            </m:r>
                          </m:e>
                          <m:sup>
                            <m:r>
                              <a:rPr lang="en-US" altLang="zh-CN" b="0" i="1" smtClean="0">
                                <a:latin typeface="Cambria Math" panose="02040503050406030204" pitchFamily="18" charset="0"/>
                              </a:rPr>
                              <m:t>′</m:t>
                            </m:r>
                          </m:sup>
                        </m:sSup>
                      </m:num>
                      <m:den>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𝛾</m:t>
                            </m:r>
                          </m:e>
                          <m:sub>
                            <m:r>
                              <a:rPr lang="en-US" altLang="zh-CN" b="0" i="1" smtClean="0">
                                <a:latin typeface="Cambria Math" panose="02040503050406030204" pitchFamily="18" charset="0"/>
                              </a:rPr>
                              <m:t>𝑠𝑎𝑡</m:t>
                            </m:r>
                          </m:sub>
                        </m:sSub>
                      </m:den>
                    </m:f>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func>
                          <m:funcPr>
                            <m:ctrlPr>
                              <a:rPr lang="en-US" altLang="zh-CN" b="0" i="1" smtClean="0">
                                <a:latin typeface="Cambria Math" panose="02040503050406030204" pitchFamily="18" charset="0"/>
                                <a:ea typeface="Cambria Math" panose="02040503050406030204" pitchFamily="18" charset="0"/>
                              </a:rPr>
                            </m:ctrlPr>
                          </m:funcPr>
                          <m:fName>
                            <m:r>
                              <m:rPr>
                                <m:sty m:val="p"/>
                              </m:rPr>
                              <a:rPr lang="en-US" altLang="zh-CN" b="0" i="0" smtClean="0">
                                <a:latin typeface="Cambria Math" panose="02040503050406030204" pitchFamily="18" charset="0"/>
                                <a:ea typeface="Cambria Math" panose="02040503050406030204" pitchFamily="18" charset="0"/>
                              </a:rPr>
                              <m:t>cos</m:t>
                            </m:r>
                          </m:fName>
                          <m:e>
                            <m:r>
                              <a:rPr lang="zh-CN" altLang="en-US" b="0" i="1" smtClean="0">
                                <a:latin typeface="Cambria Math" panose="02040503050406030204" pitchFamily="18" charset="0"/>
                                <a:ea typeface="Cambria Math" panose="02040503050406030204" pitchFamily="18" charset="0"/>
                              </a:rPr>
                              <m:t>𝛽</m:t>
                            </m:r>
                          </m:e>
                        </m:func>
                      </m:num>
                      <m:den>
                        <m:func>
                          <m:funcPr>
                            <m:ctrlPr>
                              <a:rPr lang="en-US" altLang="zh-CN" b="0" i="1" smtClean="0">
                                <a:latin typeface="Cambria Math" panose="02040503050406030204" pitchFamily="18" charset="0"/>
                                <a:ea typeface="Cambria Math" panose="02040503050406030204" pitchFamily="18" charset="0"/>
                              </a:rPr>
                            </m:ctrlPr>
                          </m:funcPr>
                          <m:fName>
                            <m:r>
                              <m:rPr>
                                <m:sty m:val="p"/>
                              </m:rPr>
                              <a:rPr lang="en-US" altLang="zh-CN" b="0" i="0" smtClean="0">
                                <a:latin typeface="Cambria Math" panose="02040503050406030204" pitchFamily="18" charset="0"/>
                                <a:ea typeface="Cambria Math" panose="02040503050406030204" pitchFamily="18" charset="0"/>
                              </a:rPr>
                              <m:t>sin</m:t>
                            </m:r>
                          </m:fName>
                          <m:e>
                            <m:r>
                              <a:rPr lang="zh-CN" altLang="en-US" b="0" i="1" smtClean="0">
                                <a:latin typeface="Cambria Math" panose="02040503050406030204" pitchFamily="18" charset="0"/>
                                <a:ea typeface="Cambria Math" panose="02040503050406030204" pitchFamily="18" charset="0"/>
                              </a:rPr>
                              <m:t>𝛽</m:t>
                            </m:r>
                          </m:e>
                        </m:func>
                      </m:den>
                    </m:f>
                    <m:r>
                      <a:rPr lang="en-US" altLang="zh-CN" b="0" i="1" smtClean="0">
                        <a:latin typeface="Cambria Math" panose="02040503050406030204" pitchFamily="18" charset="0"/>
                        <a:ea typeface="Cambria Math" panose="02040503050406030204" pitchFamily="18" charset="0"/>
                      </a:rPr>
                      <m:t>∙</m:t>
                    </m:r>
                    <m:func>
                      <m:funcPr>
                        <m:ctrlPr>
                          <a:rPr lang="en-US" altLang="zh-CN" b="0" i="1" smtClean="0">
                            <a:latin typeface="Cambria Math" panose="02040503050406030204" pitchFamily="18" charset="0"/>
                            <a:ea typeface="Cambria Math" panose="02040503050406030204" pitchFamily="18" charset="0"/>
                          </a:rPr>
                        </m:ctrlPr>
                      </m:funcPr>
                      <m:fName>
                        <m:r>
                          <m:rPr>
                            <m:sty m:val="p"/>
                          </m:rPr>
                          <a:rPr lang="en-US" altLang="zh-CN" b="0" i="0" smtClean="0">
                            <a:latin typeface="Cambria Math" panose="02040503050406030204" pitchFamily="18" charset="0"/>
                            <a:ea typeface="Cambria Math" panose="02040503050406030204" pitchFamily="18" charset="0"/>
                          </a:rPr>
                          <m:t>tan</m:t>
                        </m:r>
                      </m:fName>
                      <m:e>
                        <m:r>
                          <a:rPr lang="zh-CN" altLang="en-US" b="0" i="1" smtClean="0">
                            <a:latin typeface="Cambria Math" panose="02040503050406030204" pitchFamily="18" charset="0"/>
                            <a:ea typeface="Cambria Math" panose="02040503050406030204" pitchFamily="18" charset="0"/>
                          </a:rPr>
                          <m:t>𝜑</m:t>
                        </m:r>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sSup>
                              <m:sSupPr>
                                <m:ctrlPr>
                                  <a:rPr lang="en-US" altLang="zh-CN" b="0" i="1" smtClean="0">
                                    <a:latin typeface="Cambria Math" panose="02040503050406030204" pitchFamily="18" charset="0"/>
                                    <a:ea typeface="Cambria Math" panose="02040503050406030204" pitchFamily="18" charset="0"/>
                                  </a:rPr>
                                </m:ctrlPr>
                              </m:sSupPr>
                              <m:e>
                                <m:r>
                                  <a:rPr lang="zh-CN" altLang="en-US" b="0" i="1" smtClean="0">
                                    <a:latin typeface="Cambria Math" panose="02040503050406030204" pitchFamily="18" charset="0"/>
                                    <a:ea typeface="Cambria Math" panose="02040503050406030204" pitchFamily="18" charset="0"/>
                                  </a:rPr>
                                  <m:t>𝛾</m:t>
                                </m:r>
                              </m:e>
                              <m:sup>
                                <m:r>
                                  <a:rPr lang="en-US" altLang="zh-CN" b="0" i="1" smtClean="0">
                                    <a:latin typeface="Cambria Math" panose="02040503050406030204" pitchFamily="18" charset="0"/>
                                    <a:ea typeface="Cambria Math" panose="02040503050406030204" pitchFamily="18" charset="0"/>
                                  </a:rPr>
                                  <m:t>′</m:t>
                                </m:r>
                              </m:sup>
                            </m:sSup>
                          </m:num>
                          <m:den>
                            <m:sSub>
                              <m:sSubPr>
                                <m:ctrlPr>
                                  <a:rPr lang="en-US" altLang="zh-CN" b="0" i="1" smtClean="0">
                                    <a:latin typeface="Cambria Math" panose="02040503050406030204" pitchFamily="18" charset="0"/>
                                    <a:ea typeface="Cambria Math" panose="02040503050406030204" pitchFamily="18" charset="0"/>
                                  </a:rPr>
                                </m:ctrlPr>
                              </m:sSubPr>
                              <m:e>
                                <m:r>
                                  <a:rPr lang="zh-CN" altLang="en-US" b="0" i="1" smtClean="0">
                                    <a:latin typeface="Cambria Math" panose="02040503050406030204" pitchFamily="18" charset="0"/>
                                    <a:ea typeface="Cambria Math" panose="02040503050406030204" pitchFamily="18" charset="0"/>
                                  </a:rPr>
                                  <m:t>𝛾</m:t>
                                </m:r>
                              </m:e>
                              <m:sub>
                                <m:r>
                                  <a:rPr lang="en-US" altLang="zh-CN" b="0" i="1" smtClean="0">
                                    <a:latin typeface="Cambria Math" panose="02040503050406030204" pitchFamily="18" charset="0"/>
                                    <a:ea typeface="Cambria Math" panose="02040503050406030204" pitchFamily="18" charset="0"/>
                                  </a:rPr>
                                  <m:t>𝑠𝑎𝑡</m:t>
                                </m:r>
                              </m:sub>
                            </m:sSub>
                          </m:den>
                        </m:f>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func>
                              <m:funcPr>
                                <m:ctrlPr>
                                  <a:rPr lang="en-US" altLang="zh-CN" b="0" i="1" smtClean="0">
                                    <a:latin typeface="Cambria Math" panose="02040503050406030204" pitchFamily="18" charset="0"/>
                                    <a:ea typeface="Cambria Math" panose="02040503050406030204" pitchFamily="18" charset="0"/>
                                  </a:rPr>
                                </m:ctrlPr>
                              </m:funcPr>
                              <m:fName>
                                <m:r>
                                  <m:rPr>
                                    <m:sty m:val="p"/>
                                  </m:rPr>
                                  <a:rPr lang="en-US" altLang="zh-CN" b="0" i="0" smtClean="0">
                                    <a:latin typeface="Cambria Math" panose="02040503050406030204" pitchFamily="18" charset="0"/>
                                    <a:ea typeface="Cambria Math" panose="02040503050406030204" pitchFamily="18" charset="0"/>
                                  </a:rPr>
                                  <m:t>tan</m:t>
                                </m:r>
                              </m:fName>
                              <m:e>
                                <m:r>
                                  <a:rPr lang="zh-CN" altLang="en-US" b="0" i="1" smtClean="0">
                                    <a:latin typeface="Cambria Math" panose="02040503050406030204" pitchFamily="18" charset="0"/>
                                    <a:ea typeface="Cambria Math" panose="02040503050406030204" pitchFamily="18" charset="0"/>
                                  </a:rPr>
                                  <m:t>𝜑</m:t>
                                </m:r>
                              </m:e>
                            </m:func>
                          </m:num>
                          <m:den>
                            <m:func>
                              <m:funcPr>
                                <m:ctrlPr>
                                  <a:rPr lang="en-US" altLang="zh-CN" b="0" i="1" smtClean="0">
                                    <a:latin typeface="Cambria Math" panose="02040503050406030204" pitchFamily="18" charset="0"/>
                                    <a:ea typeface="Cambria Math" panose="02040503050406030204" pitchFamily="18" charset="0"/>
                                  </a:rPr>
                                </m:ctrlPr>
                              </m:funcPr>
                              <m:fName>
                                <m:r>
                                  <m:rPr>
                                    <m:sty m:val="p"/>
                                  </m:rPr>
                                  <a:rPr lang="en-US" altLang="zh-CN" b="0" i="0" smtClean="0">
                                    <a:latin typeface="Cambria Math" panose="02040503050406030204" pitchFamily="18" charset="0"/>
                                    <a:ea typeface="Cambria Math" panose="02040503050406030204" pitchFamily="18" charset="0"/>
                                  </a:rPr>
                                  <m:t>tan</m:t>
                                </m:r>
                              </m:fName>
                              <m:e>
                                <m:r>
                                  <a:rPr lang="zh-CN" altLang="en-US" b="0" i="1" smtClean="0">
                                    <a:latin typeface="Cambria Math" panose="02040503050406030204" pitchFamily="18" charset="0"/>
                                    <a:ea typeface="Cambria Math" panose="02040503050406030204" pitchFamily="18" charset="0"/>
                                  </a:rPr>
                                  <m:t>𝛽</m:t>
                                </m:r>
                              </m:e>
                            </m:func>
                          </m:den>
                        </m:f>
                      </m:e>
                    </m:func>
                  </m:oMath>
                </a14:m>
                <a:endParaRPr lang="zh-CN" altLang="en-US" dirty="0"/>
              </a:p>
            </p:txBody>
          </p:sp>
        </mc:Choice>
        <mc:Fallback>
          <p:sp>
            <p:nvSpPr>
              <p:cNvPr id="12" name="文本框 11"/>
              <p:cNvSpPr txBox="1">
                <a:spLocks noRot="1" noChangeAspect="1" noMove="1" noResize="1" noEditPoints="1" noAdjustHandles="1" noChangeArrowheads="1" noChangeShapeType="1" noTextEdit="1"/>
              </p:cNvSpPr>
              <p:nvPr/>
            </p:nvSpPr>
            <p:spPr>
              <a:xfrm>
                <a:off x="1539287" y="5657361"/>
                <a:ext cx="5858463" cy="724878"/>
              </a:xfrm>
              <a:prstGeom prst="rect">
                <a:avLst/>
              </a:prstGeom>
              <a:blipFill rotWithShape="1">
                <a:blip r:embed="rId6"/>
                <a:stretch>
                  <a:fillRect l="-1" t="-20" b="67"/>
                </a:stretch>
              </a:blipFill>
            </p:spPr>
            <p:txBody>
              <a:bodyPr/>
              <a:lstStyle/>
              <a:p>
                <a:r>
                  <a:rPr lang="zh-CN" altLang="en-US">
                    <a:noFill/>
                  </a:rPr>
                  <a:t> </a:t>
                </a:r>
              </a:p>
            </p:txBody>
          </p:sp>
        </mc:Fallback>
      </mc:AlternateContent>
      <p:sp>
        <p:nvSpPr>
          <p:cNvPr id="56" name="Rectangle 6"/>
          <p:cNvSpPr>
            <a:spLocks noChangeArrowheads="1"/>
          </p:cNvSpPr>
          <p:nvPr/>
        </p:nvSpPr>
        <p:spPr bwMode="auto">
          <a:xfrm>
            <a:off x="0" y="-7396"/>
            <a:ext cx="45720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§6.2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无黏性土坡的稳定性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42436"/>
                                        </p:tgtEl>
                                        <p:attrNameLst>
                                          <p:attrName>style.visibility</p:attrName>
                                        </p:attrNameLst>
                                      </p:cBhvr>
                                      <p:to>
                                        <p:strVal val="visible"/>
                                      </p:to>
                                    </p:set>
                                    <p:animEffect transition="in" filter="dissolve">
                                      <p:cBhvr>
                                        <p:cTn id="7" dur="500"/>
                                        <p:tgtEl>
                                          <p:spTgt spid="742436"/>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42410"/>
                                        </p:tgtEl>
                                        <p:attrNameLst>
                                          <p:attrName>style.visibility</p:attrName>
                                        </p:attrNameLst>
                                      </p:cBhvr>
                                      <p:to>
                                        <p:strVal val="visible"/>
                                      </p:to>
                                    </p:set>
                                    <p:animEffect transition="in" filter="wipe(up)">
                                      <p:cBhvr>
                                        <p:cTn id="11" dur="500"/>
                                        <p:tgtEl>
                                          <p:spTgt spid="742410"/>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742415"/>
                                        </p:tgtEl>
                                        <p:attrNameLst>
                                          <p:attrName>style.visibility</p:attrName>
                                        </p:attrNameLst>
                                      </p:cBhvr>
                                      <p:to>
                                        <p:strVal val="visible"/>
                                      </p:to>
                                    </p:set>
                                    <p:animEffect transition="in" filter="dissolve">
                                      <p:cBhvr>
                                        <p:cTn id="15" dur="500"/>
                                        <p:tgtEl>
                                          <p:spTgt spid="74241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up)">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742443"/>
                                        </p:tgtEl>
                                        <p:attrNameLst>
                                          <p:attrName>style.visibility</p:attrName>
                                        </p:attrNameLst>
                                      </p:cBhvr>
                                      <p:to>
                                        <p:strVal val="visible"/>
                                      </p:to>
                                    </p:set>
                                    <p:animEffect transition="in" filter="wipe(up)">
                                      <p:cBhvr>
                                        <p:cTn id="25" dur="500"/>
                                        <p:tgtEl>
                                          <p:spTgt spid="742443"/>
                                        </p:tgtEl>
                                      </p:cBhvr>
                                    </p:animEffect>
                                  </p:childTnLst>
                                </p:cTn>
                              </p:par>
                            </p:childTnLst>
                          </p:cTn>
                        </p:par>
                        <p:par>
                          <p:cTn id="26" fill="hold">
                            <p:stCondLst>
                              <p:cond delay="500"/>
                            </p:stCondLst>
                            <p:childTnLst>
                              <p:par>
                                <p:cTn id="27" presetID="9" presetClass="entr" presetSubtype="0" fill="hold" grpId="0" nodeType="afterEffect">
                                  <p:stCondLst>
                                    <p:cond delay="0"/>
                                  </p:stCondLst>
                                  <p:childTnLst>
                                    <p:set>
                                      <p:cBhvr>
                                        <p:cTn id="28" dur="1" fill="hold">
                                          <p:stCondLst>
                                            <p:cond delay="0"/>
                                          </p:stCondLst>
                                        </p:cTn>
                                        <p:tgtEl>
                                          <p:spTgt spid="742445"/>
                                        </p:tgtEl>
                                        <p:attrNameLst>
                                          <p:attrName>style.visibility</p:attrName>
                                        </p:attrNameLst>
                                      </p:cBhvr>
                                      <p:to>
                                        <p:strVal val="visible"/>
                                      </p:to>
                                    </p:set>
                                    <p:animEffect transition="in" filter="dissolve">
                                      <p:cBhvr>
                                        <p:cTn id="29" dur="500"/>
                                        <p:tgtEl>
                                          <p:spTgt spid="74244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wipe(up)">
                                      <p:cBhvr>
                                        <p:cTn id="34" dur="500"/>
                                        <p:tgtEl>
                                          <p:spTgt spid="4"/>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742418"/>
                                        </p:tgtEl>
                                        <p:attrNameLst>
                                          <p:attrName>style.visibility</p:attrName>
                                        </p:attrNameLst>
                                      </p:cBhvr>
                                      <p:to>
                                        <p:strVal val="visible"/>
                                      </p:to>
                                    </p:set>
                                    <p:animEffect transition="in" filter="dissolve">
                                      <p:cBhvr>
                                        <p:cTn id="39" dur="500"/>
                                        <p:tgtEl>
                                          <p:spTgt spid="742418"/>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5"/>
                                        </p:tgtEl>
                                        <p:attrNameLst>
                                          <p:attrName>style.visibility</p:attrName>
                                        </p:attrNameLst>
                                      </p:cBhvr>
                                      <p:to>
                                        <p:strVal val="visible"/>
                                      </p:to>
                                    </p:set>
                                    <p:animEffect transition="in" filter="wipe(up)">
                                      <p:cBhvr>
                                        <p:cTn id="44" dur="500"/>
                                        <p:tgtEl>
                                          <p:spTgt spid="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742442"/>
                                        </p:tgtEl>
                                        <p:attrNameLst>
                                          <p:attrName>style.visibility</p:attrName>
                                        </p:attrNameLst>
                                      </p:cBhvr>
                                      <p:to>
                                        <p:strVal val="visible"/>
                                      </p:to>
                                    </p:set>
                                    <p:animEffect transition="in" filter="wipe(up)">
                                      <p:cBhvr>
                                        <p:cTn id="49" dur="500"/>
                                        <p:tgtEl>
                                          <p:spTgt spid="742442"/>
                                        </p:tgtEl>
                                      </p:cBhvr>
                                    </p:animEffect>
                                  </p:childTnLst>
                                </p:cTn>
                              </p:par>
                            </p:childTnLst>
                          </p:cTn>
                        </p:par>
                        <p:par>
                          <p:cTn id="50" fill="hold">
                            <p:stCondLst>
                              <p:cond delay="500"/>
                            </p:stCondLst>
                            <p:childTnLst>
                              <p:par>
                                <p:cTn id="51" presetID="9" presetClass="entr" presetSubtype="0" fill="hold" grpId="0" nodeType="afterEffect">
                                  <p:stCondLst>
                                    <p:cond delay="0"/>
                                  </p:stCondLst>
                                  <p:childTnLst>
                                    <p:set>
                                      <p:cBhvr>
                                        <p:cTn id="52" dur="1" fill="hold">
                                          <p:stCondLst>
                                            <p:cond delay="0"/>
                                          </p:stCondLst>
                                        </p:cTn>
                                        <p:tgtEl>
                                          <p:spTgt spid="742444"/>
                                        </p:tgtEl>
                                        <p:attrNameLst>
                                          <p:attrName>style.visibility</p:attrName>
                                        </p:attrNameLst>
                                      </p:cBhvr>
                                      <p:to>
                                        <p:strVal val="visible"/>
                                      </p:to>
                                    </p:set>
                                    <p:animEffect transition="in" filter="dissolve">
                                      <p:cBhvr>
                                        <p:cTn id="53" dur="500"/>
                                        <p:tgtEl>
                                          <p:spTgt spid="742444"/>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7"/>
                                        </p:tgtEl>
                                        <p:attrNameLst>
                                          <p:attrName>style.visibility</p:attrName>
                                        </p:attrNameLst>
                                      </p:cBhvr>
                                      <p:to>
                                        <p:strVal val="visible"/>
                                      </p:to>
                                    </p:set>
                                    <p:animEffect transition="in" filter="wipe(down)">
                                      <p:cBhvr>
                                        <p:cTn id="58" dur="500"/>
                                        <p:tgtEl>
                                          <p:spTgt spid="7"/>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6"/>
                                        </p:tgtEl>
                                        <p:attrNameLst>
                                          <p:attrName>style.visibility</p:attrName>
                                        </p:attrNameLst>
                                      </p:cBhvr>
                                      <p:to>
                                        <p:strVal val="visible"/>
                                      </p:to>
                                    </p:set>
                                    <p:animEffect transition="in" filter="wipe(left)">
                                      <p:cBhvr>
                                        <p:cTn id="63" dur="500"/>
                                        <p:tgtEl>
                                          <p:spTgt spid="6"/>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742423">
                                            <p:txEl>
                                              <p:pRg st="0" end="0"/>
                                            </p:txEl>
                                          </p:spTgt>
                                        </p:tgtEl>
                                        <p:attrNameLst>
                                          <p:attrName>style.visibility</p:attrName>
                                        </p:attrNameLst>
                                      </p:cBhvr>
                                      <p:to>
                                        <p:strVal val="visible"/>
                                      </p:to>
                                    </p:set>
                                    <p:animEffect transition="in" filter="wipe(left)">
                                      <p:cBhvr>
                                        <p:cTn id="68" dur="500"/>
                                        <p:tgtEl>
                                          <p:spTgt spid="742423">
                                            <p:txEl>
                                              <p:pRg st="0" end="0"/>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742425"/>
                                        </p:tgtEl>
                                        <p:attrNameLst>
                                          <p:attrName>style.visibility</p:attrName>
                                        </p:attrNameLst>
                                      </p:cBhvr>
                                      <p:to>
                                        <p:strVal val="visible"/>
                                      </p:to>
                                    </p:set>
                                    <p:animEffect transition="in" filter="wipe(left)">
                                      <p:cBhvr>
                                        <p:cTn id="73" dur="500"/>
                                        <p:tgtEl>
                                          <p:spTgt spid="742425"/>
                                        </p:tgtEl>
                                      </p:cBhvr>
                                    </p:animEffect>
                                  </p:childTnLst>
                                </p:cTn>
                              </p:par>
                            </p:childTnLst>
                          </p:cTn>
                        </p:par>
                      </p:childTnLst>
                    </p:cTn>
                  </p:par>
                  <p:par>
                    <p:cTn id="74" fill="hold">
                      <p:stCondLst>
                        <p:cond delay="indefinite"/>
                      </p:stCondLst>
                      <p:childTnLst>
                        <p:par>
                          <p:cTn id="75" fill="hold">
                            <p:stCondLst>
                              <p:cond delay="0"/>
                            </p:stCondLst>
                            <p:childTnLst>
                              <p:par>
                                <p:cTn id="76" presetID="2" presetClass="entr" presetSubtype="8" fill="hold" nodeType="clickEffect">
                                  <p:stCondLst>
                                    <p:cond delay="0"/>
                                  </p:stCondLst>
                                  <p:childTnLst>
                                    <p:set>
                                      <p:cBhvr>
                                        <p:cTn id="77" dur="1" fill="hold">
                                          <p:stCondLst>
                                            <p:cond delay="0"/>
                                          </p:stCondLst>
                                        </p:cTn>
                                        <p:tgtEl>
                                          <p:spTgt spid="742439"/>
                                        </p:tgtEl>
                                        <p:attrNameLst>
                                          <p:attrName>style.visibility</p:attrName>
                                        </p:attrNameLst>
                                      </p:cBhvr>
                                      <p:to>
                                        <p:strVal val="visible"/>
                                      </p:to>
                                    </p:set>
                                    <p:anim calcmode="lin" valueType="num">
                                      <p:cBhvr additive="base">
                                        <p:cTn id="78" dur="500" fill="hold"/>
                                        <p:tgtEl>
                                          <p:spTgt spid="742439"/>
                                        </p:tgtEl>
                                        <p:attrNameLst>
                                          <p:attrName>ppt_x</p:attrName>
                                        </p:attrNameLst>
                                      </p:cBhvr>
                                      <p:tavLst>
                                        <p:tav tm="0">
                                          <p:val>
                                            <p:strVal val="0-#ppt_w/2"/>
                                          </p:val>
                                        </p:tav>
                                        <p:tav tm="100000">
                                          <p:val>
                                            <p:strVal val="#ppt_x"/>
                                          </p:val>
                                        </p:tav>
                                      </p:tavLst>
                                    </p:anim>
                                    <p:anim calcmode="lin" valueType="num">
                                      <p:cBhvr additive="base">
                                        <p:cTn id="79" dur="500" fill="hold"/>
                                        <p:tgtEl>
                                          <p:spTgt spid="742439"/>
                                        </p:tgtEl>
                                        <p:attrNameLst>
                                          <p:attrName>ppt_y</p:attrName>
                                        </p:attrNameLst>
                                      </p:cBhvr>
                                      <p:tavLst>
                                        <p:tav tm="0">
                                          <p:val>
                                            <p:strVal val="#ppt_y"/>
                                          </p:val>
                                        </p:tav>
                                        <p:tav tm="100000">
                                          <p:val>
                                            <p:strVal val="#ppt_y"/>
                                          </p:val>
                                        </p:tav>
                                      </p:tavLst>
                                    </p:anim>
                                  </p:childTnLst>
                                </p:cTn>
                              </p:par>
                            </p:childTnLst>
                          </p:cTn>
                        </p:par>
                        <p:par>
                          <p:cTn id="80" fill="hold">
                            <p:stCondLst>
                              <p:cond delay="500"/>
                            </p:stCondLst>
                            <p:childTnLst>
                              <p:par>
                                <p:cTn id="81" presetID="9" presetClass="entr" presetSubtype="0" fill="hold" grpId="0" nodeType="afterEffect">
                                  <p:stCondLst>
                                    <p:cond delay="0"/>
                                  </p:stCondLst>
                                  <p:childTnLst>
                                    <p:set>
                                      <p:cBhvr>
                                        <p:cTn id="82" dur="1" fill="hold">
                                          <p:stCondLst>
                                            <p:cond delay="0"/>
                                          </p:stCondLst>
                                        </p:cTn>
                                        <p:tgtEl>
                                          <p:spTgt spid="742440"/>
                                        </p:tgtEl>
                                        <p:attrNameLst>
                                          <p:attrName>style.visibility</p:attrName>
                                        </p:attrNameLst>
                                      </p:cBhvr>
                                      <p:to>
                                        <p:strVal val="visible"/>
                                      </p:to>
                                    </p:set>
                                    <p:animEffect transition="in" filter="dissolve">
                                      <p:cBhvr>
                                        <p:cTn id="83" dur="500"/>
                                        <p:tgtEl>
                                          <p:spTgt spid="742440"/>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1" fill="hold" nodeType="clickEffect">
                                  <p:stCondLst>
                                    <p:cond delay="0"/>
                                  </p:stCondLst>
                                  <p:childTnLst>
                                    <p:set>
                                      <p:cBhvr>
                                        <p:cTn id="87" dur="1" fill="hold">
                                          <p:stCondLst>
                                            <p:cond delay="0"/>
                                          </p:stCondLst>
                                        </p:cTn>
                                        <p:tgtEl>
                                          <p:spTgt spid="742437"/>
                                        </p:tgtEl>
                                        <p:attrNameLst>
                                          <p:attrName>style.visibility</p:attrName>
                                        </p:attrNameLst>
                                      </p:cBhvr>
                                      <p:to>
                                        <p:strVal val="visible"/>
                                      </p:to>
                                    </p:set>
                                    <p:animEffect transition="in" filter="wipe(up)">
                                      <p:cBhvr>
                                        <p:cTn id="88" dur="500"/>
                                        <p:tgtEl>
                                          <p:spTgt spid="742437"/>
                                        </p:tgtEl>
                                      </p:cBhvr>
                                    </p:animEffect>
                                  </p:childTnLst>
                                </p:cTn>
                              </p:par>
                            </p:childTnLst>
                          </p:cTn>
                        </p:par>
                      </p:childTnLst>
                    </p:cTn>
                  </p:par>
                  <p:par>
                    <p:cTn id="89" fill="hold">
                      <p:stCondLst>
                        <p:cond delay="indefinite"/>
                      </p:stCondLst>
                      <p:childTnLst>
                        <p:par>
                          <p:cTn id="90" fill="hold">
                            <p:stCondLst>
                              <p:cond delay="0"/>
                            </p:stCondLst>
                            <p:childTnLst>
                              <p:par>
                                <p:cTn id="91" presetID="9" presetClass="entr" presetSubtype="0" fill="hold" grpId="0" nodeType="clickEffect">
                                  <p:stCondLst>
                                    <p:cond delay="0"/>
                                  </p:stCondLst>
                                  <p:childTnLst>
                                    <p:set>
                                      <p:cBhvr>
                                        <p:cTn id="92" dur="1" fill="hold">
                                          <p:stCondLst>
                                            <p:cond delay="0"/>
                                          </p:stCondLst>
                                        </p:cTn>
                                        <p:tgtEl>
                                          <p:spTgt spid="742441"/>
                                        </p:tgtEl>
                                        <p:attrNameLst>
                                          <p:attrName>style.visibility</p:attrName>
                                        </p:attrNameLst>
                                      </p:cBhvr>
                                      <p:to>
                                        <p:strVal val="visible"/>
                                      </p:to>
                                    </p:set>
                                    <p:animEffect transition="in" filter="dissolve">
                                      <p:cBhvr>
                                        <p:cTn id="93" dur="500"/>
                                        <p:tgtEl>
                                          <p:spTgt spid="742441"/>
                                        </p:tgtEl>
                                      </p:cBhvr>
                                    </p:animEffect>
                                  </p:childTnLst>
                                </p:cTn>
                              </p:par>
                            </p:childTnLst>
                          </p:cTn>
                        </p:par>
                        <p:par>
                          <p:cTn id="94" fill="hold">
                            <p:stCondLst>
                              <p:cond delay="500"/>
                            </p:stCondLst>
                            <p:childTnLst>
                              <p:par>
                                <p:cTn id="95" presetID="9" presetClass="entr" presetSubtype="0" fill="hold" nodeType="afterEffect">
                                  <p:stCondLst>
                                    <p:cond delay="0"/>
                                  </p:stCondLst>
                                  <p:childTnLst>
                                    <p:set>
                                      <p:cBhvr>
                                        <p:cTn id="96" dur="1" fill="hold">
                                          <p:stCondLst>
                                            <p:cond delay="0"/>
                                          </p:stCondLst>
                                        </p:cTn>
                                        <p:tgtEl>
                                          <p:spTgt spid="742438"/>
                                        </p:tgtEl>
                                        <p:attrNameLst>
                                          <p:attrName>style.visibility</p:attrName>
                                        </p:attrNameLst>
                                      </p:cBhvr>
                                      <p:to>
                                        <p:strVal val="visible"/>
                                      </p:to>
                                    </p:set>
                                    <p:animEffect transition="in" filter="dissolve">
                                      <p:cBhvr>
                                        <p:cTn id="97" dur="500"/>
                                        <p:tgtEl>
                                          <p:spTgt spid="742438"/>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742426"/>
                                        </p:tgtEl>
                                        <p:attrNameLst>
                                          <p:attrName>style.visibility</p:attrName>
                                        </p:attrNameLst>
                                      </p:cBhvr>
                                      <p:to>
                                        <p:strVal val="visible"/>
                                      </p:to>
                                    </p:set>
                                    <p:animEffect transition="in" filter="wipe(left)">
                                      <p:cBhvr>
                                        <p:cTn id="102" dur="500"/>
                                        <p:tgtEl>
                                          <p:spTgt spid="742426"/>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742427"/>
                                        </p:tgtEl>
                                        <p:attrNameLst>
                                          <p:attrName>style.visibility</p:attrName>
                                        </p:attrNameLst>
                                      </p:cBhvr>
                                      <p:to>
                                        <p:strVal val="visible"/>
                                      </p:to>
                                    </p:set>
                                    <p:animEffect transition="in" filter="wipe(left)">
                                      <p:cBhvr>
                                        <p:cTn id="107" dur="500"/>
                                        <p:tgtEl>
                                          <p:spTgt spid="742427"/>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742428"/>
                                        </p:tgtEl>
                                        <p:attrNameLst>
                                          <p:attrName>style.visibility</p:attrName>
                                        </p:attrNameLst>
                                      </p:cBhvr>
                                      <p:to>
                                        <p:strVal val="visible"/>
                                      </p:to>
                                    </p:set>
                                    <p:animEffect transition="in" filter="wipe(left)">
                                      <p:cBhvr>
                                        <p:cTn id="112" dur="500"/>
                                        <p:tgtEl>
                                          <p:spTgt spid="7424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2410" grpId="0" bldLvl="0" animBg="1"/>
      <p:bldP spid="742415" grpId="0" autoUpdateAnimBg="0"/>
      <p:bldP spid="742418" grpId="0" bldLvl="0" animBg="1"/>
      <p:bldP spid="742423" grpId="0" autoUpdateAnimBg="0" build="p"/>
      <p:bldP spid="742425" grpId="0" autoUpdateAnimBg="0"/>
      <p:bldP spid="742426" grpId="0" autoUpdateAnimBg="0"/>
      <p:bldP spid="742427" grpId="0" autoUpdateAnimBg="0"/>
      <p:bldP spid="742428" grpId="0" autoUpdateAnimBg="0"/>
      <p:bldP spid="742436" grpId="0" autoUpdateAnimBg="0"/>
      <p:bldP spid="742440" grpId="0" autoUpdateAnimBg="0"/>
      <p:bldP spid="742441" grpId="0" autoUpdateAnimBg="0"/>
      <p:bldP spid="742444" grpId="0" autoUpdateAnimBg="0"/>
      <p:bldP spid="742445"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1" name="Text Box 31"/>
          <p:cNvSpPr txBox="1">
            <a:spLocks noChangeArrowheads="1"/>
          </p:cNvSpPr>
          <p:nvPr/>
        </p:nvSpPr>
        <p:spPr bwMode="auto">
          <a:xfrm>
            <a:off x="685800" y="838200"/>
            <a:ext cx="1223963"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3200" b="1">
                <a:solidFill>
                  <a:srgbClr val="990033"/>
                </a:solidFill>
                <a:ea typeface="隶书" panose="02010509060101010101" pitchFamily="49" charset="-122"/>
              </a:rPr>
              <a:t>讨论：</a:t>
            </a:r>
            <a:endParaRPr lang="zh-CN" altLang="en-US" sz="3200" b="1">
              <a:solidFill>
                <a:srgbClr val="990033"/>
              </a:solidFill>
              <a:ea typeface="隶书" panose="02010509060101010101" pitchFamily="49" charset="-122"/>
            </a:endParaRPr>
          </a:p>
        </p:txBody>
      </p:sp>
      <p:grpSp>
        <p:nvGrpSpPr>
          <p:cNvPr id="22532" name="Group 53"/>
          <p:cNvGrpSpPr/>
          <p:nvPr/>
        </p:nvGrpSpPr>
        <p:grpSpPr bwMode="auto">
          <a:xfrm>
            <a:off x="5257800" y="838200"/>
            <a:ext cx="2971800" cy="1828800"/>
            <a:chOff x="3504" y="768"/>
            <a:chExt cx="1872" cy="1152"/>
          </a:xfrm>
        </p:grpSpPr>
        <p:sp>
          <p:nvSpPr>
            <p:cNvPr id="22540" name="Line 2"/>
            <p:cNvSpPr>
              <a:spLocks noChangeShapeType="1"/>
            </p:cNvSpPr>
            <p:nvPr/>
          </p:nvSpPr>
          <p:spPr bwMode="auto">
            <a:xfrm flipH="1">
              <a:off x="3504" y="768"/>
              <a:ext cx="1824" cy="1104"/>
            </a:xfrm>
            <a:prstGeom prst="line">
              <a:avLst/>
            </a:prstGeom>
            <a:noFill/>
            <a:ln w="47625">
              <a:solidFill>
                <a:srgbClr val="99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1" name="Arc 3"/>
            <p:cNvSpPr/>
            <p:nvPr/>
          </p:nvSpPr>
          <p:spPr bwMode="auto">
            <a:xfrm>
              <a:off x="3696" y="1776"/>
              <a:ext cx="96" cy="10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542" name="Text Box 4"/>
            <p:cNvSpPr txBox="1">
              <a:spLocks noChangeArrowheads="1"/>
            </p:cNvSpPr>
            <p:nvPr/>
          </p:nvSpPr>
          <p:spPr bwMode="auto">
            <a:xfrm>
              <a:off x="4560" y="134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dirty="0" smtClean="0">
                  <a:solidFill>
                    <a:srgbClr val="0000FF"/>
                  </a:solidFill>
                  <a:latin typeface="Times New Roman" panose="02020603050405020304" pitchFamily="18" charset="0"/>
                </a:rPr>
                <a:t>G</a:t>
              </a:r>
              <a:r>
                <a:rPr kumimoji="1" lang="en-US" altLang="zh-CN" sz="2400" b="1" baseline="30000" dirty="0" smtClean="0">
                  <a:solidFill>
                    <a:srgbClr val="0000FF"/>
                  </a:solidFill>
                  <a:latin typeface="Times New Roman" panose="02020603050405020304" pitchFamily="18" charset="0"/>
                </a:rPr>
                <a:t>’</a:t>
              </a:r>
              <a:endParaRPr kumimoji="1" lang="en-US" altLang="zh-CN" sz="2400" b="1" dirty="0">
                <a:solidFill>
                  <a:srgbClr val="0000FF"/>
                </a:solidFill>
                <a:latin typeface="Times New Roman" panose="02020603050405020304" pitchFamily="18" charset="0"/>
              </a:endParaRPr>
            </a:p>
          </p:txBody>
        </p:sp>
        <p:sp>
          <p:nvSpPr>
            <p:cNvPr id="22543" name="Text Box 5"/>
            <p:cNvSpPr txBox="1">
              <a:spLocks noChangeArrowheads="1"/>
            </p:cNvSpPr>
            <p:nvPr/>
          </p:nvSpPr>
          <p:spPr bwMode="auto">
            <a:xfrm>
              <a:off x="4992" y="1536"/>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0000FF"/>
                  </a:solidFill>
                  <a:latin typeface="Times New Roman" panose="02020603050405020304" pitchFamily="18" charset="0"/>
                </a:rPr>
                <a:t>T</a:t>
              </a:r>
              <a:r>
                <a:rPr kumimoji="1" lang="en-US" altLang="zh-CN" sz="2400" b="1" baseline="30000">
                  <a:solidFill>
                    <a:srgbClr val="0000FF"/>
                  </a:solidFill>
                  <a:latin typeface="Times New Roman" panose="02020603050405020304" pitchFamily="18" charset="0"/>
                </a:rPr>
                <a:t>’</a:t>
              </a:r>
              <a:endParaRPr kumimoji="1" lang="en-US" altLang="zh-CN" sz="2400" b="1">
                <a:solidFill>
                  <a:srgbClr val="0000FF"/>
                </a:solidFill>
                <a:latin typeface="Times New Roman" panose="02020603050405020304" pitchFamily="18" charset="0"/>
              </a:endParaRPr>
            </a:p>
          </p:txBody>
        </p:sp>
        <p:sp>
          <p:nvSpPr>
            <p:cNvPr id="22544" name="Text Box 6"/>
            <p:cNvSpPr txBox="1">
              <a:spLocks noChangeArrowheads="1"/>
            </p:cNvSpPr>
            <p:nvPr/>
          </p:nvSpPr>
          <p:spPr bwMode="auto">
            <a:xfrm>
              <a:off x="5040" y="1200"/>
              <a:ext cx="24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0000FF"/>
                  </a:solidFill>
                  <a:latin typeface="Times New Roman" panose="02020603050405020304" pitchFamily="18" charset="0"/>
                </a:rPr>
                <a:t>N</a:t>
              </a:r>
              <a:endParaRPr kumimoji="1" lang="en-US" altLang="zh-CN" sz="2400" b="1">
                <a:solidFill>
                  <a:srgbClr val="0000FF"/>
                </a:solidFill>
                <a:latin typeface="Times New Roman" panose="02020603050405020304" pitchFamily="18" charset="0"/>
              </a:endParaRPr>
            </a:p>
          </p:txBody>
        </p:sp>
        <p:sp>
          <p:nvSpPr>
            <p:cNvPr id="22545" name="Text Box 7"/>
            <p:cNvSpPr txBox="1">
              <a:spLocks noChangeArrowheads="1"/>
            </p:cNvSpPr>
            <p:nvPr/>
          </p:nvSpPr>
          <p:spPr bwMode="auto">
            <a:xfrm>
              <a:off x="3744" y="1632"/>
              <a:ext cx="24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dirty="0" smtClean="0">
                  <a:solidFill>
                    <a:srgbClr val="0000FF"/>
                  </a:solidFill>
                  <a:latin typeface="Symbol" panose="05050102010706020507" pitchFamily="18" charset="2"/>
                  <a:sym typeface="Symbol" panose="05050102010706020507" pitchFamily="18" charset="2"/>
                </a:rPr>
                <a:t></a:t>
              </a:r>
              <a:endParaRPr kumimoji="1" lang="en-US" altLang="zh-CN" sz="2400" b="1" dirty="0">
                <a:solidFill>
                  <a:srgbClr val="0000FF"/>
                </a:solidFill>
                <a:latin typeface="Times New Roman" panose="02020603050405020304" pitchFamily="18" charset="0"/>
              </a:endParaRPr>
            </a:p>
          </p:txBody>
        </p:sp>
        <p:sp>
          <p:nvSpPr>
            <p:cNvPr id="22546" name="AutoShape 8"/>
            <p:cNvSpPr>
              <a:spLocks noChangeArrowheads="1"/>
            </p:cNvSpPr>
            <p:nvPr/>
          </p:nvSpPr>
          <p:spPr bwMode="auto">
            <a:xfrm rot="5400000" flipV="1">
              <a:off x="4680" y="1080"/>
              <a:ext cx="336" cy="192"/>
            </a:xfrm>
            <a:prstGeom prst="parallelogram">
              <a:avLst>
                <a:gd name="adj" fmla="val 43750"/>
              </a:avLst>
            </a:prstGeom>
            <a:solidFill>
              <a:schemeClr val="accent2">
                <a:alpha val="50195"/>
              </a:schemeClr>
            </a:solidFill>
            <a:ln w="9525">
              <a:solidFill>
                <a:schemeClr val="folHlink"/>
              </a:solidFill>
              <a:miter lim="800000"/>
            </a:ln>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22547" name="Line 9"/>
            <p:cNvSpPr>
              <a:spLocks noChangeShapeType="1"/>
            </p:cNvSpPr>
            <p:nvPr/>
          </p:nvSpPr>
          <p:spPr bwMode="auto">
            <a:xfrm>
              <a:off x="3504" y="1872"/>
              <a:ext cx="1872" cy="0"/>
            </a:xfrm>
            <a:prstGeom prst="line">
              <a:avLst/>
            </a:prstGeom>
            <a:noFill/>
            <a:ln w="47625">
              <a:solidFill>
                <a:srgbClr val="99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48" name="Line 10"/>
            <p:cNvSpPr>
              <a:spLocks noChangeShapeType="1"/>
            </p:cNvSpPr>
            <p:nvPr/>
          </p:nvSpPr>
          <p:spPr bwMode="auto">
            <a:xfrm flipH="1">
              <a:off x="4848" y="1152"/>
              <a:ext cx="7" cy="525"/>
            </a:xfrm>
            <a:prstGeom prst="line">
              <a:avLst/>
            </a:prstGeom>
            <a:noFill/>
            <a:ln w="34925">
              <a:solidFill>
                <a:schemeClr val="tx1"/>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9" name="Line 11"/>
            <p:cNvSpPr>
              <a:spLocks noChangeShapeType="1"/>
            </p:cNvSpPr>
            <p:nvPr/>
          </p:nvSpPr>
          <p:spPr bwMode="auto">
            <a:xfrm>
              <a:off x="4855" y="1152"/>
              <a:ext cx="233" cy="432"/>
            </a:xfrm>
            <a:prstGeom prst="line">
              <a:avLst/>
            </a:prstGeom>
            <a:noFill/>
            <a:ln w="34925">
              <a:solidFill>
                <a:schemeClr val="tx1"/>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0" name="Line 12"/>
            <p:cNvSpPr>
              <a:spLocks noChangeShapeType="1"/>
            </p:cNvSpPr>
            <p:nvPr/>
          </p:nvSpPr>
          <p:spPr bwMode="auto">
            <a:xfrm flipH="1">
              <a:off x="4800" y="1584"/>
              <a:ext cx="288" cy="144"/>
            </a:xfrm>
            <a:prstGeom prst="line">
              <a:avLst/>
            </a:prstGeom>
            <a:noFill/>
            <a:ln w="34925">
              <a:solidFill>
                <a:schemeClr val="tx1"/>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1" name="Text Box 13"/>
            <p:cNvSpPr txBox="1">
              <a:spLocks noChangeArrowheads="1"/>
            </p:cNvSpPr>
            <p:nvPr/>
          </p:nvSpPr>
          <p:spPr bwMode="auto">
            <a:xfrm>
              <a:off x="4608" y="768"/>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0000FF"/>
                  </a:solidFill>
                  <a:latin typeface="Times New Roman" panose="02020603050405020304" pitchFamily="18" charset="0"/>
                </a:rPr>
                <a:t>A</a:t>
              </a:r>
              <a:endParaRPr kumimoji="1" lang="en-US" altLang="zh-CN" sz="2400" b="1">
                <a:solidFill>
                  <a:srgbClr val="0000FF"/>
                </a:solidFill>
                <a:latin typeface="Times New Roman" panose="02020603050405020304" pitchFamily="18" charset="0"/>
              </a:endParaRPr>
            </a:p>
          </p:txBody>
        </p:sp>
        <p:sp>
          <p:nvSpPr>
            <p:cNvPr id="22552" name="Line 32"/>
            <p:cNvSpPr>
              <a:spLocks noChangeShapeType="1"/>
            </p:cNvSpPr>
            <p:nvPr/>
          </p:nvSpPr>
          <p:spPr bwMode="auto">
            <a:xfrm>
              <a:off x="4272" y="1440"/>
              <a:ext cx="0" cy="240"/>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3" name="Line 33"/>
            <p:cNvSpPr>
              <a:spLocks noChangeShapeType="1"/>
            </p:cNvSpPr>
            <p:nvPr/>
          </p:nvSpPr>
          <p:spPr bwMode="auto">
            <a:xfrm flipH="1">
              <a:off x="3840" y="1680"/>
              <a:ext cx="432" cy="0"/>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4" name="Line 34"/>
            <p:cNvSpPr>
              <a:spLocks noChangeShapeType="1"/>
            </p:cNvSpPr>
            <p:nvPr/>
          </p:nvSpPr>
          <p:spPr bwMode="auto">
            <a:xfrm flipH="1">
              <a:off x="3840" y="1424"/>
              <a:ext cx="432" cy="265"/>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5" name="Text Box 35"/>
            <p:cNvSpPr txBox="1">
              <a:spLocks noChangeArrowheads="1"/>
            </p:cNvSpPr>
            <p:nvPr/>
          </p:nvSpPr>
          <p:spPr bwMode="auto">
            <a:xfrm>
              <a:off x="3840" y="129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FF6600"/>
                  </a:solidFill>
                  <a:latin typeface="Times New Roman" panose="02020603050405020304" pitchFamily="18" charset="0"/>
                  <a:sym typeface="Symbol" panose="05050102010706020507" pitchFamily="18" charset="2"/>
                </a:rPr>
                <a:t></a:t>
              </a:r>
              <a:r>
                <a:rPr kumimoji="1" lang="en-US" altLang="zh-CN" sz="2400" b="1" i="1">
                  <a:solidFill>
                    <a:srgbClr val="FF6600"/>
                  </a:solidFill>
                  <a:latin typeface="Times New Roman" panose="02020603050405020304" pitchFamily="18" charset="0"/>
                  <a:sym typeface="Symbol" panose="05050102010706020507" pitchFamily="18" charset="2"/>
                </a:rPr>
                <a:t>l</a:t>
              </a:r>
              <a:endParaRPr kumimoji="1" lang="en-US" altLang="zh-CN" sz="2400" b="1" i="1">
                <a:solidFill>
                  <a:srgbClr val="FF6600"/>
                </a:solidFill>
                <a:latin typeface="Times New Roman" panose="02020603050405020304" pitchFamily="18" charset="0"/>
              </a:endParaRPr>
            </a:p>
          </p:txBody>
        </p:sp>
        <p:sp>
          <p:nvSpPr>
            <p:cNvPr id="22556" name="Text Box 36"/>
            <p:cNvSpPr txBox="1">
              <a:spLocks noChangeArrowheads="1"/>
            </p:cNvSpPr>
            <p:nvPr/>
          </p:nvSpPr>
          <p:spPr bwMode="auto">
            <a:xfrm>
              <a:off x="4128" y="1392"/>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FF6600"/>
                  </a:solidFill>
                  <a:latin typeface="Times New Roman" panose="02020603050405020304" pitchFamily="18" charset="0"/>
                  <a:sym typeface="Symbol" panose="05050102010706020507" pitchFamily="18" charset="2"/>
                </a:rPr>
                <a:t></a:t>
              </a:r>
              <a:r>
                <a:rPr kumimoji="1" lang="en-US" altLang="zh-CN" sz="2400" b="1" i="1">
                  <a:solidFill>
                    <a:srgbClr val="FF6600"/>
                  </a:solidFill>
                  <a:latin typeface="Times New Roman" panose="02020603050405020304" pitchFamily="18" charset="0"/>
                  <a:sym typeface="Symbol" panose="05050102010706020507" pitchFamily="18" charset="2"/>
                </a:rPr>
                <a:t>h</a:t>
              </a:r>
              <a:endParaRPr kumimoji="1" lang="en-US" altLang="zh-CN" sz="2400" b="1" i="1">
                <a:solidFill>
                  <a:srgbClr val="FF6600"/>
                </a:solidFill>
                <a:latin typeface="Times New Roman" panose="02020603050405020304" pitchFamily="18" charset="0"/>
              </a:endParaRPr>
            </a:p>
          </p:txBody>
        </p:sp>
        <p:sp>
          <p:nvSpPr>
            <p:cNvPr id="22557" name="Line 38"/>
            <p:cNvSpPr>
              <a:spLocks noChangeShapeType="1"/>
            </p:cNvSpPr>
            <p:nvPr/>
          </p:nvSpPr>
          <p:spPr bwMode="auto">
            <a:xfrm flipH="1">
              <a:off x="4560" y="1152"/>
              <a:ext cx="288" cy="192"/>
            </a:xfrm>
            <a:prstGeom prst="line">
              <a:avLst/>
            </a:prstGeom>
            <a:noFill/>
            <a:ln w="34925">
              <a:solidFill>
                <a:srgbClr val="80008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8" name="Text Box 40"/>
            <p:cNvSpPr txBox="1">
              <a:spLocks noChangeArrowheads="1"/>
            </p:cNvSpPr>
            <p:nvPr/>
          </p:nvSpPr>
          <p:spPr bwMode="auto">
            <a:xfrm>
              <a:off x="4371" y="1228"/>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800080"/>
                  </a:solidFill>
                  <a:latin typeface="Times New Roman" panose="02020603050405020304" pitchFamily="18" charset="0"/>
                </a:rPr>
                <a:t>J</a:t>
              </a:r>
              <a:endParaRPr kumimoji="1" lang="en-US" altLang="zh-CN" sz="2400" b="1">
                <a:solidFill>
                  <a:srgbClr val="800080"/>
                </a:solidFill>
                <a:latin typeface="Times New Roman" panose="02020603050405020304" pitchFamily="18" charset="0"/>
              </a:endParaRPr>
            </a:p>
          </p:txBody>
        </p:sp>
      </p:grpSp>
      <p:sp>
        <p:nvSpPr>
          <p:cNvPr id="749615" name="Rectangle 47"/>
          <p:cNvSpPr>
            <a:spLocks noGrp="1" noChangeArrowheads="1"/>
          </p:cNvSpPr>
          <p:nvPr>
            <p:ph type="body" sz="half" idx="1"/>
          </p:nvPr>
        </p:nvSpPr>
        <p:spPr bwMode="auto">
          <a:xfrm>
            <a:off x="1447800" y="3886200"/>
            <a:ext cx="5486400" cy="381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algn="just" eaLnBrk="1" hangingPunct="1">
              <a:lnSpc>
                <a:spcPct val="90000"/>
              </a:lnSpc>
              <a:buFontTx/>
              <a:buNone/>
            </a:pPr>
            <a:r>
              <a:rPr lang="zh-CN" altLang="en-US" sz="2000" b="1" smtClean="0">
                <a:solidFill>
                  <a:schemeClr val="folHlink"/>
                </a:solidFill>
              </a:rPr>
              <a:t>意味着原来稳定的坡，有沿坡渗流时可能破坏</a:t>
            </a:r>
            <a:endParaRPr lang="zh-CN" altLang="en-US" sz="2000" b="1" smtClean="0">
              <a:solidFill>
                <a:schemeClr val="folHlink"/>
              </a:solidFill>
            </a:endParaRPr>
          </a:p>
        </p:txBody>
      </p:sp>
      <p:sp>
        <p:nvSpPr>
          <p:cNvPr id="749617" name="Rectangle 49"/>
          <p:cNvSpPr>
            <a:spLocks noChangeArrowheads="1"/>
          </p:cNvSpPr>
          <p:nvPr/>
        </p:nvSpPr>
        <p:spPr bwMode="auto">
          <a:xfrm>
            <a:off x="457200" y="5334000"/>
            <a:ext cx="850106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buFontTx/>
              <a:buChar char="•"/>
            </a:pPr>
            <a:r>
              <a:rPr kumimoji="1" lang="en-US" altLang="zh-CN" sz="2400" b="1">
                <a:solidFill>
                  <a:srgbClr val="0000FF"/>
                </a:solidFill>
                <a:latin typeface="Times New Roman" panose="02020603050405020304" pitchFamily="18" charset="0"/>
              </a:rPr>
              <a:t> </a:t>
            </a:r>
            <a:r>
              <a:rPr kumimoji="1" lang="zh-CN" altLang="en-US" sz="2600" b="1">
                <a:solidFill>
                  <a:srgbClr val="0000FF"/>
                </a:solidFill>
                <a:latin typeface="Times New Roman" panose="02020603050405020304" pitchFamily="18" charset="0"/>
                <a:ea typeface="华文新魏" panose="02010800040101010101" pitchFamily="2" charset="-122"/>
              </a:rPr>
              <a:t>与所选</a:t>
            </a:r>
            <a:r>
              <a:rPr kumimoji="1" lang="zh-CN" altLang="en-US" sz="2600" b="1">
                <a:solidFill>
                  <a:srgbClr val="0000FF"/>
                </a:solidFill>
                <a:latin typeface="Times New Roman" panose="02020603050405020304" pitchFamily="18" charset="0"/>
                <a:ea typeface="华文新魏" panose="02010800040101010101" pitchFamily="2" charset="-122"/>
                <a:sym typeface="Symbol" panose="05050102010706020507" pitchFamily="18" charset="2"/>
              </a:rPr>
              <a:t></a:t>
            </a:r>
            <a:r>
              <a:rPr kumimoji="1" lang="en-US" altLang="zh-CN" sz="2600" b="1" i="1">
                <a:solidFill>
                  <a:srgbClr val="0000FF"/>
                </a:solidFill>
                <a:latin typeface="Times New Roman" panose="02020603050405020304" pitchFamily="18" charset="0"/>
                <a:ea typeface="华文新魏" panose="02010800040101010101" pitchFamily="2" charset="-122"/>
              </a:rPr>
              <a:t>V</a:t>
            </a:r>
            <a:r>
              <a:rPr kumimoji="1" lang="zh-CN" altLang="en-US" sz="2600" b="1">
                <a:solidFill>
                  <a:srgbClr val="0000FF"/>
                </a:solidFill>
                <a:latin typeface="Times New Roman" panose="02020603050405020304" pitchFamily="18" charset="0"/>
                <a:ea typeface="华文新魏" panose="02010800040101010101" pitchFamily="2" charset="-122"/>
              </a:rPr>
              <a:t>大小无关，亦即在这种坡中各点安全系数相同</a:t>
            </a:r>
            <a:endParaRPr kumimoji="1" lang="zh-CN" altLang="en-US" sz="2600" b="1">
              <a:solidFill>
                <a:srgbClr val="0000FF"/>
              </a:solidFill>
              <a:latin typeface="Times New Roman" panose="02020603050405020304" pitchFamily="18" charset="0"/>
              <a:ea typeface="华文新魏" panose="02010800040101010101" pitchFamily="2" charset="-122"/>
            </a:endParaRPr>
          </a:p>
        </p:txBody>
      </p:sp>
      <p:sp>
        <p:nvSpPr>
          <p:cNvPr id="749618" name="Rectangle 50"/>
          <p:cNvSpPr>
            <a:spLocks noChangeArrowheads="1"/>
          </p:cNvSpPr>
          <p:nvPr/>
        </p:nvSpPr>
        <p:spPr bwMode="auto">
          <a:xfrm>
            <a:off x="447369" y="4493747"/>
            <a:ext cx="21643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buFontTx/>
              <a:buChar char="•"/>
            </a:pPr>
            <a:r>
              <a:rPr kumimoji="1" lang="en-US" altLang="zh-CN" sz="2400" b="1" dirty="0">
                <a:solidFill>
                  <a:srgbClr val="0000FF"/>
                </a:solidFill>
                <a:latin typeface="Times New Roman" panose="02020603050405020304" pitchFamily="18" charset="0"/>
              </a:rPr>
              <a:t> </a:t>
            </a:r>
            <a:r>
              <a:rPr kumimoji="1" lang="zh-CN" altLang="en-US" sz="2800" b="1" dirty="0" smtClean="0">
                <a:solidFill>
                  <a:srgbClr val="0000FF"/>
                </a:solidFill>
                <a:latin typeface="Times New Roman" panose="02020603050405020304" pitchFamily="18" charset="0"/>
                <a:ea typeface="华文新魏" panose="02010800040101010101" pitchFamily="2" charset="-122"/>
              </a:rPr>
              <a:t>与重度有关</a:t>
            </a:r>
            <a:endParaRPr kumimoji="1" lang="zh-CN" altLang="en-US" sz="2800" b="1" dirty="0">
              <a:solidFill>
                <a:srgbClr val="0000FF"/>
              </a:solidFill>
              <a:latin typeface="Times New Roman" panose="02020603050405020304" pitchFamily="18" charset="0"/>
              <a:ea typeface="华文新魏" panose="02010800040101010101" pitchFamily="2" charset="-122"/>
            </a:endParaRPr>
          </a:p>
        </p:txBody>
      </p:sp>
      <p:grpSp>
        <p:nvGrpSpPr>
          <p:cNvPr id="3" name="Group 52"/>
          <p:cNvGrpSpPr/>
          <p:nvPr/>
        </p:nvGrpSpPr>
        <p:grpSpPr bwMode="auto">
          <a:xfrm>
            <a:off x="533400" y="2971800"/>
            <a:ext cx="6172200" cy="876300"/>
            <a:chOff x="336" y="1824"/>
            <a:chExt cx="3888" cy="552"/>
          </a:xfrm>
        </p:grpSpPr>
        <p:graphicFrame>
          <p:nvGraphicFramePr>
            <p:cNvPr id="22538" name="Object 48"/>
            <p:cNvGraphicFramePr>
              <a:graphicFrameLocks noChangeAspect="1"/>
            </p:cNvGraphicFramePr>
            <p:nvPr/>
          </p:nvGraphicFramePr>
          <p:xfrm>
            <a:off x="576" y="1824"/>
            <a:ext cx="672" cy="552"/>
          </p:xfrm>
          <a:graphic>
            <a:graphicData uri="http://schemas.openxmlformats.org/presentationml/2006/ole">
              <mc:AlternateContent xmlns:mc="http://schemas.openxmlformats.org/markup-compatibility/2006">
                <mc:Choice xmlns:v="urn:schemas-microsoft-com:vml" Requires="v">
                  <p:oleObj spid="_x0000_s6170" name="Equation" r:id="rId1" imgW="609600" imgH="431800" progId="Equation.DSMT4">
                    <p:embed/>
                  </p:oleObj>
                </mc:Choice>
                <mc:Fallback>
                  <p:oleObj name="Equation" r:id="rId1" imgW="609600" imgH="431800" progId="Equation.DSMT4">
                    <p:embed/>
                    <p:pic>
                      <p:nvPicPr>
                        <p:cNvPr id="0" name="Object 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 y="1824"/>
                          <a:ext cx="672" cy="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539" name="Rectangle 51"/>
            <p:cNvSpPr>
              <a:spLocks noChangeArrowheads="1"/>
            </p:cNvSpPr>
            <p:nvPr/>
          </p:nvSpPr>
          <p:spPr bwMode="auto">
            <a:xfrm>
              <a:off x="336" y="1920"/>
              <a:ext cx="388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just" eaLnBrk="1" hangingPunct="1">
                <a:lnSpc>
                  <a:spcPct val="90000"/>
                </a:lnSpc>
                <a:buFontTx/>
                <a:buChar char="•"/>
              </a:pPr>
              <a:r>
                <a:rPr lang="en-US" altLang="zh-CN" sz="2400" b="1" dirty="0">
                  <a:solidFill>
                    <a:srgbClr val="0000FF"/>
                  </a:solidFill>
                </a:rPr>
                <a:t>             </a:t>
              </a:r>
              <a:r>
                <a:rPr lang="zh-CN" altLang="en-US" sz="2800" b="1" dirty="0">
                  <a:solidFill>
                    <a:srgbClr val="0000FF"/>
                  </a:solidFill>
                  <a:ea typeface="华文新魏" panose="02010800040101010101" pitchFamily="2" charset="-122"/>
                </a:rPr>
                <a:t>与无渗流</a:t>
              </a:r>
              <a:r>
                <a:rPr lang="zh-CN" altLang="en-US" sz="2800" b="1" dirty="0" smtClean="0">
                  <a:solidFill>
                    <a:srgbClr val="0000FF"/>
                  </a:solidFill>
                  <a:ea typeface="华文新魏" panose="02010800040101010101" pitchFamily="2" charset="-122"/>
                </a:rPr>
                <a:t>比较</a:t>
              </a:r>
              <a:r>
                <a:rPr lang="en-US" altLang="zh-CN" sz="2800" b="1" i="1" dirty="0" smtClean="0">
                  <a:solidFill>
                    <a:srgbClr val="0000FF"/>
                  </a:solidFill>
                  <a:ea typeface="华文新魏" panose="02010800040101010101" pitchFamily="2" charset="-122"/>
                </a:rPr>
                <a:t>K</a:t>
              </a:r>
              <a:r>
                <a:rPr lang="zh-CN" altLang="en-US" sz="2800" b="1" dirty="0" smtClean="0">
                  <a:solidFill>
                    <a:srgbClr val="0000FF"/>
                  </a:solidFill>
                  <a:ea typeface="华文新魏" panose="02010800040101010101" pitchFamily="2" charset="-122"/>
                </a:rPr>
                <a:t>减小</a:t>
              </a:r>
              <a:r>
                <a:rPr lang="zh-CN" altLang="en-US" sz="2800" b="1" dirty="0">
                  <a:solidFill>
                    <a:srgbClr val="0000FF"/>
                  </a:solidFill>
                  <a:ea typeface="华文新魏" panose="02010800040101010101" pitchFamily="2" charset="-122"/>
                </a:rPr>
                <a:t>近一倍</a:t>
              </a:r>
              <a:endParaRPr lang="zh-CN" altLang="en-US" sz="2800" b="1" dirty="0">
                <a:solidFill>
                  <a:srgbClr val="0000FF"/>
                </a:solidFill>
                <a:ea typeface="华文新魏" panose="02010800040101010101" pitchFamily="2" charset="-122"/>
              </a:endParaRPr>
            </a:p>
          </p:txBody>
        </p:sp>
      </p:grpSp>
      <mc:AlternateContent xmlns:mc="http://schemas.openxmlformats.org/markup-compatibility/2006">
        <mc:Choice xmlns:a14="http://schemas.microsoft.com/office/drawing/2010/main" Requires="a14">
          <p:sp>
            <p:nvSpPr>
              <p:cNvPr id="2" name="文本框 1"/>
              <p:cNvSpPr txBox="1"/>
              <p:nvPr/>
            </p:nvSpPr>
            <p:spPr>
              <a:xfrm>
                <a:off x="2057239" y="1428540"/>
                <a:ext cx="1876668" cy="724878"/>
              </a:xfrm>
              <a:prstGeom prst="rect">
                <a:avLst/>
              </a:prstGeom>
              <a:solidFill>
                <a:schemeClr val="tx2">
                  <a:lumMod val="20000"/>
                  <a:lumOff val="80000"/>
                </a:schemeClr>
              </a:solidFill>
            </p:spPr>
            <p:txBody>
              <a:bodyPr wrap="none" lIns="0" tIns="0" rIns="0" bIns="0" rtlCol="0">
                <a:spAutoFit/>
              </a:bodyPr>
              <a:lstStyle/>
              <a:p>
                <a:r>
                  <a:rPr lang="en-US" altLang="zh-CN" i="1" dirty="0" smtClean="0">
                    <a:latin typeface="Times New Roman" panose="02020603050405020304" pitchFamily="18" charset="0"/>
                    <a:cs typeface="Times New Roman" panose="02020603050405020304" pitchFamily="18" charset="0"/>
                  </a:rPr>
                  <a:t>K</a:t>
                </a:r>
                <a:r>
                  <a:rPr lang="en-US" altLang="zh-CN" dirty="0" smtClean="0">
                    <a:latin typeface="Times New Roman" panose="02020603050405020304" pitchFamily="18" charset="0"/>
                    <a:cs typeface="Times New Roman" panose="02020603050405020304" pitchFamily="18" charset="0"/>
                  </a:rPr>
                  <a:t>=</a:t>
                </a:r>
                <a14:m>
                  <m:oMath xmlns:m="http://schemas.openxmlformats.org/officeDocument/2006/math">
                    <m:f>
                      <m:fPr>
                        <m:ctrlPr>
                          <a:rPr lang="en-US" altLang="zh-CN" i="1" smtClean="0">
                            <a:latin typeface="Cambria Math" panose="02040503050406030204" pitchFamily="18" charset="0"/>
                          </a:rPr>
                        </m:ctrlPr>
                      </m:fPr>
                      <m:num>
                        <m:sSup>
                          <m:sSupPr>
                            <m:ctrlPr>
                              <a:rPr lang="en-US" altLang="zh-CN" i="1" smtClean="0">
                                <a:latin typeface="Cambria Math" panose="02040503050406030204" pitchFamily="18" charset="0"/>
                              </a:rPr>
                            </m:ctrlPr>
                          </m:sSupPr>
                          <m:e>
                            <m:r>
                              <a:rPr lang="zh-CN" altLang="en-US" i="1" smtClean="0">
                                <a:latin typeface="Cambria Math" panose="02040503050406030204" pitchFamily="18" charset="0"/>
                              </a:rPr>
                              <m:t>𝛾</m:t>
                            </m:r>
                          </m:e>
                          <m:sup>
                            <m:r>
                              <a:rPr lang="en-US" altLang="zh-CN" b="0" i="1" smtClean="0">
                                <a:latin typeface="Cambria Math" panose="02040503050406030204" pitchFamily="18" charset="0"/>
                              </a:rPr>
                              <m:t>′</m:t>
                            </m:r>
                          </m:sup>
                        </m:sSup>
                      </m:num>
                      <m:den>
                        <m:sSub>
                          <m:sSubPr>
                            <m:ctrlPr>
                              <a:rPr lang="en-US" altLang="zh-CN" i="1" smtClean="0">
                                <a:latin typeface="Cambria Math" panose="02040503050406030204" pitchFamily="18" charset="0"/>
                              </a:rPr>
                            </m:ctrlPr>
                          </m:sSubPr>
                          <m:e>
                            <m:r>
                              <a:rPr lang="zh-CN" altLang="en-US" i="1" smtClean="0">
                                <a:latin typeface="Cambria Math" panose="02040503050406030204" pitchFamily="18" charset="0"/>
                              </a:rPr>
                              <m:t>𝛾</m:t>
                            </m:r>
                          </m:e>
                          <m:sub>
                            <m:r>
                              <a:rPr lang="en-US" altLang="zh-CN" b="0" i="1" smtClean="0">
                                <a:latin typeface="Cambria Math" panose="02040503050406030204" pitchFamily="18" charset="0"/>
                              </a:rPr>
                              <m:t>𝑠𝑎𝑡</m:t>
                            </m:r>
                          </m:sub>
                        </m:sSub>
                      </m:den>
                    </m:f>
                    <m:r>
                      <a:rPr lang="en-US" altLang="zh-CN" i="1" smtClean="0">
                        <a:latin typeface="Cambria Math" panose="02040503050406030204" pitchFamily="18" charset="0"/>
                        <a:ea typeface="Cambria Math" panose="02040503050406030204" pitchFamily="18" charset="0"/>
                      </a:rPr>
                      <m:t>∙</m:t>
                    </m:r>
                    <m:f>
                      <m:fPr>
                        <m:ctrlPr>
                          <a:rPr lang="en-US" altLang="zh-CN" i="1" smtClean="0">
                            <a:latin typeface="Cambria Math" panose="02040503050406030204" pitchFamily="18" charset="0"/>
                            <a:ea typeface="Cambria Math" panose="02040503050406030204" pitchFamily="18" charset="0"/>
                          </a:rPr>
                        </m:ctrlPr>
                      </m:fPr>
                      <m:num>
                        <m:func>
                          <m:funcPr>
                            <m:ctrlPr>
                              <a:rPr lang="en-US" altLang="zh-CN" i="1" smtClean="0">
                                <a:latin typeface="Cambria Math" panose="02040503050406030204" pitchFamily="18" charset="0"/>
                                <a:ea typeface="Cambria Math" panose="02040503050406030204" pitchFamily="18" charset="0"/>
                              </a:rPr>
                            </m:ctrlPr>
                          </m:funcPr>
                          <m:fName>
                            <m:r>
                              <m:rPr>
                                <m:sty m:val="p"/>
                              </m:rPr>
                              <a:rPr lang="en-US" altLang="zh-CN" i="0" smtClean="0">
                                <a:latin typeface="Cambria Math" panose="02040503050406030204" pitchFamily="18" charset="0"/>
                                <a:ea typeface="Cambria Math" panose="02040503050406030204" pitchFamily="18" charset="0"/>
                              </a:rPr>
                              <m:t>tan</m:t>
                            </m:r>
                          </m:fName>
                          <m:e>
                            <m:r>
                              <a:rPr lang="zh-CN" altLang="en-US" i="1" smtClean="0">
                                <a:latin typeface="Cambria Math" panose="02040503050406030204" pitchFamily="18" charset="0"/>
                                <a:ea typeface="Cambria Math" panose="02040503050406030204" pitchFamily="18" charset="0"/>
                              </a:rPr>
                              <m:t>𝜑</m:t>
                            </m:r>
                          </m:e>
                        </m:func>
                      </m:num>
                      <m:den>
                        <m:func>
                          <m:funcPr>
                            <m:ctrlPr>
                              <a:rPr lang="en-US" altLang="zh-CN" i="1" smtClean="0">
                                <a:latin typeface="Cambria Math" panose="02040503050406030204" pitchFamily="18" charset="0"/>
                                <a:ea typeface="Cambria Math" panose="02040503050406030204" pitchFamily="18" charset="0"/>
                              </a:rPr>
                            </m:ctrlPr>
                          </m:funcPr>
                          <m:fName>
                            <m:r>
                              <m:rPr>
                                <m:sty m:val="p"/>
                              </m:rPr>
                              <a:rPr lang="en-US" altLang="zh-CN" i="0" smtClean="0">
                                <a:latin typeface="Cambria Math" panose="02040503050406030204" pitchFamily="18" charset="0"/>
                                <a:ea typeface="Cambria Math" panose="02040503050406030204" pitchFamily="18" charset="0"/>
                              </a:rPr>
                              <m:t>tan</m:t>
                            </m:r>
                          </m:fName>
                          <m:e>
                            <m:r>
                              <a:rPr lang="zh-CN" altLang="en-US" i="1" smtClean="0">
                                <a:latin typeface="Cambria Math" panose="02040503050406030204" pitchFamily="18" charset="0"/>
                                <a:ea typeface="Cambria Math" panose="02040503050406030204" pitchFamily="18" charset="0"/>
                              </a:rPr>
                              <m:t>𝛽</m:t>
                            </m:r>
                          </m:e>
                        </m:func>
                      </m:den>
                    </m:f>
                  </m:oMath>
                </a14:m>
                <a:endParaRPr lang="zh-CN" altLang="en-US" dirty="0">
                  <a:latin typeface="Times New Roman" panose="02020603050405020304" pitchFamily="18" charset="0"/>
                  <a:cs typeface="Times New Roman" panose="02020603050405020304" pitchFamily="18"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2057239" y="1428540"/>
                <a:ext cx="1876668" cy="724878"/>
              </a:xfrm>
              <a:prstGeom prst="rect">
                <a:avLst/>
              </a:prstGeom>
              <a:blipFill rotWithShape="1">
                <a:blip r:embed="rId3"/>
                <a:stretch>
                  <a:fillRect l="-25" t="-59" r="4" b="18"/>
                </a:stretch>
              </a:blipFill>
            </p:spPr>
            <p:txBody>
              <a:bodyPr/>
              <a:lstStyle/>
              <a:p>
                <a:r>
                  <a:rPr lang="zh-CN" altLang="en-US">
                    <a:noFill/>
                  </a:rPr>
                  <a:t> </a:t>
                </a:r>
              </a:p>
            </p:txBody>
          </p:sp>
        </mc:Fallback>
      </mc:AlternateContent>
      <p:sp>
        <p:nvSpPr>
          <p:cNvPr id="32" name="Rectangle 6"/>
          <p:cNvSpPr>
            <a:spLocks noChangeArrowheads="1"/>
          </p:cNvSpPr>
          <p:nvPr/>
        </p:nvSpPr>
        <p:spPr bwMode="auto">
          <a:xfrm>
            <a:off x="0" y="-7396"/>
            <a:ext cx="45720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§6.2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无黏性土坡的稳定性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749615">
                                            <p:txEl>
                                              <p:pRg st="0" end="0"/>
                                            </p:txEl>
                                          </p:spTgt>
                                        </p:tgtEl>
                                        <p:attrNameLst>
                                          <p:attrName>style.visibility</p:attrName>
                                        </p:attrNameLst>
                                      </p:cBhvr>
                                      <p:to>
                                        <p:strVal val="visible"/>
                                      </p:to>
                                    </p:set>
                                    <p:animEffect transition="in" filter="slide(fromBottom)">
                                      <p:cBhvr>
                                        <p:cTn id="12" dur="500"/>
                                        <p:tgtEl>
                                          <p:spTgt spid="74961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49618"/>
                                        </p:tgtEl>
                                        <p:attrNameLst>
                                          <p:attrName>style.visibility</p:attrName>
                                        </p:attrNameLst>
                                      </p:cBhvr>
                                      <p:to>
                                        <p:strVal val="visible"/>
                                      </p:to>
                                    </p:set>
                                    <p:animEffect transition="in" filter="wipe(left)">
                                      <p:cBhvr>
                                        <p:cTn id="17" dur="500"/>
                                        <p:tgtEl>
                                          <p:spTgt spid="7496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49617"/>
                                        </p:tgtEl>
                                        <p:attrNameLst>
                                          <p:attrName>style.visibility</p:attrName>
                                        </p:attrNameLst>
                                      </p:cBhvr>
                                      <p:to>
                                        <p:strVal val="visible"/>
                                      </p:to>
                                    </p:set>
                                    <p:animEffect transition="in" filter="wipe(left)">
                                      <p:cBhvr>
                                        <p:cTn id="22" dur="500"/>
                                        <p:tgtEl>
                                          <p:spTgt spid="7496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9615" grpId="0" autoUpdateAnimBg="0" build="p"/>
      <p:bldP spid="749617" grpId="0" autoUpdateAnimBg="0"/>
      <p:bldP spid="749618"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5" name="Text Box 3"/>
          <p:cNvSpPr txBox="1">
            <a:spLocks noChangeArrowheads="1"/>
          </p:cNvSpPr>
          <p:nvPr/>
        </p:nvSpPr>
        <p:spPr bwMode="auto">
          <a:xfrm>
            <a:off x="457200" y="1143000"/>
            <a:ext cx="1223963"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3200" b="1">
                <a:solidFill>
                  <a:srgbClr val="990033"/>
                </a:solidFill>
                <a:ea typeface="隶书" panose="02010509060101010101" pitchFamily="49" charset="-122"/>
              </a:rPr>
              <a:t>其它：</a:t>
            </a:r>
            <a:endParaRPr lang="zh-CN" altLang="en-US" sz="3200" b="1">
              <a:solidFill>
                <a:srgbClr val="990033"/>
              </a:solidFill>
              <a:ea typeface="隶书" panose="02010509060101010101" pitchFamily="49" charset="-122"/>
            </a:endParaRPr>
          </a:p>
        </p:txBody>
      </p:sp>
      <p:sp>
        <p:nvSpPr>
          <p:cNvPr id="750646" name="Rectangle 54"/>
          <p:cNvSpPr>
            <a:spLocks noGrp="1" noChangeArrowheads="1"/>
          </p:cNvSpPr>
          <p:nvPr>
            <p:ph type="body" sz="half" idx="1"/>
          </p:nvPr>
        </p:nvSpPr>
        <p:spPr bwMode="auto">
          <a:xfrm>
            <a:off x="609600" y="2133600"/>
            <a:ext cx="3429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indent="0" algn="just" eaLnBrk="1" hangingPunct="1">
              <a:buFontTx/>
              <a:buNone/>
            </a:pPr>
            <a:r>
              <a:rPr lang="en-US" altLang="zh-CN" sz="2400" b="1" smtClean="0">
                <a:solidFill>
                  <a:srgbClr val="0000FF"/>
                </a:solidFill>
              </a:rPr>
              <a:t>(1) </a:t>
            </a:r>
            <a:r>
              <a:rPr lang="zh-CN" altLang="en-US" sz="2400" b="1" smtClean="0">
                <a:solidFill>
                  <a:srgbClr val="0000FF"/>
                </a:solidFill>
              </a:rPr>
              <a:t>与坡面成一定角度</a:t>
            </a:r>
            <a:endParaRPr lang="zh-CN" altLang="en-US" sz="2400" b="1" smtClean="0">
              <a:solidFill>
                <a:srgbClr val="0000FF"/>
              </a:solidFill>
            </a:endParaRPr>
          </a:p>
        </p:txBody>
      </p:sp>
      <p:sp>
        <p:nvSpPr>
          <p:cNvPr id="750647" name="Text Box 55"/>
          <p:cNvSpPr txBox="1">
            <a:spLocks noChangeArrowheads="1"/>
          </p:cNvSpPr>
          <p:nvPr/>
        </p:nvSpPr>
        <p:spPr bwMode="auto">
          <a:xfrm>
            <a:off x="609600" y="2971800"/>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dirty="0">
                <a:solidFill>
                  <a:srgbClr val="0000FF"/>
                </a:solidFill>
                <a:latin typeface="Times New Roman" panose="02020603050405020304" pitchFamily="18" charset="0"/>
              </a:rPr>
              <a:t>(2) </a:t>
            </a:r>
            <a:r>
              <a:rPr kumimoji="1" lang="zh-CN" altLang="en-US" sz="2400" b="1" dirty="0">
                <a:solidFill>
                  <a:srgbClr val="0000FF"/>
                </a:solidFill>
                <a:latin typeface="Times New Roman" panose="02020603050405020304" pitchFamily="18" charset="0"/>
              </a:rPr>
              <a:t>垂直向内渗流</a:t>
            </a:r>
            <a:endParaRPr kumimoji="1" lang="zh-CN" altLang="en-US" sz="2400" b="1" dirty="0">
              <a:solidFill>
                <a:srgbClr val="0000FF"/>
              </a:solidFill>
              <a:latin typeface="Times New Roman" panose="02020603050405020304" pitchFamily="18" charset="0"/>
            </a:endParaRPr>
          </a:p>
        </p:txBody>
      </p:sp>
      <p:grpSp>
        <p:nvGrpSpPr>
          <p:cNvPr id="2" name="Group 75"/>
          <p:cNvGrpSpPr/>
          <p:nvPr/>
        </p:nvGrpSpPr>
        <p:grpSpPr bwMode="auto">
          <a:xfrm>
            <a:off x="4953000" y="3048000"/>
            <a:ext cx="2667000" cy="1447800"/>
            <a:chOff x="3120" y="2784"/>
            <a:chExt cx="1680" cy="912"/>
          </a:xfrm>
        </p:grpSpPr>
        <p:sp>
          <p:nvSpPr>
            <p:cNvPr id="23599" name="Line 58"/>
            <p:cNvSpPr>
              <a:spLocks noChangeShapeType="1"/>
            </p:cNvSpPr>
            <p:nvPr/>
          </p:nvSpPr>
          <p:spPr bwMode="auto">
            <a:xfrm flipH="1">
              <a:off x="3408" y="3696"/>
              <a:ext cx="912" cy="0"/>
            </a:xfrm>
            <a:prstGeom prst="line">
              <a:avLst/>
            </a:prstGeom>
            <a:noFill/>
            <a:ln w="22225">
              <a:solidFill>
                <a:srgbClr val="00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00" name="Line 60"/>
            <p:cNvSpPr>
              <a:spLocks noChangeShapeType="1"/>
            </p:cNvSpPr>
            <p:nvPr/>
          </p:nvSpPr>
          <p:spPr bwMode="auto">
            <a:xfrm>
              <a:off x="3120" y="2928"/>
              <a:ext cx="672" cy="0"/>
            </a:xfrm>
            <a:prstGeom prst="line">
              <a:avLst/>
            </a:prstGeom>
            <a:noFill/>
            <a:ln w="22225">
              <a:solidFill>
                <a:srgbClr val="00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01" name="Line 61"/>
            <p:cNvSpPr>
              <a:spLocks noChangeShapeType="1"/>
            </p:cNvSpPr>
            <p:nvPr/>
          </p:nvSpPr>
          <p:spPr bwMode="auto">
            <a:xfrm>
              <a:off x="3792" y="2928"/>
              <a:ext cx="528" cy="768"/>
            </a:xfrm>
            <a:prstGeom prst="line">
              <a:avLst/>
            </a:prstGeom>
            <a:noFill/>
            <a:ln w="22225">
              <a:solidFill>
                <a:srgbClr val="00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02" name="Line 62"/>
            <p:cNvSpPr>
              <a:spLocks noChangeShapeType="1"/>
            </p:cNvSpPr>
            <p:nvPr/>
          </p:nvSpPr>
          <p:spPr bwMode="auto">
            <a:xfrm>
              <a:off x="3840" y="3024"/>
              <a:ext cx="960" cy="0"/>
            </a:xfrm>
            <a:prstGeom prst="line">
              <a:avLst/>
            </a:prstGeom>
            <a:noFill/>
            <a:ln w="22225">
              <a:solidFill>
                <a:srgbClr val="00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03" name="AutoShape 63"/>
            <p:cNvSpPr>
              <a:spLocks noChangeArrowheads="1"/>
            </p:cNvSpPr>
            <p:nvPr/>
          </p:nvSpPr>
          <p:spPr bwMode="auto">
            <a:xfrm rot="3600000">
              <a:off x="4307" y="2797"/>
              <a:ext cx="192" cy="166"/>
            </a:xfrm>
            <a:prstGeom prst="triangle">
              <a:avLst>
                <a:gd name="adj" fmla="val 50000"/>
              </a:avLst>
            </a:prstGeom>
            <a:solidFill>
              <a:schemeClr val="accent1"/>
            </a:solidFill>
            <a:ln w="22225">
              <a:solidFill>
                <a:srgbClr val="0000FF"/>
              </a:solidFill>
              <a:miter lim="800000"/>
            </a:ln>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grpSp>
          <p:nvGrpSpPr>
            <p:cNvPr id="23604" name="Group 64"/>
            <p:cNvGrpSpPr/>
            <p:nvPr/>
          </p:nvGrpSpPr>
          <p:grpSpPr bwMode="auto">
            <a:xfrm>
              <a:off x="3600" y="3024"/>
              <a:ext cx="528" cy="480"/>
              <a:chOff x="2496" y="2832"/>
              <a:chExt cx="528" cy="480"/>
            </a:xfrm>
          </p:grpSpPr>
          <p:sp>
            <p:nvSpPr>
              <p:cNvPr id="23607" name="Line 65"/>
              <p:cNvSpPr>
                <a:spLocks noChangeShapeType="1"/>
              </p:cNvSpPr>
              <p:nvPr/>
            </p:nvSpPr>
            <p:spPr bwMode="auto">
              <a:xfrm flipH="1">
                <a:off x="2496" y="2832"/>
                <a:ext cx="240" cy="96"/>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08" name="Line 66"/>
              <p:cNvSpPr>
                <a:spLocks noChangeShapeType="1"/>
              </p:cNvSpPr>
              <p:nvPr/>
            </p:nvSpPr>
            <p:spPr bwMode="auto">
              <a:xfrm flipH="1">
                <a:off x="2592" y="2928"/>
                <a:ext cx="240" cy="96"/>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09" name="Line 67"/>
              <p:cNvSpPr>
                <a:spLocks noChangeShapeType="1"/>
              </p:cNvSpPr>
              <p:nvPr/>
            </p:nvSpPr>
            <p:spPr bwMode="auto">
              <a:xfrm flipH="1">
                <a:off x="2640" y="3024"/>
                <a:ext cx="240" cy="96"/>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10" name="Line 68"/>
              <p:cNvSpPr>
                <a:spLocks noChangeShapeType="1"/>
              </p:cNvSpPr>
              <p:nvPr/>
            </p:nvSpPr>
            <p:spPr bwMode="auto">
              <a:xfrm flipH="1">
                <a:off x="2688" y="3120"/>
                <a:ext cx="240" cy="96"/>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11" name="Line 69"/>
              <p:cNvSpPr>
                <a:spLocks noChangeShapeType="1"/>
              </p:cNvSpPr>
              <p:nvPr/>
            </p:nvSpPr>
            <p:spPr bwMode="auto">
              <a:xfrm flipH="1">
                <a:off x="2784" y="3216"/>
                <a:ext cx="240" cy="96"/>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3605" name="Line 73"/>
            <p:cNvSpPr>
              <a:spLocks noChangeShapeType="1"/>
            </p:cNvSpPr>
            <p:nvPr/>
          </p:nvSpPr>
          <p:spPr bwMode="auto">
            <a:xfrm flipV="1">
              <a:off x="4273" y="3079"/>
              <a:ext cx="215" cy="0"/>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06" name="Line 74"/>
            <p:cNvSpPr>
              <a:spLocks noChangeShapeType="1"/>
            </p:cNvSpPr>
            <p:nvPr/>
          </p:nvSpPr>
          <p:spPr bwMode="auto">
            <a:xfrm flipV="1">
              <a:off x="4320" y="3120"/>
              <a:ext cx="157" cy="2"/>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 name="Group 122"/>
          <p:cNvGrpSpPr/>
          <p:nvPr/>
        </p:nvGrpSpPr>
        <p:grpSpPr bwMode="auto">
          <a:xfrm>
            <a:off x="4549775" y="381000"/>
            <a:ext cx="4289425" cy="2247900"/>
            <a:chOff x="2866" y="240"/>
            <a:chExt cx="2702" cy="1416"/>
          </a:xfrm>
        </p:grpSpPr>
        <p:sp>
          <p:nvSpPr>
            <p:cNvPr id="23583" name="Line 32"/>
            <p:cNvSpPr>
              <a:spLocks noChangeShapeType="1"/>
            </p:cNvSpPr>
            <p:nvPr/>
          </p:nvSpPr>
          <p:spPr bwMode="auto">
            <a:xfrm flipV="1">
              <a:off x="3168" y="240"/>
              <a:ext cx="1728" cy="1296"/>
            </a:xfrm>
            <a:prstGeom prst="line">
              <a:avLst/>
            </a:prstGeom>
            <a:noFill/>
            <a:ln w="38100">
              <a:solidFill>
                <a:srgbClr val="00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4" name="Freeform 33"/>
            <p:cNvSpPr/>
            <p:nvPr/>
          </p:nvSpPr>
          <p:spPr bwMode="auto">
            <a:xfrm>
              <a:off x="3840" y="384"/>
              <a:ext cx="1728" cy="672"/>
            </a:xfrm>
            <a:custGeom>
              <a:avLst/>
              <a:gdLst>
                <a:gd name="T0" fmla="*/ 0 w 1728"/>
                <a:gd name="T1" fmla="*/ 672 h 672"/>
                <a:gd name="T2" fmla="*/ 480 w 1728"/>
                <a:gd name="T3" fmla="*/ 480 h 672"/>
                <a:gd name="T4" fmla="*/ 1104 w 1728"/>
                <a:gd name="T5" fmla="*/ 336 h 672"/>
                <a:gd name="T6" fmla="*/ 1728 w 1728"/>
                <a:gd name="T7" fmla="*/ 0 h 672"/>
                <a:gd name="T8" fmla="*/ 0 60000 65536"/>
                <a:gd name="T9" fmla="*/ 0 60000 65536"/>
                <a:gd name="T10" fmla="*/ 0 60000 65536"/>
                <a:gd name="T11" fmla="*/ 0 60000 65536"/>
                <a:gd name="T12" fmla="*/ 0 w 1728"/>
                <a:gd name="T13" fmla="*/ 0 h 672"/>
                <a:gd name="T14" fmla="*/ 1728 w 1728"/>
                <a:gd name="T15" fmla="*/ 672 h 672"/>
              </a:gdLst>
              <a:ahLst/>
              <a:cxnLst>
                <a:cxn ang="T8">
                  <a:pos x="T0" y="T1"/>
                </a:cxn>
                <a:cxn ang="T9">
                  <a:pos x="T2" y="T3"/>
                </a:cxn>
                <a:cxn ang="T10">
                  <a:pos x="T4" y="T5"/>
                </a:cxn>
                <a:cxn ang="T11">
                  <a:pos x="T6" y="T7"/>
                </a:cxn>
              </a:cxnLst>
              <a:rect l="T12" t="T13" r="T14" b="T15"/>
              <a:pathLst>
                <a:path w="1728" h="672">
                  <a:moveTo>
                    <a:pt x="0" y="672"/>
                  </a:moveTo>
                  <a:cubicBezTo>
                    <a:pt x="148" y="604"/>
                    <a:pt x="296" y="536"/>
                    <a:pt x="480" y="480"/>
                  </a:cubicBezTo>
                  <a:cubicBezTo>
                    <a:pt x="664" y="424"/>
                    <a:pt x="896" y="416"/>
                    <a:pt x="1104" y="336"/>
                  </a:cubicBezTo>
                  <a:cubicBezTo>
                    <a:pt x="1312" y="256"/>
                    <a:pt x="1520" y="128"/>
                    <a:pt x="1728" y="0"/>
                  </a:cubicBezTo>
                </a:path>
              </a:pathLst>
            </a:custGeom>
            <a:noFill/>
            <a:ln w="28575">
              <a:solidFill>
                <a:srgbClr val="80008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585" name="Line 34"/>
            <p:cNvSpPr>
              <a:spLocks noChangeShapeType="1"/>
            </p:cNvSpPr>
            <p:nvPr/>
          </p:nvSpPr>
          <p:spPr bwMode="auto">
            <a:xfrm>
              <a:off x="3168" y="1557"/>
              <a:ext cx="1248" cy="0"/>
            </a:xfrm>
            <a:prstGeom prst="line">
              <a:avLst/>
            </a:prstGeom>
            <a:noFill/>
            <a:ln w="9525">
              <a:solidFill>
                <a:srgbClr val="0000FF"/>
              </a:solidFill>
              <a:prstDash val="lg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6" name="Freeform 35"/>
            <p:cNvSpPr/>
            <p:nvPr/>
          </p:nvSpPr>
          <p:spPr bwMode="auto">
            <a:xfrm>
              <a:off x="3456" y="1371"/>
              <a:ext cx="48" cy="192"/>
            </a:xfrm>
            <a:custGeom>
              <a:avLst/>
              <a:gdLst>
                <a:gd name="T0" fmla="*/ 0 w 112"/>
                <a:gd name="T1" fmla="*/ 0 h 288"/>
                <a:gd name="T2" fmla="*/ 8 w 112"/>
                <a:gd name="T3" fmla="*/ 29 h 288"/>
                <a:gd name="T4" fmla="*/ 8 w 112"/>
                <a:gd name="T5" fmla="*/ 85 h 288"/>
                <a:gd name="T6" fmla="*/ 0 60000 65536"/>
                <a:gd name="T7" fmla="*/ 0 60000 65536"/>
                <a:gd name="T8" fmla="*/ 0 60000 65536"/>
                <a:gd name="T9" fmla="*/ 0 w 112"/>
                <a:gd name="T10" fmla="*/ 0 h 288"/>
                <a:gd name="T11" fmla="*/ 112 w 112"/>
                <a:gd name="T12" fmla="*/ 288 h 288"/>
              </a:gdLst>
              <a:ahLst/>
              <a:cxnLst>
                <a:cxn ang="T6">
                  <a:pos x="T0" y="T1"/>
                </a:cxn>
                <a:cxn ang="T7">
                  <a:pos x="T2" y="T3"/>
                </a:cxn>
                <a:cxn ang="T8">
                  <a:pos x="T4" y="T5"/>
                </a:cxn>
              </a:cxnLst>
              <a:rect l="T9" t="T10" r="T11" b="T12"/>
              <a:pathLst>
                <a:path w="112" h="288">
                  <a:moveTo>
                    <a:pt x="0" y="0"/>
                  </a:moveTo>
                  <a:cubicBezTo>
                    <a:pt x="40" y="24"/>
                    <a:pt x="80" y="48"/>
                    <a:pt x="96" y="96"/>
                  </a:cubicBezTo>
                  <a:cubicBezTo>
                    <a:pt x="112" y="144"/>
                    <a:pt x="104" y="216"/>
                    <a:pt x="96" y="288"/>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50628" name="Text Box 36"/>
            <p:cNvSpPr txBox="1">
              <a:spLocks noChangeArrowheads="1"/>
            </p:cNvSpPr>
            <p:nvPr/>
          </p:nvSpPr>
          <p:spPr bwMode="auto">
            <a:xfrm>
              <a:off x="3504" y="1248"/>
              <a:ext cx="288" cy="288"/>
            </a:xfrm>
            <a:prstGeom prst="rect">
              <a:avLst/>
            </a:prstGeom>
            <a:noFill/>
            <a:ln w="9525">
              <a:noFill/>
              <a:miter lim="800000"/>
            </a:ln>
            <a:effectLst/>
          </p:spPr>
          <p:txBody>
            <a:bodyPr>
              <a:spAutoFit/>
            </a:bodyPr>
            <a:lstStyle/>
            <a:p>
              <a:pPr algn="ctr" eaLnBrk="1" hangingPunct="1">
                <a:spcBef>
                  <a:spcPct val="50000"/>
                </a:spcBef>
                <a:defRPr/>
              </a:pPr>
              <a:endParaRPr kumimoji="1" lang="ja-JP" altLang="ja-JP" sz="2400">
                <a:solidFill>
                  <a:srgbClr val="E7F9F5"/>
                </a:solidFill>
                <a:effectDag name="">
                  <a:cont type="tree" name="">
                    <a:effect ref="fillLine"/>
                    <a:outerShdw dist="38100" dir="13500000" algn="br">
                      <a:srgbClr val="F3FFFD"/>
                    </a:outerShdw>
                  </a:cont>
                  <a:cont type="tree" name="">
                    <a:effect ref="fillLine"/>
                    <a:outerShdw dist="38100" dir="2700000" algn="tl">
                      <a:srgbClr val="8A9592"/>
                    </a:outerShdw>
                  </a:cont>
                  <a:effect ref="fillLine"/>
                </a:effectDag>
                <a:latin typeface="Times New Roman" panose="02020603050405020304" pitchFamily="18" charset="0"/>
              </a:endParaRPr>
            </a:p>
          </p:txBody>
        </p:sp>
        <p:sp>
          <p:nvSpPr>
            <p:cNvPr id="750629" name="Rectangle 37"/>
            <p:cNvSpPr>
              <a:spLocks noChangeArrowheads="1"/>
            </p:cNvSpPr>
            <p:nvPr/>
          </p:nvSpPr>
          <p:spPr bwMode="auto">
            <a:xfrm>
              <a:off x="3170" y="903"/>
              <a:ext cx="116" cy="288"/>
            </a:xfrm>
            <a:prstGeom prst="rect">
              <a:avLst/>
            </a:prstGeom>
            <a:noFill/>
            <a:ln w="9525">
              <a:noFill/>
              <a:miter lim="800000"/>
            </a:ln>
            <a:effectLst/>
          </p:spPr>
          <p:txBody>
            <a:bodyPr wrap="none">
              <a:spAutoFit/>
            </a:bodyPr>
            <a:lstStyle/>
            <a:p>
              <a:pPr algn="ctr" eaLnBrk="1" hangingPunct="1">
                <a:spcBef>
                  <a:spcPct val="20000"/>
                </a:spcBef>
                <a:defRPr/>
              </a:pPr>
              <a:endParaRPr kumimoji="1" lang="ja-JP" altLang="ja-JP" sz="2400">
                <a:solidFill>
                  <a:srgbClr val="E7F9F5"/>
                </a:solidFill>
                <a:effectDag name="">
                  <a:cont type="tree" name="">
                    <a:effect ref="fillLine"/>
                    <a:outerShdw dist="38100" dir="13500000" algn="br">
                      <a:srgbClr val="F3FFFD"/>
                    </a:outerShdw>
                  </a:cont>
                  <a:cont type="tree" name="">
                    <a:effect ref="fillLine"/>
                    <a:outerShdw dist="38100" dir="2700000" algn="tl">
                      <a:srgbClr val="8A9592"/>
                    </a:outerShdw>
                  </a:cont>
                  <a:effect ref="fillLine"/>
                </a:effectDag>
                <a:latin typeface="Times New Roman" panose="02020603050405020304" pitchFamily="18" charset="0"/>
                <a:sym typeface="Symbol" panose="05050102010706020507" pitchFamily="18" charset="2"/>
              </a:endParaRPr>
            </a:p>
          </p:txBody>
        </p:sp>
        <p:sp>
          <p:nvSpPr>
            <p:cNvPr id="23589" name="Rectangle 38"/>
            <p:cNvSpPr>
              <a:spLocks noChangeArrowheads="1"/>
            </p:cNvSpPr>
            <p:nvPr/>
          </p:nvSpPr>
          <p:spPr bwMode="auto">
            <a:xfrm>
              <a:off x="3456" y="1227"/>
              <a:ext cx="27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kumimoji="1" lang="en-US" altLang="zh-CN" sz="3200" b="1">
                  <a:solidFill>
                    <a:srgbClr val="800080"/>
                  </a:solidFill>
                  <a:latin typeface="Times New Roman" panose="02020603050405020304" pitchFamily="18" charset="0"/>
                  <a:sym typeface="Symbol" panose="05050102010706020507" pitchFamily="18" charset="2"/>
                </a:rPr>
                <a:t></a:t>
              </a:r>
              <a:endParaRPr kumimoji="1" lang="en-US" altLang="zh-CN" sz="3200" b="1">
                <a:solidFill>
                  <a:srgbClr val="800080"/>
                </a:solidFill>
                <a:latin typeface="Times New Roman" panose="02020603050405020304" pitchFamily="18" charset="0"/>
                <a:sym typeface="Symbol" panose="05050102010706020507" pitchFamily="18" charset="2"/>
              </a:endParaRPr>
            </a:p>
          </p:txBody>
        </p:sp>
        <p:sp>
          <p:nvSpPr>
            <p:cNvPr id="23590" name="Line 40"/>
            <p:cNvSpPr>
              <a:spLocks noChangeShapeType="1"/>
            </p:cNvSpPr>
            <p:nvPr/>
          </p:nvSpPr>
          <p:spPr bwMode="auto">
            <a:xfrm flipH="1">
              <a:off x="2928" y="1008"/>
              <a:ext cx="912" cy="0"/>
            </a:xfrm>
            <a:prstGeom prst="line">
              <a:avLst/>
            </a:prstGeom>
            <a:noFill/>
            <a:ln w="9525">
              <a:solidFill>
                <a:schemeClr val="tx1"/>
              </a:solidFill>
              <a:prstDash val="lg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91" name="Freeform 41"/>
            <p:cNvSpPr/>
            <p:nvPr/>
          </p:nvSpPr>
          <p:spPr bwMode="auto">
            <a:xfrm>
              <a:off x="3360" y="1008"/>
              <a:ext cx="48" cy="171"/>
            </a:xfrm>
            <a:custGeom>
              <a:avLst/>
              <a:gdLst>
                <a:gd name="T0" fmla="*/ 6 w 104"/>
                <a:gd name="T1" fmla="*/ 0 h 144"/>
                <a:gd name="T2" fmla="*/ 1 w 104"/>
                <a:gd name="T3" fmla="*/ 160 h 144"/>
                <a:gd name="T4" fmla="*/ 10 w 104"/>
                <a:gd name="T5" fmla="*/ 241 h 144"/>
                <a:gd name="T6" fmla="*/ 0 60000 65536"/>
                <a:gd name="T7" fmla="*/ 0 60000 65536"/>
                <a:gd name="T8" fmla="*/ 0 60000 65536"/>
                <a:gd name="T9" fmla="*/ 0 w 104"/>
                <a:gd name="T10" fmla="*/ 0 h 144"/>
                <a:gd name="T11" fmla="*/ 104 w 104"/>
                <a:gd name="T12" fmla="*/ 144 h 144"/>
              </a:gdLst>
              <a:ahLst/>
              <a:cxnLst>
                <a:cxn ang="T6">
                  <a:pos x="T0" y="T1"/>
                </a:cxn>
                <a:cxn ang="T7">
                  <a:pos x="T2" y="T3"/>
                </a:cxn>
                <a:cxn ang="T8">
                  <a:pos x="T4" y="T5"/>
                </a:cxn>
              </a:cxnLst>
              <a:rect l="T9" t="T10" r="T11" b="T12"/>
              <a:pathLst>
                <a:path w="104" h="144">
                  <a:moveTo>
                    <a:pt x="56" y="0"/>
                  </a:moveTo>
                  <a:cubicBezTo>
                    <a:pt x="28" y="36"/>
                    <a:pt x="0" y="72"/>
                    <a:pt x="8" y="96"/>
                  </a:cubicBezTo>
                  <a:cubicBezTo>
                    <a:pt x="16" y="120"/>
                    <a:pt x="60" y="132"/>
                    <a:pt x="104" y="144"/>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592" name="Rectangle 42"/>
            <p:cNvSpPr>
              <a:spLocks noChangeArrowheads="1"/>
            </p:cNvSpPr>
            <p:nvPr/>
          </p:nvSpPr>
          <p:spPr bwMode="auto">
            <a:xfrm>
              <a:off x="3120" y="912"/>
              <a:ext cx="249"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kumimoji="1" lang="en-US" altLang="zh-CN" sz="3200" b="1">
                  <a:solidFill>
                    <a:srgbClr val="0000FF"/>
                  </a:solidFill>
                  <a:latin typeface="Times New Roman" panose="02020603050405020304" pitchFamily="18" charset="0"/>
                  <a:sym typeface="Symbol" panose="05050102010706020507" pitchFamily="18" charset="2"/>
                </a:rPr>
                <a:t></a:t>
              </a:r>
              <a:endParaRPr kumimoji="1" lang="en-US" altLang="zh-CN" sz="3200" b="1">
                <a:solidFill>
                  <a:srgbClr val="0000FF"/>
                </a:solidFill>
                <a:latin typeface="Times New Roman" panose="02020603050405020304" pitchFamily="18" charset="0"/>
                <a:sym typeface="Symbol" panose="05050102010706020507" pitchFamily="18" charset="2"/>
              </a:endParaRPr>
            </a:p>
          </p:txBody>
        </p:sp>
        <p:sp>
          <p:nvSpPr>
            <p:cNvPr id="23593" name="Rectangle 46"/>
            <p:cNvSpPr>
              <a:spLocks noChangeArrowheads="1"/>
            </p:cNvSpPr>
            <p:nvPr/>
          </p:nvSpPr>
          <p:spPr bwMode="auto">
            <a:xfrm>
              <a:off x="3984" y="1131"/>
              <a:ext cx="36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kumimoji="1" lang="en-US" altLang="zh-CN" sz="3200" b="1">
                  <a:solidFill>
                    <a:srgbClr val="0000FF"/>
                  </a:solidFill>
                  <a:latin typeface="Times New Roman" panose="02020603050405020304" pitchFamily="18" charset="0"/>
                </a:rPr>
                <a:t>w</a:t>
              </a:r>
              <a:r>
                <a:rPr kumimoji="1" lang="en-US" altLang="zh-CN" sz="3200" b="1">
                  <a:solidFill>
                    <a:srgbClr val="0000FF"/>
                  </a:solidFill>
                  <a:latin typeface="Times New Roman" panose="02020603050405020304" pitchFamily="18" charset="0"/>
                  <a:sym typeface="Symbol" panose="05050102010706020507" pitchFamily="18" charset="2"/>
                </a:rPr>
                <a:t></a:t>
              </a:r>
              <a:endParaRPr kumimoji="1" lang="en-US" altLang="zh-CN" sz="3200" b="1">
                <a:solidFill>
                  <a:srgbClr val="0000FF"/>
                </a:solidFill>
                <a:latin typeface="Times New Roman" panose="02020603050405020304" pitchFamily="18" charset="0"/>
                <a:sym typeface="Symbol" panose="05050102010706020507" pitchFamily="18" charset="2"/>
              </a:endParaRPr>
            </a:p>
          </p:txBody>
        </p:sp>
        <p:sp>
          <p:nvSpPr>
            <p:cNvPr id="23594" name="Rectangle 49"/>
            <p:cNvSpPr>
              <a:spLocks noChangeArrowheads="1"/>
            </p:cNvSpPr>
            <p:nvPr/>
          </p:nvSpPr>
          <p:spPr bwMode="auto">
            <a:xfrm>
              <a:off x="2866" y="1131"/>
              <a:ext cx="24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kumimoji="1" lang="en-US" altLang="zh-CN" sz="3200" b="1">
                  <a:solidFill>
                    <a:srgbClr val="0000FF"/>
                  </a:solidFill>
                  <a:latin typeface="Times New Roman" panose="02020603050405020304" pitchFamily="18" charset="0"/>
                </a:rPr>
                <a:t>J</a:t>
              </a:r>
              <a:endParaRPr kumimoji="1" lang="en-US" altLang="zh-CN" sz="3200" b="1">
                <a:solidFill>
                  <a:srgbClr val="0000FF"/>
                </a:solidFill>
                <a:latin typeface="Times New Roman" panose="02020603050405020304" pitchFamily="18" charset="0"/>
              </a:endParaRPr>
            </a:p>
          </p:txBody>
        </p:sp>
        <p:sp>
          <p:nvSpPr>
            <p:cNvPr id="23595" name="Line 51"/>
            <p:cNvSpPr>
              <a:spLocks noChangeShapeType="1"/>
            </p:cNvSpPr>
            <p:nvPr/>
          </p:nvSpPr>
          <p:spPr bwMode="auto">
            <a:xfrm flipH="1">
              <a:off x="3072" y="939"/>
              <a:ext cx="1008" cy="384"/>
            </a:xfrm>
            <a:prstGeom prst="line">
              <a:avLst/>
            </a:prstGeom>
            <a:noFill/>
            <a:ln w="4127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96" name="AutoShape 76"/>
            <p:cNvSpPr>
              <a:spLocks noChangeArrowheads="1"/>
            </p:cNvSpPr>
            <p:nvPr/>
          </p:nvSpPr>
          <p:spPr bwMode="auto">
            <a:xfrm rot="4453308" flipV="1">
              <a:off x="3744" y="1035"/>
              <a:ext cx="288" cy="192"/>
            </a:xfrm>
            <a:prstGeom prst="parallelogram">
              <a:avLst>
                <a:gd name="adj" fmla="val 37500"/>
              </a:avLst>
            </a:prstGeom>
            <a:solidFill>
              <a:schemeClr val="accent2">
                <a:alpha val="50195"/>
              </a:schemeClr>
            </a:solidFill>
            <a:ln w="9525">
              <a:solidFill>
                <a:schemeClr val="folHlink"/>
              </a:solidFill>
              <a:miter lim="800000"/>
            </a:ln>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23597" name="Line 77"/>
            <p:cNvSpPr>
              <a:spLocks noChangeShapeType="1"/>
            </p:cNvSpPr>
            <p:nvPr/>
          </p:nvSpPr>
          <p:spPr bwMode="auto">
            <a:xfrm flipH="1">
              <a:off x="3888" y="1131"/>
              <a:ext cx="7" cy="525"/>
            </a:xfrm>
            <a:prstGeom prst="line">
              <a:avLst/>
            </a:prstGeom>
            <a:noFill/>
            <a:ln w="34925">
              <a:solidFill>
                <a:schemeClr val="tx1"/>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98" name="Freeform 78"/>
            <p:cNvSpPr/>
            <p:nvPr/>
          </p:nvSpPr>
          <p:spPr bwMode="auto">
            <a:xfrm rot="7735797" flipH="1">
              <a:off x="3432" y="1203"/>
              <a:ext cx="48" cy="96"/>
            </a:xfrm>
            <a:custGeom>
              <a:avLst/>
              <a:gdLst>
                <a:gd name="T0" fmla="*/ 6 w 104"/>
                <a:gd name="T1" fmla="*/ 0 h 144"/>
                <a:gd name="T2" fmla="*/ 1 w 104"/>
                <a:gd name="T3" fmla="*/ 29 h 144"/>
                <a:gd name="T4" fmla="*/ 10 w 104"/>
                <a:gd name="T5" fmla="*/ 43 h 144"/>
                <a:gd name="T6" fmla="*/ 0 60000 65536"/>
                <a:gd name="T7" fmla="*/ 0 60000 65536"/>
                <a:gd name="T8" fmla="*/ 0 60000 65536"/>
                <a:gd name="T9" fmla="*/ 0 w 104"/>
                <a:gd name="T10" fmla="*/ 0 h 144"/>
                <a:gd name="T11" fmla="*/ 104 w 104"/>
                <a:gd name="T12" fmla="*/ 144 h 144"/>
              </a:gdLst>
              <a:ahLst/>
              <a:cxnLst>
                <a:cxn ang="T6">
                  <a:pos x="T0" y="T1"/>
                </a:cxn>
                <a:cxn ang="T7">
                  <a:pos x="T2" y="T3"/>
                </a:cxn>
                <a:cxn ang="T8">
                  <a:pos x="T4" y="T5"/>
                </a:cxn>
              </a:cxnLst>
              <a:rect l="T9" t="T10" r="T11" b="T12"/>
              <a:pathLst>
                <a:path w="104" h="144">
                  <a:moveTo>
                    <a:pt x="56" y="0"/>
                  </a:moveTo>
                  <a:cubicBezTo>
                    <a:pt x="28" y="36"/>
                    <a:pt x="0" y="72"/>
                    <a:pt x="8" y="96"/>
                  </a:cubicBezTo>
                  <a:cubicBezTo>
                    <a:pt x="16" y="120"/>
                    <a:pt x="60" y="132"/>
                    <a:pt x="104" y="144"/>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750671" name="AutoShape 79"/>
          <p:cNvSpPr>
            <a:spLocks noChangeArrowheads="1"/>
          </p:cNvSpPr>
          <p:nvPr/>
        </p:nvSpPr>
        <p:spPr bwMode="auto">
          <a:xfrm>
            <a:off x="3657600" y="2584450"/>
            <a:ext cx="1143000" cy="639763"/>
          </a:xfrm>
          <a:prstGeom prst="wedgeRoundRectCallout">
            <a:avLst>
              <a:gd name="adj1" fmla="val 102083"/>
              <a:gd name="adj2" fmla="val -140569"/>
              <a:gd name="adj3" fmla="val 16667"/>
            </a:avLst>
          </a:prstGeom>
          <a:noFill/>
          <a:ln w="19050" algn="ctr">
            <a:solidFill>
              <a:srgbClr val="FF00FF"/>
            </a:solidFill>
            <a:miter lim="800000"/>
          </a:ln>
          <a:extLst>
            <a:ext uri="{909E8E84-426E-40DD-AFC4-6F175D3DCCD1}">
              <a14:hiddenFill xmlns:a14="http://schemas.microsoft.com/office/drawing/2010/main">
                <a:solidFill>
                  <a:srgbClr val="FFFFFF"/>
                </a:solidFill>
              </a14:hiddenFill>
            </a:ext>
          </a:extLst>
        </p:spPr>
        <p:txBody>
          <a:bodyPr lIns="0" r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kumimoji="1" lang="en-US" altLang="zh-CN" sz="3200" b="1">
                <a:solidFill>
                  <a:srgbClr val="0000FF"/>
                </a:solidFill>
                <a:latin typeface="Times New Roman" panose="02020603050405020304" pitchFamily="18" charset="0"/>
                <a:sym typeface="Symbol" panose="05050102010706020507" pitchFamily="18" charset="2"/>
              </a:rPr>
              <a:t></a:t>
            </a:r>
            <a:endParaRPr kumimoji="1" lang="en-US" altLang="zh-CN" sz="3200" b="1">
              <a:solidFill>
                <a:srgbClr val="0000FF"/>
              </a:solidFill>
              <a:latin typeface="Times New Roman" panose="02020603050405020304" pitchFamily="18" charset="0"/>
              <a:sym typeface="Symbol" panose="05050102010706020507" pitchFamily="18" charset="2"/>
            </a:endParaRPr>
          </a:p>
        </p:txBody>
      </p:sp>
      <p:sp>
        <p:nvSpPr>
          <p:cNvPr id="750672" name="Text Box 80"/>
          <p:cNvSpPr txBox="1">
            <a:spLocks noChangeArrowheads="1"/>
          </p:cNvSpPr>
          <p:nvPr/>
        </p:nvSpPr>
        <p:spPr bwMode="auto">
          <a:xfrm>
            <a:off x="647502" y="3724275"/>
            <a:ext cx="373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dirty="0">
                <a:solidFill>
                  <a:srgbClr val="0000FF"/>
                </a:solidFill>
                <a:latin typeface="Times New Roman" panose="02020603050405020304" pitchFamily="18" charset="0"/>
              </a:rPr>
              <a:t>(3) </a:t>
            </a:r>
            <a:r>
              <a:rPr kumimoji="1" lang="zh-CN" altLang="en-US" sz="2400" b="1" dirty="0">
                <a:solidFill>
                  <a:srgbClr val="0000FF"/>
                </a:solidFill>
                <a:latin typeface="Times New Roman" panose="02020603050405020304" pitchFamily="18" charset="0"/>
              </a:rPr>
              <a:t>部分浸水无粘性土坡</a:t>
            </a:r>
            <a:endParaRPr kumimoji="1" lang="zh-CN" altLang="en-US" sz="2400" b="1" dirty="0">
              <a:solidFill>
                <a:srgbClr val="0000FF"/>
              </a:solidFill>
              <a:latin typeface="Times New Roman" panose="02020603050405020304" pitchFamily="18" charset="0"/>
            </a:endParaRPr>
          </a:p>
        </p:txBody>
      </p:sp>
      <p:grpSp>
        <p:nvGrpSpPr>
          <p:cNvPr id="5" name="Group 120"/>
          <p:cNvGrpSpPr/>
          <p:nvPr/>
        </p:nvGrpSpPr>
        <p:grpSpPr bwMode="auto">
          <a:xfrm>
            <a:off x="3276600" y="4876800"/>
            <a:ext cx="4495800" cy="1512888"/>
            <a:chOff x="1060" y="3113"/>
            <a:chExt cx="2832" cy="953"/>
          </a:xfrm>
        </p:grpSpPr>
        <p:sp>
          <p:nvSpPr>
            <p:cNvPr id="23564" name="Freeform 95" descr="80%"/>
            <p:cNvSpPr/>
            <p:nvPr/>
          </p:nvSpPr>
          <p:spPr bwMode="auto">
            <a:xfrm>
              <a:off x="1776" y="3120"/>
              <a:ext cx="2116" cy="913"/>
            </a:xfrm>
            <a:custGeom>
              <a:avLst/>
              <a:gdLst>
                <a:gd name="T0" fmla="*/ 0 w 2672"/>
                <a:gd name="T1" fmla="*/ 406 h 1363"/>
                <a:gd name="T2" fmla="*/ 1327 w 2672"/>
                <a:gd name="T3" fmla="*/ 410 h 1363"/>
                <a:gd name="T4" fmla="*/ 1327 w 2672"/>
                <a:gd name="T5" fmla="*/ 0 h 1363"/>
                <a:gd name="T6" fmla="*/ 759 w 2672"/>
                <a:gd name="T7" fmla="*/ 0 h 1363"/>
                <a:gd name="T8" fmla="*/ 0 w 2672"/>
                <a:gd name="T9" fmla="*/ 406 h 1363"/>
                <a:gd name="T10" fmla="*/ 0 60000 65536"/>
                <a:gd name="T11" fmla="*/ 0 60000 65536"/>
                <a:gd name="T12" fmla="*/ 0 60000 65536"/>
                <a:gd name="T13" fmla="*/ 0 60000 65536"/>
                <a:gd name="T14" fmla="*/ 0 60000 65536"/>
                <a:gd name="T15" fmla="*/ 0 w 2672"/>
                <a:gd name="T16" fmla="*/ 0 h 1363"/>
                <a:gd name="T17" fmla="*/ 2672 w 2672"/>
                <a:gd name="T18" fmla="*/ 1363 h 1363"/>
              </a:gdLst>
              <a:ahLst/>
              <a:cxnLst>
                <a:cxn ang="T10">
                  <a:pos x="T0" y="T1"/>
                </a:cxn>
                <a:cxn ang="T11">
                  <a:pos x="T2" y="T3"/>
                </a:cxn>
                <a:cxn ang="T12">
                  <a:pos x="T4" y="T5"/>
                </a:cxn>
                <a:cxn ang="T13">
                  <a:pos x="T6" y="T7"/>
                </a:cxn>
                <a:cxn ang="T14">
                  <a:pos x="T8" y="T9"/>
                </a:cxn>
              </a:cxnLst>
              <a:rect l="T15" t="T16" r="T17" b="T18"/>
              <a:pathLst>
                <a:path w="2672" h="1363">
                  <a:moveTo>
                    <a:pt x="0" y="1349"/>
                  </a:moveTo>
                  <a:lnTo>
                    <a:pt x="2672" y="1363"/>
                  </a:lnTo>
                  <a:lnTo>
                    <a:pt x="2672" y="0"/>
                  </a:lnTo>
                  <a:lnTo>
                    <a:pt x="1529" y="0"/>
                  </a:lnTo>
                  <a:lnTo>
                    <a:pt x="0" y="1349"/>
                  </a:lnTo>
                  <a:close/>
                </a:path>
              </a:pathLst>
            </a:custGeom>
            <a:blipFill dpi="0" rotWithShape="0">
              <a:blip r:embed="rId1"/>
              <a:srcRect/>
              <a:tile tx="0" ty="0" sx="100000" sy="100000" flip="none" algn="tl"/>
            </a:blip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a:p>
          </p:txBody>
        </p:sp>
        <p:sp>
          <p:nvSpPr>
            <p:cNvPr id="23565" name="Line 97"/>
            <p:cNvSpPr>
              <a:spLocks noChangeShapeType="1"/>
            </p:cNvSpPr>
            <p:nvPr/>
          </p:nvSpPr>
          <p:spPr bwMode="auto">
            <a:xfrm>
              <a:off x="1117" y="4024"/>
              <a:ext cx="646" cy="0"/>
            </a:xfrm>
            <a:prstGeom prst="line">
              <a:avLst/>
            </a:prstGeom>
            <a:noFill/>
            <a:ln w="76200">
              <a:solidFill>
                <a:srgbClr val="CC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6" name="Line 98"/>
            <p:cNvSpPr>
              <a:spLocks noChangeShapeType="1"/>
            </p:cNvSpPr>
            <p:nvPr/>
          </p:nvSpPr>
          <p:spPr bwMode="auto">
            <a:xfrm flipV="1">
              <a:off x="1763" y="3124"/>
              <a:ext cx="1217" cy="900"/>
            </a:xfrm>
            <a:prstGeom prst="line">
              <a:avLst/>
            </a:prstGeom>
            <a:noFill/>
            <a:ln w="76200">
              <a:solidFill>
                <a:srgbClr val="CC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7" name="Line 99"/>
            <p:cNvSpPr>
              <a:spLocks noChangeShapeType="1"/>
            </p:cNvSpPr>
            <p:nvPr/>
          </p:nvSpPr>
          <p:spPr bwMode="auto">
            <a:xfrm>
              <a:off x="2980" y="3124"/>
              <a:ext cx="912" cy="0"/>
            </a:xfrm>
            <a:prstGeom prst="line">
              <a:avLst/>
            </a:prstGeom>
            <a:noFill/>
            <a:ln w="76200">
              <a:solidFill>
                <a:srgbClr val="CC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8" name="Line 100"/>
            <p:cNvSpPr>
              <a:spLocks noChangeShapeType="1"/>
            </p:cNvSpPr>
            <p:nvPr/>
          </p:nvSpPr>
          <p:spPr bwMode="auto">
            <a:xfrm>
              <a:off x="1765" y="4033"/>
              <a:ext cx="1115" cy="0"/>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9" name="Freeform 101"/>
            <p:cNvSpPr/>
            <p:nvPr/>
          </p:nvSpPr>
          <p:spPr bwMode="auto">
            <a:xfrm>
              <a:off x="2105" y="3897"/>
              <a:ext cx="51" cy="127"/>
            </a:xfrm>
            <a:custGeom>
              <a:avLst/>
              <a:gdLst>
                <a:gd name="T0" fmla="*/ 0 w 160"/>
                <a:gd name="T1" fmla="*/ 0 h 288"/>
                <a:gd name="T2" fmla="*/ 3 w 160"/>
                <a:gd name="T3" fmla="*/ 8 h 288"/>
                <a:gd name="T4" fmla="*/ 5 w 160"/>
                <a:gd name="T5" fmla="*/ 25 h 288"/>
                <a:gd name="T6" fmla="*/ 0 60000 65536"/>
                <a:gd name="T7" fmla="*/ 0 60000 65536"/>
                <a:gd name="T8" fmla="*/ 0 60000 65536"/>
                <a:gd name="T9" fmla="*/ 0 w 160"/>
                <a:gd name="T10" fmla="*/ 0 h 288"/>
                <a:gd name="T11" fmla="*/ 160 w 160"/>
                <a:gd name="T12" fmla="*/ 288 h 288"/>
              </a:gdLst>
              <a:ahLst/>
              <a:cxnLst>
                <a:cxn ang="T6">
                  <a:pos x="T0" y="T1"/>
                </a:cxn>
                <a:cxn ang="T7">
                  <a:pos x="T2" y="T3"/>
                </a:cxn>
                <a:cxn ang="T8">
                  <a:pos x="T4" y="T5"/>
                </a:cxn>
              </a:cxnLst>
              <a:rect l="T9" t="T10" r="T11" b="T12"/>
              <a:pathLst>
                <a:path w="160" h="288">
                  <a:moveTo>
                    <a:pt x="0" y="0"/>
                  </a:moveTo>
                  <a:cubicBezTo>
                    <a:pt x="36" y="24"/>
                    <a:pt x="72" y="48"/>
                    <a:pt x="96" y="96"/>
                  </a:cubicBezTo>
                  <a:cubicBezTo>
                    <a:pt x="120" y="144"/>
                    <a:pt x="160" y="224"/>
                    <a:pt x="144" y="288"/>
                  </a:cubicBezTo>
                </a:path>
              </a:pathLst>
            </a:custGeom>
            <a:noFill/>
            <a:ln w="28575">
              <a:solidFill>
                <a:srgbClr val="CC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570" name="Line 104"/>
            <p:cNvSpPr>
              <a:spLocks noChangeShapeType="1"/>
            </p:cNvSpPr>
            <p:nvPr/>
          </p:nvSpPr>
          <p:spPr bwMode="auto">
            <a:xfrm flipH="1">
              <a:off x="1060" y="3632"/>
              <a:ext cx="1204" cy="3"/>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1" name="Line 106"/>
            <p:cNvSpPr>
              <a:spLocks noChangeShapeType="1"/>
            </p:cNvSpPr>
            <p:nvPr/>
          </p:nvSpPr>
          <p:spPr bwMode="auto">
            <a:xfrm flipV="1">
              <a:off x="1758" y="3634"/>
              <a:ext cx="1006" cy="397"/>
            </a:xfrm>
            <a:prstGeom prst="line">
              <a:avLst/>
            </a:prstGeom>
            <a:noFill/>
            <a:ln w="38100">
              <a:solidFill>
                <a:srgbClr val="CC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2" name="Line 107"/>
            <p:cNvSpPr>
              <a:spLocks noChangeShapeType="1"/>
            </p:cNvSpPr>
            <p:nvPr/>
          </p:nvSpPr>
          <p:spPr bwMode="auto">
            <a:xfrm flipV="1">
              <a:off x="2771" y="3113"/>
              <a:ext cx="384" cy="527"/>
            </a:xfrm>
            <a:prstGeom prst="line">
              <a:avLst/>
            </a:prstGeom>
            <a:noFill/>
            <a:ln w="38100">
              <a:solidFill>
                <a:srgbClr val="CC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3" name="Line 108"/>
            <p:cNvSpPr>
              <a:spLocks noChangeShapeType="1"/>
            </p:cNvSpPr>
            <p:nvPr/>
          </p:nvSpPr>
          <p:spPr bwMode="auto">
            <a:xfrm flipV="1">
              <a:off x="2257" y="3634"/>
              <a:ext cx="537" cy="0"/>
            </a:xfrm>
            <a:prstGeom prst="line">
              <a:avLst/>
            </a:prstGeom>
            <a:noFill/>
            <a:ln w="28575">
              <a:solidFill>
                <a:srgbClr val="0000CC"/>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4" name="Line 109"/>
            <p:cNvSpPr>
              <a:spLocks noChangeShapeType="1"/>
            </p:cNvSpPr>
            <p:nvPr/>
          </p:nvSpPr>
          <p:spPr bwMode="auto">
            <a:xfrm flipV="1">
              <a:off x="2779" y="3260"/>
              <a:ext cx="0" cy="380"/>
            </a:xfrm>
            <a:prstGeom prst="line">
              <a:avLst/>
            </a:prstGeom>
            <a:noFill/>
            <a:ln w="28575">
              <a:solidFill>
                <a:srgbClr val="CC0000"/>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5" name="Line 111"/>
            <p:cNvSpPr>
              <a:spLocks noChangeShapeType="1"/>
            </p:cNvSpPr>
            <p:nvPr/>
          </p:nvSpPr>
          <p:spPr bwMode="auto">
            <a:xfrm>
              <a:off x="2802" y="3633"/>
              <a:ext cx="292" cy="0"/>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6" name="Text Box 112"/>
            <p:cNvSpPr txBox="1">
              <a:spLocks noChangeArrowheads="1"/>
            </p:cNvSpPr>
            <p:nvPr/>
          </p:nvSpPr>
          <p:spPr bwMode="auto">
            <a:xfrm>
              <a:off x="2788" y="3269"/>
              <a:ext cx="55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3200" b="1">
                  <a:solidFill>
                    <a:srgbClr val="0000FF"/>
                  </a:solidFill>
                  <a:latin typeface="Times New Roman" panose="02020603050405020304" pitchFamily="18" charset="0"/>
                  <a:sym typeface="Symbol" panose="05050102010706020507" pitchFamily="18" charset="2"/>
                </a:rPr>
                <a:t></a:t>
              </a:r>
              <a:r>
                <a:rPr kumimoji="1" lang="en-US" altLang="zh-CN" sz="3200" b="1" baseline="-25000">
                  <a:solidFill>
                    <a:srgbClr val="0000FF"/>
                  </a:solidFill>
                  <a:latin typeface="Times New Roman" panose="02020603050405020304" pitchFamily="18" charset="0"/>
                  <a:sym typeface="Symbol" panose="05050102010706020507" pitchFamily="18" charset="2"/>
                </a:rPr>
                <a:t>1</a:t>
              </a:r>
              <a:endParaRPr kumimoji="1" lang="en-US" altLang="zh-CN" sz="3200" b="1" baseline="-25000">
                <a:solidFill>
                  <a:srgbClr val="0000FF"/>
                </a:solidFill>
                <a:latin typeface="Times New Roman" panose="02020603050405020304" pitchFamily="18" charset="0"/>
              </a:endParaRPr>
            </a:p>
          </p:txBody>
        </p:sp>
        <p:sp>
          <p:nvSpPr>
            <p:cNvPr id="23577" name="Freeform 113"/>
            <p:cNvSpPr/>
            <p:nvPr/>
          </p:nvSpPr>
          <p:spPr bwMode="auto">
            <a:xfrm>
              <a:off x="2880" y="3485"/>
              <a:ext cx="100" cy="142"/>
            </a:xfrm>
            <a:custGeom>
              <a:avLst/>
              <a:gdLst>
                <a:gd name="T0" fmla="*/ 0 w 144"/>
                <a:gd name="T1" fmla="*/ 0 h 224"/>
                <a:gd name="T2" fmla="*/ 33 w 144"/>
                <a:gd name="T3" fmla="*/ 29 h 224"/>
                <a:gd name="T4" fmla="*/ 48 w 144"/>
                <a:gd name="T5" fmla="*/ 57 h 224"/>
                <a:gd name="T6" fmla="*/ 0 60000 65536"/>
                <a:gd name="T7" fmla="*/ 0 60000 65536"/>
                <a:gd name="T8" fmla="*/ 0 60000 65536"/>
                <a:gd name="T9" fmla="*/ 0 w 144"/>
                <a:gd name="T10" fmla="*/ 0 h 224"/>
                <a:gd name="T11" fmla="*/ 144 w 144"/>
                <a:gd name="T12" fmla="*/ 224 h 224"/>
              </a:gdLst>
              <a:ahLst/>
              <a:cxnLst>
                <a:cxn ang="T6">
                  <a:pos x="T0" y="T1"/>
                </a:cxn>
                <a:cxn ang="T7">
                  <a:pos x="T2" y="T3"/>
                </a:cxn>
                <a:cxn ang="T8">
                  <a:pos x="T4" y="T5"/>
                </a:cxn>
              </a:cxnLst>
              <a:rect l="T9" t="T10" r="T11" b="T12"/>
              <a:pathLst>
                <a:path w="144" h="224">
                  <a:moveTo>
                    <a:pt x="0" y="0"/>
                  </a:moveTo>
                  <a:cubicBezTo>
                    <a:pt x="36" y="37"/>
                    <a:pt x="72" y="75"/>
                    <a:pt x="96" y="112"/>
                  </a:cubicBezTo>
                  <a:cubicBezTo>
                    <a:pt x="120" y="149"/>
                    <a:pt x="143" y="167"/>
                    <a:pt x="144" y="224"/>
                  </a:cubicBezTo>
                </a:path>
              </a:pathLst>
            </a:custGeom>
            <a:noFill/>
            <a:ln w="28575">
              <a:solidFill>
                <a:srgbClr val="CC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578" name="Text Box 114"/>
            <p:cNvSpPr txBox="1">
              <a:spLocks noChangeArrowheads="1"/>
            </p:cNvSpPr>
            <p:nvPr/>
          </p:nvSpPr>
          <p:spPr bwMode="auto">
            <a:xfrm>
              <a:off x="2068" y="3701"/>
              <a:ext cx="45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3200" b="1">
                  <a:solidFill>
                    <a:srgbClr val="0000FF"/>
                  </a:solidFill>
                  <a:latin typeface="Times New Roman" panose="02020603050405020304" pitchFamily="18" charset="0"/>
                  <a:sym typeface="Symbol" panose="05050102010706020507" pitchFamily="18" charset="2"/>
                </a:rPr>
                <a:t></a:t>
              </a:r>
              <a:r>
                <a:rPr kumimoji="1" lang="en-US" altLang="zh-CN" sz="3200" b="1" baseline="-25000">
                  <a:solidFill>
                    <a:srgbClr val="0000FF"/>
                  </a:solidFill>
                  <a:latin typeface="Times New Roman" panose="02020603050405020304" pitchFamily="18" charset="0"/>
                  <a:sym typeface="Symbol" panose="05050102010706020507" pitchFamily="18" charset="2"/>
                </a:rPr>
                <a:t>2</a:t>
              </a:r>
              <a:endParaRPr kumimoji="1" lang="en-US" altLang="zh-CN" sz="3200" b="1" baseline="-25000">
                <a:solidFill>
                  <a:srgbClr val="0000FF"/>
                </a:solidFill>
                <a:latin typeface="Times New Roman" panose="02020603050405020304" pitchFamily="18" charset="0"/>
              </a:endParaRPr>
            </a:p>
          </p:txBody>
        </p:sp>
        <p:grpSp>
          <p:nvGrpSpPr>
            <p:cNvPr id="23579" name="Group 119"/>
            <p:cNvGrpSpPr/>
            <p:nvPr/>
          </p:nvGrpSpPr>
          <p:grpSpPr bwMode="auto">
            <a:xfrm>
              <a:off x="1444" y="3509"/>
              <a:ext cx="143" cy="181"/>
              <a:chOff x="1360" y="3530"/>
              <a:chExt cx="143" cy="181"/>
            </a:xfrm>
          </p:grpSpPr>
          <p:sp>
            <p:nvSpPr>
              <p:cNvPr id="23580" name="AutoShape 110"/>
              <p:cNvSpPr>
                <a:spLocks noChangeArrowheads="1"/>
              </p:cNvSpPr>
              <p:nvPr/>
            </p:nvSpPr>
            <p:spPr bwMode="auto">
              <a:xfrm rot="10800000">
                <a:off x="1377" y="3530"/>
                <a:ext cx="114" cy="97"/>
              </a:xfrm>
              <a:prstGeom prst="triangle">
                <a:avLst>
                  <a:gd name="adj" fmla="val 50000"/>
                </a:avLst>
              </a:prstGeom>
              <a:solidFill>
                <a:srgbClr val="0000FF"/>
              </a:solidFill>
              <a:ln w="9525">
                <a:solidFill>
                  <a:schemeClr val="tx1"/>
                </a:solidFill>
                <a:miter lim="800000"/>
              </a:ln>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23581" name="Line 115"/>
              <p:cNvSpPr>
                <a:spLocks noChangeShapeType="1"/>
              </p:cNvSpPr>
              <p:nvPr/>
            </p:nvSpPr>
            <p:spPr bwMode="auto">
              <a:xfrm>
                <a:off x="1360" y="3668"/>
                <a:ext cx="143" cy="0"/>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2" name="Line 116"/>
              <p:cNvSpPr>
                <a:spLocks noChangeShapeType="1"/>
              </p:cNvSpPr>
              <p:nvPr/>
            </p:nvSpPr>
            <p:spPr bwMode="auto">
              <a:xfrm>
                <a:off x="1377" y="3711"/>
                <a:ext cx="97" cy="0"/>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750713" name="Text Box 121"/>
          <p:cNvSpPr txBox="1">
            <a:spLocks noChangeArrowheads="1"/>
          </p:cNvSpPr>
          <p:nvPr/>
        </p:nvSpPr>
        <p:spPr bwMode="auto">
          <a:xfrm>
            <a:off x="647502" y="4567239"/>
            <a:ext cx="441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dirty="0">
                <a:solidFill>
                  <a:srgbClr val="0000FF"/>
                </a:solidFill>
                <a:latin typeface="Times New Roman" panose="02020603050405020304" pitchFamily="18" charset="0"/>
              </a:rPr>
              <a:t>(4) </a:t>
            </a:r>
            <a:r>
              <a:rPr kumimoji="1" lang="zh-CN" altLang="en-US" sz="2400" b="1" dirty="0">
                <a:solidFill>
                  <a:srgbClr val="0000FF"/>
                </a:solidFill>
                <a:latin typeface="Times New Roman" panose="02020603050405020304" pitchFamily="18" charset="0"/>
              </a:rPr>
              <a:t>非线形强度指标的影响</a:t>
            </a:r>
            <a:endParaRPr kumimoji="1" lang="zh-CN" altLang="en-US" sz="2400" b="1" dirty="0">
              <a:solidFill>
                <a:srgbClr val="0000FF"/>
              </a:solidFill>
              <a:latin typeface="Times New Roman" panose="02020603050405020304" pitchFamily="18" charset="0"/>
            </a:endParaRPr>
          </a:p>
        </p:txBody>
      </p:sp>
      <p:sp>
        <p:nvSpPr>
          <p:cNvPr id="60" name="Rectangle 6"/>
          <p:cNvSpPr>
            <a:spLocks noChangeArrowheads="1"/>
          </p:cNvSpPr>
          <p:nvPr/>
        </p:nvSpPr>
        <p:spPr bwMode="auto">
          <a:xfrm>
            <a:off x="0" y="-7396"/>
            <a:ext cx="45720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§6.2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无黏性土坡的稳定性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0646">
                                            <p:txEl>
                                              <p:pRg st="0" end="0"/>
                                            </p:txEl>
                                          </p:spTgt>
                                        </p:tgtEl>
                                        <p:attrNameLst>
                                          <p:attrName>style.visibility</p:attrName>
                                        </p:attrNameLst>
                                      </p:cBhvr>
                                      <p:to>
                                        <p:strVal val="visible"/>
                                      </p:to>
                                    </p:set>
                                    <p:animEffect transition="in" filter="wipe(left)">
                                      <p:cBhvr>
                                        <p:cTn id="7" dur="500"/>
                                        <p:tgtEl>
                                          <p:spTgt spid="7506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vertical)">
                                      <p:cBhvr>
                                        <p:cTn id="12" dur="500"/>
                                        <p:tgtEl>
                                          <p:spTgt spid="4"/>
                                        </p:tgtEl>
                                      </p:cBhvr>
                                    </p:animEffect>
                                  </p:childTnLst>
                                </p:cTn>
                              </p:par>
                            </p:childTnLst>
                          </p:cTn>
                        </p:par>
                        <p:par>
                          <p:cTn id="13" fill="hold">
                            <p:stCondLst>
                              <p:cond delay="500"/>
                            </p:stCondLst>
                            <p:childTnLst>
                              <p:par>
                                <p:cTn id="14" presetID="1" presetClass="entr" presetSubtype="0" fill="hold" grpId="0" nodeType="afterEffect">
                                  <p:stCondLst>
                                    <p:cond delay="0"/>
                                  </p:stCondLst>
                                  <p:childTnLst>
                                    <p:set>
                                      <p:cBhvr>
                                        <p:cTn id="15" dur="1" fill="hold">
                                          <p:stCondLst>
                                            <p:cond delay="499"/>
                                          </p:stCondLst>
                                        </p:cTn>
                                        <p:tgtEl>
                                          <p:spTgt spid="75067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750647"/>
                                        </p:tgtEl>
                                        <p:attrNameLst>
                                          <p:attrName>style.visibility</p:attrName>
                                        </p:attrNameLst>
                                      </p:cBhvr>
                                      <p:to>
                                        <p:strVal val="visible"/>
                                      </p:to>
                                    </p:set>
                                    <p:animEffect transition="in" filter="wipe(left)">
                                      <p:cBhvr>
                                        <p:cTn id="20" dur="500"/>
                                        <p:tgtEl>
                                          <p:spTgt spid="750647"/>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dissolve">
                                      <p:cBhvr>
                                        <p:cTn id="25" dur="5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750672"/>
                                        </p:tgtEl>
                                        <p:attrNameLst>
                                          <p:attrName>style.visibility</p:attrName>
                                        </p:attrNameLst>
                                      </p:cBhvr>
                                      <p:to>
                                        <p:strVal val="visible"/>
                                      </p:to>
                                    </p:set>
                                    <p:animEffect transition="in" filter="wipe(up)">
                                      <p:cBhvr>
                                        <p:cTn id="30" dur="500"/>
                                        <p:tgtEl>
                                          <p:spTgt spid="750672"/>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dissolve">
                                      <p:cBhvr>
                                        <p:cTn id="35" dur="500"/>
                                        <p:tgtEl>
                                          <p:spTgt spid="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750713"/>
                                        </p:tgtEl>
                                        <p:attrNameLst>
                                          <p:attrName>style.visibility</p:attrName>
                                        </p:attrNameLst>
                                      </p:cBhvr>
                                      <p:to>
                                        <p:strVal val="visible"/>
                                      </p:to>
                                    </p:set>
                                    <p:animEffect transition="in" filter="wipe(left)">
                                      <p:cBhvr>
                                        <p:cTn id="40" dur="500"/>
                                        <p:tgtEl>
                                          <p:spTgt spid="7507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0646" grpId="0" autoUpdateAnimBg="0" build="p"/>
      <p:bldP spid="750647" grpId="0" autoUpdateAnimBg="0"/>
      <p:bldP spid="750671" grpId="0" bldLvl="0" animBg="1" autoUpdateAnimBg="0"/>
      <p:bldP spid="750672" grpId="0" autoUpdateAnimBg="0"/>
      <p:bldP spid="750713"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7" name="Rectangle 3"/>
          <p:cNvSpPr>
            <a:spLocks noGrp="1" noChangeArrowheads="1"/>
          </p:cNvSpPr>
          <p:nvPr>
            <p:ph type="body" idx="1"/>
          </p:nvPr>
        </p:nvSpPr>
        <p:spPr bwMode="auto">
          <a:xfrm>
            <a:off x="1547664" y="1772816"/>
            <a:ext cx="6629400" cy="3429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buClr>
                <a:schemeClr val="folHlink"/>
              </a:buClr>
              <a:buFontTx/>
              <a:buNone/>
            </a:pPr>
            <a:r>
              <a:rPr lang="en-US" altLang="zh-CN" sz="3600" b="1" dirty="0" smtClean="0">
                <a:solidFill>
                  <a:schemeClr val="bg1">
                    <a:lumMod val="95000"/>
                  </a:schemeClr>
                </a:solidFill>
                <a:latin typeface="Times New Roman" panose="02020603050405020304" pitchFamily="18" charset="0"/>
                <a:cs typeface="Times New Roman" panose="02020603050405020304" pitchFamily="18" charset="0"/>
              </a:rPr>
              <a:t>§6.1 </a:t>
            </a:r>
            <a:r>
              <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rPr>
              <a:t>概述</a:t>
            </a:r>
            <a:endPar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endParaRPr>
          </a:p>
          <a:p>
            <a:pPr eaLnBrk="1" hangingPunct="1">
              <a:buClr>
                <a:schemeClr val="folHlink"/>
              </a:buClr>
              <a:buFontTx/>
              <a:buNone/>
            </a:pPr>
            <a:r>
              <a:rPr lang="en-US" altLang="zh-CN" sz="3600" b="1" dirty="0" smtClean="0">
                <a:solidFill>
                  <a:schemeClr val="bg1">
                    <a:lumMod val="95000"/>
                  </a:schemeClr>
                </a:solidFill>
                <a:latin typeface="Times New Roman" panose="02020603050405020304" pitchFamily="18" charset="0"/>
                <a:cs typeface="Times New Roman" panose="02020603050405020304" pitchFamily="18" charset="0"/>
              </a:rPr>
              <a:t>§6.2 </a:t>
            </a:r>
            <a:r>
              <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rPr>
              <a:t>无黏性土坡的稳定性</a:t>
            </a:r>
            <a:endPar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endParaRPr>
          </a:p>
          <a:p>
            <a:pPr eaLnBrk="1" hangingPunct="1">
              <a:buClr>
                <a:schemeClr val="folHlink"/>
              </a:buClr>
              <a:buFontTx/>
              <a:buNone/>
            </a:pPr>
            <a:r>
              <a:rPr lang="en-US" altLang="zh-CN" sz="3600" b="1" dirty="0" smtClean="0">
                <a:latin typeface="Times New Roman" panose="02020603050405020304" pitchFamily="18" charset="0"/>
                <a:cs typeface="Times New Roman" panose="02020603050405020304" pitchFamily="18" charset="0"/>
              </a:rPr>
              <a:t>§6.3 </a:t>
            </a:r>
            <a:r>
              <a:rPr lang="zh-CN" altLang="en-US" sz="3600" b="1" dirty="0" smtClean="0">
                <a:latin typeface="Times New Roman" panose="02020603050405020304" pitchFamily="18" charset="0"/>
                <a:cs typeface="Times New Roman" panose="02020603050405020304" pitchFamily="18" charset="0"/>
              </a:rPr>
              <a:t>黏性土坡的稳定性</a:t>
            </a:r>
            <a:endParaRPr lang="zh-CN" altLang="en-US" sz="3600" b="1" dirty="0" smtClean="0">
              <a:latin typeface="Times New Roman" panose="02020603050405020304" pitchFamily="18" charset="0"/>
              <a:cs typeface="Times New Roman" panose="02020603050405020304" pitchFamily="18" charset="0"/>
            </a:endParaRPr>
          </a:p>
          <a:p>
            <a:pPr eaLnBrk="1" hangingPunct="1">
              <a:buClr>
                <a:schemeClr val="folHlink"/>
              </a:buClr>
              <a:buFontTx/>
              <a:buNone/>
            </a:pPr>
            <a:r>
              <a:rPr lang="en-US" altLang="zh-CN" sz="3600" b="1" dirty="0" smtClean="0">
                <a:solidFill>
                  <a:schemeClr val="bg1">
                    <a:lumMod val="95000"/>
                  </a:schemeClr>
                </a:solidFill>
                <a:latin typeface="Times New Roman" panose="02020603050405020304" pitchFamily="18" charset="0"/>
                <a:cs typeface="Times New Roman" panose="02020603050405020304" pitchFamily="18" charset="0"/>
              </a:rPr>
              <a:t>§6.4 </a:t>
            </a:r>
            <a:r>
              <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rPr>
              <a:t>土坡稳定性的影响因素</a:t>
            </a:r>
            <a:endPar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endParaRPr>
          </a:p>
          <a:p>
            <a:pPr eaLnBrk="1" hangingPunct="1">
              <a:buClr>
                <a:schemeClr val="folHlink"/>
              </a:buClr>
              <a:buFontTx/>
              <a:buNone/>
            </a:pPr>
            <a:r>
              <a:rPr lang="en-US" altLang="zh-CN" sz="3600" b="1" dirty="0" smtClean="0">
                <a:solidFill>
                  <a:schemeClr val="bg1">
                    <a:lumMod val="95000"/>
                  </a:schemeClr>
                </a:solidFill>
                <a:latin typeface="Times New Roman" panose="02020603050405020304" pitchFamily="18" charset="0"/>
                <a:cs typeface="Times New Roman" panose="02020603050405020304" pitchFamily="18" charset="0"/>
              </a:rPr>
              <a:t>§6.5 </a:t>
            </a:r>
            <a:r>
              <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rPr>
              <a:t>地基的稳定性</a:t>
            </a:r>
            <a:r>
              <a:rPr lang="en-US" altLang="zh-CN" sz="3600" b="1" dirty="0" smtClean="0">
                <a:solidFill>
                  <a:schemeClr val="bg1">
                    <a:lumMod val="95000"/>
                  </a:schemeClr>
                </a:solidFill>
                <a:latin typeface="Times New Roman" panose="02020603050405020304" pitchFamily="18" charset="0"/>
                <a:cs typeface="Times New Roman" panose="02020603050405020304" pitchFamily="18" charset="0"/>
              </a:rPr>
              <a:t> </a:t>
            </a:r>
            <a:endPar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endParaRPr>
          </a:p>
        </p:txBody>
      </p:sp>
      <p:sp>
        <p:nvSpPr>
          <p:cNvPr id="3075" name="Rectangle 52"/>
          <p:cNvSpPr>
            <a:spLocks noChangeArrowheads="1"/>
          </p:cNvSpPr>
          <p:nvPr/>
        </p:nvSpPr>
        <p:spPr bwMode="auto">
          <a:xfrm>
            <a:off x="1071563" y="762000"/>
            <a:ext cx="74295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lang="zh-CN" altLang="en-US" b="1" dirty="0" smtClean="0">
                <a:solidFill>
                  <a:srgbClr val="FF0000"/>
                </a:solidFill>
                <a:latin typeface="+mj-ea"/>
                <a:ea typeface="+mj-ea"/>
              </a:rPr>
              <a:t>第六章 </a:t>
            </a:r>
            <a:r>
              <a:rPr lang="zh-CN" altLang="en-US" b="1" dirty="0">
                <a:solidFill>
                  <a:srgbClr val="FF0000"/>
                </a:solidFill>
                <a:latin typeface="+mj-ea"/>
                <a:ea typeface="+mj-ea"/>
              </a:rPr>
              <a:t>土坡和地基的稳定性</a:t>
            </a:r>
            <a:endParaRPr lang="zh-CN" altLang="en-US" b="1" dirty="0">
              <a:solidFill>
                <a:srgbClr val="FF0000"/>
              </a:solidFill>
              <a:latin typeface="+mj-ea"/>
              <a:ea typeface="+mj-ea"/>
            </a:endParaRPr>
          </a:p>
        </p:txBody>
      </p:sp>
      <p:sp>
        <p:nvSpPr>
          <p:cNvPr id="2" name="文本框 1"/>
          <p:cNvSpPr txBox="1"/>
          <p:nvPr/>
        </p:nvSpPr>
        <p:spPr>
          <a:xfrm>
            <a:off x="3493667" y="3717032"/>
            <a:ext cx="5040560" cy="2914259"/>
          </a:xfrm>
          <a:prstGeom prst="rect">
            <a:avLst/>
          </a:prstGeom>
          <a:noFill/>
        </p:spPr>
        <p:txBody>
          <a:bodyPr wrap="square" rtlCol="0">
            <a:spAutoFit/>
          </a:bodyPr>
          <a:lstStyle/>
          <a:p>
            <a:pPr>
              <a:lnSpc>
                <a:spcPts val="3200"/>
              </a:lnSpc>
            </a:pPr>
            <a:r>
              <a:rPr lang="en-US" altLang="zh-CN" sz="2400" b="1" dirty="0" smtClean="0">
                <a:latin typeface="+mn-ea"/>
                <a:ea typeface="+mn-ea"/>
              </a:rPr>
              <a:t>1.</a:t>
            </a:r>
            <a:r>
              <a:rPr lang="zh-CN" altLang="en-US" sz="2400" b="1" dirty="0" smtClean="0">
                <a:latin typeface="+mn-ea"/>
                <a:ea typeface="+mn-ea"/>
              </a:rPr>
              <a:t>整体圆弧滑动法</a:t>
            </a:r>
            <a:endParaRPr lang="en-US" altLang="zh-CN" sz="2400" b="1" dirty="0" smtClean="0">
              <a:latin typeface="+mn-ea"/>
              <a:ea typeface="+mn-ea"/>
            </a:endParaRPr>
          </a:p>
          <a:p>
            <a:pPr>
              <a:lnSpc>
                <a:spcPts val="3200"/>
              </a:lnSpc>
            </a:pPr>
            <a:r>
              <a:rPr lang="en-US" altLang="zh-CN" sz="2400" b="1" dirty="0" smtClean="0">
                <a:latin typeface="+mn-ea"/>
                <a:ea typeface="+mn-ea"/>
              </a:rPr>
              <a:t>2.</a:t>
            </a:r>
            <a:r>
              <a:rPr lang="zh-CN" altLang="en-US" sz="2400" b="1" dirty="0" smtClean="0">
                <a:latin typeface="+mn-ea"/>
                <a:ea typeface="+mn-ea"/>
              </a:rPr>
              <a:t>瑞典条分法</a:t>
            </a:r>
            <a:endParaRPr lang="en-US" altLang="zh-CN" sz="2400" b="1" dirty="0" smtClean="0">
              <a:latin typeface="+mn-ea"/>
              <a:ea typeface="+mn-ea"/>
            </a:endParaRPr>
          </a:p>
          <a:p>
            <a:pPr>
              <a:lnSpc>
                <a:spcPts val="3200"/>
              </a:lnSpc>
            </a:pPr>
            <a:r>
              <a:rPr lang="en-US" altLang="zh-CN" sz="2400" b="1" dirty="0" smtClean="0">
                <a:latin typeface="+mn-ea"/>
                <a:ea typeface="+mn-ea"/>
              </a:rPr>
              <a:t>3.</a:t>
            </a:r>
            <a:r>
              <a:rPr lang="zh-CN" altLang="en-US" sz="2400" b="1" dirty="0" smtClean="0">
                <a:latin typeface="+mn-ea"/>
                <a:ea typeface="+mn-ea"/>
              </a:rPr>
              <a:t>毕肖普条分法</a:t>
            </a:r>
            <a:endParaRPr lang="en-US" altLang="zh-CN" sz="2400" b="1" dirty="0" smtClean="0">
              <a:latin typeface="+mn-ea"/>
              <a:ea typeface="+mn-ea"/>
            </a:endParaRPr>
          </a:p>
          <a:p>
            <a:pPr>
              <a:lnSpc>
                <a:spcPts val="3200"/>
              </a:lnSpc>
            </a:pPr>
            <a:r>
              <a:rPr lang="en-US" altLang="zh-CN" sz="2400" b="1" dirty="0" smtClean="0">
                <a:latin typeface="+mn-ea"/>
                <a:ea typeface="+mn-ea"/>
              </a:rPr>
              <a:t>4.</a:t>
            </a:r>
            <a:r>
              <a:rPr lang="zh-CN" altLang="en-US" sz="2400" b="1" dirty="0" smtClean="0">
                <a:latin typeface="+mn-ea"/>
                <a:ea typeface="+mn-ea"/>
              </a:rPr>
              <a:t>规范</a:t>
            </a:r>
            <a:r>
              <a:rPr lang="zh-CN" altLang="en-US" sz="2400" b="1" dirty="0" smtClean="0">
                <a:latin typeface="+mn-ea"/>
              </a:rPr>
              <a:t>圆弧条分法</a:t>
            </a:r>
            <a:endParaRPr lang="en-US" altLang="zh-CN" sz="2400" b="1" dirty="0" smtClean="0">
              <a:latin typeface="+mn-ea"/>
            </a:endParaRPr>
          </a:p>
          <a:p>
            <a:pPr>
              <a:lnSpc>
                <a:spcPts val="3200"/>
              </a:lnSpc>
            </a:pPr>
            <a:r>
              <a:rPr lang="en-US" altLang="zh-CN" sz="2400" b="1" dirty="0" smtClean="0">
                <a:latin typeface="+mn-ea"/>
                <a:ea typeface="+mn-ea"/>
              </a:rPr>
              <a:t>5.</a:t>
            </a:r>
            <a:r>
              <a:rPr lang="zh-CN" altLang="en-US" sz="2400" b="1" dirty="0" smtClean="0">
                <a:latin typeface="+mn-ea"/>
                <a:ea typeface="+mn-ea"/>
              </a:rPr>
              <a:t>杨布条分法土坡稳定分析</a:t>
            </a:r>
            <a:endParaRPr lang="en-US" altLang="zh-CN" sz="2400" b="1" dirty="0" smtClean="0">
              <a:latin typeface="+mn-ea"/>
              <a:ea typeface="+mn-ea"/>
            </a:endParaRPr>
          </a:p>
          <a:p>
            <a:pPr>
              <a:lnSpc>
                <a:spcPts val="3200"/>
              </a:lnSpc>
            </a:pPr>
            <a:r>
              <a:rPr lang="en-US" altLang="zh-CN" sz="2400" b="1" dirty="0" smtClean="0">
                <a:latin typeface="+mn-ea"/>
                <a:ea typeface="+mn-ea"/>
              </a:rPr>
              <a:t>6.</a:t>
            </a:r>
            <a:r>
              <a:rPr lang="zh-CN" altLang="en-US" sz="2400" b="1" dirty="0" smtClean="0">
                <a:latin typeface="+mn-ea"/>
                <a:ea typeface="+mn-ea"/>
              </a:rPr>
              <a:t>折线滑动法</a:t>
            </a:r>
            <a:endParaRPr lang="en-US" altLang="zh-CN" sz="2400" b="1" dirty="0" smtClean="0">
              <a:latin typeface="+mn-ea"/>
              <a:ea typeface="+mn-ea"/>
            </a:endParaRPr>
          </a:p>
          <a:p>
            <a:pPr>
              <a:lnSpc>
                <a:spcPts val="3200"/>
              </a:lnSpc>
            </a:pPr>
            <a:r>
              <a:rPr lang="en-US" altLang="zh-CN" sz="2400" b="1" dirty="0" smtClean="0">
                <a:latin typeface="+mn-ea"/>
                <a:ea typeface="+mn-ea"/>
              </a:rPr>
              <a:t>7.</a:t>
            </a:r>
            <a:r>
              <a:rPr lang="zh-CN" altLang="en-US" sz="2400" b="1" dirty="0" smtClean="0">
                <a:latin typeface="+mn-ea"/>
                <a:ea typeface="+mn-ea"/>
              </a:rPr>
              <a:t>各种方法的比较</a:t>
            </a:r>
            <a:endParaRPr lang="zh-CN" altLang="en-US" sz="2400" b="1" dirty="0">
              <a:latin typeface="+mn-ea"/>
              <a:ea typeface="+mn-ea"/>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6627"/>
                                        </p:tgtEl>
                                        <p:attrNameLst>
                                          <p:attrName>style.visibility</p:attrName>
                                        </p:attrNameLst>
                                      </p:cBhvr>
                                      <p:to>
                                        <p:strVal val="visible"/>
                                      </p:to>
                                    </p:set>
                                    <p:animEffect transition="in" filter="barn(outVertical)">
                                      <p:cBhvr>
                                        <p:cTn id="7" dur="500"/>
                                        <p:tgtEl>
                                          <p:spTgt spid="26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2"/>
          <p:cNvSpPr>
            <a:spLocks noGrp="1" noChangeArrowheads="1"/>
          </p:cNvSpPr>
          <p:nvPr>
            <p:ph type="body" idx="4294967295"/>
          </p:nvPr>
        </p:nvSpPr>
        <p:spPr>
          <a:xfrm>
            <a:off x="395536" y="1268760"/>
            <a:ext cx="8425631" cy="4680520"/>
          </a:xfrm>
        </p:spPr>
        <p:txBody>
          <a:bodyPr/>
          <a:lstStyle/>
          <a:p>
            <a:pPr eaLnBrk="1" hangingPunct="1">
              <a:lnSpc>
                <a:spcPct val="150000"/>
              </a:lnSpc>
              <a:buFont typeface="Wingdings" panose="05000000000000000000" pitchFamily="2" charset="2"/>
              <a:buChar char="Ø"/>
              <a:defRPr/>
            </a:pPr>
            <a:r>
              <a:rPr lang="zh-CN" altLang="en-US" sz="2800" b="1" dirty="0" smtClean="0"/>
              <a:t>黏性土坡稳定分析时，首先由彼德森提出</a:t>
            </a:r>
            <a:r>
              <a:rPr lang="zh-CN" altLang="en-US" sz="2800" b="1" dirty="0"/>
              <a:t>采用圆弧滑动面</a:t>
            </a:r>
            <a:r>
              <a:rPr lang="zh-CN" altLang="en-US" sz="2800" b="1" dirty="0" smtClean="0"/>
              <a:t>，此后费伦纽斯和泰勒做了研究和改进。他们提出的分析方法可以分成两种：</a:t>
            </a:r>
            <a:endParaRPr lang="zh-CN" altLang="en-US" sz="2800" b="1" dirty="0" smtClean="0"/>
          </a:p>
          <a:p>
            <a:pPr eaLnBrk="1" hangingPunct="1">
              <a:lnSpc>
                <a:spcPct val="150000"/>
              </a:lnSpc>
              <a:buFont typeface="Wingdings" panose="05000000000000000000" pitchFamily="2" charset="2"/>
              <a:buChar char="Ø"/>
              <a:defRPr/>
            </a:pPr>
            <a:r>
              <a:rPr lang="en-US" altLang="zh-CN" sz="2800" b="1" dirty="0" smtClean="0"/>
              <a:t>(1)</a:t>
            </a:r>
            <a:r>
              <a:rPr lang="zh-CN" altLang="en-US" sz="2800" b="1" dirty="0" smtClean="0"/>
              <a:t>土坡圆弧滑动体按</a:t>
            </a:r>
            <a:r>
              <a:rPr lang="zh-CN" altLang="en-US" sz="2800" b="1" dirty="0" smtClean="0">
                <a:solidFill>
                  <a:srgbClr val="C00000"/>
                </a:solidFill>
              </a:rPr>
              <a:t>整体稳定分析法</a:t>
            </a:r>
            <a:r>
              <a:rPr lang="zh-CN" altLang="en-US" sz="2800" b="1" dirty="0" smtClean="0"/>
              <a:t>，主要适用均质简单土坡。</a:t>
            </a:r>
            <a:endParaRPr lang="en-US" altLang="zh-CN" sz="2800" b="1" dirty="0" smtClean="0"/>
          </a:p>
          <a:p>
            <a:pPr eaLnBrk="1" hangingPunct="1">
              <a:lnSpc>
                <a:spcPct val="150000"/>
              </a:lnSpc>
              <a:buFont typeface="Wingdings" panose="05000000000000000000" pitchFamily="2" charset="2"/>
              <a:buChar char="Ø"/>
              <a:defRPr/>
            </a:pPr>
            <a:r>
              <a:rPr lang="en-US" altLang="zh-CN" sz="2800" b="1" dirty="0" smtClean="0"/>
              <a:t>(2)</a:t>
            </a:r>
            <a:r>
              <a:rPr lang="zh-CN" altLang="en-US" sz="2800" b="1" dirty="0" smtClean="0"/>
              <a:t>用</a:t>
            </a:r>
            <a:r>
              <a:rPr lang="zh-CN" altLang="en-US" sz="2800" b="1" dirty="0" smtClean="0">
                <a:solidFill>
                  <a:srgbClr val="C00000"/>
                </a:solidFill>
              </a:rPr>
              <a:t>条分法</a:t>
            </a:r>
            <a:r>
              <a:rPr lang="zh-CN" altLang="en-US" sz="2800" b="1" dirty="0" smtClean="0"/>
              <a:t>分析土坡稳定，对非均质土坡、土坡外形复杂，土坡部分在水下时均适用。 </a:t>
            </a:r>
            <a:endParaRPr lang="zh-CN" altLang="en-US" sz="2800" b="1" dirty="0" smtClean="0"/>
          </a:p>
        </p:txBody>
      </p:sp>
      <p:sp>
        <p:nvSpPr>
          <p:cNvPr id="3" name="Rectangle 6"/>
          <p:cNvSpPr>
            <a:spLocks noChangeArrowheads="1"/>
          </p:cNvSpPr>
          <p:nvPr/>
        </p:nvSpPr>
        <p:spPr bwMode="auto">
          <a:xfrm>
            <a:off x="0" y="-7396"/>
            <a:ext cx="41148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黏性土坡的稳定性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1683" name="Rectangle 67"/>
          <p:cNvSpPr>
            <a:spLocks noGrp="1" noChangeArrowheads="1"/>
          </p:cNvSpPr>
          <p:nvPr>
            <p:ph type="body" sz="half" idx="1"/>
          </p:nvPr>
        </p:nvSpPr>
        <p:spPr bwMode="auto">
          <a:xfrm>
            <a:off x="333872" y="620688"/>
            <a:ext cx="8558981" cy="34640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algn="just" eaLnBrk="1" hangingPunct="1">
              <a:lnSpc>
                <a:spcPct val="150000"/>
              </a:lnSpc>
              <a:buFont typeface="Wingdings" panose="05000000000000000000" pitchFamily="2" charset="2"/>
              <a:buChar char="Ø"/>
            </a:pPr>
            <a:r>
              <a:rPr lang="zh-CN" altLang="en-US" sz="2000" b="1" dirty="0" smtClean="0">
                <a:latin typeface="+mn-ea"/>
              </a:rPr>
              <a:t>由于存在黏聚力</a:t>
            </a:r>
            <a:r>
              <a:rPr lang="en-US" altLang="zh-CN" sz="2000" b="1" i="1" dirty="0" smtClean="0">
                <a:latin typeface="+mn-ea"/>
                <a:cs typeface="Times New Roman" panose="02020603050405020304" pitchFamily="18" charset="0"/>
              </a:rPr>
              <a:t>c</a:t>
            </a:r>
            <a:r>
              <a:rPr lang="zh-CN" altLang="en-US" sz="2000" b="1" dirty="0" smtClean="0">
                <a:latin typeface="+mn-ea"/>
              </a:rPr>
              <a:t>，与无黏性土坡不同；</a:t>
            </a:r>
            <a:endParaRPr lang="zh-CN" altLang="en-US" sz="2000" b="1" dirty="0" smtClean="0">
              <a:latin typeface="+mn-ea"/>
            </a:endParaRPr>
          </a:p>
          <a:p>
            <a:pPr algn="just" eaLnBrk="1" hangingPunct="1">
              <a:lnSpc>
                <a:spcPct val="150000"/>
              </a:lnSpc>
              <a:buFont typeface="Wingdings" panose="05000000000000000000" pitchFamily="2" charset="2"/>
              <a:buChar char="Ø"/>
            </a:pPr>
            <a:r>
              <a:rPr lang="zh-CN" altLang="en-US" sz="2000" b="1" dirty="0" smtClean="0">
                <a:latin typeface="+mn-ea"/>
              </a:rPr>
              <a:t>其危险滑裂面位置在土坡深处，</a:t>
            </a:r>
            <a:r>
              <a:rPr lang="zh-CN" altLang="en-US" sz="2000" b="1" dirty="0" smtClean="0">
                <a:solidFill>
                  <a:srgbClr val="C00000"/>
                </a:solidFill>
                <a:latin typeface="+mn-ea"/>
              </a:rPr>
              <a:t>未知</a:t>
            </a:r>
            <a:r>
              <a:rPr lang="zh-CN" altLang="en-US" sz="2000" b="1" dirty="0" smtClean="0">
                <a:latin typeface="+mn-ea"/>
              </a:rPr>
              <a:t>；</a:t>
            </a:r>
            <a:endParaRPr lang="zh-CN" altLang="en-US" sz="2000" b="1" dirty="0" smtClean="0">
              <a:latin typeface="+mn-ea"/>
            </a:endParaRPr>
          </a:p>
          <a:p>
            <a:pPr algn="just" eaLnBrk="1" hangingPunct="1">
              <a:lnSpc>
                <a:spcPct val="150000"/>
              </a:lnSpc>
              <a:buFont typeface="Wingdings" panose="05000000000000000000" pitchFamily="2" charset="2"/>
              <a:buChar char="Ø"/>
            </a:pPr>
            <a:r>
              <a:rPr lang="zh-CN" altLang="en-US" sz="2000" b="1" dirty="0" smtClean="0">
                <a:latin typeface="+mn-ea"/>
              </a:rPr>
              <a:t>对于均匀土坡，在平面应变条件下，其滑动面可用一圆弧（圆柱面）近似；</a:t>
            </a:r>
            <a:endParaRPr lang="en-US" altLang="zh-CN" sz="2000" b="1" dirty="0" smtClean="0">
              <a:latin typeface="+mn-ea"/>
            </a:endParaRPr>
          </a:p>
          <a:p>
            <a:pPr algn="just" eaLnBrk="1" hangingPunct="1">
              <a:lnSpc>
                <a:spcPct val="150000"/>
              </a:lnSpc>
              <a:buFont typeface="Wingdings" panose="05000000000000000000" pitchFamily="2" charset="2"/>
              <a:buChar char="Ø"/>
            </a:pPr>
            <a:r>
              <a:rPr lang="zh-CN" altLang="en-US" sz="2000" b="1" dirty="0">
                <a:solidFill>
                  <a:srgbClr val="C00000"/>
                </a:solidFill>
                <a:latin typeface="+mn-ea"/>
              </a:rPr>
              <a:t>圆弧滑动面</a:t>
            </a:r>
            <a:r>
              <a:rPr lang="zh-CN" altLang="en-US" sz="2000" b="1" dirty="0">
                <a:latin typeface="+mn-ea"/>
              </a:rPr>
              <a:t>的形式一般有下述</a:t>
            </a:r>
            <a:r>
              <a:rPr lang="en-US" altLang="zh-CN" sz="2000" b="1" dirty="0">
                <a:latin typeface="+mn-ea"/>
              </a:rPr>
              <a:t>3</a:t>
            </a:r>
            <a:r>
              <a:rPr lang="zh-CN" altLang="en-US" sz="2000" b="1" dirty="0">
                <a:latin typeface="+mn-ea"/>
              </a:rPr>
              <a:t>种</a:t>
            </a:r>
            <a:r>
              <a:rPr lang="zh-CN" altLang="en-US" sz="2000" b="1" dirty="0" smtClean="0">
                <a:latin typeface="+mn-ea"/>
              </a:rPr>
              <a:t>：坡脚</a:t>
            </a:r>
            <a:r>
              <a:rPr lang="zh-CN" altLang="en-US" sz="2000" b="1" dirty="0">
                <a:latin typeface="+mn-ea"/>
              </a:rPr>
              <a:t>圆、坡面圆和中点圆，三种圆弧滑动面的产生，是与土坡的坡角</a:t>
            </a:r>
            <a:r>
              <a:rPr lang="zh-CN" altLang="en-US" sz="2000" b="1" dirty="0">
                <a:latin typeface="+mn-ea"/>
                <a:sym typeface="Symbol" panose="05050102010706020507" pitchFamily="18" charset="2"/>
              </a:rPr>
              <a:t></a:t>
            </a:r>
            <a:r>
              <a:rPr lang="zh-CN" altLang="en-US" sz="2000" b="1" dirty="0">
                <a:latin typeface="+mn-ea"/>
              </a:rPr>
              <a:t>大小、土的强度指标，以及土层中硬层的位置等因素有关。 </a:t>
            </a:r>
            <a:endParaRPr lang="zh-CN" altLang="en-US" sz="2000" b="1" dirty="0">
              <a:latin typeface="+mn-ea"/>
            </a:endParaRPr>
          </a:p>
        </p:txBody>
      </p:sp>
      <p:sp>
        <p:nvSpPr>
          <p:cNvPr id="34" name="Rectangle 6"/>
          <p:cNvSpPr>
            <a:spLocks noChangeArrowheads="1"/>
          </p:cNvSpPr>
          <p:nvPr/>
        </p:nvSpPr>
        <p:spPr bwMode="auto">
          <a:xfrm>
            <a:off x="0" y="-7396"/>
            <a:ext cx="41148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黏性土坡的稳定性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pic>
        <p:nvPicPr>
          <p:cNvPr id="36" name="Picture 5" descr="土8-4"/>
          <p:cNvPicPr>
            <a:picLocks noChangeAspect="1" noChangeArrowheads="1"/>
          </p:cNvPicPr>
          <p:nvPr/>
        </p:nvPicPr>
        <p:blipFill>
          <a:blip r:embed="rId1">
            <a:extLst>
              <a:ext uri="{28A0092B-C50C-407E-A947-70E740481C1C}">
                <a14:useLocalDpi xmlns:a14="http://schemas.microsoft.com/office/drawing/2010/main" val="0"/>
              </a:ext>
            </a:extLst>
          </a:blip>
          <a:srcRect b="19991"/>
          <a:stretch>
            <a:fillRect/>
          </a:stretch>
        </p:blipFill>
        <p:spPr bwMode="auto">
          <a:xfrm>
            <a:off x="323528" y="4084712"/>
            <a:ext cx="8569325" cy="259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1683">
                                            <p:txEl>
                                              <p:pRg st="0" end="0"/>
                                            </p:txEl>
                                          </p:spTgt>
                                        </p:tgtEl>
                                        <p:attrNameLst>
                                          <p:attrName>style.visibility</p:attrName>
                                        </p:attrNameLst>
                                      </p:cBhvr>
                                      <p:to>
                                        <p:strVal val="visible"/>
                                      </p:to>
                                    </p:set>
                                    <p:animEffect transition="in" filter="wipe(left)">
                                      <p:cBhvr>
                                        <p:cTn id="7" dur="500"/>
                                        <p:tgtEl>
                                          <p:spTgt spid="7516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51683">
                                            <p:txEl>
                                              <p:pRg st="1" end="1"/>
                                            </p:txEl>
                                          </p:spTgt>
                                        </p:tgtEl>
                                        <p:attrNameLst>
                                          <p:attrName>style.visibility</p:attrName>
                                        </p:attrNameLst>
                                      </p:cBhvr>
                                      <p:to>
                                        <p:strVal val="visible"/>
                                      </p:to>
                                    </p:set>
                                    <p:animEffect transition="in" filter="wipe(left)">
                                      <p:cBhvr>
                                        <p:cTn id="12" dur="500"/>
                                        <p:tgtEl>
                                          <p:spTgt spid="7516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51683">
                                            <p:txEl>
                                              <p:pRg st="2" end="2"/>
                                            </p:txEl>
                                          </p:spTgt>
                                        </p:tgtEl>
                                        <p:attrNameLst>
                                          <p:attrName>style.visibility</p:attrName>
                                        </p:attrNameLst>
                                      </p:cBhvr>
                                      <p:to>
                                        <p:strVal val="visible"/>
                                      </p:to>
                                    </p:set>
                                    <p:animEffect transition="in" filter="wipe(left)">
                                      <p:cBhvr>
                                        <p:cTn id="17" dur="500"/>
                                        <p:tgtEl>
                                          <p:spTgt spid="75168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51683">
                                            <p:txEl>
                                              <p:pRg st="3" end="3"/>
                                            </p:txEl>
                                          </p:spTgt>
                                        </p:tgtEl>
                                        <p:attrNameLst>
                                          <p:attrName>style.visibility</p:attrName>
                                        </p:attrNameLst>
                                      </p:cBhvr>
                                      <p:to>
                                        <p:strVal val="visible"/>
                                      </p:to>
                                    </p:set>
                                    <p:animEffect transition="in" filter="wipe(left)">
                                      <p:cBhvr>
                                        <p:cTn id="22" dur="500"/>
                                        <p:tgtEl>
                                          <p:spTgt spid="7516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1683" grpId="0" autoUpdateAnimBg="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ext Box 4"/>
          <p:cNvSpPr txBox="1">
            <a:spLocks noChangeArrowheads="1"/>
          </p:cNvSpPr>
          <p:nvPr/>
        </p:nvSpPr>
        <p:spPr bwMode="auto">
          <a:xfrm>
            <a:off x="5447652" y="770922"/>
            <a:ext cx="2246784"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3200" b="1" dirty="0" smtClean="0">
                <a:solidFill>
                  <a:srgbClr val="0000FF"/>
                </a:solidFill>
                <a:ea typeface="隶书" panose="02010509060101010101" pitchFamily="49" charset="-122"/>
              </a:rPr>
              <a:t>（</a:t>
            </a:r>
            <a:r>
              <a:rPr lang="zh-CN" altLang="en-US" sz="2400" b="1" dirty="0">
                <a:solidFill>
                  <a:srgbClr val="0000FF"/>
                </a:solidFill>
              </a:rPr>
              <a:t>瑞典圆弧法</a:t>
            </a:r>
            <a:r>
              <a:rPr lang="zh-CN" altLang="en-US" sz="3200" b="1" dirty="0">
                <a:solidFill>
                  <a:srgbClr val="0000FF"/>
                </a:solidFill>
                <a:ea typeface="隶书" panose="02010509060101010101" pitchFamily="49" charset="-122"/>
              </a:rPr>
              <a:t>）</a:t>
            </a:r>
            <a:endParaRPr lang="zh-CN" altLang="en-US" sz="3200" b="1" dirty="0">
              <a:solidFill>
                <a:srgbClr val="0000FF"/>
              </a:solidFill>
              <a:ea typeface="隶书" panose="02010509060101010101" pitchFamily="49" charset="-122"/>
            </a:endParaRPr>
          </a:p>
        </p:txBody>
      </p:sp>
      <p:sp>
        <p:nvSpPr>
          <p:cNvPr id="753674" name="Rectangle 10"/>
          <p:cNvSpPr>
            <a:spLocks noChangeArrowheads="1"/>
          </p:cNvSpPr>
          <p:nvPr/>
        </p:nvSpPr>
        <p:spPr bwMode="auto">
          <a:xfrm>
            <a:off x="755576" y="1990137"/>
            <a:ext cx="1285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buFontTx/>
              <a:buChar char="•"/>
            </a:pPr>
            <a:r>
              <a:rPr kumimoji="1" lang="en-US" altLang="zh-CN" sz="2400" b="1" dirty="0">
                <a:solidFill>
                  <a:srgbClr val="0000FF"/>
                </a:solidFill>
                <a:latin typeface="Times New Roman" panose="02020603050405020304" pitchFamily="18" charset="0"/>
              </a:rPr>
              <a:t> </a:t>
            </a:r>
            <a:r>
              <a:rPr kumimoji="1" lang="zh-CN" altLang="en-US" sz="2400" b="1" dirty="0">
                <a:solidFill>
                  <a:srgbClr val="0000FF"/>
                </a:solidFill>
                <a:latin typeface="Times New Roman" panose="02020603050405020304" pitchFamily="18" charset="0"/>
              </a:rPr>
              <a:t>均质土</a:t>
            </a:r>
            <a:endParaRPr kumimoji="1" lang="zh-CN" altLang="en-US" sz="2400" b="1" dirty="0">
              <a:solidFill>
                <a:srgbClr val="0000FF"/>
              </a:solidFill>
              <a:latin typeface="Times New Roman" panose="02020603050405020304" pitchFamily="18" charset="0"/>
            </a:endParaRPr>
          </a:p>
        </p:txBody>
      </p:sp>
      <p:sp>
        <p:nvSpPr>
          <p:cNvPr id="753675" name="Rectangle 11"/>
          <p:cNvSpPr>
            <a:spLocks noChangeArrowheads="1"/>
          </p:cNvSpPr>
          <p:nvPr/>
        </p:nvSpPr>
        <p:spPr bwMode="auto">
          <a:xfrm>
            <a:off x="753142" y="2457908"/>
            <a:ext cx="979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buFontTx/>
              <a:buChar char="•"/>
            </a:pPr>
            <a:r>
              <a:rPr kumimoji="1" lang="en-US" altLang="zh-CN" sz="2400" b="1" dirty="0">
                <a:solidFill>
                  <a:srgbClr val="0000FF"/>
                </a:solidFill>
                <a:latin typeface="Times New Roman" panose="02020603050405020304" pitchFamily="18" charset="0"/>
              </a:rPr>
              <a:t> </a:t>
            </a:r>
            <a:r>
              <a:rPr kumimoji="1" lang="zh-CN" altLang="en-US" sz="2400" b="1" dirty="0">
                <a:solidFill>
                  <a:srgbClr val="0000FF"/>
                </a:solidFill>
                <a:latin typeface="Times New Roman" panose="02020603050405020304" pitchFamily="18" charset="0"/>
              </a:rPr>
              <a:t>二维</a:t>
            </a:r>
            <a:endParaRPr kumimoji="1" lang="zh-CN" altLang="en-US" sz="2400" b="1" dirty="0">
              <a:solidFill>
                <a:srgbClr val="0000FF"/>
              </a:solidFill>
              <a:latin typeface="Times New Roman" panose="02020603050405020304" pitchFamily="18" charset="0"/>
            </a:endParaRPr>
          </a:p>
        </p:txBody>
      </p:sp>
      <p:sp>
        <p:nvSpPr>
          <p:cNvPr id="753676" name="Rectangle 12"/>
          <p:cNvSpPr>
            <a:spLocks noChangeArrowheads="1"/>
          </p:cNvSpPr>
          <p:nvPr/>
        </p:nvSpPr>
        <p:spPr bwMode="auto">
          <a:xfrm>
            <a:off x="753142" y="2925679"/>
            <a:ext cx="1898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buFontTx/>
              <a:buChar char="•"/>
            </a:pPr>
            <a:r>
              <a:rPr kumimoji="1" lang="en-US" altLang="zh-CN" sz="2400" b="1" dirty="0">
                <a:solidFill>
                  <a:srgbClr val="0000FF"/>
                </a:solidFill>
                <a:latin typeface="Times New Roman" panose="02020603050405020304" pitchFamily="18" charset="0"/>
              </a:rPr>
              <a:t> </a:t>
            </a:r>
            <a:r>
              <a:rPr kumimoji="1" lang="zh-CN" altLang="en-US" sz="2400" b="1" dirty="0">
                <a:solidFill>
                  <a:srgbClr val="0000FF"/>
                </a:solidFill>
                <a:latin typeface="Times New Roman" panose="02020603050405020304" pitchFamily="18" charset="0"/>
              </a:rPr>
              <a:t>圆弧滑动面</a:t>
            </a:r>
            <a:endParaRPr kumimoji="1" lang="zh-CN" altLang="en-US" sz="2400" b="1" dirty="0">
              <a:solidFill>
                <a:srgbClr val="0000FF"/>
              </a:solidFill>
              <a:latin typeface="Times New Roman" panose="02020603050405020304" pitchFamily="18" charset="0"/>
            </a:endParaRPr>
          </a:p>
        </p:txBody>
      </p:sp>
      <p:sp>
        <p:nvSpPr>
          <p:cNvPr id="753677" name="Rectangle 13"/>
          <p:cNvSpPr>
            <a:spLocks noChangeArrowheads="1"/>
          </p:cNvSpPr>
          <p:nvPr/>
        </p:nvSpPr>
        <p:spPr bwMode="auto">
          <a:xfrm>
            <a:off x="798804" y="3404021"/>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buFontTx/>
              <a:buChar char="•"/>
            </a:pPr>
            <a:r>
              <a:rPr kumimoji="1" lang="en-US" altLang="zh-CN" sz="2400" b="1" dirty="0">
                <a:solidFill>
                  <a:srgbClr val="0000FF"/>
                </a:solidFill>
                <a:latin typeface="Times New Roman" panose="02020603050405020304" pitchFamily="18" charset="0"/>
              </a:rPr>
              <a:t> </a:t>
            </a:r>
            <a:r>
              <a:rPr kumimoji="1" lang="zh-CN" altLang="en-US" sz="2400" b="1" dirty="0">
                <a:solidFill>
                  <a:srgbClr val="0000FF"/>
                </a:solidFill>
                <a:latin typeface="Times New Roman" panose="02020603050405020304" pitchFamily="18" charset="0"/>
              </a:rPr>
              <a:t>滑动土体呈刚性转动</a:t>
            </a:r>
            <a:endParaRPr kumimoji="1" lang="zh-CN" altLang="en-US" sz="2400" b="1" dirty="0">
              <a:solidFill>
                <a:srgbClr val="0000FF"/>
              </a:solidFill>
              <a:latin typeface="Times New Roman" panose="02020603050405020304" pitchFamily="18" charset="0"/>
            </a:endParaRPr>
          </a:p>
        </p:txBody>
      </p:sp>
      <p:sp>
        <p:nvSpPr>
          <p:cNvPr id="753678" name="Rectangle 14"/>
          <p:cNvSpPr>
            <a:spLocks noChangeArrowheads="1"/>
          </p:cNvSpPr>
          <p:nvPr/>
        </p:nvSpPr>
        <p:spPr bwMode="auto">
          <a:xfrm>
            <a:off x="835235" y="3895141"/>
            <a:ext cx="40815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buFontTx/>
              <a:buChar char="•"/>
            </a:pPr>
            <a:r>
              <a:rPr kumimoji="1" lang="en-US" altLang="zh-CN" sz="2400" b="1" dirty="0">
                <a:solidFill>
                  <a:srgbClr val="0000FF"/>
                </a:solidFill>
                <a:latin typeface="Times New Roman" panose="02020603050405020304" pitchFamily="18" charset="0"/>
              </a:rPr>
              <a:t> </a:t>
            </a:r>
            <a:r>
              <a:rPr kumimoji="1" lang="zh-CN" altLang="en-US" sz="2400" b="1" dirty="0" smtClean="0">
                <a:solidFill>
                  <a:srgbClr val="0000FF"/>
                </a:solidFill>
                <a:latin typeface="Times New Roman" panose="02020603050405020304" pitchFamily="18" charset="0"/>
              </a:rPr>
              <a:t>滑动面</a:t>
            </a:r>
            <a:r>
              <a:rPr kumimoji="1" lang="zh-CN" altLang="en-US" sz="2400" b="1" dirty="0">
                <a:solidFill>
                  <a:srgbClr val="0000FF"/>
                </a:solidFill>
                <a:latin typeface="Times New Roman" panose="02020603050405020304" pitchFamily="18" charset="0"/>
              </a:rPr>
              <a:t>上处于极限平衡条件</a:t>
            </a:r>
            <a:endParaRPr kumimoji="1" lang="zh-CN" altLang="en-US" sz="2400" b="1" dirty="0">
              <a:solidFill>
                <a:srgbClr val="0000FF"/>
              </a:solidFill>
              <a:latin typeface="Times New Roman" panose="02020603050405020304" pitchFamily="18" charset="0"/>
            </a:endParaRPr>
          </a:p>
        </p:txBody>
      </p:sp>
      <p:sp>
        <p:nvSpPr>
          <p:cNvPr id="753679" name="Text Box 15"/>
          <p:cNvSpPr txBox="1">
            <a:spLocks noChangeArrowheads="1"/>
          </p:cNvSpPr>
          <p:nvPr/>
        </p:nvSpPr>
        <p:spPr bwMode="auto">
          <a:xfrm>
            <a:off x="603250" y="1441614"/>
            <a:ext cx="23622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3200" b="1" dirty="0">
                <a:solidFill>
                  <a:srgbClr val="990000"/>
                </a:solidFill>
                <a:ea typeface="隶书" panose="02010509060101010101" pitchFamily="49" charset="-122"/>
              </a:rPr>
              <a:t>假设条件</a:t>
            </a:r>
            <a:endParaRPr lang="zh-CN" altLang="en-US" sz="3200" b="1" dirty="0">
              <a:solidFill>
                <a:srgbClr val="990000"/>
              </a:solidFill>
              <a:ea typeface="隶书" panose="02010509060101010101" pitchFamily="49" charset="-122"/>
            </a:endParaRPr>
          </a:p>
        </p:txBody>
      </p:sp>
      <p:grpSp>
        <p:nvGrpSpPr>
          <p:cNvPr id="2" name="Group 17"/>
          <p:cNvGrpSpPr/>
          <p:nvPr/>
        </p:nvGrpSpPr>
        <p:grpSpPr bwMode="auto">
          <a:xfrm>
            <a:off x="4495800" y="1828800"/>
            <a:ext cx="3846513" cy="2590800"/>
            <a:chOff x="2368" y="2016"/>
            <a:chExt cx="2999" cy="1944"/>
          </a:xfrm>
        </p:grpSpPr>
        <p:sp>
          <p:nvSpPr>
            <p:cNvPr id="27659" name="Line 18"/>
            <p:cNvSpPr>
              <a:spLocks noChangeShapeType="1"/>
            </p:cNvSpPr>
            <p:nvPr/>
          </p:nvSpPr>
          <p:spPr bwMode="auto">
            <a:xfrm flipH="1" flipV="1">
              <a:off x="3052" y="2306"/>
              <a:ext cx="1659" cy="63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0" name="Line 19"/>
            <p:cNvSpPr>
              <a:spLocks noChangeShapeType="1"/>
            </p:cNvSpPr>
            <p:nvPr/>
          </p:nvSpPr>
          <p:spPr bwMode="auto">
            <a:xfrm>
              <a:off x="3052" y="2306"/>
              <a:ext cx="0" cy="165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1" name="Line 20"/>
            <p:cNvSpPr>
              <a:spLocks noChangeShapeType="1"/>
            </p:cNvSpPr>
            <p:nvPr/>
          </p:nvSpPr>
          <p:spPr bwMode="auto">
            <a:xfrm>
              <a:off x="2368" y="3950"/>
              <a:ext cx="693" cy="0"/>
            </a:xfrm>
            <a:prstGeom prst="line">
              <a:avLst/>
            </a:prstGeom>
            <a:noFill/>
            <a:ln w="3810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2" name="Freeform 21"/>
            <p:cNvSpPr/>
            <p:nvPr/>
          </p:nvSpPr>
          <p:spPr bwMode="auto">
            <a:xfrm>
              <a:off x="3056" y="2935"/>
              <a:ext cx="1636" cy="1012"/>
            </a:xfrm>
            <a:custGeom>
              <a:avLst/>
              <a:gdLst>
                <a:gd name="T0" fmla="*/ 0 w 1376"/>
                <a:gd name="T1" fmla="*/ 1527 h 824"/>
                <a:gd name="T2" fmla="*/ 1371 w 1376"/>
                <a:gd name="T3" fmla="*/ 1229 h 824"/>
                <a:gd name="T4" fmla="*/ 2313 w 1376"/>
                <a:gd name="T5" fmla="*/ 0 h 824"/>
                <a:gd name="T6" fmla="*/ 0 60000 65536"/>
                <a:gd name="T7" fmla="*/ 0 60000 65536"/>
                <a:gd name="T8" fmla="*/ 0 60000 65536"/>
                <a:gd name="T9" fmla="*/ 0 w 1376"/>
                <a:gd name="T10" fmla="*/ 0 h 824"/>
                <a:gd name="T11" fmla="*/ 1376 w 1376"/>
                <a:gd name="T12" fmla="*/ 824 h 824"/>
              </a:gdLst>
              <a:ahLst/>
              <a:cxnLst>
                <a:cxn ang="T6">
                  <a:pos x="T0" y="T1"/>
                </a:cxn>
                <a:cxn ang="T7">
                  <a:pos x="T2" y="T3"/>
                </a:cxn>
                <a:cxn ang="T8">
                  <a:pos x="T4" y="T5"/>
                </a:cxn>
              </a:cxnLst>
              <a:rect l="T9" t="T10" r="T11" b="T12"/>
              <a:pathLst>
                <a:path w="1376" h="824">
                  <a:moveTo>
                    <a:pt x="0" y="824"/>
                  </a:moveTo>
                  <a:cubicBezTo>
                    <a:pt x="293" y="812"/>
                    <a:pt x="587" y="801"/>
                    <a:pt x="816" y="664"/>
                  </a:cubicBezTo>
                  <a:cubicBezTo>
                    <a:pt x="1045" y="527"/>
                    <a:pt x="1304" y="213"/>
                    <a:pt x="1376" y="0"/>
                  </a:cubicBezTo>
                </a:path>
              </a:pathLst>
            </a:custGeom>
            <a:noFill/>
            <a:ln w="38100">
              <a:solidFill>
                <a:srgbClr val="CC33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663" name="Line 22"/>
            <p:cNvSpPr>
              <a:spLocks noChangeShapeType="1"/>
            </p:cNvSpPr>
            <p:nvPr/>
          </p:nvSpPr>
          <p:spPr bwMode="auto">
            <a:xfrm flipV="1">
              <a:off x="4702" y="2933"/>
              <a:ext cx="665" cy="0"/>
            </a:xfrm>
            <a:prstGeom prst="line">
              <a:avLst/>
            </a:prstGeom>
            <a:noFill/>
            <a:ln w="3810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4" name="Line 23"/>
            <p:cNvSpPr>
              <a:spLocks noChangeShapeType="1"/>
            </p:cNvSpPr>
            <p:nvPr/>
          </p:nvSpPr>
          <p:spPr bwMode="auto">
            <a:xfrm flipV="1">
              <a:off x="3052" y="2935"/>
              <a:ext cx="806" cy="1025"/>
            </a:xfrm>
            <a:prstGeom prst="line">
              <a:avLst/>
            </a:prstGeom>
            <a:noFill/>
            <a:ln w="3810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5" name="Line 24"/>
            <p:cNvSpPr>
              <a:spLocks noChangeShapeType="1"/>
            </p:cNvSpPr>
            <p:nvPr/>
          </p:nvSpPr>
          <p:spPr bwMode="auto">
            <a:xfrm>
              <a:off x="3867" y="2935"/>
              <a:ext cx="834" cy="0"/>
            </a:xfrm>
            <a:prstGeom prst="line">
              <a:avLst/>
            </a:prstGeom>
            <a:noFill/>
            <a:ln w="3810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6" name="Text Box 25"/>
            <p:cNvSpPr txBox="1">
              <a:spLocks noChangeArrowheads="1"/>
            </p:cNvSpPr>
            <p:nvPr/>
          </p:nvSpPr>
          <p:spPr bwMode="auto">
            <a:xfrm>
              <a:off x="2854" y="2016"/>
              <a:ext cx="281"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a:solidFill>
                    <a:schemeClr val="tx1"/>
                  </a:solidFill>
                  <a:latin typeface="Times New Roman" panose="02020603050405020304" pitchFamily="18" charset="0"/>
                </a:rPr>
                <a:t>O</a:t>
              </a:r>
              <a:endParaRPr kumimoji="1" lang="en-US" altLang="zh-CN" sz="2400">
                <a:solidFill>
                  <a:schemeClr val="tx1"/>
                </a:solidFill>
                <a:latin typeface="Times New Roman" panose="02020603050405020304" pitchFamily="18" charset="0"/>
              </a:endParaRPr>
            </a:p>
          </p:txBody>
        </p:sp>
        <p:sp>
          <p:nvSpPr>
            <p:cNvPr id="27667" name="Text Box 26"/>
            <p:cNvSpPr txBox="1">
              <a:spLocks noChangeArrowheads="1"/>
            </p:cNvSpPr>
            <p:nvPr/>
          </p:nvSpPr>
          <p:spPr bwMode="auto">
            <a:xfrm>
              <a:off x="3699" y="2305"/>
              <a:ext cx="281"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a:solidFill>
                    <a:schemeClr val="tx1"/>
                  </a:solidFill>
                  <a:latin typeface="Times New Roman" panose="02020603050405020304" pitchFamily="18" charset="0"/>
                </a:rPr>
                <a:t>R</a:t>
              </a:r>
              <a:endParaRPr kumimoji="1" lang="en-US" altLang="zh-CN" sz="2400">
                <a:solidFill>
                  <a:schemeClr val="tx1"/>
                </a:solidFill>
                <a:latin typeface="Times New Roman" panose="02020603050405020304" pitchFamily="18" charset="0"/>
              </a:endParaRPr>
            </a:p>
          </p:txBody>
        </p:sp>
        <p:sp>
          <p:nvSpPr>
            <p:cNvPr id="27668" name="Line 27"/>
            <p:cNvSpPr>
              <a:spLocks noChangeShapeType="1"/>
            </p:cNvSpPr>
            <p:nvPr/>
          </p:nvSpPr>
          <p:spPr bwMode="auto">
            <a:xfrm flipH="1">
              <a:off x="4704" y="2934"/>
              <a:ext cx="80"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9" name="Line 28"/>
            <p:cNvSpPr>
              <a:spLocks noChangeShapeType="1"/>
            </p:cNvSpPr>
            <p:nvPr/>
          </p:nvSpPr>
          <p:spPr bwMode="auto">
            <a:xfrm flipH="1">
              <a:off x="4776" y="2934"/>
              <a:ext cx="80"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0" name="Line 29"/>
            <p:cNvSpPr>
              <a:spLocks noChangeShapeType="1"/>
            </p:cNvSpPr>
            <p:nvPr/>
          </p:nvSpPr>
          <p:spPr bwMode="auto">
            <a:xfrm flipH="1">
              <a:off x="4860" y="2928"/>
              <a:ext cx="80"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1" name="Line 30"/>
            <p:cNvSpPr>
              <a:spLocks noChangeShapeType="1"/>
            </p:cNvSpPr>
            <p:nvPr/>
          </p:nvSpPr>
          <p:spPr bwMode="auto">
            <a:xfrm flipH="1">
              <a:off x="4932" y="2928"/>
              <a:ext cx="80"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2" name="Line 31"/>
            <p:cNvSpPr>
              <a:spLocks noChangeShapeType="1"/>
            </p:cNvSpPr>
            <p:nvPr/>
          </p:nvSpPr>
          <p:spPr bwMode="auto">
            <a:xfrm flipH="1">
              <a:off x="4996" y="2934"/>
              <a:ext cx="80"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3" name="Line 32"/>
            <p:cNvSpPr>
              <a:spLocks noChangeShapeType="1"/>
            </p:cNvSpPr>
            <p:nvPr/>
          </p:nvSpPr>
          <p:spPr bwMode="auto">
            <a:xfrm flipH="1">
              <a:off x="5068" y="2934"/>
              <a:ext cx="80"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4" name="Line 33"/>
            <p:cNvSpPr>
              <a:spLocks noChangeShapeType="1"/>
            </p:cNvSpPr>
            <p:nvPr/>
          </p:nvSpPr>
          <p:spPr bwMode="auto">
            <a:xfrm flipH="1">
              <a:off x="5152" y="2928"/>
              <a:ext cx="80"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5" name="Line 34"/>
            <p:cNvSpPr>
              <a:spLocks noChangeShapeType="1"/>
            </p:cNvSpPr>
            <p:nvPr/>
          </p:nvSpPr>
          <p:spPr bwMode="auto">
            <a:xfrm flipH="1">
              <a:off x="5224" y="2928"/>
              <a:ext cx="80"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6" name="Line 35"/>
            <p:cNvSpPr>
              <a:spLocks noChangeShapeType="1"/>
            </p:cNvSpPr>
            <p:nvPr/>
          </p:nvSpPr>
          <p:spPr bwMode="auto">
            <a:xfrm flipV="1">
              <a:off x="3984" y="2933"/>
              <a:ext cx="665" cy="0"/>
            </a:xfrm>
            <a:prstGeom prst="line">
              <a:avLst/>
            </a:prstGeom>
            <a:noFill/>
            <a:ln w="38100">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7" name="Line 36"/>
            <p:cNvSpPr>
              <a:spLocks noChangeShapeType="1"/>
            </p:cNvSpPr>
            <p:nvPr/>
          </p:nvSpPr>
          <p:spPr bwMode="auto">
            <a:xfrm flipH="1">
              <a:off x="3986" y="2934"/>
              <a:ext cx="80"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8" name="Line 37"/>
            <p:cNvSpPr>
              <a:spLocks noChangeShapeType="1"/>
            </p:cNvSpPr>
            <p:nvPr/>
          </p:nvSpPr>
          <p:spPr bwMode="auto">
            <a:xfrm flipH="1">
              <a:off x="4058" y="2934"/>
              <a:ext cx="80"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9" name="Line 38"/>
            <p:cNvSpPr>
              <a:spLocks noChangeShapeType="1"/>
            </p:cNvSpPr>
            <p:nvPr/>
          </p:nvSpPr>
          <p:spPr bwMode="auto">
            <a:xfrm flipH="1">
              <a:off x="4142" y="2928"/>
              <a:ext cx="80"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0" name="Line 39"/>
            <p:cNvSpPr>
              <a:spLocks noChangeShapeType="1"/>
            </p:cNvSpPr>
            <p:nvPr/>
          </p:nvSpPr>
          <p:spPr bwMode="auto">
            <a:xfrm flipH="1">
              <a:off x="4214" y="2928"/>
              <a:ext cx="80"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1" name="Line 40"/>
            <p:cNvSpPr>
              <a:spLocks noChangeShapeType="1"/>
            </p:cNvSpPr>
            <p:nvPr/>
          </p:nvSpPr>
          <p:spPr bwMode="auto">
            <a:xfrm flipH="1">
              <a:off x="4278" y="2934"/>
              <a:ext cx="80"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2" name="Line 41"/>
            <p:cNvSpPr>
              <a:spLocks noChangeShapeType="1"/>
            </p:cNvSpPr>
            <p:nvPr/>
          </p:nvSpPr>
          <p:spPr bwMode="auto">
            <a:xfrm flipH="1">
              <a:off x="4350" y="2934"/>
              <a:ext cx="80"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3" name="Line 42"/>
            <p:cNvSpPr>
              <a:spLocks noChangeShapeType="1"/>
            </p:cNvSpPr>
            <p:nvPr/>
          </p:nvSpPr>
          <p:spPr bwMode="auto">
            <a:xfrm flipH="1">
              <a:off x="4434" y="2928"/>
              <a:ext cx="80"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4" name="Line 43"/>
            <p:cNvSpPr>
              <a:spLocks noChangeShapeType="1"/>
            </p:cNvSpPr>
            <p:nvPr/>
          </p:nvSpPr>
          <p:spPr bwMode="auto">
            <a:xfrm flipH="1">
              <a:off x="4506" y="2928"/>
              <a:ext cx="80"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7" name="文本框 36"/>
          <p:cNvSpPr txBox="1"/>
          <p:nvPr/>
        </p:nvSpPr>
        <p:spPr>
          <a:xfrm>
            <a:off x="2508201" y="704876"/>
            <a:ext cx="2736304" cy="523220"/>
          </a:xfrm>
          <a:prstGeom prst="rect">
            <a:avLst/>
          </a:prstGeom>
          <a:solidFill>
            <a:srgbClr val="FFC000"/>
          </a:solidFill>
        </p:spPr>
        <p:txBody>
          <a:bodyPr wrap="square" rtlCol="0">
            <a:spAutoFit/>
          </a:bodyPr>
          <a:lstStyle/>
          <a:p>
            <a:r>
              <a:rPr lang="zh-CN" altLang="en-US" b="1" dirty="0" smtClean="0">
                <a:latin typeface="+mn-ea"/>
                <a:ea typeface="+mn-ea"/>
              </a:rPr>
              <a:t>整体圆弧滑动法</a:t>
            </a:r>
            <a:endParaRPr lang="zh-CN" altLang="en-US" b="1" dirty="0">
              <a:latin typeface="+mn-ea"/>
              <a:ea typeface="+mn-ea"/>
            </a:endParaRPr>
          </a:p>
        </p:txBody>
      </p:sp>
      <p:sp>
        <p:nvSpPr>
          <p:cNvPr id="3" name="矩形 2"/>
          <p:cNvSpPr/>
          <p:nvPr/>
        </p:nvSpPr>
        <p:spPr>
          <a:xfrm>
            <a:off x="679450" y="4839045"/>
            <a:ext cx="7780982" cy="1200329"/>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en-US" sz="2400" b="1" dirty="0">
                <a:latin typeface="+mn-ea"/>
                <a:ea typeface="+mn-ea"/>
              </a:rPr>
              <a:t>土坡滑动的</a:t>
            </a:r>
            <a:r>
              <a:rPr lang="zh-CN" altLang="en-US" sz="2400" b="1" dirty="0">
                <a:solidFill>
                  <a:srgbClr val="C00000"/>
                </a:solidFill>
                <a:latin typeface="+mn-ea"/>
                <a:ea typeface="+mn-ea"/>
              </a:rPr>
              <a:t>稳定</a:t>
            </a:r>
            <a:r>
              <a:rPr lang="zh-CN" altLang="en-US" sz="2400" b="1" dirty="0" smtClean="0">
                <a:solidFill>
                  <a:srgbClr val="C00000"/>
                </a:solidFill>
                <a:latin typeface="+mn-ea"/>
                <a:ea typeface="+mn-ea"/>
              </a:rPr>
              <a:t>安全系数 </a:t>
            </a:r>
            <a:r>
              <a:rPr lang="en-US" altLang="zh-CN" sz="2400" b="1" i="1" dirty="0" smtClean="0">
                <a:solidFill>
                  <a:srgbClr val="C00000"/>
                </a:solidFill>
                <a:latin typeface="+mn-ea"/>
                <a:ea typeface="+mn-ea"/>
              </a:rPr>
              <a:t>K </a:t>
            </a:r>
            <a:r>
              <a:rPr lang="zh-CN" altLang="en-US" sz="2400" b="1" dirty="0" smtClean="0">
                <a:latin typeface="+mn-ea"/>
                <a:ea typeface="+mn-ea"/>
              </a:rPr>
              <a:t>则可用</a:t>
            </a:r>
            <a:r>
              <a:rPr lang="zh-CN" altLang="en-US" sz="2400" b="1" dirty="0">
                <a:latin typeface="+mn-ea"/>
                <a:ea typeface="+mn-ea"/>
              </a:rPr>
              <a:t>稳定力矩（又称抗滑力矩）</a:t>
            </a:r>
            <a:r>
              <a:rPr lang="en-US" altLang="zh-CN" sz="2400" b="1" i="1" dirty="0" err="1">
                <a:latin typeface="+mn-ea"/>
                <a:ea typeface="+mn-ea"/>
              </a:rPr>
              <a:t>M</a:t>
            </a:r>
            <a:r>
              <a:rPr lang="en-US" altLang="zh-CN" sz="2400" b="1" baseline="-25000" dirty="0" err="1">
                <a:latin typeface="+mn-ea"/>
                <a:ea typeface="+mn-ea"/>
              </a:rPr>
              <a:t>r</a:t>
            </a:r>
            <a:r>
              <a:rPr lang="en-US" altLang="zh-CN" sz="2400" b="1" baseline="-25000" dirty="0">
                <a:latin typeface="+mn-ea"/>
                <a:ea typeface="+mn-ea"/>
              </a:rPr>
              <a:t> </a:t>
            </a:r>
            <a:r>
              <a:rPr lang="zh-CN" altLang="en-US" sz="2400" b="1" dirty="0">
                <a:latin typeface="+mn-ea"/>
                <a:ea typeface="+mn-ea"/>
              </a:rPr>
              <a:t>与滑动力矩</a:t>
            </a:r>
            <a:r>
              <a:rPr lang="en-US" altLang="zh-CN" sz="2400" b="1" i="1" dirty="0">
                <a:latin typeface="+mn-ea"/>
                <a:ea typeface="+mn-ea"/>
              </a:rPr>
              <a:t>M</a:t>
            </a:r>
            <a:r>
              <a:rPr lang="en-US" altLang="zh-CN" sz="2400" b="1" baseline="-25000" dirty="0">
                <a:latin typeface="+mn-ea"/>
                <a:ea typeface="+mn-ea"/>
              </a:rPr>
              <a:t>S </a:t>
            </a:r>
            <a:r>
              <a:rPr lang="zh-CN" altLang="en-US" sz="2400" b="1" dirty="0">
                <a:latin typeface="+mn-ea"/>
                <a:ea typeface="+mn-ea"/>
              </a:rPr>
              <a:t>的比值</a:t>
            </a:r>
            <a:r>
              <a:rPr lang="zh-CN" altLang="en-US" sz="2400" b="1" dirty="0" smtClean="0">
                <a:latin typeface="+mn-ea"/>
                <a:ea typeface="+mn-ea"/>
              </a:rPr>
              <a:t>表示</a:t>
            </a:r>
            <a:endParaRPr lang="zh-CN" altLang="en-US" sz="2400" dirty="0">
              <a:latin typeface="+mn-ea"/>
              <a:ea typeface="+mn-ea"/>
            </a:endParaRPr>
          </a:p>
        </p:txBody>
      </p:sp>
      <p:sp>
        <p:nvSpPr>
          <p:cNvPr id="38" name="Rectangle 6"/>
          <p:cNvSpPr>
            <a:spLocks noChangeArrowheads="1"/>
          </p:cNvSpPr>
          <p:nvPr/>
        </p:nvSpPr>
        <p:spPr bwMode="auto">
          <a:xfrm>
            <a:off x="0" y="-7396"/>
            <a:ext cx="41148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黏性土坡的稳定性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753679"/>
                                        </p:tgtEl>
                                        <p:attrNameLst>
                                          <p:attrName>style.visibility</p:attrName>
                                        </p:attrNameLst>
                                      </p:cBhvr>
                                      <p:to>
                                        <p:strVal val="visible"/>
                                      </p:to>
                                    </p:set>
                                    <p:animEffect transition="in" filter="dissolve">
                                      <p:cBhvr>
                                        <p:cTn id="13" dur="500"/>
                                        <p:tgtEl>
                                          <p:spTgt spid="753679"/>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753674"/>
                                        </p:tgtEl>
                                        <p:attrNameLst>
                                          <p:attrName>style.visibility</p:attrName>
                                        </p:attrNameLst>
                                      </p:cBhvr>
                                      <p:to>
                                        <p:strVal val="visible"/>
                                      </p:to>
                                    </p:set>
                                    <p:animEffect transition="in" filter="wipe(left)">
                                      <p:cBhvr>
                                        <p:cTn id="18" dur="500"/>
                                        <p:tgtEl>
                                          <p:spTgt spid="75367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753675"/>
                                        </p:tgtEl>
                                        <p:attrNameLst>
                                          <p:attrName>style.visibility</p:attrName>
                                        </p:attrNameLst>
                                      </p:cBhvr>
                                      <p:to>
                                        <p:strVal val="visible"/>
                                      </p:to>
                                    </p:set>
                                    <p:animEffect transition="in" filter="wipe(left)">
                                      <p:cBhvr>
                                        <p:cTn id="23" dur="500"/>
                                        <p:tgtEl>
                                          <p:spTgt spid="75367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753676"/>
                                        </p:tgtEl>
                                        <p:attrNameLst>
                                          <p:attrName>style.visibility</p:attrName>
                                        </p:attrNameLst>
                                      </p:cBhvr>
                                      <p:to>
                                        <p:strVal val="visible"/>
                                      </p:to>
                                    </p:set>
                                    <p:animEffect transition="in" filter="wipe(left)">
                                      <p:cBhvr>
                                        <p:cTn id="28" dur="500"/>
                                        <p:tgtEl>
                                          <p:spTgt spid="75367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753677"/>
                                        </p:tgtEl>
                                        <p:attrNameLst>
                                          <p:attrName>style.visibility</p:attrName>
                                        </p:attrNameLst>
                                      </p:cBhvr>
                                      <p:to>
                                        <p:strVal val="visible"/>
                                      </p:to>
                                    </p:set>
                                    <p:animEffect transition="in" filter="wipe(left)">
                                      <p:cBhvr>
                                        <p:cTn id="33" dur="500"/>
                                        <p:tgtEl>
                                          <p:spTgt spid="75367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753678"/>
                                        </p:tgtEl>
                                        <p:attrNameLst>
                                          <p:attrName>style.visibility</p:attrName>
                                        </p:attrNameLst>
                                      </p:cBhvr>
                                      <p:to>
                                        <p:strVal val="visible"/>
                                      </p:to>
                                    </p:set>
                                    <p:animEffect transition="in" filter="wipe(left)">
                                      <p:cBhvr>
                                        <p:cTn id="38" dur="500"/>
                                        <p:tgtEl>
                                          <p:spTgt spid="7536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3674" grpId="0" autoUpdateAnimBg="0"/>
      <p:bldP spid="753675" grpId="0" autoUpdateAnimBg="0"/>
      <p:bldP spid="753676" grpId="0" autoUpdateAnimBg="0"/>
      <p:bldP spid="753677" grpId="0" autoUpdateAnimBg="0"/>
      <p:bldP spid="753678" grpId="0" autoUpdateAnimBg="0"/>
      <p:bldP spid="753679" grpId="0"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4771" name="Line 83"/>
          <p:cNvSpPr>
            <a:spLocks noChangeShapeType="1"/>
          </p:cNvSpPr>
          <p:nvPr/>
        </p:nvSpPr>
        <p:spPr bwMode="auto">
          <a:xfrm>
            <a:off x="6042025" y="3032125"/>
            <a:ext cx="963613" cy="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tIns="0" bIns="82800" anchor="ctr"/>
          <a:lstStyle/>
          <a:p>
            <a:endParaRPr lang="zh-CN" altLang="en-US"/>
          </a:p>
        </p:txBody>
      </p:sp>
      <p:grpSp>
        <p:nvGrpSpPr>
          <p:cNvPr id="28675" name="Group 109"/>
          <p:cNvGrpSpPr/>
          <p:nvPr/>
        </p:nvGrpSpPr>
        <p:grpSpPr bwMode="auto">
          <a:xfrm>
            <a:off x="5257800" y="1143000"/>
            <a:ext cx="3352800" cy="2246313"/>
            <a:chOff x="3312" y="720"/>
            <a:chExt cx="2112" cy="1415"/>
          </a:xfrm>
        </p:grpSpPr>
        <p:sp>
          <p:nvSpPr>
            <p:cNvPr id="28707" name="Line 56"/>
            <p:cNvSpPr>
              <a:spLocks noChangeShapeType="1"/>
            </p:cNvSpPr>
            <p:nvPr/>
          </p:nvSpPr>
          <p:spPr bwMode="auto">
            <a:xfrm flipH="1" flipV="1">
              <a:off x="3794" y="925"/>
              <a:ext cx="1168" cy="45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28708" name="Line 57"/>
            <p:cNvSpPr>
              <a:spLocks noChangeShapeType="1"/>
            </p:cNvSpPr>
            <p:nvPr/>
          </p:nvSpPr>
          <p:spPr bwMode="auto">
            <a:xfrm>
              <a:off x="3794" y="925"/>
              <a:ext cx="0" cy="117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28709" name="Line 58"/>
            <p:cNvSpPr>
              <a:spLocks noChangeShapeType="1"/>
            </p:cNvSpPr>
            <p:nvPr/>
          </p:nvSpPr>
          <p:spPr bwMode="auto">
            <a:xfrm>
              <a:off x="3312" y="2090"/>
              <a:ext cx="488" cy="0"/>
            </a:xfrm>
            <a:prstGeom prst="line">
              <a:avLst/>
            </a:prstGeom>
            <a:noFill/>
            <a:ln w="38100">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28710" name="Freeform 59"/>
            <p:cNvSpPr/>
            <p:nvPr/>
          </p:nvSpPr>
          <p:spPr bwMode="auto">
            <a:xfrm>
              <a:off x="3796" y="1371"/>
              <a:ext cx="1153" cy="717"/>
            </a:xfrm>
            <a:custGeom>
              <a:avLst/>
              <a:gdLst>
                <a:gd name="T0" fmla="*/ 0 w 1376"/>
                <a:gd name="T1" fmla="*/ 543 h 824"/>
                <a:gd name="T2" fmla="*/ 480 w 1376"/>
                <a:gd name="T3" fmla="*/ 438 h 824"/>
                <a:gd name="T4" fmla="*/ 809 w 1376"/>
                <a:gd name="T5" fmla="*/ 0 h 824"/>
                <a:gd name="T6" fmla="*/ 0 60000 65536"/>
                <a:gd name="T7" fmla="*/ 0 60000 65536"/>
                <a:gd name="T8" fmla="*/ 0 60000 65536"/>
                <a:gd name="T9" fmla="*/ 0 w 1376"/>
                <a:gd name="T10" fmla="*/ 0 h 824"/>
                <a:gd name="T11" fmla="*/ 1376 w 1376"/>
                <a:gd name="T12" fmla="*/ 824 h 824"/>
              </a:gdLst>
              <a:ahLst/>
              <a:cxnLst>
                <a:cxn ang="T6">
                  <a:pos x="T0" y="T1"/>
                </a:cxn>
                <a:cxn ang="T7">
                  <a:pos x="T2" y="T3"/>
                </a:cxn>
                <a:cxn ang="T8">
                  <a:pos x="T4" y="T5"/>
                </a:cxn>
              </a:cxnLst>
              <a:rect l="T9" t="T10" r="T11" b="T12"/>
              <a:pathLst>
                <a:path w="1376" h="824">
                  <a:moveTo>
                    <a:pt x="0" y="824"/>
                  </a:moveTo>
                  <a:cubicBezTo>
                    <a:pt x="293" y="812"/>
                    <a:pt x="587" y="801"/>
                    <a:pt x="816" y="664"/>
                  </a:cubicBezTo>
                  <a:cubicBezTo>
                    <a:pt x="1045" y="527"/>
                    <a:pt x="1304" y="213"/>
                    <a:pt x="1376" y="0"/>
                  </a:cubicBezTo>
                </a:path>
              </a:pathLst>
            </a:custGeom>
            <a:noFill/>
            <a:ln w="38100">
              <a:solidFill>
                <a:srgbClr val="CC3300"/>
              </a:solidFill>
              <a:round/>
            </a:ln>
            <a:extLst>
              <a:ext uri="{909E8E84-426E-40DD-AFC4-6F175D3DCCD1}">
                <a14:hiddenFill xmlns:a14="http://schemas.microsoft.com/office/drawing/2010/main">
                  <a:solidFill>
                    <a:srgbClr val="FFFFFF"/>
                  </a:solidFill>
                </a14:hiddenFill>
              </a:ext>
            </a:extLst>
          </p:spPr>
          <p:txBody>
            <a:bodyPr wrap="none" tIns="0" bIns="82800" anchor="ctr"/>
            <a:lstStyle/>
            <a:p>
              <a:endParaRPr lang="zh-CN" altLang="en-US"/>
            </a:p>
          </p:txBody>
        </p:sp>
        <p:sp>
          <p:nvSpPr>
            <p:cNvPr id="28711" name="Line 60"/>
            <p:cNvSpPr>
              <a:spLocks noChangeShapeType="1"/>
            </p:cNvSpPr>
            <p:nvPr/>
          </p:nvSpPr>
          <p:spPr bwMode="auto">
            <a:xfrm flipV="1">
              <a:off x="4956" y="1369"/>
              <a:ext cx="468" cy="0"/>
            </a:xfrm>
            <a:prstGeom prst="line">
              <a:avLst/>
            </a:prstGeom>
            <a:noFill/>
            <a:ln w="38100">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28712" name="Line 61"/>
            <p:cNvSpPr>
              <a:spLocks noChangeShapeType="1"/>
            </p:cNvSpPr>
            <p:nvPr/>
          </p:nvSpPr>
          <p:spPr bwMode="auto">
            <a:xfrm flipV="1">
              <a:off x="3794" y="1371"/>
              <a:ext cx="567" cy="726"/>
            </a:xfrm>
            <a:prstGeom prst="line">
              <a:avLst/>
            </a:prstGeom>
            <a:noFill/>
            <a:ln w="38100">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28713" name="Line 62"/>
            <p:cNvSpPr>
              <a:spLocks noChangeShapeType="1"/>
            </p:cNvSpPr>
            <p:nvPr/>
          </p:nvSpPr>
          <p:spPr bwMode="auto">
            <a:xfrm>
              <a:off x="4367" y="1371"/>
              <a:ext cx="588" cy="0"/>
            </a:xfrm>
            <a:prstGeom prst="line">
              <a:avLst/>
            </a:prstGeom>
            <a:noFill/>
            <a:ln w="38100">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28714" name="Text Box 63"/>
            <p:cNvSpPr txBox="1">
              <a:spLocks noChangeArrowheads="1"/>
            </p:cNvSpPr>
            <p:nvPr/>
          </p:nvSpPr>
          <p:spPr bwMode="auto">
            <a:xfrm>
              <a:off x="3655" y="720"/>
              <a:ext cx="198"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8280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a:solidFill>
                    <a:schemeClr val="tx1"/>
                  </a:solidFill>
                  <a:latin typeface="Times New Roman" panose="02020603050405020304" pitchFamily="18" charset="0"/>
                </a:rPr>
                <a:t>O</a:t>
              </a:r>
              <a:endParaRPr kumimoji="1" lang="en-US" altLang="zh-CN" sz="2400">
                <a:solidFill>
                  <a:schemeClr val="tx1"/>
                </a:solidFill>
                <a:latin typeface="Times New Roman" panose="02020603050405020304" pitchFamily="18" charset="0"/>
              </a:endParaRPr>
            </a:p>
          </p:txBody>
        </p:sp>
        <p:sp>
          <p:nvSpPr>
            <p:cNvPr id="28715" name="Text Box 64"/>
            <p:cNvSpPr txBox="1">
              <a:spLocks noChangeArrowheads="1"/>
            </p:cNvSpPr>
            <p:nvPr/>
          </p:nvSpPr>
          <p:spPr bwMode="auto">
            <a:xfrm>
              <a:off x="4249" y="925"/>
              <a:ext cx="198"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8280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a:solidFill>
                    <a:schemeClr val="tx1"/>
                  </a:solidFill>
                  <a:latin typeface="Times New Roman" panose="02020603050405020304" pitchFamily="18" charset="0"/>
                </a:rPr>
                <a:t>R</a:t>
              </a:r>
              <a:endParaRPr kumimoji="1" lang="en-US" altLang="zh-CN" sz="2400">
                <a:solidFill>
                  <a:schemeClr val="tx1"/>
                </a:solidFill>
                <a:latin typeface="Times New Roman" panose="02020603050405020304" pitchFamily="18" charset="0"/>
              </a:endParaRPr>
            </a:p>
          </p:txBody>
        </p:sp>
        <p:sp>
          <p:nvSpPr>
            <p:cNvPr id="28716" name="Line 65"/>
            <p:cNvSpPr>
              <a:spLocks noChangeShapeType="1"/>
            </p:cNvSpPr>
            <p:nvPr/>
          </p:nvSpPr>
          <p:spPr bwMode="auto">
            <a:xfrm flipH="1">
              <a:off x="4957" y="1370"/>
              <a:ext cx="56" cy="51"/>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28717" name="Line 66"/>
            <p:cNvSpPr>
              <a:spLocks noChangeShapeType="1"/>
            </p:cNvSpPr>
            <p:nvPr/>
          </p:nvSpPr>
          <p:spPr bwMode="auto">
            <a:xfrm flipH="1">
              <a:off x="5008" y="1370"/>
              <a:ext cx="56" cy="51"/>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28718" name="Line 67"/>
            <p:cNvSpPr>
              <a:spLocks noChangeShapeType="1"/>
            </p:cNvSpPr>
            <p:nvPr/>
          </p:nvSpPr>
          <p:spPr bwMode="auto">
            <a:xfrm flipH="1">
              <a:off x="5067" y="1366"/>
              <a:ext cx="56" cy="51"/>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28719" name="Line 68"/>
            <p:cNvSpPr>
              <a:spLocks noChangeShapeType="1"/>
            </p:cNvSpPr>
            <p:nvPr/>
          </p:nvSpPr>
          <p:spPr bwMode="auto">
            <a:xfrm flipH="1">
              <a:off x="5118" y="1366"/>
              <a:ext cx="56" cy="51"/>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28720" name="Line 69"/>
            <p:cNvSpPr>
              <a:spLocks noChangeShapeType="1"/>
            </p:cNvSpPr>
            <p:nvPr/>
          </p:nvSpPr>
          <p:spPr bwMode="auto">
            <a:xfrm flipH="1">
              <a:off x="5163" y="1370"/>
              <a:ext cx="56" cy="51"/>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28721" name="Line 70"/>
            <p:cNvSpPr>
              <a:spLocks noChangeShapeType="1"/>
            </p:cNvSpPr>
            <p:nvPr/>
          </p:nvSpPr>
          <p:spPr bwMode="auto">
            <a:xfrm flipH="1">
              <a:off x="5213" y="1370"/>
              <a:ext cx="57" cy="51"/>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28722" name="Line 71"/>
            <p:cNvSpPr>
              <a:spLocks noChangeShapeType="1"/>
            </p:cNvSpPr>
            <p:nvPr/>
          </p:nvSpPr>
          <p:spPr bwMode="auto">
            <a:xfrm flipH="1">
              <a:off x="5272" y="1366"/>
              <a:ext cx="57" cy="51"/>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28723" name="Line 72"/>
            <p:cNvSpPr>
              <a:spLocks noChangeShapeType="1"/>
            </p:cNvSpPr>
            <p:nvPr/>
          </p:nvSpPr>
          <p:spPr bwMode="auto">
            <a:xfrm flipH="1">
              <a:off x="5324" y="1366"/>
              <a:ext cx="56" cy="51"/>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28724" name="Line 73"/>
            <p:cNvSpPr>
              <a:spLocks noChangeShapeType="1"/>
            </p:cNvSpPr>
            <p:nvPr/>
          </p:nvSpPr>
          <p:spPr bwMode="auto">
            <a:xfrm flipV="1">
              <a:off x="4450" y="1369"/>
              <a:ext cx="468" cy="0"/>
            </a:xfrm>
            <a:prstGeom prst="line">
              <a:avLst/>
            </a:prstGeom>
            <a:noFill/>
            <a:ln w="38100">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28725" name="Line 74"/>
            <p:cNvSpPr>
              <a:spLocks noChangeShapeType="1"/>
            </p:cNvSpPr>
            <p:nvPr/>
          </p:nvSpPr>
          <p:spPr bwMode="auto">
            <a:xfrm flipH="1">
              <a:off x="4452" y="1370"/>
              <a:ext cx="56" cy="51"/>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28726" name="Line 75"/>
            <p:cNvSpPr>
              <a:spLocks noChangeShapeType="1"/>
            </p:cNvSpPr>
            <p:nvPr/>
          </p:nvSpPr>
          <p:spPr bwMode="auto">
            <a:xfrm flipH="1">
              <a:off x="4502" y="1370"/>
              <a:ext cx="56" cy="51"/>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28727" name="Line 76"/>
            <p:cNvSpPr>
              <a:spLocks noChangeShapeType="1"/>
            </p:cNvSpPr>
            <p:nvPr/>
          </p:nvSpPr>
          <p:spPr bwMode="auto">
            <a:xfrm flipH="1">
              <a:off x="4561" y="1366"/>
              <a:ext cx="57" cy="51"/>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28728" name="Line 77"/>
            <p:cNvSpPr>
              <a:spLocks noChangeShapeType="1"/>
            </p:cNvSpPr>
            <p:nvPr/>
          </p:nvSpPr>
          <p:spPr bwMode="auto">
            <a:xfrm flipH="1">
              <a:off x="4612" y="1366"/>
              <a:ext cx="57" cy="51"/>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28729" name="Line 78"/>
            <p:cNvSpPr>
              <a:spLocks noChangeShapeType="1"/>
            </p:cNvSpPr>
            <p:nvPr/>
          </p:nvSpPr>
          <p:spPr bwMode="auto">
            <a:xfrm flipH="1">
              <a:off x="4657" y="1370"/>
              <a:ext cx="56" cy="51"/>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28730" name="Line 79"/>
            <p:cNvSpPr>
              <a:spLocks noChangeShapeType="1"/>
            </p:cNvSpPr>
            <p:nvPr/>
          </p:nvSpPr>
          <p:spPr bwMode="auto">
            <a:xfrm flipH="1">
              <a:off x="4708" y="1370"/>
              <a:ext cx="56" cy="51"/>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28731" name="Line 80"/>
            <p:cNvSpPr>
              <a:spLocks noChangeShapeType="1"/>
            </p:cNvSpPr>
            <p:nvPr/>
          </p:nvSpPr>
          <p:spPr bwMode="auto">
            <a:xfrm flipH="1">
              <a:off x="4767" y="1366"/>
              <a:ext cx="56" cy="51"/>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28732" name="Line 81"/>
            <p:cNvSpPr>
              <a:spLocks noChangeShapeType="1"/>
            </p:cNvSpPr>
            <p:nvPr/>
          </p:nvSpPr>
          <p:spPr bwMode="auto">
            <a:xfrm flipH="1">
              <a:off x="4817" y="1366"/>
              <a:ext cx="57" cy="51"/>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28733" name="Text Box 85"/>
            <p:cNvSpPr txBox="1">
              <a:spLocks noChangeArrowheads="1"/>
            </p:cNvSpPr>
            <p:nvPr/>
          </p:nvSpPr>
          <p:spPr bwMode="auto">
            <a:xfrm>
              <a:off x="4885" y="1162"/>
              <a:ext cx="236"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8280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smtClean="0">
                  <a:solidFill>
                    <a:schemeClr val="tx1"/>
                  </a:solidFill>
                  <a:latin typeface="Times New Roman" panose="02020603050405020304" pitchFamily="18" charset="0"/>
                </a:rPr>
                <a:t>A</a:t>
              </a:r>
              <a:endParaRPr kumimoji="1" lang="en-US" altLang="zh-CN" sz="2400" dirty="0">
                <a:solidFill>
                  <a:schemeClr val="tx1"/>
                </a:solidFill>
                <a:latin typeface="Times New Roman" panose="02020603050405020304" pitchFamily="18" charset="0"/>
              </a:endParaRPr>
            </a:p>
          </p:txBody>
        </p:sp>
        <p:sp>
          <p:nvSpPr>
            <p:cNvPr id="28734" name="Text Box 86"/>
            <p:cNvSpPr txBox="1">
              <a:spLocks noChangeArrowheads="1"/>
            </p:cNvSpPr>
            <p:nvPr/>
          </p:nvSpPr>
          <p:spPr bwMode="auto">
            <a:xfrm>
              <a:off x="4244" y="1162"/>
              <a:ext cx="236"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8280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a:solidFill>
                    <a:schemeClr val="tx1"/>
                  </a:solidFill>
                  <a:latin typeface="Times New Roman" panose="02020603050405020304" pitchFamily="18" charset="0"/>
                </a:rPr>
                <a:t>B</a:t>
              </a:r>
              <a:endParaRPr kumimoji="1" lang="en-US" altLang="zh-CN" sz="2400">
                <a:solidFill>
                  <a:schemeClr val="tx1"/>
                </a:solidFill>
                <a:latin typeface="Times New Roman" panose="02020603050405020304" pitchFamily="18" charset="0"/>
              </a:endParaRPr>
            </a:p>
          </p:txBody>
        </p:sp>
        <p:sp>
          <p:nvSpPr>
            <p:cNvPr id="28735" name="Text Box 87"/>
            <p:cNvSpPr txBox="1">
              <a:spLocks noChangeArrowheads="1"/>
            </p:cNvSpPr>
            <p:nvPr/>
          </p:nvSpPr>
          <p:spPr bwMode="auto">
            <a:xfrm>
              <a:off x="3587" y="1852"/>
              <a:ext cx="236"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8280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dirty="0" smtClean="0">
                  <a:solidFill>
                    <a:schemeClr val="tx1"/>
                  </a:solidFill>
                  <a:latin typeface="Times New Roman" panose="02020603050405020304" pitchFamily="18" charset="0"/>
                </a:rPr>
                <a:t>C</a:t>
              </a:r>
              <a:endParaRPr kumimoji="1" lang="en-US" altLang="zh-CN" sz="2400" dirty="0">
                <a:solidFill>
                  <a:schemeClr val="tx1"/>
                </a:solidFill>
                <a:latin typeface="Times New Roman" panose="02020603050405020304" pitchFamily="18" charset="0"/>
              </a:endParaRPr>
            </a:p>
          </p:txBody>
        </p:sp>
      </p:grpSp>
      <p:sp>
        <p:nvSpPr>
          <p:cNvPr id="754725" name="Rectangle 37"/>
          <p:cNvSpPr>
            <a:spLocks noGrp="1" noChangeArrowheads="1"/>
          </p:cNvSpPr>
          <p:nvPr>
            <p:ph type="body" sz="half" idx="1"/>
          </p:nvPr>
        </p:nvSpPr>
        <p:spPr bwMode="auto">
          <a:xfrm>
            <a:off x="304800" y="762000"/>
            <a:ext cx="60198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indent="0" algn="just" eaLnBrk="1" hangingPunct="1">
              <a:buFontTx/>
              <a:buNone/>
            </a:pPr>
            <a:r>
              <a:rPr lang="zh-CN" altLang="en-US" b="1" smtClean="0">
                <a:solidFill>
                  <a:srgbClr val="993300"/>
                </a:solidFill>
                <a:ea typeface="隶书" panose="02010509060101010101" pitchFamily="49" charset="-122"/>
              </a:rPr>
              <a:t>平衡条件</a:t>
            </a:r>
            <a:r>
              <a:rPr lang="zh-CN" altLang="en-US" sz="2400" b="1" smtClean="0">
                <a:solidFill>
                  <a:srgbClr val="0000FF"/>
                </a:solidFill>
              </a:rPr>
              <a:t>（各力对圆心</a:t>
            </a:r>
            <a:r>
              <a:rPr lang="en-US" altLang="zh-CN" sz="2400" b="1" smtClean="0">
                <a:solidFill>
                  <a:srgbClr val="0000FF"/>
                </a:solidFill>
              </a:rPr>
              <a:t>O</a:t>
            </a:r>
            <a:r>
              <a:rPr lang="zh-CN" altLang="en-US" sz="2400" b="1" smtClean="0">
                <a:solidFill>
                  <a:srgbClr val="0000FF"/>
                </a:solidFill>
              </a:rPr>
              <a:t>的力矩平衡）</a:t>
            </a:r>
            <a:endParaRPr lang="zh-CN" altLang="en-US" sz="2400" b="1" smtClean="0">
              <a:solidFill>
                <a:srgbClr val="0000FF"/>
              </a:solidFill>
            </a:endParaRPr>
          </a:p>
        </p:txBody>
      </p:sp>
      <p:sp>
        <p:nvSpPr>
          <p:cNvPr id="754730" name="Rectangle 42"/>
          <p:cNvSpPr>
            <a:spLocks noChangeArrowheads="1"/>
          </p:cNvSpPr>
          <p:nvPr/>
        </p:nvSpPr>
        <p:spPr bwMode="auto">
          <a:xfrm>
            <a:off x="609600" y="1676400"/>
            <a:ext cx="2224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kumimoji="1" lang="en-US" altLang="zh-CN" sz="2400" b="1">
                <a:solidFill>
                  <a:srgbClr val="0000FF"/>
                </a:solidFill>
                <a:latin typeface="Times New Roman" panose="02020603050405020304" pitchFamily="18" charset="0"/>
              </a:rPr>
              <a:t>(1)  </a:t>
            </a:r>
            <a:r>
              <a:rPr kumimoji="1" lang="zh-CN" altLang="en-US" sz="2400" b="1">
                <a:solidFill>
                  <a:srgbClr val="0000FF"/>
                </a:solidFill>
                <a:latin typeface="Times New Roman" panose="02020603050405020304" pitchFamily="18" charset="0"/>
              </a:rPr>
              <a:t>滑动力矩：</a:t>
            </a:r>
            <a:endParaRPr kumimoji="1" lang="zh-CN" altLang="en-US" sz="2000" b="1">
              <a:solidFill>
                <a:srgbClr val="0000FF"/>
              </a:solidFill>
              <a:latin typeface="Times New Roman" panose="02020603050405020304" pitchFamily="18" charset="0"/>
            </a:endParaRPr>
          </a:p>
        </p:txBody>
      </p:sp>
      <p:sp>
        <p:nvSpPr>
          <p:cNvPr id="754733" name="Rectangle 45"/>
          <p:cNvSpPr>
            <a:spLocks noChangeArrowheads="1"/>
          </p:cNvSpPr>
          <p:nvPr/>
        </p:nvSpPr>
        <p:spPr bwMode="auto">
          <a:xfrm>
            <a:off x="609600" y="5715000"/>
            <a:ext cx="2224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kumimoji="1" lang="en-US" altLang="zh-CN" sz="2400" b="1">
                <a:solidFill>
                  <a:srgbClr val="0000FF"/>
                </a:solidFill>
                <a:latin typeface="Times New Roman" panose="02020603050405020304" pitchFamily="18" charset="0"/>
              </a:rPr>
              <a:t>(3)  </a:t>
            </a:r>
            <a:r>
              <a:rPr kumimoji="1" lang="zh-CN" altLang="en-US" sz="2400" b="1">
                <a:solidFill>
                  <a:srgbClr val="0000FF"/>
                </a:solidFill>
                <a:latin typeface="Times New Roman" panose="02020603050405020304" pitchFamily="18" charset="0"/>
              </a:rPr>
              <a:t>安全系数：</a:t>
            </a:r>
            <a:endParaRPr kumimoji="1" lang="zh-CN" altLang="en-US" sz="2400" b="1">
              <a:solidFill>
                <a:srgbClr val="0000FF"/>
              </a:solidFill>
              <a:latin typeface="Times New Roman" panose="02020603050405020304" pitchFamily="18" charset="0"/>
            </a:endParaRPr>
          </a:p>
        </p:txBody>
      </p:sp>
      <p:grpSp>
        <p:nvGrpSpPr>
          <p:cNvPr id="3" name="Group 105"/>
          <p:cNvGrpSpPr/>
          <p:nvPr/>
        </p:nvGrpSpPr>
        <p:grpSpPr bwMode="auto">
          <a:xfrm>
            <a:off x="539750" y="4437063"/>
            <a:ext cx="4629150" cy="931862"/>
            <a:chOff x="475" y="2784"/>
            <a:chExt cx="2916" cy="587"/>
          </a:xfrm>
        </p:grpSpPr>
        <p:sp>
          <p:nvSpPr>
            <p:cNvPr id="28703" name="Rectangle 49"/>
            <p:cNvSpPr>
              <a:spLocks noChangeArrowheads="1"/>
            </p:cNvSpPr>
            <p:nvPr/>
          </p:nvSpPr>
          <p:spPr bwMode="auto">
            <a:xfrm>
              <a:off x="641" y="3119"/>
              <a:ext cx="275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marL="342900" indent="-342900" algn="r">
                <a:spcBef>
                  <a:spcPct val="20000"/>
                </a:spcBef>
                <a:defRPr sz="4400">
                  <a:solidFill>
                    <a:srgbClr val="1C1C1C"/>
                  </a:solidFill>
                  <a:latin typeface="Arial" panose="020B0604020202020204" pitchFamily="34" charset="0"/>
                  <a:ea typeface="宋体" panose="02010600030101010101" pitchFamily="2" charset="-122"/>
                </a:defRPr>
              </a:lvl1pPr>
              <a:lvl2pPr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lvl="1" algn="l" eaLnBrk="1" hangingPunct="1">
                <a:spcBef>
                  <a:spcPct val="0"/>
                </a:spcBef>
              </a:pPr>
              <a:r>
                <a:rPr kumimoji="1" lang="zh-CN" altLang="en-US" sz="2000" b="1" dirty="0" smtClean="0">
                  <a:solidFill>
                    <a:srgbClr val="0000FF"/>
                  </a:solidFill>
                  <a:latin typeface="Times New Roman" panose="02020603050405020304" pitchFamily="18" charset="0"/>
                </a:rPr>
                <a:t>当 </a:t>
              </a:r>
              <a:r>
                <a:rPr kumimoji="1" lang="zh-CN" altLang="en-US" sz="2000" b="1" i="1" dirty="0" smtClean="0">
                  <a:solidFill>
                    <a:srgbClr val="0000FF"/>
                  </a:solidFill>
                  <a:latin typeface="Times New Roman" panose="02020603050405020304" pitchFamily="18" charset="0"/>
                  <a:sym typeface="Symbol" panose="05050102010706020507" pitchFamily="18" charset="2"/>
                </a:rPr>
                <a:t></a:t>
              </a:r>
              <a:r>
                <a:rPr kumimoji="1" lang="zh-CN" altLang="en-US" sz="2000" b="1" dirty="0" smtClean="0">
                  <a:solidFill>
                    <a:srgbClr val="0000FF"/>
                  </a:solidFill>
                  <a:latin typeface="Times New Roman" panose="02020603050405020304" pitchFamily="18" charset="0"/>
                  <a:sym typeface="Symbol" panose="05050102010706020507" pitchFamily="18" charset="2"/>
                </a:rPr>
                <a:t> </a:t>
              </a:r>
              <a:r>
                <a:rPr kumimoji="1" lang="en-US" altLang="zh-CN" sz="2000" b="1" dirty="0" smtClean="0">
                  <a:solidFill>
                    <a:srgbClr val="0000FF"/>
                  </a:solidFill>
                  <a:latin typeface="Times New Roman" panose="02020603050405020304" pitchFamily="18" charset="0"/>
                </a:rPr>
                <a:t>=</a:t>
              </a:r>
              <a:r>
                <a:rPr kumimoji="1" lang="en-US" altLang="zh-CN" sz="2000" b="1" dirty="0">
                  <a:solidFill>
                    <a:srgbClr val="0000FF"/>
                  </a:solidFill>
                  <a:latin typeface="Times New Roman" panose="02020603050405020304" pitchFamily="18" charset="0"/>
                </a:rPr>
                <a:t>0</a:t>
              </a:r>
              <a:r>
                <a:rPr kumimoji="1" lang="zh-CN" altLang="en-US" sz="2000" b="1" dirty="0" smtClean="0">
                  <a:solidFill>
                    <a:srgbClr val="0000FF"/>
                  </a:solidFill>
                  <a:latin typeface="Times New Roman" panose="02020603050405020304" pitchFamily="18" charset="0"/>
                </a:rPr>
                <a:t>（黏土</a:t>
              </a:r>
              <a:r>
                <a:rPr kumimoji="1" lang="zh-CN" altLang="en-US" sz="2000" b="1" dirty="0">
                  <a:solidFill>
                    <a:srgbClr val="0000FF"/>
                  </a:solidFill>
                  <a:latin typeface="Times New Roman" panose="02020603050405020304" pitchFamily="18" charset="0"/>
                </a:rPr>
                <a:t>不排水强度）时， </a:t>
              </a:r>
              <a:endParaRPr kumimoji="1" lang="zh-CN" altLang="en-US" sz="2000" b="1" baseline="-25000" dirty="0">
                <a:solidFill>
                  <a:srgbClr val="0000FF"/>
                </a:solidFill>
                <a:latin typeface="Times New Roman" panose="02020603050405020304" pitchFamily="18" charset="0"/>
              </a:endParaRPr>
            </a:p>
          </p:txBody>
        </p:sp>
        <p:grpSp>
          <p:nvGrpSpPr>
            <p:cNvPr id="28704" name="Group 50"/>
            <p:cNvGrpSpPr/>
            <p:nvPr/>
          </p:nvGrpSpPr>
          <p:grpSpPr bwMode="auto">
            <a:xfrm>
              <a:off x="475" y="2784"/>
              <a:ext cx="2879" cy="317"/>
              <a:chOff x="1370" y="3072"/>
              <a:chExt cx="2879" cy="317"/>
            </a:xfrm>
          </p:grpSpPr>
          <p:graphicFrame>
            <p:nvGraphicFramePr>
              <p:cNvPr id="28705" name="Object 4"/>
              <p:cNvGraphicFramePr>
                <a:graphicFrameLocks noChangeAspect="1"/>
              </p:cNvGraphicFramePr>
              <p:nvPr/>
            </p:nvGraphicFramePr>
            <p:xfrm>
              <a:off x="2304" y="3072"/>
              <a:ext cx="864" cy="312"/>
            </p:xfrm>
            <a:graphic>
              <a:graphicData uri="http://schemas.openxmlformats.org/presentationml/2006/ole">
                <mc:AlternateContent xmlns:mc="http://schemas.openxmlformats.org/markup-compatibility/2006">
                  <mc:Choice xmlns:v="urn:schemas-microsoft-com:vml" Requires="v">
                    <p:oleObj spid="_x0000_s7220" name="Equation" r:id="rId1" imgW="698500" imgH="254000" progId="Equation.DSMT4">
                      <p:embed/>
                    </p:oleObj>
                  </mc:Choice>
                  <mc:Fallback>
                    <p:oleObj name="Equation" r:id="rId1" imgW="698500" imgH="2540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4" y="3072"/>
                            <a:ext cx="864"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706" name="Rectangle 52"/>
              <p:cNvSpPr>
                <a:spLocks noChangeArrowheads="1"/>
              </p:cNvSpPr>
              <p:nvPr/>
            </p:nvSpPr>
            <p:spPr bwMode="auto">
              <a:xfrm>
                <a:off x="1370" y="3101"/>
                <a:ext cx="287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rgbClr val="FF3399"/>
                    </a:solidFill>
                    <a:latin typeface="Times New Roman" panose="02020603050405020304" pitchFamily="18" charset="0"/>
                  </a:rPr>
                  <a:t>注</a:t>
                </a:r>
                <a:r>
                  <a:rPr kumimoji="1" lang="zh-CN" altLang="en-US" sz="2000" b="1">
                    <a:solidFill>
                      <a:srgbClr val="FF3399"/>
                    </a:solidFill>
                    <a:latin typeface="Times New Roman" panose="02020603050405020304" pitchFamily="18" charset="0"/>
                  </a:rPr>
                  <a:t>：</a:t>
                </a:r>
                <a:r>
                  <a:rPr kumimoji="1" lang="zh-CN" altLang="en-US" sz="2000" b="1">
                    <a:solidFill>
                      <a:srgbClr val="0000FF"/>
                    </a:solidFill>
                    <a:latin typeface="Times New Roman" panose="02020603050405020304" pitchFamily="18" charset="0"/>
                  </a:rPr>
                  <a:t>（其中                        是未知函数）</a:t>
                </a:r>
                <a:endParaRPr kumimoji="1" lang="zh-CN" altLang="en-US" sz="2000" b="1">
                  <a:solidFill>
                    <a:srgbClr val="0000FF"/>
                  </a:solidFill>
                  <a:latin typeface="Times New Roman" panose="02020603050405020304" pitchFamily="18" charset="0"/>
                </a:endParaRPr>
              </a:p>
            </p:txBody>
          </p:sp>
        </p:grpSp>
      </p:grpSp>
      <p:sp>
        <p:nvSpPr>
          <p:cNvPr id="754741" name="Text Box 53"/>
          <p:cNvSpPr txBox="1">
            <a:spLocks noChangeArrowheads="1"/>
          </p:cNvSpPr>
          <p:nvPr/>
        </p:nvSpPr>
        <p:spPr bwMode="auto">
          <a:xfrm>
            <a:off x="609600" y="2971800"/>
            <a:ext cx="2224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a:solidFill>
                  <a:srgbClr val="0000FF"/>
                </a:solidFill>
                <a:latin typeface="Times New Roman" panose="02020603050405020304" pitchFamily="18" charset="0"/>
              </a:rPr>
              <a:t>(2)  </a:t>
            </a:r>
            <a:r>
              <a:rPr kumimoji="1" lang="zh-CN" altLang="en-US" sz="2400" b="1">
                <a:solidFill>
                  <a:srgbClr val="0000FF"/>
                </a:solidFill>
                <a:latin typeface="Times New Roman" panose="02020603050405020304" pitchFamily="18" charset="0"/>
              </a:rPr>
              <a:t>抗滑力矩：</a:t>
            </a:r>
            <a:endParaRPr kumimoji="1" lang="zh-CN" altLang="en-US" sz="2400" b="1">
              <a:solidFill>
                <a:srgbClr val="0000FF"/>
              </a:solidFill>
              <a:latin typeface="Times New Roman" panose="02020603050405020304" pitchFamily="18" charset="0"/>
            </a:endParaRPr>
          </a:p>
        </p:txBody>
      </p:sp>
      <p:sp>
        <p:nvSpPr>
          <p:cNvPr id="754772" name="Text Box 84"/>
          <p:cNvSpPr txBox="1">
            <a:spLocks noChangeArrowheads="1"/>
          </p:cNvSpPr>
          <p:nvPr/>
        </p:nvSpPr>
        <p:spPr bwMode="auto">
          <a:xfrm>
            <a:off x="6364288" y="2708275"/>
            <a:ext cx="427037" cy="45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8280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dirty="0" smtClean="0">
                <a:solidFill>
                  <a:schemeClr val="tx1"/>
                </a:solidFill>
                <a:latin typeface="Times New Roman" panose="02020603050405020304" pitchFamily="18" charset="0"/>
              </a:rPr>
              <a:t>a</a:t>
            </a:r>
            <a:endParaRPr kumimoji="1" lang="en-US" altLang="zh-CN" sz="2400" dirty="0">
              <a:solidFill>
                <a:schemeClr val="tx1"/>
              </a:solidFill>
              <a:latin typeface="Times New Roman" panose="02020603050405020304" pitchFamily="18" charset="0"/>
            </a:endParaRPr>
          </a:p>
        </p:txBody>
      </p:sp>
      <p:grpSp>
        <p:nvGrpSpPr>
          <p:cNvPr id="5" name="Group 108"/>
          <p:cNvGrpSpPr/>
          <p:nvPr/>
        </p:nvGrpSpPr>
        <p:grpSpPr bwMode="auto">
          <a:xfrm>
            <a:off x="6934200" y="2438400"/>
            <a:ext cx="762000" cy="871538"/>
            <a:chOff x="4368" y="1536"/>
            <a:chExt cx="480" cy="549"/>
          </a:xfrm>
        </p:grpSpPr>
        <p:sp>
          <p:nvSpPr>
            <p:cNvPr id="28700" name="Line 82"/>
            <p:cNvSpPr>
              <a:spLocks noChangeShapeType="1"/>
            </p:cNvSpPr>
            <p:nvPr/>
          </p:nvSpPr>
          <p:spPr bwMode="auto">
            <a:xfrm>
              <a:off x="4413" y="1672"/>
              <a:ext cx="0" cy="413"/>
            </a:xfrm>
            <a:prstGeom prst="line">
              <a:avLst/>
            </a:prstGeom>
            <a:noFill/>
            <a:ln w="38100">
              <a:solidFill>
                <a:srgbClr val="CC3300"/>
              </a:solidFill>
              <a:round/>
              <a:tailEnd type="triangle" w="med" len="me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28701" name="Text Box 88"/>
            <p:cNvSpPr txBox="1">
              <a:spLocks noChangeArrowheads="1"/>
            </p:cNvSpPr>
            <p:nvPr/>
          </p:nvSpPr>
          <p:spPr bwMode="auto">
            <a:xfrm>
              <a:off x="4368" y="1536"/>
              <a:ext cx="48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i="1" dirty="0" smtClean="0">
                  <a:solidFill>
                    <a:srgbClr val="006600"/>
                  </a:solidFill>
                  <a:latin typeface="Times New Roman" panose="02020603050405020304" pitchFamily="18" charset="0"/>
                </a:rPr>
                <a:t>G</a:t>
              </a:r>
              <a:endParaRPr kumimoji="1" lang="en-US" altLang="zh-CN" sz="2800" b="1" i="1" dirty="0">
                <a:solidFill>
                  <a:srgbClr val="006600"/>
                </a:solidFill>
                <a:latin typeface="Times New Roman" panose="02020603050405020304" pitchFamily="18" charset="0"/>
              </a:endParaRPr>
            </a:p>
          </p:txBody>
        </p:sp>
      </p:grpSp>
      <p:sp>
        <p:nvSpPr>
          <p:cNvPr id="754777" name="Line 89"/>
          <p:cNvSpPr>
            <a:spLocks noChangeShapeType="1"/>
          </p:cNvSpPr>
          <p:nvPr/>
        </p:nvSpPr>
        <p:spPr bwMode="auto">
          <a:xfrm>
            <a:off x="6324600" y="3429000"/>
            <a:ext cx="228600" cy="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4778" name="Line 90"/>
          <p:cNvSpPr>
            <a:spLocks noChangeShapeType="1"/>
          </p:cNvSpPr>
          <p:nvPr/>
        </p:nvSpPr>
        <p:spPr bwMode="auto">
          <a:xfrm flipV="1">
            <a:off x="6629400" y="3352800"/>
            <a:ext cx="228600" cy="7620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4779" name="Line 91"/>
          <p:cNvSpPr>
            <a:spLocks noChangeShapeType="1"/>
          </p:cNvSpPr>
          <p:nvPr/>
        </p:nvSpPr>
        <p:spPr bwMode="auto">
          <a:xfrm flipV="1">
            <a:off x="6934200" y="3276600"/>
            <a:ext cx="228600" cy="7620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4781" name="Line 93"/>
          <p:cNvSpPr>
            <a:spLocks noChangeShapeType="1"/>
          </p:cNvSpPr>
          <p:nvPr/>
        </p:nvSpPr>
        <p:spPr bwMode="auto">
          <a:xfrm flipV="1">
            <a:off x="7239000" y="3048000"/>
            <a:ext cx="152400" cy="15240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4783" name="Line 95"/>
          <p:cNvSpPr>
            <a:spLocks noChangeShapeType="1"/>
          </p:cNvSpPr>
          <p:nvPr/>
        </p:nvSpPr>
        <p:spPr bwMode="auto">
          <a:xfrm flipV="1">
            <a:off x="7467600" y="2819400"/>
            <a:ext cx="152400" cy="15240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4784" name="Line 96"/>
          <p:cNvSpPr>
            <a:spLocks noChangeShapeType="1"/>
          </p:cNvSpPr>
          <p:nvPr/>
        </p:nvSpPr>
        <p:spPr bwMode="auto">
          <a:xfrm flipV="1">
            <a:off x="7696200" y="2514600"/>
            <a:ext cx="152400" cy="22860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4785" name="Line 97"/>
          <p:cNvSpPr>
            <a:spLocks noChangeShapeType="1"/>
          </p:cNvSpPr>
          <p:nvPr/>
        </p:nvSpPr>
        <p:spPr bwMode="auto">
          <a:xfrm flipV="1">
            <a:off x="7924800" y="2209800"/>
            <a:ext cx="76200" cy="22860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4786" name="Line 98"/>
          <p:cNvSpPr>
            <a:spLocks noChangeShapeType="1"/>
          </p:cNvSpPr>
          <p:nvPr/>
        </p:nvSpPr>
        <p:spPr bwMode="auto">
          <a:xfrm>
            <a:off x="6019800" y="3429000"/>
            <a:ext cx="228600" cy="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4787" name="Line 99"/>
          <p:cNvSpPr>
            <a:spLocks noChangeShapeType="1"/>
          </p:cNvSpPr>
          <p:nvPr/>
        </p:nvSpPr>
        <p:spPr bwMode="auto">
          <a:xfrm flipH="1" flipV="1">
            <a:off x="7391400" y="2971800"/>
            <a:ext cx="457200" cy="381000"/>
          </a:xfrm>
          <a:prstGeom prst="line">
            <a:avLst/>
          </a:prstGeom>
          <a:noFill/>
          <a:ln w="47625">
            <a:solidFill>
              <a:schemeClr val="fo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4790" name="Freeform 102"/>
          <p:cNvSpPr/>
          <p:nvPr/>
        </p:nvSpPr>
        <p:spPr bwMode="auto">
          <a:xfrm>
            <a:off x="6019800" y="1524000"/>
            <a:ext cx="238125" cy="152400"/>
          </a:xfrm>
          <a:custGeom>
            <a:avLst/>
            <a:gdLst>
              <a:gd name="T0" fmla="*/ 0 w 199"/>
              <a:gd name="T1" fmla="*/ 2147483646 h 138"/>
              <a:gd name="T2" fmla="*/ 2147483646 w 199"/>
              <a:gd name="T3" fmla="*/ 2147483646 h 138"/>
              <a:gd name="T4" fmla="*/ 2147483646 w 199"/>
              <a:gd name="T5" fmla="*/ 2147483646 h 138"/>
              <a:gd name="T6" fmla="*/ 2147483646 w 199"/>
              <a:gd name="T7" fmla="*/ 0 h 138"/>
              <a:gd name="T8" fmla="*/ 0 60000 65536"/>
              <a:gd name="T9" fmla="*/ 0 60000 65536"/>
              <a:gd name="T10" fmla="*/ 0 60000 65536"/>
              <a:gd name="T11" fmla="*/ 0 60000 65536"/>
              <a:gd name="T12" fmla="*/ 0 w 199"/>
              <a:gd name="T13" fmla="*/ 0 h 138"/>
              <a:gd name="T14" fmla="*/ 199 w 199"/>
              <a:gd name="T15" fmla="*/ 138 h 138"/>
            </a:gdLst>
            <a:ahLst/>
            <a:cxnLst>
              <a:cxn ang="T8">
                <a:pos x="T0" y="T1"/>
              </a:cxn>
              <a:cxn ang="T9">
                <a:pos x="T2" y="T3"/>
              </a:cxn>
              <a:cxn ang="T10">
                <a:pos x="T4" y="T5"/>
              </a:cxn>
              <a:cxn ang="T11">
                <a:pos x="T6" y="T7"/>
              </a:cxn>
            </a:cxnLst>
            <a:rect l="T12" t="T13" r="T14" b="T15"/>
            <a:pathLst>
              <a:path w="199" h="138">
                <a:moveTo>
                  <a:pt x="0" y="138"/>
                </a:moveTo>
                <a:cubicBezTo>
                  <a:pt x="63" y="128"/>
                  <a:pt x="105" y="137"/>
                  <a:pt x="138" y="86"/>
                </a:cubicBezTo>
                <a:cubicBezTo>
                  <a:pt x="145" y="75"/>
                  <a:pt x="146" y="61"/>
                  <a:pt x="155" y="52"/>
                </a:cubicBezTo>
                <a:cubicBezTo>
                  <a:pt x="199" y="8"/>
                  <a:pt x="189" y="68"/>
                  <a:pt x="189" y="0"/>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4791" name="Text Box 103"/>
          <p:cNvSpPr txBox="1">
            <a:spLocks noChangeArrowheads="1"/>
          </p:cNvSpPr>
          <p:nvPr/>
        </p:nvSpPr>
        <p:spPr bwMode="auto">
          <a:xfrm>
            <a:off x="6019800" y="1600200"/>
            <a:ext cx="385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0000FF"/>
                </a:solidFill>
                <a:latin typeface="Times New Roman" panose="02020603050405020304" pitchFamily="18" charset="0"/>
                <a:sym typeface="Symbol" panose="05050102010706020507" pitchFamily="18" charset="2"/>
              </a:rPr>
              <a:t></a:t>
            </a:r>
            <a:endParaRPr kumimoji="1" lang="en-US" altLang="zh-CN" sz="2400" b="1">
              <a:solidFill>
                <a:srgbClr val="0000FF"/>
              </a:solidFill>
              <a:latin typeface="Times New Roman" panose="02020603050405020304" pitchFamily="18" charset="0"/>
              <a:sym typeface="Symbol" panose="05050102010706020507" pitchFamily="18" charset="2"/>
            </a:endParaRPr>
          </a:p>
        </p:txBody>
      </p:sp>
      <p:sp>
        <p:nvSpPr>
          <p:cNvPr id="28698" name="Text Box 22"/>
          <p:cNvSpPr txBox="1">
            <a:spLocks noChangeArrowheads="1"/>
          </p:cNvSpPr>
          <p:nvPr/>
        </p:nvSpPr>
        <p:spPr bwMode="auto">
          <a:xfrm>
            <a:off x="7715250" y="2428875"/>
            <a:ext cx="571500"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8280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i="1">
                <a:solidFill>
                  <a:srgbClr val="0000FF"/>
                </a:solidFill>
                <a:latin typeface="Times New Roman" panose="02020603050405020304" pitchFamily="18" charset="0"/>
                <a:sym typeface="Symbol" panose="05050102010706020507" pitchFamily="18" charset="2"/>
              </a:rPr>
              <a:t></a:t>
            </a:r>
            <a:r>
              <a:rPr kumimoji="1" lang="en-US" altLang="zh-CN" sz="2400" baseline="-25000">
                <a:solidFill>
                  <a:srgbClr val="0000FF"/>
                </a:solidFill>
                <a:latin typeface="Times New Roman" panose="02020603050405020304" pitchFamily="18" charset="0"/>
                <a:sym typeface="Symbol" panose="05050102010706020507" pitchFamily="18" charset="2"/>
              </a:rPr>
              <a:t>f</a:t>
            </a:r>
            <a:endParaRPr kumimoji="1" lang="en-US" altLang="zh-CN" sz="2400" baseline="-25000">
              <a:solidFill>
                <a:srgbClr val="0000FF"/>
              </a:solidFill>
              <a:latin typeface="Times New Roman" panose="02020603050405020304" pitchFamily="18" charset="0"/>
            </a:endParaRPr>
          </a:p>
        </p:txBody>
      </p:sp>
      <p:sp>
        <p:nvSpPr>
          <p:cNvPr id="28699" name="Text Box 22"/>
          <p:cNvSpPr txBox="1">
            <a:spLocks noChangeArrowheads="1"/>
          </p:cNvSpPr>
          <p:nvPr/>
        </p:nvSpPr>
        <p:spPr bwMode="auto">
          <a:xfrm>
            <a:off x="7858125" y="3143250"/>
            <a:ext cx="44608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8280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a:solidFill>
                  <a:srgbClr val="FF0000"/>
                </a:solidFill>
                <a:latin typeface="Times New Roman" panose="02020603050405020304" pitchFamily="18" charset="0"/>
              </a:rPr>
              <a:t>N</a:t>
            </a:r>
            <a:endParaRPr kumimoji="1" lang="en-US" altLang="zh-CN" sz="2400" b="1" i="1">
              <a:solidFill>
                <a:srgbClr val="FF0000"/>
              </a:solidFill>
              <a:latin typeface="Times New Roman" panose="02020603050405020304" pitchFamily="18" charset="0"/>
            </a:endParaRPr>
          </a:p>
        </p:txBody>
      </p:sp>
      <mc:AlternateContent xmlns:mc="http://schemas.openxmlformats.org/markup-compatibility/2006">
        <mc:Choice xmlns:a14="http://schemas.microsoft.com/office/drawing/2010/main" Requires="a14">
          <p:sp>
            <p:nvSpPr>
              <p:cNvPr id="2" name="文本框 1"/>
              <p:cNvSpPr txBox="1"/>
              <p:nvPr/>
            </p:nvSpPr>
            <p:spPr>
              <a:xfrm>
                <a:off x="1721644" y="2246095"/>
                <a:ext cx="1219756" cy="36933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𝑀</m:t>
                          </m:r>
                        </m:e>
                        <m:sub>
                          <m:r>
                            <a:rPr lang="en-US" altLang="zh-CN" sz="2400" b="0" i="1" smtClean="0">
                              <a:latin typeface="Cambria Math" panose="02040503050406030204" pitchFamily="18" charset="0"/>
                            </a:rPr>
                            <m:t>𝑠</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𝐺𝑎</m:t>
                      </m:r>
                    </m:oMath>
                  </m:oMathPara>
                </a14:m>
                <a:endParaRPr lang="zh-CN" altLang="en-US" sz="2400" dirty="0">
                  <a:latin typeface="Times New Roman" panose="02020603050405020304" pitchFamily="18" charset="0"/>
                  <a:cs typeface="Times New Roman" panose="02020603050405020304" pitchFamily="18"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1721644" y="2246095"/>
                <a:ext cx="1219756" cy="369332"/>
              </a:xfrm>
              <a:prstGeom prst="rect">
                <a:avLst/>
              </a:prstGeom>
              <a:blipFill rotWithShape="1">
                <a:blip r:embed="rId3"/>
                <a:stretch>
                  <a:fillRect l="-13" t="-27" r="-3533" b="13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416257" y="3617913"/>
                <a:ext cx="7949869" cy="69846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𝑀</m:t>
                          </m:r>
                        </m:e>
                        <m:sub>
                          <m:r>
                            <a:rPr lang="en-US" altLang="zh-CN" sz="2000" b="0" i="1" smtClean="0">
                              <a:latin typeface="Cambria Math" panose="02040503050406030204" pitchFamily="18" charset="0"/>
                            </a:rPr>
                            <m:t>𝑟</m:t>
                          </m:r>
                        </m:sub>
                      </m:sSub>
                      <m:r>
                        <a:rPr lang="en-US" altLang="zh-CN" sz="2000" b="0" i="1" smtClean="0">
                          <a:latin typeface="Cambria Math" panose="02040503050406030204" pitchFamily="18" charset="0"/>
                        </a:rPr>
                        <m:t>=</m:t>
                      </m:r>
                      <m:nary>
                        <m:naryPr>
                          <m:ctrlPr>
                            <a:rPr lang="en-US" altLang="zh-CN" sz="2000" b="0" i="1" smtClean="0">
                              <a:latin typeface="Cambria Math" panose="02040503050406030204" pitchFamily="18" charset="0"/>
                            </a:rPr>
                          </m:ctrlPr>
                        </m:naryPr>
                        <m:sub>
                          <m:r>
                            <m:rPr>
                              <m:brk m:alnAt="23"/>
                            </m:rPr>
                            <a:rPr lang="en-US" altLang="zh-CN" sz="2000" b="0" i="1" smtClean="0">
                              <a:latin typeface="Cambria Math" panose="02040503050406030204" pitchFamily="18" charset="0"/>
                            </a:rPr>
                            <m:t>0</m:t>
                          </m:r>
                        </m:sub>
                        <m:sup>
                          <m:r>
                            <a:rPr lang="en-US" altLang="zh-CN" sz="2000" b="0" i="1" smtClean="0">
                              <a:latin typeface="Cambria Math" panose="02040503050406030204" pitchFamily="18" charset="0"/>
                            </a:rPr>
                            <m:t>𝑙</m:t>
                          </m:r>
                        </m:sup>
                        <m:e>
                          <m:sSub>
                            <m:sSubPr>
                              <m:ctrlPr>
                                <a:rPr lang="en-US" altLang="zh-CN" sz="2000" b="0" i="1" smtClean="0">
                                  <a:latin typeface="Cambria Math" panose="02040503050406030204" pitchFamily="18" charset="0"/>
                                </a:rPr>
                              </m:ctrlPr>
                            </m:sSubPr>
                            <m:e>
                              <m:r>
                                <a:rPr lang="zh-CN" altLang="en-US" sz="2000" b="0" i="1" smtClean="0">
                                  <a:latin typeface="Cambria Math" panose="02040503050406030204" pitchFamily="18" charset="0"/>
                                </a:rPr>
                                <m:t>𝜏</m:t>
                              </m:r>
                            </m:e>
                            <m:sub>
                              <m:r>
                                <a:rPr lang="en-US" altLang="zh-CN" sz="2000" b="0" i="1" smtClean="0">
                                  <a:latin typeface="Cambria Math" panose="02040503050406030204" pitchFamily="18" charset="0"/>
                                </a:rPr>
                                <m:t>𝑓</m:t>
                              </m:r>
                            </m:sub>
                          </m:sSub>
                          <m:r>
                            <a:rPr lang="en-US" altLang="zh-CN" sz="2000" b="0" i="1" smtClean="0">
                              <a:latin typeface="Cambria Math" panose="02040503050406030204" pitchFamily="18" charset="0"/>
                            </a:rPr>
                            <m:t>𝑑𝑙</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𝑅</m:t>
                          </m:r>
                          <m:r>
                            <a:rPr lang="en-US" altLang="zh-CN" sz="2000" b="0" i="1" smtClean="0">
                              <a:latin typeface="Cambria Math" panose="02040503050406030204" pitchFamily="18" charset="0"/>
                              <a:ea typeface="Cambria Math" panose="02040503050406030204" pitchFamily="18" charset="0"/>
                            </a:rPr>
                            <m:t>=</m:t>
                          </m:r>
                          <m:nary>
                            <m:naryPr>
                              <m:ctrlPr>
                                <a:rPr lang="en-US" altLang="zh-CN" sz="2000" b="0" i="1" smtClean="0">
                                  <a:latin typeface="Cambria Math" panose="02040503050406030204" pitchFamily="18" charset="0"/>
                                  <a:ea typeface="Cambria Math" panose="02040503050406030204" pitchFamily="18" charset="0"/>
                                </a:rPr>
                              </m:ctrlPr>
                            </m:naryPr>
                            <m:sub>
                              <m:r>
                                <m:rPr>
                                  <m:brk m:alnAt="23"/>
                                </m:rPr>
                                <a:rPr lang="en-US" altLang="zh-CN" sz="2000" b="0" i="1" smtClean="0">
                                  <a:latin typeface="Cambria Math" panose="02040503050406030204" pitchFamily="18" charset="0"/>
                                  <a:ea typeface="Cambria Math" panose="02040503050406030204" pitchFamily="18" charset="0"/>
                                </a:rPr>
                                <m:t>0</m:t>
                              </m:r>
                            </m:sub>
                            <m:sup>
                              <m:r>
                                <a:rPr lang="en-US" altLang="zh-CN" sz="2000" b="0" i="1" smtClean="0">
                                  <a:latin typeface="Cambria Math" panose="02040503050406030204" pitchFamily="18" charset="0"/>
                                  <a:ea typeface="Cambria Math" panose="02040503050406030204" pitchFamily="18" charset="0"/>
                                </a:rPr>
                                <m:t>𝐿</m:t>
                              </m:r>
                            </m:sup>
                            <m:e>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𝑐</m:t>
                              </m:r>
                              <m:r>
                                <a:rPr lang="en-US" altLang="zh-CN" sz="2000" b="0" i="1" smtClean="0">
                                  <a:latin typeface="Cambria Math" panose="02040503050406030204" pitchFamily="18" charset="0"/>
                                  <a:ea typeface="Cambria Math" panose="02040503050406030204" pitchFamily="18" charset="0"/>
                                </a:rPr>
                                <m:t>+</m:t>
                              </m:r>
                              <m:sSub>
                                <m:sSubPr>
                                  <m:ctrlPr>
                                    <a:rPr lang="en-US" altLang="zh-CN" sz="2000" b="0" i="1" smtClean="0">
                                      <a:latin typeface="Cambria Math" panose="02040503050406030204" pitchFamily="18" charset="0"/>
                                      <a:ea typeface="Cambria Math" panose="02040503050406030204" pitchFamily="18" charset="0"/>
                                    </a:rPr>
                                  </m:ctrlPr>
                                </m:sSubPr>
                                <m:e>
                                  <m:r>
                                    <a:rPr lang="zh-CN" altLang="en-US" sz="2000" b="0" i="1" smtClean="0">
                                      <a:latin typeface="Cambria Math" panose="02040503050406030204" pitchFamily="18" charset="0"/>
                                      <a:ea typeface="Cambria Math" panose="02040503050406030204" pitchFamily="18" charset="0"/>
                                    </a:rPr>
                                    <m:t>𝜎</m:t>
                                  </m:r>
                                </m:e>
                                <m:sub>
                                  <m:r>
                                    <a:rPr lang="en-US" altLang="zh-CN" sz="2000" b="0" i="1" smtClean="0">
                                      <a:latin typeface="Cambria Math" panose="02040503050406030204" pitchFamily="18" charset="0"/>
                                      <a:ea typeface="Cambria Math" panose="02040503050406030204" pitchFamily="18" charset="0"/>
                                    </a:rPr>
                                    <m:t>𝑛</m:t>
                                  </m:r>
                                </m:sub>
                              </m:sSub>
                              <m:func>
                                <m:funcPr>
                                  <m:ctrlPr>
                                    <a:rPr lang="en-US" altLang="zh-CN" sz="2000" b="0" i="1" smtClean="0">
                                      <a:latin typeface="Cambria Math" panose="02040503050406030204" pitchFamily="18" charset="0"/>
                                      <a:ea typeface="Cambria Math" panose="02040503050406030204" pitchFamily="18" charset="0"/>
                                    </a:rPr>
                                  </m:ctrlPr>
                                </m:funcPr>
                                <m:fName>
                                  <m:r>
                                    <m:rPr>
                                      <m:sty m:val="p"/>
                                    </m:rPr>
                                    <a:rPr lang="en-US" altLang="zh-CN" sz="2000" b="0" i="0" smtClean="0">
                                      <a:latin typeface="Cambria Math" panose="02040503050406030204" pitchFamily="18" charset="0"/>
                                      <a:ea typeface="Cambria Math" panose="02040503050406030204" pitchFamily="18" charset="0"/>
                                    </a:rPr>
                                    <m:t>tan</m:t>
                                  </m:r>
                                </m:fName>
                                <m:e>
                                  <m:r>
                                    <a:rPr lang="zh-CN" altLang="en-US" sz="2000" b="0" i="1" smtClean="0">
                                      <a:latin typeface="Cambria Math" panose="02040503050406030204" pitchFamily="18" charset="0"/>
                                      <a:ea typeface="Cambria Math" panose="02040503050406030204" pitchFamily="18" charset="0"/>
                                    </a:rPr>
                                    <m:t>𝜑</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𝑑𝑙</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𝑅</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𝑐</m:t>
                                  </m:r>
                                  <m:bar>
                                    <m:barPr>
                                      <m:pos m:val="top"/>
                                      <m:ctrlPr>
                                        <a:rPr lang="en-US" altLang="zh-CN" sz="2000" b="0" i="1" smtClean="0">
                                          <a:latin typeface="Cambria Math" panose="02040503050406030204" pitchFamily="18" charset="0"/>
                                          <a:ea typeface="Cambria Math" panose="02040503050406030204" pitchFamily="18" charset="0"/>
                                        </a:rPr>
                                      </m:ctrlPr>
                                    </m:barPr>
                                    <m:e>
                                      <m:r>
                                        <a:rPr lang="en-US" altLang="zh-CN" sz="2000" b="0" i="1" smtClean="0">
                                          <a:latin typeface="Cambria Math" panose="02040503050406030204" pitchFamily="18" charset="0"/>
                                          <a:ea typeface="Cambria Math" panose="02040503050406030204" pitchFamily="18" charset="0"/>
                                        </a:rPr>
                                        <m:t>𝐴𝐶</m:t>
                                      </m:r>
                                    </m:e>
                                  </m:ba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𝑅</m:t>
                                  </m:r>
                                  <m:r>
                                    <a:rPr lang="en-US" altLang="zh-CN" sz="2000" b="0" i="1" smtClean="0">
                                      <a:latin typeface="Cambria Math" panose="02040503050406030204" pitchFamily="18" charset="0"/>
                                      <a:ea typeface="Cambria Math" panose="02040503050406030204" pitchFamily="18" charset="0"/>
                                    </a:rPr>
                                    <m:t>+</m:t>
                                  </m:r>
                                  <m:nary>
                                    <m:naryPr>
                                      <m:ctrlPr>
                                        <a:rPr lang="en-US" altLang="zh-CN" sz="2000" b="0" i="1" smtClean="0">
                                          <a:latin typeface="Cambria Math" panose="02040503050406030204" pitchFamily="18" charset="0"/>
                                          <a:ea typeface="Cambria Math" panose="02040503050406030204" pitchFamily="18" charset="0"/>
                                        </a:rPr>
                                      </m:ctrlPr>
                                    </m:naryPr>
                                    <m:sub>
                                      <m:r>
                                        <m:rPr>
                                          <m:brk m:alnAt="23"/>
                                        </m:rPr>
                                        <a:rPr lang="en-US" altLang="zh-CN" sz="2000" b="0" i="1" smtClean="0">
                                          <a:latin typeface="Cambria Math" panose="02040503050406030204" pitchFamily="18" charset="0"/>
                                          <a:ea typeface="Cambria Math" panose="02040503050406030204" pitchFamily="18" charset="0"/>
                                        </a:rPr>
                                        <m:t>0</m:t>
                                      </m:r>
                                    </m:sub>
                                    <m:sup>
                                      <m:r>
                                        <a:rPr lang="en-US" altLang="zh-CN" sz="2000" b="0" i="1" smtClean="0">
                                          <a:latin typeface="Cambria Math" panose="02040503050406030204" pitchFamily="18" charset="0"/>
                                          <a:ea typeface="Cambria Math" panose="02040503050406030204" pitchFamily="18" charset="0"/>
                                        </a:rPr>
                                        <m:t>𝐿</m:t>
                                      </m:r>
                                    </m:sup>
                                    <m:e>
                                      <m:sSub>
                                        <m:sSubPr>
                                          <m:ctrlPr>
                                            <a:rPr lang="en-US" altLang="zh-CN" sz="2000" b="0" i="1" smtClean="0">
                                              <a:latin typeface="Cambria Math" panose="02040503050406030204" pitchFamily="18" charset="0"/>
                                              <a:ea typeface="Cambria Math" panose="02040503050406030204" pitchFamily="18" charset="0"/>
                                            </a:rPr>
                                          </m:ctrlPr>
                                        </m:sSubPr>
                                        <m:e>
                                          <m:r>
                                            <a:rPr lang="zh-CN" altLang="en-US" sz="2000" b="0" i="1" smtClean="0">
                                              <a:latin typeface="Cambria Math" panose="02040503050406030204" pitchFamily="18" charset="0"/>
                                              <a:ea typeface="Cambria Math" panose="02040503050406030204" pitchFamily="18" charset="0"/>
                                            </a:rPr>
                                            <m:t>𝜎</m:t>
                                          </m:r>
                                        </m:e>
                                        <m:sub>
                                          <m:r>
                                            <a:rPr lang="en-US" altLang="zh-CN" sz="2000" b="0" i="1" smtClean="0">
                                              <a:latin typeface="Cambria Math" panose="02040503050406030204" pitchFamily="18" charset="0"/>
                                              <a:ea typeface="Cambria Math" panose="02040503050406030204" pitchFamily="18" charset="0"/>
                                            </a:rPr>
                                            <m:t>𝑛</m:t>
                                          </m:r>
                                        </m:sub>
                                      </m:sSub>
                                    </m:e>
                                  </m:nary>
                                  <m:func>
                                    <m:funcPr>
                                      <m:ctrlPr>
                                        <a:rPr lang="en-US" altLang="zh-CN" sz="2000" b="0" i="1" smtClean="0">
                                          <a:latin typeface="Cambria Math" panose="02040503050406030204" pitchFamily="18" charset="0"/>
                                          <a:ea typeface="Cambria Math" panose="02040503050406030204" pitchFamily="18" charset="0"/>
                                        </a:rPr>
                                      </m:ctrlPr>
                                    </m:funcPr>
                                    <m:fName>
                                      <m:r>
                                        <m:rPr>
                                          <m:sty m:val="p"/>
                                        </m:rPr>
                                        <a:rPr lang="en-US" altLang="zh-CN" sz="2000" b="0" i="0" smtClean="0">
                                          <a:latin typeface="Cambria Math" panose="02040503050406030204" pitchFamily="18" charset="0"/>
                                          <a:ea typeface="Cambria Math" panose="02040503050406030204" pitchFamily="18" charset="0"/>
                                        </a:rPr>
                                        <m:t>tan</m:t>
                                      </m:r>
                                    </m:fName>
                                    <m:e>
                                      <m:r>
                                        <a:rPr lang="zh-CN" altLang="en-US" sz="2000" b="0" i="1" smtClean="0">
                                          <a:latin typeface="Cambria Math" panose="02040503050406030204" pitchFamily="18" charset="0"/>
                                          <a:ea typeface="Cambria Math" panose="02040503050406030204" pitchFamily="18" charset="0"/>
                                        </a:rPr>
                                        <m:t>𝜑</m:t>
                                      </m:r>
                                      <m:r>
                                        <a:rPr lang="en-US" altLang="zh-CN" sz="2000" b="0" i="1" smtClean="0">
                                          <a:latin typeface="Cambria Math" panose="02040503050406030204" pitchFamily="18" charset="0"/>
                                          <a:ea typeface="Cambria Math" panose="02040503050406030204" pitchFamily="18" charset="0"/>
                                        </a:rPr>
                                        <m:t>𝑑𝑙</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𝑅</m:t>
                                      </m:r>
                                    </m:e>
                                  </m:func>
                                </m:e>
                              </m:func>
                            </m:e>
                          </m:nary>
                        </m:e>
                      </m:nary>
                    </m:oMath>
                  </m:oMathPara>
                </a14:m>
                <a:endParaRPr lang="zh-CN" altLang="en-US" sz="2000" dirty="0"/>
              </a:p>
            </p:txBody>
          </p:sp>
        </mc:Choice>
        <mc:Fallback>
          <p:sp>
            <p:nvSpPr>
              <p:cNvPr id="4" name="文本框 3"/>
              <p:cNvSpPr txBox="1">
                <a:spLocks noRot="1" noChangeAspect="1" noMove="1" noResize="1" noEditPoints="1" noAdjustHandles="1" noChangeArrowheads="1" noChangeShapeType="1" noTextEdit="1"/>
              </p:cNvSpPr>
              <p:nvPr/>
            </p:nvSpPr>
            <p:spPr>
              <a:xfrm>
                <a:off x="416257" y="3617913"/>
                <a:ext cx="7949869" cy="698461"/>
              </a:xfrm>
              <a:prstGeom prst="rect">
                <a:avLst/>
              </a:prstGeom>
              <a:blipFill rotWithShape="1">
                <a:blip r:embed="rId4"/>
                <a:stretch>
                  <a:fillRect l="-4" t="-46" b="4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5191779" y="4873626"/>
                <a:ext cx="704680" cy="430887"/>
              </a:xfrm>
              <a:prstGeom prst="rect">
                <a:avLst/>
              </a:prstGeom>
              <a:noFill/>
            </p:spPr>
            <p:txBody>
              <a:bodyPr wrap="none" lIns="0" tIns="0" rIns="0" bIns="0" rtlCol="0">
                <a:spAutoFit/>
              </a:bodyPr>
              <a:lstStyle/>
              <a:p>
                <a:r>
                  <a:rPr lang="en-US" altLang="zh-CN" dirty="0"/>
                  <a:t>c</a:t>
                </a:r>
                <a:r>
                  <a:rPr lang="en-US" altLang="zh-CN" dirty="0" smtClean="0"/>
                  <a:t>=</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𝑢</m:t>
                        </m:r>
                      </m:sub>
                    </m:sSub>
                  </m:oMath>
                </a14:m>
                <a:endParaRPr lang="zh-CN" altLang="en-US" dirty="0"/>
              </a:p>
            </p:txBody>
          </p:sp>
        </mc:Choice>
        <mc:Fallback>
          <p:sp>
            <p:nvSpPr>
              <p:cNvPr id="6" name="文本框 5"/>
              <p:cNvSpPr txBox="1">
                <a:spLocks noRot="1" noChangeAspect="1" noMove="1" noResize="1" noEditPoints="1" noAdjustHandles="1" noChangeArrowheads="1" noChangeShapeType="1" noTextEdit="1"/>
              </p:cNvSpPr>
              <p:nvPr/>
            </p:nvSpPr>
            <p:spPr>
              <a:xfrm>
                <a:off x="5191779" y="4873626"/>
                <a:ext cx="704680" cy="430887"/>
              </a:xfrm>
              <a:prstGeom prst="rect">
                <a:avLst/>
              </a:prstGeom>
              <a:blipFill rotWithShape="1">
                <a:blip r:embed="rId5"/>
                <a:stretch>
                  <a:fillRect l="-3" r="-24352" b="8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6339525" y="4895026"/>
                <a:ext cx="2054537" cy="41287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𝑀</m:t>
                          </m:r>
                        </m:e>
                        <m:sub>
                          <m:r>
                            <a:rPr lang="en-US" altLang="zh-CN" sz="2400" b="0" i="1" smtClean="0">
                              <a:latin typeface="Cambria Math" panose="02040503050406030204" pitchFamily="18" charset="0"/>
                            </a:rPr>
                            <m:t>𝑟</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𝑐</m:t>
                      </m:r>
                      <m:r>
                        <a:rPr lang="en-US" altLang="zh-CN" sz="2400" b="0" i="1" smtClean="0">
                          <a:latin typeface="Cambria Math" panose="02040503050406030204" pitchFamily="18" charset="0"/>
                          <a:ea typeface="Cambria Math" panose="02040503050406030204" pitchFamily="18" charset="0"/>
                        </a:rPr>
                        <m:t>∙</m:t>
                      </m:r>
                      <m:bar>
                        <m:barPr>
                          <m:pos m:val="top"/>
                          <m:ctrlPr>
                            <a:rPr lang="en-US" altLang="zh-CN" sz="2400" b="0" i="1" smtClean="0">
                              <a:latin typeface="Cambria Math" panose="02040503050406030204" pitchFamily="18" charset="0"/>
                              <a:ea typeface="Cambria Math" panose="02040503050406030204" pitchFamily="18" charset="0"/>
                            </a:rPr>
                          </m:ctrlPr>
                        </m:barPr>
                        <m:e>
                          <m:r>
                            <a:rPr lang="en-US" altLang="zh-CN" sz="2400" b="0" i="1" smtClean="0">
                              <a:latin typeface="Cambria Math" panose="02040503050406030204" pitchFamily="18" charset="0"/>
                              <a:ea typeface="Cambria Math" panose="02040503050406030204" pitchFamily="18" charset="0"/>
                            </a:rPr>
                            <m:t>𝐴𝐶</m:t>
                          </m:r>
                        </m:e>
                      </m:ba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𝑅</m:t>
                      </m:r>
                    </m:oMath>
                  </m:oMathPara>
                </a14:m>
                <a:endParaRPr lang="zh-CN" altLang="en-US" sz="2400" dirty="0">
                  <a:latin typeface="Times New Roman" panose="02020603050405020304" pitchFamily="18" charset="0"/>
                  <a:cs typeface="Times New Roman" panose="02020603050405020304" pitchFamily="18" charset="0"/>
                </a:endParaRPr>
              </a:p>
            </p:txBody>
          </p:sp>
        </mc:Choice>
        <mc:Fallback>
          <p:sp>
            <p:nvSpPr>
              <p:cNvPr id="7" name="文本框 6"/>
              <p:cNvSpPr txBox="1">
                <a:spLocks noRot="1" noChangeAspect="1" noMove="1" noResize="1" noEditPoints="1" noAdjustHandles="1" noChangeArrowheads="1" noChangeShapeType="1" noTextEdit="1"/>
              </p:cNvSpPr>
              <p:nvPr/>
            </p:nvSpPr>
            <p:spPr>
              <a:xfrm>
                <a:off x="6339525" y="4895026"/>
                <a:ext cx="2054537" cy="412870"/>
              </a:xfrm>
              <a:prstGeom prst="rect">
                <a:avLst/>
              </a:prstGeom>
              <a:blipFill rotWithShape="1">
                <a:blip r:embed="rId6"/>
                <a:stretch>
                  <a:fillRect l="-16" t="-108" r="-866" b="13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3238179" y="5600863"/>
                <a:ext cx="2678810" cy="848181"/>
              </a:xfrm>
              <a:prstGeom prst="rect">
                <a:avLst/>
              </a:prstGeom>
              <a:solidFill>
                <a:srgbClr val="FFFF00"/>
              </a:solid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𝐾</m:t>
                      </m:r>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𝑀</m:t>
                              </m:r>
                            </m:e>
                            <m:sub>
                              <m:r>
                                <a:rPr lang="en-US" altLang="zh-CN" sz="2400" b="0" i="1" smtClean="0">
                                  <a:latin typeface="Cambria Math" panose="02040503050406030204" pitchFamily="18" charset="0"/>
                                </a:rPr>
                                <m:t>𝑟</m:t>
                              </m:r>
                            </m:sub>
                          </m:sSub>
                        </m:num>
                        <m:den>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𝑀</m:t>
                              </m:r>
                            </m:e>
                            <m:sub>
                              <m:r>
                                <a:rPr lang="en-US" altLang="zh-CN" sz="2400" b="0" i="1" smtClean="0">
                                  <a:latin typeface="Cambria Math" panose="02040503050406030204" pitchFamily="18" charset="0"/>
                                </a:rPr>
                                <m:t>𝑠</m:t>
                              </m:r>
                            </m:sub>
                          </m:sSub>
                        </m:den>
                      </m:f>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𝑐</m:t>
                          </m:r>
                          <m:r>
                            <a:rPr lang="en-US" altLang="zh-CN" sz="2400" b="0" i="1" smtClean="0">
                              <a:latin typeface="Cambria Math" panose="02040503050406030204" pitchFamily="18" charset="0"/>
                              <a:ea typeface="Cambria Math" panose="02040503050406030204" pitchFamily="18" charset="0"/>
                            </a:rPr>
                            <m:t>∙</m:t>
                          </m:r>
                          <m:bar>
                            <m:barPr>
                              <m:pos m:val="top"/>
                              <m:ctrlPr>
                                <a:rPr lang="en-US" altLang="zh-CN" sz="2400" b="0" i="1" smtClean="0">
                                  <a:latin typeface="Cambria Math" panose="02040503050406030204" pitchFamily="18" charset="0"/>
                                  <a:ea typeface="Cambria Math" panose="02040503050406030204" pitchFamily="18" charset="0"/>
                                </a:rPr>
                              </m:ctrlPr>
                            </m:barPr>
                            <m:e>
                              <m:r>
                                <a:rPr lang="en-US" altLang="zh-CN" sz="2400" b="0" i="1" smtClean="0">
                                  <a:latin typeface="Cambria Math" panose="02040503050406030204" pitchFamily="18" charset="0"/>
                                  <a:ea typeface="Cambria Math" panose="02040503050406030204" pitchFamily="18" charset="0"/>
                                </a:rPr>
                                <m:t>𝐴𝐶</m:t>
                              </m:r>
                            </m:e>
                          </m:ba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𝑅</m:t>
                          </m:r>
                        </m:num>
                        <m:den>
                          <m:r>
                            <a:rPr lang="en-US" altLang="zh-CN" sz="2400" b="0" i="1" smtClean="0">
                              <a:latin typeface="Cambria Math" panose="02040503050406030204" pitchFamily="18" charset="0"/>
                            </a:rPr>
                            <m:t>𝐺𝑎</m:t>
                          </m:r>
                        </m:den>
                      </m:f>
                    </m:oMath>
                  </m:oMathPara>
                </a14:m>
                <a:endParaRPr lang="zh-CN" altLang="en-US" sz="2400" dirty="0">
                  <a:latin typeface="Times New Roman" panose="02020603050405020304" pitchFamily="18" charset="0"/>
                  <a:cs typeface="Times New Roman" panose="02020603050405020304" pitchFamily="18" charset="0"/>
                </a:endParaRPr>
              </a:p>
            </p:txBody>
          </p:sp>
        </mc:Choice>
        <mc:Fallback>
          <p:sp>
            <p:nvSpPr>
              <p:cNvPr id="8" name="文本框 7"/>
              <p:cNvSpPr txBox="1">
                <a:spLocks noRot="1" noChangeAspect="1" noMove="1" noResize="1" noEditPoints="1" noAdjustHandles="1" noChangeArrowheads="1" noChangeShapeType="1" noTextEdit="1"/>
              </p:cNvSpPr>
              <p:nvPr/>
            </p:nvSpPr>
            <p:spPr>
              <a:xfrm>
                <a:off x="3238179" y="5600863"/>
                <a:ext cx="2678810" cy="848181"/>
              </a:xfrm>
              <a:prstGeom prst="rect">
                <a:avLst/>
              </a:prstGeom>
              <a:blipFill rotWithShape="1">
                <a:blip r:embed="rId7"/>
                <a:stretch>
                  <a:fillRect l="-12" t="-19" r="-401" b="73"/>
                </a:stretch>
              </a:blipFill>
            </p:spPr>
            <p:txBody>
              <a:bodyPr/>
              <a:lstStyle/>
              <a:p>
                <a:r>
                  <a:rPr lang="zh-CN" altLang="en-US">
                    <a:noFill/>
                  </a:rPr>
                  <a:t> </a:t>
                </a:r>
              </a:p>
            </p:txBody>
          </p:sp>
        </mc:Fallback>
      </mc:AlternateContent>
      <p:sp>
        <p:nvSpPr>
          <p:cNvPr id="68" name="Rectangle 6"/>
          <p:cNvSpPr>
            <a:spLocks noChangeArrowheads="1"/>
          </p:cNvSpPr>
          <p:nvPr/>
        </p:nvSpPr>
        <p:spPr bwMode="auto">
          <a:xfrm>
            <a:off x="0" y="-7396"/>
            <a:ext cx="41148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黏性土坡的稳定性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54790"/>
                                        </p:tgtEl>
                                        <p:attrNameLst>
                                          <p:attrName>style.visibility</p:attrName>
                                        </p:attrNameLst>
                                      </p:cBhvr>
                                      <p:to>
                                        <p:strVal val="visible"/>
                                      </p:to>
                                    </p:set>
                                    <p:animEffect transition="in" filter="wipe(up)">
                                      <p:cBhvr>
                                        <p:cTn id="7" dur="500"/>
                                        <p:tgtEl>
                                          <p:spTgt spid="754790"/>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754791"/>
                                        </p:tgtEl>
                                        <p:attrNameLst>
                                          <p:attrName>style.visibility</p:attrName>
                                        </p:attrNameLst>
                                      </p:cBhvr>
                                      <p:to>
                                        <p:strVal val="visible"/>
                                      </p:to>
                                    </p:set>
                                    <p:animEffect transition="in" filter="dissolve">
                                      <p:cBhvr>
                                        <p:cTn id="11" dur="500"/>
                                        <p:tgtEl>
                                          <p:spTgt spid="75479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up)">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754787"/>
                                        </p:tgtEl>
                                        <p:attrNameLst>
                                          <p:attrName>style.visibility</p:attrName>
                                        </p:attrNameLst>
                                      </p:cBhvr>
                                      <p:to>
                                        <p:strVal val="visible"/>
                                      </p:to>
                                    </p:set>
                                    <p:animEffect transition="in" filter="wipe(down)">
                                      <p:cBhvr>
                                        <p:cTn id="21" dur="500"/>
                                        <p:tgtEl>
                                          <p:spTgt spid="75478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754786"/>
                                        </p:tgtEl>
                                        <p:attrNameLst>
                                          <p:attrName>style.visibility</p:attrName>
                                        </p:attrNameLst>
                                      </p:cBhvr>
                                      <p:to>
                                        <p:strVal val="visible"/>
                                      </p:to>
                                    </p:set>
                                    <p:animEffect transition="in" filter="wipe(left)">
                                      <p:cBhvr>
                                        <p:cTn id="26" dur="500"/>
                                        <p:tgtEl>
                                          <p:spTgt spid="754786"/>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754777"/>
                                        </p:tgtEl>
                                        <p:attrNameLst>
                                          <p:attrName>style.visibility</p:attrName>
                                        </p:attrNameLst>
                                      </p:cBhvr>
                                      <p:to>
                                        <p:strVal val="visible"/>
                                      </p:to>
                                    </p:set>
                                    <p:animEffect transition="in" filter="wipe(left)">
                                      <p:cBhvr>
                                        <p:cTn id="30" dur="500"/>
                                        <p:tgtEl>
                                          <p:spTgt spid="754777"/>
                                        </p:tgtEl>
                                      </p:cBhvr>
                                    </p:animEffect>
                                  </p:childTnLst>
                                </p:cTn>
                              </p:par>
                            </p:childTnLst>
                          </p:cTn>
                        </p:par>
                        <p:par>
                          <p:cTn id="31" fill="hold">
                            <p:stCondLst>
                              <p:cond delay="1000"/>
                            </p:stCondLst>
                            <p:childTnLst>
                              <p:par>
                                <p:cTn id="32" presetID="22" presetClass="entr" presetSubtype="8" fill="hold" nodeType="afterEffect">
                                  <p:stCondLst>
                                    <p:cond delay="0"/>
                                  </p:stCondLst>
                                  <p:childTnLst>
                                    <p:set>
                                      <p:cBhvr>
                                        <p:cTn id="33" dur="1" fill="hold">
                                          <p:stCondLst>
                                            <p:cond delay="0"/>
                                          </p:stCondLst>
                                        </p:cTn>
                                        <p:tgtEl>
                                          <p:spTgt spid="754778"/>
                                        </p:tgtEl>
                                        <p:attrNameLst>
                                          <p:attrName>style.visibility</p:attrName>
                                        </p:attrNameLst>
                                      </p:cBhvr>
                                      <p:to>
                                        <p:strVal val="visible"/>
                                      </p:to>
                                    </p:set>
                                    <p:animEffect transition="in" filter="wipe(left)">
                                      <p:cBhvr>
                                        <p:cTn id="34" dur="500"/>
                                        <p:tgtEl>
                                          <p:spTgt spid="754778"/>
                                        </p:tgtEl>
                                      </p:cBhvr>
                                    </p:animEffect>
                                  </p:childTnLst>
                                </p:cTn>
                              </p:par>
                            </p:childTnLst>
                          </p:cTn>
                        </p:par>
                        <p:par>
                          <p:cTn id="35" fill="hold">
                            <p:stCondLst>
                              <p:cond delay="1500"/>
                            </p:stCondLst>
                            <p:childTnLst>
                              <p:par>
                                <p:cTn id="36" presetID="22" presetClass="entr" presetSubtype="8" fill="hold" nodeType="afterEffect">
                                  <p:stCondLst>
                                    <p:cond delay="0"/>
                                  </p:stCondLst>
                                  <p:childTnLst>
                                    <p:set>
                                      <p:cBhvr>
                                        <p:cTn id="37" dur="1" fill="hold">
                                          <p:stCondLst>
                                            <p:cond delay="0"/>
                                          </p:stCondLst>
                                        </p:cTn>
                                        <p:tgtEl>
                                          <p:spTgt spid="754779"/>
                                        </p:tgtEl>
                                        <p:attrNameLst>
                                          <p:attrName>style.visibility</p:attrName>
                                        </p:attrNameLst>
                                      </p:cBhvr>
                                      <p:to>
                                        <p:strVal val="visible"/>
                                      </p:to>
                                    </p:set>
                                    <p:animEffect transition="in" filter="wipe(left)">
                                      <p:cBhvr>
                                        <p:cTn id="38" dur="500"/>
                                        <p:tgtEl>
                                          <p:spTgt spid="754779"/>
                                        </p:tgtEl>
                                      </p:cBhvr>
                                    </p:animEffect>
                                  </p:childTnLst>
                                </p:cTn>
                              </p:par>
                            </p:childTnLst>
                          </p:cTn>
                        </p:par>
                        <p:par>
                          <p:cTn id="39" fill="hold">
                            <p:stCondLst>
                              <p:cond delay="2000"/>
                            </p:stCondLst>
                            <p:childTnLst>
                              <p:par>
                                <p:cTn id="40" presetID="22" presetClass="entr" presetSubtype="8" fill="hold" nodeType="afterEffect">
                                  <p:stCondLst>
                                    <p:cond delay="0"/>
                                  </p:stCondLst>
                                  <p:childTnLst>
                                    <p:set>
                                      <p:cBhvr>
                                        <p:cTn id="41" dur="1" fill="hold">
                                          <p:stCondLst>
                                            <p:cond delay="0"/>
                                          </p:stCondLst>
                                        </p:cTn>
                                        <p:tgtEl>
                                          <p:spTgt spid="754781"/>
                                        </p:tgtEl>
                                        <p:attrNameLst>
                                          <p:attrName>style.visibility</p:attrName>
                                        </p:attrNameLst>
                                      </p:cBhvr>
                                      <p:to>
                                        <p:strVal val="visible"/>
                                      </p:to>
                                    </p:set>
                                    <p:animEffect transition="in" filter="wipe(left)">
                                      <p:cBhvr>
                                        <p:cTn id="42" dur="500"/>
                                        <p:tgtEl>
                                          <p:spTgt spid="754781"/>
                                        </p:tgtEl>
                                      </p:cBhvr>
                                    </p:animEffect>
                                  </p:childTnLst>
                                </p:cTn>
                              </p:par>
                            </p:childTnLst>
                          </p:cTn>
                        </p:par>
                        <p:par>
                          <p:cTn id="43" fill="hold">
                            <p:stCondLst>
                              <p:cond delay="2500"/>
                            </p:stCondLst>
                            <p:childTnLst>
                              <p:par>
                                <p:cTn id="44" presetID="22" presetClass="entr" presetSubtype="8" fill="hold" nodeType="afterEffect">
                                  <p:stCondLst>
                                    <p:cond delay="0"/>
                                  </p:stCondLst>
                                  <p:childTnLst>
                                    <p:set>
                                      <p:cBhvr>
                                        <p:cTn id="45" dur="1" fill="hold">
                                          <p:stCondLst>
                                            <p:cond delay="0"/>
                                          </p:stCondLst>
                                        </p:cTn>
                                        <p:tgtEl>
                                          <p:spTgt spid="754783"/>
                                        </p:tgtEl>
                                        <p:attrNameLst>
                                          <p:attrName>style.visibility</p:attrName>
                                        </p:attrNameLst>
                                      </p:cBhvr>
                                      <p:to>
                                        <p:strVal val="visible"/>
                                      </p:to>
                                    </p:set>
                                    <p:animEffect transition="in" filter="wipe(left)">
                                      <p:cBhvr>
                                        <p:cTn id="46" dur="500"/>
                                        <p:tgtEl>
                                          <p:spTgt spid="754783"/>
                                        </p:tgtEl>
                                      </p:cBhvr>
                                    </p:animEffect>
                                  </p:childTnLst>
                                </p:cTn>
                              </p:par>
                            </p:childTnLst>
                          </p:cTn>
                        </p:par>
                        <p:par>
                          <p:cTn id="47" fill="hold">
                            <p:stCondLst>
                              <p:cond delay="3000"/>
                            </p:stCondLst>
                            <p:childTnLst>
                              <p:par>
                                <p:cTn id="48" presetID="22" presetClass="entr" presetSubtype="8" fill="hold" nodeType="afterEffect">
                                  <p:stCondLst>
                                    <p:cond delay="0"/>
                                  </p:stCondLst>
                                  <p:childTnLst>
                                    <p:set>
                                      <p:cBhvr>
                                        <p:cTn id="49" dur="1" fill="hold">
                                          <p:stCondLst>
                                            <p:cond delay="0"/>
                                          </p:stCondLst>
                                        </p:cTn>
                                        <p:tgtEl>
                                          <p:spTgt spid="754784"/>
                                        </p:tgtEl>
                                        <p:attrNameLst>
                                          <p:attrName>style.visibility</p:attrName>
                                        </p:attrNameLst>
                                      </p:cBhvr>
                                      <p:to>
                                        <p:strVal val="visible"/>
                                      </p:to>
                                    </p:set>
                                    <p:animEffect transition="in" filter="wipe(left)">
                                      <p:cBhvr>
                                        <p:cTn id="50" dur="500"/>
                                        <p:tgtEl>
                                          <p:spTgt spid="754784"/>
                                        </p:tgtEl>
                                      </p:cBhvr>
                                    </p:animEffect>
                                  </p:childTnLst>
                                </p:cTn>
                              </p:par>
                            </p:childTnLst>
                          </p:cTn>
                        </p:par>
                        <p:par>
                          <p:cTn id="51" fill="hold">
                            <p:stCondLst>
                              <p:cond delay="3500"/>
                            </p:stCondLst>
                            <p:childTnLst>
                              <p:par>
                                <p:cTn id="52" presetID="22" presetClass="entr" presetSubtype="8" fill="hold" nodeType="afterEffect">
                                  <p:stCondLst>
                                    <p:cond delay="0"/>
                                  </p:stCondLst>
                                  <p:childTnLst>
                                    <p:set>
                                      <p:cBhvr>
                                        <p:cTn id="53" dur="1" fill="hold">
                                          <p:stCondLst>
                                            <p:cond delay="0"/>
                                          </p:stCondLst>
                                        </p:cTn>
                                        <p:tgtEl>
                                          <p:spTgt spid="754785"/>
                                        </p:tgtEl>
                                        <p:attrNameLst>
                                          <p:attrName>style.visibility</p:attrName>
                                        </p:attrNameLst>
                                      </p:cBhvr>
                                      <p:to>
                                        <p:strVal val="visible"/>
                                      </p:to>
                                    </p:set>
                                    <p:animEffect transition="in" filter="wipe(left)">
                                      <p:cBhvr>
                                        <p:cTn id="54" dur="500"/>
                                        <p:tgtEl>
                                          <p:spTgt spid="754785"/>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754725">
                                            <p:txEl>
                                              <p:pRg st="0" end="0"/>
                                            </p:txEl>
                                          </p:spTgt>
                                        </p:tgtEl>
                                        <p:attrNameLst>
                                          <p:attrName>style.visibility</p:attrName>
                                        </p:attrNameLst>
                                      </p:cBhvr>
                                      <p:to>
                                        <p:strVal val="visible"/>
                                      </p:to>
                                    </p:set>
                                    <p:animEffect transition="in" filter="wipe(left)">
                                      <p:cBhvr>
                                        <p:cTn id="59" dur="500"/>
                                        <p:tgtEl>
                                          <p:spTgt spid="754725">
                                            <p:txEl>
                                              <p:pRg st="0" end="0"/>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754730"/>
                                        </p:tgtEl>
                                        <p:attrNameLst>
                                          <p:attrName>style.visibility</p:attrName>
                                        </p:attrNameLst>
                                      </p:cBhvr>
                                      <p:to>
                                        <p:strVal val="visible"/>
                                      </p:to>
                                    </p:set>
                                    <p:animEffect transition="in" filter="wipe(left)">
                                      <p:cBhvr>
                                        <p:cTn id="64" dur="500"/>
                                        <p:tgtEl>
                                          <p:spTgt spid="754730"/>
                                        </p:tgtEl>
                                      </p:cBhvr>
                                    </p:animEffect>
                                  </p:childTnLst>
                                </p:cTn>
                              </p:par>
                            </p:childTnLst>
                          </p:cTn>
                        </p:par>
                      </p:childTnLst>
                    </p:cTn>
                  </p:par>
                  <p:par>
                    <p:cTn id="65" fill="hold">
                      <p:stCondLst>
                        <p:cond delay="indefinite"/>
                      </p:stCondLst>
                      <p:childTnLst>
                        <p:par>
                          <p:cTn id="66" fill="hold">
                            <p:stCondLst>
                              <p:cond delay="0"/>
                            </p:stCondLst>
                            <p:childTnLst>
                              <p:par>
                                <p:cTn id="67" presetID="16" presetClass="entr" presetSubtype="37" fill="hold" nodeType="clickEffect">
                                  <p:stCondLst>
                                    <p:cond delay="0"/>
                                  </p:stCondLst>
                                  <p:childTnLst>
                                    <p:set>
                                      <p:cBhvr>
                                        <p:cTn id="68" dur="1" fill="hold">
                                          <p:stCondLst>
                                            <p:cond delay="0"/>
                                          </p:stCondLst>
                                        </p:cTn>
                                        <p:tgtEl>
                                          <p:spTgt spid="754771"/>
                                        </p:tgtEl>
                                        <p:attrNameLst>
                                          <p:attrName>style.visibility</p:attrName>
                                        </p:attrNameLst>
                                      </p:cBhvr>
                                      <p:to>
                                        <p:strVal val="visible"/>
                                      </p:to>
                                    </p:set>
                                    <p:animEffect transition="in" filter="barn(outVertical)">
                                      <p:cBhvr>
                                        <p:cTn id="69" dur="500"/>
                                        <p:tgtEl>
                                          <p:spTgt spid="754771"/>
                                        </p:tgtEl>
                                      </p:cBhvr>
                                    </p:animEffect>
                                  </p:childTnLst>
                                </p:cTn>
                              </p:par>
                            </p:childTnLst>
                          </p:cTn>
                        </p:par>
                        <p:par>
                          <p:cTn id="70" fill="hold">
                            <p:stCondLst>
                              <p:cond delay="500"/>
                            </p:stCondLst>
                            <p:childTnLst>
                              <p:par>
                                <p:cTn id="71" presetID="9" presetClass="entr" presetSubtype="0" fill="hold" grpId="0" nodeType="afterEffect">
                                  <p:stCondLst>
                                    <p:cond delay="0"/>
                                  </p:stCondLst>
                                  <p:childTnLst>
                                    <p:set>
                                      <p:cBhvr>
                                        <p:cTn id="72" dur="1" fill="hold">
                                          <p:stCondLst>
                                            <p:cond delay="0"/>
                                          </p:stCondLst>
                                        </p:cTn>
                                        <p:tgtEl>
                                          <p:spTgt spid="754772"/>
                                        </p:tgtEl>
                                        <p:attrNameLst>
                                          <p:attrName>style.visibility</p:attrName>
                                        </p:attrNameLst>
                                      </p:cBhvr>
                                      <p:to>
                                        <p:strVal val="visible"/>
                                      </p:to>
                                    </p:set>
                                    <p:animEffect transition="in" filter="dissolve">
                                      <p:cBhvr>
                                        <p:cTn id="73" dur="500"/>
                                        <p:tgtEl>
                                          <p:spTgt spid="754772"/>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754741"/>
                                        </p:tgtEl>
                                        <p:attrNameLst>
                                          <p:attrName>style.visibility</p:attrName>
                                        </p:attrNameLst>
                                      </p:cBhvr>
                                      <p:to>
                                        <p:strVal val="visible"/>
                                      </p:to>
                                    </p:set>
                                    <p:animEffect transition="in" filter="wipe(left)">
                                      <p:cBhvr>
                                        <p:cTn id="78" dur="500"/>
                                        <p:tgtEl>
                                          <p:spTgt spid="754741"/>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3"/>
                                        </p:tgtEl>
                                        <p:attrNameLst>
                                          <p:attrName>style.visibility</p:attrName>
                                        </p:attrNameLst>
                                      </p:cBhvr>
                                      <p:to>
                                        <p:strVal val="visible"/>
                                      </p:to>
                                    </p:set>
                                    <p:animEffect transition="in" filter="wipe(left)">
                                      <p:cBhvr>
                                        <p:cTn id="83" dur="500"/>
                                        <p:tgtEl>
                                          <p:spTgt spid="3"/>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754733"/>
                                        </p:tgtEl>
                                        <p:attrNameLst>
                                          <p:attrName>style.visibility</p:attrName>
                                        </p:attrNameLst>
                                      </p:cBhvr>
                                      <p:to>
                                        <p:strVal val="visible"/>
                                      </p:to>
                                    </p:set>
                                    <p:animEffect transition="in" filter="wipe(left)">
                                      <p:cBhvr>
                                        <p:cTn id="88" dur="500"/>
                                        <p:tgtEl>
                                          <p:spTgt spid="7547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4725" grpId="0" autoUpdateAnimBg="0" build="p"/>
      <p:bldP spid="754730" grpId="0" autoUpdateAnimBg="0"/>
      <p:bldP spid="754733" grpId="0" autoUpdateAnimBg="0"/>
      <p:bldP spid="754741" grpId="0" autoUpdateAnimBg="0"/>
      <p:bldP spid="754772" grpId="0" autoUpdateAnimBg="0"/>
      <p:bldP spid="754791"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9" name="Rectangle 3"/>
          <p:cNvSpPr>
            <a:spLocks noGrp="1" noChangeArrowheads="1"/>
          </p:cNvSpPr>
          <p:nvPr>
            <p:ph type="body" sz="half" idx="1"/>
          </p:nvPr>
        </p:nvSpPr>
        <p:spPr bwMode="auto">
          <a:xfrm>
            <a:off x="683568" y="620688"/>
            <a:ext cx="1584176" cy="64807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indent="0" algn="just" eaLnBrk="1" hangingPunct="1">
              <a:buFontTx/>
              <a:buNone/>
            </a:pPr>
            <a:r>
              <a:rPr lang="zh-CN" altLang="en-US" sz="3600" b="1" dirty="0" smtClean="0">
                <a:solidFill>
                  <a:srgbClr val="993300"/>
                </a:solidFill>
                <a:ea typeface="隶书" panose="02010509060101010101" pitchFamily="49" charset="-122"/>
              </a:rPr>
              <a:t>讨论：</a:t>
            </a:r>
            <a:endParaRPr lang="zh-CN" altLang="en-US" sz="2800" b="1" dirty="0" smtClean="0">
              <a:solidFill>
                <a:srgbClr val="0000FF"/>
              </a:solidFill>
            </a:endParaRPr>
          </a:p>
        </p:txBody>
      </p:sp>
      <p:sp>
        <p:nvSpPr>
          <p:cNvPr id="755773" name="Rectangle 61"/>
          <p:cNvSpPr>
            <a:spLocks noChangeArrowheads="1"/>
          </p:cNvSpPr>
          <p:nvPr/>
        </p:nvSpPr>
        <p:spPr bwMode="auto">
          <a:xfrm>
            <a:off x="539552" y="2646992"/>
            <a:ext cx="7787208" cy="478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just" eaLnBrk="1" hangingPunct="1">
              <a:lnSpc>
                <a:spcPct val="110000"/>
              </a:lnSpc>
            </a:pPr>
            <a:r>
              <a:rPr lang="en-US" altLang="zh-CN" sz="2400" b="1" dirty="0" smtClean="0">
                <a:solidFill>
                  <a:srgbClr val="0000FF"/>
                </a:solidFill>
                <a:latin typeface="Times New Roman" panose="02020603050405020304" pitchFamily="18" charset="0"/>
              </a:rPr>
              <a:t>2 </a:t>
            </a:r>
            <a:r>
              <a:rPr lang="zh-CN" altLang="en-US" sz="2400" b="1" dirty="0">
                <a:solidFill>
                  <a:srgbClr val="0000FF"/>
                </a:solidFill>
                <a:latin typeface="Times New Roman" panose="02020603050405020304" pitchFamily="18" charset="0"/>
              </a:rPr>
              <a:t>当 </a:t>
            </a:r>
            <a:r>
              <a:rPr lang="el-GR" altLang="zh-CN" sz="2400" b="1" dirty="0" smtClean="0">
                <a:solidFill>
                  <a:srgbClr val="0000FF"/>
                </a:solidFill>
                <a:latin typeface="Times New Roman" panose="02020603050405020304" pitchFamily="18" charset="0"/>
              </a:rPr>
              <a:t>φ</a:t>
            </a:r>
            <a:r>
              <a:rPr kumimoji="1" lang="zh-CN" altLang="en-US" sz="2400" b="1" i="1" dirty="0" smtClean="0">
                <a:solidFill>
                  <a:srgbClr val="0000FF"/>
                </a:solidFill>
                <a:latin typeface="Times New Roman" panose="02020603050405020304" pitchFamily="18" charset="0"/>
                <a:sym typeface="Symbol" panose="05050102010706020507" pitchFamily="18" charset="2"/>
              </a:rPr>
              <a:t> </a:t>
            </a:r>
            <a:r>
              <a:rPr lang="zh-CN" altLang="en-US" sz="2400" b="1" dirty="0">
                <a:solidFill>
                  <a:srgbClr val="0000FF"/>
                </a:solidFill>
                <a:latin typeface="Times New Roman" panose="02020603050405020304" pitchFamily="18" charset="0"/>
                <a:sym typeface="Symbol" panose="05050102010706020507" pitchFamily="18" charset="2"/>
              </a:rPr>
              <a:t></a:t>
            </a:r>
            <a:r>
              <a:rPr lang="en-US" altLang="zh-CN" sz="2400" b="1" dirty="0">
                <a:solidFill>
                  <a:srgbClr val="0000FF"/>
                </a:solidFill>
                <a:latin typeface="Times New Roman" panose="02020603050405020304" pitchFamily="18" charset="0"/>
              </a:rPr>
              <a:t>0 </a:t>
            </a:r>
            <a:r>
              <a:rPr lang="zh-CN" altLang="en-US" sz="2400" b="1" dirty="0">
                <a:solidFill>
                  <a:srgbClr val="0000FF"/>
                </a:solidFill>
                <a:latin typeface="Times New Roman" panose="02020603050405020304" pitchFamily="18" charset="0"/>
              </a:rPr>
              <a:t>时，</a:t>
            </a:r>
            <a:r>
              <a:rPr lang="zh-CN" altLang="en-US" sz="2400" b="1" dirty="0">
                <a:solidFill>
                  <a:srgbClr val="0000FF"/>
                </a:solidFill>
                <a:latin typeface="Times New Roman" panose="02020603050405020304" pitchFamily="18" charset="0"/>
                <a:sym typeface="Symbol" panose="05050102010706020507" pitchFamily="18" charset="2"/>
              </a:rPr>
              <a:t></a:t>
            </a:r>
            <a:r>
              <a:rPr lang="en-US" altLang="zh-CN" sz="2400" b="1" baseline="-25000" dirty="0">
                <a:solidFill>
                  <a:srgbClr val="0000FF"/>
                </a:solidFill>
                <a:latin typeface="Times New Roman" panose="02020603050405020304" pitchFamily="18" charset="0"/>
              </a:rPr>
              <a:t>n </a:t>
            </a:r>
            <a:r>
              <a:rPr lang="zh-CN" altLang="en-US" sz="2400" b="1" dirty="0">
                <a:solidFill>
                  <a:srgbClr val="0000FF"/>
                </a:solidFill>
                <a:latin typeface="Times New Roman" panose="02020603050405020304" pitchFamily="18" charset="0"/>
              </a:rPr>
              <a:t>是 </a:t>
            </a:r>
            <a:r>
              <a:rPr lang="en-US" altLang="zh-CN" sz="2400" b="1" i="1" dirty="0">
                <a:solidFill>
                  <a:srgbClr val="0000FF"/>
                </a:solidFill>
                <a:latin typeface="Times New Roman" panose="02020603050405020304" pitchFamily="18" charset="0"/>
              </a:rPr>
              <a:t>l</a:t>
            </a:r>
            <a:r>
              <a:rPr lang="en-US" altLang="zh-CN" sz="2400" b="1" dirty="0">
                <a:solidFill>
                  <a:srgbClr val="0000FF"/>
                </a:solidFill>
                <a:latin typeface="Times New Roman" panose="02020603050405020304" pitchFamily="18" charset="0"/>
              </a:rPr>
              <a:t>(</a:t>
            </a:r>
            <a:r>
              <a:rPr lang="en-US" altLang="zh-CN" sz="2400" b="1" i="1" dirty="0" err="1">
                <a:solidFill>
                  <a:srgbClr val="0000FF"/>
                </a:solidFill>
                <a:latin typeface="Times New Roman" panose="02020603050405020304" pitchFamily="18" charset="0"/>
              </a:rPr>
              <a:t>x</a:t>
            </a:r>
            <a:r>
              <a:rPr lang="en-US" altLang="zh-CN" sz="2400" b="1" dirty="0" err="1">
                <a:solidFill>
                  <a:srgbClr val="0000FF"/>
                </a:solidFill>
                <a:latin typeface="Times New Roman" panose="02020603050405020304" pitchFamily="18" charset="0"/>
              </a:rPr>
              <a:t>,</a:t>
            </a:r>
            <a:r>
              <a:rPr lang="en-US" altLang="zh-CN" sz="2400" b="1" i="1" dirty="0" err="1">
                <a:solidFill>
                  <a:srgbClr val="0000FF"/>
                </a:solidFill>
                <a:latin typeface="Times New Roman" panose="02020603050405020304" pitchFamily="18" charset="0"/>
              </a:rPr>
              <a:t>y</a:t>
            </a:r>
            <a:r>
              <a:rPr lang="en-US" altLang="zh-CN" sz="2400" b="1" dirty="0">
                <a:solidFill>
                  <a:srgbClr val="0000FF"/>
                </a:solidFill>
                <a:latin typeface="Times New Roman" panose="02020603050405020304" pitchFamily="18" charset="0"/>
              </a:rPr>
              <a:t>) </a:t>
            </a:r>
            <a:r>
              <a:rPr lang="zh-CN" altLang="en-US" sz="2400" b="1" dirty="0">
                <a:solidFill>
                  <a:srgbClr val="0000FF"/>
                </a:solidFill>
                <a:latin typeface="Times New Roman" panose="02020603050405020304" pitchFamily="18" charset="0"/>
              </a:rPr>
              <a:t>的函数，无法得到 </a:t>
            </a:r>
            <a:r>
              <a:rPr lang="en-US" altLang="zh-CN" sz="2400" b="1" i="1" dirty="0" smtClean="0">
                <a:solidFill>
                  <a:srgbClr val="0000FF"/>
                </a:solidFill>
                <a:latin typeface="Times New Roman" panose="02020603050405020304" pitchFamily="18" charset="0"/>
              </a:rPr>
              <a:t>K</a:t>
            </a:r>
            <a:r>
              <a:rPr lang="en-US" altLang="zh-CN" sz="2400" b="1" i="1" baseline="-25000" dirty="0" smtClean="0">
                <a:solidFill>
                  <a:srgbClr val="0000FF"/>
                </a:solidFill>
                <a:latin typeface="Times New Roman" panose="02020603050405020304" pitchFamily="18" charset="0"/>
              </a:rPr>
              <a:t> </a:t>
            </a:r>
            <a:r>
              <a:rPr lang="zh-CN" altLang="en-US" sz="2400" b="1" dirty="0">
                <a:solidFill>
                  <a:srgbClr val="0000FF"/>
                </a:solidFill>
                <a:latin typeface="Times New Roman" panose="02020603050405020304" pitchFamily="18" charset="0"/>
              </a:rPr>
              <a:t>的理论</a:t>
            </a:r>
            <a:r>
              <a:rPr lang="zh-CN" altLang="en-US" sz="2400" b="1" dirty="0" smtClean="0">
                <a:solidFill>
                  <a:srgbClr val="0000FF"/>
                </a:solidFill>
                <a:latin typeface="Times New Roman" panose="02020603050405020304" pitchFamily="18" charset="0"/>
              </a:rPr>
              <a:t>解</a:t>
            </a:r>
            <a:r>
              <a:rPr lang="en-US" altLang="zh-CN" sz="2400" b="1" dirty="0" smtClean="0">
                <a:solidFill>
                  <a:srgbClr val="0000FF"/>
                </a:solidFill>
                <a:latin typeface="Times New Roman" panose="02020603050405020304" pitchFamily="18" charset="0"/>
              </a:rPr>
              <a:t>;</a:t>
            </a:r>
            <a:endParaRPr lang="zh-CN" altLang="en-US" sz="2400" b="1" dirty="0">
              <a:solidFill>
                <a:srgbClr val="0000FF"/>
              </a:solidFill>
              <a:latin typeface="Times New Roman" panose="02020603050405020304" pitchFamily="18" charset="0"/>
            </a:endParaRPr>
          </a:p>
        </p:txBody>
      </p:sp>
      <p:sp>
        <p:nvSpPr>
          <p:cNvPr id="755774" name="Rectangle 62"/>
          <p:cNvSpPr>
            <a:spLocks noChangeArrowheads="1"/>
          </p:cNvSpPr>
          <p:nvPr/>
        </p:nvSpPr>
        <p:spPr bwMode="auto">
          <a:xfrm>
            <a:off x="539552" y="3767591"/>
            <a:ext cx="8363272"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lnSpc>
                <a:spcPct val="110000"/>
              </a:lnSpc>
              <a:spcBef>
                <a:spcPct val="0"/>
              </a:spcBef>
            </a:pPr>
            <a:r>
              <a:rPr kumimoji="1" lang="en-US" altLang="zh-CN" sz="2400" b="1" dirty="0" smtClean="0">
                <a:solidFill>
                  <a:srgbClr val="0000FF"/>
                </a:solidFill>
                <a:latin typeface="Times New Roman" panose="02020603050405020304" pitchFamily="18" charset="0"/>
              </a:rPr>
              <a:t>3 </a:t>
            </a:r>
            <a:r>
              <a:rPr kumimoji="1" lang="zh-CN" altLang="en-US" sz="2400" b="1" dirty="0">
                <a:solidFill>
                  <a:srgbClr val="0000FF"/>
                </a:solidFill>
                <a:latin typeface="Times New Roman" panose="02020603050405020304" pitchFamily="18" charset="0"/>
              </a:rPr>
              <a:t>其中圆心 </a:t>
            </a:r>
            <a:r>
              <a:rPr kumimoji="1" lang="en-US" altLang="zh-CN" sz="2400" b="1" dirty="0">
                <a:solidFill>
                  <a:srgbClr val="0000FF"/>
                </a:solidFill>
                <a:latin typeface="Times New Roman" panose="02020603050405020304" pitchFamily="18" charset="0"/>
              </a:rPr>
              <a:t>O </a:t>
            </a:r>
            <a:r>
              <a:rPr kumimoji="1" lang="zh-CN" altLang="en-US" sz="2400" b="1" dirty="0">
                <a:solidFill>
                  <a:srgbClr val="0000FF"/>
                </a:solidFill>
                <a:latin typeface="Times New Roman" panose="02020603050405020304" pitchFamily="18" charset="0"/>
              </a:rPr>
              <a:t>及半径 </a:t>
            </a:r>
            <a:r>
              <a:rPr kumimoji="1" lang="en-US" altLang="zh-CN" sz="2400" b="1" dirty="0">
                <a:solidFill>
                  <a:srgbClr val="0000FF"/>
                </a:solidFill>
                <a:latin typeface="Times New Roman" panose="02020603050405020304" pitchFamily="18" charset="0"/>
              </a:rPr>
              <a:t>R </a:t>
            </a:r>
            <a:r>
              <a:rPr kumimoji="1" lang="zh-CN" altLang="en-US" sz="2400" b="1" dirty="0">
                <a:solidFill>
                  <a:srgbClr val="0000FF"/>
                </a:solidFill>
                <a:latin typeface="Times New Roman" panose="02020603050405020304" pitchFamily="18" charset="0"/>
              </a:rPr>
              <a:t>是任意假设的，还必须计算若干组（</a:t>
            </a:r>
            <a:r>
              <a:rPr kumimoji="1" lang="en-US" altLang="zh-CN" sz="2400" b="1" dirty="0">
                <a:solidFill>
                  <a:srgbClr val="0000FF"/>
                </a:solidFill>
                <a:latin typeface="Times New Roman" panose="02020603050405020304" pitchFamily="18" charset="0"/>
              </a:rPr>
              <a:t>O, R</a:t>
            </a:r>
            <a:r>
              <a:rPr kumimoji="1" lang="zh-CN" altLang="en-US" sz="2400" b="1" dirty="0">
                <a:solidFill>
                  <a:srgbClr val="0000FF"/>
                </a:solidFill>
                <a:latin typeface="Times New Roman" panose="02020603050405020304" pitchFamily="18" charset="0"/>
              </a:rPr>
              <a:t>）找到最小</a:t>
            </a:r>
            <a:r>
              <a:rPr kumimoji="1" lang="zh-CN" altLang="en-US" sz="2400" b="1" dirty="0" smtClean="0">
                <a:solidFill>
                  <a:srgbClr val="0000FF"/>
                </a:solidFill>
                <a:latin typeface="Times New Roman" panose="02020603050405020304" pitchFamily="18" charset="0"/>
              </a:rPr>
              <a:t>安全系数</a:t>
            </a:r>
            <a:r>
              <a:rPr kumimoji="1" lang="en-US" altLang="zh-CN" sz="3600" b="1" dirty="0" smtClean="0">
                <a:solidFill>
                  <a:srgbClr val="CC0066"/>
                </a:solidFill>
                <a:latin typeface="Times New Roman" panose="02020603050405020304" pitchFamily="18" charset="0"/>
              </a:rPr>
              <a:t>——</a:t>
            </a:r>
            <a:r>
              <a:rPr kumimoji="1" lang="zh-CN" altLang="en-US" sz="2400" b="1" i="1" dirty="0">
                <a:solidFill>
                  <a:srgbClr val="CC0066"/>
                </a:solidFill>
                <a:latin typeface="Times New Roman" panose="02020603050405020304" pitchFamily="18" charset="0"/>
              </a:rPr>
              <a:t>最危险滑动面</a:t>
            </a:r>
            <a:endParaRPr kumimoji="1" lang="zh-CN" altLang="en-US" sz="2400" b="1" i="1" dirty="0">
              <a:solidFill>
                <a:srgbClr val="CC0066"/>
              </a:solidFill>
              <a:latin typeface="Times New Roman" panose="02020603050405020304" pitchFamily="18" charset="0"/>
            </a:endParaRPr>
          </a:p>
        </p:txBody>
      </p:sp>
      <p:sp>
        <p:nvSpPr>
          <p:cNvPr id="755775" name="Rectangle 63"/>
          <p:cNvSpPr>
            <a:spLocks noChangeArrowheads="1"/>
          </p:cNvSpPr>
          <p:nvPr/>
        </p:nvSpPr>
        <p:spPr bwMode="auto">
          <a:xfrm>
            <a:off x="539552" y="1683290"/>
            <a:ext cx="5334000"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lnSpc>
                <a:spcPct val="110000"/>
              </a:lnSpc>
              <a:spcBef>
                <a:spcPct val="0"/>
              </a:spcBef>
            </a:pPr>
            <a:r>
              <a:rPr kumimoji="1" lang="en-US" altLang="zh-CN" sz="2400" b="1" dirty="0" smtClean="0">
                <a:solidFill>
                  <a:srgbClr val="0000FF"/>
                </a:solidFill>
                <a:latin typeface="Times New Roman" panose="02020603050405020304" pitchFamily="18" charset="0"/>
              </a:rPr>
              <a:t>1 </a:t>
            </a:r>
            <a:r>
              <a:rPr kumimoji="1" lang="zh-CN" altLang="en-US" sz="2400" b="1" dirty="0">
                <a:solidFill>
                  <a:srgbClr val="0000FF"/>
                </a:solidFill>
                <a:latin typeface="Times New Roman" panose="02020603050405020304" pitchFamily="18" charset="0"/>
              </a:rPr>
              <a:t>适用于饱和</a:t>
            </a:r>
            <a:r>
              <a:rPr kumimoji="1" lang="zh-CN" altLang="en-US" sz="2400" b="1" dirty="0" smtClean="0">
                <a:solidFill>
                  <a:srgbClr val="0000FF"/>
                </a:solidFill>
                <a:latin typeface="Times New Roman" panose="02020603050405020304" pitchFamily="18" charset="0"/>
              </a:rPr>
              <a:t>软黏土</a:t>
            </a:r>
            <a:r>
              <a:rPr kumimoji="1" lang="zh-CN" altLang="en-US" sz="2400" b="1" dirty="0">
                <a:solidFill>
                  <a:srgbClr val="0000FF"/>
                </a:solidFill>
                <a:latin typeface="Times New Roman" panose="02020603050405020304" pitchFamily="18" charset="0"/>
              </a:rPr>
              <a:t>，即 </a:t>
            </a:r>
            <a:r>
              <a:rPr lang="el-GR" altLang="zh-CN" sz="2400" b="1" dirty="0">
                <a:solidFill>
                  <a:srgbClr val="0000FF"/>
                </a:solidFill>
                <a:latin typeface="Times New Roman" panose="02020603050405020304" pitchFamily="18" charset="0"/>
              </a:rPr>
              <a:t>φ </a:t>
            </a:r>
            <a:r>
              <a:rPr lang="en-US" altLang="zh-CN" sz="2400" b="1" dirty="0" smtClean="0">
                <a:solidFill>
                  <a:srgbClr val="0000FF"/>
                </a:solidFill>
                <a:latin typeface="Times New Roman" panose="02020603050405020304" pitchFamily="18" charset="0"/>
              </a:rPr>
              <a:t>=0</a:t>
            </a:r>
            <a:r>
              <a:rPr kumimoji="1" lang="en-US" altLang="zh-CN" sz="2400" b="1" dirty="0" smtClean="0">
                <a:solidFill>
                  <a:srgbClr val="0000FF"/>
                </a:solidFill>
                <a:latin typeface="Times New Roman" panose="02020603050405020304" pitchFamily="18" charset="0"/>
                <a:sym typeface="Symbol" panose="05050102010706020507" pitchFamily="18" charset="2"/>
              </a:rPr>
              <a:t> </a:t>
            </a:r>
            <a:r>
              <a:rPr kumimoji="1" lang="zh-CN" altLang="en-US" sz="2400" b="1" dirty="0">
                <a:solidFill>
                  <a:srgbClr val="0000FF"/>
                </a:solidFill>
                <a:latin typeface="Times New Roman" panose="02020603050405020304" pitchFamily="18" charset="0"/>
                <a:sym typeface="Symbol" panose="05050102010706020507" pitchFamily="18" charset="2"/>
              </a:rPr>
              <a:t>情况</a:t>
            </a:r>
            <a:endParaRPr kumimoji="1" lang="zh-CN" altLang="en-US" sz="2400" b="1" i="1" dirty="0">
              <a:solidFill>
                <a:srgbClr val="0000FF"/>
              </a:solidFill>
              <a:latin typeface="Times New Roman" panose="02020603050405020304" pitchFamily="18" charset="0"/>
            </a:endParaRPr>
          </a:p>
        </p:txBody>
      </p:sp>
      <p:sp>
        <p:nvSpPr>
          <p:cNvPr id="57" name="Rectangle 6"/>
          <p:cNvSpPr>
            <a:spLocks noChangeArrowheads="1"/>
          </p:cNvSpPr>
          <p:nvPr/>
        </p:nvSpPr>
        <p:spPr bwMode="auto">
          <a:xfrm>
            <a:off x="0" y="-7396"/>
            <a:ext cx="41148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黏性土坡的稳定性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5773"/>
                                        </p:tgtEl>
                                        <p:attrNameLst>
                                          <p:attrName>style.visibility</p:attrName>
                                        </p:attrNameLst>
                                      </p:cBhvr>
                                      <p:to>
                                        <p:strVal val="visible"/>
                                      </p:to>
                                    </p:set>
                                    <p:animEffect transition="in" filter="wipe(left)">
                                      <p:cBhvr>
                                        <p:cTn id="7" dur="500"/>
                                        <p:tgtEl>
                                          <p:spTgt spid="75577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55774"/>
                                        </p:tgtEl>
                                        <p:attrNameLst>
                                          <p:attrName>style.visibility</p:attrName>
                                        </p:attrNameLst>
                                      </p:cBhvr>
                                      <p:to>
                                        <p:strVal val="visible"/>
                                      </p:to>
                                    </p:set>
                                    <p:animEffect transition="in" filter="wipe(left)">
                                      <p:cBhvr>
                                        <p:cTn id="12" dur="500"/>
                                        <p:tgtEl>
                                          <p:spTgt spid="75577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55775"/>
                                        </p:tgtEl>
                                        <p:attrNameLst>
                                          <p:attrName>style.visibility</p:attrName>
                                        </p:attrNameLst>
                                      </p:cBhvr>
                                      <p:to>
                                        <p:strVal val="visible"/>
                                      </p:to>
                                    </p:set>
                                    <p:animEffect transition="in" filter="wipe(left)">
                                      <p:cBhvr>
                                        <p:cTn id="17" dur="500"/>
                                        <p:tgtEl>
                                          <p:spTgt spid="7557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5773" grpId="0" autoUpdateAnimBg="0"/>
      <p:bldP spid="755774" grpId="0" autoUpdateAnimBg="0"/>
      <p:bldP spid="755775"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Grp="1" noChangeArrowheads="1"/>
          </p:cNvSpPr>
          <p:nvPr>
            <p:ph type="title"/>
          </p:nvPr>
        </p:nvSpPr>
        <p:spPr>
          <a:xfrm>
            <a:off x="1403648" y="764705"/>
            <a:ext cx="4968552" cy="576064"/>
          </a:xfrm>
        </p:spPr>
        <p:txBody>
          <a:bodyPr/>
          <a:lstStyle/>
          <a:p>
            <a:pPr eaLnBrk="1" hangingPunct="1">
              <a:defRPr/>
            </a:pPr>
            <a:r>
              <a:rPr lang="zh-CN" altLang="en-US" sz="2800" b="1" dirty="0" smtClean="0">
                <a:solidFill>
                  <a:schemeClr val="tx1"/>
                </a:solidFill>
              </a:rPr>
              <a:t>确定最危险滑动面圆心的方法 </a:t>
            </a:r>
            <a:endParaRPr lang="zh-CN" altLang="en-US" sz="2800" b="1" dirty="0" smtClean="0">
              <a:solidFill>
                <a:schemeClr val="tx1"/>
              </a:solidFill>
            </a:endParaRPr>
          </a:p>
        </p:txBody>
      </p:sp>
      <p:sp>
        <p:nvSpPr>
          <p:cNvPr id="324612" name="Rectangle 4"/>
          <p:cNvSpPr>
            <a:spLocks noChangeArrowheads="1"/>
          </p:cNvSpPr>
          <p:nvPr/>
        </p:nvSpPr>
        <p:spPr bwMode="auto">
          <a:xfrm>
            <a:off x="0" y="2457450"/>
            <a:ext cx="9144000" cy="0"/>
          </a:xfrm>
          <a:prstGeom prst="rect">
            <a:avLst/>
          </a:prstGeom>
          <a:noFill/>
          <a:ln>
            <a:noFill/>
          </a:ln>
          <a:effectLst/>
          <a:extLst>
            <a:ext uri="{909E8E84-426E-40DD-AFC4-6F175D3DCCD1}">
              <a14:hiddenFill xmlns:a14="http://schemas.microsoft.com/office/drawing/2010/main">
                <a:solidFill>
                  <a:srgbClr val="0000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800" b="1">
                <a:solidFill>
                  <a:schemeClr val="folHlink"/>
                </a:solidFill>
                <a:latin typeface="幼圆" panose="02010509060101010101" pitchFamily="49" charset="-122"/>
                <a:ea typeface="幼圆" panose="02010509060101010101" pitchFamily="49" charset="-122"/>
              </a:defRPr>
            </a:lvl1pPr>
            <a:lvl2pPr marL="742950" indent="-285750">
              <a:defRPr kumimoji="1" sz="2800" b="1">
                <a:solidFill>
                  <a:schemeClr val="folHlink"/>
                </a:solidFill>
                <a:latin typeface="幼圆" panose="02010509060101010101" pitchFamily="49" charset="-122"/>
                <a:ea typeface="幼圆" panose="02010509060101010101" pitchFamily="49" charset="-122"/>
              </a:defRPr>
            </a:lvl2pPr>
            <a:lvl3pPr marL="1143000" indent="-228600">
              <a:defRPr kumimoji="1" sz="2800" b="1">
                <a:solidFill>
                  <a:schemeClr val="folHlink"/>
                </a:solidFill>
                <a:latin typeface="幼圆" panose="02010509060101010101" pitchFamily="49" charset="-122"/>
                <a:ea typeface="幼圆" panose="02010509060101010101" pitchFamily="49" charset="-122"/>
              </a:defRPr>
            </a:lvl3pPr>
            <a:lvl4pPr marL="1600200" indent="-228600">
              <a:defRPr kumimoji="1" sz="2800" b="1">
                <a:solidFill>
                  <a:schemeClr val="folHlink"/>
                </a:solidFill>
                <a:latin typeface="幼圆" panose="02010509060101010101" pitchFamily="49" charset="-122"/>
                <a:ea typeface="幼圆" panose="02010509060101010101" pitchFamily="49" charset="-122"/>
              </a:defRPr>
            </a:lvl4pPr>
            <a:lvl5pPr marL="2057400" indent="-228600">
              <a:defRPr kumimoji="1" sz="2800" b="1">
                <a:solidFill>
                  <a:schemeClr val="folHlink"/>
                </a:solidFill>
                <a:latin typeface="幼圆" panose="02010509060101010101" pitchFamily="49" charset="-122"/>
                <a:ea typeface="幼圆" panose="02010509060101010101" pitchFamily="49" charset="-122"/>
              </a:defRPr>
            </a:lvl5pPr>
            <a:lvl6pPr marL="2514600" indent="-228600" eaLnBrk="0" fontAlgn="base" hangingPunct="0">
              <a:spcBef>
                <a:spcPct val="0"/>
              </a:spcBef>
              <a:spcAft>
                <a:spcPct val="0"/>
              </a:spcAft>
              <a:defRPr kumimoji="1" sz="2800" b="1">
                <a:solidFill>
                  <a:schemeClr val="folHlink"/>
                </a:solidFill>
                <a:latin typeface="幼圆" panose="02010509060101010101" pitchFamily="49" charset="-122"/>
                <a:ea typeface="幼圆" panose="02010509060101010101" pitchFamily="49" charset="-122"/>
              </a:defRPr>
            </a:lvl6pPr>
            <a:lvl7pPr marL="2971800" indent="-228600" eaLnBrk="0" fontAlgn="base" hangingPunct="0">
              <a:spcBef>
                <a:spcPct val="0"/>
              </a:spcBef>
              <a:spcAft>
                <a:spcPct val="0"/>
              </a:spcAft>
              <a:defRPr kumimoji="1" sz="2800" b="1">
                <a:solidFill>
                  <a:schemeClr val="folHlink"/>
                </a:solidFill>
                <a:latin typeface="幼圆" panose="02010509060101010101" pitchFamily="49" charset="-122"/>
                <a:ea typeface="幼圆" panose="02010509060101010101" pitchFamily="49" charset="-122"/>
              </a:defRPr>
            </a:lvl7pPr>
            <a:lvl8pPr marL="3429000" indent="-228600" eaLnBrk="0" fontAlgn="base" hangingPunct="0">
              <a:spcBef>
                <a:spcPct val="0"/>
              </a:spcBef>
              <a:spcAft>
                <a:spcPct val="0"/>
              </a:spcAft>
              <a:defRPr kumimoji="1" sz="2800" b="1">
                <a:solidFill>
                  <a:schemeClr val="folHlink"/>
                </a:solidFill>
                <a:latin typeface="幼圆" panose="02010509060101010101" pitchFamily="49" charset="-122"/>
                <a:ea typeface="幼圆" panose="02010509060101010101" pitchFamily="49" charset="-122"/>
              </a:defRPr>
            </a:lvl8pPr>
            <a:lvl9pPr marL="3886200" indent="-228600" eaLnBrk="0" fontAlgn="base" hangingPunct="0">
              <a:spcBef>
                <a:spcPct val="0"/>
              </a:spcBef>
              <a:spcAft>
                <a:spcPct val="0"/>
              </a:spcAft>
              <a:defRPr kumimoji="1" sz="2800" b="1">
                <a:solidFill>
                  <a:schemeClr val="folHlink"/>
                </a:solidFill>
                <a:latin typeface="幼圆" panose="02010509060101010101" pitchFamily="49" charset="-122"/>
                <a:ea typeface="幼圆" panose="02010509060101010101" pitchFamily="49" charset="-122"/>
              </a:defRPr>
            </a:lvl9pPr>
          </a:lstStyle>
          <a:p>
            <a:pPr eaLnBrk="1" hangingPunct="1"/>
            <a:endParaRPr lang="zh-CN" altLang="en-US"/>
          </a:p>
        </p:txBody>
      </p:sp>
      <p:sp>
        <p:nvSpPr>
          <p:cNvPr id="6" name="Rectangle 3"/>
          <p:cNvSpPr txBox="1">
            <a:spLocks noChangeArrowheads="1"/>
          </p:cNvSpPr>
          <p:nvPr/>
        </p:nvSpPr>
        <p:spPr bwMode="auto">
          <a:xfrm>
            <a:off x="5796136" y="1449952"/>
            <a:ext cx="2500313" cy="501352"/>
          </a:xfrm>
          <a:prstGeom prst="rect">
            <a:avLst/>
          </a:prstGeom>
          <a:noFill/>
          <a:ln>
            <a:miter lim="800000"/>
          </a:ln>
        </p:spPr>
        <p:txBody>
          <a:bodyPr/>
          <a:lstStyle/>
          <a:p>
            <a:pPr algn="just" eaLnBrk="1" hangingPunct="1">
              <a:spcBef>
                <a:spcPct val="20000"/>
              </a:spcBef>
              <a:defRPr/>
            </a:pPr>
            <a:r>
              <a:rPr lang="en-US" altLang="zh-CN" sz="2000" b="1" kern="0" dirty="0" err="1">
                <a:solidFill>
                  <a:srgbClr val="0000FF"/>
                </a:solidFill>
                <a:latin typeface="+mn-lt"/>
                <a:ea typeface="+mn-ea"/>
              </a:rPr>
              <a:t>Fellenius</a:t>
            </a:r>
            <a:r>
              <a:rPr lang="en-US" altLang="zh-CN" sz="2000" b="1" kern="0" dirty="0">
                <a:solidFill>
                  <a:srgbClr val="0000FF"/>
                </a:solidFill>
                <a:latin typeface="+mn-lt"/>
                <a:ea typeface="+mn-ea"/>
              </a:rPr>
              <a:t> (1927)</a:t>
            </a:r>
            <a:r>
              <a:rPr lang="zh-CN" altLang="en-US" sz="2000" b="1" kern="0" dirty="0">
                <a:solidFill>
                  <a:srgbClr val="0000FF"/>
                </a:solidFill>
                <a:latin typeface="+mn-lt"/>
                <a:ea typeface="+mn-ea"/>
              </a:rPr>
              <a:t>法</a:t>
            </a:r>
            <a:endParaRPr lang="zh-CN" altLang="en-US" sz="2000" b="1" kern="0" dirty="0">
              <a:solidFill>
                <a:srgbClr val="0000FF"/>
              </a:solidFill>
              <a:latin typeface="+mn-lt"/>
              <a:ea typeface="+mn-ea"/>
            </a:endParaRPr>
          </a:p>
        </p:txBody>
      </p:sp>
      <p:pic>
        <p:nvPicPr>
          <p:cNvPr id="2" name="图片 1"/>
          <p:cNvPicPr>
            <a:picLocks noChangeAspect="1"/>
          </p:cNvPicPr>
          <p:nvPr/>
        </p:nvPicPr>
        <p:blipFill>
          <a:blip r:embed="rId1"/>
          <a:stretch>
            <a:fillRect/>
          </a:stretch>
        </p:blipFill>
        <p:spPr>
          <a:xfrm>
            <a:off x="179512" y="1809193"/>
            <a:ext cx="2872762" cy="2049470"/>
          </a:xfrm>
          <a:prstGeom prst="rect">
            <a:avLst/>
          </a:prstGeom>
        </p:spPr>
      </p:pic>
      <p:pic>
        <p:nvPicPr>
          <p:cNvPr id="3" name="图片 2"/>
          <p:cNvPicPr>
            <a:picLocks noChangeAspect="1"/>
          </p:cNvPicPr>
          <p:nvPr/>
        </p:nvPicPr>
        <p:blipFill>
          <a:blip r:embed="rId2"/>
          <a:stretch>
            <a:fillRect/>
          </a:stretch>
        </p:blipFill>
        <p:spPr>
          <a:xfrm>
            <a:off x="2900912" y="2545539"/>
            <a:ext cx="6114691" cy="4199244"/>
          </a:xfrm>
          <a:prstGeom prst="rect">
            <a:avLst/>
          </a:prstGeom>
        </p:spPr>
      </p:pic>
      <p:sp>
        <p:nvSpPr>
          <p:cNvPr id="9" name="Rectangle 6"/>
          <p:cNvSpPr>
            <a:spLocks noChangeArrowheads="1"/>
          </p:cNvSpPr>
          <p:nvPr/>
        </p:nvSpPr>
        <p:spPr bwMode="auto">
          <a:xfrm>
            <a:off x="0" y="-7396"/>
            <a:ext cx="41148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黏性土坡的稳定性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body" sz="half" idx="1"/>
          </p:nvPr>
        </p:nvSpPr>
        <p:spPr bwMode="auto">
          <a:xfrm>
            <a:off x="-142875" y="1357313"/>
            <a:ext cx="4929188" cy="23733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algn="just" eaLnBrk="1" hangingPunct="1">
              <a:lnSpc>
                <a:spcPct val="120000"/>
              </a:lnSpc>
              <a:buFont typeface="Wingdings" panose="05000000000000000000" pitchFamily="2" charset="2"/>
              <a:buNone/>
            </a:pPr>
            <a:r>
              <a:rPr lang="en-US" altLang="zh-CN" sz="2000" b="1" dirty="0" smtClean="0">
                <a:latin typeface="Times New Roman" panose="02020603050405020304" pitchFamily="18" charset="0"/>
              </a:rPr>
              <a:t>     </a:t>
            </a:r>
            <a:r>
              <a:rPr lang="zh-CN" altLang="en-US" sz="2000" dirty="0" smtClean="0">
                <a:latin typeface="Times New Roman" panose="02020603050405020304" pitchFamily="18" charset="0"/>
              </a:rPr>
              <a:t>    泰勒（</a:t>
            </a:r>
            <a:r>
              <a:rPr lang="en-US" altLang="zh-CN" sz="2000" dirty="0" smtClean="0">
                <a:latin typeface="Times New Roman" panose="02020603050405020304" pitchFamily="18" charset="0"/>
              </a:rPr>
              <a:t>D</a:t>
            </a:r>
            <a:r>
              <a:rPr lang="zh-CN" altLang="en-US" sz="2000" dirty="0" smtClean="0">
                <a:latin typeface="Times New Roman" panose="02020603050405020304" pitchFamily="18" charset="0"/>
              </a:rPr>
              <a:t>．</a:t>
            </a:r>
            <a:r>
              <a:rPr lang="en-US" altLang="zh-CN" sz="2000" dirty="0" smtClean="0">
                <a:latin typeface="Times New Roman" panose="02020603050405020304" pitchFamily="18" charset="0"/>
              </a:rPr>
              <a:t>W</a:t>
            </a:r>
            <a:r>
              <a:rPr lang="zh-CN" altLang="en-US" sz="2000" dirty="0" smtClean="0">
                <a:latin typeface="Times New Roman" panose="02020603050405020304" pitchFamily="18" charset="0"/>
              </a:rPr>
              <a:t>．</a:t>
            </a:r>
            <a:r>
              <a:rPr lang="en-US" altLang="zh-CN" sz="2000" dirty="0" smtClean="0">
                <a:latin typeface="Times New Roman" panose="02020603050405020304" pitchFamily="18" charset="0"/>
              </a:rPr>
              <a:t>Taylor</a:t>
            </a:r>
            <a:r>
              <a:rPr lang="zh-CN" altLang="en-US" sz="2000" dirty="0" smtClean="0">
                <a:latin typeface="Times New Roman" panose="02020603050405020304" pitchFamily="18" charset="0"/>
              </a:rPr>
              <a:t>，</a:t>
            </a:r>
            <a:r>
              <a:rPr lang="en-US" altLang="zh-CN" sz="2000" dirty="0" smtClean="0">
                <a:latin typeface="Times New Roman" panose="02020603050405020304" pitchFamily="18" charset="0"/>
              </a:rPr>
              <a:t>1937</a:t>
            </a:r>
            <a:r>
              <a:rPr lang="zh-CN" altLang="en-US" sz="2000" dirty="0" smtClean="0">
                <a:latin typeface="Times New Roman" panose="02020603050405020304" pitchFamily="18" charset="0"/>
              </a:rPr>
              <a:t>）为简化最危险滑弧的试算工作，将</a:t>
            </a:r>
            <a:r>
              <a:rPr lang="zh-CN" altLang="en-US" sz="2000" i="1" dirty="0" smtClean="0">
                <a:sym typeface="Symbol" panose="05050102010706020507" pitchFamily="18" charset="2"/>
              </a:rPr>
              <a:t></a:t>
            </a:r>
            <a:r>
              <a:rPr lang="zh-CN" altLang="en-US" sz="2000" dirty="0" smtClean="0"/>
              <a:t> </a:t>
            </a:r>
            <a:r>
              <a:rPr lang="zh-CN" altLang="en-US" sz="2000" dirty="0" smtClean="0">
                <a:latin typeface="Times New Roman" panose="02020603050405020304" pitchFamily="18" charset="0"/>
              </a:rPr>
              <a:t>、</a:t>
            </a:r>
            <a:r>
              <a:rPr lang="en-US" altLang="zh-CN" sz="2000" i="1" dirty="0" smtClean="0">
                <a:latin typeface="Times New Roman" panose="02020603050405020304" pitchFamily="18" charset="0"/>
              </a:rPr>
              <a:t>c</a:t>
            </a:r>
            <a:r>
              <a:rPr lang="zh-CN" altLang="en-US" sz="2000" dirty="0" smtClean="0">
                <a:latin typeface="Times New Roman" panose="02020603050405020304" pitchFamily="18" charset="0"/>
              </a:rPr>
              <a:t>和</a:t>
            </a:r>
            <a:r>
              <a:rPr lang="en-US" altLang="zh-CN" sz="2000" i="1" dirty="0" smtClean="0">
                <a:latin typeface="Times New Roman" panose="02020603050405020304" pitchFamily="18" charset="0"/>
              </a:rPr>
              <a:t>H</a:t>
            </a:r>
            <a:r>
              <a:rPr lang="zh-CN" altLang="en-US" sz="2000" dirty="0" smtClean="0">
                <a:latin typeface="Times New Roman" panose="02020603050405020304" pitchFamily="18" charset="0"/>
              </a:rPr>
              <a:t>三个参数定义为稳定数</a:t>
            </a:r>
            <a:r>
              <a:rPr lang="en-US" altLang="zh-CN" sz="2000" i="1" dirty="0" smtClean="0">
                <a:latin typeface="Times New Roman" panose="02020603050405020304" pitchFamily="18" charset="0"/>
              </a:rPr>
              <a:t>N</a:t>
            </a:r>
            <a:r>
              <a:rPr lang="en-US" altLang="zh-CN" sz="2000" i="1" baseline="-25000" dirty="0" smtClean="0">
                <a:latin typeface="Times New Roman" panose="02020603050405020304" pitchFamily="18" charset="0"/>
              </a:rPr>
              <a:t>s</a:t>
            </a:r>
            <a:endParaRPr lang="zh-CN" altLang="en-US" sz="2000" dirty="0" smtClean="0">
              <a:latin typeface="Times New Roman" panose="02020603050405020304" pitchFamily="18" charset="0"/>
            </a:endParaRPr>
          </a:p>
          <a:p>
            <a:pPr algn="just" eaLnBrk="1" hangingPunct="1">
              <a:lnSpc>
                <a:spcPct val="150000"/>
              </a:lnSpc>
              <a:buFont typeface="Wingdings" panose="05000000000000000000" pitchFamily="2" charset="2"/>
              <a:buNone/>
            </a:pPr>
            <a:r>
              <a:rPr lang="zh-CN" altLang="en-US" sz="2000" dirty="0" smtClean="0">
                <a:latin typeface="Times New Roman" panose="02020603050405020304" pitchFamily="18" charset="0"/>
              </a:rPr>
              <a:t>                                                     </a:t>
            </a:r>
            <a:endParaRPr lang="en-US" altLang="zh-CN" sz="2000" dirty="0" smtClean="0">
              <a:latin typeface="Times New Roman" panose="02020603050405020304" pitchFamily="18" charset="0"/>
            </a:endParaRPr>
          </a:p>
          <a:p>
            <a:pPr algn="just" eaLnBrk="1" hangingPunct="1">
              <a:lnSpc>
                <a:spcPct val="120000"/>
              </a:lnSpc>
              <a:buFont typeface="Wingdings" panose="05000000000000000000" pitchFamily="2" charset="2"/>
              <a:buNone/>
            </a:pPr>
            <a:r>
              <a:rPr lang="en-US" altLang="zh-CN" sz="2000" dirty="0" smtClean="0">
                <a:latin typeface="Times New Roman" panose="02020603050405020304" pitchFamily="18" charset="0"/>
              </a:rPr>
              <a:t>        </a:t>
            </a:r>
            <a:r>
              <a:rPr lang="zh-CN" altLang="en-US" sz="2000" dirty="0" smtClean="0">
                <a:latin typeface="Times New Roman" panose="02020603050405020304" pitchFamily="18" charset="0"/>
              </a:rPr>
              <a:t>稳定数</a:t>
            </a:r>
            <a:r>
              <a:rPr lang="en-US" altLang="zh-CN" sz="2000" i="1" dirty="0" smtClean="0">
                <a:latin typeface="Times New Roman" panose="02020603050405020304" pitchFamily="18" charset="0"/>
              </a:rPr>
              <a:t>N</a:t>
            </a:r>
            <a:r>
              <a:rPr lang="en-US" altLang="zh-CN" sz="2000" i="1" baseline="-25000" dirty="0" smtClean="0">
                <a:latin typeface="Times New Roman" panose="02020603050405020304" pitchFamily="18" charset="0"/>
              </a:rPr>
              <a:t>s</a:t>
            </a:r>
            <a:r>
              <a:rPr lang="zh-CN" altLang="en-US" sz="2000" dirty="0" smtClean="0">
                <a:latin typeface="Times New Roman" panose="02020603050405020304" pitchFamily="18" charset="0"/>
              </a:rPr>
              <a:t>为一无量纲参数。泰勒等人计算均质土坡在极限平衡状态（</a:t>
            </a:r>
            <a:r>
              <a:rPr lang="en-US" altLang="zh-CN" sz="2000" i="1" dirty="0" smtClean="0">
                <a:latin typeface="Times New Roman" panose="02020603050405020304" pitchFamily="18" charset="0"/>
              </a:rPr>
              <a:t>K</a:t>
            </a:r>
            <a:r>
              <a:rPr lang="zh-CN" altLang="en-US" sz="2000" dirty="0" smtClean="0">
                <a:latin typeface="Times New Roman" panose="02020603050405020304" pitchFamily="18" charset="0"/>
              </a:rPr>
              <a:t>）</a:t>
            </a:r>
            <a:r>
              <a:rPr lang="en-US" altLang="zh-CN" sz="2000" i="1" dirty="0" smtClean="0">
                <a:latin typeface="Times New Roman" panose="02020603050405020304" pitchFamily="18" charset="0"/>
              </a:rPr>
              <a:t>N</a:t>
            </a:r>
            <a:r>
              <a:rPr lang="en-US" altLang="zh-CN" sz="2000" i="1" baseline="-25000" dirty="0" smtClean="0">
                <a:latin typeface="Times New Roman" panose="02020603050405020304" pitchFamily="18" charset="0"/>
              </a:rPr>
              <a:t>s</a:t>
            </a:r>
            <a:r>
              <a:rPr lang="zh-CN" altLang="en-US" sz="2000" dirty="0" smtClean="0">
                <a:latin typeface="Times New Roman" panose="02020603050405020304" pitchFamily="18" charset="0"/>
              </a:rPr>
              <a:t>和   、  的关系，并制作了稳定数图</a:t>
            </a:r>
            <a:endParaRPr lang="zh-CN" altLang="en-US" sz="2000" dirty="0" smtClean="0">
              <a:latin typeface="Times New Roman" panose="02020603050405020304" pitchFamily="18" charset="0"/>
            </a:endParaRPr>
          </a:p>
        </p:txBody>
      </p:sp>
      <p:sp>
        <p:nvSpPr>
          <p:cNvPr id="30723" name="Rectangle 3"/>
          <p:cNvSpPr>
            <a:spLocks noChangeArrowheads="1"/>
          </p:cNvSpPr>
          <p:nvPr/>
        </p:nvSpPr>
        <p:spPr bwMode="auto">
          <a:xfrm>
            <a:off x="0" y="32623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30724" name="Rectangle 4"/>
          <p:cNvSpPr>
            <a:spLocks noChangeArrowheads="1"/>
          </p:cNvSpPr>
          <p:nvPr/>
        </p:nvSpPr>
        <p:spPr bwMode="auto">
          <a:xfrm>
            <a:off x="0" y="32623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30725" name="Rectangle 5"/>
          <p:cNvSpPr>
            <a:spLocks noChangeArrowheads="1"/>
          </p:cNvSpPr>
          <p:nvPr/>
        </p:nvSpPr>
        <p:spPr bwMode="auto">
          <a:xfrm>
            <a:off x="0"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30726" name="Rectangle 6"/>
          <p:cNvSpPr>
            <a:spLocks noChangeArrowheads="1"/>
          </p:cNvSpPr>
          <p:nvPr/>
        </p:nvSpPr>
        <p:spPr bwMode="auto">
          <a:xfrm>
            <a:off x="0" y="3240364"/>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graphicFrame>
        <p:nvGraphicFramePr>
          <p:cNvPr id="30727" name="Object 2"/>
          <p:cNvGraphicFramePr>
            <a:graphicFrameLocks noChangeAspect="1"/>
          </p:cNvGraphicFramePr>
          <p:nvPr/>
        </p:nvGraphicFramePr>
        <p:xfrm>
          <a:off x="3286125" y="2286000"/>
          <a:ext cx="928688" cy="639763"/>
        </p:xfrm>
        <a:graphic>
          <a:graphicData uri="http://schemas.openxmlformats.org/presentationml/2006/ole">
            <mc:AlternateContent xmlns:mc="http://schemas.openxmlformats.org/markup-compatibility/2006">
              <mc:Choice xmlns:v="urn:schemas-microsoft-com:vml" Requires="v">
                <p:oleObj spid="_x0000_s8278" name="Equation" r:id="rId1" imgW="609600" imgH="419100" progId="Equation.DSMT4">
                  <p:embed/>
                </p:oleObj>
              </mc:Choice>
              <mc:Fallback>
                <p:oleObj name="Equation" r:id="rId1" imgW="609600" imgH="4191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6125" y="2286000"/>
                        <a:ext cx="928688" cy="639763"/>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28" name="Object 3"/>
          <p:cNvGraphicFramePr>
            <a:graphicFrameLocks noChangeAspect="1"/>
          </p:cNvGraphicFramePr>
          <p:nvPr/>
        </p:nvGraphicFramePr>
        <p:xfrm>
          <a:off x="571500" y="3857625"/>
          <a:ext cx="204788" cy="246063"/>
        </p:xfrm>
        <a:graphic>
          <a:graphicData uri="http://schemas.openxmlformats.org/presentationml/2006/ole">
            <mc:AlternateContent xmlns:mc="http://schemas.openxmlformats.org/markup-compatibility/2006">
              <mc:Choice xmlns:v="urn:schemas-microsoft-com:vml" Requires="v">
                <p:oleObj spid="_x0000_s8279" name="Equation" r:id="rId3" imgW="139700" imgH="165100" progId="Equation.DSMT4">
                  <p:embed/>
                </p:oleObj>
              </mc:Choice>
              <mc:Fallback>
                <p:oleObj name="Equation" r:id="rId3" imgW="139700" imgH="1651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 y="3857625"/>
                        <a:ext cx="20478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29" name="Object 4"/>
          <p:cNvGraphicFramePr>
            <a:graphicFrameLocks noChangeAspect="1"/>
          </p:cNvGraphicFramePr>
          <p:nvPr/>
        </p:nvGraphicFramePr>
        <p:xfrm>
          <a:off x="857250" y="3857625"/>
          <a:ext cx="222250" cy="303213"/>
        </p:xfrm>
        <a:graphic>
          <a:graphicData uri="http://schemas.openxmlformats.org/presentationml/2006/ole">
            <mc:AlternateContent xmlns:mc="http://schemas.openxmlformats.org/markup-compatibility/2006">
              <mc:Choice xmlns:v="urn:schemas-microsoft-com:vml" Requires="v">
                <p:oleObj spid="_x0000_s8280" name="Equation" r:id="rId5" imgW="152400" imgH="203200" progId="Equation.DSMT4">
                  <p:embed/>
                </p:oleObj>
              </mc:Choice>
              <mc:Fallback>
                <p:oleObj name="Equation" r:id="rId5" imgW="152400" imgH="2032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7250" y="3857625"/>
                        <a:ext cx="222250" cy="30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0730" name="Picture 10"/>
          <p:cNvPicPr>
            <a:picLocks noGrp="1" noChangeAspect="1" noChangeArrowheads="1"/>
          </p:cNvPicPr>
          <p:nvPr>
            <p:ph sz="half" idx="2"/>
          </p:nvPr>
        </p:nvPicPr>
        <p:blipFill>
          <a:blip r:embed="rId7">
            <a:extLst>
              <a:ext uri="{28A0092B-C50C-407E-A947-70E740481C1C}">
                <a14:useLocalDpi xmlns:a14="http://schemas.microsoft.com/office/drawing/2010/main" val="0"/>
              </a:ext>
            </a:extLst>
          </a:blip>
          <a:srcRect/>
          <a:stretch>
            <a:fillRect/>
          </a:stretch>
        </p:blipFill>
        <p:spPr bwMode="auto">
          <a:xfrm>
            <a:off x="5184775" y="1143000"/>
            <a:ext cx="3744913" cy="29003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31" name="Rectangle 11"/>
          <p:cNvSpPr>
            <a:spLocks noChangeArrowheads="1"/>
          </p:cNvSpPr>
          <p:nvPr/>
        </p:nvSpPr>
        <p:spPr bwMode="auto">
          <a:xfrm>
            <a:off x="5940425" y="4149725"/>
            <a:ext cx="16081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a:r>
              <a:rPr lang="zh-CN" altLang="en-US" sz="1400">
                <a:solidFill>
                  <a:srgbClr val="0000FF"/>
                </a:solidFill>
                <a:latin typeface="Times New Roman" panose="02020603050405020304" pitchFamily="18" charset="0"/>
              </a:rPr>
              <a:t>泰勒稳定系数</a:t>
            </a:r>
            <a:r>
              <a:rPr lang="en-US" altLang="zh-CN" sz="1400" i="1">
                <a:solidFill>
                  <a:srgbClr val="0000FF"/>
                </a:solidFill>
                <a:latin typeface="Times New Roman" panose="02020603050405020304" pitchFamily="18" charset="0"/>
              </a:rPr>
              <a:t>N</a:t>
            </a:r>
            <a:r>
              <a:rPr lang="en-US" altLang="zh-CN" sz="1400" i="1" baseline="-25000">
                <a:solidFill>
                  <a:srgbClr val="0000FF"/>
                </a:solidFill>
                <a:latin typeface="Times New Roman" panose="02020603050405020304" pitchFamily="18" charset="0"/>
              </a:rPr>
              <a:t>s</a:t>
            </a:r>
            <a:r>
              <a:rPr lang="zh-CN" altLang="en-US" sz="1400">
                <a:solidFill>
                  <a:srgbClr val="0000FF"/>
                </a:solidFill>
                <a:latin typeface="Times New Roman" panose="02020603050405020304" pitchFamily="18" charset="0"/>
              </a:rPr>
              <a:t>图</a:t>
            </a:r>
            <a:endParaRPr lang="zh-CN" altLang="en-US" sz="1400">
              <a:solidFill>
                <a:srgbClr val="0000FF"/>
              </a:solidFill>
              <a:latin typeface="Times New Roman" panose="02020603050405020304" pitchFamily="18" charset="0"/>
            </a:endParaRPr>
          </a:p>
        </p:txBody>
      </p:sp>
      <p:sp>
        <p:nvSpPr>
          <p:cNvPr id="30732" name="Rectangle 12"/>
          <p:cNvSpPr>
            <a:spLocks noChangeArrowheads="1"/>
          </p:cNvSpPr>
          <p:nvPr/>
        </p:nvSpPr>
        <p:spPr bwMode="auto">
          <a:xfrm>
            <a:off x="-71438" y="4221163"/>
            <a:ext cx="9215438" cy="235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just">
              <a:lnSpc>
                <a:spcPct val="120000"/>
              </a:lnSpc>
            </a:pPr>
            <a:r>
              <a:rPr lang="en-US" altLang="zh-CN" sz="1800">
                <a:latin typeface="Times New Roman" panose="02020603050405020304" pitchFamily="18" charset="0"/>
              </a:rPr>
              <a:t>       </a:t>
            </a:r>
            <a:r>
              <a:rPr lang="zh-CN" altLang="en-US" sz="1800">
                <a:latin typeface="HG明朝E" pitchFamily="17" charset="-128"/>
                <a:ea typeface="HG明朝E" pitchFamily="17" charset="-128"/>
              </a:rPr>
              <a:t>用途</a:t>
            </a:r>
            <a:r>
              <a:rPr lang="zh-CN" altLang="en-US" sz="1800">
                <a:latin typeface="Times New Roman" panose="02020603050405020304" pitchFamily="18" charset="0"/>
              </a:rPr>
              <a:t>：</a:t>
            </a:r>
            <a:endParaRPr lang="zh-CN" altLang="en-US" sz="1800">
              <a:latin typeface="Times New Roman" panose="02020603050405020304" pitchFamily="18" charset="0"/>
            </a:endParaRPr>
          </a:p>
          <a:p>
            <a:pPr algn="just">
              <a:lnSpc>
                <a:spcPct val="120000"/>
              </a:lnSpc>
            </a:pPr>
            <a:r>
              <a:rPr lang="en-US" altLang="zh-CN" sz="1800">
                <a:latin typeface="Times New Roman" panose="02020603050405020304" pitchFamily="18" charset="0"/>
              </a:rPr>
              <a:t>1.   </a:t>
            </a:r>
            <a:r>
              <a:rPr lang="zh-CN" altLang="en-US" sz="1800">
                <a:latin typeface="Times New Roman" panose="02020603050405020304" pitchFamily="18" charset="0"/>
              </a:rPr>
              <a:t>根据</a:t>
            </a:r>
            <a:r>
              <a:rPr lang="zh-CN" altLang="en-US" sz="1800" i="1">
                <a:latin typeface="Times New Roman" panose="02020603050405020304" pitchFamily="18" charset="0"/>
                <a:sym typeface="Symbol" panose="05050102010706020507" pitchFamily="18" charset="2"/>
              </a:rPr>
              <a:t></a:t>
            </a:r>
            <a:r>
              <a:rPr lang="zh-CN" altLang="en-US" sz="1800">
                <a:latin typeface="Times New Roman" panose="02020603050405020304" pitchFamily="18" charset="0"/>
              </a:rPr>
              <a:t>、</a:t>
            </a:r>
            <a:r>
              <a:rPr lang="en-US" altLang="zh-CN" sz="1800" i="1">
                <a:latin typeface="Times New Roman" panose="02020603050405020304" pitchFamily="18" charset="0"/>
              </a:rPr>
              <a:t>c</a:t>
            </a:r>
            <a:r>
              <a:rPr lang="zh-CN" altLang="en-US" sz="1800">
                <a:latin typeface="Times New Roman" panose="02020603050405020304" pitchFamily="18" charset="0"/>
              </a:rPr>
              <a:t>、和</a:t>
            </a:r>
            <a:r>
              <a:rPr lang="zh-CN" altLang="en-US" sz="1800" i="1">
                <a:latin typeface="Times New Roman" panose="02020603050405020304" pitchFamily="18" charset="0"/>
                <a:sym typeface="Symbol" panose="05050102010706020507" pitchFamily="18" charset="2"/>
              </a:rPr>
              <a:t></a:t>
            </a:r>
            <a:r>
              <a:rPr lang="zh-CN" altLang="en-US" sz="1800">
                <a:latin typeface="Times New Roman" panose="02020603050405020304" pitchFamily="18" charset="0"/>
              </a:rPr>
              <a:t>求极限坡高</a:t>
            </a:r>
            <a:r>
              <a:rPr lang="en-US" altLang="zh-CN" sz="1800" i="1">
                <a:latin typeface="Times New Roman" panose="02020603050405020304" pitchFamily="18" charset="0"/>
              </a:rPr>
              <a:t>H</a:t>
            </a:r>
            <a:r>
              <a:rPr lang="zh-CN" altLang="en-US" sz="1800">
                <a:latin typeface="Times New Roman" panose="02020603050405020304" pitchFamily="18" charset="0"/>
              </a:rPr>
              <a:t>，根据</a:t>
            </a:r>
            <a:r>
              <a:rPr lang="zh-CN" altLang="en-US" sz="1800" i="1">
                <a:latin typeface="Times New Roman" panose="02020603050405020304" pitchFamily="18" charset="0"/>
                <a:sym typeface="Symbol" panose="05050102010706020507" pitchFamily="18" charset="2"/>
              </a:rPr>
              <a:t></a:t>
            </a:r>
            <a:r>
              <a:rPr lang="zh-CN" altLang="en-US" sz="1800">
                <a:latin typeface="Times New Roman" panose="02020603050405020304" pitchFamily="18" charset="0"/>
              </a:rPr>
              <a:t>、</a:t>
            </a:r>
            <a:r>
              <a:rPr lang="en-US" altLang="zh-CN" sz="1800" i="1">
                <a:latin typeface="Times New Roman" panose="02020603050405020304" pitchFamily="18" charset="0"/>
              </a:rPr>
              <a:t>c</a:t>
            </a:r>
            <a:r>
              <a:rPr lang="zh-CN" altLang="en-US" sz="1800">
                <a:latin typeface="Times New Roman" panose="02020603050405020304" pitchFamily="18" charset="0"/>
              </a:rPr>
              <a:t>、和</a:t>
            </a:r>
            <a:r>
              <a:rPr lang="en-US" altLang="zh-CN" sz="1800" i="1">
                <a:latin typeface="Times New Roman" panose="02020603050405020304" pitchFamily="18" charset="0"/>
              </a:rPr>
              <a:t>H</a:t>
            </a:r>
            <a:r>
              <a:rPr lang="zh-CN" altLang="en-US" sz="1800">
                <a:latin typeface="Times New Roman" panose="02020603050405020304" pitchFamily="18" charset="0"/>
              </a:rPr>
              <a:t>求极限坡角</a:t>
            </a:r>
            <a:r>
              <a:rPr lang="en-US" altLang="zh-CN" sz="1800">
                <a:latin typeface="Times New Roman" panose="02020603050405020304" pitchFamily="18" charset="0"/>
              </a:rPr>
              <a:t>.  (</a:t>
            </a:r>
            <a:r>
              <a:rPr lang="zh-CN" altLang="en-US" sz="1800">
                <a:latin typeface="Times New Roman" panose="02020603050405020304" pitchFamily="18" charset="0"/>
              </a:rPr>
              <a:t>自学</a:t>
            </a:r>
            <a:r>
              <a:rPr lang="en-US" altLang="zh-CN" sz="1800">
                <a:solidFill>
                  <a:srgbClr val="C00000"/>
                </a:solidFill>
                <a:latin typeface="Times New Roman" panose="02020603050405020304" pitchFamily="18" charset="0"/>
              </a:rPr>
              <a:t>p263【</a:t>
            </a:r>
            <a:r>
              <a:rPr lang="zh-CN" altLang="en-US" sz="1800">
                <a:solidFill>
                  <a:srgbClr val="C00000"/>
                </a:solidFill>
                <a:latin typeface="Times New Roman" panose="02020603050405020304" pitchFamily="18" charset="0"/>
              </a:rPr>
              <a:t>例题</a:t>
            </a:r>
            <a:r>
              <a:rPr lang="en-US" altLang="zh-CN" sz="1800">
                <a:solidFill>
                  <a:srgbClr val="C00000"/>
                </a:solidFill>
                <a:latin typeface="Times New Roman" panose="02020603050405020304" pitchFamily="18" charset="0"/>
              </a:rPr>
              <a:t>10-1】)</a:t>
            </a:r>
            <a:r>
              <a:rPr lang="zh-CN" altLang="en-US" sz="1800">
                <a:latin typeface="Times New Roman" panose="02020603050405020304" pitchFamily="18" charset="0"/>
              </a:rPr>
              <a:t>；</a:t>
            </a:r>
            <a:endParaRPr lang="zh-CN" altLang="en-US" sz="1800">
              <a:latin typeface="Times New Roman" panose="02020603050405020304" pitchFamily="18" charset="0"/>
            </a:endParaRPr>
          </a:p>
          <a:p>
            <a:pPr algn="dist">
              <a:lnSpc>
                <a:spcPct val="120000"/>
              </a:lnSpc>
            </a:pPr>
            <a:r>
              <a:rPr lang="en-US" altLang="zh-CN" sz="1800">
                <a:latin typeface="Times New Roman" panose="02020603050405020304" pitchFamily="18" charset="0"/>
              </a:rPr>
              <a:t>2.</a:t>
            </a:r>
            <a:r>
              <a:rPr lang="zh-CN" altLang="en-US" sz="1800">
                <a:latin typeface="Times New Roman" panose="02020603050405020304" pitchFamily="18" charset="0"/>
              </a:rPr>
              <a:t>应用稳定数图求最小安全系数（首先由</a:t>
            </a:r>
            <a:r>
              <a:rPr lang="zh-CN" altLang="en-US" sz="1800">
                <a:latin typeface="Times New Roman" panose="02020603050405020304" pitchFamily="18" charset="0"/>
                <a:sym typeface="Symbol" panose="05050102010706020507" pitchFamily="18" charset="2"/>
              </a:rPr>
              <a:t>、</a:t>
            </a:r>
            <a:r>
              <a:rPr lang="zh-CN" altLang="en-US" sz="1800" i="1">
                <a:latin typeface="Times New Roman" panose="02020603050405020304" pitchFamily="18" charset="0"/>
                <a:sym typeface="Symbol" panose="05050102010706020507" pitchFamily="18" charset="2"/>
              </a:rPr>
              <a:t></a:t>
            </a:r>
            <a:r>
              <a:rPr lang="zh-CN" altLang="en-US" sz="1800">
                <a:latin typeface="Times New Roman" panose="02020603050405020304" pitchFamily="18" charset="0"/>
              </a:rPr>
              <a:t>从图中查得</a:t>
            </a:r>
            <a:r>
              <a:rPr lang="en-US" altLang="zh-CN" sz="1800" i="1">
                <a:latin typeface="Times New Roman" panose="02020603050405020304" pitchFamily="18" charset="0"/>
              </a:rPr>
              <a:t>N</a:t>
            </a:r>
            <a:r>
              <a:rPr lang="en-US" altLang="zh-CN" sz="1800" i="1" baseline="-25000">
                <a:latin typeface="Times New Roman" panose="02020603050405020304" pitchFamily="18" charset="0"/>
              </a:rPr>
              <a:t>s</a:t>
            </a:r>
            <a:r>
              <a:rPr lang="zh-CN" altLang="en-US" sz="1800">
                <a:latin typeface="Times New Roman" panose="02020603050405020304" pitchFamily="18" charset="0"/>
              </a:rPr>
              <a:t>，然后按下式计算</a:t>
            </a:r>
            <a:r>
              <a:rPr lang="en-US" altLang="zh-CN" sz="1800" i="1">
                <a:latin typeface="Times New Roman" panose="02020603050405020304" pitchFamily="18" charset="0"/>
              </a:rPr>
              <a:t>F</a:t>
            </a:r>
            <a:r>
              <a:rPr lang="en-US" altLang="zh-CN" sz="1800" i="1" baseline="-25000">
                <a:latin typeface="Times New Roman" panose="02020603050405020304" pitchFamily="18" charset="0"/>
              </a:rPr>
              <a:t>s</a:t>
            </a:r>
            <a:r>
              <a:rPr lang="en-US" altLang="zh-CN" sz="1800">
                <a:latin typeface="Times New Roman" panose="02020603050405020304" pitchFamily="18" charset="0"/>
              </a:rPr>
              <a:t>:</a:t>
            </a:r>
            <a:endParaRPr lang="en-US" altLang="zh-CN" sz="1800">
              <a:latin typeface="Times New Roman" panose="02020603050405020304" pitchFamily="18" charset="0"/>
            </a:endParaRPr>
          </a:p>
          <a:p>
            <a:pPr algn="just">
              <a:lnSpc>
                <a:spcPct val="120000"/>
              </a:lnSpc>
            </a:pPr>
            <a:r>
              <a:rPr lang="zh-CN" altLang="en-US" sz="1800">
                <a:latin typeface="Times New Roman" panose="02020603050405020304" pitchFamily="18" charset="0"/>
              </a:rPr>
              <a:t>                          </a:t>
            </a:r>
            <a:endParaRPr lang="en-US" altLang="zh-CN" sz="1800">
              <a:latin typeface="Times New Roman" panose="02020603050405020304" pitchFamily="18" charset="0"/>
            </a:endParaRPr>
          </a:p>
          <a:p>
            <a:pPr algn="just">
              <a:lnSpc>
                <a:spcPct val="120000"/>
              </a:lnSpc>
            </a:pPr>
            <a:endParaRPr lang="zh-CN" altLang="en-US" sz="1800">
              <a:latin typeface="Times New Roman" panose="02020603050405020304" pitchFamily="18" charset="0"/>
            </a:endParaRPr>
          </a:p>
          <a:p>
            <a:pPr algn="just">
              <a:lnSpc>
                <a:spcPct val="120000"/>
              </a:lnSpc>
            </a:pPr>
            <a:r>
              <a:rPr lang="zh-CN" altLang="en-US" sz="1800">
                <a:latin typeface="Times New Roman" panose="02020603050405020304" pitchFamily="18" charset="0"/>
              </a:rPr>
              <a:t>     </a:t>
            </a:r>
            <a:r>
              <a:rPr lang="zh-CN" altLang="en-US" sz="1800" b="1">
                <a:latin typeface="Times New Roman" panose="02020603050405020304" pitchFamily="18" charset="0"/>
                <a:ea typeface="HGP明朝B" pitchFamily="18" charset="-128"/>
              </a:rPr>
              <a:t>适用范围</a:t>
            </a:r>
            <a:r>
              <a:rPr lang="zh-CN" altLang="en-US" sz="1800">
                <a:latin typeface="Times New Roman" panose="02020603050405020304" pitchFamily="18" charset="0"/>
              </a:rPr>
              <a:t>：一般适用于坡高不超过</a:t>
            </a:r>
            <a:r>
              <a:rPr lang="en-US" altLang="zh-CN" sz="1800">
                <a:latin typeface="Times New Roman" panose="02020603050405020304" pitchFamily="18" charset="0"/>
              </a:rPr>
              <a:t>10m</a:t>
            </a:r>
            <a:r>
              <a:rPr lang="zh-CN" altLang="en-US" sz="1800">
                <a:latin typeface="Times New Roman" panose="02020603050405020304" pitchFamily="18" charset="0"/>
              </a:rPr>
              <a:t>的均质土坡的设计，或用于初步设计</a:t>
            </a:r>
            <a:endParaRPr lang="zh-CN" altLang="en-US" sz="1800">
              <a:latin typeface="Times New Roman" panose="02020603050405020304" pitchFamily="18" charset="0"/>
            </a:endParaRPr>
          </a:p>
        </p:txBody>
      </p:sp>
      <p:sp>
        <p:nvSpPr>
          <p:cNvPr id="30733" name="Rectangle 14"/>
          <p:cNvSpPr>
            <a:spLocks noChangeArrowheads="1"/>
          </p:cNvSpPr>
          <p:nvPr/>
        </p:nvSpPr>
        <p:spPr bwMode="auto">
          <a:xfrm>
            <a:off x="179388" y="33575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graphicFrame>
        <p:nvGraphicFramePr>
          <p:cNvPr id="30734" name="Object 6"/>
          <p:cNvGraphicFramePr>
            <a:graphicFrameLocks noChangeAspect="1"/>
          </p:cNvGraphicFramePr>
          <p:nvPr/>
        </p:nvGraphicFramePr>
        <p:xfrm>
          <a:off x="3059113" y="5589588"/>
          <a:ext cx="2185987" cy="428625"/>
        </p:xfrm>
        <a:graphic>
          <a:graphicData uri="http://schemas.openxmlformats.org/presentationml/2006/ole">
            <mc:AlternateContent xmlns:mc="http://schemas.openxmlformats.org/markup-compatibility/2006">
              <mc:Choice xmlns:v="urn:schemas-microsoft-com:vml" Requires="v">
                <p:oleObj spid="_x0000_s8281" name="Equation" r:id="rId8" imgW="1016000" imgH="203200" progId="Equation.DSMT4">
                  <p:embed/>
                </p:oleObj>
              </mc:Choice>
              <mc:Fallback>
                <p:oleObj name="Equation" r:id="rId8" imgW="1016000" imgH="203200"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59113" y="5589588"/>
                        <a:ext cx="218598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36" name="正方形/長方形 18"/>
          <p:cNvSpPr>
            <a:spLocks noChangeArrowheads="1"/>
          </p:cNvSpPr>
          <p:nvPr/>
        </p:nvSpPr>
        <p:spPr bwMode="auto">
          <a:xfrm>
            <a:off x="1017500" y="714375"/>
            <a:ext cx="2438488" cy="523220"/>
          </a:xfrm>
          <a:prstGeom prst="rect">
            <a:avLst/>
          </a:prstGeom>
          <a:solidFill>
            <a:srgbClr val="FFC000"/>
          </a:solidFill>
          <a:ln>
            <a:noFill/>
          </a:ln>
        </p:spPr>
        <p:txBody>
          <a:bodyPr wrap="none">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r>
              <a:rPr lang="zh-CN" altLang="en-US" sz="2800" b="1" dirty="0">
                <a:latin typeface="Times New Roman" panose="02020603050405020304" pitchFamily="18" charset="0"/>
              </a:rPr>
              <a:t>泰勒稳定数法</a:t>
            </a:r>
            <a:r>
              <a:rPr lang="zh-CN" altLang="en-US" sz="2800" dirty="0">
                <a:latin typeface="Times New Roman" panose="02020603050405020304" pitchFamily="18" charset="0"/>
              </a:rPr>
              <a:t> </a:t>
            </a:r>
            <a:endParaRPr lang="ja-JP" altLang="en-US" sz="2800" dirty="0"/>
          </a:p>
        </p:txBody>
      </p:sp>
      <p:sp>
        <p:nvSpPr>
          <p:cNvPr id="16" name="Rectangle 6"/>
          <p:cNvSpPr>
            <a:spLocks noChangeArrowheads="1"/>
          </p:cNvSpPr>
          <p:nvPr/>
        </p:nvSpPr>
        <p:spPr bwMode="auto">
          <a:xfrm>
            <a:off x="0" y="-7396"/>
            <a:ext cx="41148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黏性土坡的稳定性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153"/>
          <p:cNvGrpSpPr/>
          <p:nvPr/>
        </p:nvGrpSpPr>
        <p:grpSpPr bwMode="auto">
          <a:xfrm>
            <a:off x="5105400" y="3276600"/>
            <a:ext cx="3352800" cy="2286000"/>
            <a:chOff x="3312" y="720"/>
            <a:chExt cx="2112" cy="1440"/>
          </a:xfrm>
        </p:grpSpPr>
        <p:grpSp>
          <p:nvGrpSpPr>
            <p:cNvPr id="32823" name="Group 154"/>
            <p:cNvGrpSpPr/>
            <p:nvPr/>
          </p:nvGrpSpPr>
          <p:grpSpPr bwMode="auto">
            <a:xfrm>
              <a:off x="3312" y="720"/>
              <a:ext cx="2112" cy="1415"/>
              <a:chOff x="2368" y="912"/>
              <a:chExt cx="3008" cy="1998"/>
            </a:xfrm>
          </p:grpSpPr>
          <p:sp>
            <p:nvSpPr>
              <p:cNvPr id="32836" name="Line 155"/>
              <p:cNvSpPr>
                <a:spLocks noChangeShapeType="1"/>
              </p:cNvSpPr>
              <p:nvPr/>
            </p:nvSpPr>
            <p:spPr bwMode="auto">
              <a:xfrm flipH="1" flipV="1">
                <a:off x="3054" y="1202"/>
                <a:ext cx="1664" cy="63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32837" name="Line 156"/>
              <p:cNvSpPr>
                <a:spLocks noChangeShapeType="1"/>
              </p:cNvSpPr>
              <p:nvPr/>
            </p:nvSpPr>
            <p:spPr bwMode="auto">
              <a:xfrm>
                <a:off x="3054" y="1202"/>
                <a:ext cx="0" cy="165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32838" name="Line 157"/>
              <p:cNvSpPr>
                <a:spLocks noChangeShapeType="1"/>
              </p:cNvSpPr>
              <p:nvPr/>
            </p:nvSpPr>
            <p:spPr bwMode="auto">
              <a:xfrm>
                <a:off x="2368" y="2846"/>
                <a:ext cx="695" cy="0"/>
              </a:xfrm>
              <a:prstGeom prst="line">
                <a:avLst/>
              </a:prstGeom>
              <a:noFill/>
              <a:ln w="38100">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32839" name="Freeform 158"/>
              <p:cNvSpPr/>
              <p:nvPr/>
            </p:nvSpPr>
            <p:spPr bwMode="auto">
              <a:xfrm>
                <a:off x="3058" y="1831"/>
                <a:ext cx="1641" cy="1012"/>
              </a:xfrm>
              <a:custGeom>
                <a:avLst/>
                <a:gdLst>
                  <a:gd name="T0" fmla="*/ 0 w 1376"/>
                  <a:gd name="T1" fmla="*/ 1527 h 824"/>
                  <a:gd name="T2" fmla="*/ 1383 w 1376"/>
                  <a:gd name="T3" fmla="*/ 1229 h 824"/>
                  <a:gd name="T4" fmla="*/ 2334 w 1376"/>
                  <a:gd name="T5" fmla="*/ 0 h 824"/>
                  <a:gd name="T6" fmla="*/ 0 60000 65536"/>
                  <a:gd name="T7" fmla="*/ 0 60000 65536"/>
                  <a:gd name="T8" fmla="*/ 0 60000 65536"/>
                  <a:gd name="T9" fmla="*/ 0 w 1376"/>
                  <a:gd name="T10" fmla="*/ 0 h 824"/>
                  <a:gd name="T11" fmla="*/ 1376 w 1376"/>
                  <a:gd name="T12" fmla="*/ 824 h 824"/>
                </a:gdLst>
                <a:ahLst/>
                <a:cxnLst>
                  <a:cxn ang="T6">
                    <a:pos x="T0" y="T1"/>
                  </a:cxn>
                  <a:cxn ang="T7">
                    <a:pos x="T2" y="T3"/>
                  </a:cxn>
                  <a:cxn ang="T8">
                    <a:pos x="T4" y="T5"/>
                  </a:cxn>
                </a:cxnLst>
                <a:rect l="T9" t="T10" r="T11" b="T12"/>
                <a:pathLst>
                  <a:path w="1376" h="824">
                    <a:moveTo>
                      <a:pt x="0" y="824"/>
                    </a:moveTo>
                    <a:cubicBezTo>
                      <a:pt x="293" y="812"/>
                      <a:pt x="587" y="801"/>
                      <a:pt x="816" y="664"/>
                    </a:cubicBezTo>
                    <a:cubicBezTo>
                      <a:pt x="1045" y="527"/>
                      <a:pt x="1304" y="213"/>
                      <a:pt x="1376" y="0"/>
                    </a:cubicBezTo>
                  </a:path>
                </a:pathLst>
              </a:custGeom>
              <a:noFill/>
              <a:ln w="38100">
                <a:solidFill>
                  <a:srgbClr val="CC3300"/>
                </a:solidFill>
                <a:round/>
              </a:ln>
              <a:extLst>
                <a:ext uri="{909E8E84-426E-40DD-AFC4-6F175D3DCCD1}">
                  <a14:hiddenFill xmlns:a14="http://schemas.microsoft.com/office/drawing/2010/main">
                    <a:solidFill>
                      <a:srgbClr val="FFFFFF"/>
                    </a:solidFill>
                  </a14:hiddenFill>
                </a:ext>
              </a:extLst>
            </p:spPr>
            <p:txBody>
              <a:bodyPr wrap="none" tIns="0" bIns="82800" anchor="ctr"/>
              <a:lstStyle/>
              <a:p>
                <a:endParaRPr lang="zh-CN" altLang="en-US"/>
              </a:p>
            </p:txBody>
          </p:sp>
          <p:sp>
            <p:nvSpPr>
              <p:cNvPr id="32840" name="Line 159"/>
              <p:cNvSpPr>
                <a:spLocks noChangeShapeType="1"/>
              </p:cNvSpPr>
              <p:nvPr/>
            </p:nvSpPr>
            <p:spPr bwMode="auto">
              <a:xfrm flipV="1">
                <a:off x="4709" y="1829"/>
                <a:ext cx="667" cy="0"/>
              </a:xfrm>
              <a:prstGeom prst="line">
                <a:avLst/>
              </a:prstGeom>
              <a:noFill/>
              <a:ln w="38100">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32841" name="Line 160"/>
              <p:cNvSpPr>
                <a:spLocks noChangeShapeType="1"/>
              </p:cNvSpPr>
              <p:nvPr/>
            </p:nvSpPr>
            <p:spPr bwMode="auto">
              <a:xfrm flipV="1">
                <a:off x="3054" y="1831"/>
                <a:ext cx="808" cy="1025"/>
              </a:xfrm>
              <a:prstGeom prst="line">
                <a:avLst/>
              </a:prstGeom>
              <a:noFill/>
              <a:ln w="38100">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32842" name="Line 161"/>
              <p:cNvSpPr>
                <a:spLocks noChangeShapeType="1"/>
              </p:cNvSpPr>
              <p:nvPr/>
            </p:nvSpPr>
            <p:spPr bwMode="auto">
              <a:xfrm>
                <a:off x="3871" y="1831"/>
                <a:ext cx="837" cy="0"/>
              </a:xfrm>
              <a:prstGeom prst="line">
                <a:avLst/>
              </a:prstGeom>
              <a:noFill/>
              <a:ln w="38100">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32843" name="Text Box 162"/>
              <p:cNvSpPr txBox="1">
                <a:spLocks noChangeArrowheads="1"/>
              </p:cNvSpPr>
              <p:nvPr/>
            </p:nvSpPr>
            <p:spPr bwMode="auto">
              <a:xfrm>
                <a:off x="2857" y="912"/>
                <a:ext cx="282" cy="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8280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a:solidFill>
                      <a:schemeClr val="tx1"/>
                    </a:solidFill>
                    <a:latin typeface="Times New Roman" panose="02020603050405020304" pitchFamily="18" charset="0"/>
                  </a:rPr>
                  <a:t>O</a:t>
                </a:r>
                <a:endParaRPr kumimoji="1" lang="en-US" altLang="zh-CN" sz="2400">
                  <a:solidFill>
                    <a:schemeClr val="tx1"/>
                  </a:solidFill>
                  <a:latin typeface="Times New Roman" panose="02020603050405020304" pitchFamily="18" charset="0"/>
                </a:endParaRPr>
              </a:p>
            </p:txBody>
          </p:sp>
          <p:sp>
            <p:nvSpPr>
              <p:cNvPr id="32844" name="Text Box 163"/>
              <p:cNvSpPr txBox="1">
                <a:spLocks noChangeArrowheads="1"/>
              </p:cNvSpPr>
              <p:nvPr/>
            </p:nvSpPr>
            <p:spPr bwMode="auto">
              <a:xfrm>
                <a:off x="3703" y="1201"/>
                <a:ext cx="282" cy="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8280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a:solidFill>
                      <a:schemeClr val="tx1"/>
                    </a:solidFill>
                    <a:latin typeface="Times New Roman" panose="02020603050405020304" pitchFamily="18" charset="0"/>
                  </a:rPr>
                  <a:t>R</a:t>
                </a:r>
                <a:endParaRPr kumimoji="1" lang="en-US" altLang="zh-CN" sz="2400">
                  <a:solidFill>
                    <a:schemeClr val="tx1"/>
                  </a:solidFill>
                  <a:latin typeface="Times New Roman" panose="02020603050405020304" pitchFamily="18" charset="0"/>
                </a:endParaRPr>
              </a:p>
            </p:txBody>
          </p:sp>
          <p:sp>
            <p:nvSpPr>
              <p:cNvPr id="32845" name="Line 164"/>
              <p:cNvSpPr>
                <a:spLocks noChangeShapeType="1"/>
              </p:cNvSpPr>
              <p:nvPr/>
            </p:nvSpPr>
            <p:spPr bwMode="auto">
              <a:xfrm flipH="1">
                <a:off x="4711" y="1830"/>
                <a:ext cx="80"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32846" name="Line 165"/>
              <p:cNvSpPr>
                <a:spLocks noChangeShapeType="1"/>
              </p:cNvSpPr>
              <p:nvPr/>
            </p:nvSpPr>
            <p:spPr bwMode="auto">
              <a:xfrm flipH="1">
                <a:off x="4783" y="1830"/>
                <a:ext cx="80"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32847" name="Line 166"/>
              <p:cNvSpPr>
                <a:spLocks noChangeShapeType="1"/>
              </p:cNvSpPr>
              <p:nvPr/>
            </p:nvSpPr>
            <p:spPr bwMode="auto">
              <a:xfrm flipH="1">
                <a:off x="4867" y="1824"/>
                <a:ext cx="81"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32848" name="Line 167"/>
              <p:cNvSpPr>
                <a:spLocks noChangeShapeType="1"/>
              </p:cNvSpPr>
              <p:nvPr/>
            </p:nvSpPr>
            <p:spPr bwMode="auto">
              <a:xfrm flipH="1">
                <a:off x="4940" y="1824"/>
                <a:ext cx="80"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32849" name="Line 168"/>
              <p:cNvSpPr>
                <a:spLocks noChangeShapeType="1"/>
              </p:cNvSpPr>
              <p:nvPr/>
            </p:nvSpPr>
            <p:spPr bwMode="auto">
              <a:xfrm flipH="1">
                <a:off x="5004" y="1830"/>
                <a:ext cx="80"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32850" name="Line 169"/>
              <p:cNvSpPr>
                <a:spLocks noChangeShapeType="1"/>
              </p:cNvSpPr>
              <p:nvPr/>
            </p:nvSpPr>
            <p:spPr bwMode="auto">
              <a:xfrm flipH="1">
                <a:off x="5076" y="1830"/>
                <a:ext cx="80"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32851" name="Line 170"/>
              <p:cNvSpPr>
                <a:spLocks noChangeShapeType="1"/>
              </p:cNvSpPr>
              <p:nvPr/>
            </p:nvSpPr>
            <p:spPr bwMode="auto">
              <a:xfrm flipH="1">
                <a:off x="5160" y="1824"/>
                <a:ext cx="81"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32852" name="Line 171"/>
              <p:cNvSpPr>
                <a:spLocks noChangeShapeType="1"/>
              </p:cNvSpPr>
              <p:nvPr/>
            </p:nvSpPr>
            <p:spPr bwMode="auto">
              <a:xfrm flipH="1">
                <a:off x="5233" y="1824"/>
                <a:ext cx="80"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32853" name="Line 172"/>
              <p:cNvSpPr>
                <a:spLocks noChangeShapeType="1"/>
              </p:cNvSpPr>
              <p:nvPr/>
            </p:nvSpPr>
            <p:spPr bwMode="auto">
              <a:xfrm flipV="1">
                <a:off x="3989" y="1829"/>
                <a:ext cx="667" cy="0"/>
              </a:xfrm>
              <a:prstGeom prst="line">
                <a:avLst/>
              </a:prstGeom>
              <a:noFill/>
              <a:ln w="38100">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32854" name="Line 173"/>
              <p:cNvSpPr>
                <a:spLocks noChangeShapeType="1"/>
              </p:cNvSpPr>
              <p:nvPr/>
            </p:nvSpPr>
            <p:spPr bwMode="auto">
              <a:xfrm flipH="1">
                <a:off x="3991" y="1830"/>
                <a:ext cx="80"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32855" name="Line 174"/>
              <p:cNvSpPr>
                <a:spLocks noChangeShapeType="1"/>
              </p:cNvSpPr>
              <p:nvPr/>
            </p:nvSpPr>
            <p:spPr bwMode="auto">
              <a:xfrm flipH="1">
                <a:off x="4063" y="1830"/>
                <a:ext cx="80"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32856" name="Line 175"/>
              <p:cNvSpPr>
                <a:spLocks noChangeShapeType="1"/>
              </p:cNvSpPr>
              <p:nvPr/>
            </p:nvSpPr>
            <p:spPr bwMode="auto">
              <a:xfrm flipH="1">
                <a:off x="4147" y="1824"/>
                <a:ext cx="81"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32857" name="Line 176"/>
              <p:cNvSpPr>
                <a:spLocks noChangeShapeType="1"/>
              </p:cNvSpPr>
              <p:nvPr/>
            </p:nvSpPr>
            <p:spPr bwMode="auto">
              <a:xfrm flipH="1">
                <a:off x="4220" y="1824"/>
                <a:ext cx="80"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32858" name="Line 177"/>
              <p:cNvSpPr>
                <a:spLocks noChangeShapeType="1"/>
              </p:cNvSpPr>
              <p:nvPr/>
            </p:nvSpPr>
            <p:spPr bwMode="auto">
              <a:xfrm flipH="1">
                <a:off x="4284" y="1830"/>
                <a:ext cx="80"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32859" name="Line 178"/>
              <p:cNvSpPr>
                <a:spLocks noChangeShapeType="1"/>
              </p:cNvSpPr>
              <p:nvPr/>
            </p:nvSpPr>
            <p:spPr bwMode="auto">
              <a:xfrm flipH="1">
                <a:off x="4356" y="1830"/>
                <a:ext cx="80"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32860" name="Line 179"/>
              <p:cNvSpPr>
                <a:spLocks noChangeShapeType="1"/>
              </p:cNvSpPr>
              <p:nvPr/>
            </p:nvSpPr>
            <p:spPr bwMode="auto">
              <a:xfrm flipH="1">
                <a:off x="4440" y="1824"/>
                <a:ext cx="80"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32861" name="Line 180"/>
              <p:cNvSpPr>
                <a:spLocks noChangeShapeType="1"/>
              </p:cNvSpPr>
              <p:nvPr/>
            </p:nvSpPr>
            <p:spPr bwMode="auto">
              <a:xfrm flipH="1">
                <a:off x="4512" y="1824"/>
                <a:ext cx="81" cy="72"/>
              </a:xfrm>
              <a:prstGeom prst="line">
                <a:avLst/>
              </a:prstGeom>
              <a:noFill/>
              <a:ln w="38100" cmpd="dbl">
                <a:solidFill>
                  <a:srgbClr val="CC3300"/>
                </a:solidFill>
                <a:roun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32862" name="Line 181"/>
              <p:cNvSpPr>
                <a:spLocks noChangeShapeType="1"/>
              </p:cNvSpPr>
              <p:nvPr/>
            </p:nvSpPr>
            <p:spPr bwMode="auto">
              <a:xfrm>
                <a:off x="3936" y="2256"/>
                <a:ext cx="0" cy="584"/>
              </a:xfrm>
              <a:prstGeom prst="line">
                <a:avLst/>
              </a:prstGeom>
              <a:noFill/>
              <a:ln w="38100">
                <a:solidFill>
                  <a:srgbClr val="CC3300"/>
                </a:solidFill>
                <a:round/>
                <a:tailEnd type="triangle" w="med" len="me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32863" name="Line 182"/>
              <p:cNvSpPr>
                <a:spLocks noChangeShapeType="1"/>
              </p:cNvSpPr>
              <p:nvPr/>
            </p:nvSpPr>
            <p:spPr bwMode="auto">
              <a:xfrm>
                <a:off x="3072" y="2592"/>
                <a:ext cx="864" cy="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tIns="0" bIns="82800" anchor="ctr"/>
              <a:lstStyle/>
              <a:p>
                <a:endParaRPr lang="zh-CN" altLang="en-US"/>
              </a:p>
            </p:txBody>
          </p:sp>
          <p:sp>
            <p:nvSpPr>
              <p:cNvPr id="32864" name="Text Box 183"/>
              <p:cNvSpPr txBox="1">
                <a:spLocks noChangeArrowheads="1"/>
              </p:cNvSpPr>
              <p:nvPr/>
            </p:nvSpPr>
            <p:spPr bwMode="auto">
              <a:xfrm>
                <a:off x="3361" y="2304"/>
                <a:ext cx="383" cy="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8280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a:solidFill>
                      <a:schemeClr val="tx1"/>
                    </a:solidFill>
                    <a:latin typeface="Times New Roman" panose="02020603050405020304" pitchFamily="18" charset="0"/>
                  </a:rPr>
                  <a:t>d</a:t>
                </a:r>
                <a:endParaRPr kumimoji="1" lang="en-US" altLang="zh-CN" sz="2400">
                  <a:solidFill>
                    <a:schemeClr val="tx1"/>
                  </a:solidFill>
                  <a:latin typeface="Times New Roman" panose="02020603050405020304" pitchFamily="18" charset="0"/>
                </a:endParaRPr>
              </a:p>
            </p:txBody>
          </p:sp>
          <p:sp>
            <p:nvSpPr>
              <p:cNvPr id="32865" name="Text Box 184"/>
              <p:cNvSpPr txBox="1">
                <a:spLocks noChangeArrowheads="1"/>
              </p:cNvSpPr>
              <p:nvPr/>
            </p:nvSpPr>
            <p:spPr bwMode="auto">
              <a:xfrm>
                <a:off x="4608" y="1536"/>
                <a:ext cx="336" cy="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8280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a:solidFill>
                      <a:schemeClr val="tx1"/>
                    </a:solidFill>
                    <a:latin typeface="Times New Roman" panose="02020603050405020304" pitchFamily="18" charset="0"/>
                  </a:rPr>
                  <a:t>C</a:t>
                </a:r>
                <a:endParaRPr kumimoji="1" lang="en-US" altLang="zh-CN" sz="2400">
                  <a:solidFill>
                    <a:schemeClr val="tx1"/>
                  </a:solidFill>
                  <a:latin typeface="Times New Roman" panose="02020603050405020304" pitchFamily="18" charset="0"/>
                </a:endParaRPr>
              </a:p>
            </p:txBody>
          </p:sp>
          <p:sp>
            <p:nvSpPr>
              <p:cNvPr id="32866" name="Text Box 185"/>
              <p:cNvSpPr txBox="1">
                <a:spLocks noChangeArrowheads="1"/>
              </p:cNvSpPr>
              <p:nvPr/>
            </p:nvSpPr>
            <p:spPr bwMode="auto">
              <a:xfrm>
                <a:off x="3695" y="1536"/>
                <a:ext cx="337" cy="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8280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a:solidFill>
                      <a:schemeClr val="tx1"/>
                    </a:solidFill>
                    <a:latin typeface="Times New Roman" panose="02020603050405020304" pitchFamily="18" charset="0"/>
                  </a:rPr>
                  <a:t>B</a:t>
                </a:r>
                <a:endParaRPr kumimoji="1" lang="en-US" altLang="zh-CN" sz="2400">
                  <a:solidFill>
                    <a:schemeClr val="tx1"/>
                  </a:solidFill>
                  <a:latin typeface="Times New Roman" panose="02020603050405020304" pitchFamily="18" charset="0"/>
                </a:endParaRPr>
              </a:p>
            </p:txBody>
          </p:sp>
          <p:sp>
            <p:nvSpPr>
              <p:cNvPr id="32867" name="Text Box 186"/>
              <p:cNvSpPr txBox="1">
                <a:spLocks noChangeArrowheads="1"/>
              </p:cNvSpPr>
              <p:nvPr/>
            </p:nvSpPr>
            <p:spPr bwMode="auto">
              <a:xfrm>
                <a:off x="2760" y="2511"/>
                <a:ext cx="336" cy="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8280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a:solidFill>
                      <a:schemeClr val="tx1"/>
                    </a:solidFill>
                    <a:latin typeface="Times New Roman" panose="02020603050405020304" pitchFamily="18" charset="0"/>
                  </a:rPr>
                  <a:t>A</a:t>
                </a:r>
                <a:endParaRPr kumimoji="1" lang="en-US" altLang="zh-CN" sz="2400">
                  <a:solidFill>
                    <a:schemeClr val="tx1"/>
                  </a:solidFill>
                  <a:latin typeface="Times New Roman" panose="02020603050405020304" pitchFamily="18" charset="0"/>
                </a:endParaRPr>
              </a:p>
            </p:txBody>
          </p:sp>
        </p:grpSp>
        <p:sp>
          <p:nvSpPr>
            <p:cNvPr id="32824" name="Text Box 187"/>
            <p:cNvSpPr txBox="1">
              <a:spLocks noChangeArrowheads="1"/>
            </p:cNvSpPr>
            <p:nvPr/>
          </p:nvSpPr>
          <p:spPr bwMode="auto">
            <a:xfrm>
              <a:off x="4416" y="1536"/>
              <a:ext cx="48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i="1">
                  <a:solidFill>
                    <a:srgbClr val="006600"/>
                  </a:solidFill>
                  <a:latin typeface="Times New Roman" panose="02020603050405020304" pitchFamily="18" charset="0"/>
                </a:rPr>
                <a:t>W</a:t>
              </a:r>
              <a:endParaRPr kumimoji="1" lang="en-US" altLang="zh-CN" sz="2800" b="1" i="1">
                <a:solidFill>
                  <a:srgbClr val="006600"/>
                </a:solidFill>
                <a:latin typeface="Times New Roman" panose="02020603050405020304" pitchFamily="18" charset="0"/>
              </a:endParaRPr>
            </a:p>
          </p:txBody>
        </p:sp>
        <p:sp>
          <p:nvSpPr>
            <p:cNvPr id="32825" name="Line 188"/>
            <p:cNvSpPr>
              <a:spLocks noChangeShapeType="1"/>
            </p:cNvSpPr>
            <p:nvPr/>
          </p:nvSpPr>
          <p:spPr bwMode="auto">
            <a:xfrm>
              <a:off x="3984" y="2160"/>
              <a:ext cx="144" cy="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826" name="Line 189"/>
            <p:cNvSpPr>
              <a:spLocks noChangeShapeType="1"/>
            </p:cNvSpPr>
            <p:nvPr/>
          </p:nvSpPr>
          <p:spPr bwMode="auto">
            <a:xfrm flipV="1">
              <a:off x="4176" y="2112"/>
              <a:ext cx="144" cy="48"/>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827" name="Line 190"/>
            <p:cNvSpPr>
              <a:spLocks noChangeShapeType="1"/>
            </p:cNvSpPr>
            <p:nvPr/>
          </p:nvSpPr>
          <p:spPr bwMode="auto">
            <a:xfrm flipV="1">
              <a:off x="4368" y="2064"/>
              <a:ext cx="144" cy="48"/>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828" name="Line 191"/>
            <p:cNvSpPr>
              <a:spLocks noChangeShapeType="1"/>
            </p:cNvSpPr>
            <p:nvPr/>
          </p:nvSpPr>
          <p:spPr bwMode="auto">
            <a:xfrm flipV="1">
              <a:off x="4560" y="1920"/>
              <a:ext cx="96" cy="96"/>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829" name="Line 192"/>
            <p:cNvSpPr>
              <a:spLocks noChangeShapeType="1"/>
            </p:cNvSpPr>
            <p:nvPr/>
          </p:nvSpPr>
          <p:spPr bwMode="auto">
            <a:xfrm flipV="1">
              <a:off x="4704" y="1776"/>
              <a:ext cx="96" cy="96"/>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830" name="Line 193"/>
            <p:cNvSpPr>
              <a:spLocks noChangeShapeType="1"/>
            </p:cNvSpPr>
            <p:nvPr/>
          </p:nvSpPr>
          <p:spPr bwMode="auto">
            <a:xfrm flipV="1">
              <a:off x="4848" y="1584"/>
              <a:ext cx="96" cy="144"/>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831" name="Line 194"/>
            <p:cNvSpPr>
              <a:spLocks noChangeShapeType="1"/>
            </p:cNvSpPr>
            <p:nvPr/>
          </p:nvSpPr>
          <p:spPr bwMode="auto">
            <a:xfrm flipV="1">
              <a:off x="4992" y="1392"/>
              <a:ext cx="48" cy="144"/>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832" name="Line 195"/>
            <p:cNvSpPr>
              <a:spLocks noChangeShapeType="1"/>
            </p:cNvSpPr>
            <p:nvPr/>
          </p:nvSpPr>
          <p:spPr bwMode="auto">
            <a:xfrm>
              <a:off x="3792" y="2160"/>
              <a:ext cx="144" cy="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833" name="Line 196"/>
            <p:cNvSpPr>
              <a:spLocks noChangeShapeType="1"/>
            </p:cNvSpPr>
            <p:nvPr/>
          </p:nvSpPr>
          <p:spPr bwMode="auto">
            <a:xfrm flipH="1" flipV="1">
              <a:off x="4656" y="1872"/>
              <a:ext cx="288" cy="240"/>
            </a:xfrm>
            <a:prstGeom prst="line">
              <a:avLst/>
            </a:prstGeom>
            <a:noFill/>
            <a:ln w="47625">
              <a:solidFill>
                <a:schemeClr val="fo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834" name="Freeform 197"/>
            <p:cNvSpPr/>
            <p:nvPr/>
          </p:nvSpPr>
          <p:spPr bwMode="auto">
            <a:xfrm>
              <a:off x="3792" y="960"/>
              <a:ext cx="150" cy="96"/>
            </a:xfrm>
            <a:custGeom>
              <a:avLst/>
              <a:gdLst>
                <a:gd name="T0" fmla="*/ 0 w 199"/>
                <a:gd name="T1" fmla="*/ 47 h 138"/>
                <a:gd name="T2" fmla="*/ 59 w 199"/>
                <a:gd name="T3" fmla="*/ 29 h 138"/>
                <a:gd name="T4" fmla="*/ 66 w 199"/>
                <a:gd name="T5" fmla="*/ 17 h 138"/>
                <a:gd name="T6" fmla="*/ 81 w 199"/>
                <a:gd name="T7" fmla="*/ 0 h 138"/>
                <a:gd name="T8" fmla="*/ 0 60000 65536"/>
                <a:gd name="T9" fmla="*/ 0 60000 65536"/>
                <a:gd name="T10" fmla="*/ 0 60000 65536"/>
                <a:gd name="T11" fmla="*/ 0 60000 65536"/>
                <a:gd name="T12" fmla="*/ 0 w 199"/>
                <a:gd name="T13" fmla="*/ 0 h 138"/>
                <a:gd name="T14" fmla="*/ 199 w 199"/>
                <a:gd name="T15" fmla="*/ 138 h 138"/>
              </a:gdLst>
              <a:ahLst/>
              <a:cxnLst>
                <a:cxn ang="T8">
                  <a:pos x="T0" y="T1"/>
                </a:cxn>
                <a:cxn ang="T9">
                  <a:pos x="T2" y="T3"/>
                </a:cxn>
                <a:cxn ang="T10">
                  <a:pos x="T4" y="T5"/>
                </a:cxn>
                <a:cxn ang="T11">
                  <a:pos x="T6" y="T7"/>
                </a:cxn>
              </a:cxnLst>
              <a:rect l="T12" t="T13" r="T14" b="T15"/>
              <a:pathLst>
                <a:path w="199" h="138">
                  <a:moveTo>
                    <a:pt x="0" y="138"/>
                  </a:moveTo>
                  <a:cubicBezTo>
                    <a:pt x="63" y="128"/>
                    <a:pt x="105" y="137"/>
                    <a:pt x="138" y="86"/>
                  </a:cubicBezTo>
                  <a:cubicBezTo>
                    <a:pt x="145" y="75"/>
                    <a:pt x="146" y="61"/>
                    <a:pt x="155" y="52"/>
                  </a:cubicBezTo>
                  <a:cubicBezTo>
                    <a:pt x="199" y="8"/>
                    <a:pt x="189" y="68"/>
                    <a:pt x="189" y="0"/>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835" name="Text Box 198"/>
            <p:cNvSpPr txBox="1">
              <a:spLocks noChangeArrowheads="1"/>
            </p:cNvSpPr>
            <p:nvPr/>
          </p:nvSpPr>
          <p:spPr bwMode="auto">
            <a:xfrm>
              <a:off x="3792" y="1008"/>
              <a:ext cx="24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0000FF"/>
                  </a:solidFill>
                  <a:latin typeface="Times New Roman" panose="02020603050405020304" pitchFamily="18" charset="0"/>
                  <a:sym typeface="Symbol" panose="05050102010706020507" pitchFamily="18" charset="2"/>
                </a:rPr>
                <a:t></a:t>
              </a:r>
              <a:endParaRPr kumimoji="1" lang="en-US" altLang="zh-CN" sz="2400" b="1">
                <a:solidFill>
                  <a:srgbClr val="0000FF"/>
                </a:solidFill>
                <a:latin typeface="Times New Roman" panose="02020603050405020304" pitchFamily="18" charset="0"/>
                <a:sym typeface="Symbol" panose="05050102010706020507" pitchFamily="18" charset="2"/>
              </a:endParaRPr>
            </a:p>
          </p:txBody>
        </p:sp>
      </p:grpSp>
      <p:sp>
        <p:nvSpPr>
          <p:cNvPr id="32772" name="Rectangle 3"/>
          <p:cNvSpPr>
            <a:spLocks noGrp="1" noChangeArrowheads="1"/>
          </p:cNvSpPr>
          <p:nvPr>
            <p:ph type="body" sz="half" idx="1"/>
          </p:nvPr>
        </p:nvSpPr>
        <p:spPr bwMode="auto">
          <a:xfrm>
            <a:off x="1985963" y="835025"/>
            <a:ext cx="4267200" cy="520700"/>
          </a:xfrm>
          <a:solidFill>
            <a:srgbClr val="FFC000"/>
          </a:solidFill>
        </p:spPr>
        <p:txBody>
          <a:bodyPr vert="horz" wrap="square" lIns="91440" tIns="45720" rIns="91440" bIns="45720" numCol="1" anchor="t" anchorCtr="0" compatLnSpc="1"/>
          <a:lstStyle/>
          <a:p>
            <a:pPr marL="0" indent="0" algn="just" eaLnBrk="1" hangingPunct="1">
              <a:buFontTx/>
              <a:buNone/>
            </a:pPr>
            <a:r>
              <a:rPr lang="zh-CN" altLang="en-US" sz="2800" b="1" dirty="0" smtClean="0">
                <a:latin typeface="+mn-ea"/>
              </a:rPr>
              <a:t>条分法的基本原理及分析</a:t>
            </a:r>
            <a:endParaRPr lang="zh-CN" altLang="en-US" sz="2800" b="1" dirty="0" smtClean="0">
              <a:latin typeface="+mn-ea"/>
            </a:endParaRPr>
          </a:p>
        </p:txBody>
      </p:sp>
      <p:sp>
        <p:nvSpPr>
          <p:cNvPr id="756836" name="Rectangle 100"/>
          <p:cNvSpPr>
            <a:spLocks noChangeArrowheads="1"/>
          </p:cNvSpPr>
          <p:nvPr/>
        </p:nvSpPr>
        <p:spPr bwMode="auto">
          <a:xfrm>
            <a:off x="472307" y="1679617"/>
            <a:ext cx="1676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just" eaLnBrk="1" hangingPunct="1"/>
            <a:r>
              <a:rPr lang="zh-CN" altLang="en-US" sz="3200" b="1" dirty="0">
                <a:solidFill>
                  <a:srgbClr val="CC3300"/>
                </a:solidFill>
                <a:ea typeface="隶书" panose="02010509060101010101" pitchFamily="49" charset="-122"/>
              </a:rPr>
              <a:t>源起</a:t>
            </a:r>
            <a:endParaRPr lang="zh-CN" altLang="en-US" sz="3200" b="1" dirty="0">
              <a:solidFill>
                <a:srgbClr val="CC3300"/>
              </a:solidFill>
              <a:ea typeface="隶书" panose="02010509060101010101" pitchFamily="49" charset="-122"/>
            </a:endParaRPr>
          </a:p>
        </p:txBody>
      </p:sp>
      <p:sp>
        <p:nvSpPr>
          <p:cNvPr id="32821" name="Rectangle 99"/>
          <p:cNvSpPr>
            <a:spLocks noChangeArrowheads="1"/>
          </p:cNvSpPr>
          <p:nvPr/>
        </p:nvSpPr>
        <p:spPr bwMode="auto">
          <a:xfrm>
            <a:off x="990600" y="2441575"/>
            <a:ext cx="2586038"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lnSpc>
                <a:spcPct val="120000"/>
              </a:lnSpc>
              <a:spcBef>
                <a:spcPct val="0"/>
              </a:spcBef>
            </a:pPr>
            <a:r>
              <a:rPr kumimoji="1" lang="zh-CN" altLang="en-US" sz="2400" b="1">
                <a:solidFill>
                  <a:srgbClr val="0000FF"/>
                </a:solidFill>
                <a:latin typeface="Times New Roman" panose="02020603050405020304" pitchFamily="18" charset="0"/>
              </a:rPr>
              <a:t>整体圆弧法 ：</a:t>
            </a:r>
            <a:endParaRPr kumimoji="1" lang="zh-CN" altLang="en-US" sz="2400" b="1">
              <a:solidFill>
                <a:srgbClr val="0000FF"/>
              </a:solidFill>
              <a:latin typeface="Times New Roman" panose="02020603050405020304" pitchFamily="18" charset="0"/>
            </a:endParaRPr>
          </a:p>
          <a:p>
            <a:pPr algn="l" eaLnBrk="1" hangingPunct="1">
              <a:lnSpc>
                <a:spcPct val="120000"/>
              </a:lnSpc>
              <a:spcBef>
                <a:spcPct val="0"/>
              </a:spcBef>
            </a:pPr>
            <a:r>
              <a:rPr kumimoji="1" lang="zh-CN" altLang="en-US" sz="2400" b="1">
                <a:solidFill>
                  <a:srgbClr val="0000FF"/>
                </a:solidFill>
                <a:latin typeface="Times New Roman" panose="02020603050405020304" pitchFamily="18" charset="0"/>
                <a:sym typeface="Symbol" panose="05050102010706020507" pitchFamily="18" charset="2"/>
              </a:rPr>
              <a:t></a:t>
            </a:r>
            <a:r>
              <a:rPr kumimoji="1" lang="en-US" altLang="zh-CN" sz="2400" b="1" baseline="-25000">
                <a:solidFill>
                  <a:srgbClr val="0000FF"/>
                </a:solidFill>
                <a:latin typeface="Times New Roman" panose="02020603050405020304" pitchFamily="18" charset="0"/>
              </a:rPr>
              <a:t>n</a:t>
            </a:r>
            <a:r>
              <a:rPr kumimoji="1" lang="en-US" altLang="zh-CN" sz="2400" b="1">
                <a:solidFill>
                  <a:srgbClr val="0000FF"/>
                </a:solidFill>
                <a:latin typeface="Times New Roman" panose="02020603050405020304" pitchFamily="18" charset="0"/>
              </a:rPr>
              <a:t> </a:t>
            </a:r>
            <a:r>
              <a:rPr kumimoji="1" lang="zh-CN" altLang="en-US" sz="2400" b="1">
                <a:solidFill>
                  <a:srgbClr val="0000FF"/>
                </a:solidFill>
                <a:latin typeface="Times New Roman" panose="02020603050405020304" pitchFamily="18" charset="0"/>
              </a:rPr>
              <a:t>是 </a:t>
            </a:r>
            <a:r>
              <a:rPr lang="en-US" altLang="zh-CN" sz="2400" b="1" i="1">
                <a:solidFill>
                  <a:srgbClr val="0000FF"/>
                </a:solidFill>
                <a:latin typeface="Times New Roman" panose="02020603050405020304" pitchFamily="18" charset="0"/>
              </a:rPr>
              <a:t>l</a:t>
            </a:r>
            <a:r>
              <a:rPr lang="en-US" altLang="zh-CN" sz="2400" b="1">
                <a:solidFill>
                  <a:srgbClr val="0000FF"/>
                </a:solidFill>
                <a:latin typeface="Times New Roman" panose="02020603050405020304" pitchFamily="18" charset="0"/>
              </a:rPr>
              <a:t>(</a:t>
            </a:r>
            <a:r>
              <a:rPr lang="en-US" altLang="zh-CN" sz="2400" b="1" i="1">
                <a:solidFill>
                  <a:srgbClr val="0000FF"/>
                </a:solidFill>
                <a:latin typeface="Times New Roman" panose="02020603050405020304" pitchFamily="18" charset="0"/>
              </a:rPr>
              <a:t>x</a:t>
            </a:r>
            <a:r>
              <a:rPr lang="en-US" altLang="zh-CN" sz="2400" b="1">
                <a:solidFill>
                  <a:srgbClr val="0000FF"/>
                </a:solidFill>
                <a:latin typeface="Times New Roman" panose="02020603050405020304" pitchFamily="18" charset="0"/>
              </a:rPr>
              <a:t>,</a:t>
            </a:r>
            <a:r>
              <a:rPr lang="en-US" altLang="zh-CN" sz="2400" b="1" i="1">
                <a:solidFill>
                  <a:srgbClr val="0000FF"/>
                </a:solidFill>
                <a:latin typeface="Times New Roman" panose="02020603050405020304" pitchFamily="18" charset="0"/>
              </a:rPr>
              <a:t>y</a:t>
            </a:r>
            <a:r>
              <a:rPr lang="en-US" altLang="zh-CN" sz="2400" b="1">
                <a:solidFill>
                  <a:srgbClr val="0000FF"/>
                </a:solidFill>
                <a:latin typeface="Times New Roman" panose="02020603050405020304" pitchFamily="18" charset="0"/>
              </a:rPr>
              <a:t>) </a:t>
            </a:r>
            <a:r>
              <a:rPr kumimoji="1" lang="zh-CN" altLang="en-US" sz="2400" b="1">
                <a:solidFill>
                  <a:srgbClr val="0000FF"/>
                </a:solidFill>
                <a:latin typeface="Times New Roman" panose="02020603050405020304" pitchFamily="18" charset="0"/>
              </a:rPr>
              <a:t>的函数</a:t>
            </a:r>
            <a:endParaRPr kumimoji="1" lang="zh-CN" altLang="en-US" sz="2400" b="1">
              <a:solidFill>
                <a:srgbClr val="0000FF"/>
              </a:solidFill>
              <a:latin typeface="Times New Roman" panose="02020603050405020304" pitchFamily="18" charset="0"/>
            </a:endParaRPr>
          </a:p>
        </p:txBody>
      </p:sp>
      <p:sp>
        <p:nvSpPr>
          <p:cNvPr id="756840" name="Rectangle 104"/>
          <p:cNvSpPr>
            <a:spLocks noChangeArrowheads="1"/>
          </p:cNvSpPr>
          <p:nvPr/>
        </p:nvSpPr>
        <p:spPr bwMode="auto">
          <a:xfrm>
            <a:off x="381000" y="3810000"/>
            <a:ext cx="1676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just" eaLnBrk="1" hangingPunct="1"/>
            <a:r>
              <a:rPr lang="zh-CN" altLang="en-US" sz="3200" b="1">
                <a:solidFill>
                  <a:srgbClr val="CC3300"/>
                </a:solidFill>
                <a:ea typeface="隶书" panose="02010509060101010101" pitchFamily="49" charset="-122"/>
              </a:rPr>
              <a:t>思路</a:t>
            </a:r>
            <a:endParaRPr lang="zh-CN" altLang="en-US" sz="3200" b="1">
              <a:solidFill>
                <a:srgbClr val="CC3300"/>
              </a:solidFill>
              <a:ea typeface="隶书" panose="02010509060101010101" pitchFamily="49" charset="-122"/>
            </a:endParaRPr>
          </a:p>
        </p:txBody>
      </p:sp>
      <p:sp>
        <p:nvSpPr>
          <p:cNvPr id="756844" name="Text Box 108"/>
          <p:cNvSpPr txBox="1">
            <a:spLocks noChangeArrowheads="1"/>
          </p:cNvSpPr>
          <p:nvPr/>
        </p:nvSpPr>
        <p:spPr bwMode="auto">
          <a:xfrm>
            <a:off x="914400" y="4495800"/>
            <a:ext cx="1223963"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3200" b="1">
                <a:solidFill>
                  <a:srgbClr val="0000FF"/>
                </a:solidFill>
                <a:ea typeface="隶书" panose="02010509060101010101" pitchFamily="49" charset="-122"/>
              </a:rPr>
              <a:t>离散化</a:t>
            </a:r>
            <a:endParaRPr lang="zh-CN" altLang="en-US" sz="3200" b="1">
              <a:solidFill>
                <a:srgbClr val="0000FF"/>
              </a:solidFill>
              <a:ea typeface="隶书" panose="02010509060101010101" pitchFamily="49" charset="-122"/>
            </a:endParaRPr>
          </a:p>
        </p:txBody>
      </p:sp>
      <p:sp>
        <p:nvSpPr>
          <p:cNvPr id="756845" name="AutoShape 109"/>
          <p:cNvSpPr>
            <a:spLocks noChangeArrowheads="1"/>
          </p:cNvSpPr>
          <p:nvPr/>
        </p:nvSpPr>
        <p:spPr bwMode="auto">
          <a:xfrm flipV="1">
            <a:off x="2362200" y="4724400"/>
            <a:ext cx="533400" cy="152400"/>
          </a:xfrm>
          <a:prstGeom prst="rightArrow">
            <a:avLst>
              <a:gd name="adj1" fmla="val 50000"/>
              <a:gd name="adj2" fmla="val 87500"/>
            </a:avLst>
          </a:prstGeom>
          <a:solidFill>
            <a:schemeClr val="folHlink"/>
          </a:solidFill>
          <a:ln w="9525">
            <a:solidFill>
              <a:srgbClr val="CC3300"/>
            </a:solidFill>
            <a:miter lim="800000"/>
          </a:ln>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756846" name="Text Box 110"/>
          <p:cNvSpPr txBox="1">
            <a:spLocks noChangeArrowheads="1"/>
          </p:cNvSpPr>
          <p:nvPr/>
        </p:nvSpPr>
        <p:spPr bwMode="auto">
          <a:xfrm>
            <a:off x="3048000" y="4495800"/>
            <a:ext cx="1163638"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3200" b="1">
                <a:solidFill>
                  <a:srgbClr val="0000FF"/>
                </a:solidFill>
                <a:ea typeface="隶书" panose="02010509060101010101" pitchFamily="49" charset="-122"/>
              </a:rPr>
              <a:t>分条</a:t>
            </a:r>
            <a:endParaRPr lang="zh-CN" altLang="en-US" sz="3200" b="1">
              <a:solidFill>
                <a:srgbClr val="0000FF"/>
              </a:solidFill>
              <a:ea typeface="隶书" panose="02010509060101010101" pitchFamily="49" charset="-122"/>
            </a:endParaRPr>
          </a:p>
        </p:txBody>
      </p:sp>
      <p:sp>
        <p:nvSpPr>
          <p:cNvPr id="756848" name="AutoShape 112"/>
          <p:cNvSpPr>
            <a:spLocks noChangeArrowheads="1"/>
          </p:cNvSpPr>
          <p:nvPr/>
        </p:nvSpPr>
        <p:spPr bwMode="auto">
          <a:xfrm rot="8190429" flipV="1">
            <a:off x="2590800" y="5257800"/>
            <a:ext cx="762000" cy="152400"/>
          </a:xfrm>
          <a:prstGeom prst="rightArrow">
            <a:avLst>
              <a:gd name="adj1" fmla="val 50000"/>
              <a:gd name="adj2" fmla="val 125000"/>
            </a:avLst>
          </a:prstGeom>
          <a:solidFill>
            <a:schemeClr val="folHlink"/>
          </a:solidFill>
          <a:ln w="9525">
            <a:solidFill>
              <a:srgbClr val="CC3300"/>
            </a:solidFill>
            <a:miter lim="800000"/>
          </a:ln>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756849" name="Text Box 113"/>
          <p:cNvSpPr txBox="1">
            <a:spLocks noChangeArrowheads="1"/>
          </p:cNvSpPr>
          <p:nvPr/>
        </p:nvSpPr>
        <p:spPr bwMode="auto">
          <a:xfrm>
            <a:off x="1828800" y="5715000"/>
            <a:ext cx="1223963" cy="487363"/>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3200" b="1">
                <a:solidFill>
                  <a:schemeClr val="accent1"/>
                </a:solidFill>
                <a:ea typeface="隶书" panose="02010509060101010101" pitchFamily="49" charset="-122"/>
              </a:rPr>
              <a:t>条分法</a:t>
            </a:r>
            <a:endParaRPr lang="zh-CN" altLang="en-US" sz="3200" b="1">
              <a:solidFill>
                <a:schemeClr val="accent1"/>
              </a:solidFill>
              <a:ea typeface="隶书" panose="02010509060101010101" pitchFamily="49" charset="-122"/>
            </a:endParaRPr>
          </a:p>
        </p:txBody>
      </p:sp>
      <p:sp useBgFill="1">
        <p:nvSpPr>
          <p:cNvPr id="756935" name="Rectangle 199"/>
          <p:cNvSpPr>
            <a:spLocks noChangeArrowheads="1"/>
          </p:cNvSpPr>
          <p:nvPr/>
        </p:nvSpPr>
        <p:spPr bwMode="auto">
          <a:xfrm>
            <a:off x="4800600" y="3276600"/>
            <a:ext cx="4114800" cy="27432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grpSp>
        <p:nvGrpSpPr>
          <p:cNvPr id="5" name="Group 114"/>
          <p:cNvGrpSpPr/>
          <p:nvPr/>
        </p:nvGrpSpPr>
        <p:grpSpPr bwMode="auto">
          <a:xfrm>
            <a:off x="4419600" y="2819400"/>
            <a:ext cx="4267200" cy="3090863"/>
            <a:chOff x="2976" y="117"/>
            <a:chExt cx="2688" cy="1947"/>
          </a:xfrm>
        </p:grpSpPr>
        <p:sp>
          <p:nvSpPr>
            <p:cNvPr id="32783" name="Text Box 115"/>
            <p:cNvSpPr txBox="1">
              <a:spLocks noChangeArrowheads="1"/>
            </p:cNvSpPr>
            <p:nvPr/>
          </p:nvSpPr>
          <p:spPr bwMode="auto">
            <a:xfrm>
              <a:off x="2976" y="1737"/>
              <a:ext cx="41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dirty="0" smtClean="0">
                  <a:solidFill>
                    <a:schemeClr val="tx1"/>
                  </a:solidFill>
                  <a:latin typeface="Times New Roman" panose="02020603050405020304" pitchFamily="18" charset="0"/>
                </a:rPr>
                <a:t>C</a:t>
              </a:r>
              <a:endParaRPr kumimoji="1" lang="en-US" altLang="zh-CN" sz="2800" b="1" dirty="0">
                <a:solidFill>
                  <a:schemeClr val="tx1"/>
                </a:solidFill>
                <a:latin typeface="Times New Roman" panose="02020603050405020304" pitchFamily="18" charset="0"/>
              </a:endParaRPr>
            </a:p>
          </p:txBody>
        </p:sp>
        <p:grpSp>
          <p:nvGrpSpPr>
            <p:cNvPr id="32784" name="Group 116"/>
            <p:cNvGrpSpPr/>
            <p:nvPr/>
          </p:nvGrpSpPr>
          <p:grpSpPr bwMode="auto">
            <a:xfrm>
              <a:off x="3052" y="117"/>
              <a:ext cx="2612" cy="1921"/>
              <a:chOff x="2633" y="1296"/>
              <a:chExt cx="3079" cy="2016"/>
            </a:xfrm>
          </p:grpSpPr>
          <p:sp>
            <p:nvSpPr>
              <p:cNvPr id="32802" name="Freeform 117"/>
              <p:cNvSpPr/>
              <p:nvPr/>
            </p:nvSpPr>
            <p:spPr bwMode="auto">
              <a:xfrm>
                <a:off x="2633" y="2032"/>
                <a:ext cx="3022" cy="1189"/>
              </a:xfrm>
              <a:custGeom>
                <a:avLst/>
                <a:gdLst>
                  <a:gd name="T0" fmla="*/ 0 w 1785"/>
                  <a:gd name="T1" fmla="*/ 2496 h 763"/>
                  <a:gd name="T2" fmla="*/ 1339 w 1785"/>
                  <a:gd name="T3" fmla="*/ 2506 h 763"/>
                  <a:gd name="T4" fmla="*/ 6647 w 1785"/>
                  <a:gd name="T5" fmla="*/ 0 h 763"/>
                  <a:gd name="T6" fmla="*/ 8661 w 1785"/>
                  <a:gd name="T7" fmla="*/ 0 h 763"/>
                  <a:gd name="T8" fmla="*/ 7920 w 1785"/>
                  <a:gd name="T9" fmla="*/ 0 h 763"/>
                  <a:gd name="T10" fmla="*/ 7652 w 1785"/>
                  <a:gd name="T11" fmla="*/ 597 h 763"/>
                  <a:gd name="T12" fmla="*/ 7254 w 1785"/>
                  <a:gd name="T13" fmla="*/ 1153 h 763"/>
                  <a:gd name="T14" fmla="*/ 6931 w 1785"/>
                  <a:gd name="T15" fmla="*/ 1487 h 763"/>
                  <a:gd name="T16" fmla="*/ 6589 w 1785"/>
                  <a:gd name="T17" fmla="*/ 1797 h 763"/>
                  <a:gd name="T18" fmla="*/ 6091 w 1785"/>
                  <a:gd name="T19" fmla="*/ 2135 h 763"/>
                  <a:gd name="T20" fmla="*/ 5484 w 1785"/>
                  <a:gd name="T21" fmla="*/ 2453 h 763"/>
                  <a:gd name="T22" fmla="*/ 5018 w 1785"/>
                  <a:gd name="T23" fmla="*/ 2615 h 763"/>
                  <a:gd name="T24" fmla="*/ 4425 w 1785"/>
                  <a:gd name="T25" fmla="*/ 2752 h 763"/>
                  <a:gd name="T26" fmla="*/ 3887 w 1785"/>
                  <a:gd name="T27" fmla="*/ 2841 h 763"/>
                  <a:gd name="T28" fmla="*/ 3213 w 1785"/>
                  <a:gd name="T29" fmla="*/ 2888 h 763"/>
                  <a:gd name="T30" fmla="*/ 2760 w 1785"/>
                  <a:gd name="T31" fmla="*/ 2888 h 763"/>
                  <a:gd name="T32" fmla="*/ 2255 w 1785"/>
                  <a:gd name="T33" fmla="*/ 2861 h 763"/>
                  <a:gd name="T34" fmla="*/ 1639 w 1785"/>
                  <a:gd name="T35" fmla="*/ 2771 h 763"/>
                  <a:gd name="T36" fmla="*/ 1150 w 1785"/>
                  <a:gd name="T37" fmla="*/ 2652 h 763"/>
                  <a:gd name="T38" fmla="*/ 733 w 1785"/>
                  <a:gd name="T39" fmla="*/ 2523 h 763"/>
                  <a:gd name="T40" fmla="*/ 650 w 1785"/>
                  <a:gd name="T41" fmla="*/ 2506 h 76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785"/>
                  <a:gd name="T64" fmla="*/ 0 h 763"/>
                  <a:gd name="T65" fmla="*/ 1785 w 1785"/>
                  <a:gd name="T66" fmla="*/ 763 h 76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785" h="763">
                    <a:moveTo>
                      <a:pt x="0" y="660"/>
                    </a:moveTo>
                    <a:lnTo>
                      <a:pt x="276" y="662"/>
                    </a:lnTo>
                    <a:lnTo>
                      <a:pt x="1370" y="0"/>
                    </a:lnTo>
                    <a:lnTo>
                      <a:pt x="1785" y="0"/>
                    </a:lnTo>
                    <a:lnTo>
                      <a:pt x="1632" y="0"/>
                    </a:lnTo>
                    <a:lnTo>
                      <a:pt x="1577" y="158"/>
                    </a:lnTo>
                    <a:lnTo>
                      <a:pt x="1495" y="305"/>
                    </a:lnTo>
                    <a:lnTo>
                      <a:pt x="1428" y="393"/>
                    </a:lnTo>
                    <a:lnTo>
                      <a:pt x="1358" y="475"/>
                    </a:lnTo>
                    <a:lnTo>
                      <a:pt x="1255" y="564"/>
                    </a:lnTo>
                    <a:lnTo>
                      <a:pt x="1130" y="648"/>
                    </a:lnTo>
                    <a:lnTo>
                      <a:pt x="1034" y="691"/>
                    </a:lnTo>
                    <a:lnTo>
                      <a:pt x="912" y="727"/>
                    </a:lnTo>
                    <a:lnTo>
                      <a:pt x="801" y="751"/>
                    </a:lnTo>
                    <a:lnTo>
                      <a:pt x="662" y="763"/>
                    </a:lnTo>
                    <a:lnTo>
                      <a:pt x="569" y="763"/>
                    </a:lnTo>
                    <a:lnTo>
                      <a:pt x="465" y="756"/>
                    </a:lnTo>
                    <a:lnTo>
                      <a:pt x="338" y="732"/>
                    </a:lnTo>
                    <a:lnTo>
                      <a:pt x="237" y="701"/>
                    </a:lnTo>
                    <a:lnTo>
                      <a:pt x="151" y="667"/>
                    </a:lnTo>
                    <a:lnTo>
                      <a:pt x="134" y="662"/>
                    </a:lnTo>
                  </a:path>
                </a:pathLst>
              </a:custGeom>
              <a:solidFill>
                <a:srgbClr val="66FF66">
                  <a:alpha val="50195"/>
                </a:srgbClr>
              </a:solidFill>
              <a:ln w="38100">
                <a:solidFill>
                  <a:srgbClr val="008000"/>
                </a:solidFill>
                <a:round/>
              </a:ln>
            </p:spPr>
            <p:txBody>
              <a:bodyPr/>
              <a:lstStyle/>
              <a:p>
                <a:endParaRPr lang="zh-CN" altLang="en-US"/>
              </a:p>
            </p:txBody>
          </p:sp>
          <p:sp>
            <p:nvSpPr>
              <p:cNvPr id="32803" name="Line 118"/>
              <p:cNvSpPr>
                <a:spLocks noChangeShapeType="1"/>
              </p:cNvSpPr>
              <p:nvPr/>
            </p:nvSpPr>
            <p:spPr bwMode="auto">
              <a:xfrm flipV="1">
                <a:off x="3121" y="3045"/>
                <a:ext cx="0" cy="104"/>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04" name="Line 119"/>
              <p:cNvSpPr>
                <a:spLocks noChangeShapeType="1"/>
              </p:cNvSpPr>
              <p:nvPr/>
            </p:nvSpPr>
            <p:spPr bwMode="auto">
              <a:xfrm flipV="1">
                <a:off x="3327" y="2932"/>
                <a:ext cx="0" cy="26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05" name="Line 120"/>
              <p:cNvSpPr>
                <a:spLocks noChangeShapeType="1"/>
              </p:cNvSpPr>
              <p:nvPr/>
            </p:nvSpPr>
            <p:spPr bwMode="auto">
              <a:xfrm flipV="1">
                <a:off x="3563" y="2826"/>
                <a:ext cx="0" cy="40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06" name="Line 121"/>
              <p:cNvSpPr>
                <a:spLocks noChangeShapeType="1"/>
              </p:cNvSpPr>
              <p:nvPr/>
            </p:nvSpPr>
            <p:spPr bwMode="auto">
              <a:xfrm flipH="1" flipV="1">
                <a:off x="3803" y="2660"/>
                <a:ext cx="0" cy="55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07" name="Line 122"/>
              <p:cNvSpPr>
                <a:spLocks noChangeShapeType="1"/>
              </p:cNvSpPr>
              <p:nvPr/>
            </p:nvSpPr>
            <p:spPr bwMode="auto">
              <a:xfrm flipH="1" flipV="1">
                <a:off x="4035" y="2535"/>
                <a:ext cx="0" cy="656"/>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08" name="Line 123"/>
              <p:cNvSpPr>
                <a:spLocks noChangeShapeType="1"/>
              </p:cNvSpPr>
              <p:nvPr/>
            </p:nvSpPr>
            <p:spPr bwMode="auto">
              <a:xfrm flipV="1">
                <a:off x="4253" y="2409"/>
                <a:ext cx="0" cy="737"/>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09" name="Line 124"/>
              <p:cNvSpPr>
                <a:spLocks noChangeShapeType="1"/>
              </p:cNvSpPr>
              <p:nvPr/>
            </p:nvSpPr>
            <p:spPr bwMode="auto">
              <a:xfrm flipH="1" flipV="1">
                <a:off x="4511" y="2269"/>
                <a:ext cx="0" cy="78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10" name="Line 125"/>
              <p:cNvSpPr>
                <a:spLocks noChangeShapeType="1"/>
              </p:cNvSpPr>
              <p:nvPr/>
            </p:nvSpPr>
            <p:spPr bwMode="auto">
              <a:xfrm flipV="1">
                <a:off x="4740" y="2147"/>
                <a:ext cx="0" cy="766"/>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11" name="Line 126"/>
              <p:cNvSpPr>
                <a:spLocks noChangeShapeType="1"/>
              </p:cNvSpPr>
              <p:nvPr/>
            </p:nvSpPr>
            <p:spPr bwMode="auto">
              <a:xfrm>
                <a:off x="4949" y="2024"/>
                <a:ext cx="0" cy="73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12" name="Line 127"/>
              <p:cNvSpPr>
                <a:spLocks noChangeShapeType="1"/>
              </p:cNvSpPr>
              <p:nvPr/>
            </p:nvSpPr>
            <p:spPr bwMode="auto">
              <a:xfrm>
                <a:off x="5172" y="2032"/>
                <a:ext cx="0" cy="457"/>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13" name="Line 128"/>
              <p:cNvSpPr>
                <a:spLocks noChangeShapeType="1"/>
              </p:cNvSpPr>
              <p:nvPr/>
            </p:nvSpPr>
            <p:spPr bwMode="auto">
              <a:xfrm flipH="1">
                <a:off x="2886" y="1556"/>
                <a:ext cx="787" cy="1496"/>
              </a:xfrm>
              <a:prstGeom prst="line">
                <a:avLst/>
              </a:prstGeom>
              <a:noFill/>
              <a:ln w="38100">
                <a:solidFill>
                  <a:srgbClr val="CC0099"/>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814" name="Line 129"/>
              <p:cNvSpPr>
                <a:spLocks noChangeShapeType="1"/>
              </p:cNvSpPr>
              <p:nvPr/>
            </p:nvSpPr>
            <p:spPr bwMode="auto">
              <a:xfrm>
                <a:off x="3670" y="1553"/>
                <a:ext cx="1734" cy="479"/>
              </a:xfrm>
              <a:prstGeom prst="line">
                <a:avLst/>
              </a:prstGeom>
              <a:noFill/>
              <a:ln w="38100">
                <a:solidFill>
                  <a:srgbClr val="0000CC"/>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815" name="Line 130"/>
              <p:cNvSpPr>
                <a:spLocks noChangeShapeType="1"/>
              </p:cNvSpPr>
              <p:nvPr/>
            </p:nvSpPr>
            <p:spPr bwMode="auto">
              <a:xfrm>
                <a:off x="3678" y="1545"/>
                <a:ext cx="5" cy="1767"/>
              </a:xfrm>
              <a:prstGeom prst="line">
                <a:avLst/>
              </a:prstGeom>
              <a:noFill/>
              <a:ln w="28575">
                <a:solidFill>
                  <a:srgbClr val="CC00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16" name="Line 131"/>
              <p:cNvSpPr>
                <a:spLocks noChangeShapeType="1"/>
              </p:cNvSpPr>
              <p:nvPr/>
            </p:nvSpPr>
            <p:spPr bwMode="auto">
              <a:xfrm>
                <a:off x="3670" y="1541"/>
                <a:ext cx="745" cy="1556"/>
              </a:xfrm>
              <a:prstGeom prst="line">
                <a:avLst/>
              </a:prstGeom>
              <a:noFill/>
              <a:ln w="38100">
                <a:solidFill>
                  <a:srgbClr val="CC00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17" name="Freeform 132"/>
              <p:cNvSpPr/>
              <p:nvPr/>
            </p:nvSpPr>
            <p:spPr bwMode="auto">
              <a:xfrm>
                <a:off x="3673" y="1934"/>
                <a:ext cx="174" cy="37"/>
              </a:xfrm>
              <a:custGeom>
                <a:avLst/>
                <a:gdLst>
                  <a:gd name="T0" fmla="*/ 0 w 103"/>
                  <a:gd name="T1" fmla="*/ 80 h 24"/>
                  <a:gd name="T2" fmla="*/ 162 w 103"/>
                  <a:gd name="T3" fmla="*/ 88 h 24"/>
                  <a:gd name="T4" fmla="*/ 372 w 103"/>
                  <a:gd name="T5" fmla="*/ 62 h 24"/>
                  <a:gd name="T6" fmla="*/ 497 w 103"/>
                  <a:gd name="T7" fmla="*/ 0 h 24"/>
                  <a:gd name="T8" fmla="*/ 0 60000 65536"/>
                  <a:gd name="T9" fmla="*/ 0 60000 65536"/>
                  <a:gd name="T10" fmla="*/ 0 60000 65536"/>
                  <a:gd name="T11" fmla="*/ 0 60000 65536"/>
                  <a:gd name="T12" fmla="*/ 0 w 103"/>
                  <a:gd name="T13" fmla="*/ 0 h 24"/>
                  <a:gd name="T14" fmla="*/ 103 w 103"/>
                  <a:gd name="T15" fmla="*/ 24 h 24"/>
                </a:gdLst>
                <a:ahLst/>
                <a:cxnLst>
                  <a:cxn ang="T8">
                    <a:pos x="T0" y="T1"/>
                  </a:cxn>
                  <a:cxn ang="T9">
                    <a:pos x="T2" y="T3"/>
                  </a:cxn>
                  <a:cxn ang="T10">
                    <a:pos x="T4" y="T5"/>
                  </a:cxn>
                  <a:cxn ang="T11">
                    <a:pos x="T6" y="T7"/>
                  </a:cxn>
                </a:cxnLst>
                <a:rect l="T12" t="T13" r="T14" b="T15"/>
                <a:pathLst>
                  <a:path w="103" h="24">
                    <a:moveTo>
                      <a:pt x="0" y="22"/>
                    </a:moveTo>
                    <a:lnTo>
                      <a:pt x="34" y="24"/>
                    </a:lnTo>
                    <a:lnTo>
                      <a:pt x="77" y="17"/>
                    </a:lnTo>
                    <a:lnTo>
                      <a:pt x="103" y="0"/>
                    </a:lnTo>
                  </a:path>
                </a:pathLst>
              </a:custGeom>
              <a:noFill/>
              <a:ln w="38100">
                <a:solidFill>
                  <a:srgbClr val="CC0099"/>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818" name="Text Box 133"/>
              <p:cNvSpPr txBox="1">
                <a:spLocks noChangeArrowheads="1"/>
              </p:cNvSpPr>
              <p:nvPr/>
            </p:nvSpPr>
            <p:spPr bwMode="auto">
              <a:xfrm>
                <a:off x="3357" y="1296"/>
                <a:ext cx="486"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chemeClr val="tx1"/>
                    </a:solidFill>
                    <a:latin typeface="Times New Roman" panose="02020603050405020304" pitchFamily="18" charset="0"/>
                  </a:rPr>
                  <a:t>O</a:t>
                </a:r>
                <a:endParaRPr kumimoji="1" lang="en-US" altLang="zh-CN" sz="2800" b="1">
                  <a:solidFill>
                    <a:schemeClr val="tx1"/>
                  </a:solidFill>
                  <a:latin typeface="Times New Roman" panose="02020603050405020304" pitchFamily="18" charset="0"/>
                </a:endParaRPr>
              </a:p>
            </p:txBody>
          </p:sp>
          <p:sp>
            <p:nvSpPr>
              <p:cNvPr id="32819" name="Text Box 134"/>
              <p:cNvSpPr txBox="1">
                <a:spLocks noChangeArrowheads="1"/>
              </p:cNvSpPr>
              <p:nvPr/>
            </p:nvSpPr>
            <p:spPr bwMode="auto">
              <a:xfrm>
                <a:off x="4331" y="1350"/>
                <a:ext cx="409"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0000CC"/>
                    </a:solidFill>
                    <a:latin typeface="Times New Roman" panose="02020603050405020304" pitchFamily="18" charset="0"/>
                  </a:rPr>
                  <a:t>R</a:t>
                </a:r>
                <a:endParaRPr kumimoji="1" lang="en-US" altLang="zh-CN" sz="2800" b="1">
                  <a:solidFill>
                    <a:srgbClr val="0000CC"/>
                  </a:solidFill>
                  <a:latin typeface="Times New Roman" panose="02020603050405020304" pitchFamily="18" charset="0"/>
                </a:endParaRPr>
              </a:p>
            </p:txBody>
          </p:sp>
          <p:sp>
            <p:nvSpPr>
              <p:cNvPr id="32820" name="Text Box 135"/>
              <p:cNvSpPr txBox="1">
                <a:spLocks noChangeArrowheads="1"/>
              </p:cNvSpPr>
              <p:nvPr/>
            </p:nvSpPr>
            <p:spPr bwMode="auto">
              <a:xfrm>
                <a:off x="5142" y="1577"/>
                <a:ext cx="570"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dirty="0" smtClean="0">
                    <a:solidFill>
                      <a:schemeClr val="tx1"/>
                    </a:solidFill>
                    <a:latin typeface="Times New Roman" panose="02020603050405020304" pitchFamily="18" charset="0"/>
                  </a:rPr>
                  <a:t>A</a:t>
                </a:r>
                <a:endParaRPr kumimoji="1" lang="en-US" altLang="zh-CN" sz="2800" b="1" dirty="0">
                  <a:solidFill>
                    <a:schemeClr val="tx1"/>
                  </a:solidFill>
                  <a:latin typeface="Times New Roman" panose="02020603050405020304" pitchFamily="18" charset="0"/>
                </a:endParaRPr>
              </a:p>
            </p:txBody>
          </p:sp>
        </p:grpSp>
        <p:sp>
          <p:nvSpPr>
            <p:cNvPr id="32785" name="Text Box 136"/>
            <p:cNvSpPr txBox="1">
              <a:spLocks noChangeArrowheads="1"/>
            </p:cNvSpPr>
            <p:nvPr/>
          </p:nvSpPr>
          <p:spPr bwMode="auto">
            <a:xfrm>
              <a:off x="3888" y="720"/>
              <a:ext cx="40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900" b="1">
                  <a:solidFill>
                    <a:srgbClr val="FF0000"/>
                  </a:solidFill>
                  <a:latin typeface="Times New Roman" panose="02020603050405020304" pitchFamily="18" charset="0"/>
                  <a:sym typeface="Symbol" panose="05050102010706020507" pitchFamily="18" charset="2"/>
                </a:rPr>
                <a:t> </a:t>
              </a:r>
              <a:r>
                <a:rPr kumimoji="1" lang="en-US" altLang="zh-CN" sz="2800" b="1">
                  <a:solidFill>
                    <a:srgbClr val="FF0000"/>
                  </a:solidFill>
                  <a:latin typeface="Times New Roman" panose="02020603050405020304" pitchFamily="18" charset="0"/>
                  <a:sym typeface="Symbol" panose="05050102010706020507" pitchFamily="18" charset="2"/>
                </a:rPr>
                <a:t></a:t>
              </a:r>
              <a:r>
                <a:rPr kumimoji="1" lang="en-US" altLang="zh-CN" sz="2800" b="1" i="1" baseline="-25000">
                  <a:solidFill>
                    <a:srgbClr val="FF0000"/>
                  </a:solidFill>
                  <a:latin typeface="Times New Roman" panose="02020603050405020304" pitchFamily="18" charset="0"/>
                  <a:sym typeface="Symbol" panose="05050102010706020507" pitchFamily="18" charset="2"/>
                </a:rPr>
                <a:t>i</a:t>
              </a:r>
              <a:endParaRPr kumimoji="1" lang="en-US" altLang="zh-CN" sz="2800" b="1" i="1" baseline="-25000">
                <a:solidFill>
                  <a:srgbClr val="FF0000"/>
                </a:solidFill>
                <a:latin typeface="Times New Roman" panose="02020603050405020304" pitchFamily="18" charset="0"/>
              </a:endParaRPr>
            </a:p>
          </p:txBody>
        </p:sp>
        <p:sp>
          <p:nvSpPr>
            <p:cNvPr id="32786" name="Line 137"/>
            <p:cNvSpPr>
              <a:spLocks noChangeShapeType="1"/>
            </p:cNvSpPr>
            <p:nvPr/>
          </p:nvSpPr>
          <p:spPr bwMode="auto">
            <a:xfrm flipV="1">
              <a:off x="4436" y="879"/>
              <a:ext cx="0" cy="313"/>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787" name="Line 138"/>
            <p:cNvSpPr>
              <a:spLocks noChangeShapeType="1"/>
            </p:cNvSpPr>
            <p:nvPr/>
          </p:nvSpPr>
          <p:spPr bwMode="auto">
            <a:xfrm flipV="1">
              <a:off x="4639" y="872"/>
              <a:ext cx="0" cy="183"/>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788" name="Line 139"/>
            <p:cNvSpPr>
              <a:spLocks noChangeShapeType="1"/>
            </p:cNvSpPr>
            <p:nvPr/>
          </p:nvSpPr>
          <p:spPr bwMode="auto">
            <a:xfrm>
              <a:off x="4429" y="956"/>
              <a:ext cx="210" cy="0"/>
            </a:xfrm>
            <a:prstGeom prst="line">
              <a:avLst/>
            </a:prstGeom>
            <a:noFill/>
            <a:ln w="28575">
              <a:solidFill>
                <a:srgbClr val="0000CC"/>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789" name="Text Box 140"/>
            <p:cNvSpPr txBox="1">
              <a:spLocks noChangeArrowheads="1"/>
            </p:cNvSpPr>
            <p:nvPr/>
          </p:nvSpPr>
          <p:spPr bwMode="auto">
            <a:xfrm>
              <a:off x="4442" y="667"/>
              <a:ext cx="24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0000FF"/>
                  </a:solidFill>
                  <a:latin typeface="Times New Roman" panose="02020603050405020304" pitchFamily="18" charset="0"/>
                </a:rPr>
                <a:t>b</a:t>
              </a:r>
              <a:endParaRPr kumimoji="1" lang="en-US" altLang="zh-CN" sz="2800" b="1">
                <a:solidFill>
                  <a:srgbClr val="0000FF"/>
                </a:solidFill>
                <a:latin typeface="Times New Roman" panose="02020603050405020304" pitchFamily="18" charset="0"/>
              </a:endParaRPr>
            </a:p>
          </p:txBody>
        </p:sp>
        <p:sp>
          <p:nvSpPr>
            <p:cNvPr id="32790" name="Text Box 141"/>
            <p:cNvSpPr txBox="1">
              <a:spLocks noChangeArrowheads="1"/>
            </p:cNvSpPr>
            <p:nvPr/>
          </p:nvSpPr>
          <p:spPr bwMode="auto">
            <a:xfrm>
              <a:off x="4752" y="624"/>
              <a:ext cx="2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chemeClr val="tx1"/>
                  </a:solidFill>
                  <a:latin typeface="Times New Roman" panose="02020603050405020304" pitchFamily="18" charset="0"/>
                </a:rPr>
                <a:t>B</a:t>
              </a:r>
              <a:endParaRPr kumimoji="1" lang="en-US" altLang="zh-CN" sz="2800" b="1">
                <a:solidFill>
                  <a:schemeClr val="tx1"/>
                </a:solidFill>
                <a:latin typeface="Times New Roman" panose="02020603050405020304" pitchFamily="18" charset="0"/>
              </a:endParaRPr>
            </a:p>
          </p:txBody>
        </p:sp>
        <p:grpSp>
          <p:nvGrpSpPr>
            <p:cNvPr id="32791" name="Group 142"/>
            <p:cNvGrpSpPr/>
            <p:nvPr/>
          </p:nvGrpSpPr>
          <p:grpSpPr bwMode="auto">
            <a:xfrm>
              <a:off x="3408" y="864"/>
              <a:ext cx="2064" cy="1085"/>
              <a:chOff x="3072" y="2016"/>
              <a:chExt cx="2400" cy="1272"/>
            </a:xfrm>
          </p:grpSpPr>
          <p:sp>
            <p:nvSpPr>
              <p:cNvPr id="32792" name="Text Box 143"/>
              <p:cNvSpPr txBox="1">
                <a:spLocks noChangeArrowheads="1"/>
              </p:cNvSpPr>
              <p:nvPr/>
            </p:nvSpPr>
            <p:spPr bwMode="auto">
              <a:xfrm>
                <a:off x="3072" y="2927"/>
                <a:ext cx="336"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600" b="1">
                    <a:solidFill>
                      <a:srgbClr val="FF6600"/>
                    </a:solidFill>
                    <a:latin typeface="Times New Roman" panose="02020603050405020304" pitchFamily="18" charset="0"/>
                  </a:rPr>
                  <a:t>-2</a:t>
                </a:r>
                <a:endParaRPr kumimoji="1" lang="en-US" altLang="zh-CN" sz="2600" b="1">
                  <a:solidFill>
                    <a:srgbClr val="FF6600"/>
                  </a:solidFill>
                  <a:latin typeface="Times New Roman" panose="02020603050405020304" pitchFamily="18" charset="0"/>
                </a:endParaRPr>
              </a:p>
            </p:txBody>
          </p:sp>
          <p:sp>
            <p:nvSpPr>
              <p:cNvPr id="32793" name="Text Box 144"/>
              <p:cNvSpPr txBox="1">
                <a:spLocks noChangeArrowheads="1"/>
              </p:cNvSpPr>
              <p:nvPr/>
            </p:nvSpPr>
            <p:spPr bwMode="auto">
              <a:xfrm>
                <a:off x="3305" y="2894"/>
                <a:ext cx="334"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FF6600"/>
                    </a:solidFill>
                    <a:latin typeface="Times New Roman" panose="02020603050405020304" pitchFamily="18" charset="0"/>
                  </a:rPr>
                  <a:t>-1</a:t>
                </a:r>
                <a:endParaRPr kumimoji="1" lang="en-US" altLang="zh-CN" sz="2400" b="1">
                  <a:solidFill>
                    <a:srgbClr val="FF6600"/>
                  </a:solidFill>
                  <a:latin typeface="Times New Roman" panose="02020603050405020304" pitchFamily="18" charset="0"/>
                </a:endParaRPr>
              </a:p>
            </p:txBody>
          </p:sp>
          <p:sp>
            <p:nvSpPr>
              <p:cNvPr id="32794" name="Text Box 145"/>
              <p:cNvSpPr txBox="1">
                <a:spLocks noChangeArrowheads="1"/>
              </p:cNvSpPr>
              <p:nvPr/>
            </p:nvSpPr>
            <p:spPr bwMode="auto">
              <a:xfrm>
                <a:off x="3505" y="2880"/>
                <a:ext cx="33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800" b="1">
                    <a:solidFill>
                      <a:srgbClr val="FF6600"/>
                    </a:solidFill>
                    <a:latin typeface="Times New Roman" panose="02020603050405020304" pitchFamily="18" charset="0"/>
                  </a:rPr>
                  <a:t>0</a:t>
                </a:r>
                <a:endParaRPr kumimoji="1" lang="en-US" altLang="zh-CN" sz="2800" b="1">
                  <a:solidFill>
                    <a:srgbClr val="FF6600"/>
                  </a:solidFill>
                  <a:latin typeface="Times New Roman" panose="02020603050405020304" pitchFamily="18" charset="0"/>
                </a:endParaRPr>
              </a:p>
            </p:txBody>
          </p:sp>
          <p:sp>
            <p:nvSpPr>
              <p:cNvPr id="32795" name="Text Box 146"/>
              <p:cNvSpPr txBox="1">
                <a:spLocks noChangeArrowheads="1"/>
              </p:cNvSpPr>
              <p:nvPr/>
            </p:nvSpPr>
            <p:spPr bwMode="auto">
              <a:xfrm>
                <a:off x="3792" y="2832"/>
                <a:ext cx="33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1</a:t>
                </a:r>
                <a:endParaRPr kumimoji="1" lang="en-US" altLang="zh-CN" sz="2800" b="1">
                  <a:solidFill>
                    <a:srgbClr val="FF6600"/>
                  </a:solidFill>
                  <a:latin typeface="Times New Roman" panose="02020603050405020304" pitchFamily="18" charset="0"/>
                </a:endParaRPr>
              </a:p>
            </p:txBody>
          </p:sp>
          <p:sp>
            <p:nvSpPr>
              <p:cNvPr id="32796" name="Text Box 147"/>
              <p:cNvSpPr txBox="1">
                <a:spLocks noChangeArrowheads="1"/>
              </p:cNvSpPr>
              <p:nvPr/>
            </p:nvSpPr>
            <p:spPr bwMode="auto">
              <a:xfrm>
                <a:off x="4032" y="2737"/>
                <a:ext cx="33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2</a:t>
                </a:r>
                <a:endParaRPr kumimoji="1" lang="en-US" altLang="zh-CN" sz="2800" b="1">
                  <a:solidFill>
                    <a:srgbClr val="FF6600"/>
                  </a:solidFill>
                  <a:latin typeface="Times New Roman" panose="02020603050405020304" pitchFamily="18" charset="0"/>
                </a:endParaRPr>
              </a:p>
            </p:txBody>
          </p:sp>
          <p:sp>
            <p:nvSpPr>
              <p:cNvPr id="32797" name="Text Box 148"/>
              <p:cNvSpPr txBox="1">
                <a:spLocks noChangeArrowheads="1"/>
              </p:cNvSpPr>
              <p:nvPr/>
            </p:nvSpPr>
            <p:spPr bwMode="auto">
              <a:xfrm>
                <a:off x="4272" y="2592"/>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3</a:t>
                </a:r>
                <a:endParaRPr kumimoji="1" lang="en-US" altLang="zh-CN" sz="2800" b="1">
                  <a:solidFill>
                    <a:srgbClr val="FF6600"/>
                  </a:solidFill>
                  <a:latin typeface="Times New Roman" panose="02020603050405020304" pitchFamily="18" charset="0"/>
                </a:endParaRPr>
              </a:p>
            </p:txBody>
          </p:sp>
          <p:sp>
            <p:nvSpPr>
              <p:cNvPr id="32798" name="Text Box 149"/>
              <p:cNvSpPr txBox="1">
                <a:spLocks noChangeArrowheads="1"/>
              </p:cNvSpPr>
              <p:nvPr/>
            </p:nvSpPr>
            <p:spPr bwMode="auto">
              <a:xfrm>
                <a:off x="4512" y="2448"/>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4</a:t>
                </a:r>
                <a:endParaRPr kumimoji="1" lang="en-US" altLang="zh-CN" sz="2800" b="1">
                  <a:solidFill>
                    <a:srgbClr val="FF6600"/>
                  </a:solidFill>
                  <a:latin typeface="Times New Roman" panose="02020603050405020304" pitchFamily="18" charset="0"/>
                </a:endParaRPr>
              </a:p>
            </p:txBody>
          </p:sp>
          <p:sp>
            <p:nvSpPr>
              <p:cNvPr id="32799" name="Text Box 150"/>
              <p:cNvSpPr txBox="1">
                <a:spLocks noChangeArrowheads="1"/>
              </p:cNvSpPr>
              <p:nvPr/>
            </p:nvSpPr>
            <p:spPr bwMode="auto">
              <a:xfrm>
                <a:off x="4752" y="2353"/>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5</a:t>
                </a:r>
                <a:endParaRPr kumimoji="1" lang="en-US" altLang="zh-CN" sz="2800" b="1">
                  <a:solidFill>
                    <a:srgbClr val="FF6600"/>
                  </a:solidFill>
                  <a:latin typeface="Times New Roman" panose="02020603050405020304" pitchFamily="18" charset="0"/>
                </a:endParaRPr>
              </a:p>
            </p:txBody>
          </p:sp>
          <p:sp>
            <p:nvSpPr>
              <p:cNvPr id="32800" name="Text Box 151"/>
              <p:cNvSpPr txBox="1">
                <a:spLocks noChangeArrowheads="1"/>
              </p:cNvSpPr>
              <p:nvPr/>
            </p:nvSpPr>
            <p:spPr bwMode="auto">
              <a:xfrm>
                <a:off x="4944" y="2160"/>
                <a:ext cx="33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6</a:t>
                </a:r>
                <a:endParaRPr kumimoji="1" lang="en-US" altLang="zh-CN" sz="2800" b="1">
                  <a:solidFill>
                    <a:srgbClr val="FF6600"/>
                  </a:solidFill>
                  <a:latin typeface="Times New Roman" panose="02020603050405020304" pitchFamily="18" charset="0"/>
                </a:endParaRPr>
              </a:p>
            </p:txBody>
          </p:sp>
          <p:sp>
            <p:nvSpPr>
              <p:cNvPr id="32801" name="Text Box 152"/>
              <p:cNvSpPr txBox="1">
                <a:spLocks noChangeArrowheads="1"/>
              </p:cNvSpPr>
              <p:nvPr/>
            </p:nvSpPr>
            <p:spPr bwMode="auto">
              <a:xfrm>
                <a:off x="5136" y="2016"/>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7</a:t>
                </a:r>
                <a:endParaRPr kumimoji="1" lang="en-US" altLang="zh-CN" sz="2800" b="1">
                  <a:solidFill>
                    <a:srgbClr val="FF6600"/>
                  </a:solidFill>
                  <a:latin typeface="Times New Roman" panose="02020603050405020304" pitchFamily="18" charset="0"/>
                </a:endParaRPr>
              </a:p>
            </p:txBody>
          </p:sp>
        </p:grpSp>
      </p:grpSp>
      <mc:AlternateContent xmlns:mc="http://schemas.openxmlformats.org/markup-compatibility/2006">
        <mc:Choice xmlns:a14="http://schemas.microsoft.com/office/drawing/2010/main" Requires="a14">
          <p:sp>
            <p:nvSpPr>
              <p:cNvPr id="3" name="文本框 2"/>
              <p:cNvSpPr txBox="1"/>
              <p:nvPr/>
            </p:nvSpPr>
            <p:spPr>
              <a:xfrm>
                <a:off x="2805906" y="2270025"/>
                <a:ext cx="1873152" cy="692241"/>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nary>
                        <m:naryPr>
                          <m:ctrlPr>
                            <a:rPr lang="zh-CN" altLang="en-US" sz="2000" i="1" smtClean="0">
                              <a:latin typeface="Cambria Math" panose="02040503050406030204" pitchFamily="18" charset="0"/>
                            </a:rPr>
                          </m:ctrlPr>
                        </m:naryPr>
                        <m:sub>
                          <m:r>
                            <m:rPr>
                              <m:brk m:alnAt="23"/>
                            </m:rPr>
                            <a:rPr lang="en-US" altLang="zh-CN" sz="2000" b="0" i="1" smtClean="0">
                              <a:latin typeface="Cambria Math" panose="02040503050406030204" pitchFamily="18" charset="0"/>
                            </a:rPr>
                            <m:t>0</m:t>
                          </m:r>
                        </m:sub>
                        <m:sup>
                          <m:r>
                            <a:rPr lang="en-US" altLang="zh-CN" sz="2000" b="0" i="1" smtClean="0">
                              <a:latin typeface="Cambria Math" panose="02040503050406030204" pitchFamily="18" charset="0"/>
                            </a:rPr>
                            <m:t>𝐿</m:t>
                          </m:r>
                        </m:sup>
                        <m:e>
                          <m:sSub>
                            <m:sSubPr>
                              <m:ctrlPr>
                                <a:rPr lang="en-US" altLang="zh-CN" sz="2000" i="1" smtClean="0">
                                  <a:latin typeface="Cambria Math" panose="02040503050406030204" pitchFamily="18" charset="0"/>
                                </a:rPr>
                              </m:ctrlPr>
                            </m:sSubPr>
                            <m:e>
                              <m:r>
                                <a:rPr lang="zh-CN" altLang="en-US" sz="2000" i="1" smtClean="0">
                                  <a:latin typeface="Cambria Math" panose="02040503050406030204" pitchFamily="18" charset="0"/>
                                </a:rPr>
                                <m:t>𝜎</m:t>
                              </m:r>
                            </m:e>
                            <m:sub>
                              <m:r>
                                <a:rPr lang="en-US" altLang="zh-CN" sz="2000" b="0" i="1" smtClean="0">
                                  <a:latin typeface="Cambria Math" panose="02040503050406030204" pitchFamily="18" charset="0"/>
                                </a:rPr>
                                <m:t>𝑛</m:t>
                              </m:r>
                            </m:sub>
                          </m:sSub>
                          <m:func>
                            <m:funcPr>
                              <m:ctrlPr>
                                <a:rPr lang="en-US" altLang="zh-CN" sz="2000" i="1" smtClean="0">
                                  <a:latin typeface="Cambria Math" panose="02040503050406030204" pitchFamily="18" charset="0"/>
                                </a:rPr>
                              </m:ctrlPr>
                            </m:funcPr>
                            <m:fName>
                              <m:r>
                                <m:rPr>
                                  <m:sty m:val="p"/>
                                </m:rPr>
                                <a:rPr lang="en-US" altLang="zh-CN" sz="2000" i="0" smtClean="0">
                                  <a:latin typeface="Cambria Math" panose="02040503050406030204" pitchFamily="18" charset="0"/>
                                </a:rPr>
                                <m:t>tan</m:t>
                              </m:r>
                            </m:fName>
                            <m:e>
                              <m:r>
                                <a:rPr lang="zh-CN" altLang="en-US" sz="2000" i="1" smtClean="0">
                                  <a:latin typeface="Cambria Math" panose="02040503050406030204" pitchFamily="18" charset="0"/>
                                </a:rPr>
                                <m:t>𝜑</m:t>
                              </m:r>
                            </m:e>
                          </m:func>
                          <m:r>
                            <a:rPr lang="en-US" altLang="zh-CN" sz="2000" b="0" i="1" smtClean="0">
                              <a:latin typeface="Cambria Math" panose="02040503050406030204" pitchFamily="18" charset="0"/>
                            </a:rPr>
                            <m:t>𝑑𝑙</m:t>
                          </m:r>
                        </m:e>
                      </m:nary>
                    </m:oMath>
                  </m:oMathPara>
                </a14:m>
                <a:endParaRPr lang="zh-CN" altLang="en-US" sz="2000" dirty="0">
                  <a:latin typeface="Times New Roman" panose="02020603050405020304" pitchFamily="18" charset="0"/>
                  <a:cs typeface="Times New Roman" panose="02020603050405020304" pitchFamily="18"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2805906" y="2270025"/>
                <a:ext cx="1873152" cy="692241"/>
              </a:xfrm>
              <a:prstGeom prst="rect">
                <a:avLst/>
              </a:prstGeom>
              <a:blipFill rotWithShape="1">
                <a:blip r:embed="rId1"/>
                <a:stretch>
                  <a:fillRect l="-25" t="-77" r="20" b="90"/>
                </a:stretch>
              </a:blipFill>
            </p:spPr>
            <p:txBody>
              <a:bodyPr/>
              <a:lstStyle/>
              <a:p>
                <a:r>
                  <a:rPr lang="zh-CN" altLang="en-US">
                    <a:noFill/>
                  </a:rPr>
                  <a:t> </a:t>
                </a:r>
              </a:p>
            </p:txBody>
          </p:sp>
        </mc:Fallback>
      </mc:AlternateContent>
      <p:sp>
        <p:nvSpPr>
          <p:cNvPr id="100" name="Rectangle 6"/>
          <p:cNvSpPr>
            <a:spLocks noChangeArrowheads="1"/>
          </p:cNvSpPr>
          <p:nvPr/>
        </p:nvSpPr>
        <p:spPr bwMode="auto">
          <a:xfrm>
            <a:off x="0" y="-7396"/>
            <a:ext cx="41148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黏性土坡的稳定性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56836"/>
                                        </p:tgtEl>
                                        <p:attrNameLst>
                                          <p:attrName>style.visibility</p:attrName>
                                        </p:attrNameLst>
                                      </p:cBhvr>
                                      <p:to>
                                        <p:strVal val="visible"/>
                                      </p:to>
                                    </p:set>
                                    <p:animEffect transition="in" filter="dissolve">
                                      <p:cBhvr>
                                        <p:cTn id="7" dur="500"/>
                                        <p:tgtEl>
                                          <p:spTgt spid="75683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56840"/>
                                        </p:tgtEl>
                                        <p:attrNameLst>
                                          <p:attrName>style.visibility</p:attrName>
                                        </p:attrNameLst>
                                      </p:cBhvr>
                                      <p:to>
                                        <p:strVal val="visible"/>
                                      </p:to>
                                    </p:set>
                                    <p:animEffect transition="in" filter="wipe(up)">
                                      <p:cBhvr>
                                        <p:cTn id="17" dur="500"/>
                                        <p:tgtEl>
                                          <p:spTgt spid="75684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56844"/>
                                        </p:tgtEl>
                                        <p:attrNameLst>
                                          <p:attrName>style.visibility</p:attrName>
                                        </p:attrNameLst>
                                      </p:cBhvr>
                                      <p:to>
                                        <p:strVal val="visible"/>
                                      </p:to>
                                    </p:set>
                                    <p:animEffect transition="in" filter="wipe(left)">
                                      <p:cBhvr>
                                        <p:cTn id="22" dur="500"/>
                                        <p:tgtEl>
                                          <p:spTgt spid="756844"/>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756845"/>
                                        </p:tgtEl>
                                        <p:attrNameLst>
                                          <p:attrName>style.visibility</p:attrName>
                                        </p:attrNameLst>
                                      </p:cBhvr>
                                      <p:to>
                                        <p:strVal val="visible"/>
                                      </p:to>
                                    </p:set>
                                    <p:animEffect transition="in" filter="slide(fromLeft)">
                                      <p:cBhvr>
                                        <p:cTn id="27" dur="500"/>
                                        <p:tgtEl>
                                          <p:spTgt spid="756845"/>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756846"/>
                                        </p:tgtEl>
                                        <p:attrNameLst>
                                          <p:attrName>style.visibility</p:attrName>
                                        </p:attrNameLst>
                                      </p:cBhvr>
                                      <p:to>
                                        <p:strVal val="visible"/>
                                      </p:to>
                                    </p:set>
                                    <p:animEffect transition="in" filter="wipe(left)">
                                      <p:cBhvr>
                                        <p:cTn id="31" dur="500"/>
                                        <p:tgtEl>
                                          <p:spTgt spid="75684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756848"/>
                                        </p:tgtEl>
                                        <p:attrNameLst>
                                          <p:attrName>style.visibility</p:attrName>
                                        </p:attrNameLst>
                                      </p:cBhvr>
                                      <p:to>
                                        <p:strVal val="visible"/>
                                      </p:to>
                                    </p:set>
                                    <p:animEffect transition="in" filter="wipe(up)">
                                      <p:cBhvr>
                                        <p:cTn id="36" dur="500"/>
                                        <p:tgtEl>
                                          <p:spTgt spid="75684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756849"/>
                                        </p:tgtEl>
                                        <p:attrNameLst>
                                          <p:attrName>style.visibility</p:attrName>
                                        </p:attrNameLst>
                                      </p:cBhvr>
                                      <p:to>
                                        <p:strVal val="visible"/>
                                      </p:to>
                                    </p:set>
                                    <p:animEffect transition="in" filter="wipe(left)">
                                      <p:cBhvr>
                                        <p:cTn id="41" dur="500"/>
                                        <p:tgtEl>
                                          <p:spTgt spid="756849"/>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756935"/>
                                        </p:tgtEl>
                                        <p:attrNameLst>
                                          <p:attrName>style.visibility</p:attrName>
                                        </p:attrNameLst>
                                      </p:cBhvr>
                                      <p:to>
                                        <p:strVal val="visible"/>
                                      </p:to>
                                    </p:set>
                                    <p:animEffect transition="in" filter="wipe(up)">
                                      <p:cBhvr>
                                        <p:cTn id="46" dur="500"/>
                                        <p:tgtEl>
                                          <p:spTgt spid="756935"/>
                                        </p:tgtEl>
                                      </p:cBhvr>
                                    </p:animEffect>
                                  </p:childTnLst>
                                </p:cTn>
                              </p:par>
                            </p:childTnLst>
                          </p:cTn>
                        </p:par>
                        <p:par>
                          <p:cTn id="47" fill="hold">
                            <p:stCondLst>
                              <p:cond delay="500"/>
                            </p:stCondLst>
                            <p:childTnLst>
                              <p:par>
                                <p:cTn id="48" presetID="9" presetClass="entr" presetSubtype="0" fill="hold" nodeType="afterEffect">
                                  <p:stCondLst>
                                    <p:cond delay="0"/>
                                  </p:stCondLst>
                                  <p:childTnLst>
                                    <p:set>
                                      <p:cBhvr>
                                        <p:cTn id="49" dur="1" fill="hold">
                                          <p:stCondLst>
                                            <p:cond delay="0"/>
                                          </p:stCondLst>
                                        </p:cTn>
                                        <p:tgtEl>
                                          <p:spTgt spid="5"/>
                                        </p:tgtEl>
                                        <p:attrNameLst>
                                          <p:attrName>style.visibility</p:attrName>
                                        </p:attrNameLst>
                                      </p:cBhvr>
                                      <p:to>
                                        <p:strVal val="visible"/>
                                      </p:to>
                                    </p:set>
                                    <p:animEffect transition="in" filter="dissolve">
                                      <p:cBhvr>
                                        <p:cTn id="5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6836" grpId="0" autoUpdateAnimBg="0"/>
      <p:bldP spid="756840" grpId="0" autoUpdateAnimBg="0"/>
      <p:bldP spid="756844" grpId="0" autoUpdateAnimBg="0"/>
      <p:bldP spid="756845" grpId="0" bldLvl="0" animBg="1"/>
      <p:bldP spid="756846" grpId="0" autoUpdateAnimBg="0"/>
      <p:bldP spid="756848" grpId="0" bldLvl="0" animBg="1"/>
      <p:bldP spid="756849" grpId="0" bldLvl="0" animBg="1" autoUpdateAnimBg="0"/>
      <p:bldP spid="756935" grpId="0" animBg="1"/>
    </p:bldLst>
  </p:timing>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5" name="Rectangle 3"/>
          <p:cNvSpPr>
            <a:spLocks noGrp="1" noChangeArrowheads="1"/>
          </p:cNvSpPr>
          <p:nvPr>
            <p:ph type="body" sz="half" idx="1"/>
          </p:nvPr>
        </p:nvSpPr>
        <p:spPr bwMode="auto">
          <a:xfrm>
            <a:off x="239713" y="990600"/>
            <a:ext cx="31242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indent="0" algn="just" eaLnBrk="1" hangingPunct="1">
              <a:buFontTx/>
              <a:buNone/>
            </a:pPr>
            <a:r>
              <a:rPr lang="zh-CN" altLang="en-US" b="1" dirty="0" smtClean="0">
                <a:solidFill>
                  <a:srgbClr val="993300"/>
                </a:solidFill>
                <a:ea typeface="隶书" panose="02010509060101010101" pitchFamily="49" charset="-122"/>
              </a:rPr>
              <a:t>安全系数</a:t>
            </a:r>
            <a:r>
              <a:rPr lang="en-US" altLang="zh-CN" b="1" i="1" dirty="0" smtClean="0">
                <a:solidFill>
                  <a:srgbClr val="993300"/>
                </a:solidFill>
                <a:ea typeface="隶书" panose="02010509060101010101" pitchFamily="49" charset="-122"/>
              </a:rPr>
              <a:t>K</a:t>
            </a:r>
            <a:r>
              <a:rPr lang="zh-CN" altLang="en-US" b="1" dirty="0" smtClean="0">
                <a:solidFill>
                  <a:srgbClr val="993300"/>
                </a:solidFill>
                <a:ea typeface="隶书" panose="02010509060101010101" pitchFamily="49" charset="-122"/>
              </a:rPr>
              <a:t>定义</a:t>
            </a:r>
            <a:endParaRPr lang="zh-CN" altLang="en-US" b="1" dirty="0" smtClean="0">
              <a:solidFill>
                <a:srgbClr val="993300"/>
              </a:solidFill>
              <a:ea typeface="隶书" panose="02010509060101010101" pitchFamily="49" charset="-122"/>
            </a:endParaRPr>
          </a:p>
        </p:txBody>
      </p:sp>
      <p:grpSp>
        <p:nvGrpSpPr>
          <p:cNvPr id="2" name="Group 54"/>
          <p:cNvGrpSpPr/>
          <p:nvPr/>
        </p:nvGrpSpPr>
        <p:grpSpPr bwMode="auto">
          <a:xfrm>
            <a:off x="4419600" y="1600200"/>
            <a:ext cx="4267200" cy="3090863"/>
            <a:chOff x="2976" y="117"/>
            <a:chExt cx="2688" cy="1947"/>
          </a:xfrm>
        </p:grpSpPr>
        <p:sp>
          <p:nvSpPr>
            <p:cNvPr id="33807" name="Text Box 55"/>
            <p:cNvSpPr txBox="1">
              <a:spLocks noChangeArrowheads="1"/>
            </p:cNvSpPr>
            <p:nvPr/>
          </p:nvSpPr>
          <p:spPr bwMode="auto">
            <a:xfrm>
              <a:off x="2976" y="1737"/>
              <a:ext cx="41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dirty="0" smtClean="0">
                  <a:solidFill>
                    <a:schemeClr val="tx1"/>
                  </a:solidFill>
                  <a:latin typeface="Times New Roman" panose="02020603050405020304" pitchFamily="18" charset="0"/>
                </a:rPr>
                <a:t>C</a:t>
              </a:r>
              <a:endParaRPr kumimoji="1" lang="en-US" altLang="zh-CN" sz="2800" b="1" dirty="0">
                <a:solidFill>
                  <a:schemeClr val="tx1"/>
                </a:solidFill>
                <a:latin typeface="Times New Roman" panose="02020603050405020304" pitchFamily="18" charset="0"/>
              </a:endParaRPr>
            </a:p>
          </p:txBody>
        </p:sp>
        <p:grpSp>
          <p:nvGrpSpPr>
            <p:cNvPr id="33808" name="Group 56"/>
            <p:cNvGrpSpPr/>
            <p:nvPr/>
          </p:nvGrpSpPr>
          <p:grpSpPr bwMode="auto">
            <a:xfrm>
              <a:off x="3052" y="117"/>
              <a:ext cx="2612" cy="1921"/>
              <a:chOff x="2633" y="1296"/>
              <a:chExt cx="3079" cy="2016"/>
            </a:xfrm>
          </p:grpSpPr>
          <p:sp>
            <p:nvSpPr>
              <p:cNvPr id="33826" name="Freeform 57"/>
              <p:cNvSpPr/>
              <p:nvPr/>
            </p:nvSpPr>
            <p:spPr bwMode="auto">
              <a:xfrm>
                <a:off x="2633" y="2032"/>
                <a:ext cx="3022" cy="1189"/>
              </a:xfrm>
              <a:custGeom>
                <a:avLst/>
                <a:gdLst>
                  <a:gd name="T0" fmla="*/ 0 w 1785"/>
                  <a:gd name="T1" fmla="*/ 2496 h 763"/>
                  <a:gd name="T2" fmla="*/ 1339 w 1785"/>
                  <a:gd name="T3" fmla="*/ 2506 h 763"/>
                  <a:gd name="T4" fmla="*/ 6647 w 1785"/>
                  <a:gd name="T5" fmla="*/ 0 h 763"/>
                  <a:gd name="T6" fmla="*/ 8661 w 1785"/>
                  <a:gd name="T7" fmla="*/ 0 h 763"/>
                  <a:gd name="T8" fmla="*/ 7920 w 1785"/>
                  <a:gd name="T9" fmla="*/ 0 h 763"/>
                  <a:gd name="T10" fmla="*/ 7652 w 1785"/>
                  <a:gd name="T11" fmla="*/ 597 h 763"/>
                  <a:gd name="T12" fmla="*/ 7254 w 1785"/>
                  <a:gd name="T13" fmla="*/ 1153 h 763"/>
                  <a:gd name="T14" fmla="*/ 6931 w 1785"/>
                  <a:gd name="T15" fmla="*/ 1487 h 763"/>
                  <a:gd name="T16" fmla="*/ 6589 w 1785"/>
                  <a:gd name="T17" fmla="*/ 1797 h 763"/>
                  <a:gd name="T18" fmla="*/ 6091 w 1785"/>
                  <a:gd name="T19" fmla="*/ 2135 h 763"/>
                  <a:gd name="T20" fmla="*/ 5484 w 1785"/>
                  <a:gd name="T21" fmla="*/ 2453 h 763"/>
                  <a:gd name="T22" fmla="*/ 5018 w 1785"/>
                  <a:gd name="T23" fmla="*/ 2615 h 763"/>
                  <a:gd name="T24" fmla="*/ 4425 w 1785"/>
                  <a:gd name="T25" fmla="*/ 2752 h 763"/>
                  <a:gd name="T26" fmla="*/ 3887 w 1785"/>
                  <a:gd name="T27" fmla="*/ 2841 h 763"/>
                  <a:gd name="T28" fmla="*/ 3213 w 1785"/>
                  <a:gd name="T29" fmla="*/ 2888 h 763"/>
                  <a:gd name="T30" fmla="*/ 2760 w 1785"/>
                  <a:gd name="T31" fmla="*/ 2888 h 763"/>
                  <a:gd name="T32" fmla="*/ 2255 w 1785"/>
                  <a:gd name="T33" fmla="*/ 2861 h 763"/>
                  <a:gd name="T34" fmla="*/ 1639 w 1785"/>
                  <a:gd name="T35" fmla="*/ 2771 h 763"/>
                  <a:gd name="T36" fmla="*/ 1150 w 1785"/>
                  <a:gd name="T37" fmla="*/ 2652 h 763"/>
                  <a:gd name="T38" fmla="*/ 733 w 1785"/>
                  <a:gd name="T39" fmla="*/ 2523 h 763"/>
                  <a:gd name="T40" fmla="*/ 650 w 1785"/>
                  <a:gd name="T41" fmla="*/ 2506 h 76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785"/>
                  <a:gd name="T64" fmla="*/ 0 h 763"/>
                  <a:gd name="T65" fmla="*/ 1785 w 1785"/>
                  <a:gd name="T66" fmla="*/ 763 h 76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785" h="763">
                    <a:moveTo>
                      <a:pt x="0" y="660"/>
                    </a:moveTo>
                    <a:lnTo>
                      <a:pt x="276" y="662"/>
                    </a:lnTo>
                    <a:lnTo>
                      <a:pt x="1370" y="0"/>
                    </a:lnTo>
                    <a:lnTo>
                      <a:pt x="1785" y="0"/>
                    </a:lnTo>
                    <a:lnTo>
                      <a:pt x="1632" y="0"/>
                    </a:lnTo>
                    <a:lnTo>
                      <a:pt x="1577" y="158"/>
                    </a:lnTo>
                    <a:lnTo>
                      <a:pt x="1495" y="305"/>
                    </a:lnTo>
                    <a:lnTo>
                      <a:pt x="1428" y="393"/>
                    </a:lnTo>
                    <a:lnTo>
                      <a:pt x="1358" y="475"/>
                    </a:lnTo>
                    <a:lnTo>
                      <a:pt x="1255" y="564"/>
                    </a:lnTo>
                    <a:lnTo>
                      <a:pt x="1130" y="648"/>
                    </a:lnTo>
                    <a:lnTo>
                      <a:pt x="1034" y="691"/>
                    </a:lnTo>
                    <a:lnTo>
                      <a:pt x="912" y="727"/>
                    </a:lnTo>
                    <a:lnTo>
                      <a:pt x="801" y="751"/>
                    </a:lnTo>
                    <a:lnTo>
                      <a:pt x="662" y="763"/>
                    </a:lnTo>
                    <a:lnTo>
                      <a:pt x="569" y="763"/>
                    </a:lnTo>
                    <a:lnTo>
                      <a:pt x="465" y="756"/>
                    </a:lnTo>
                    <a:lnTo>
                      <a:pt x="338" y="732"/>
                    </a:lnTo>
                    <a:lnTo>
                      <a:pt x="237" y="701"/>
                    </a:lnTo>
                    <a:lnTo>
                      <a:pt x="151" y="667"/>
                    </a:lnTo>
                    <a:lnTo>
                      <a:pt x="134" y="662"/>
                    </a:lnTo>
                  </a:path>
                </a:pathLst>
              </a:custGeom>
              <a:solidFill>
                <a:srgbClr val="66FF66">
                  <a:alpha val="50195"/>
                </a:srgbClr>
              </a:solidFill>
              <a:ln w="38100">
                <a:solidFill>
                  <a:srgbClr val="008000"/>
                </a:solidFill>
                <a:round/>
              </a:ln>
            </p:spPr>
            <p:txBody>
              <a:bodyPr/>
              <a:lstStyle/>
              <a:p>
                <a:endParaRPr lang="zh-CN" altLang="en-US"/>
              </a:p>
            </p:txBody>
          </p:sp>
          <p:sp>
            <p:nvSpPr>
              <p:cNvPr id="33827" name="Line 58"/>
              <p:cNvSpPr>
                <a:spLocks noChangeShapeType="1"/>
              </p:cNvSpPr>
              <p:nvPr/>
            </p:nvSpPr>
            <p:spPr bwMode="auto">
              <a:xfrm flipV="1">
                <a:off x="3121" y="3045"/>
                <a:ext cx="0" cy="104"/>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28" name="Line 59"/>
              <p:cNvSpPr>
                <a:spLocks noChangeShapeType="1"/>
              </p:cNvSpPr>
              <p:nvPr/>
            </p:nvSpPr>
            <p:spPr bwMode="auto">
              <a:xfrm flipV="1">
                <a:off x="3327" y="2932"/>
                <a:ext cx="0" cy="26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29" name="Line 60"/>
              <p:cNvSpPr>
                <a:spLocks noChangeShapeType="1"/>
              </p:cNvSpPr>
              <p:nvPr/>
            </p:nvSpPr>
            <p:spPr bwMode="auto">
              <a:xfrm flipV="1">
                <a:off x="3563" y="2826"/>
                <a:ext cx="0" cy="40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30" name="Line 61"/>
              <p:cNvSpPr>
                <a:spLocks noChangeShapeType="1"/>
              </p:cNvSpPr>
              <p:nvPr/>
            </p:nvSpPr>
            <p:spPr bwMode="auto">
              <a:xfrm flipH="1" flipV="1">
                <a:off x="3803" y="2660"/>
                <a:ext cx="0" cy="55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31" name="Line 62"/>
              <p:cNvSpPr>
                <a:spLocks noChangeShapeType="1"/>
              </p:cNvSpPr>
              <p:nvPr/>
            </p:nvSpPr>
            <p:spPr bwMode="auto">
              <a:xfrm flipH="1" flipV="1">
                <a:off x="4035" y="2535"/>
                <a:ext cx="0" cy="656"/>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32" name="Line 63"/>
              <p:cNvSpPr>
                <a:spLocks noChangeShapeType="1"/>
              </p:cNvSpPr>
              <p:nvPr/>
            </p:nvSpPr>
            <p:spPr bwMode="auto">
              <a:xfrm flipV="1">
                <a:off x="4253" y="2409"/>
                <a:ext cx="0" cy="737"/>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33" name="Line 64"/>
              <p:cNvSpPr>
                <a:spLocks noChangeShapeType="1"/>
              </p:cNvSpPr>
              <p:nvPr/>
            </p:nvSpPr>
            <p:spPr bwMode="auto">
              <a:xfrm flipH="1" flipV="1">
                <a:off x="4511" y="2269"/>
                <a:ext cx="0" cy="78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34" name="Line 65"/>
              <p:cNvSpPr>
                <a:spLocks noChangeShapeType="1"/>
              </p:cNvSpPr>
              <p:nvPr/>
            </p:nvSpPr>
            <p:spPr bwMode="auto">
              <a:xfrm flipV="1">
                <a:off x="4740" y="2147"/>
                <a:ext cx="0" cy="766"/>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35" name="Line 66"/>
              <p:cNvSpPr>
                <a:spLocks noChangeShapeType="1"/>
              </p:cNvSpPr>
              <p:nvPr/>
            </p:nvSpPr>
            <p:spPr bwMode="auto">
              <a:xfrm>
                <a:off x="4949" y="2024"/>
                <a:ext cx="0" cy="73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36" name="Line 67"/>
              <p:cNvSpPr>
                <a:spLocks noChangeShapeType="1"/>
              </p:cNvSpPr>
              <p:nvPr/>
            </p:nvSpPr>
            <p:spPr bwMode="auto">
              <a:xfrm>
                <a:off x="5172" y="2032"/>
                <a:ext cx="0" cy="457"/>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37" name="Line 68"/>
              <p:cNvSpPr>
                <a:spLocks noChangeShapeType="1"/>
              </p:cNvSpPr>
              <p:nvPr/>
            </p:nvSpPr>
            <p:spPr bwMode="auto">
              <a:xfrm flipH="1">
                <a:off x="2886" y="1556"/>
                <a:ext cx="787" cy="1496"/>
              </a:xfrm>
              <a:prstGeom prst="line">
                <a:avLst/>
              </a:prstGeom>
              <a:noFill/>
              <a:ln w="38100">
                <a:solidFill>
                  <a:srgbClr val="CC0099"/>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38" name="Line 69"/>
              <p:cNvSpPr>
                <a:spLocks noChangeShapeType="1"/>
              </p:cNvSpPr>
              <p:nvPr/>
            </p:nvSpPr>
            <p:spPr bwMode="auto">
              <a:xfrm>
                <a:off x="3670" y="1553"/>
                <a:ext cx="1734" cy="479"/>
              </a:xfrm>
              <a:prstGeom prst="line">
                <a:avLst/>
              </a:prstGeom>
              <a:noFill/>
              <a:ln w="38100">
                <a:solidFill>
                  <a:srgbClr val="0000CC"/>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39" name="Line 70"/>
              <p:cNvSpPr>
                <a:spLocks noChangeShapeType="1"/>
              </p:cNvSpPr>
              <p:nvPr/>
            </p:nvSpPr>
            <p:spPr bwMode="auto">
              <a:xfrm>
                <a:off x="3678" y="1545"/>
                <a:ext cx="5" cy="1767"/>
              </a:xfrm>
              <a:prstGeom prst="line">
                <a:avLst/>
              </a:prstGeom>
              <a:noFill/>
              <a:ln w="28575">
                <a:solidFill>
                  <a:srgbClr val="CC00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40" name="Line 71"/>
              <p:cNvSpPr>
                <a:spLocks noChangeShapeType="1"/>
              </p:cNvSpPr>
              <p:nvPr/>
            </p:nvSpPr>
            <p:spPr bwMode="auto">
              <a:xfrm>
                <a:off x="3670" y="1541"/>
                <a:ext cx="745" cy="1556"/>
              </a:xfrm>
              <a:prstGeom prst="line">
                <a:avLst/>
              </a:prstGeom>
              <a:noFill/>
              <a:ln w="38100">
                <a:solidFill>
                  <a:srgbClr val="CC00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41" name="Freeform 72"/>
              <p:cNvSpPr/>
              <p:nvPr/>
            </p:nvSpPr>
            <p:spPr bwMode="auto">
              <a:xfrm>
                <a:off x="3673" y="1934"/>
                <a:ext cx="174" cy="37"/>
              </a:xfrm>
              <a:custGeom>
                <a:avLst/>
                <a:gdLst>
                  <a:gd name="T0" fmla="*/ 0 w 103"/>
                  <a:gd name="T1" fmla="*/ 80 h 24"/>
                  <a:gd name="T2" fmla="*/ 162 w 103"/>
                  <a:gd name="T3" fmla="*/ 88 h 24"/>
                  <a:gd name="T4" fmla="*/ 372 w 103"/>
                  <a:gd name="T5" fmla="*/ 62 h 24"/>
                  <a:gd name="T6" fmla="*/ 497 w 103"/>
                  <a:gd name="T7" fmla="*/ 0 h 24"/>
                  <a:gd name="T8" fmla="*/ 0 60000 65536"/>
                  <a:gd name="T9" fmla="*/ 0 60000 65536"/>
                  <a:gd name="T10" fmla="*/ 0 60000 65536"/>
                  <a:gd name="T11" fmla="*/ 0 60000 65536"/>
                  <a:gd name="T12" fmla="*/ 0 w 103"/>
                  <a:gd name="T13" fmla="*/ 0 h 24"/>
                  <a:gd name="T14" fmla="*/ 103 w 103"/>
                  <a:gd name="T15" fmla="*/ 24 h 24"/>
                </a:gdLst>
                <a:ahLst/>
                <a:cxnLst>
                  <a:cxn ang="T8">
                    <a:pos x="T0" y="T1"/>
                  </a:cxn>
                  <a:cxn ang="T9">
                    <a:pos x="T2" y="T3"/>
                  </a:cxn>
                  <a:cxn ang="T10">
                    <a:pos x="T4" y="T5"/>
                  </a:cxn>
                  <a:cxn ang="T11">
                    <a:pos x="T6" y="T7"/>
                  </a:cxn>
                </a:cxnLst>
                <a:rect l="T12" t="T13" r="T14" b="T15"/>
                <a:pathLst>
                  <a:path w="103" h="24">
                    <a:moveTo>
                      <a:pt x="0" y="22"/>
                    </a:moveTo>
                    <a:lnTo>
                      <a:pt x="34" y="24"/>
                    </a:lnTo>
                    <a:lnTo>
                      <a:pt x="77" y="17"/>
                    </a:lnTo>
                    <a:lnTo>
                      <a:pt x="103" y="0"/>
                    </a:lnTo>
                  </a:path>
                </a:pathLst>
              </a:custGeom>
              <a:noFill/>
              <a:ln w="38100">
                <a:solidFill>
                  <a:srgbClr val="CC0099"/>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42" name="Text Box 73"/>
              <p:cNvSpPr txBox="1">
                <a:spLocks noChangeArrowheads="1"/>
              </p:cNvSpPr>
              <p:nvPr/>
            </p:nvSpPr>
            <p:spPr bwMode="auto">
              <a:xfrm>
                <a:off x="3357" y="1296"/>
                <a:ext cx="486"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chemeClr val="tx1"/>
                    </a:solidFill>
                    <a:latin typeface="Times New Roman" panose="02020603050405020304" pitchFamily="18" charset="0"/>
                  </a:rPr>
                  <a:t>O</a:t>
                </a:r>
                <a:endParaRPr kumimoji="1" lang="en-US" altLang="zh-CN" sz="2800" b="1">
                  <a:solidFill>
                    <a:schemeClr val="tx1"/>
                  </a:solidFill>
                  <a:latin typeface="Times New Roman" panose="02020603050405020304" pitchFamily="18" charset="0"/>
                </a:endParaRPr>
              </a:p>
            </p:txBody>
          </p:sp>
          <p:sp>
            <p:nvSpPr>
              <p:cNvPr id="33843" name="Text Box 74"/>
              <p:cNvSpPr txBox="1">
                <a:spLocks noChangeArrowheads="1"/>
              </p:cNvSpPr>
              <p:nvPr/>
            </p:nvSpPr>
            <p:spPr bwMode="auto">
              <a:xfrm>
                <a:off x="4331" y="1350"/>
                <a:ext cx="409"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0000CC"/>
                    </a:solidFill>
                    <a:latin typeface="Times New Roman" panose="02020603050405020304" pitchFamily="18" charset="0"/>
                  </a:rPr>
                  <a:t>R</a:t>
                </a:r>
                <a:endParaRPr kumimoji="1" lang="en-US" altLang="zh-CN" sz="2800" b="1">
                  <a:solidFill>
                    <a:srgbClr val="0000CC"/>
                  </a:solidFill>
                  <a:latin typeface="Times New Roman" panose="02020603050405020304" pitchFamily="18" charset="0"/>
                </a:endParaRPr>
              </a:p>
            </p:txBody>
          </p:sp>
          <p:sp>
            <p:nvSpPr>
              <p:cNvPr id="33844" name="Text Box 75"/>
              <p:cNvSpPr txBox="1">
                <a:spLocks noChangeArrowheads="1"/>
              </p:cNvSpPr>
              <p:nvPr/>
            </p:nvSpPr>
            <p:spPr bwMode="auto">
              <a:xfrm>
                <a:off x="5142" y="1577"/>
                <a:ext cx="570"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dirty="0" smtClean="0">
                    <a:solidFill>
                      <a:schemeClr val="tx1"/>
                    </a:solidFill>
                    <a:latin typeface="Times New Roman" panose="02020603050405020304" pitchFamily="18" charset="0"/>
                  </a:rPr>
                  <a:t>A</a:t>
                </a:r>
                <a:endParaRPr kumimoji="1" lang="en-US" altLang="zh-CN" sz="2800" b="1" dirty="0">
                  <a:solidFill>
                    <a:schemeClr val="tx1"/>
                  </a:solidFill>
                  <a:latin typeface="Times New Roman" panose="02020603050405020304" pitchFamily="18" charset="0"/>
                </a:endParaRPr>
              </a:p>
            </p:txBody>
          </p:sp>
        </p:grpSp>
        <p:sp>
          <p:nvSpPr>
            <p:cNvPr id="33809" name="Text Box 76"/>
            <p:cNvSpPr txBox="1">
              <a:spLocks noChangeArrowheads="1"/>
            </p:cNvSpPr>
            <p:nvPr/>
          </p:nvSpPr>
          <p:spPr bwMode="auto">
            <a:xfrm>
              <a:off x="3888" y="720"/>
              <a:ext cx="40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900" b="1">
                  <a:solidFill>
                    <a:srgbClr val="FF0000"/>
                  </a:solidFill>
                  <a:latin typeface="Times New Roman" panose="02020603050405020304" pitchFamily="18" charset="0"/>
                  <a:sym typeface="Symbol" panose="05050102010706020507" pitchFamily="18" charset="2"/>
                </a:rPr>
                <a:t> </a:t>
              </a:r>
              <a:r>
                <a:rPr kumimoji="1" lang="en-US" altLang="zh-CN" sz="2800" b="1">
                  <a:solidFill>
                    <a:srgbClr val="FF0000"/>
                  </a:solidFill>
                  <a:latin typeface="Times New Roman" panose="02020603050405020304" pitchFamily="18" charset="0"/>
                  <a:sym typeface="Symbol" panose="05050102010706020507" pitchFamily="18" charset="2"/>
                </a:rPr>
                <a:t></a:t>
              </a:r>
              <a:r>
                <a:rPr kumimoji="1" lang="en-US" altLang="zh-CN" sz="2800" b="1" i="1" baseline="-25000">
                  <a:solidFill>
                    <a:srgbClr val="FF0000"/>
                  </a:solidFill>
                  <a:latin typeface="Times New Roman" panose="02020603050405020304" pitchFamily="18" charset="0"/>
                  <a:sym typeface="Symbol" panose="05050102010706020507" pitchFamily="18" charset="2"/>
                </a:rPr>
                <a:t>i</a:t>
              </a:r>
              <a:endParaRPr kumimoji="1" lang="en-US" altLang="zh-CN" sz="2800" b="1" i="1" baseline="-25000">
                <a:solidFill>
                  <a:srgbClr val="FF0000"/>
                </a:solidFill>
                <a:latin typeface="Times New Roman" panose="02020603050405020304" pitchFamily="18" charset="0"/>
              </a:endParaRPr>
            </a:p>
          </p:txBody>
        </p:sp>
        <p:sp>
          <p:nvSpPr>
            <p:cNvPr id="33810" name="Line 77"/>
            <p:cNvSpPr>
              <a:spLocks noChangeShapeType="1"/>
            </p:cNvSpPr>
            <p:nvPr/>
          </p:nvSpPr>
          <p:spPr bwMode="auto">
            <a:xfrm flipV="1">
              <a:off x="4436" y="879"/>
              <a:ext cx="0" cy="313"/>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11" name="Line 78"/>
            <p:cNvSpPr>
              <a:spLocks noChangeShapeType="1"/>
            </p:cNvSpPr>
            <p:nvPr/>
          </p:nvSpPr>
          <p:spPr bwMode="auto">
            <a:xfrm flipV="1">
              <a:off x="4639" y="872"/>
              <a:ext cx="0" cy="183"/>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12" name="Line 79"/>
            <p:cNvSpPr>
              <a:spLocks noChangeShapeType="1"/>
            </p:cNvSpPr>
            <p:nvPr/>
          </p:nvSpPr>
          <p:spPr bwMode="auto">
            <a:xfrm>
              <a:off x="4429" y="956"/>
              <a:ext cx="210" cy="0"/>
            </a:xfrm>
            <a:prstGeom prst="line">
              <a:avLst/>
            </a:prstGeom>
            <a:noFill/>
            <a:ln w="28575">
              <a:solidFill>
                <a:srgbClr val="0000CC"/>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13" name="Text Box 80"/>
            <p:cNvSpPr txBox="1">
              <a:spLocks noChangeArrowheads="1"/>
            </p:cNvSpPr>
            <p:nvPr/>
          </p:nvSpPr>
          <p:spPr bwMode="auto">
            <a:xfrm>
              <a:off x="4442" y="667"/>
              <a:ext cx="24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0000FF"/>
                  </a:solidFill>
                  <a:latin typeface="Times New Roman" panose="02020603050405020304" pitchFamily="18" charset="0"/>
                </a:rPr>
                <a:t>b</a:t>
              </a:r>
              <a:endParaRPr kumimoji="1" lang="en-US" altLang="zh-CN" sz="2800" b="1">
                <a:solidFill>
                  <a:srgbClr val="0000FF"/>
                </a:solidFill>
                <a:latin typeface="Times New Roman" panose="02020603050405020304" pitchFamily="18" charset="0"/>
              </a:endParaRPr>
            </a:p>
          </p:txBody>
        </p:sp>
        <p:sp>
          <p:nvSpPr>
            <p:cNvPr id="33814" name="Text Box 81"/>
            <p:cNvSpPr txBox="1">
              <a:spLocks noChangeArrowheads="1"/>
            </p:cNvSpPr>
            <p:nvPr/>
          </p:nvSpPr>
          <p:spPr bwMode="auto">
            <a:xfrm>
              <a:off x="4752" y="624"/>
              <a:ext cx="2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chemeClr val="tx1"/>
                  </a:solidFill>
                  <a:latin typeface="Times New Roman" panose="02020603050405020304" pitchFamily="18" charset="0"/>
                </a:rPr>
                <a:t>B</a:t>
              </a:r>
              <a:endParaRPr kumimoji="1" lang="en-US" altLang="zh-CN" sz="2800" b="1">
                <a:solidFill>
                  <a:schemeClr val="tx1"/>
                </a:solidFill>
                <a:latin typeface="Times New Roman" panose="02020603050405020304" pitchFamily="18" charset="0"/>
              </a:endParaRPr>
            </a:p>
          </p:txBody>
        </p:sp>
        <p:grpSp>
          <p:nvGrpSpPr>
            <p:cNvPr id="33815" name="Group 82"/>
            <p:cNvGrpSpPr/>
            <p:nvPr/>
          </p:nvGrpSpPr>
          <p:grpSpPr bwMode="auto">
            <a:xfrm>
              <a:off x="3408" y="864"/>
              <a:ext cx="2064" cy="1085"/>
              <a:chOff x="3072" y="2016"/>
              <a:chExt cx="2400" cy="1272"/>
            </a:xfrm>
          </p:grpSpPr>
          <p:sp>
            <p:nvSpPr>
              <p:cNvPr id="33816" name="Text Box 83"/>
              <p:cNvSpPr txBox="1">
                <a:spLocks noChangeArrowheads="1"/>
              </p:cNvSpPr>
              <p:nvPr/>
            </p:nvSpPr>
            <p:spPr bwMode="auto">
              <a:xfrm>
                <a:off x="3072" y="2927"/>
                <a:ext cx="336"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600" b="1">
                    <a:solidFill>
                      <a:srgbClr val="FF6600"/>
                    </a:solidFill>
                    <a:latin typeface="Times New Roman" panose="02020603050405020304" pitchFamily="18" charset="0"/>
                  </a:rPr>
                  <a:t>-2</a:t>
                </a:r>
                <a:endParaRPr kumimoji="1" lang="en-US" altLang="zh-CN" sz="2600" b="1">
                  <a:solidFill>
                    <a:srgbClr val="FF6600"/>
                  </a:solidFill>
                  <a:latin typeface="Times New Roman" panose="02020603050405020304" pitchFamily="18" charset="0"/>
                </a:endParaRPr>
              </a:p>
            </p:txBody>
          </p:sp>
          <p:sp>
            <p:nvSpPr>
              <p:cNvPr id="33817" name="Text Box 84"/>
              <p:cNvSpPr txBox="1">
                <a:spLocks noChangeArrowheads="1"/>
              </p:cNvSpPr>
              <p:nvPr/>
            </p:nvSpPr>
            <p:spPr bwMode="auto">
              <a:xfrm>
                <a:off x="3305" y="2894"/>
                <a:ext cx="334"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FF6600"/>
                    </a:solidFill>
                    <a:latin typeface="Times New Roman" panose="02020603050405020304" pitchFamily="18" charset="0"/>
                  </a:rPr>
                  <a:t>-1</a:t>
                </a:r>
                <a:endParaRPr kumimoji="1" lang="en-US" altLang="zh-CN" sz="2400" b="1">
                  <a:solidFill>
                    <a:srgbClr val="FF6600"/>
                  </a:solidFill>
                  <a:latin typeface="Times New Roman" panose="02020603050405020304" pitchFamily="18" charset="0"/>
                </a:endParaRPr>
              </a:p>
            </p:txBody>
          </p:sp>
          <p:sp>
            <p:nvSpPr>
              <p:cNvPr id="33818" name="Text Box 85"/>
              <p:cNvSpPr txBox="1">
                <a:spLocks noChangeArrowheads="1"/>
              </p:cNvSpPr>
              <p:nvPr/>
            </p:nvSpPr>
            <p:spPr bwMode="auto">
              <a:xfrm>
                <a:off x="3505" y="2880"/>
                <a:ext cx="33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800" b="1">
                    <a:solidFill>
                      <a:srgbClr val="FF6600"/>
                    </a:solidFill>
                    <a:latin typeface="Times New Roman" panose="02020603050405020304" pitchFamily="18" charset="0"/>
                  </a:rPr>
                  <a:t>0</a:t>
                </a:r>
                <a:endParaRPr kumimoji="1" lang="en-US" altLang="zh-CN" sz="2800" b="1">
                  <a:solidFill>
                    <a:srgbClr val="FF6600"/>
                  </a:solidFill>
                  <a:latin typeface="Times New Roman" panose="02020603050405020304" pitchFamily="18" charset="0"/>
                </a:endParaRPr>
              </a:p>
            </p:txBody>
          </p:sp>
          <p:sp>
            <p:nvSpPr>
              <p:cNvPr id="33819" name="Text Box 86"/>
              <p:cNvSpPr txBox="1">
                <a:spLocks noChangeArrowheads="1"/>
              </p:cNvSpPr>
              <p:nvPr/>
            </p:nvSpPr>
            <p:spPr bwMode="auto">
              <a:xfrm>
                <a:off x="3792" y="2832"/>
                <a:ext cx="33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1</a:t>
                </a:r>
                <a:endParaRPr kumimoji="1" lang="en-US" altLang="zh-CN" sz="2800" b="1">
                  <a:solidFill>
                    <a:srgbClr val="FF6600"/>
                  </a:solidFill>
                  <a:latin typeface="Times New Roman" panose="02020603050405020304" pitchFamily="18" charset="0"/>
                </a:endParaRPr>
              </a:p>
            </p:txBody>
          </p:sp>
          <p:sp>
            <p:nvSpPr>
              <p:cNvPr id="33820" name="Text Box 87"/>
              <p:cNvSpPr txBox="1">
                <a:spLocks noChangeArrowheads="1"/>
              </p:cNvSpPr>
              <p:nvPr/>
            </p:nvSpPr>
            <p:spPr bwMode="auto">
              <a:xfrm>
                <a:off x="4032" y="2737"/>
                <a:ext cx="33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2</a:t>
                </a:r>
                <a:endParaRPr kumimoji="1" lang="en-US" altLang="zh-CN" sz="2800" b="1">
                  <a:solidFill>
                    <a:srgbClr val="FF6600"/>
                  </a:solidFill>
                  <a:latin typeface="Times New Roman" panose="02020603050405020304" pitchFamily="18" charset="0"/>
                </a:endParaRPr>
              </a:p>
            </p:txBody>
          </p:sp>
          <p:sp>
            <p:nvSpPr>
              <p:cNvPr id="33821" name="Text Box 88"/>
              <p:cNvSpPr txBox="1">
                <a:spLocks noChangeArrowheads="1"/>
              </p:cNvSpPr>
              <p:nvPr/>
            </p:nvSpPr>
            <p:spPr bwMode="auto">
              <a:xfrm>
                <a:off x="4272" y="2592"/>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3</a:t>
                </a:r>
                <a:endParaRPr kumimoji="1" lang="en-US" altLang="zh-CN" sz="2800" b="1">
                  <a:solidFill>
                    <a:srgbClr val="FF6600"/>
                  </a:solidFill>
                  <a:latin typeface="Times New Roman" panose="02020603050405020304" pitchFamily="18" charset="0"/>
                </a:endParaRPr>
              </a:p>
            </p:txBody>
          </p:sp>
          <p:sp>
            <p:nvSpPr>
              <p:cNvPr id="33822" name="Text Box 89"/>
              <p:cNvSpPr txBox="1">
                <a:spLocks noChangeArrowheads="1"/>
              </p:cNvSpPr>
              <p:nvPr/>
            </p:nvSpPr>
            <p:spPr bwMode="auto">
              <a:xfrm>
                <a:off x="4512" y="2448"/>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4</a:t>
                </a:r>
                <a:endParaRPr kumimoji="1" lang="en-US" altLang="zh-CN" sz="2800" b="1">
                  <a:solidFill>
                    <a:srgbClr val="FF6600"/>
                  </a:solidFill>
                  <a:latin typeface="Times New Roman" panose="02020603050405020304" pitchFamily="18" charset="0"/>
                </a:endParaRPr>
              </a:p>
            </p:txBody>
          </p:sp>
          <p:sp>
            <p:nvSpPr>
              <p:cNvPr id="33823" name="Text Box 90"/>
              <p:cNvSpPr txBox="1">
                <a:spLocks noChangeArrowheads="1"/>
              </p:cNvSpPr>
              <p:nvPr/>
            </p:nvSpPr>
            <p:spPr bwMode="auto">
              <a:xfrm>
                <a:off x="4752" y="2353"/>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5</a:t>
                </a:r>
                <a:endParaRPr kumimoji="1" lang="en-US" altLang="zh-CN" sz="2800" b="1">
                  <a:solidFill>
                    <a:srgbClr val="FF6600"/>
                  </a:solidFill>
                  <a:latin typeface="Times New Roman" panose="02020603050405020304" pitchFamily="18" charset="0"/>
                </a:endParaRPr>
              </a:p>
            </p:txBody>
          </p:sp>
          <p:sp>
            <p:nvSpPr>
              <p:cNvPr id="33824" name="Text Box 91"/>
              <p:cNvSpPr txBox="1">
                <a:spLocks noChangeArrowheads="1"/>
              </p:cNvSpPr>
              <p:nvPr/>
            </p:nvSpPr>
            <p:spPr bwMode="auto">
              <a:xfrm>
                <a:off x="4944" y="2160"/>
                <a:ext cx="33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6</a:t>
                </a:r>
                <a:endParaRPr kumimoji="1" lang="en-US" altLang="zh-CN" sz="2800" b="1">
                  <a:solidFill>
                    <a:srgbClr val="FF6600"/>
                  </a:solidFill>
                  <a:latin typeface="Times New Roman" panose="02020603050405020304" pitchFamily="18" charset="0"/>
                </a:endParaRPr>
              </a:p>
            </p:txBody>
          </p:sp>
          <p:sp>
            <p:nvSpPr>
              <p:cNvPr id="33825" name="Text Box 92"/>
              <p:cNvSpPr txBox="1">
                <a:spLocks noChangeArrowheads="1"/>
              </p:cNvSpPr>
              <p:nvPr/>
            </p:nvSpPr>
            <p:spPr bwMode="auto">
              <a:xfrm>
                <a:off x="5136" y="2016"/>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7</a:t>
                </a:r>
                <a:endParaRPr kumimoji="1" lang="en-US" altLang="zh-CN" sz="2800" b="1">
                  <a:solidFill>
                    <a:srgbClr val="FF6600"/>
                  </a:solidFill>
                  <a:latin typeface="Times New Roman" panose="02020603050405020304" pitchFamily="18" charset="0"/>
                </a:endParaRPr>
              </a:p>
            </p:txBody>
          </p:sp>
        </p:grpSp>
      </p:grpSp>
      <p:sp>
        <p:nvSpPr>
          <p:cNvPr id="761949" name="Line 93"/>
          <p:cNvSpPr>
            <a:spLocks noChangeShapeType="1"/>
          </p:cNvSpPr>
          <p:nvPr/>
        </p:nvSpPr>
        <p:spPr bwMode="auto">
          <a:xfrm flipV="1">
            <a:off x="6781800" y="4343400"/>
            <a:ext cx="381000" cy="152400"/>
          </a:xfrm>
          <a:prstGeom prst="line">
            <a:avLst/>
          </a:prstGeom>
          <a:noFill/>
          <a:ln w="34925">
            <a:solidFill>
              <a:srgbClr val="0000FF"/>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1950" name="Rectangle 94"/>
          <p:cNvSpPr>
            <a:spLocks noChangeArrowheads="1"/>
          </p:cNvSpPr>
          <p:nvPr/>
        </p:nvSpPr>
        <p:spPr bwMode="auto">
          <a:xfrm>
            <a:off x="7162800" y="42672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T</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baseline="-25000">
              <a:solidFill>
                <a:srgbClr val="CC3300"/>
              </a:solidFill>
              <a:latin typeface="Times New Roman" panose="02020603050405020304" pitchFamily="18" charset="0"/>
              <a:sym typeface="Symbol" panose="05050102010706020507" pitchFamily="18" charset="2"/>
            </a:endParaRPr>
          </a:p>
        </p:txBody>
      </p:sp>
      <p:sp>
        <p:nvSpPr>
          <p:cNvPr id="761951" name="Rectangle 95"/>
          <p:cNvSpPr>
            <a:spLocks noChangeArrowheads="1"/>
          </p:cNvSpPr>
          <p:nvPr/>
        </p:nvSpPr>
        <p:spPr bwMode="auto">
          <a:xfrm>
            <a:off x="7010400" y="49530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N</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a:solidFill>
                <a:srgbClr val="CC3300"/>
              </a:solidFill>
              <a:latin typeface="Times New Roman" panose="02020603050405020304" pitchFamily="18" charset="0"/>
              <a:sym typeface="Symbol" panose="05050102010706020507" pitchFamily="18" charset="2"/>
            </a:endParaRPr>
          </a:p>
        </p:txBody>
      </p:sp>
      <p:sp>
        <p:nvSpPr>
          <p:cNvPr id="761952" name="Line 96"/>
          <p:cNvSpPr>
            <a:spLocks noChangeShapeType="1"/>
          </p:cNvSpPr>
          <p:nvPr/>
        </p:nvSpPr>
        <p:spPr bwMode="auto">
          <a:xfrm rot="16200000" flipV="1">
            <a:off x="6819900" y="4610100"/>
            <a:ext cx="457200" cy="228600"/>
          </a:xfrm>
          <a:prstGeom prst="line">
            <a:avLst/>
          </a:prstGeom>
          <a:noFill/>
          <a:ln w="349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cxnSp>
        <p:nvCxnSpPr>
          <p:cNvPr id="33803" name="直接箭头连接符 3"/>
          <p:cNvCxnSpPr/>
          <p:nvPr/>
        </p:nvCxnSpPr>
        <p:spPr bwMode="auto">
          <a:xfrm flipH="1">
            <a:off x="1908175" y="2200275"/>
            <a:ext cx="295275" cy="204788"/>
          </a:xfrm>
          <a:prstGeom prst="straightConnector1">
            <a:avLst/>
          </a:prstGeom>
          <a:noFill/>
          <a:ln w="9525" algn="ctr">
            <a:solidFill>
              <a:srgbClr val="0000FF"/>
            </a:solidFill>
            <a:round/>
            <a:tailEnd type="triangle" w="med" len="med"/>
          </a:ln>
        </p:spPr>
      </p:cxnSp>
      <p:sp>
        <p:nvSpPr>
          <p:cNvPr id="33804" name="文本框 5"/>
          <p:cNvSpPr txBox="1">
            <a:spLocks noChangeArrowheads="1"/>
          </p:cNvSpPr>
          <p:nvPr/>
        </p:nvSpPr>
        <p:spPr bwMode="auto">
          <a:xfrm>
            <a:off x="2073275" y="1776413"/>
            <a:ext cx="1979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r>
              <a:rPr lang="zh-CN" altLang="en-US" sz="2000">
                <a:solidFill>
                  <a:srgbClr val="0000FF"/>
                </a:solidFill>
                <a:latin typeface="黑体" panose="02010609060101010101" pitchFamily="49" charset="-122"/>
                <a:ea typeface="黑体" panose="02010609060101010101" pitchFamily="49" charset="-122"/>
              </a:rPr>
              <a:t>滑动面上抗剪力</a:t>
            </a:r>
            <a:endParaRPr lang="zh-CN" altLang="en-US" sz="2000">
              <a:solidFill>
                <a:srgbClr val="0000FF"/>
              </a:solidFill>
              <a:latin typeface="黑体" panose="02010609060101010101" pitchFamily="49" charset="-122"/>
              <a:ea typeface="黑体" panose="02010609060101010101" pitchFamily="49" charset="-122"/>
            </a:endParaRPr>
          </a:p>
        </p:txBody>
      </p:sp>
      <p:cxnSp>
        <p:nvCxnSpPr>
          <p:cNvPr id="33805" name="直接箭头连接符 52"/>
          <p:cNvCxnSpPr/>
          <p:nvPr/>
        </p:nvCxnSpPr>
        <p:spPr bwMode="auto">
          <a:xfrm flipH="1" flipV="1">
            <a:off x="1911350" y="3205163"/>
            <a:ext cx="292100" cy="223837"/>
          </a:xfrm>
          <a:prstGeom prst="straightConnector1">
            <a:avLst/>
          </a:prstGeom>
          <a:noFill/>
          <a:ln w="9525" algn="ctr">
            <a:solidFill>
              <a:srgbClr val="0000FF"/>
            </a:solidFill>
            <a:round/>
            <a:tailEnd type="triangle" w="med" len="med"/>
          </a:ln>
        </p:spPr>
      </p:cxnSp>
      <p:sp>
        <p:nvSpPr>
          <p:cNvPr id="33806" name="文本框 55"/>
          <p:cNvSpPr txBox="1">
            <a:spLocks noChangeArrowheads="1"/>
          </p:cNvSpPr>
          <p:nvPr/>
        </p:nvSpPr>
        <p:spPr bwMode="auto">
          <a:xfrm>
            <a:off x="2195513" y="3173413"/>
            <a:ext cx="1979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r>
              <a:rPr lang="zh-CN" altLang="en-US" sz="2000">
                <a:solidFill>
                  <a:srgbClr val="0000FF"/>
                </a:solidFill>
                <a:latin typeface="黑体" panose="02010609060101010101" pitchFamily="49" charset="-122"/>
                <a:ea typeface="黑体" panose="02010609060101010101" pitchFamily="49" charset="-122"/>
              </a:rPr>
              <a:t>滑动面上下滑力</a:t>
            </a:r>
            <a:endParaRPr lang="zh-CN" altLang="en-US" sz="2000">
              <a:solidFill>
                <a:srgbClr val="0000FF"/>
              </a:solidFill>
              <a:latin typeface="黑体" panose="02010609060101010101" pitchFamily="49" charset="-122"/>
              <a:ea typeface="黑体" panose="02010609060101010101" pitchFamily="49" charset="-122"/>
            </a:endParaRPr>
          </a:p>
        </p:txBody>
      </p:sp>
      <mc:AlternateContent xmlns:mc="http://schemas.openxmlformats.org/markup-compatibility/2006">
        <mc:Choice xmlns:a14="http://schemas.microsoft.com/office/drawing/2010/main" Requires="a14">
          <p:sp>
            <p:nvSpPr>
              <p:cNvPr id="3" name="文本框 2"/>
              <p:cNvSpPr txBox="1"/>
              <p:nvPr/>
            </p:nvSpPr>
            <p:spPr>
              <a:xfrm>
                <a:off x="708265" y="2379858"/>
                <a:ext cx="4141262" cy="78701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𝐾</m:t>
                      </m:r>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nary>
                            <m:naryPr>
                              <m:chr m:val="∑"/>
                              <m:subHide m:val="on"/>
                              <m:supHide m:val="on"/>
                              <m:ctrlPr>
                                <a:rPr lang="en-US" altLang="zh-CN" sz="2400" b="0" i="1" smtClean="0">
                                  <a:latin typeface="Cambria Math" panose="02040503050406030204" pitchFamily="18" charset="0"/>
                                </a:rPr>
                              </m:ctrlPr>
                            </m:naryPr>
                            <m:sub/>
                            <m:sup/>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𝑓𝑖</m:t>
                                  </m:r>
                                </m:sub>
                              </m:sSub>
                            </m:e>
                          </m:nary>
                        </m:num>
                        <m:den>
                          <m:nary>
                            <m:naryPr>
                              <m:chr m:val="∑"/>
                              <m:subHide m:val="on"/>
                              <m:supHide m:val="on"/>
                              <m:ctrlPr>
                                <a:rPr lang="en-US" altLang="zh-CN" sz="2400" b="0" i="1" smtClean="0">
                                  <a:latin typeface="Cambria Math" panose="02040503050406030204" pitchFamily="18" charset="0"/>
                                </a:rPr>
                              </m:ctrlPr>
                            </m:naryPr>
                            <m:sub/>
                            <m:sup/>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𝑖</m:t>
                                  </m:r>
                                </m:sub>
                              </m:sSub>
                            </m:e>
                          </m:nary>
                        </m:den>
                      </m:f>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nary>
                            <m:naryPr>
                              <m:chr m:val="∑"/>
                              <m:subHide m:val="on"/>
                              <m:supHide m:val="on"/>
                              <m:ctrlPr>
                                <a:rPr lang="en-US" altLang="zh-CN" sz="2400" b="0" i="1" smtClean="0">
                                  <a:latin typeface="Cambria Math" panose="02040503050406030204" pitchFamily="18" charset="0"/>
                                </a:rPr>
                              </m:ctrlPr>
                            </m:naryPr>
                            <m:sub/>
                            <m:sup/>
                            <m:e>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𝑖</m:t>
                                  </m:r>
                                </m:sub>
                              </m:sSub>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𝑙</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𝑁</m:t>
                                  </m:r>
                                </m:e>
                                <m:sub>
                                  <m:r>
                                    <a:rPr lang="en-US" altLang="zh-CN" sz="2400" b="0" i="1" smtClean="0">
                                      <a:latin typeface="Cambria Math" panose="02040503050406030204" pitchFamily="18" charset="0"/>
                                    </a:rPr>
                                    <m:t>𝑖</m:t>
                                  </m:r>
                                </m:sub>
                              </m:sSub>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tan</m:t>
                                  </m:r>
                                </m:fName>
                                <m:e>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𝜑</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e>
                              </m:func>
                            </m:e>
                          </m:nary>
                        </m:num>
                        <m:den>
                          <m:nary>
                            <m:naryPr>
                              <m:chr m:val="∑"/>
                              <m:subHide m:val="on"/>
                              <m:supHide m:val="on"/>
                              <m:ctrlPr>
                                <a:rPr lang="en-US" altLang="zh-CN" sz="2400" b="0" i="1" smtClean="0">
                                  <a:latin typeface="Cambria Math" panose="02040503050406030204" pitchFamily="18" charset="0"/>
                                </a:rPr>
                              </m:ctrlPr>
                            </m:naryPr>
                            <m:sub/>
                            <m:sup/>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𝑖</m:t>
                                  </m:r>
                                </m:sub>
                              </m:sSub>
                            </m:e>
                          </m:nary>
                        </m:den>
                      </m:f>
                    </m:oMath>
                  </m:oMathPara>
                </a14:m>
                <a:endParaRPr lang="zh-CN" altLang="en-US" sz="2400" dirty="0">
                  <a:latin typeface="Times New Roman" panose="02020603050405020304" pitchFamily="18" charset="0"/>
                  <a:cs typeface="Times New Roman" panose="02020603050405020304" pitchFamily="18"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708265" y="2379858"/>
                <a:ext cx="4141262" cy="787010"/>
              </a:xfrm>
              <a:prstGeom prst="rect">
                <a:avLst/>
              </a:prstGeom>
              <a:blipFill rotWithShape="1">
                <a:blip r:embed="rId1"/>
                <a:stretch>
                  <a:fillRect l="-6" t="-65" r="-1395" b="1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987265" y="4691063"/>
                <a:ext cx="3187860" cy="815223"/>
              </a:xfrm>
              <a:prstGeom prst="rect">
                <a:avLst/>
              </a:prstGeom>
              <a:solidFill>
                <a:srgbClr val="FFFF00"/>
              </a:solid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𝑇</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𝑖</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𝑙</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𝑖</m:t>
                              </m:r>
                            </m:sub>
                          </m:sSub>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tan</m:t>
                              </m:r>
                            </m:fName>
                            <m:e>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𝜑</m:t>
                                  </m:r>
                                </m:e>
                                <m:sub>
                                  <m:r>
                                    <a:rPr lang="en-US" altLang="zh-CN" b="0" i="1" smtClean="0">
                                      <a:latin typeface="Cambria Math" panose="02040503050406030204" pitchFamily="18" charset="0"/>
                                    </a:rPr>
                                    <m:t>𝑖</m:t>
                                  </m:r>
                                </m:sub>
                              </m:sSub>
                            </m:e>
                          </m:func>
                        </m:num>
                        <m:den>
                          <m:r>
                            <a:rPr lang="en-US" altLang="zh-CN" b="0" i="1" smtClean="0">
                              <a:latin typeface="Cambria Math" panose="02040503050406030204" pitchFamily="18" charset="0"/>
                            </a:rPr>
                            <m:t>𝐾</m:t>
                          </m:r>
                        </m:den>
                      </m:f>
                    </m:oMath>
                  </m:oMathPara>
                </a14:m>
                <a:endParaRPr lang="zh-CN" altLang="en-US" dirty="0"/>
              </a:p>
            </p:txBody>
          </p:sp>
        </mc:Choice>
        <mc:Fallback>
          <p:sp>
            <p:nvSpPr>
              <p:cNvPr id="4" name="文本框 3"/>
              <p:cNvSpPr txBox="1">
                <a:spLocks noRot="1" noChangeAspect="1" noMove="1" noResize="1" noEditPoints="1" noAdjustHandles="1" noChangeArrowheads="1" noChangeShapeType="1" noTextEdit="1"/>
              </p:cNvSpPr>
              <p:nvPr/>
            </p:nvSpPr>
            <p:spPr>
              <a:xfrm>
                <a:off x="987265" y="4691063"/>
                <a:ext cx="3187860" cy="815223"/>
              </a:xfrm>
              <a:prstGeom prst="rect">
                <a:avLst/>
              </a:prstGeom>
              <a:blipFill rotWithShape="1">
                <a:blip r:embed="rId2"/>
                <a:stretch>
                  <a:fillRect l="-15" t="-39" r="-2171" b="25"/>
                </a:stretch>
              </a:blipFill>
            </p:spPr>
            <p:txBody>
              <a:bodyPr/>
              <a:lstStyle/>
              <a:p>
                <a:r>
                  <a:rPr lang="zh-CN" altLang="en-US">
                    <a:noFill/>
                  </a:rPr>
                  <a:t> </a:t>
                </a:r>
              </a:p>
            </p:txBody>
          </p:sp>
        </mc:Fallback>
      </mc:AlternateContent>
      <p:sp>
        <p:nvSpPr>
          <p:cNvPr id="54" name="Rectangle 6"/>
          <p:cNvSpPr>
            <a:spLocks noChangeArrowheads="1"/>
          </p:cNvSpPr>
          <p:nvPr/>
        </p:nvSpPr>
        <p:spPr bwMode="auto">
          <a:xfrm>
            <a:off x="0" y="-7396"/>
            <a:ext cx="41148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黏性土坡的稳定性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61949"/>
                                        </p:tgtEl>
                                        <p:attrNameLst>
                                          <p:attrName>style.visibility</p:attrName>
                                        </p:attrNameLst>
                                      </p:cBhvr>
                                      <p:to>
                                        <p:strVal val="visible"/>
                                      </p:to>
                                    </p:set>
                                    <p:animEffect transition="in" filter="wipe(left)">
                                      <p:cBhvr>
                                        <p:cTn id="12" dur="500"/>
                                        <p:tgtEl>
                                          <p:spTgt spid="761949"/>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761950"/>
                                        </p:tgtEl>
                                        <p:attrNameLst>
                                          <p:attrName>style.visibility</p:attrName>
                                        </p:attrNameLst>
                                      </p:cBhvr>
                                      <p:to>
                                        <p:strVal val="visible"/>
                                      </p:to>
                                    </p:set>
                                    <p:animEffect transition="in" filter="dissolve">
                                      <p:cBhvr>
                                        <p:cTn id="16" dur="500"/>
                                        <p:tgtEl>
                                          <p:spTgt spid="76195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761952"/>
                                        </p:tgtEl>
                                        <p:attrNameLst>
                                          <p:attrName>style.visibility</p:attrName>
                                        </p:attrNameLst>
                                      </p:cBhvr>
                                      <p:to>
                                        <p:strVal val="visible"/>
                                      </p:to>
                                    </p:set>
                                    <p:animEffect transition="in" filter="wipe(down)">
                                      <p:cBhvr>
                                        <p:cTn id="21" dur="500"/>
                                        <p:tgtEl>
                                          <p:spTgt spid="761952"/>
                                        </p:tgtEl>
                                      </p:cBhvr>
                                    </p:animEffect>
                                  </p:childTnLst>
                                </p:cTn>
                              </p:par>
                            </p:childTnLst>
                          </p:cTn>
                        </p:par>
                        <p:par>
                          <p:cTn id="22" fill="hold">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761951"/>
                                        </p:tgtEl>
                                        <p:attrNameLst>
                                          <p:attrName>style.visibility</p:attrName>
                                        </p:attrNameLst>
                                      </p:cBhvr>
                                      <p:to>
                                        <p:strVal val="visible"/>
                                      </p:to>
                                    </p:set>
                                    <p:animEffect transition="in" filter="dissolve">
                                      <p:cBhvr>
                                        <p:cTn id="25" dur="500"/>
                                        <p:tgtEl>
                                          <p:spTgt spid="7619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1950" grpId="0" autoUpdateAnimBg="0"/>
      <p:bldP spid="761951" grpId="0"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15" name="Arc 55"/>
          <p:cNvSpPr/>
          <p:nvPr/>
        </p:nvSpPr>
        <p:spPr bwMode="auto">
          <a:xfrm rot="782077" flipH="1">
            <a:off x="1066800" y="914400"/>
            <a:ext cx="2667000" cy="25908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47625">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57816" name="Arc 56"/>
          <p:cNvSpPr/>
          <p:nvPr/>
        </p:nvSpPr>
        <p:spPr bwMode="auto">
          <a:xfrm rot="2376148" flipV="1">
            <a:off x="1465263" y="384175"/>
            <a:ext cx="1371600" cy="3092450"/>
          </a:xfrm>
          <a:custGeom>
            <a:avLst/>
            <a:gdLst>
              <a:gd name="T0" fmla="*/ 2147483646 w 21600"/>
              <a:gd name="T1" fmla="*/ 0 h 24398"/>
              <a:gd name="T2" fmla="*/ 2147483646 w 21600"/>
              <a:gd name="T3" fmla="*/ 2147483646 h 24398"/>
              <a:gd name="T4" fmla="*/ 0 w 21600"/>
              <a:gd name="T5" fmla="*/ 2147483646 h 24398"/>
              <a:gd name="T6" fmla="*/ 0 60000 65536"/>
              <a:gd name="T7" fmla="*/ 0 60000 65536"/>
              <a:gd name="T8" fmla="*/ 0 60000 65536"/>
              <a:gd name="T9" fmla="*/ 0 w 21600"/>
              <a:gd name="T10" fmla="*/ 0 h 24398"/>
              <a:gd name="T11" fmla="*/ 21600 w 21600"/>
              <a:gd name="T12" fmla="*/ 24398 h 24398"/>
            </a:gdLst>
            <a:ahLst/>
            <a:cxnLst>
              <a:cxn ang="T6">
                <a:pos x="T0" y="T1"/>
              </a:cxn>
              <a:cxn ang="T7">
                <a:pos x="T2" y="T3"/>
              </a:cxn>
              <a:cxn ang="T8">
                <a:pos x="T4" y="T5"/>
              </a:cxn>
            </a:cxnLst>
            <a:rect l="T9" t="T10" r="T11" b="T12"/>
            <a:pathLst>
              <a:path w="21600" h="24398" fill="none" extrusionOk="0">
                <a:moveTo>
                  <a:pt x="4741" y="-1"/>
                </a:moveTo>
                <a:cubicBezTo>
                  <a:pt x="14597" y="2217"/>
                  <a:pt x="21600" y="10970"/>
                  <a:pt x="21600" y="21073"/>
                </a:cubicBezTo>
                <a:cubicBezTo>
                  <a:pt x="21600" y="22186"/>
                  <a:pt x="21513" y="23297"/>
                  <a:pt x="21342" y="24397"/>
                </a:cubicBezTo>
              </a:path>
              <a:path w="21600" h="24398" stroke="0" extrusionOk="0">
                <a:moveTo>
                  <a:pt x="4741" y="-1"/>
                </a:moveTo>
                <a:cubicBezTo>
                  <a:pt x="14597" y="2217"/>
                  <a:pt x="21600" y="10970"/>
                  <a:pt x="21600" y="21073"/>
                </a:cubicBezTo>
                <a:cubicBezTo>
                  <a:pt x="21600" y="22186"/>
                  <a:pt x="21513" y="23297"/>
                  <a:pt x="21342" y="24397"/>
                </a:cubicBezTo>
                <a:lnTo>
                  <a:pt x="0" y="21073"/>
                </a:lnTo>
                <a:lnTo>
                  <a:pt x="4741" y="-1"/>
                </a:lnTo>
                <a:close/>
              </a:path>
            </a:pathLst>
          </a:custGeom>
          <a:noFill/>
          <a:ln w="47625">
            <a:solidFill>
              <a:srgbClr val="CC33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57817" name="Line 57"/>
          <p:cNvSpPr>
            <a:spLocks noChangeShapeType="1"/>
          </p:cNvSpPr>
          <p:nvPr/>
        </p:nvSpPr>
        <p:spPr bwMode="auto">
          <a:xfrm>
            <a:off x="1846263" y="1679575"/>
            <a:ext cx="1587" cy="1066800"/>
          </a:xfrm>
          <a:prstGeom prst="line">
            <a:avLst/>
          </a:prstGeom>
          <a:noFill/>
          <a:ln w="476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7818" name="Line 58"/>
          <p:cNvSpPr>
            <a:spLocks noChangeShapeType="1"/>
          </p:cNvSpPr>
          <p:nvPr/>
        </p:nvSpPr>
        <p:spPr bwMode="auto">
          <a:xfrm>
            <a:off x="2227263" y="1450975"/>
            <a:ext cx="1587" cy="1066800"/>
          </a:xfrm>
          <a:prstGeom prst="line">
            <a:avLst/>
          </a:prstGeom>
          <a:noFill/>
          <a:ln w="476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2" name="Group 76"/>
          <p:cNvGrpSpPr/>
          <p:nvPr/>
        </p:nvGrpSpPr>
        <p:grpSpPr bwMode="auto">
          <a:xfrm>
            <a:off x="5791200" y="685800"/>
            <a:ext cx="838200" cy="2514600"/>
            <a:chOff x="3744" y="864"/>
            <a:chExt cx="432" cy="1584"/>
          </a:xfrm>
        </p:grpSpPr>
        <p:sp>
          <p:nvSpPr>
            <p:cNvPr id="34861" name="Line 77"/>
            <p:cNvSpPr>
              <a:spLocks noChangeShapeType="1"/>
            </p:cNvSpPr>
            <p:nvPr/>
          </p:nvSpPr>
          <p:spPr bwMode="auto">
            <a:xfrm>
              <a:off x="3744" y="1056"/>
              <a:ext cx="0" cy="1392"/>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62" name="Line 78"/>
            <p:cNvSpPr>
              <a:spLocks noChangeShapeType="1"/>
            </p:cNvSpPr>
            <p:nvPr/>
          </p:nvSpPr>
          <p:spPr bwMode="auto">
            <a:xfrm>
              <a:off x="4176" y="864"/>
              <a:ext cx="0" cy="1248"/>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63" name="Line 79"/>
            <p:cNvSpPr>
              <a:spLocks noChangeShapeType="1"/>
            </p:cNvSpPr>
            <p:nvPr/>
          </p:nvSpPr>
          <p:spPr bwMode="auto">
            <a:xfrm flipV="1">
              <a:off x="3744" y="864"/>
              <a:ext cx="432" cy="192"/>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64" name="Line 80"/>
            <p:cNvSpPr>
              <a:spLocks noChangeShapeType="1"/>
            </p:cNvSpPr>
            <p:nvPr/>
          </p:nvSpPr>
          <p:spPr bwMode="auto">
            <a:xfrm flipV="1">
              <a:off x="3744" y="2112"/>
              <a:ext cx="432" cy="336"/>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57842" name="Line 82"/>
          <p:cNvSpPr>
            <a:spLocks noChangeShapeType="1"/>
          </p:cNvSpPr>
          <p:nvPr/>
        </p:nvSpPr>
        <p:spPr bwMode="auto">
          <a:xfrm>
            <a:off x="6172200" y="1524000"/>
            <a:ext cx="0" cy="53340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7843" name="Line 83"/>
          <p:cNvSpPr>
            <a:spLocks noChangeShapeType="1"/>
          </p:cNvSpPr>
          <p:nvPr/>
        </p:nvSpPr>
        <p:spPr bwMode="auto">
          <a:xfrm>
            <a:off x="5029200" y="2362200"/>
            <a:ext cx="762000" cy="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7844" name="Line 84"/>
          <p:cNvSpPr>
            <a:spLocks noChangeShapeType="1"/>
          </p:cNvSpPr>
          <p:nvPr/>
        </p:nvSpPr>
        <p:spPr bwMode="auto">
          <a:xfrm flipV="1">
            <a:off x="5715000" y="2438400"/>
            <a:ext cx="0" cy="53340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7845" name="Line 85"/>
          <p:cNvSpPr>
            <a:spLocks noChangeShapeType="1"/>
          </p:cNvSpPr>
          <p:nvPr/>
        </p:nvSpPr>
        <p:spPr bwMode="auto">
          <a:xfrm flipH="1">
            <a:off x="6705600" y="1524000"/>
            <a:ext cx="457200" cy="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7846" name="Line 86"/>
          <p:cNvSpPr>
            <a:spLocks noChangeShapeType="1"/>
          </p:cNvSpPr>
          <p:nvPr/>
        </p:nvSpPr>
        <p:spPr bwMode="auto">
          <a:xfrm>
            <a:off x="6705600" y="990600"/>
            <a:ext cx="0" cy="45720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7847" name="Line 87"/>
          <p:cNvSpPr>
            <a:spLocks noChangeShapeType="1"/>
          </p:cNvSpPr>
          <p:nvPr/>
        </p:nvSpPr>
        <p:spPr bwMode="auto">
          <a:xfrm flipV="1">
            <a:off x="5943600" y="2819400"/>
            <a:ext cx="609600" cy="381000"/>
          </a:xfrm>
          <a:prstGeom prst="line">
            <a:avLst/>
          </a:prstGeom>
          <a:noFill/>
          <a:ln w="22225">
            <a:solidFill>
              <a:srgbClr val="0000FF"/>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7848" name="Line 88"/>
          <p:cNvSpPr>
            <a:spLocks noChangeShapeType="1"/>
          </p:cNvSpPr>
          <p:nvPr/>
        </p:nvSpPr>
        <p:spPr bwMode="auto">
          <a:xfrm rot="10800000">
            <a:off x="6324600" y="3048000"/>
            <a:ext cx="304800" cy="45720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7849" name="Line 89"/>
          <p:cNvSpPr>
            <a:spLocks noChangeShapeType="1"/>
          </p:cNvSpPr>
          <p:nvPr/>
        </p:nvSpPr>
        <p:spPr bwMode="auto">
          <a:xfrm flipV="1">
            <a:off x="6629400" y="2209800"/>
            <a:ext cx="609600" cy="457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7850" name="Line 90"/>
          <p:cNvSpPr>
            <a:spLocks noChangeShapeType="1"/>
          </p:cNvSpPr>
          <p:nvPr/>
        </p:nvSpPr>
        <p:spPr bwMode="auto">
          <a:xfrm>
            <a:off x="6629400" y="2667000"/>
            <a:ext cx="6858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7851" name="Freeform 91"/>
          <p:cNvSpPr/>
          <p:nvPr/>
        </p:nvSpPr>
        <p:spPr bwMode="auto">
          <a:xfrm>
            <a:off x="6775450" y="2571750"/>
            <a:ext cx="77788" cy="88900"/>
          </a:xfrm>
          <a:custGeom>
            <a:avLst/>
            <a:gdLst>
              <a:gd name="T0" fmla="*/ 0 w 49"/>
              <a:gd name="T1" fmla="*/ 0 h 56"/>
              <a:gd name="T2" fmla="*/ 2147483646 w 49"/>
              <a:gd name="T3" fmla="*/ 2147483646 h 56"/>
              <a:gd name="T4" fmla="*/ 2147483646 w 49"/>
              <a:gd name="T5" fmla="*/ 2147483646 h 56"/>
              <a:gd name="T6" fmla="*/ 0 60000 65536"/>
              <a:gd name="T7" fmla="*/ 0 60000 65536"/>
              <a:gd name="T8" fmla="*/ 0 60000 65536"/>
              <a:gd name="T9" fmla="*/ 0 w 49"/>
              <a:gd name="T10" fmla="*/ 0 h 56"/>
              <a:gd name="T11" fmla="*/ 49 w 49"/>
              <a:gd name="T12" fmla="*/ 56 h 56"/>
            </a:gdLst>
            <a:ahLst/>
            <a:cxnLst>
              <a:cxn ang="T6">
                <a:pos x="T0" y="T1"/>
              </a:cxn>
              <a:cxn ang="T7">
                <a:pos x="T2" y="T3"/>
              </a:cxn>
              <a:cxn ang="T8">
                <a:pos x="T4" y="T5"/>
              </a:cxn>
            </a:cxnLst>
            <a:rect l="T9" t="T10" r="T11" b="T12"/>
            <a:pathLst>
              <a:path w="49" h="56">
                <a:moveTo>
                  <a:pt x="0" y="0"/>
                </a:moveTo>
                <a:cubicBezTo>
                  <a:pt x="20" y="10"/>
                  <a:pt x="20" y="22"/>
                  <a:pt x="40" y="32"/>
                </a:cubicBezTo>
                <a:cubicBezTo>
                  <a:pt x="49" y="50"/>
                  <a:pt x="48" y="42"/>
                  <a:pt x="48" y="56"/>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852" name="Line 92"/>
          <p:cNvSpPr>
            <a:spLocks noChangeShapeType="1"/>
          </p:cNvSpPr>
          <p:nvPr/>
        </p:nvSpPr>
        <p:spPr bwMode="auto">
          <a:xfrm>
            <a:off x="7467600" y="2667000"/>
            <a:ext cx="5334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7853" name="Line 93"/>
          <p:cNvSpPr>
            <a:spLocks noChangeShapeType="1"/>
          </p:cNvSpPr>
          <p:nvPr/>
        </p:nvSpPr>
        <p:spPr bwMode="auto">
          <a:xfrm>
            <a:off x="7467600" y="1524000"/>
            <a:ext cx="5334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7854" name="Line 94"/>
          <p:cNvSpPr>
            <a:spLocks noChangeShapeType="1"/>
          </p:cNvSpPr>
          <p:nvPr/>
        </p:nvSpPr>
        <p:spPr bwMode="auto">
          <a:xfrm>
            <a:off x="7696200" y="1524000"/>
            <a:ext cx="0" cy="11430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7856" name="Rectangle 96"/>
          <p:cNvSpPr>
            <a:spLocks noChangeArrowheads="1"/>
          </p:cNvSpPr>
          <p:nvPr/>
        </p:nvSpPr>
        <p:spPr bwMode="auto">
          <a:xfrm>
            <a:off x="4800600" y="1828800"/>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err="1" smtClean="0">
                <a:solidFill>
                  <a:srgbClr val="CC3300"/>
                </a:solidFill>
                <a:latin typeface="Times New Roman" panose="02020603050405020304" pitchFamily="18" charset="0"/>
                <a:sym typeface="Symbol" panose="05050102010706020507" pitchFamily="18" charset="2"/>
              </a:rPr>
              <a:t>E</a:t>
            </a:r>
            <a:r>
              <a:rPr kumimoji="1" lang="en-US" altLang="zh-CN" sz="2400" b="1" i="1" baseline="-25000" dirty="0" err="1" smtClean="0">
                <a:solidFill>
                  <a:srgbClr val="CC3300"/>
                </a:solidFill>
                <a:latin typeface="Times New Roman" panose="02020603050405020304" pitchFamily="18" charset="0"/>
                <a:sym typeface="Symbol" panose="05050102010706020507" pitchFamily="18" charset="2"/>
              </a:rPr>
              <a:t>i</a:t>
            </a:r>
            <a:endParaRPr kumimoji="1" lang="en-US" altLang="zh-CN" sz="2400" b="1" i="1" baseline="-25000" dirty="0">
              <a:solidFill>
                <a:srgbClr val="CC3300"/>
              </a:solidFill>
              <a:latin typeface="Times New Roman" panose="02020603050405020304" pitchFamily="18" charset="0"/>
              <a:sym typeface="Symbol" panose="05050102010706020507" pitchFamily="18" charset="2"/>
            </a:endParaRPr>
          </a:p>
        </p:txBody>
      </p:sp>
      <p:sp>
        <p:nvSpPr>
          <p:cNvPr id="757857" name="Rectangle 97"/>
          <p:cNvSpPr>
            <a:spLocks noChangeArrowheads="1"/>
          </p:cNvSpPr>
          <p:nvPr/>
        </p:nvSpPr>
        <p:spPr bwMode="auto">
          <a:xfrm>
            <a:off x="5257800" y="2667000"/>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smtClean="0">
                <a:solidFill>
                  <a:srgbClr val="CC3300"/>
                </a:solidFill>
                <a:latin typeface="Times New Roman" panose="02020603050405020304" pitchFamily="18" charset="0"/>
                <a:sym typeface="Symbol" panose="05050102010706020507" pitchFamily="18" charset="2"/>
              </a:rPr>
              <a:t>X</a:t>
            </a:r>
            <a:r>
              <a:rPr kumimoji="1" lang="en-US" altLang="zh-CN" sz="2400" b="1" i="1" baseline="-25000" dirty="0" smtClean="0">
                <a:solidFill>
                  <a:srgbClr val="CC3300"/>
                </a:solidFill>
                <a:latin typeface="Times New Roman" panose="02020603050405020304" pitchFamily="18" charset="0"/>
                <a:sym typeface="Symbol" panose="05050102010706020507" pitchFamily="18" charset="2"/>
              </a:rPr>
              <a:t>i</a:t>
            </a:r>
            <a:endParaRPr kumimoji="1" lang="en-US" altLang="zh-CN" sz="2400" b="1" i="1" baseline="-25000" dirty="0">
              <a:solidFill>
                <a:srgbClr val="CC3300"/>
              </a:solidFill>
              <a:latin typeface="Times New Roman" panose="02020603050405020304" pitchFamily="18" charset="0"/>
              <a:sym typeface="Symbol" panose="05050102010706020507" pitchFamily="18" charset="2"/>
            </a:endParaRPr>
          </a:p>
        </p:txBody>
      </p:sp>
      <p:sp>
        <p:nvSpPr>
          <p:cNvPr id="757858" name="Rectangle 98"/>
          <p:cNvSpPr>
            <a:spLocks noChangeArrowheads="1"/>
          </p:cNvSpPr>
          <p:nvPr/>
        </p:nvSpPr>
        <p:spPr bwMode="auto">
          <a:xfrm>
            <a:off x="6477000" y="27432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T</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baseline="-25000">
              <a:solidFill>
                <a:srgbClr val="CC3300"/>
              </a:solidFill>
              <a:latin typeface="Times New Roman" panose="02020603050405020304" pitchFamily="18" charset="0"/>
              <a:sym typeface="Symbol" panose="05050102010706020507" pitchFamily="18" charset="2"/>
            </a:endParaRPr>
          </a:p>
        </p:txBody>
      </p:sp>
      <p:sp>
        <p:nvSpPr>
          <p:cNvPr id="757859" name="Rectangle 99"/>
          <p:cNvSpPr>
            <a:spLocks noChangeArrowheads="1"/>
          </p:cNvSpPr>
          <p:nvPr/>
        </p:nvSpPr>
        <p:spPr bwMode="auto">
          <a:xfrm>
            <a:off x="6527800" y="33528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N</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a:solidFill>
                <a:srgbClr val="CC3300"/>
              </a:solidFill>
              <a:latin typeface="Times New Roman" panose="02020603050405020304" pitchFamily="18" charset="0"/>
              <a:sym typeface="Symbol" panose="05050102010706020507" pitchFamily="18" charset="2"/>
            </a:endParaRPr>
          </a:p>
        </p:txBody>
      </p:sp>
      <p:sp>
        <p:nvSpPr>
          <p:cNvPr id="757860" name="Rectangle 100"/>
          <p:cNvSpPr>
            <a:spLocks noChangeArrowheads="1"/>
          </p:cNvSpPr>
          <p:nvPr/>
        </p:nvSpPr>
        <p:spPr bwMode="auto">
          <a:xfrm>
            <a:off x="6781800" y="22860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993300"/>
                </a:solidFill>
                <a:latin typeface="Times New Roman" panose="02020603050405020304" pitchFamily="18" charset="0"/>
                <a:sym typeface="Symbol" panose="05050102010706020507" pitchFamily="18" charset="2"/>
              </a:rPr>
              <a:t></a:t>
            </a:r>
            <a:r>
              <a:rPr kumimoji="1" lang="en-US" altLang="zh-CN" sz="2400" b="1" i="1" baseline="-25000">
                <a:solidFill>
                  <a:srgbClr val="993300"/>
                </a:solidFill>
                <a:latin typeface="Times New Roman" panose="02020603050405020304" pitchFamily="18" charset="0"/>
                <a:sym typeface="Symbol" panose="05050102010706020507" pitchFamily="18" charset="2"/>
              </a:rPr>
              <a:t>i</a:t>
            </a:r>
            <a:endParaRPr kumimoji="1" lang="en-US" altLang="zh-CN" sz="2400" b="1" i="1" baseline="-25000">
              <a:solidFill>
                <a:srgbClr val="993300"/>
              </a:solidFill>
              <a:latin typeface="Times New Roman" panose="02020603050405020304" pitchFamily="18" charset="0"/>
              <a:sym typeface="Symbol" panose="05050102010706020507" pitchFamily="18" charset="2"/>
            </a:endParaRPr>
          </a:p>
        </p:txBody>
      </p:sp>
      <p:sp>
        <p:nvSpPr>
          <p:cNvPr id="757861" name="Rectangle 101"/>
          <p:cNvSpPr>
            <a:spLocks noChangeArrowheads="1"/>
          </p:cNvSpPr>
          <p:nvPr/>
        </p:nvSpPr>
        <p:spPr bwMode="auto">
          <a:xfrm>
            <a:off x="7696200" y="1828800"/>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h</a:t>
            </a:r>
            <a:r>
              <a:rPr kumimoji="1" lang="en-US" altLang="zh-CN" sz="2400" b="1" i="1" baseline="-25000">
                <a:solidFill>
                  <a:srgbClr val="CC3300"/>
                </a:solidFill>
                <a:latin typeface="Times New Roman" panose="02020603050405020304" pitchFamily="18" charset="0"/>
                <a:sym typeface="Symbol" panose="05050102010706020507" pitchFamily="18" charset="2"/>
              </a:rPr>
              <a:t>i</a:t>
            </a:r>
            <a:r>
              <a:rPr kumimoji="1" lang="en-US" altLang="zh-CN" sz="2400" b="1" baseline="-25000">
                <a:solidFill>
                  <a:srgbClr val="CC3300"/>
                </a:solidFill>
                <a:latin typeface="Times New Roman" panose="02020603050405020304" pitchFamily="18" charset="0"/>
                <a:sym typeface="Symbol" panose="05050102010706020507" pitchFamily="18" charset="2"/>
              </a:rPr>
              <a:t>+1</a:t>
            </a:r>
            <a:endParaRPr kumimoji="1" lang="en-US" altLang="zh-CN" sz="2400" b="1" i="1" baseline="-25000">
              <a:solidFill>
                <a:srgbClr val="CC3300"/>
              </a:solidFill>
              <a:latin typeface="Times New Roman" panose="02020603050405020304" pitchFamily="18" charset="0"/>
              <a:sym typeface="Symbol" panose="05050102010706020507" pitchFamily="18" charset="2"/>
            </a:endParaRPr>
          </a:p>
        </p:txBody>
      </p:sp>
      <p:sp>
        <p:nvSpPr>
          <p:cNvPr id="757862" name="Rectangle 102"/>
          <p:cNvSpPr>
            <a:spLocks noChangeArrowheads="1"/>
          </p:cNvSpPr>
          <p:nvPr/>
        </p:nvSpPr>
        <p:spPr bwMode="auto">
          <a:xfrm>
            <a:off x="5943600" y="2057400"/>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err="1" smtClean="0">
                <a:solidFill>
                  <a:srgbClr val="CC3300"/>
                </a:solidFill>
                <a:latin typeface="Times New Roman" panose="02020603050405020304" pitchFamily="18" charset="0"/>
                <a:sym typeface="Symbol" panose="05050102010706020507" pitchFamily="18" charset="2"/>
              </a:rPr>
              <a:t>G</a:t>
            </a:r>
            <a:r>
              <a:rPr kumimoji="1" lang="en-US" altLang="zh-CN" sz="2400" b="1" i="1" baseline="-25000" dirty="0" err="1" smtClean="0">
                <a:solidFill>
                  <a:srgbClr val="CC3300"/>
                </a:solidFill>
                <a:latin typeface="Times New Roman" panose="02020603050405020304" pitchFamily="18" charset="0"/>
                <a:sym typeface="Symbol" panose="05050102010706020507" pitchFamily="18" charset="2"/>
              </a:rPr>
              <a:t>i</a:t>
            </a:r>
            <a:endParaRPr kumimoji="1" lang="en-US" altLang="zh-CN" sz="2400" b="1" i="1" baseline="-25000" dirty="0">
              <a:solidFill>
                <a:srgbClr val="CC3300"/>
              </a:solidFill>
              <a:latin typeface="Times New Roman" panose="02020603050405020304" pitchFamily="18" charset="0"/>
              <a:sym typeface="Symbol" panose="05050102010706020507" pitchFamily="18" charset="2"/>
            </a:endParaRPr>
          </a:p>
        </p:txBody>
      </p:sp>
      <p:sp>
        <p:nvSpPr>
          <p:cNvPr id="757863" name="Rectangle 103"/>
          <p:cNvSpPr>
            <a:spLocks noChangeArrowheads="1"/>
          </p:cNvSpPr>
          <p:nvPr/>
        </p:nvSpPr>
        <p:spPr bwMode="auto">
          <a:xfrm>
            <a:off x="7010400" y="1143000"/>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smtClean="0">
                <a:solidFill>
                  <a:srgbClr val="CC3300"/>
                </a:solidFill>
                <a:latin typeface="Times New Roman" panose="02020603050405020304" pitchFamily="18" charset="0"/>
                <a:sym typeface="Symbol" panose="05050102010706020507" pitchFamily="18" charset="2"/>
              </a:rPr>
              <a:t>E</a:t>
            </a:r>
            <a:r>
              <a:rPr kumimoji="1" lang="en-US" altLang="zh-CN" sz="2400" b="1" i="1" baseline="-25000" dirty="0" smtClean="0">
                <a:solidFill>
                  <a:srgbClr val="CC3300"/>
                </a:solidFill>
                <a:latin typeface="Times New Roman" panose="02020603050405020304" pitchFamily="18" charset="0"/>
                <a:sym typeface="Symbol" panose="05050102010706020507" pitchFamily="18" charset="2"/>
              </a:rPr>
              <a:t>i</a:t>
            </a:r>
            <a:r>
              <a:rPr kumimoji="1" lang="en-US" altLang="zh-CN" sz="2400" b="1" baseline="-25000" dirty="0" smtClean="0">
                <a:solidFill>
                  <a:srgbClr val="CC3300"/>
                </a:solidFill>
                <a:latin typeface="Times New Roman" panose="02020603050405020304" pitchFamily="18" charset="0"/>
                <a:sym typeface="Symbol" panose="05050102010706020507" pitchFamily="18" charset="2"/>
              </a:rPr>
              <a:t>+1</a:t>
            </a:r>
            <a:endParaRPr kumimoji="1" lang="en-US" altLang="zh-CN" sz="2400" b="1" baseline="-25000" dirty="0">
              <a:solidFill>
                <a:srgbClr val="CC3300"/>
              </a:solidFill>
              <a:latin typeface="Times New Roman" panose="02020603050405020304" pitchFamily="18" charset="0"/>
              <a:sym typeface="Symbol" panose="05050102010706020507" pitchFamily="18" charset="2"/>
            </a:endParaRPr>
          </a:p>
        </p:txBody>
      </p:sp>
      <p:sp>
        <p:nvSpPr>
          <p:cNvPr id="757864" name="Rectangle 104"/>
          <p:cNvSpPr>
            <a:spLocks noChangeArrowheads="1"/>
          </p:cNvSpPr>
          <p:nvPr/>
        </p:nvSpPr>
        <p:spPr bwMode="auto">
          <a:xfrm>
            <a:off x="6629400" y="685800"/>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smtClean="0">
                <a:solidFill>
                  <a:srgbClr val="CC3300"/>
                </a:solidFill>
                <a:latin typeface="Times New Roman" panose="02020603050405020304" pitchFamily="18" charset="0"/>
                <a:sym typeface="Symbol" panose="05050102010706020507" pitchFamily="18" charset="2"/>
              </a:rPr>
              <a:t>X</a:t>
            </a:r>
            <a:r>
              <a:rPr kumimoji="1" lang="en-US" altLang="zh-CN" sz="2400" b="1" i="1" baseline="-25000" dirty="0" smtClean="0">
                <a:solidFill>
                  <a:srgbClr val="CC3300"/>
                </a:solidFill>
                <a:latin typeface="Times New Roman" panose="02020603050405020304" pitchFamily="18" charset="0"/>
                <a:sym typeface="Symbol" panose="05050102010706020507" pitchFamily="18" charset="2"/>
              </a:rPr>
              <a:t>i</a:t>
            </a:r>
            <a:r>
              <a:rPr kumimoji="1" lang="en-US" altLang="zh-CN" sz="2400" b="1" baseline="-25000" dirty="0" smtClean="0">
                <a:solidFill>
                  <a:srgbClr val="CC3300"/>
                </a:solidFill>
                <a:latin typeface="Times New Roman" panose="02020603050405020304" pitchFamily="18" charset="0"/>
                <a:sym typeface="Symbol" panose="05050102010706020507" pitchFamily="18" charset="2"/>
              </a:rPr>
              <a:t>+1</a:t>
            </a:r>
            <a:endParaRPr kumimoji="1" lang="en-US" altLang="zh-CN" sz="2400" b="1" baseline="-25000" dirty="0">
              <a:solidFill>
                <a:srgbClr val="CC3300"/>
              </a:solidFill>
              <a:latin typeface="Times New Roman" panose="02020603050405020304" pitchFamily="18" charset="0"/>
              <a:sym typeface="Symbol" panose="05050102010706020507" pitchFamily="18" charset="2"/>
            </a:endParaRPr>
          </a:p>
        </p:txBody>
      </p:sp>
      <p:sp>
        <p:nvSpPr>
          <p:cNvPr id="757868" name="Text Box 108"/>
          <p:cNvSpPr txBox="1">
            <a:spLocks noChangeArrowheads="1"/>
          </p:cNvSpPr>
          <p:nvPr/>
        </p:nvSpPr>
        <p:spPr bwMode="auto">
          <a:xfrm>
            <a:off x="228600" y="3733800"/>
            <a:ext cx="163195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3200" b="1">
                <a:solidFill>
                  <a:srgbClr val="990033"/>
                </a:solidFill>
                <a:ea typeface="隶书" panose="02010509060101010101" pitchFamily="49" charset="-122"/>
              </a:rPr>
              <a:t>未知数：</a:t>
            </a:r>
            <a:endParaRPr lang="zh-CN" altLang="en-US" sz="3200" b="1">
              <a:solidFill>
                <a:srgbClr val="0000FF"/>
              </a:solidFill>
              <a:ea typeface="隶书" panose="02010509060101010101" pitchFamily="49" charset="-122"/>
            </a:endParaRPr>
          </a:p>
        </p:txBody>
      </p:sp>
      <p:sp>
        <p:nvSpPr>
          <p:cNvPr id="757869" name="Text Box 109"/>
          <p:cNvSpPr txBox="1">
            <a:spLocks noChangeArrowheads="1"/>
          </p:cNvSpPr>
          <p:nvPr/>
        </p:nvSpPr>
        <p:spPr bwMode="auto">
          <a:xfrm>
            <a:off x="1676400" y="3886200"/>
            <a:ext cx="655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2400" b="1">
                <a:solidFill>
                  <a:srgbClr val="0000FF"/>
                </a:solidFill>
              </a:rPr>
              <a:t>条块简力</a:t>
            </a:r>
            <a:r>
              <a:rPr lang="zh-CN" altLang="en-US" sz="2400" b="1">
                <a:solidFill>
                  <a:srgbClr val="CC3300"/>
                </a:solidFill>
              </a:rPr>
              <a:t>＋</a:t>
            </a:r>
            <a:r>
              <a:rPr lang="zh-CN" altLang="en-US" sz="2400" b="1">
                <a:solidFill>
                  <a:srgbClr val="0000FF"/>
                </a:solidFill>
              </a:rPr>
              <a:t>作用点位置</a:t>
            </a:r>
            <a:r>
              <a:rPr lang="zh-CN" altLang="en-US" sz="2400" b="1">
                <a:solidFill>
                  <a:srgbClr val="CC3300"/>
                </a:solidFill>
                <a:latin typeface="Times New Roman" panose="02020603050405020304" pitchFamily="18" charset="0"/>
              </a:rPr>
              <a:t>＝</a:t>
            </a:r>
            <a:r>
              <a:rPr lang="en-US" altLang="zh-CN" sz="2400" b="1">
                <a:solidFill>
                  <a:srgbClr val="0000FF"/>
                </a:solidFill>
              </a:rPr>
              <a:t>2(n-1)+(n-1) </a:t>
            </a:r>
            <a:r>
              <a:rPr lang="zh-CN" altLang="en-US" sz="2400" b="1">
                <a:solidFill>
                  <a:srgbClr val="CC3300"/>
                </a:solidFill>
              </a:rPr>
              <a:t>＝</a:t>
            </a:r>
            <a:r>
              <a:rPr lang="zh-CN" altLang="en-US" sz="2400" b="1">
                <a:solidFill>
                  <a:srgbClr val="0000FF"/>
                </a:solidFill>
              </a:rPr>
              <a:t> </a:t>
            </a:r>
            <a:r>
              <a:rPr lang="en-US" altLang="zh-CN" sz="2400" b="1">
                <a:solidFill>
                  <a:srgbClr val="0000FF"/>
                </a:solidFill>
              </a:rPr>
              <a:t>3n-3</a:t>
            </a:r>
            <a:endParaRPr lang="en-US" altLang="zh-CN" sz="2400" b="1">
              <a:solidFill>
                <a:srgbClr val="0000FF"/>
              </a:solidFill>
            </a:endParaRPr>
          </a:p>
        </p:txBody>
      </p:sp>
      <p:sp>
        <p:nvSpPr>
          <p:cNvPr id="757870" name="Text Box 110"/>
          <p:cNvSpPr txBox="1">
            <a:spLocks noChangeArrowheads="1"/>
          </p:cNvSpPr>
          <p:nvPr/>
        </p:nvSpPr>
        <p:spPr bwMode="auto">
          <a:xfrm>
            <a:off x="1676400" y="4343400"/>
            <a:ext cx="4495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2400" b="1">
                <a:solidFill>
                  <a:srgbClr val="0000FF"/>
                </a:solidFill>
              </a:rPr>
              <a:t>滑动面上的力</a:t>
            </a:r>
            <a:r>
              <a:rPr lang="zh-CN" altLang="en-US" sz="2400" b="1">
                <a:solidFill>
                  <a:srgbClr val="CC3300"/>
                </a:solidFill>
              </a:rPr>
              <a:t>＋</a:t>
            </a:r>
            <a:r>
              <a:rPr lang="zh-CN" altLang="en-US" sz="2400" b="1">
                <a:solidFill>
                  <a:srgbClr val="0000FF"/>
                </a:solidFill>
              </a:rPr>
              <a:t>作用点位置</a:t>
            </a:r>
            <a:r>
              <a:rPr lang="zh-CN" altLang="en-US" sz="2400" b="1">
                <a:solidFill>
                  <a:srgbClr val="CC3300"/>
                </a:solidFill>
              </a:rPr>
              <a:t>＝</a:t>
            </a:r>
            <a:r>
              <a:rPr lang="en-US" altLang="zh-CN" sz="2400" b="1">
                <a:solidFill>
                  <a:srgbClr val="0000FF"/>
                </a:solidFill>
              </a:rPr>
              <a:t>3n</a:t>
            </a:r>
            <a:endParaRPr lang="en-US" altLang="zh-CN" sz="2400" b="1">
              <a:solidFill>
                <a:srgbClr val="0000FF"/>
              </a:solidFill>
            </a:endParaRPr>
          </a:p>
        </p:txBody>
      </p:sp>
      <p:sp>
        <p:nvSpPr>
          <p:cNvPr id="757871" name="Text Box 111"/>
          <p:cNvSpPr txBox="1">
            <a:spLocks noChangeArrowheads="1"/>
          </p:cNvSpPr>
          <p:nvPr/>
        </p:nvSpPr>
        <p:spPr bwMode="auto">
          <a:xfrm>
            <a:off x="1676400" y="4724400"/>
            <a:ext cx="2895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2400" b="1" dirty="0">
                <a:solidFill>
                  <a:srgbClr val="0000FF"/>
                </a:solidFill>
              </a:rPr>
              <a:t>安全系数 </a:t>
            </a:r>
            <a:r>
              <a:rPr lang="en-US" altLang="zh-CN" sz="2400" b="1" dirty="0" smtClean="0">
                <a:solidFill>
                  <a:srgbClr val="0000FF"/>
                </a:solidFill>
              </a:rPr>
              <a:t>K</a:t>
            </a:r>
            <a:r>
              <a:rPr lang="en-US" altLang="zh-CN" sz="2400" b="1" i="1" dirty="0" smtClean="0">
                <a:solidFill>
                  <a:srgbClr val="0000FF"/>
                </a:solidFill>
              </a:rPr>
              <a:t> </a:t>
            </a:r>
            <a:r>
              <a:rPr lang="zh-CN" altLang="en-US" sz="2400" b="1" dirty="0">
                <a:solidFill>
                  <a:srgbClr val="CC3300"/>
                </a:solidFill>
              </a:rPr>
              <a:t>＝</a:t>
            </a:r>
            <a:r>
              <a:rPr lang="en-US" altLang="zh-CN" sz="2400" b="1" dirty="0">
                <a:solidFill>
                  <a:srgbClr val="0000FF"/>
                </a:solidFill>
              </a:rPr>
              <a:t>1</a:t>
            </a:r>
            <a:endParaRPr lang="en-US" altLang="zh-CN" sz="2400" b="1" dirty="0">
              <a:solidFill>
                <a:srgbClr val="0000FF"/>
              </a:solidFill>
            </a:endParaRPr>
          </a:p>
        </p:txBody>
      </p:sp>
      <p:sp>
        <p:nvSpPr>
          <p:cNvPr id="757873" name="AutoShape 113"/>
          <p:cNvSpPr/>
          <p:nvPr/>
        </p:nvSpPr>
        <p:spPr bwMode="auto">
          <a:xfrm>
            <a:off x="7848600" y="3962400"/>
            <a:ext cx="76200" cy="1066800"/>
          </a:xfrm>
          <a:prstGeom prst="rightBrace">
            <a:avLst>
              <a:gd name="adj1" fmla="val 116667"/>
              <a:gd name="adj2" fmla="val 50000"/>
            </a:avLst>
          </a:prstGeom>
          <a:noFill/>
          <a:ln w="34925">
            <a:solidFill>
              <a:srgbClr val="CC3300"/>
            </a:solidFill>
            <a:round/>
          </a:ln>
          <a:extLst>
            <a:ext uri="{909E8E84-426E-40DD-AFC4-6F175D3DCCD1}">
              <a14:hiddenFill xmlns:a14="http://schemas.microsoft.com/office/drawing/2010/main">
                <a:solidFill>
                  <a:srgbClr val="FFFFFF"/>
                </a:solidFill>
              </a14:hiddenFill>
            </a:ext>
          </a:extLst>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757865" name="Text Box 105"/>
          <p:cNvSpPr txBox="1">
            <a:spLocks noChangeArrowheads="1"/>
          </p:cNvSpPr>
          <p:nvPr/>
        </p:nvSpPr>
        <p:spPr bwMode="auto">
          <a:xfrm>
            <a:off x="228600" y="5029200"/>
            <a:ext cx="163195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3200" b="1">
                <a:solidFill>
                  <a:srgbClr val="990033"/>
                </a:solidFill>
                <a:ea typeface="隶书" panose="02010509060101010101" pitchFamily="49" charset="-122"/>
              </a:rPr>
              <a:t>方程数：</a:t>
            </a:r>
            <a:endParaRPr lang="zh-CN" altLang="en-US" sz="3200" b="1">
              <a:solidFill>
                <a:srgbClr val="0000FF"/>
              </a:solidFill>
              <a:ea typeface="隶书" panose="02010509060101010101" pitchFamily="49" charset="-122"/>
            </a:endParaRPr>
          </a:p>
        </p:txBody>
      </p:sp>
      <p:sp>
        <p:nvSpPr>
          <p:cNvPr id="757866" name="Text Box 106"/>
          <p:cNvSpPr txBox="1">
            <a:spLocks noChangeArrowheads="1"/>
          </p:cNvSpPr>
          <p:nvPr/>
        </p:nvSpPr>
        <p:spPr bwMode="auto">
          <a:xfrm>
            <a:off x="1676400" y="5181600"/>
            <a:ext cx="4191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2400" b="1">
                <a:solidFill>
                  <a:srgbClr val="0000FF"/>
                </a:solidFill>
              </a:rPr>
              <a:t>静力平衡</a:t>
            </a:r>
            <a:r>
              <a:rPr lang="zh-CN" altLang="en-US" sz="2400" b="1">
                <a:solidFill>
                  <a:srgbClr val="CC3300"/>
                </a:solidFill>
              </a:rPr>
              <a:t>＋</a:t>
            </a:r>
            <a:r>
              <a:rPr lang="zh-CN" altLang="en-US" sz="2400" b="1">
                <a:solidFill>
                  <a:srgbClr val="0000FF"/>
                </a:solidFill>
              </a:rPr>
              <a:t>力矩平衡</a:t>
            </a:r>
            <a:r>
              <a:rPr lang="zh-CN" altLang="en-US" sz="2400" b="1">
                <a:solidFill>
                  <a:srgbClr val="CC3300"/>
                </a:solidFill>
              </a:rPr>
              <a:t>＝</a:t>
            </a:r>
            <a:r>
              <a:rPr lang="en-US" altLang="zh-CN" sz="2400" b="1">
                <a:solidFill>
                  <a:srgbClr val="0000FF"/>
                </a:solidFill>
              </a:rPr>
              <a:t>3n</a:t>
            </a:r>
            <a:endParaRPr lang="en-US" altLang="zh-CN" sz="2400" b="1">
              <a:solidFill>
                <a:srgbClr val="0000FF"/>
              </a:solidFill>
            </a:endParaRPr>
          </a:p>
        </p:txBody>
      </p:sp>
      <p:sp>
        <p:nvSpPr>
          <p:cNvPr id="757867" name="Text Box 107"/>
          <p:cNvSpPr txBox="1">
            <a:spLocks noChangeArrowheads="1"/>
          </p:cNvSpPr>
          <p:nvPr/>
        </p:nvSpPr>
        <p:spPr bwMode="auto">
          <a:xfrm>
            <a:off x="1676400" y="5562600"/>
            <a:ext cx="3733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2400" b="1">
                <a:solidFill>
                  <a:srgbClr val="0000FF"/>
                </a:solidFill>
              </a:rPr>
              <a:t>滑动面上极限平衡条件</a:t>
            </a:r>
            <a:r>
              <a:rPr lang="zh-CN" altLang="en-US" sz="2400" b="1">
                <a:solidFill>
                  <a:srgbClr val="CC3300"/>
                </a:solidFill>
              </a:rPr>
              <a:t>＝</a:t>
            </a:r>
            <a:r>
              <a:rPr lang="en-US" altLang="zh-CN" sz="2400" b="1">
                <a:solidFill>
                  <a:srgbClr val="0000FF"/>
                </a:solidFill>
              </a:rPr>
              <a:t>n</a:t>
            </a:r>
            <a:endParaRPr lang="en-US" altLang="zh-CN" sz="2400" b="1">
              <a:solidFill>
                <a:srgbClr val="0000FF"/>
              </a:solidFill>
            </a:endParaRPr>
          </a:p>
        </p:txBody>
      </p:sp>
      <p:sp>
        <p:nvSpPr>
          <p:cNvPr id="757872" name="AutoShape 112"/>
          <p:cNvSpPr/>
          <p:nvPr/>
        </p:nvSpPr>
        <p:spPr bwMode="auto">
          <a:xfrm>
            <a:off x="5334000" y="5257800"/>
            <a:ext cx="76200" cy="609600"/>
          </a:xfrm>
          <a:prstGeom prst="rightBrace">
            <a:avLst>
              <a:gd name="adj1" fmla="val 66667"/>
              <a:gd name="adj2" fmla="val 50000"/>
            </a:avLst>
          </a:prstGeom>
          <a:noFill/>
          <a:ln w="34925">
            <a:solidFill>
              <a:srgbClr val="CC3300"/>
            </a:solidFill>
            <a:round/>
          </a:ln>
          <a:extLst>
            <a:ext uri="{909E8E84-426E-40DD-AFC4-6F175D3DCCD1}">
              <a14:hiddenFill xmlns:a14="http://schemas.microsoft.com/office/drawing/2010/main">
                <a:solidFill>
                  <a:srgbClr val="FFFFFF"/>
                </a:solidFill>
              </a14:hiddenFill>
            </a:ext>
          </a:extLst>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757874" name="Rectangle 114"/>
          <p:cNvSpPr>
            <a:spLocks noChangeArrowheads="1"/>
          </p:cNvSpPr>
          <p:nvPr/>
        </p:nvSpPr>
        <p:spPr bwMode="auto">
          <a:xfrm>
            <a:off x="5486400" y="5334000"/>
            <a:ext cx="539750" cy="457200"/>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a:r>
              <a:rPr lang="en-US" altLang="zh-CN" sz="2400" b="1">
                <a:solidFill>
                  <a:schemeClr val="accent1"/>
                </a:solidFill>
              </a:rPr>
              <a:t>4n</a:t>
            </a:r>
            <a:endParaRPr lang="en-US" altLang="zh-CN" sz="2400" b="1">
              <a:solidFill>
                <a:schemeClr val="accent1"/>
              </a:solidFill>
            </a:endParaRPr>
          </a:p>
        </p:txBody>
      </p:sp>
      <p:sp>
        <p:nvSpPr>
          <p:cNvPr id="757875" name="Rectangle 115"/>
          <p:cNvSpPr>
            <a:spLocks noChangeArrowheads="1"/>
          </p:cNvSpPr>
          <p:nvPr/>
        </p:nvSpPr>
        <p:spPr bwMode="auto">
          <a:xfrm>
            <a:off x="8001000" y="4267200"/>
            <a:ext cx="811213" cy="457200"/>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a:r>
              <a:rPr lang="en-US" altLang="zh-CN" sz="2400" b="1">
                <a:solidFill>
                  <a:schemeClr val="accent1"/>
                </a:solidFill>
              </a:rPr>
              <a:t>6n-2</a:t>
            </a:r>
            <a:endParaRPr lang="en-US" altLang="zh-CN" sz="2400" b="1">
              <a:solidFill>
                <a:schemeClr val="accent1"/>
              </a:solidFill>
            </a:endParaRPr>
          </a:p>
        </p:txBody>
      </p:sp>
      <p:sp>
        <p:nvSpPr>
          <p:cNvPr id="757876" name="Text Box 116"/>
          <p:cNvSpPr txBox="1">
            <a:spLocks noChangeArrowheads="1"/>
          </p:cNvSpPr>
          <p:nvPr/>
        </p:nvSpPr>
        <p:spPr bwMode="auto">
          <a:xfrm>
            <a:off x="1219200" y="6019800"/>
            <a:ext cx="4332288" cy="496888"/>
          </a:xfrm>
          <a:prstGeom prst="rect">
            <a:avLst/>
          </a:prstGeom>
          <a:solidFill>
            <a:schemeClr val="tx2">
              <a:lumMod val="20000"/>
              <a:lumOff val="80000"/>
            </a:schemeClr>
          </a:solidFill>
          <a:ln w="9525" algn="ctr">
            <a:solidFill>
              <a:srgbClr val="0066FF"/>
            </a:solidFill>
            <a:miter lim="800000"/>
          </a:ln>
        </p:spPr>
        <p:txBody>
          <a:bodyPr wrap="none"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en-US" altLang="zh-CN" sz="3200" b="1" dirty="0">
                <a:solidFill>
                  <a:srgbClr val="CC3300"/>
                </a:solidFill>
                <a:ea typeface="隶书" panose="02010509060101010101" pitchFamily="49" charset="-122"/>
              </a:rPr>
              <a:t> </a:t>
            </a:r>
            <a:r>
              <a:rPr lang="zh-CN" altLang="en-US" sz="3200" b="1" dirty="0">
                <a:solidFill>
                  <a:srgbClr val="CC3300"/>
                </a:solidFill>
                <a:ea typeface="隶书" panose="02010509060101010101" pitchFamily="49" charset="-122"/>
              </a:rPr>
              <a:t>未知数－方程数＝</a:t>
            </a:r>
            <a:r>
              <a:rPr lang="en-US" altLang="zh-CN" sz="3200" b="1" dirty="0">
                <a:solidFill>
                  <a:srgbClr val="0000FF"/>
                </a:solidFill>
                <a:ea typeface="隶书" panose="02010509060101010101" pitchFamily="49" charset="-122"/>
              </a:rPr>
              <a:t>2n-2 </a:t>
            </a:r>
            <a:endParaRPr lang="en-US" altLang="zh-CN" sz="3200" b="1" dirty="0">
              <a:solidFill>
                <a:srgbClr val="0000FF"/>
              </a:solidFill>
              <a:ea typeface="隶书" panose="02010509060101010101" pitchFamily="49" charset="-122"/>
            </a:endParaRPr>
          </a:p>
        </p:txBody>
      </p:sp>
      <p:sp>
        <p:nvSpPr>
          <p:cNvPr id="757887" name="Line 127"/>
          <p:cNvSpPr>
            <a:spLocks noChangeShapeType="1"/>
          </p:cNvSpPr>
          <p:nvPr/>
        </p:nvSpPr>
        <p:spPr bwMode="auto">
          <a:xfrm flipH="1">
            <a:off x="4876800" y="3200400"/>
            <a:ext cx="8382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7888" name="Line 128"/>
          <p:cNvSpPr>
            <a:spLocks noChangeShapeType="1"/>
          </p:cNvSpPr>
          <p:nvPr/>
        </p:nvSpPr>
        <p:spPr bwMode="auto">
          <a:xfrm>
            <a:off x="5181600" y="2362200"/>
            <a:ext cx="0" cy="8382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7890" name="Rectangle 130"/>
          <p:cNvSpPr>
            <a:spLocks noChangeArrowheads="1"/>
          </p:cNvSpPr>
          <p:nvPr/>
        </p:nvSpPr>
        <p:spPr bwMode="auto">
          <a:xfrm>
            <a:off x="4800600" y="2514600"/>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h</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baseline="-25000">
              <a:solidFill>
                <a:srgbClr val="CC3300"/>
              </a:solidFill>
              <a:latin typeface="Times New Roman" panose="02020603050405020304" pitchFamily="18" charset="0"/>
              <a:sym typeface="Symbol" panose="05050102010706020507" pitchFamily="18" charset="2"/>
            </a:endParaRPr>
          </a:p>
        </p:txBody>
      </p:sp>
      <p:sp>
        <p:nvSpPr>
          <p:cNvPr id="49" name="Rectangle 6"/>
          <p:cNvSpPr>
            <a:spLocks noChangeArrowheads="1"/>
          </p:cNvSpPr>
          <p:nvPr/>
        </p:nvSpPr>
        <p:spPr bwMode="auto">
          <a:xfrm>
            <a:off x="0" y="-7396"/>
            <a:ext cx="41148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黏性土坡的稳定性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57815"/>
                                        </p:tgtEl>
                                        <p:attrNameLst>
                                          <p:attrName>style.visibility</p:attrName>
                                        </p:attrNameLst>
                                      </p:cBhvr>
                                      <p:to>
                                        <p:strVal val="visible"/>
                                      </p:to>
                                    </p:set>
                                    <p:animEffect transition="in" filter="wipe(up)">
                                      <p:cBhvr>
                                        <p:cTn id="7" dur="500"/>
                                        <p:tgtEl>
                                          <p:spTgt spid="7578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57816"/>
                                        </p:tgtEl>
                                        <p:attrNameLst>
                                          <p:attrName>style.visibility</p:attrName>
                                        </p:attrNameLst>
                                      </p:cBhvr>
                                      <p:to>
                                        <p:strVal val="visible"/>
                                      </p:to>
                                    </p:set>
                                    <p:animEffect transition="in" filter="wipe(up)">
                                      <p:cBhvr>
                                        <p:cTn id="12" dur="500"/>
                                        <p:tgtEl>
                                          <p:spTgt spid="7578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57817"/>
                                        </p:tgtEl>
                                        <p:attrNameLst>
                                          <p:attrName>style.visibility</p:attrName>
                                        </p:attrNameLst>
                                      </p:cBhvr>
                                      <p:to>
                                        <p:strVal val="visible"/>
                                      </p:to>
                                    </p:set>
                                    <p:animEffect transition="in" filter="wipe(up)">
                                      <p:cBhvr>
                                        <p:cTn id="17" dur="500"/>
                                        <p:tgtEl>
                                          <p:spTgt spid="757817"/>
                                        </p:tgtEl>
                                      </p:cBhvr>
                                    </p:animEffec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757818"/>
                                        </p:tgtEl>
                                        <p:attrNameLst>
                                          <p:attrName>style.visibility</p:attrName>
                                        </p:attrNameLst>
                                      </p:cBhvr>
                                      <p:to>
                                        <p:strVal val="visible"/>
                                      </p:to>
                                    </p:set>
                                    <p:animEffect transition="in" filter="wipe(up)">
                                      <p:cBhvr>
                                        <p:cTn id="21" dur="500"/>
                                        <p:tgtEl>
                                          <p:spTgt spid="757818"/>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dissolve">
                                      <p:cBhvr>
                                        <p:cTn id="26" dur="5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757849"/>
                                        </p:tgtEl>
                                        <p:attrNameLst>
                                          <p:attrName>style.visibility</p:attrName>
                                        </p:attrNameLst>
                                      </p:cBhvr>
                                      <p:to>
                                        <p:strVal val="visible"/>
                                      </p:to>
                                    </p:set>
                                    <p:animEffect transition="in" filter="wipe(left)">
                                      <p:cBhvr>
                                        <p:cTn id="31" dur="500"/>
                                        <p:tgtEl>
                                          <p:spTgt spid="757849"/>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757850"/>
                                        </p:tgtEl>
                                        <p:attrNameLst>
                                          <p:attrName>style.visibility</p:attrName>
                                        </p:attrNameLst>
                                      </p:cBhvr>
                                      <p:to>
                                        <p:strVal val="visible"/>
                                      </p:to>
                                    </p:set>
                                    <p:animEffect transition="in" filter="wipe(left)">
                                      <p:cBhvr>
                                        <p:cTn id="35" dur="500"/>
                                        <p:tgtEl>
                                          <p:spTgt spid="757850"/>
                                        </p:tgtEl>
                                      </p:cBhvr>
                                    </p:animEffect>
                                  </p:childTnLst>
                                </p:cTn>
                              </p:par>
                            </p:childTnLst>
                          </p:cTn>
                        </p:par>
                        <p:par>
                          <p:cTn id="36" fill="hold">
                            <p:stCondLst>
                              <p:cond delay="1000"/>
                            </p:stCondLst>
                            <p:childTnLst>
                              <p:par>
                                <p:cTn id="37" presetID="9" presetClass="entr" presetSubtype="0" fill="hold" nodeType="afterEffect">
                                  <p:stCondLst>
                                    <p:cond delay="0"/>
                                  </p:stCondLst>
                                  <p:childTnLst>
                                    <p:set>
                                      <p:cBhvr>
                                        <p:cTn id="38" dur="1" fill="hold">
                                          <p:stCondLst>
                                            <p:cond delay="0"/>
                                          </p:stCondLst>
                                        </p:cTn>
                                        <p:tgtEl>
                                          <p:spTgt spid="757851"/>
                                        </p:tgtEl>
                                        <p:attrNameLst>
                                          <p:attrName>style.visibility</p:attrName>
                                        </p:attrNameLst>
                                      </p:cBhvr>
                                      <p:to>
                                        <p:strVal val="visible"/>
                                      </p:to>
                                    </p:set>
                                    <p:animEffect transition="in" filter="dissolve">
                                      <p:cBhvr>
                                        <p:cTn id="39" dur="500"/>
                                        <p:tgtEl>
                                          <p:spTgt spid="757851"/>
                                        </p:tgtEl>
                                      </p:cBhvr>
                                    </p:animEffect>
                                  </p:childTnLst>
                                </p:cTn>
                              </p:par>
                            </p:childTnLst>
                          </p:cTn>
                        </p:par>
                        <p:par>
                          <p:cTn id="40" fill="hold">
                            <p:stCondLst>
                              <p:cond delay="1500"/>
                            </p:stCondLst>
                            <p:childTnLst>
                              <p:par>
                                <p:cTn id="41" presetID="9" presetClass="entr" presetSubtype="0" fill="hold" grpId="0" nodeType="afterEffect">
                                  <p:stCondLst>
                                    <p:cond delay="0"/>
                                  </p:stCondLst>
                                  <p:childTnLst>
                                    <p:set>
                                      <p:cBhvr>
                                        <p:cTn id="42" dur="1" fill="hold">
                                          <p:stCondLst>
                                            <p:cond delay="0"/>
                                          </p:stCondLst>
                                        </p:cTn>
                                        <p:tgtEl>
                                          <p:spTgt spid="757860"/>
                                        </p:tgtEl>
                                        <p:attrNameLst>
                                          <p:attrName>style.visibility</p:attrName>
                                        </p:attrNameLst>
                                      </p:cBhvr>
                                      <p:to>
                                        <p:strVal val="visible"/>
                                      </p:to>
                                    </p:set>
                                    <p:animEffect transition="in" filter="dissolve">
                                      <p:cBhvr>
                                        <p:cTn id="43" dur="500"/>
                                        <p:tgtEl>
                                          <p:spTgt spid="757860"/>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757842"/>
                                        </p:tgtEl>
                                        <p:attrNameLst>
                                          <p:attrName>style.visibility</p:attrName>
                                        </p:attrNameLst>
                                      </p:cBhvr>
                                      <p:to>
                                        <p:strVal val="visible"/>
                                      </p:to>
                                    </p:set>
                                    <p:animEffect transition="in" filter="wipe(up)">
                                      <p:cBhvr>
                                        <p:cTn id="48" dur="500"/>
                                        <p:tgtEl>
                                          <p:spTgt spid="757842"/>
                                        </p:tgtEl>
                                      </p:cBhvr>
                                    </p:animEffect>
                                  </p:childTnLst>
                                </p:cTn>
                              </p:par>
                            </p:childTnLst>
                          </p:cTn>
                        </p:par>
                        <p:par>
                          <p:cTn id="49" fill="hold">
                            <p:stCondLst>
                              <p:cond delay="500"/>
                            </p:stCondLst>
                            <p:childTnLst>
                              <p:par>
                                <p:cTn id="50" presetID="9" presetClass="entr" presetSubtype="0" fill="hold" grpId="0" nodeType="afterEffect">
                                  <p:stCondLst>
                                    <p:cond delay="0"/>
                                  </p:stCondLst>
                                  <p:childTnLst>
                                    <p:set>
                                      <p:cBhvr>
                                        <p:cTn id="51" dur="1" fill="hold">
                                          <p:stCondLst>
                                            <p:cond delay="0"/>
                                          </p:stCondLst>
                                        </p:cTn>
                                        <p:tgtEl>
                                          <p:spTgt spid="757862"/>
                                        </p:tgtEl>
                                        <p:attrNameLst>
                                          <p:attrName>style.visibility</p:attrName>
                                        </p:attrNameLst>
                                      </p:cBhvr>
                                      <p:to>
                                        <p:strVal val="visible"/>
                                      </p:to>
                                    </p:set>
                                    <p:animEffect transition="in" filter="dissolve">
                                      <p:cBhvr>
                                        <p:cTn id="52" dur="500"/>
                                        <p:tgtEl>
                                          <p:spTgt spid="75786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2" fill="hold" nodeType="clickEffect">
                                  <p:stCondLst>
                                    <p:cond delay="0"/>
                                  </p:stCondLst>
                                  <p:childTnLst>
                                    <p:set>
                                      <p:cBhvr>
                                        <p:cTn id="56" dur="1" fill="hold">
                                          <p:stCondLst>
                                            <p:cond delay="0"/>
                                          </p:stCondLst>
                                        </p:cTn>
                                        <p:tgtEl>
                                          <p:spTgt spid="757845"/>
                                        </p:tgtEl>
                                        <p:attrNameLst>
                                          <p:attrName>style.visibility</p:attrName>
                                        </p:attrNameLst>
                                      </p:cBhvr>
                                      <p:to>
                                        <p:strVal val="visible"/>
                                      </p:to>
                                    </p:set>
                                    <p:animEffect transition="in" filter="wipe(right)">
                                      <p:cBhvr>
                                        <p:cTn id="57" dur="500"/>
                                        <p:tgtEl>
                                          <p:spTgt spid="757845"/>
                                        </p:tgtEl>
                                      </p:cBhvr>
                                    </p:animEffect>
                                  </p:childTnLst>
                                </p:cTn>
                              </p:par>
                            </p:childTnLst>
                          </p:cTn>
                        </p:par>
                        <p:par>
                          <p:cTn id="58" fill="hold">
                            <p:stCondLst>
                              <p:cond delay="500"/>
                            </p:stCondLst>
                            <p:childTnLst>
                              <p:par>
                                <p:cTn id="59" presetID="9" presetClass="entr" presetSubtype="0" fill="hold" grpId="0" nodeType="afterEffect">
                                  <p:stCondLst>
                                    <p:cond delay="0"/>
                                  </p:stCondLst>
                                  <p:childTnLst>
                                    <p:set>
                                      <p:cBhvr>
                                        <p:cTn id="60" dur="1" fill="hold">
                                          <p:stCondLst>
                                            <p:cond delay="0"/>
                                          </p:stCondLst>
                                        </p:cTn>
                                        <p:tgtEl>
                                          <p:spTgt spid="757863"/>
                                        </p:tgtEl>
                                        <p:attrNameLst>
                                          <p:attrName>style.visibility</p:attrName>
                                        </p:attrNameLst>
                                      </p:cBhvr>
                                      <p:to>
                                        <p:strVal val="visible"/>
                                      </p:to>
                                    </p:set>
                                    <p:animEffect transition="in" filter="dissolve">
                                      <p:cBhvr>
                                        <p:cTn id="61" dur="500"/>
                                        <p:tgtEl>
                                          <p:spTgt spid="75786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nodeType="clickEffect">
                                  <p:stCondLst>
                                    <p:cond delay="0"/>
                                  </p:stCondLst>
                                  <p:childTnLst>
                                    <p:set>
                                      <p:cBhvr>
                                        <p:cTn id="65" dur="1" fill="hold">
                                          <p:stCondLst>
                                            <p:cond delay="0"/>
                                          </p:stCondLst>
                                        </p:cTn>
                                        <p:tgtEl>
                                          <p:spTgt spid="757846"/>
                                        </p:tgtEl>
                                        <p:attrNameLst>
                                          <p:attrName>style.visibility</p:attrName>
                                        </p:attrNameLst>
                                      </p:cBhvr>
                                      <p:to>
                                        <p:strVal val="visible"/>
                                      </p:to>
                                    </p:set>
                                    <p:animEffect transition="in" filter="wipe(up)">
                                      <p:cBhvr>
                                        <p:cTn id="66" dur="500"/>
                                        <p:tgtEl>
                                          <p:spTgt spid="757846"/>
                                        </p:tgtEl>
                                      </p:cBhvr>
                                    </p:animEffect>
                                  </p:childTnLst>
                                </p:cTn>
                              </p:par>
                            </p:childTnLst>
                          </p:cTn>
                        </p:par>
                        <p:par>
                          <p:cTn id="67" fill="hold">
                            <p:stCondLst>
                              <p:cond delay="500"/>
                            </p:stCondLst>
                            <p:childTnLst>
                              <p:par>
                                <p:cTn id="68" presetID="9" presetClass="entr" presetSubtype="0" fill="hold" grpId="0" nodeType="afterEffect">
                                  <p:stCondLst>
                                    <p:cond delay="0"/>
                                  </p:stCondLst>
                                  <p:childTnLst>
                                    <p:set>
                                      <p:cBhvr>
                                        <p:cTn id="69" dur="1" fill="hold">
                                          <p:stCondLst>
                                            <p:cond delay="0"/>
                                          </p:stCondLst>
                                        </p:cTn>
                                        <p:tgtEl>
                                          <p:spTgt spid="757864"/>
                                        </p:tgtEl>
                                        <p:attrNameLst>
                                          <p:attrName>style.visibility</p:attrName>
                                        </p:attrNameLst>
                                      </p:cBhvr>
                                      <p:to>
                                        <p:strVal val="visible"/>
                                      </p:to>
                                    </p:set>
                                    <p:animEffect transition="in" filter="dissolve">
                                      <p:cBhvr>
                                        <p:cTn id="70" dur="500"/>
                                        <p:tgtEl>
                                          <p:spTgt spid="757864"/>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757843"/>
                                        </p:tgtEl>
                                        <p:attrNameLst>
                                          <p:attrName>style.visibility</p:attrName>
                                        </p:attrNameLst>
                                      </p:cBhvr>
                                      <p:to>
                                        <p:strVal val="visible"/>
                                      </p:to>
                                    </p:set>
                                    <p:animEffect transition="in" filter="wipe(left)">
                                      <p:cBhvr>
                                        <p:cTn id="75" dur="500"/>
                                        <p:tgtEl>
                                          <p:spTgt spid="757843"/>
                                        </p:tgtEl>
                                      </p:cBhvr>
                                    </p:animEffect>
                                  </p:childTnLst>
                                </p:cTn>
                              </p:par>
                            </p:childTnLst>
                          </p:cTn>
                        </p:par>
                        <p:par>
                          <p:cTn id="76" fill="hold">
                            <p:stCondLst>
                              <p:cond delay="500"/>
                            </p:stCondLst>
                            <p:childTnLst>
                              <p:par>
                                <p:cTn id="77" presetID="9" presetClass="entr" presetSubtype="0" fill="hold" grpId="0" nodeType="afterEffect">
                                  <p:stCondLst>
                                    <p:cond delay="0"/>
                                  </p:stCondLst>
                                  <p:childTnLst>
                                    <p:set>
                                      <p:cBhvr>
                                        <p:cTn id="78" dur="1" fill="hold">
                                          <p:stCondLst>
                                            <p:cond delay="0"/>
                                          </p:stCondLst>
                                        </p:cTn>
                                        <p:tgtEl>
                                          <p:spTgt spid="757856"/>
                                        </p:tgtEl>
                                        <p:attrNameLst>
                                          <p:attrName>style.visibility</p:attrName>
                                        </p:attrNameLst>
                                      </p:cBhvr>
                                      <p:to>
                                        <p:strVal val="visible"/>
                                      </p:to>
                                    </p:set>
                                    <p:animEffect transition="in" filter="dissolve">
                                      <p:cBhvr>
                                        <p:cTn id="79" dur="500"/>
                                        <p:tgtEl>
                                          <p:spTgt spid="757856"/>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4" fill="hold" nodeType="clickEffect">
                                  <p:stCondLst>
                                    <p:cond delay="0"/>
                                  </p:stCondLst>
                                  <p:childTnLst>
                                    <p:set>
                                      <p:cBhvr>
                                        <p:cTn id="83" dur="1" fill="hold">
                                          <p:stCondLst>
                                            <p:cond delay="0"/>
                                          </p:stCondLst>
                                        </p:cTn>
                                        <p:tgtEl>
                                          <p:spTgt spid="757844"/>
                                        </p:tgtEl>
                                        <p:attrNameLst>
                                          <p:attrName>style.visibility</p:attrName>
                                        </p:attrNameLst>
                                      </p:cBhvr>
                                      <p:to>
                                        <p:strVal val="visible"/>
                                      </p:to>
                                    </p:set>
                                    <p:animEffect transition="in" filter="wipe(down)">
                                      <p:cBhvr>
                                        <p:cTn id="84" dur="500"/>
                                        <p:tgtEl>
                                          <p:spTgt spid="757844"/>
                                        </p:tgtEl>
                                      </p:cBhvr>
                                    </p:animEffect>
                                  </p:childTnLst>
                                </p:cTn>
                              </p:par>
                            </p:childTnLst>
                          </p:cTn>
                        </p:par>
                        <p:par>
                          <p:cTn id="85" fill="hold">
                            <p:stCondLst>
                              <p:cond delay="500"/>
                            </p:stCondLst>
                            <p:childTnLst>
                              <p:par>
                                <p:cTn id="86" presetID="9" presetClass="entr" presetSubtype="0" fill="hold" grpId="0" nodeType="afterEffect">
                                  <p:stCondLst>
                                    <p:cond delay="0"/>
                                  </p:stCondLst>
                                  <p:childTnLst>
                                    <p:set>
                                      <p:cBhvr>
                                        <p:cTn id="87" dur="1" fill="hold">
                                          <p:stCondLst>
                                            <p:cond delay="0"/>
                                          </p:stCondLst>
                                        </p:cTn>
                                        <p:tgtEl>
                                          <p:spTgt spid="757857"/>
                                        </p:tgtEl>
                                        <p:attrNameLst>
                                          <p:attrName>style.visibility</p:attrName>
                                        </p:attrNameLst>
                                      </p:cBhvr>
                                      <p:to>
                                        <p:strVal val="visible"/>
                                      </p:to>
                                    </p:set>
                                    <p:animEffect transition="in" filter="dissolve">
                                      <p:cBhvr>
                                        <p:cTn id="88" dur="500"/>
                                        <p:tgtEl>
                                          <p:spTgt spid="757857"/>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2" fill="hold" nodeType="clickEffect">
                                  <p:stCondLst>
                                    <p:cond delay="0"/>
                                  </p:stCondLst>
                                  <p:childTnLst>
                                    <p:set>
                                      <p:cBhvr>
                                        <p:cTn id="92" dur="1" fill="hold">
                                          <p:stCondLst>
                                            <p:cond delay="0"/>
                                          </p:stCondLst>
                                        </p:cTn>
                                        <p:tgtEl>
                                          <p:spTgt spid="757848"/>
                                        </p:tgtEl>
                                        <p:attrNameLst>
                                          <p:attrName>style.visibility</p:attrName>
                                        </p:attrNameLst>
                                      </p:cBhvr>
                                      <p:to>
                                        <p:strVal val="visible"/>
                                      </p:to>
                                    </p:set>
                                    <p:animEffect transition="in" filter="wipe(right)">
                                      <p:cBhvr>
                                        <p:cTn id="93" dur="500"/>
                                        <p:tgtEl>
                                          <p:spTgt spid="757848"/>
                                        </p:tgtEl>
                                      </p:cBhvr>
                                    </p:animEffect>
                                  </p:childTnLst>
                                </p:cTn>
                              </p:par>
                            </p:childTnLst>
                          </p:cTn>
                        </p:par>
                        <p:par>
                          <p:cTn id="94" fill="hold">
                            <p:stCondLst>
                              <p:cond delay="500"/>
                            </p:stCondLst>
                            <p:childTnLst>
                              <p:par>
                                <p:cTn id="95" presetID="9" presetClass="entr" presetSubtype="0" fill="hold" grpId="0" nodeType="afterEffect">
                                  <p:stCondLst>
                                    <p:cond delay="0"/>
                                  </p:stCondLst>
                                  <p:childTnLst>
                                    <p:set>
                                      <p:cBhvr>
                                        <p:cTn id="96" dur="1" fill="hold">
                                          <p:stCondLst>
                                            <p:cond delay="0"/>
                                          </p:stCondLst>
                                        </p:cTn>
                                        <p:tgtEl>
                                          <p:spTgt spid="757859"/>
                                        </p:tgtEl>
                                        <p:attrNameLst>
                                          <p:attrName>style.visibility</p:attrName>
                                        </p:attrNameLst>
                                      </p:cBhvr>
                                      <p:to>
                                        <p:strVal val="visible"/>
                                      </p:to>
                                    </p:set>
                                    <p:animEffect transition="in" filter="dissolve">
                                      <p:cBhvr>
                                        <p:cTn id="97" dur="500"/>
                                        <p:tgtEl>
                                          <p:spTgt spid="757859"/>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757847"/>
                                        </p:tgtEl>
                                        <p:attrNameLst>
                                          <p:attrName>style.visibility</p:attrName>
                                        </p:attrNameLst>
                                      </p:cBhvr>
                                      <p:to>
                                        <p:strVal val="visible"/>
                                      </p:to>
                                    </p:set>
                                    <p:animEffect transition="in" filter="wipe(left)">
                                      <p:cBhvr>
                                        <p:cTn id="102" dur="500"/>
                                        <p:tgtEl>
                                          <p:spTgt spid="757847"/>
                                        </p:tgtEl>
                                      </p:cBhvr>
                                    </p:animEffect>
                                  </p:childTnLst>
                                </p:cTn>
                              </p:par>
                            </p:childTnLst>
                          </p:cTn>
                        </p:par>
                        <p:par>
                          <p:cTn id="103" fill="hold">
                            <p:stCondLst>
                              <p:cond delay="500"/>
                            </p:stCondLst>
                            <p:childTnLst>
                              <p:par>
                                <p:cTn id="104" presetID="9" presetClass="entr" presetSubtype="0" fill="hold" grpId="0" nodeType="afterEffect">
                                  <p:stCondLst>
                                    <p:cond delay="0"/>
                                  </p:stCondLst>
                                  <p:childTnLst>
                                    <p:set>
                                      <p:cBhvr>
                                        <p:cTn id="105" dur="1" fill="hold">
                                          <p:stCondLst>
                                            <p:cond delay="0"/>
                                          </p:stCondLst>
                                        </p:cTn>
                                        <p:tgtEl>
                                          <p:spTgt spid="757858"/>
                                        </p:tgtEl>
                                        <p:attrNameLst>
                                          <p:attrName>style.visibility</p:attrName>
                                        </p:attrNameLst>
                                      </p:cBhvr>
                                      <p:to>
                                        <p:strVal val="visible"/>
                                      </p:to>
                                    </p:set>
                                    <p:animEffect transition="in" filter="dissolve">
                                      <p:cBhvr>
                                        <p:cTn id="106" dur="500"/>
                                        <p:tgtEl>
                                          <p:spTgt spid="757858"/>
                                        </p:tgtEl>
                                      </p:cBhvr>
                                    </p:animEffect>
                                  </p:childTnLst>
                                </p:cTn>
                              </p:par>
                            </p:childTnLst>
                          </p:cTn>
                        </p:par>
                      </p:childTnLst>
                    </p:cTn>
                  </p:par>
                  <p:par>
                    <p:cTn id="107" fill="hold">
                      <p:stCondLst>
                        <p:cond delay="indefinite"/>
                      </p:stCondLst>
                      <p:childTnLst>
                        <p:par>
                          <p:cTn id="108" fill="hold">
                            <p:stCondLst>
                              <p:cond delay="0"/>
                            </p:stCondLst>
                            <p:childTnLst>
                              <p:par>
                                <p:cTn id="109" presetID="9" presetClass="entr" presetSubtype="0" fill="hold" nodeType="clickEffect">
                                  <p:stCondLst>
                                    <p:cond delay="0"/>
                                  </p:stCondLst>
                                  <p:childTnLst>
                                    <p:set>
                                      <p:cBhvr>
                                        <p:cTn id="110" dur="1" fill="hold">
                                          <p:stCondLst>
                                            <p:cond delay="0"/>
                                          </p:stCondLst>
                                        </p:cTn>
                                        <p:tgtEl>
                                          <p:spTgt spid="757853"/>
                                        </p:tgtEl>
                                        <p:attrNameLst>
                                          <p:attrName>style.visibility</p:attrName>
                                        </p:attrNameLst>
                                      </p:cBhvr>
                                      <p:to>
                                        <p:strVal val="visible"/>
                                      </p:to>
                                    </p:set>
                                    <p:animEffect transition="in" filter="dissolve">
                                      <p:cBhvr>
                                        <p:cTn id="111" dur="500"/>
                                        <p:tgtEl>
                                          <p:spTgt spid="757853"/>
                                        </p:tgtEl>
                                      </p:cBhvr>
                                    </p:animEffect>
                                  </p:childTnLst>
                                </p:cTn>
                              </p:par>
                            </p:childTnLst>
                          </p:cTn>
                        </p:par>
                        <p:par>
                          <p:cTn id="112" fill="hold">
                            <p:stCondLst>
                              <p:cond delay="500"/>
                            </p:stCondLst>
                            <p:childTnLst>
                              <p:par>
                                <p:cTn id="113" presetID="9" presetClass="entr" presetSubtype="0" fill="hold" nodeType="afterEffect">
                                  <p:stCondLst>
                                    <p:cond delay="0"/>
                                  </p:stCondLst>
                                  <p:childTnLst>
                                    <p:set>
                                      <p:cBhvr>
                                        <p:cTn id="114" dur="1" fill="hold">
                                          <p:stCondLst>
                                            <p:cond delay="0"/>
                                          </p:stCondLst>
                                        </p:cTn>
                                        <p:tgtEl>
                                          <p:spTgt spid="757852"/>
                                        </p:tgtEl>
                                        <p:attrNameLst>
                                          <p:attrName>style.visibility</p:attrName>
                                        </p:attrNameLst>
                                      </p:cBhvr>
                                      <p:to>
                                        <p:strVal val="visible"/>
                                      </p:to>
                                    </p:set>
                                    <p:animEffect transition="in" filter="dissolve">
                                      <p:cBhvr>
                                        <p:cTn id="115" dur="500"/>
                                        <p:tgtEl>
                                          <p:spTgt spid="757852"/>
                                        </p:tgtEl>
                                      </p:cBhvr>
                                    </p:animEffect>
                                  </p:childTnLst>
                                </p:cTn>
                              </p:par>
                            </p:childTnLst>
                          </p:cTn>
                        </p:par>
                        <p:par>
                          <p:cTn id="116" fill="hold">
                            <p:stCondLst>
                              <p:cond delay="1000"/>
                            </p:stCondLst>
                            <p:childTnLst>
                              <p:par>
                                <p:cTn id="117" presetID="16" presetClass="entr" presetSubtype="42" fill="hold" nodeType="afterEffect">
                                  <p:stCondLst>
                                    <p:cond delay="0"/>
                                  </p:stCondLst>
                                  <p:childTnLst>
                                    <p:set>
                                      <p:cBhvr>
                                        <p:cTn id="118" dur="1" fill="hold">
                                          <p:stCondLst>
                                            <p:cond delay="0"/>
                                          </p:stCondLst>
                                        </p:cTn>
                                        <p:tgtEl>
                                          <p:spTgt spid="757854"/>
                                        </p:tgtEl>
                                        <p:attrNameLst>
                                          <p:attrName>style.visibility</p:attrName>
                                        </p:attrNameLst>
                                      </p:cBhvr>
                                      <p:to>
                                        <p:strVal val="visible"/>
                                      </p:to>
                                    </p:set>
                                    <p:animEffect transition="in" filter="barn(outHorizontal)">
                                      <p:cBhvr>
                                        <p:cTn id="119" dur="500"/>
                                        <p:tgtEl>
                                          <p:spTgt spid="757854"/>
                                        </p:tgtEl>
                                      </p:cBhvr>
                                    </p:animEffect>
                                  </p:childTnLst>
                                </p:cTn>
                              </p:par>
                            </p:childTnLst>
                          </p:cTn>
                        </p:par>
                        <p:par>
                          <p:cTn id="120" fill="hold">
                            <p:stCondLst>
                              <p:cond delay="1500"/>
                            </p:stCondLst>
                            <p:childTnLst>
                              <p:par>
                                <p:cTn id="121" presetID="9" presetClass="entr" presetSubtype="0" fill="hold" nodeType="afterEffect">
                                  <p:stCondLst>
                                    <p:cond delay="0"/>
                                  </p:stCondLst>
                                  <p:childTnLst>
                                    <p:set>
                                      <p:cBhvr>
                                        <p:cTn id="122" dur="1" fill="hold">
                                          <p:stCondLst>
                                            <p:cond delay="0"/>
                                          </p:stCondLst>
                                        </p:cTn>
                                        <p:tgtEl>
                                          <p:spTgt spid="757887"/>
                                        </p:tgtEl>
                                        <p:attrNameLst>
                                          <p:attrName>style.visibility</p:attrName>
                                        </p:attrNameLst>
                                      </p:cBhvr>
                                      <p:to>
                                        <p:strVal val="visible"/>
                                      </p:to>
                                    </p:set>
                                    <p:animEffect transition="in" filter="dissolve">
                                      <p:cBhvr>
                                        <p:cTn id="123" dur="500"/>
                                        <p:tgtEl>
                                          <p:spTgt spid="757887"/>
                                        </p:tgtEl>
                                      </p:cBhvr>
                                    </p:animEffect>
                                  </p:childTnLst>
                                </p:cTn>
                              </p:par>
                            </p:childTnLst>
                          </p:cTn>
                        </p:par>
                        <p:par>
                          <p:cTn id="124" fill="hold">
                            <p:stCondLst>
                              <p:cond delay="2000"/>
                            </p:stCondLst>
                            <p:childTnLst>
                              <p:par>
                                <p:cTn id="125" presetID="16" presetClass="entr" presetSubtype="42" fill="hold" nodeType="afterEffect">
                                  <p:stCondLst>
                                    <p:cond delay="0"/>
                                  </p:stCondLst>
                                  <p:childTnLst>
                                    <p:set>
                                      <p:cBhvr>
                                        <p:cTn id="126" dur="1" fill="hold">
                                          <p:stCondLst>
                                            <p:cond delay="0"/>
                                          </p:stCondLst>
                                        </p:cTn>
                                        <p:tgtEl>
                                          <p:spTgt spid="757888"/>
                                        </p:tgtEl>
                                        <p:attrNameLst>
                                          <p:attrName>style.visibility</p:attrName>
                                        </p:attrNameLst>
                                      </p:cBhvr>
                                      <p:to>
                                        <p:strVal val="visible"/>
                                      </p:to>
                                    </p:set>
                                    <p:animEffect transition="in" filter="barn(outHorizontal)">
                                      <p:cBhvr>
                                        <p:cTn id="127" dur="500"/>
                                        <p:tgtEl>
                                          <p:spTgt spid="757888"/>
                                        </p:tgtEl>
                                      </p:cBhvr>
                                    </p:animEffect>
                                  </p:childTnLst>
                                </p:cTn>
                              </p:par>
                            </p:childTnLst>
                          </p:cTn>
                        </p:par>
                        <p:par>
                          <p:cTn id="128" fill="hold">
                            <p:stCondLst>
                              <p:cond delay="2500"/>
                            </p:stCondLst>
                            <p:childTnLst>
                              <p:par>
                                <p:cTn id="129" presetID="9" presetClass="entr" presetSubtype="0" fill="hold" grpId="0" nodeType="afterEffect">
                                  <p:stCondLst>
                                    <p:cond delay="0"/>
                                  </p:stCondLst>
                                  <p:childTnLst>
                                    <p:set>
                                      <p:cBhvr>
                                        <p:cTn id="130" dur="1" fill="hold">
                                          <p:stCondLst>
                                            <p:cond delay="0"/>
                                          </p:stCondLst>
                                        </p:cTn>
                                        <p:tgtEl>
                                          <p:spTgt spid="757861"/>
                                        </p:tgtEl>
                                        <p:attrNameLst>
                                          <p:attrName>style.visibility</p:attrName>
                                        </p:attrNameLst>
                                      </p:cBhvr>
                                      <p:to>
                                        <p:strVal val="visible"/>
                                      </p:to>
                                    </p:set>
                                    <p:animEffect transition="in" filter="dissolve">
                                      <p:cBhvr>
                                        <p:cTn id="131" dur="500"/>
                                        <p:tgtEl>
                                          <p:spTgt spid="757861"/>
                                        </p:tgtEl>
                                      </p:cBhvr>
                                    </p:animEffect>
                                  </p:childTnLst>
                                </p:cTn>
                              </p:par>
                            </p:childTnLst>
                          </p:cTn>
                        </p:par>
                        <p:par>
                          <p:cTn id="132" fill="hold">
                            <p:stCondLst>
                              <p:cond delay="3000"/>
                            </p:stCondLst>
                            <p:childTnLst>
                              <p:par>
                                <p:cTn id="133" presetID="9" presetClass="entr" presetSubtype="0" fill="hold" grpId="0" nodeType="afterEffect">
                                  <p:stCondLst>
                                    <p:cond delay="0"/>
                                  </p:stCondLst>
                                  <p:childTnLst>
                                    <p:set>
                                      <p:cBhvr>
                                        <p:cTn id="134" dur="1" fill="hold">
                                          <p:stCondLst>
                                            <p:cond delay="0"/>
                                          </p:stCondLst>
                                        </p:cTn>
                                        <p:tgtEl>
                                          <p:spTgt spid="757890"/>
                                        </p:tgtEl>
                                        <p:attrNameLst>
                                          <p:attrName>style.visibility</p:attrName>
                                        </p:attrNameLst>
                                      </p:cBhvr>
                                      <p:to>
                                        <p:strVal val="visible"/>
                                      </p:to>
                                    </p:set>
                                    <p:animEffect transition="in" filter="dissolve">
                                      <p:cBhvr>
                                        <p:cTn id="135" dur="500"/>
                                        <p:tgtEl>
                                          <p:spTgt spid="757890"/>
                                        </p:tgtEl>
                                      </p:cBhvr>
                                    </p:animEffect>
                                  </p:childTnLst>
                                </p:cTn>
                              </p:par>
                            </p:childTnLst>
                          </p:cTn>
                        </p:par>
                      </p:childTnLst>
                    </p:cTn>
                  </p:par>
                  <p:par>
                    <p:cTn id="136" fill="hold">
                      <p:stCondLst>
                        <p:cond delay="indefinite"/>
                      </p:stCondLst>
                      <p:childTnLst>
                        <p:par>
                          <p:cTn id="137" fill="hold">
                            <p:stCondLst>
                              <p:cond delay="0"/>
                            </p:stCondLst>
                            <p:childTnLst>
                              <p:par>
                                <p:cTn id="138" presetID="9" presetClass="entr" presetSubtype="0" fill="hold" grpId="0" nodeType="clickEffect">
                                  <p:stCondLst>
                                    <p:cond delay="0"/>
                                  </p:stCondLst>
                                  <p:childTnLst>
                                    <p:set>
                                      <p:cBhvr>
                                        <p:cTn id="139" dur="1" fill="hold">
                                          <p:stCondLst>
                                            <p:cond delay="0"/>
                                          </p:stCondLst>
                                        </p:cTn>
                                        <p:tgtEl>
                                          <p:spTgt spid="757868"/>
                                        </p:tgtEl>
                                        <p:attrNameLst>
                                          <p:attrName>style.visibility</p:attrName>
                                        </p:attrNameLst>
                                      </p:cBhvr>
                                      <p:to>
                                        <p:strVal val="visible"/>
                                      </p:to>
                                    </p:set>
                                    <p:animEffect transition="in" filter="dissolve">
                                      <p:cBhvr>
                                        <p:cTn id="140" dur="500"/>
                                        <p:tgtEl>
                                          <p:spTgt spid="757868"/>
                                        </p:tgtEl>
                                      </p:cBhvr>
                                    </p:animEffect>
                                  </p:childTnLst>
                                </p:cTn>
                              </p:par>
                            </p:childTnLst>
                          </p:cTn>
                        </p:par>
                      </p:childTnLst>
                    </p:cTn>
                  </p:par>
                  <p:par>
                    <p:cTn id="141" fill="hold">
                      <p:stCondLst>
                        <p:cond delay="indefinite"/>
                      </p:stCondLst>
                      <p:childTnLst>
                        <p:par>
                          <p:cTn id="142" fill="hold">
                            <p:stCondLst>
                              <p:cond delay="0"/>
                            </p:stCondLst>
                            <p:childTnLst>
                              <p:par>
                                <p:cTn id="143" presetID="9" presetClass="entr" presetSubtype="0" fill="hold" grpId="0" nodeType="clickEffect">
                                  <p:stCondLst>
                                    <p:cond delay="0"/>
                                  </p:stCondLst>
                                  <p:childTnLst>
                                    <p:set>
                                      <p:cBhvr>
                                        <p:cTn id="144" dur="1" fill="hold">
                                          <p:stCondLst>
                                            <p:cond delay="0"/>
                                          </p:stCondLst>
                                        </p:cTn>
                                        <p:tgtEl>
                                          <p:spTgt spid="757869"/>
                                        </p:tgtEl>
                                        <p:attrNameLst>
                                          <p:attrName>style.visibility</p:attrName>
                                        </p:attrNameLst>
                                      </p:cBhvr>
                                      <p:to>
                                        <p:strVal val="visible"/>
                                      </p:to>
                                    </p:set>
                                    <p:animEffect transition="in" filter="dissolve">
                                      <p:cBhvr>
                                        <p:cTn id="145" dur="500"/>
                                        <p:tgtEl>
                                          <p:spTgt spid="757869"/>
                                        </p:tgtEl>
                                      </p:cBhvr>
                                    </p:animEffect>
                                  </p:childTnLst>
                                </p:cTn>
                              </p:par>
                            </p:childTnLst>
                          </p:cTn>
                        </p:par>
                      </p:childTnLst>
                    </p:cTn>
                  </p:par>
                  <p:par>
                    <p:cTn id="146" fill="hold">
                      <p:stCondLst>
                        <p:cond delay="indefinite"/>
                      </p:stCondLst>
                      <p:childTnLst>
                        <p:par>
                          <p:cTn id="147" fill="hold">
                            <p:stCondLst>
                              <p:cond delay="0"/>
                            </p:stCondLst>
                            <p:childTnLst>
                              <p:par>
                                <p:cTn id="148" presetID="9" presetClass="entr" presetSubtype="0" fill="hold" grpId="0" nodeType="clickEffect">
                                  <p:stCondLst>
                                    <p:cond delay="0"/>
                                  </p:stCondLst>
                                  <p:childTnLst>
                                    <p:set>
                                      <p:cBhvr>
                                        <p:cTn id="149" dur="1" fill="hold">
                                          <p:stCondLst>
                                            <p:cond delay="0"/>
                                          </p:stCondLst>
                                        </p:cTn>
                                        <p:tgtEl>
                                          <p:spTgt spid="757870"/>
                                        </p:tgtEl>
                                        <p:attrNameLst>
                                          <p:attrName>style.visibility</p:attrName>
                                        </p:attrNameLst>
                                      </p:cBhvr>
                                      <p:to>
                                        <p:strVal val="visible"/>
                                      </p:to>
                                    </p:set>
                                    <p:animEffect transition="in" filter="dissolve">
                                      <p:cBhvr>
                                        <p:cTn id="150" dur="500"/>
                                        <p:tgtEl>
                                          <p:spTgt spid="757870"/>
                                        </p:tgtEl>
                                      </p:cBhvr>
                                    </p:animEffect>
                                  </p:childTnLst>
                                </p:cTn>
                              </p:par>
                            </p:childTnLst>
                          </p:cTn>
                        </p:par>
                      </p:childTnLst>
                    </p:cTn>
                  </p:par>
                  <p:par>
                    <p:cTn id="151" fill="hold">
                      <p:stCondLst>
                        <p:cond delay="indefinite"/>
                      </p:stCondLst>
                      <p:childTnLst>
                        <p:par>
                          <p:cTn id="152" fill="hold">
                            <p:stCondLst>
                              <p:cond delay="0"/>
                            </p:stCondLst>
                            <p:childTnLst>
                              <p:par>
                                <p:cTn id="153" presetID="9" presetClass="entr" presetSubtype="0" fill="hold" grpId="0" nodeType="clickEffect">
                                  <p:stCondLst>
                                    <p:cond delay="0"/>
                                  </p:stCondLst>
                                  <p:childTnLst>
                                    <p:set>
                                      <p:cBhvr>
                                        <p:cTn id="154" dur="1" fill="hold">
                                          <p:stCondLst>
                                            <p:cond delay="0"/>
                                          </p:stCondLst>
                                        </p:cTn>
                                        <p:tgtEl>
                                          <p:spTgt spid="757871"/>
                                        </p:tgtEl>
                                        <p:attrNameLst>
                                          <p:attrName>style.visibility</p:attrName>
                                        </p:attrNameLst>
                                      </p:cBhvr>
                                      <p:to>
                                        <p:strVal val="visible"/>
                                      </p:to>
                                    </p:set>
                                    <p:animEffect transition="in" filter="dissolve">
                                      <p:cBhvr>
                                        <p:cTn id="155" dur="500"/>
                                        <p:tgtEl>
                                          <p:spTgt spid="757871"/>
                                        </p:tgtEl>
                                      </p:cBhvr>
                                    </p:animEffect>
                                  </p:childTnLst>
                                </p:cTn>
                              </p:par>
                            </p:childTnLst>
                          </p:cTn>
                        </p:par>
                      </p:childTnLst>
                    </p:cTn>
                  </p:par>
                  <p:par>
                    <p:cTn id="156" fill="hold">
                      <p:stCondLst>
                        <p:cond delay="indefinite"/>
                      </p:stCondLst>
                      <p:childTnLst>
                        <p:par>
                          <p:cTn id="157" fill="hold">
                            <p:stCondLst>
                              <p:cond delay="0"/>
                            </p:stCondLst>
                            <p:childTnLst>
                              <p:par>
                                <p:cTn id="158" presetID="9" presetClass="entr" presetSubtype="0" fill="hold" grpId="0" nodeType="clickEffect">
                                  <p:stCondLst>
                                    <p:cond delay="0"/>
                                  </p:stCondLst>
                                  <p:childTnLst>
                                    <p:set>
                                      <p:cBhvr>
                                        <p:cTn id="159" dur="1" fill="hold">
                                          <p:stCondLst>
                                            <p:cond delay="0"/>
                                          </p:stCondLst>
                                        </p:cTn>
                                        <p:tgtEl>
                                          <p:spTgt spid="757873"/>
                                        </p:tgtEl>
                                        <p:attrNameLst>
                                          <p:attrName>style.visibility</p:attrName>
                                        </p:attrNameLst>
                                      </p:cBhvr>
                                      <p:to>
                                        <p:strVal val="visible"/>
                                      </p:to>
                                    </p:set>
                                    <p:animEffect transition="in" filter="dissolve">
                                      <p:cBhvr>
                                        <p:cTn id="160" dur="500"/>
                                        <p:tgtEl>
                                          <p:spTgt spid="757873"/>
                                        </p:tgtEl>
                                      </p:cBhvr>
                                    </p:animEffect>
                                  </p:childTnLst>
                                </p:cTn>
                              </p:par>
                            </p:childTnLst>
                          </p:cTn>
                        </p:par>
                        <p:par>
                          <p:cTn id="161" fill="hold">
                            <p:stCondLst>
                              <p:cond delay="500"/>
                            </p:stCondLst>
                            <p:childTnLst>
                              <p:par>
                                <p:cTn id="162" presetID="9" presetClass="entr" presetSubtype="0" fill="hold" grpId="0" nodeType="afterEffect">
                                  <p:stCondLst>
                                    <p:cond delay="0"/>
                                  </p:stCondLst>
                                  <p:childTnLst>
                                    <p:set>
                                      <p:cBhvr>
                                        <p:cTn id="163" dur="1" fill="hold">
                                          <p:stCondLst>
                                            <p:cond delay="0"/>
                                          </p:stCondLst>
                                        </p:cTn>
                                        <p:tgtEl>
                                          <p:spTgt spid="757875"/>
                                        </p:tgtEl>
                                        <p:attrNameLst>
                                          <p:attrName>style.visibility</p:attrName>
                                        </p:attrNameLst>
                                      </p:cBhvr>
                                      <p:to>
                                        <p:strVal val="visible"/>
                                      </p:to>
                                    </p:set>
                                    <p:animEffect transition="in" filter="dissolve">
                                      <p:cBhvr>
                                        <p:cTn id="164" dur="500"/>
                                        <p:tgtEl>
                                          <p:spTgt spid="757875"/>
                                        </p:tgtEl>
                                      </p:cBhvr>
                                    </p:animEffect>
                                  </p:childTnLst>
                                </p:cTn>
                              </p:par>
                            </p:childTnLst>
                          </p:cTn>
                        </p:par>
                      </p:childTnLst>
                    </p:cTn>
                  </p:par>
                  <p:par>
                    <p:cTn id="165" fill="hold">
                      <p:stCondLst>
                        <p:cond delay="indefinite"/>
                      </p:stCondLst>
                      <p:childTnLst>
                        <p:par>
                          <p:cTn id="166" fill="hold">
                            <p:stCondLst>
                              <p:cond delay="0"/>
                            </p:stCondLst>
                            <p:childTnLst>
                              <p:par>
                                <p:cTn id="167" presetID="9" presetClass="entr" presetSubtype="0" fill="hold" grpId="0" nodeType="clickEffect">
                                  <p:stCondLst>
                                    <p:cond delay="0"/>
                                  </p:stCondLst>
                                  <p:childTnLst>
                                    <p:set>
                                      <p:cBhvr>
                                        <p:cTn id="168" dur="1" fill="hold">
                                          <p:stCondLst>
                                            <p:cond delay="0"/>
                                          </p:stCondLst>
                                        </p:cTn>
                                        <p:tgtEl>
                                          <p:spTgt spid="757865"/>
                                        </p:tgtEl>
                                        <p:attrNameLst>
                                          <p:attrName>style.visibility</p:attrName>
                                        </p:attrNameLst>
                                      </p:cBhvr>
                                      <p:to>
                                        <p:strVal val="visible"/>
                                      </p:to>
                                    </p:set>
                                    <p:animEffect transition="in" filter="dissolve">
                                      <p:cBhvr>
                                        <p:cTn id="169" dur="500"/>
                                        <p:tgtEl>
                                          <p:spTgt spid="757865"/>
                                        </p:tgtEl>
                                      </p:cBhvr>
                                    </p:animEffect>
                                  </p:childTnLst>
                                </p:cTn>
                              </p:par>
                            </p:childTnLst>
                          </p:cTn>
                        </p:par>
                      </p:childTnLst>
                    </p:cTn>
                  </p:par>
                  <p:par>
                    <p:cTn id="170" fill="hold">
                      <p:stCondLst>
                        <p:cond delay="indefinite"/>
                      </p:stCondLst>
                      <p:childTnLst>
                        <p:par>
                          <p:cTn id="171" fill="hold">
                            <p:stCondLst>
                              <p:cond delay="0"/>
                            </p:stCondLst>
                            <p:childTnLst>
                              <p:par>
                                <p:cTn id="172" presetID="9" presetClass="entr" presetSubtype="0" fill="hold" grpId="0" nodeType="clickEffect">
                                  <p:stCondLst>
                                    <p:cond delay="0"/>
                                  </p:stCondLst>
                                  <p:childTnLst>
                                    <p:set>
                                      <p:cBhvr>
                                        <p:cTn id="173" dur="1" fill="hold">
                                          <p:stCondLst>
                                            <p:cond delay="0"/>
                                          </p:stCondLst>
                                        </p:cTn>
                                        <p:tgtEl>
                                          <p:spTgt spid="757866"/>
                                        </p:tgtEl>
                                        <p:attrNameLst>
                                          <p:attrName>style.visibility</p:attrName>
                                        </p:attrNameLst>
                                      </p:cBhvr>
                                      <p:to>
                                        <p:strVal val="visible"/>
                                      </p:to>
                                    </p:set>
                                    <p:animEffect transition="in" filter="dissolve">
                                      <p:cBhvr>
                                        <p:cTn id="174" dur="500"/>
                                        <p:tgtEl>
                                          <p:spTgt spid="757866"/>
                                        </p:tgtEl>
                                      </p:cBhvr>
                                    </p:animEffect>
                                  </p:childTnLst>
                                </p:cTn>
                              </p:par>
                            </p:childTnLst>
                          </p:cTn>
                        </p:par>
                      </p:childTnLst>
                    </p:cTn>
                  </p:par>
                  <p:par>
                    <p:cTn id="175" fill="hold">
                      <p:stCondLst>
                        <p:cond delay="indefinite"/>
                      </p:stCondLst>
                      <p:childTnLst>
                        <p:par>
                          <p:cTn id="176" fill="hold">
                            <p:stCondLst>
                              <p:cond delay="0"/>
                            </p:stCondLst>
                            <p:childTnLst>
                              <p:par>
                                <p:cTn id="177" presetID="9" presetClass="entr" presetSubtype="0" fill="hold" grpId="0" nodeType="clickEffect">
                                  <p:stCondLst>
                                    <p:cond delay="0"/>
                                  </p:stCondLst>
                                  <p:childTnLst>
                                    <p:set>
                                      <p:cBhvr>
                                        <p:cTn id="178" dur="1" fill="hold">
                                          <p:stCondLst>
                                            <p:cond delay="0"/>
                                          </p:stCondLst>
                                        </p:cTn>
                                        <p:tgtEl>
                                          <p:spTgt spid="757867"/>
                                        </p:tgtEl>
                                        <p:attrNameLst>
                                          <p:attrName>style.visibility</p:attrName>
                                        </p:attrNameLst>
                                      </p:cBhvr>
                                      <p:to>
                                        <p:strVal val="visible"/>
                                      </p:to>
                                    </p:set>
                                    <p:animEffect transition="in" filter="dissolve">
                                      <p:cBhvr>
                                        <p:cTn id="179" dur="500"/>
                                        <p:tgtEl>
                                          <p:spTgt spid="757867"/>
                                        </p:tgtEl>
                                      </p:cBhvr>
                                    </p:animEffect>
                                  </p:childTnLst>
                                </p:cTn>
                              </p:par>
                            </p:childTnLst>
                          </p:cTn>
                        </p:par>
                      </p:childTnLst>
                    </p:cTn>
                  </p:par>
                  <p:par>
                    <p:cTn id="180" fill="hold">
                      <p:stCondLst>
                        <p:cond delay="indefinite"/>
                      </p:stCondLst>
                      <p:childTnLst>
                        <p:par>
                          <p:cTn id="181" fill="hold">
                            <p:stCondLst>
                              <p:cond delay="0"/>
                            </p:stCondLst>
                            <p:childTnLst>
                              <p:par>
                                <p:cTn id="182" presetID="9" presetClass="entr" presetSubtype="0" fill="hold" grpId="0" nodeType="clickEffect">
                                  <p:stCondLst>
                                    <p:cond delay="0"/>
                                  </p:stCondLst>
                                  <p:childTnLst>
                                    <p:set>
                                      <p:cBhvr>
                                        <p:cTn id="183" dur="1" fill="hold">
                                          <p:stCondLst>
                                            <p:cond delay="0"/>
                                          </p:stCondLst>
                                        </p:cTn>
                                        <p:tgtEl>
                                          <p:spTgt spid="757872"/>
                                        </p:tgtEl>
                                        <p:attrNameLst>
                                          <p:attrName>style.visibility</p:attrName>
                                        </p:attrNameLst>
                                      </p:cBhvr>
                                      <p:to>
                                        <p:strVal val="visible"/>
                                      </p:to>
                                    </p:set>
                                    <p:animEffect transition="in" filter="dissolve">
                                      <p:cBhvr>
                                        <p:cTn id="184" dur="500"/>
                                        <p:tgtEl>
                                          <p:spTgt spid="757872"/>
                                        </p:tgtEl>
                                      </p:cBhvr>
                                    </p:animEffect>
                                  </p:childTnLst>
                                </p:cTn>
                              </p:par>
                            </p:childTnLst>
                          </p:cTn>
                        </p:par>
                        <p:par>
                          <p:cTn id="185" fill="hold">
                            <p:stCondLst>
                              <p:cond delay="500"/>
                            </p:stCondLst>
                            <p:childTnLst>
                              <p:par>
                                <p:cTn id="186" presetID="9" presetClass="entr" presetSubtype="0" fill="hold" grpId="0" nodeType="afterEffect">
                                  <p:stCondLst>
                                    <p:cond delay="0"/>
                                  </p:stCondLst>
                                  <p:childTnLst>
                                    <p:set>
                                      <p:cBhvr>
                                        <p:cTn id="187" dur="1" fill="hold">
                                          <p:stCondLst>
                                            <p:cond delay="0"/>
                                          </p:stCondLst>
                                        </p:cTn>
                                        <p:tgtEl>
                                          <p:spTgt spid="757874"/>
                                        </p:tgtEl>
                                        <p:attrNameLst>
                                          <p:attrName>style.visibility</p:attrName>
                                        </p:attrNameLst>
                                      </p:cBhvr>
                                      <p:to>
                                        <p:strVal val="visible"/>
                                      </p:to>
                                    </p:set>
                                    <p:animEffect transition="in" filter="dissolve">
                                      <p:cBhvr>
                                        <p:cTn id="188" dur="500"/>
                                        <p:tgtEl>
                                          <p:spTgt spid="757874"/>
                                        </p:tgtEl>
                                      </p:cBhvr>
                                    </p:animEffect>
                                  </p:childTnLst>
                                </p:cTn>
                              </p:par>
                            </p:childTnLst>
                          </p:cTn>
                        </p:par>
                      </p:childTnLst>
                    </p:cTn>
                  </p:par>
                  <p:par>
                    <p:cTn id="189" fill="hold">
                      <p:stCondLst>
                        <p:cond delay="indefinite"/>
                      </p:stCondLst>
                      <p:childTnLst>
                        <p:par>
                          <p:cTn id="190" fill="hold">
                            <p:stCondLst>
                              <p:cond delay="0"/>
                            </p:stCondLst>
                            <p:childTnLst>
                              <p:par>
                                <p:cTn id="191" presetID="9" presetClass="entr" presetSubtype="0" fill="hold" grpId="0" nodeType="clickEffect">
                                  <p:stCondLst>
                                    <p:cond delay="0"/>
                                  </p:stCondLst>
                                  <p:childTnLst>
                                    <p:set>
                                      <p:cBhvr>
                                        <p:cTn id="192" dur="1" fill="hold">
                                          <p:stCondLst>
                                            <p:cond delay="0"/>
                                          </p:stCondLst>
                                        </p:cTn>
                                        <p:tgtEl>
                                          <p:spTgt spid="757876"/>
                                        </p:tgtEl>
                                        <p:attrNameLst>
                                          <p:attrName>style.visibility</p:attrName>
                                        </p:attrNameLst>
                                      </p:cBhvr>
                                      <p:to>
                                        <p:strVal val="visible"/>
                                      </p:to>
                                    </p:set>
                                    <p:animEffect transition="in" filter="dissolve">
                                      <p:cBhvr>
                                        <p:cTn id="193" dur="500"/>
                                        <p:tgtEl>
                                          <p:spTgt spid="7578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56" grpId="0" autoUpdateAnimBg="0"/>
      <p:bldP spid="757857" grpId="0" autoUpdateAnimBg="0"/>
      <p:bldP spid="757858" grpId="0" autoUpdateAnimBg="0"/>
      <p:bldP spid="757859" grpId="0" autoUpdateAnimBg="0"/>
      <p:bldP spid="757860" grpId="0" autoUpdateAnimBg="0"/>
      <p:bldP spid="757861" grpId="0" autoUpdateAnimBg="0"/>
      <p:bldP spid="757862" grpId="0" autoUpdateAnimBg="0"/>
      <p:bldP spid="757863" grpId="0" autoUpdateAnimBg="0"/>
      <p:bldP spid="757864" grpId="0" autoUpdateAnimBg="0"/>
      <p:bldP spid="757868" grpId="0" autoUpdateAnimBg="0"/>
      <p:bldP spid="757869" grpId="0" autoUpdateAnimBg="0"/>
      <p:bldP spid="757870" grpId="0" autoUpdateAnimBg="0"/>
      <p:bldP spid="757871" grpId="0" autoUpdateAnimBg="0"/>
      <p:bldP spid="757873" grpId="0" bldLvl="0" animBg="1"/>
      <p:bldP spid="757865" grpId="0" autoUpdateAnimBg="0"/>
      <p:bldP spid="757866" grpId="0" autoUpdateAnimBg="0"/>
      <p:bldP spid="757867" grpId="0" autoUpdateAnimBg="0"/>
      <p:bldP spid="757872" grpId="0" bldLvl="0" animBg="1"/>
      <p:bldP spid="757874" grpId="0" bldLvl="0" animBg="1" autoUpdateAnimBg="0"/>
      <p:bldP spid="757875" grpId="0" bldLvl="0" animBg="1" autoUpdateAnimBg="0"/>
      <p:bldP spid="757876" grpId="0" bldLvl="0" animBg="1" autoUpdateAnimBg="0"/>
      <p:bldP spid="757890" grpId="0"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7" name="Text Box 45"/>
          <p:cNvSpPr txBox="1">
            <a:spLocks noChangeArrowheads="1"/>
          </p:cNvSpPr>
          <p:nvPr/>
        </p:nvSpPr>
        <p:spPr bwMode="auto">
          <a:xfrm>
            <a:off x="304800" y="762000"/>
            <a:ext cx="4876800" cy="496888"/>
          </a:xfrm>
          <a:prstGeom prst="rect">
            <a:avLst/>
          </a:prstGeom>
          <a:solidFill>
            <a:schemeClr val="tx2">
              <a:lumMod val="20000"/>
              <a:lumOff val="80000"/>
            </a:schemeClr>
          </a:solidFill>
          <a:ln w="9525" algn="ctr">
            <a:solidFill>
              <a:srgbClr val="0066FF"/>
            </a:solidFill>
            <a:miter lim="800000"/>
          </a:ln>
        </p:spPr>
        <p:txBody>
          <a:bodyPr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lang="en-US" altLang="zh-CN" sz="3200" b="1" dirty="0">
                <a:solidFill>
                  <a:srgbClr val="CC3300"/>
                </a:solidFill>
                <a:ea typeface="隶书" panose="02010509060101010101" pitchFamily="49" charset="-122"/>
              </a:rPr>
              <a:t> </a:t>
            </a:r>
            <a:r>
              <a:rPr lang="zh-CN" altLang="en-US" sz="3200" b="1" dirty="0">
                <a:solidFill>
                  <a:srgbClr val="CC3300"/>
                </a:solidFill>
                <a:ea typeface="隶书" panose="02010509060101010101" pitchFamily="49" charset="-122"/>
              </a:rPr>
              <a:t>未知数</a:t>
            </a:r>
            <a:r>
              <a:rPr lang="en-US" altLang="zh-CN" sz="3200" b="1" dirty="0">
                <a:solidFill>
                  <a:srgbClr val="CC3300"/>
                </a:solidFill>
                <a:ea typeface="隶书" panose="02010509060101010101" pitchFamily="49" charset="-122"/>
              </a:rPr>
              <a:t>: </a:t>
            </a:r>
            <a:r>
              <a:rPr lang="en-US" altLang="zh-CN" sz="3200" b="1" dirty="0">
                <a:solidFill>
                  <a:srgbClr val="0000FF"/>
                </a:solidFill>
                <a:ea typeface="隶书" panose="02010509060101010101" pitchFamily="49" charset="-122"/>
              </a:rPr>
              <a:t>6n-2  </a:t>
            </a:r>
            <a:r>
              <a:rPr lang="zh-CN" altLang="en-US" sz="3200" b="1" dirty="0">
                <a:solidFill>
                  <a:srgbClr val="CC3300"/>
                </a:solidFill>
                <a:ea typeface="隶书" panose="02010509060101010101" pitchFamily="49" charset="-122"/>
              </a:rPr>
              <a:t>方程数</a:t>
            </a:r>
            <a:r>
              <a:rPr lang="en-US" altLang="zh-CN" sz="3200" b="1" dirty="0">
                <a:solidFill>
                  <a:srgbClr val="CC3300"/>
                </a:solidFill>
                <a:ea typeface="隶书" panose="02010509060101010101" pitchFamily="49" charset="-122"/>
              </a:rPr>
              <a:t>: </a:t>
            </a:r>
            <a:r>
              <a:rPr lang="en-US" altLang="zh-CN" sz="3200" b="1" dirty="0">
                <a:solidFill>
                  <a:srgbClr val="0000FF"/>
                </a:solidFill>
                <a:ea typeface="隶书" panose="02010509060101010101" pitchFamily="49" charset="-122"/>
              </a:rPr>
              <a:t>4n </a:t>
            </a:r>
            <a:endParaRPr lang="en-US" altLang="zh-CN" sz="3200" b="1" dirty="0">
              <a:solidFill>
                <a:srgbClr val="0000FF"/>
              </a:solidFill>
              <a:ea typeface="隶书" panose="02010509060101010101" pitchFamily="49" charset="-122"/>
            </a:endParaRPr>
          </a:p>
        </p:txBody>
      </p:sp>
      <p:grpSp>
        <p:nvGrpSpPr>
          <p:cNvPr id="36868" name="Group 52"/>
          <p:cNvGrpSpPr/>
          <p:nvPr/>
        </p:nvGrpSpPr>
        <p:grpSpPr bwMode="auto">
          <a:xfrm>
            <a:off x="5410200" y="533400"/>
            <a:ext cx="3733800" cy="3124200"/>
            <a:chOff x="3024" y="432"/>
            <a:chExt cx="2352" cy="1968"/>
          </a:xfrm>
        </p:grpSpPr>
        <p:grpSp>
          <p:nvGrpSpPr>
            <p:cNvPr id="36880" name="Group 7"/>
            <p:cNvGrpSpPr/>
            <p:nvPr/>
          </p:nvGrpSpPr>
          <p:grpSpPr bwMode="auto">
            <a:xfrm>
              <a:off x="3648" y="432"/>
              <a:ext cx="528" cy="1584"/>
              <a:chOff x="3744" y="864"/>
              <a:chExt cx="432" cy="1584"/>
            </a:xfrm>
          </p:grpSpPr>
          <p:sp>
            <p:nvSpPr>
              <p:cNvPr id="36906" name="Line 8"/>
              <p:cNvSpPr>
                <a:spLocks noChangeShapeType="1"/>
              </p:cNvSpPr>
              <p:nvPr/>
            </p:nvSpPr>
            <p:spPr bwMode="auto">
              <a:xfrm>
                <a:off x="3744" y="1056"/>
                <a:ext cx="0" cy="1392"/>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907" name="Line 9"/>
              <p:cNvSpPr>
                <a:spLocks noChangeShapeType="1"/>
              </p:cNvSpPr>
              <p:nvPr/>
            </p:nvSpPr>
            <p:spPr bwMode="auto">
              <a:xfrm>
                <a:off x="4176" y="864"/>
                <a:ext cx="0" cy="1248"/>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908" name="Line 10"/>
              <p:cNvSpPr>
                <a:spLocks noChangeShapeType="1"/>
              </p:cNvSpPr>
              <p:nvPr/>
            </p:nvSpPr>
            <p:spPr bwMode="auto">
              <a:xfrm flipV="1">
                <a:off x="3744" y="864"/>
                <a:ext cx="432" cy="192"/>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909" name="Line 11"/>
              <p:cNvSpPr>
                <a:spLocks noChangeShapeType="1"/>
              </p:cNvSpPr>
              <p:nvPr/>
            </p:nvSpPr>
            <p:spPr bwMode="auto">
              <a:xfrm flipV="1">
                <a:off x="3744" y="2112"/>
                <a:ext cx="432" cy="336"/>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6881" name="Line 12"/>
            <p:cNvSpPr>
              <a:spLocks noChangeShapeType="1"/>
            </p:cNvSpPr>
            <p:nvPr/>
          </p:nvSpPr>
          <p:spPr bwMode="auto">
            <a:xfrm>
              <a:off x="3888" y="960"/>
              <a:ext cx="0" cy="336"/>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882" name="Line 13"/>
            <p:cNvSpPr>
              <a:spLocks noChangeShapeType="1"/>
            </p:cNvSpPr>
            <p:nvPr/>
          </p:nvSpPr>
          <p:spPr bwMode="auto">
            <a:xfrm>
              <a:off x="3168" y="1488"/>
              <a:ext cx="480" cy="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883" name="Line 14"/>
            <p:cNvSpPr>
              <a:spLocks noChangeShapeType="1"/>
            </p:cNvSpPr>
            <p:nvPr/>
          </p:nvSpPr>
          <p:spPr bwMode="auto">
            <a:xfrm flipV="1">
              <a:off x="3600" y="1536"/>
              <a:ext cx="0" cy="336"/>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884" name="Line 15"/>
            <p:cNvSpPr>
              <a:spLocks noChangeShapeType="1"/>
            </p:cNvSpPr>
            <p:nvPr/>
          </p:nvSpPr>
          <p:spPr bwMode="auto">
            <a:xfrm flipH="1">
              <a:off x="4224" y="960"/>
              <a:ext cx="288" cy="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885" name="Line 16"/>
            <p:cNvSpPr>
              <a:spLocks noChangeShapeType="1"/>
            </p:cNvSpPr>
            <p:nvPr/>
          </p:nvSpPr>
          <p:spPr bwMode="auto">
            <a:xfrm>
              <a:off x="4224" y="624"/>
              <a:ext cx="0" cy="288"/>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886" name="Line 17"/>
            <p:cNvSpPr>
              <a:spLocks noChangeShapeType="1"/>
            </p:cNvSpPr>
            <p:nvPr/>
          </p:nvSpPr>
          <p:spPr bwMode="auto">
            <a:xfrm flipV="1">
              <a:off x="3744" y="1776"/>
              <a:ext cx="384" cy="240"/>
            </a:xfrm>
            <a:prstGeom prst="line">
              <a:avLst/>
            </a:prstGeom>
            <a:noFill/>
            <a:ln w="22225">
              <a:solidFill>
                <a:srgbClr val="0000FF"/>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887" name="Line 18"/>
            <p:cNvSpPr>
              <a:spLocks noChangeShapeType="1"/>
            </p:cNvSpPr>
            <p:nvPr/>
          </p:nvSpPr>
          <p:spPr bwMode="auto">
            <a:xfrm rot="10800000">
              <a:off x="3984" y="1920"/>
              <a:ext cx="192" cy="288"/>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888" name="Line 19"/>
            <p:cNvSpPr>
              <a:spLocks noChangeShapeType="1"/>
            </p:cNvSpPr>
            <p:nvPr/>
          </p:nvSpPr>
          <p:spPr bwMode="auto">
            <a:xfrm flipV="1">
              <a:off x="4176" y="1392"/>
              <a:ext cx="384" cy="2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889" name="Line 20"/>
            <p:cNvSpPr>
              <a:spLocks noChangeShapeType="1"/>
            </p:cNvSpPr>
            <p:nvPr/>
          </p:nvSpPr>
          <p:spPr bwMode="auto">
            <a:xfrm>
              <a:off x="4176" y="1680"/>
              <a:ext cx="43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890" name="Freeform 21"/>
            <p:cNvSpPr/>
            <p:nvPr/>
          </p:nvSpPr>
          <p:spPr bwMode="auto">
            <a:xfrm>
              <a:off x="4268" y="1620"/>
              <a:ext cx="49" cy="56"/>
            </a:xfrm>
            <a:custGeom>
              <a:avLst/>
              <a:gdLst>
                <a:gd name="T0" fmla="*/ 0 w 49"/>
                <a:gd name="T1" fmla="*/ 0 h 56"/>
                <a:gd name="T2" fmla="*/ 40 w 49"/>
                <a:gd name="T3" fmla="*/ 32 h 56"/>
                <a:gd name="T4" fmla="*/ 48 w 49"/>
                <a:gd name="T5" fmla="*/ 56 h 56"/>
                <a:gd name="T6" fmla="*/ 0 60000 65536"/>
                <a:gd name="T7" fmla="*/ 0 60000 65536"/>
                <a:gd name="T8" fmla="*/ 0 60000 65536"/>
                <a:gd name="T9" fmla="*/ 0 w 49"/>
                <a:gd name="T10" fmla="*/ 0 h 56"/>
                <a:gd name="T11" fmla="*/ 49 w 49"/>
                <a:gd name="T12" fmla="*/ 56 h 56"/>
              </a:gdLst>
              <a:ahLst/>
              <a:cxnLst>
                <a:cxn ang="T6">
                  <a:pos x="T0" y="T1"/>
                </a:cxn>
                <a:cxn ang="T7">
                  <a:pos x="T2" y="T3"/>
                </a:cxn>
                <a:cxn ang="T8">
                  <a:pos x="T4" y="T5"/>
                </a:cxn>
              </a:cxnLst>
              <a:rect l="T9" t="T10" r="T11" b="T12"/>
              <a:pathLst>
                <a:path w="49" h="56">
                  <a:moveTo>
                    <a:pt x="0" y="0"/>
                  </a:moveTo>
                  <a:cubicBezTo>
                    <a:pt x="20" y="10"/>
                    <a:pt x="20" y="22"/>
                    <a:pt x="40" y="32"/>
                  </a:cubicBezTo>
                  <a:cubicBezTo>
                    <a:pt x="49" y="50"/>
                    <a:pt x="48" y="42"/>
                    <a:pt x="48" y="56"/>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891" name="Line 22"/>
            <p:cNvSpPr>
              <a:spLocks noChangeShapeType="1"/>
            </p:cNvSpPr>
            <p:nvPr/>
          </p:nvSpPr>
          <p:spPr bwMode="auto">
            <a:xfrm>
              <a:off x="4704" y="1680"/>
              <a:ext cx="33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892" name="Line 23"/>
            <p:cNvSpPr>
              <a:spLocks noChangeShapeType="1"/>
            </p:cNvSpPr>
            <p:nvPr/>
          </p:nvSpPr>
          <p:spPr bwMode="auto">
            <a:xfrm>
              <a:off x="4704" y="960"/>
              <a:ext cx="33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893" name="Line 24"/>
            <p:cNvSpPr>
              <a:spLocks noChangeShapeType="1"/>
            </p:cNvSpPr>
            <p:nvPr/>
          </p:nvSpPr>
          <p:spPr bwMode="auto">
            <a:xfrm>
              <a:off x="4848" y="960"/>
              <a:ext cx="0" cy="72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894" name="Rectangle 25"/>
            <p:cNvSpPr>
              <a:spLocks noChangeArrowheads="1"/>
            </p:cNvSpPr>
            <p:nvPr/>
          </p:nvSpPr>
          <p:spPr bwMode="auto">
            <a:xfrm>
              <a:off x="3024" y="1152"/>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err="1" smtClean="0">
                  <a:solidFill>
                    <a:srgbClr val="CC3300"/>
                  </a:solidFill>
                  <a:latin typeface="Times New Roman" panose="02020603050405020304" pitchFamily="18" charset="0"/>
                  <a:sym typeface="Symbol" panose="05050102010706020507" pitchFamily="18" charset="2"/>
                </a:rPr>
                <a:t>E</a:t>
              </a:r>
              <a:r>
                <a:rPr kumimoji="1" lang="en-US" altLang="zh-CN" sz="2400" b="1" i="1" baseline="-25000" dirty="0" err="1" smtClean="0">
                  <a:solidFill>
                    <a:srgbClr val="CC3300"/>
                  </a:solidFill>
                  <a:latin typeface="Times New Roman" panose="02020603050405020304" pitchFamily="18" charset="0"/>
                  <a:sym typeface="Symbol" panose="05050102010706020507" pitchFamily="18" charset="2"/>
                </a:rPr>
                <a:t>i</a:t>
              </a:r>
              <a:endParaRPr kumimoji="1" lang="en-US" altLang="zh-CN" sz="2400" b="1" i="1" baseline="-25000" dirty="0">
                <a:solidFill>
                  <a:srgbClr val="CC3300"/>
                </a:solidFill>
                <a:latin typeface="Times New Roman" panose="02020603050405020304" pitchFamily="18" charset="0"/>
                <a:sym typeface="Symbol" panose="05050102010706020507" pitchFamily="18" charset="2"/>
              </a:endParaRPr>
            </a:p>
          </p:txBody>
        </p:sp>
        <p:sp>
          <p:nvSpPr>
            <p:cNvPr id="36895" name="Rectangle 26"/>
            <p:cNvSpPr>
              <a:spLocks noChangeArrowheads="1"/>
            </p:cNvSpPr>
            <p:nvPr/>
          </p:nvSpPr>
          <p:spPr bwMode="auto">
            <a:xfrm>
              <a:off x="3312" y="168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smtClean="0">
                  <a:solidFill>
                    <a:srgbClr val="CC3300"/>
                  </a:solidFill>
                  <a:latin typeface="Times New Roman" panose="02020603050405020304" pitchFamily="18" charset="0"/>
                  <a:sym typeface="Symbol" panose="05050102010706020507" pitchFamily="18" charset="2"/>
                </a:rPr>
                <a:t>X</a:t>
              </a:r>
              <a:r>
                <a:rPr kumimoji="1" lang="en-US" altLang="zh-CN" sz="2400" b="1" i="1" baseline="-25000" dirty="0" smtClean="0">
                  <a:solidFill>
                    <a:srgbClr val="CC3300"/>
                  </a:solidFill>
                  <a:latin typeface="Times New Roman" panose="02020603050405020304" pitchFamily="18" charset="0"/>
                  <a:sym typeface="Symbol" panose="05050102010706020507" pitchFamily="18" charset="2"/>
                </a:rPr>
                <a:t>i</a:t>
              </a:r>
              <a:endParaRPr kumimoji="1" lang="en-US" altLang="zh-CN" sz="2400" b="1" i="1" baseline="-25000" dirty="0">
                <a:solidFill>
                  <a:srgbClr val="CC3300"/>
                </a:solidFill>
                <a:latin typeface="Times New Roman" panose="02020603050405020304" pitchFamily="18" charset="0"/>
                <a:sym typeface="Symbol" panose="05050102010706020507" pitchFamily="18" charset="2"/>
              </a:endParaRPr>
            </a:p>
          </p:txBody>
        </p:sp>
        <p:sp>
          <p:nvSpPr>
            <p:cNvPr id="36896" name="Rectangle 27"/>
            <p:cNvSpPr>
              <a:spLocks noChangeArrowheads="1"/>
            </p:cNvSpPr>
            <p:nvPr/>
          </p:nvSpPr>
          <p:spPr bwMode="auto">
            <a:xfrm>
              <a:off x="4080" y="1728"/>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T</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baseline="-25000">
                <a:solidFill>
                  <a:srgbClr val="CC3300"/>
                </a:solidFill>
                <a:latin typeface="Times New Roman" panose="02020603050405020304" pitchFamily="18" charset="0"/>
                <a:sym typeface="Symbol" panose="05050102010706020507" pitchFamily="18" charset="2"/>
              </a:endParaRPr>
            </a:p>
          </p:txBody>
        </p:sp>
        <p:sp>
          <p:nvSpPr>
            <p:cNvPr id="36897" name="Rectangle 28"/>
            <p:cNvSpPr>
              <a:spLocks noChangeArrowheads="1"/>
            </p:cNvSpPr>
            <p:nvPr/>
          </p:nvSpPr>
          <p:spPr bwMode="auto">
            <a:xfrm>
              <a:off x="4112" y="211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N</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a:solidFill>
                  <a:srgbClr val="CC3300"/>
                </a:solidFill>
                <a:latin typeface="Times New Roman" panose="02020603050405020304" pitchFamily="18" charset="0"/>
                <a:sym typeface="Symbol" panose="05050102010706020507" pitchFamily="18" charset="2"/>
              </a:endParaRPr>
            </a:p>
          </p:txBody>
        </p:sp>
        <p:sp>
          <p:nvSpPr>
            <p:cNvPr id="36898" name="Rectangle 29"/>
            <p:cNvSpPr>
              <a:spLocks noChangeArrowheads="1"/>
            </p:cNvSpPr>
            <p:nvPr/>
          </p:nvSpPr>
          <p:spPr bwMode="auto">
            <a:xfrm>
              <a:off x="4272" y="144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993300"/>
                  </a:solidFill>
                  <a:latin typeface="Times New Roman" panose="02020603050405020304" pitchFamily="18" charset="0"/>
                  <a:sym typeface="Symbol" panose="05050102010706020507" pitchFamily="18" charset="2"/>
                </a:rPr>
                <a:t></a:t>
              </a:r>
              <a:r>
                <a:rPr kumimoji="1" lang="en-US" altLang="zh-CN" sz="2400" b="1" i="1" baseline="-25000">
                  <a:solidFill>
                    <a:srgbClr val="993300"/>
                  </a:solidFill>
                  <a:latin typeface="Times New Roman" panose="02020603050405020304" pitchFamily="18" charset="0"/>
                  <a:sym typeface="Symbol" panose="05050102010706020507" pitchFamily="18" charset="2"/>
                </a:rPr>
                <a:t>i</a:t>
              </a:r>
              <a:endParaRPr kumimoji="1" lang="en-US" altLang="zh-CN" sz="2400" b="1" i="1" baseline="-25000">
                <a:solidFill>
                  <a:srgbClr val="993300"/>
                </a:solidFill>
                <a:latin typeface="Times New Roman" panose="02020603050405020304" pitchFamily="18" charset="0"/>
                <a:sym typeface="Symbol" panose="05050102010706020507" pitchFamily="18" charset="2"/>
              </a:endParaRPr>
            </a:p>
          </p:txBody>
        </p:sp>
        <p:sp>
          <p:nvSpPr>
            <p:cNvPr id="36899" name="Rectangle 30"/>
            <p:cNvSpPr>
              <a:spLocks noChangeArrowheads="1"/>
            </p:cNvSpPr>
            <p:nvPr/>
          </p:nvSpPr>
          <p:spPr bwMode="auto">
            <a:xfrm>
              <a:off x="4848" y="1152"/>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h</a:t>
              </a:r>
              <a:r>
                <a:rPr kumimoji="1" lang="en-US" altLang="zh-CN" sz="2400" b="1" i="1" baseline="-25000">
                  <a:solidFill>
                    <a:srgbClr val="CC3300"/>
                  </a:solidFill>
                  <a:latin typeface="Times New Roman" panose="02020603050405020304" pitchFamily="18" charset="0"/>
                  <a:sym typeface="Symbol" panose="05050102010706020507" pitchFamily="18" charset="2"/>
                </a:rPr>
                <a:t>i</a:t>
              </a:r>
              <a:r>
                <a:rPr kumimoji="1" lang="en-US" altLang="zh-CN" sz="2400" b="1" baseline="-25000">
                  <a:solidFill>
                    <a:srgbClr val="CC3300"/>
                  </a:solidFill>
                  <a:latin typeface="Times New Roman" panose="02020603050405020304" pitchFamily="18" charset="0"/>
                  <a:sym typeface="Symbol" panose="05050102010706020507" pitchFamily="18" charset="2"/>
                </a:rPr>
                <a:t>+1</a:t>
              </a:r>
              <a:endParaRPr kumimoji="1" lang="en-US" altLang="zh-CN" sz="2400" b="1" i="1" baseline="-25000">
                <a:solidFill>
                  <a:srgbClr val="CC3300"/>
                </a:solidFill>
                <a:latin typeface="Times New Roman" panose="02020603050405020304" pitchFamily="18" charset="0"/>
                <a:sym typeface="Symbol" panose="05050102010706020507" pitchFamily="18" charset="2"/>
              </a:endParaRPr>
            </a:p>
          </p:txBody>
        </p:sp>
        <p:sp>
          <p:nvSpPr>
            <p:cNvPr id="36900" name="Rectangle 31"/>
            <p:cNvSpPr>
              <a:spLocks noChangeArrowheads="1"/>
            </p:cNvSpPr>
            <p:nvPr/>
          </p:nvSpPr>
          <p:spPr bwMode="auto">
            <a:xfrm>
              <a:off x="3744" y="1296"/>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err="1" smtClean="0">
                  <a:solidFill>
                    <a:srgbClr val="CC3300"/>
                  </a:solidFill>
                  <a:latin typeface="Times New Roman" panose="02020603050405020304" pitchFamily="18" charset="0"/>
                  <a:sym typeface="Symbol" panose="05050102010706020507" pitchFamily="18" charset="2"/>
                </a:rPr>
                <a:t>G</a:t>
              </a:r>
              <a:r>
                <a:rPr kumimoji="1" lang="en-US" altLang="zh-CN" sz="2400" b="1" i="1" baseline="-25000" dirty="0" err="1" smtClean="0">
                  <a:solidFill>
                    <a:srgbClr val="CC3300"/>
                  </a:solidFill>
                  <a:latin typeface="Times New Roman" panose="02020603050405020304" pitchFamily="18" charset="0"/>
                  <a:sym typeface="Symbol" panose="05050102010706020507" pitchFamily="18" charset="2"/>
                </a:rPr>
                <a:t>i</a:t>
              </a:r>
              <a:endParaRPr kumimoji="1" lang="en-US" altLang="zh-CN" sz="2400" b="1" i="1" baseline="-25000" dirty="0">
                <a:solidFill>
                  <a:srgbClr val="CC3300"/>
                </a:solidFill>
                <a:latin typeface="Times New Roman" panose="02020603050405020304" pitchFamily="18" charset="0"/>
                <a:sym typeface="Symbol" panose="05050102010706020507" pitchFamily="18" charset="2"/>
              </a:endParaRPr>
            </a:p>
          </p:txBody>
        </p:sp>
        <p:sp>
          <p:nvSpPr>
            <p:cNvPr id="36901" name="Rectangle 32"/>
            <p:cNvSpPr>
              <a:spLocks noChangeArrowheads="1"/>
            </p:cNvSpPr>
            <p:nvPr/>
          </p:nvSpPr>
          <p:spPr bwMode="auto">
            <a:xfrm>
              <a:off x="4416" y="72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smtClean="0">
                  <a:solidFill>
                    <a:srgbClr val="CC3300"/>
                  </a:solidFill>
                  <a:latin typeface="Times New Roman" panose="02020603050405020304" pitchFamily="18" charset="0"/>
                  <a:sym typeface="Symbol" panose="05050102010706020507" pitchFamily="18" charset="2"/>
                </a:rPr>
                <a:t>E</a:t>
              </a:r>
              <a:r>
                <a:rPr kumimoji="1" lang="en-US" altLang="zh-CN" sz="2400" b="1" i="1" baseline="-25000" dirty="0" smtClean="0">
                  <a:solidFill>
                    <a:srgbClr val="CC3300"/>
                  </a:solidFill>
                  <a:latin typeface="Times New Roman" panose="02020603050405020304" pitchFamily="18" charset="0"/>
                  <a:sym typeface="Symbol" panose="05050102010706020507" pitchFamily="18" charset="2"/>
                </a:rPr>
                <a:t>i</a:t>
              </a:r>
              <a:r>
                <a:rPr kumimoji="1" lang="en-US" altLang="zh-CN" sz="2400" b="1" baseline="-25000" dirty="0" smtClean="0">
                  <a:solidFill>
                    <a:srgbClr val="CC3300"/>
                  </a:solidFill>
                  <a:latin typeface="Times New Roman" panose="02020603050405020304" pitchFamily="18" charset="0"/>
                  <a:sym typeface="Symbol" panose="05050102010706020507" pitchFamily="18" charset="2"/>
                </a:rPr>
                <a:t>+1</a:t>
              </a:r>
              <a:endParaRPr kumimoji="1" lang="en-US" altLang="zh-CN" sz="2400" b="1" baseline="-25000" dirty="0">
                <a:solidFill>
                  <a:srgbClr val="CC3300"/>
                </a:solidFill>
                <a:latin typeface="Times New Roman" panose="02020603050405020304" pitchFamily="18" charset="0"/>
                <a:sym typeface="Symbol" panose="05050102010706020507" pitchFamily="18" charset="2"/>
              </a:endParaRPr>
            </a:p>
          </p:txBody>
        </p:sp>
        <p:sp>
          <p:nvSpPr>
            <p:cNvPr id="36902" name="Rectangle 33"/>
            <p:cNvSpPr>
              <a:spLocks noChangeArrowheads="1"/>
            </p:cNvSpPr>
            <p:nvPr/>
          </p:nvSpPr>
          <p:spPr bwMode="auto">
            <a:xfrm>
              <a:off x="4176" y="432"/>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smtClean="0">
                  <a:solidFill>
                    <a:srgbClr val="CC3300"/>
                  </a:solidFill>
                  <a:latin typeface="Times New Roman" panose="02020603050405020304" pitchFamily="18" charset="0"/>
                  <a:sym typeface="Symbol" panose="05050102010706020507" pitchFamily="18" charset="2"/>
                </a:rPr>
                <a:t>X</a:t>
              </a:r>
              <a:r>
                <a:rPr kumimoji="1" lang="en-US" altLang="zh-CN" sz="2400" b="1" i="1" baseline="-25000" dirty="0" smtClean="0">
                  <a:solidFill>
                    <a:srgbClr val="CC3300"/>
                  </a:solidFill>
                  <a:latin typeface="Times New Roman" panose="02020603050405020304" pitchFamily="18" charset="0"/>
                  <a:sym typeface="Symbol" panose="05050102010706020507" pitchFamily="18" charset="2"/>
                </a:rPr>
                <a:t>i</a:t>
              </a:r>
              <a:r>
                <a:rPr kumimoji="1" lang="en-US" altLang="zh-CN" sz="2400" b="1" baseline="-25000" dirty="0" smtClean="0">
                  <a:solidFill>
                    <a:srgbClr val="CC3300"/>
                  </a:solidFill>
                  <a:latin typeface="Times New Roman" panose="02020603050405020304" pitchFamily="18" charset="0"/>
                  <a:sym typeface="Symbol" panose="05050102010706020507" pitchFamily="18" charset="2"/>
                </a:rPr>
                <a:t>+1</a:t>
              </a:r>
              <a:endParaRPr kumimoji="1" lang="en-US" altLang="zh-CN" sz="2400" b="1" baseline="-25000" dirty="0">
                <a:solidFill>
                  <a:srgbClr val="CC3300"/>
                </a:solidFill>
                <a:latin typeface="Times New Roman" panose="02020603050405020304" pitchFamily="18" charset="0"/>
                <a:sym typeface="Symbol" panose="05050102010706020507" pitchFamily="18" charset="2"/>
              </a:endParaRPr>
            </a:p>
          </p:txBody>
        </p:sp>
        <p:sp>
          <p:nvSpPr>
            <p:cNvPr id="36903" name="Line 46"/>
            <p:cNvSpPr>
              <a:spLocks noChangeShapeType="1"/>
            </p:cNvSpPr>
            <p:nvPr/>
          </p:nvSpPr>
          <p:spPr bwMode="auto">
            <a:xfrm flipH="1">
              <a:off x="3072" y="2016"/>
              <a:ext cx="52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904" name="Line 47"/>
            <p:cNvSpPr>
              <a:spLocks noChangeShapeType="1"/>
            </p:cNvSpPr>
            <p:nvPr/>
          </p:nvSpPr>
          <p:spPr bwMode="auto">
            <a:xfrm>
              <a:off x="3264" y="1488"/>
              <a:ext cx="0" cy="528"/>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905" name="Rectangle 48"/>
            <p:cNvSpPr>
              <a:spLocks noChangeArrowheads="1"/>
            </p:cNvSpPr>
            <p:nvPr/>
          </p:nvSpPr>
          <p:spPr bwMode="auto">
            <a:xfrm>
              <a:off x="3024" y="1584"/>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h</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baseline="-25000">
                <a:solidFill>
                  <a:srgbClr val="CC3300"/>
                </a:solidFill>
                <a:latin typeface="Times New Roman" panose="02020603050405020304" pitchFamily="18" charset="0"/>
                <a:sym typeface="Symbol" panose="05050102010706020507" pitchFamily="18" charset="2"/>
              </a:endParaRPr>
            </a:p>
          </p:txBody>
        </p:sp>
      </p:grpSp>
      <p:sp>
        <p:nvSpPr>
          <p:cNvPr id="758839" name="Rectangle 55"/>
          <p:cNvSpPr>
            <a:spLocks noGrp="1" noRot="1" noChangeArrowheads="1"/>
          </p:cNvSpPr>
          <p:nvPr>
            <p:ph type="body" idx="1"/>
          </p:nvPr>
        </p:nvSpPr>
        <p:spPr bwMode="auto">
          <a:xfrm>
            <a:off x="533400" y="1447800"/>
            <a:ext cx="4953000" cy="5029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lnSpc>
                <a:spcPct val="90000"/>
              </a:lnSpc>
              <a:buFontTx/>
              <a:buNone/>
            </a:pPr>
            <a:r>
              <a:rPr lang="en-US" altLang="zh-CN" b="1" smtClean="0">
                <a:solidFill>
                  <a:srgbClr val="990000"/>
                </a:solidFill>
                <a:ea typeface="隶书" panose="02010509060101010101" pitchFamily="49" charset="-122"/>
              </a:rPr>
              <a:t>1 </a:t>
            </a:r>
            <a:r>
              <a:rPr lang="zh-CN" altLang="en-US" b="1" smtClean="0">
                <a:solidFill>
                  <a:srgbClr val="990000"/>
                </a:solidFill>
                <a:ea typeface="隶书" panose="02010509060101010101" pitchFamily="49" charset="-122"/>
              </a:rPr>
              <a:t>整体圆弧滑动法</a:t>
            </a:r>
            <a:endParaRPr lang="zh-CN" altLang="en-US" b="1" smtClean="0">
              <a:solidFill>
                <a:srgbClr val="990000"/>
              </a:solidFill>
              <a:ea typeface="隶书" panose="02010509060101010101" pitchFamily="49" charset="-122"/>
            </a:endParaRPr>
          </a:p>
          <a:p>
            <a:pPr eaLnBrk="1" hangingPunct="1">
              <a:lnSpc>
                <a:spcPct val="90000"/>
              </a:lnSpc>
              <a:buFontTx/>
              <a:buNone/>
            </a:pPr>
            <a:r>
              <a:rPr lang="en-US" altLang="zh-CN" b="1" smtClean="0">
                <a:solidFill>
                  <a:srgbClr val="990000"/>
                </a:solidFill>
                <a:ea typeface="隶书" panose="02010509060101010101" pitchFamily="49" charset="-122"/>
              </a:rPr>
              <a:t>2 </a:t>
            </a:r>
            <a:r>
              <a:rPr lang="zh-CN" altLang="en-US" b="1" smtClean="0">
                <a:solidFill>
                  <a:srgbClr val="990000"/>
                </a:solidFill>
                <a:ea typeface="隶书" panose="02010509060101010101" pitchFamily="49" charset="-122"/>
              </a:rPr>
              <a:t>瑞典条分法</a:t>
            </a:r>
            <a:endParaRPr lang="zh-CN" altLang="en-US" b="1" smtClean="0">
              <a:solidFill>
                <a:srgbClr val="990000"/>
              </a:solidFill>
              <a:ea typeface="隶书" panose="02010509060101010101" pitchFamily="49" charset="-122"/>
            </a:endParaRPr>
          </a:p>
          <a:p>
            <a:pPr eaLnBrk="1" hangingPunct="1">
              <a:lnSpc>
                <a:spcPct val="90000"/>
              </a:lnSpc>
              <a:buFontTx/>
              <a:buNone/>
            </a:pPr>
            <a:r>
              <a:rPr lang="en-US" altLang="zh-CN" b="1" smtClean="0">
                <a:solidFill>
                  <a:srgbClr val="990000"/>
                </a:solidFill>
                <a:ea typeface="隶书" panose="02010509060101010101" pitchFamily="49" charset="-122"/>
              </a:rPr>
              <a:t>3 </a:t>
            </a:r>
            <a:r>
              <a:rPr lang="zh-CN" altLang="en-US" b="1" smtClean="0">
                <a:solidFill>
                  <a:srgbClr val="990000"/>
                </a:solidFill>
                <a:ea typeface="隶书" panose="02010509060101010101" pitchFamily="49" charset="-122"/>
              </a:rPr>
              <a:t>毕肖普法</a:t>
            </a:r>
            <a:endParaRPr lang="zh-CN" altLang="en-US" b="1" smtClean="0">
              <a:solidFill>
                <a:srgbClr val="990000"/>
              </a:solidFill>
              <a:ea typeface="隶书" panose="02010509060101010101" pitchFamily="49" charset="-122"/>
            </a:endParaRPr>
          </a:p>
          <a:p>
            <a:pPr eaLnBrk="1" hangingPunct="1">
              <a:lnSpc>
                <a:spcPct val="90000"/>
              </a:lnSpc>
              <a:buFontTx/>
              <a:buNone/>
            </a:pPr>
            <a:r>
              <a:rPr lang="en-US" altLang="zh-CN" b="1" smtClean="0">
                <a:solidFill>
                  <a:srgbClr val="990000"/>
                </a:solidFill>
                <a:ea typeface="隶书" panose="02010509060101010101" pitchFamily="49" charset="-122"/>
              </a:rPr>
              <a:t>4 Janbu</a:t>
            </a:r>
            <a:r>
              <a:rPr lang="zh-CN" altLang="en-US" b="1" smtClean="0">
                <a:solidFill>
                  <a:srgbClr val="990000"/>
                </a:solidFill>
                <a:ea typeface="隶书" panose="02010509060101010101" pitchFamily="49" charset="-122"/>
              </a:rPr>
              <a:t>法</a:t>
            </a:r>
            <a:endParaRPr lang="zh-CN" altLang="en-US" b="1" smtClean="0">
              <a:solidFill>
                <a:srgbClr val="990000"/>
              </a:solidFill>
              <a:ea typeface="隶书" panose="02010509060101010101" pitchFamily="49" charset="-122"/>
            </a:endParaRPr>
          </a:p>
          <a:p>
            <a:pPr eaLnBrk="1" hangingPunct="1">
              <a:lnSpc>
                <a:spcPct val="90000"/>
              </a:lnSpc>
              <a:buFontTx/>
              <a:buNone/>
            </a:pPr>
            <a:r>
              <a:rPr lang="en-US" altLang="zh-CN" b="1" smtClean="0">
                <a:solidFill>
                  <a:srgbClr val="990000"/>
                </a:solidFill>
                <a:ea typeface="隶书" panose="02010509060101010101" pitchFamily="49" charset="-122"/>
              </a:rPr>
              <a:t>5 Spencer</a:t>
            </a:r>
            <a:r>
              <a:rPr lang="zh-CN" altLang="en-US" b="1" smtClean="0">
                <a:solidFill>
                  <a:srgbClr val="990000"/>
                </a:solidFill>
                <a:ea typeface="隶书" panose="02010509060101010101" pitchFamily="49" charset="-122"/>
              </a:rPr>
              <a:t>方法</a:t>
            </a:r>
            <a:endParaRPr lang="zh-CN" altLang="en-US" b="1" smtClean="0">
              <a:solidFill>
                <a:srgbClr val="990000"/>
              </a:solidFill>
              <a:ea typeface="隶书" panose="02010509060101010101" pitchFamily="49" charset="-122"/>
            </a:endParaRPr>
          </a:p>
          <a:p>
            <a:pPr eaLnBrk="1" hangingPunct="1">
              <a:lnSpc>
                <a:spcPct val="90000"/>
              </a:lnSpc>
              <a:buFontTx/>
              <a:buNone/>
            </a:pPr>
            <a:r>
              <a:rPr lang="en-US" altLang="zh-CN" b="1" smtClean="0">
                <a:solidFill>
                  <a:srgbClr val="990000"/>
                </a:solidFill>
                <a:ea typeface="隶书" panose="02010509060101010101" pitchFamily="49" charset="-122"/>
              </a:rPr>
              <a:t>6 Morgenstern-Price</a:t>
            </a:r>
            <a:r>
              <a:rPr lang="zh-CN" altLang="en-US" b="1" smtClean="0">
                <a:solidFill>
                  <a:srgbClr val="990000"/>
                </a:solidFill>
                <a:ea typeface="隶书" panose="02010509060101010101" pitchFamily="49" charset="-122"/>
              </a:rPr>
              <a:t>方法</a:t>
            </a:r>
            <a:endParaRPr lang="zh-CN" altLang="en-US" b="1" smtClean="0">
              <a:solidFill>
                <a:srgbClr val="990000"/>
              </a:solidFill>
              <a:ea typeface="隶书" panose="02010509060101010101" pitchFamily="49" charset="-122"/>
            </a:endParaRPr>
          </a:p>
          <a:p>
            <a:pPr eaLnBrk="1" hangingPunct="1">
              <a:lnSpc>
                <a:spcPct val="90000"/>
              </a:lnSpc>
              <a:buFontTx/>
              <a:buNone/>
            </a:pPr>
            <a:r>
              <a:rPr lang="en-US" altLang="zh-CN" b="1" smtClean="0">
                <a:solidFill>
                  <a:srgbClr val="990000"/>
                </a:solidFill>
                <a:ea typeface="隶书" panose="02010509060101010101" pitchFamily="49" charset="-122"/>
              </a:rPr>
              <a:t>7 </a:t>
            </a:r>
            <a:r>
              <a:rPr lang="zh-CN" altLang="en-US" b="1" smtClean="0">
                <a:solidFill>
                  <a:srgbClr val="990000"/>
                </a:solidFill>
                <a:ea typeface="隶书" panose="02010509060101010101" pitchFamily="49" charset="-122"/>
              </a:rPr>
              <a:t>陈祖煜的通用条分法</a:t>
            </a:r>
            <a:endParaRPr lang="zh-CN" altLang="en-US" b="1" smtClean="0">
              <a:solidFill>
                <a:srgbClr val="990000"/>
              </a:solidFill>
              <a:ea typeface="隶书" panose="02010509060101010101" pitchFamily="49" charset="-122"/>
            </a:endParaRPr>
          </a:p>
          <a:p>
            <a:pPr eaLnBrk="1" hangingPunct="1">
              <a:lnSpc>
                <a:spcPct val="90000"/>
              </a:lnSpc>
              <a:buFontTx/>
              <a:buNone/>
            </a:pPr>
            <a:r>
              <a:rPr lang="en-US" altLang="zh-CN" b="1" smtClean="0">
                <a:solidFill>
                  <a:srgbClr val="990000"/>
                </a:solidFill>
                <a:ea typeface="隶书" panose="02010509060101010101" pitchFamily="49" charset="-122"/>
              </a:rPr>
              <a:t>8 </a:t>
            </a:r>
            <a:r>
              <a:rPr lang="zh-CN" altLang="en-US" b="1" smtClean="0">
                <a:solidFill>
                  <a:srgbClr val="990000"/>
                </a:solidFill>
                <a:ea typeface="隶书" panose="02010509060101010101" pitchFamily="49" charset="-122"/>
              </a:rPr>
              <a:t>不平衡推力传递法</a:t>
            </a:r>
            <a:endParaRPr lang="zh-CN" altLang="en-US" b="1" smtClean="0">
              <a:solidFill>
                <a:srgbClr val="990000"/>
              </a:solidFill>
              <a:ea typeface="隶书" panose="02010509060101010101" pitchFamily="49" charset="-122"/>
            </a:endParaRPr>
          </a:p>
          <a:p>
            <a:pPr eaLnBrk="1" hangingPunct="1">
              <a:lnSpc>
                <a:spcPct val="90000"/>
              </a:lnSpc>
              <a:buFontTx/>
              <a:buNone/>
            </a:pPr>
            <a:r>
              <a:rPr lang="en-US" altLang="zh-CN" b="1" smtClean="0">
                <a:solidFill>
                  <a:srgbClr val="990000"/>
                </a:solidFill>
                <a:ea typeface="隶书" panose="02010509060101010101" pitchFamily="49" charset="-122"/>
              </a:rPr>
              <a:t>9 Sarma</a:t>
            </a:r>
            <a:r>
              <a:rPr lang="zh-CN" altLang="en-US" b="1" smtClean="0">
                <a:solidFill>
                  <a:srgbClr val="990000"/>
                </a:solidFill>
                <a:ea typeface="隶书" panose="02010509060101010101" pitchFamily="49" charset="-122"/>
              </a:rPr>
              <a:t>方法</a:t>
            </a:r>
            <a:endParaRPr lang="zh-CN" altLang="en-US" b="1" smtClean="0">
              <a:solidFill>
                <a:srgbClr val="990000"/>
              </a:solidFill>
              <a:ea typeface="隶书" panose="02010509060101010101" pitchFamily="49" charset="-122"/>
            </a:endParaRPr>
          </a:p>
        </p:txBody>
      </p:sp>
      <p:sp>
        <p:nvSpPr>
          <p:cNvPr id="758845" name="Text Box 61"/>
          <p:cNvSpPr txBox="1">
            <a:spLocks noChangeArrowheads="1"/>
          </p:cNvSpPr>
          <p:nvPr/>
        </p:nvSpPr>
        <p:spPr bwMode="auto">
          <a:xfrm>
            <a:off x="609600" y="1447800"/>
            <a:ext cx="4495800" cy="579438"/>
          </a:xfrm>
          <a:prstGeom prst="rect">
            <a:avLst/>
          </a:prstGeom>
          <a:solidFill>
            <a:schemeClr val="accent6">
              <a:lumMod val="20000"/>
              <a:lumOff val="80000"/>
              <a:alpha val="50195"/>
            </a:schemeClr>
          </a:solidFill>
          <a:ln>
            <a:noFill/>
          </a:ln>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50000"/>
              </a:spcBef>
            </a:pPr>
            <a:r>
              <a:rPr lang="en-US" altLang="zh-CN" sz="3200">
                <a:solidFill>
                  <a:srgbClr val="0000FF"/>
                </a:solidFill>
              </a:rPr>
              <a:t>n=1</a:t>
            </a:r>
            <a:endParaRPr lang="en-US" altLang="zh-CN" sz="3200">
              <a:solidFill>
                <a:srgbClr val="0000FF"/>
              </a:solidFill>
            </a:endParaRPr>
          </a:p>
        </p:txBody>
      </p:sp>
      <p:sp>
        <p:nvSpPr>
          <p:cNvPr id="758846" name="Text Box 62"/>
          <p:cNvSpPr txBox="1">
            <a:spLocks noChangeArrowheads="1"/>
          </p:cNvSpPr>
          <p:nvPr/>
        </p:nvSpPr>
        <p:spPr bwMode="auto">
          <a:xfrm>
            <a:off x="609600" y="1981200"/>
            <a:ext cx="4495800" cy="579438"/>
          </a:xfrm>
          <a:prstGeom prst="rect">
            <a:avLst/>
          </a:prstGeom>
          <a:solidFill>
            <a:schemeClr val="accent6">
              <a:lumMod val="20000"/>
              <a:lumOff val="80000"/>
              <a:alpha val="50195"/>
            </a:schemeClr>
          </a:solidFill>
          <a:ln>
            <a:noFill/>
          </a:ln>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50000"/>
              </a:spcBef>
            </a:pPr>
            <a:r>
              <a:rPr lang="en-US" altLang="zh-CN" sz="3200">
                <a:solidFill>
                  <a:srgbClr val="0000FF"/>
                </a:solidFill>
              </a:rPr>
              <a:t>3(n-1)+n=4n-3</a:t>
            </a:r>
            <a:endParaRPr lang="en-US" altLang="zh-CN" sz="3200">
              <a:solidFill>
                <a:srgbClr val="0000FF"/>
              </a:solidFill>
            </a:endParaRPr>
          </a:p>
        </p:txBody>
      </p:sp>
      <p:sp>
        <p:nvSpPr>
          <p:cNvPr id="758847" name="Text Box 63"/>
          <p:cNvSpPr txBox="1">
            <a:spLocks noChangeArrowheads="1"/>
          </p:cNvSpPr>
          <p:nvPr/>
        </p:nvSpPr>
        <p:spPr bwMode="auto">
          <a:xfrm>
            <a:off x="609600" y="2514600"/>
            <a:ext cx="4495800" cy="579438"/>
          </a:xfrm>
          <a:prstGeom prst="rect">
            <a:avLst/>
          </a:prstGeom>
          <a:solidFill>
            <a:schemeClr val="accent6">
              <a:lumMod val="20000"/>
              <a:lumOff val="80000"/>
              <a:alpha val="50195"/>
            </a:schemeClr>
          </a:solidFill>
          <a:ln>
            <a:noFill/>
          </a:ln>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50000"/>
              </a:spcBef>
            </a:pPr>
            <a:r>
              <a:rPr lang="en-US" altLang="zh-CN" sz="3200">
                <a:solidFill>
                  <a:srgbClr val="0000FF"/>
                </a:solidFill>
              </a:rPr>
              <a:t>(n-1)+n=2n-1</a:t>
            </a:r>
            <a:endParaRPr lang="en-US" altLang="zh-CN" sz="3200">
              <a:solidFill>
                <a:srgbClr val="0000FF"/>
              </a:solidFill>
            </a:endParaRPr>
          </a:p>
        </p:txBody>
      </p:sp>
      <p:sp>
        <p:nvSpPr>
          <p:cNvPr id="758848" name="Text Box 64"/>
          <p:cNvSpPr txBox="1">
            <a:spLocks noChangeArrowheads="1"/>
          </p:cNvSpPr>
          <p:nvPr/>
        </p:nvSpPr>
        <p:spPr bwMode="auto">
          <a:xfrm>
            <a:off x="609600" y="3048000"/>
            <a:ext cx="4495800" cy="579438"/>
          </a:xfrm>
          <a:prstGeom prst="rect">
            <a:avLst/>
          </a:prstGeom>
          <a:solidFill>
            <a:schemeClr val="accent6">
              <a:lumMod val="60000"/>
              <a:lumOff val="40000"/>
              <a:alpha val="50195"/>
            </a:schemeClr>
          </a:solidFill>
          <a:ln>
            <a:noFill/>
          </a:ln>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50000"/>
              </a:spcBef>
            </a:pPr>
            <a:r>
              <a:rPr lang="en-US" altLang="zh-CN" sz="3200">
                <a:solidFill>
                  <a:srgbClr val="0000FF"/>
                </a:solidFill>
              </a:rPr>
              <a:t>(n-1)+n=2n-1</a:t>
            </a:r>
            <a:endParaRPr lang="en-US" altLang="zh-CN" sz="3200">
              <a:solidFill>
                <a:srgbClr val="0000FF"/>
              </a:solidFill>
            </a:endParaRPr>
          </a:p>
        </p:txBody>
      </p:sp>
      <p:sp>
        <p:nvSpPr>
          <p:cNvPr id="758849" name="Text Box 65"/>
          <p:cNvSpPr txBox="1">
            <a:spLocks noChangeArrowheads="1"/>
          </p:cNvSpPr>
          <p:nvPr/>
        </p:nvSpPr>
        <p:spPr bwMode="auto">
          <a:xfrm>
            <a:off x="609600" y="3657600"/>
            <a:ext cx="7696200" cy="1435100"/>
          </a:xfrm>
          <a:prstGeom prst="rect">
            <a:avLst/>
          </a:prstGeom>
          <a:solidFill>
            <a:schemeClr val="accent6">
              <a:lumMod val="60000"/>
              <a:lumOff val="40000"/>
              <a:alpha val="50195"/>
            </a:schemeClr>
          </a:solidFill>
          <a:ln>
            <a:noFill/>
          </a:ln>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50000"/>
              </a:spcBef>
            </a:pPr>
            <a:endParaRPr lang="en-US" altLang="zh-CN" sz="1600">
              <a:solidFill>
                <a:srgbClr val="0000FF"/>
              </a:solidFill>
            </a:endParaRPr>
          </a:p>
          <a:p>
            <a:pPr>
              <a:spcBef>
                <a:spcPct val="50000"/>
              </a:spcBef>
            </a:pPr>
            <a:r>
              <a:rPr lang="en-US" altLang="zh-CN" sz="3200">
                <a:solidFill>
                  <a:srgbClr val="0000FF"/>
                </a:solidFill>
              </a:rPr>
              <a:t>(n-1)-1+n=2n-2</a:t>
            </a:r>
            <a:endParaRPr lang="en-US" altLang="zh-CN" sz="3200">
              <a:solidFill>
                <a:srgbClr val="0000FF"/>
              </a:solidFill>
            </a:endParaRPr>
          </a:p>
          <a:p>
            <a:pPr>
              <a:spcBef>
                <a:spcPct val="50000"/>
              </a:spcBef>
            </a:pPr>
            <a:endParaRPr lang="en-US" altLang="zh-CN" sz="1600">
              <a:solidFill>
                <a:srgbClr val="0000FF"/>
              </a:solidFill>
            </a:endParaRPr>
          </a:p>
        </p:txBody>
      </p:sp>
      <p:sp>
        <p:nvSpPr>
          <p:cNvPr id="758850" name="Text Box 66"/>
          <p:cNvSpPr txBox="1">
            <a:spLocks noChangeArrowheads="1"/>
          </p:cNvSpPr>
          <p:nvPr/>
        </p:nvSpPr>
        <p:spPr bwMode="auto">
          <a:xfrm>
            <a:off x="609600" y="5105400"/>
            <a:ext cx="6172200" cy="579438"/>
          </a:xfrm>
          <a:prstGeom prst="rect">
            <a:avLst/>
          </a:prstGeom>
          <a:solidFill>
            <a:schemeClr val="accent6">
              <a:lumMod val="60000"/>
              <a:lumOff val="40000"/>
              <a:alpha val="50195"/>
            </a:schemeClr>
          </a:solidFill>
          <a:ln>
            <a:noFill/>
          </a:ln>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50000"/>
              </a:spcBef>
            </a:pPr>
            <a:r>
              <a:rPr lang="en-US" altLang="zh-CN" sz="3200">
                <a:solidFill>
                  <a:srgbClr val="0000FF"/>
                </a:solidFill>
              </a:rPr>
              <a:t>(n-1)+n=2n-1</a:t>
            </a:r>
            <a:endParaRPr lang="en-US" altLang="zh-CN" sz="3200">
              <a:solidFill>
                <a:srgbClr val="0000FF"/>
              </a:solidFill>
            </a:endParaRPr>
          </a:p>
        </p:txBody>
      </p:sp>
      <p:sp>
        <p:nvSpPr>
          <p:cNvPr id="758851" name="Text Box 67"/>
          <p:cNvSpPr txBox="1">
            <a:spLocks noChangeArrowheads="1"/>
          </p:cNvSpPr>
          <p:nvPr/>
        </p:nvSpPr>
        <p:spPr bwMode="auto">
          <a:xfrm>
            <a:off x="609600" y="5715000"/>
            <a:ext cx="6172200" cy="579438"/>
          </a:xfrm>
          <a:prstGeom prst="rect">
            <a:avLst/>
          </a:prstGeom>
          <a:solidFill>
            <a:schemeClr val="accent6">
              <a:lumMod val="60000"/>
              <a:lumOff val="40000"/>
              <a:alpha val="50195"/>
            </a:schemeClr>
          </a:solidFill>
          <a:ln>
            <a:noFill/>
          </a:ln>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50000"/>
              </a:spcBef>
            </a:pPr>
            <a:r>
              <a:rPr lang="en-US" altLang="zh-CN" sz="3200">
                <a:solidFill>
                  <a:srgbClr val="0000FF"/>
                </a:solidFill>
              </a:rPr>
              <a:t>(n-1)-1+n=2n-2</a:t>
            </a:r>
            <a:endParaRPr lang="en-US" altLang="zh-CN" sz="3200">
              <a:solidFill>
                <a:srgbClr val="0000FF"/>
              </a:solidFill>
            </a:endParaRPr>
          </a:p>
        </p:txBody>
      </p:sp>
      <p:sp>
        <p:nvSpPr>
          <p:cNvPr id="36877" name="テキスト ボックス 42"/>
          <p:cNvSpPr txBox="1">
            <a:spLocks noChangeArrowheads="1"/>
          </p:cNvSpPr>
          <p:nvPr/>
        </p:nvSpPr>
        <p:spPr bwMode="auto">
          <a:xfrm>
            <a:off x="61913" y="1357313"/>
            <a:ext cx="4381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r>
              <a:rPr kumimoji="1" lang="ja-JP" altLang="en-US" sz="3600">
                <a:latin typeface="Times New Roman" panose="02020603050405020304" pitchFamily="18" charset="0"/>
                <a:cs typeface="Times New Roman" panose="02020603050405020304" pitchFamily="18" charset="0"/>
                <a:sym typeface="Symbol" panose="05050102010706020507" pitchFamily="18" charset="2"/>
              </a:rPr>
              <a:t></a:t>
            </a:r>
            <a:endParaRPr kumimoji="1" lang="ja-JP" altLang="en-US" sz="3600">
              <a:latin typeface="Times New Roman" panose="02020603050405020304" pitchFamily="18" charset="0"/>
              <a:cs typeface="Times New Roman" panose="02020603050405020304" pitchFamily="18" charset="0"/>
            </a:endParaRPr>
          </a:p>
        </p:txBody>
      </p:sp>
      <p:sp>
        <p:nvSpPr>
          <p:cNvPr id="36878" name="正方形/長方形 43"/>
          <p:cNvSpPr>
            <a:spLocks noChangeAspect="1"/>
          </p:cNvSpPr>
          <p:nvPr/>
        </p:nvSpPr>
        <p:spPr bwMode="auto">
          <a:xfrm>
            <a:off x="61913" y="1928813"/>
            <a:ext cx="4381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r>
              <a:rPr kumimoji="1" lang="ja-JP" altLang="en-US" sz="3600">
                <a:sym typeface="Symbol" panose="05050102010706020507" pitchFamily="18" charset="2"/>
              </a:rPr>
              <a:t></a:t>
            </a:r>
            <a:endParaRPr kumimoji="1" lang="ja-JP" altLang="en-US" sz="3600"/>
          </a:p>
        </p:txBody>
      </p:sp>
      <p:sp>
        <p:nvSpPr>
          <p:cNvPr id="36879" name="正方形/長方形 44"/>
          <p:cNvSpPr>
            <a:spLocks noChangeAspect="1"/>
          </p:cNvSpPr>
          <p:nvPr/>
        </p:nvSpPr>
        <p:spPr bwMode="auto">
          <a:xfrm>
            <a:off x="61913" y="2455863"/>
            <a:ext cx="4381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r>
              <a:rPr kumimoji="1" lang="ja-JP" altLang="en-US" sz="3600">
                <a:sym typeface="Symbol" panose="05050102010706020507" pitchFamily="18" charset="2"/>
              </a:rPr>
              <a:t></a:t>
            </a:r>
            <a:endParaRPr kumimoji="1" lang="ja-JP" altLang="en-US" sz="3600"/>
          </a:p>
        </p:txBody>
      </p:sp>
      <p:sp>
        <p:nvSpPr>
          <p:cNvPr id="46" name="Rectangle 6"/>
          <p:cNvSpPr>
            <a:spLocks noChangeArrowheads="1"/>
          </p:cNvSpPr>
          <p:nvPr/>
        </p:nvSpPr>
        <p:spPr bwMode="auto">
          <a:xfrm>
            <a:off x="0" y="-7396"/>
            <a:ext cx="41148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黏性土坡的稳定性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8839">
                                            <p:txEl>
                                              <p:pRg st="0" end="0"/>
                                            </p:txEl>
                                          </p:spTgt>
                                        </p:tgtEl>
                                        <p:attrNameLst>
                                          <p:attrName>style.visibility</p:attrName>
                                        </p:attrNameLst>
                                      </p:cBhvr>
                                      <p:to>
                                        <p:strVal val="visible"/>
                                      </p:to>
                                    </p:set>
                                    <p:animEffect transition="in" filter="wipe(left)">
                                      <p:cBhvr>
                                        <p:cTn id="7" dur="500"/>
                                        <p:tgtEl>
                                          <p:spTgt spid="7588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58839">
                                            <p:txEl>
                                              <p:pRg st="1" end="1"/>
                                            </p:txEl>
                                          </p:spTgt>
                                        </p:tgtEl>
                                        <p:attrNameLst>
                                          <p:attrName>style.visibility</p:attrName>
                                        </p:attrNameLst>
                                      </p:cBhvr>
                                      <p:to>
                                        <p:strVal val="visible"/>
                                      </p:to>
                                    </p:set>
                                    <p:animEffect transition="in" filter="wipe(left)">
                                      <p:cBhvr>
                                        <p:cTn id="12" dur="500"/>
                                        <p:tgtEl>
                                          <p:spTgt spid="7588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58839">
                                            <p:txEl>
                                              <p:pRg st="2" end="2"/>
                                            </p:txEl>
                                          </p:spTgt>
                                        </p:tgtEl>
                                        <p:attrNameLst>
                                          <p:attrName>style.visibility</p:attrName>
                                        </p:attrNameLst>
                                      </p:cBhvr>
                                      <p:to>
                                        <p:strVal val="visible"/>
                                      </p:to>
                                    </p:set>
                                    <p:animEffect transition="in" filter="wipe(left)">
                                      <p:cBhvr>
                                        <p:cTn id="17" dur="500"/>
                                        <p:tgtEl>
                                          <p:spTgt spid="7588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58839">
                                            <p:txEl>
                                              <p:pRg st="3" end="3"/>
                                            </p:txEl>
                                          </p:spTgt>
                                        </p:tgtEl>
                                        <p:attrNameLst>
                                          <p:attrName>style.visibility</p:attrName>
                                        </p:attrNameLst>
                                      </p:cBhvr>
                                      <p:to>
                                        <p:strVal val="visible"/>
                                      </p:to>
                                    </p:set>
                                    <p:animEffect transition="in" filter="wipe(left)">
                                      <p:cBhvr>
                                        <p:cTn id="22" dur="500"/>
                                        <p:tgtEl>
                                          <p:spTgt spid="75883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58839">
                                            <p:txEl>
                                              <p:pRg st="4" end="4"/>
                                            </p:txEl>
                                          </p:spTgt>
                                        </p:tgtEl>
                                        <p:attrNameLst>
                                          <p:attrName>style.visibility</p:attrName>
                                        </p:attrNameLst>
                                      </p:cBhvr>
                                      <p:to>
                                        <p:strVal val="visible"/>
                                      </p:to>
                                    </p:set>
                                    <p:animEffect transition="in" filter="wipe(left)">
                                      <p:cBhvr>
                                        <p:cTn id="27" dur="500"/>
                                        <p:tgtEl>
                                          <p:spTgt spid="75883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58839">
                                            <p:txEl>
                                              <p:pRg st="5" end="5"/>
                                            </p:txEl>
                                          </p:spTgt>
                                        </p:tgtEl>
                                        <p:attrNameLst>
                                          <p:attrName>style.visibility</p:attrName>
                                        </p:attrNameLst>
                                      </p:cBhvr>
                                      <p:to>
                                        <p:strVal val="visible"/>
                                      </p:to>
                                    </p:set>
                                    <p:animEffect transition="in" filter="wipe(left)">
                                      <p:cBhvr>
                                        <p:cTn id="32" dur="500"/>
                                        <p:tgtEl>
                                          <p:spTgt spid="75883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58839">
                                            <p:txEl>
                                              <p:pRg st="6" end="6"/>
                                            </p:txEl>
                                          </p:spTgt>
                                        </p:tgtEl>
                                        <p:attrNameLst>
                                          <p:attrName>style.visibility</p:attrName>
                                        </p:attrNameLst>
                                      </p:cBhvr>
                                      <p:to>
                                        <p:strVal val="visible"/>
                                      </p:to>
                                    </p:set>
                                    <p:animEffect transition="in" filter="wipe(left)">
                                      <p:cBhvr>
                                        <p:cTn id="37" dur="500"/>
                                        <p:tgtEl>
                                          <p:spTgt spid="75883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58839">
                                            <p:txEl>
                                              <p:pRg st="7" end="7"/>
                                            </p:txEl>
                                          </p:spTgt>
                                        </p:tgtEl>
                                        <p:attrNameLst>
                                          <p:attrName>style.visibility</p:attrName>
                                        </p:attrNameLst>
                                      </p:cBhvr>
                                      <p:to>
                                        <p:strVal val="visible"/>
                                      </p:to>
                                    </p:set>
                                    <p:animEffect transition="in" filter="wipe(left)">
                                      <p:cBhvr>
                                        <p:cTn id="42" dur="500"/>
                                        <p:tgtEl>
                                          <p:spTgt spid="75883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758839">
                                            <p:txEl>
                                              <p:pRg st="8" end="8"/>
                                            </p:txEl>
                                          </p:spTgt>
                                        </p:tgtEl>
                                        <p:attrNameLst>
                                          <p:attrName>style.visibility</p:attrName>
                                        </p:attrNameLst>
                                      </p:cBhvr>
                                      <p:to>
                                        <p:strVal val="visible"/>
                                      </p:to>
                                    </p:set>
                                    <p:animEffect transition="in" filter="wipe(left)">
                                      <p:cBhvr>
                                        <p:cTn id="47" dur="500"/>
                                        <p:tgtEl>
                                          <p:spTgt spid="75883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758845"/>
                                        </p:tgtEl>
                                        <p:attrNameLst>
                                          <p:attrName>style.visibility</p:attrName>
                                        </p:attrNameLst>
                                      </p:cBhvr>
                                      <p:to>
                                        <p:strVal val="visible"/>
                                      </p:to>
                                    </p:set>
                                    <p:animEffect transition="in" filter="wipe(up)">
                                      <p:cBhvr>
                                        <p:cTn id="52" dur="500"/>
                                        <p:tgtEl>
                                          <p:spTgt spid="75884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758846"/>
                                        </p:tgtEl>
                                        <p:attrNameLst>
                                          <p:attrName>style.visibility</p:attrName>
                                        </p:attrNameLst>
                                      </p:cBhvr>
                                      <p:to>
                                        <p:strVal val="visible"/>
                                      </p:to>
                                    </p:set>
                                    <p:animEffect transition="in" filter="wipe(up)">
                                      <p:cBhvr>
                                        <p:cTn id="57" dur="500"/>
                                        <p:tgtEl>
                                          <p:spTgt spid="75884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758847"/>
                                        </p:tgtEl>
                                        <p:attrNameLst>
                                          <p:attrName>style.visibility</p:attrName>
                                        </p:attrNameLst>
                                      </p:cBhvr>
                                      <p:to>
                                        <p:strVal val="visible"/>
                                      </p:to>
                                    </p:set>
                                    <p:animEffect transition="in" filter="wipe(up)">
                                      <p:cBhvr>
                                        <p:cTn id="62" dur="500"/>
                                        <p:tgtEl>
                                          <p:spTgt spid="75884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758848"/>
                                        </p:tgtEl>
                                        <p:attrNameLst>
                                          <p:attrName>style.visibility</p:attrName>
                                        </p:attrNameLst>
                                      </p:cBhvr>
                                      <p:to>
                                        <p:strVal val="visible"/>
                                      </p:to>
                                    </p:set>
                                    <p:animEffect transition="in" filter="wipe(up)">
                                      <p:cBhvr>
                                        <p:cTn id="67" dur="500"/>
                                        <p:tgtEl>
                                          <p:spTgt spid="75884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758849"/>
                                        </p:tgtEl>
                                        <p:attrNameLst>
                                          <p:attrName>style.visibility</p:attrName>
                                        </p:attrNameLst>
                                      </p:cBhvr>
                                      <p:to>
                                        <p:strVal val="visible"/>
                                      </p:to>
                                    </p:set>
                                    <p:animEffect transition="in" filter="wipe(up)">
                                      <p:cBhvr>
                                        <p:cTn id="72" dur="500"/>
                                        <p:tgtEl>
                                          <p:spTgt spid="758849"/>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grpId="0" nodeType="clickEffect">
                                  <p:stCondLst>
                                    <p:cond delay="0"/>
                                  </p:stCondLst>
                                  <p:childTnLst>
                                    <p:set>
                                      <p:cBhvr>
                                        <p:cTn id="76" dur="1" fill="hold">
                                          <p:stCondLst>
                                            <p:cond delay="0"/>
                                          </p:stCondLst>
                                        </p:cTn>
                                        <p:tgtEl>
                                          <p:spTgt spid="758850"/>
                                        </p:tgtEl>
                                        <p:attrNameLst>
                                          <p:attrName>style.visibility</p:attrName>
                                        </p:attrNameLst>
                                      </p:cBhvr>
                                      <p:to>
                                        <p:strVal val="visible"/>
                                      </p:to>
                                    </p:set>
                                    <p:animEffect transition="in" filter="wipe(up)">
                                      <p:cBhvr>
                                        <p:cTn id="77" dur="500"/>
                                        <p:tgtEl>
                                          <p:spTgt spid="758850"/>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grpId="0" nodeType="clickEffect">
                                  <p:stCondLst>
                                    <p:cond delay="0"/>
                                  </p:stCondLst>
                                  <p:childTnLst>
                                    <p:set>
                                      <p:cBhvr>
                                        <p:cTn id="81" dur="1" fill="hold">
                                          <p:stCondLst>
                                            <p:cond delay="0"/>
                                          </p:stCondLst>
                                        </p:cTn>
                                        <p:tgtEl>
                                          <p:spTgt spid="758851"/>
                                        </p:tgtEl>
                                        <p:attrNameLst>
                                          <p:attrName>style.visibility</p:attrName>
                                        </p:attrNameLst>
                                      </p:cBhvr>
                                      <p:to>
                                        <p:strVal val="visible"/>
                                      </p:to>
                                    </p:set>
                                    <p:animEffect transition="in" filter="wipe(up)">
                                      <p:cBhvr>
                                        <p:cTn id="82" dur="500"/>
                                        <p:tgtEl>
                                          <p:spTgt spid="7588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8839" grpId="0" autoUpdateAnimBg="0" build="p"/>
      <p:bldP spid="758845" grpId="0" bldLvl="0" animBg="1" autoUpdateAnimBg="0"/>
      <p:bldP spid="758846" grpId="0" bldLvl="0" animBg="1" autoUpdateAnimBg="0"/>
      <p:bldP spid="758847" grpId="0" bldLvl="0" animBg="1" autoUpdateAnimBg="0"/>
      <p:bldP spid="758848" grpId="0" bldLvl="0" animBg="1" autoUpdateAnimBg="0"/>
      <p:bldP spid="758849" grpId="0" bldLvl="0" animBg="1" autoUpdateAnimBg="0"/>
      <p:bldP spid="758850" grpId="0" bldLvl="0" animBg="1" autoUpdateAnimBg="0"/>
      <p:bldP spid="758851" grpId="0" bldLvl="0" animBg="1"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1" name="Rectangle 3"/>
          <p:cNvSpPr>
            <a:spLocks noGrp="1" noChangeArrowheads="1"/>
          </p:cNvSpPr>
          <p:nvPr>
            <p:ph type="body" sz="half" idx="1"/>
          </p:nvPr>
        </p:nvSpPr>
        <p:spPr bwMode="auto">
          <a:xfrm>
            <a:off x="796925" y="723507"/>
            <a:ext cx="4495800" cy="482862"/>
          </a:xfrm>
          <a:solidFill>
            <a:srgbClr val="FFC000"/>
          </a:solidFill>
        </p:spPr>
        <p:txBody>
          <a:bodyPr vert="horz" wrap="square" lIns="91440" tIns="45720" rIns="91440" bIns="45720" numCol="1" anchor="t" anchorCtr="0" compatLnSpc="1"/>
          <a:lstStyle/>
          <a:p>
            <a:pPr marL="0" indent="0" algn="just" eaLnBrk="1" hangingPunct="1">
              <a:buFontTx/>
              <a:buNone/>
            </a:pPr>
            <a:r>
              <a:rPr lang="zh-CN" altLang="en-US" sz="2800" b="1" dirty="0" smtClean="0">
                <a:solidFill>
                  <a:srgbClr val="993300"/>
                </a:solidFill>
                <a:latin typeface="+mn-ea"/>
              </a:rPr>
              <a:t>瑞典条分法（简单条分法）</a:t>
            </a:r>
            <a:endParaRPr lang="zh-CN" altLang="en-US" sz="2800" b="1" dirty="0" smtClean="0">
              <a:solidFill>
                <a:srgbClr val="993300"/>
              </a:solidFill>
              <a:latin typeface="+mn-ea"/>
            </a:endParaRPr>
          </a:p>
        </p:txBody>
      </p:sp>
      <p:sp>
        <p:nvSpPr>
          <p:cNvPr id="759893" name="Text Box 85"/>
          <p:cNvSpPr txBox="1">
            <a:spLocks noChangeArrowheads="1"/>
          </p:cNvSpPr>
          <p:nvPr/>
        </p:nvSpPr>
        <p:spPr bwMode="auto">
          <a:xfrm>
            <a:off x="1143000" y="4724400"/>
            <a:ext cx="655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2400" b="1">
                <a:solidFill>
                  <a:srgbClr val="0000FF"/>
                </a:solidFill>
              </a:rPr>
              <a:t>忽略所有条间作用力：</a:t>
            </a:r>
            <a:r>
              <a:rPr lang="en-US" altLang="zh-CN" sz="2400" b="1">
                <a:solidFill>
                  <a:srgbClr val="0000FF"/>
                </a:solidFill>
              </a:rPr>
              <a:t>2(n-1)+(n-1) </a:t>
            </a:r>
            <a:r>
              <a:rPr lang="zh-CN" altLang="en-US" sz="2400" b="1">
                <a:solidFill>
                  <a:srgbClr val="CC3300"/>
                </a:solidFill>
              </a:rPr>
              <a:t>＝</a:t>
            </a:r>
            <a:r>
              <a:rPr lang="zh-CN" altLang="en-US" sz="2400" b="1">
                <a:solidFill>
                  <a:srgbClr val="0000FF"/>
                </a:solidFill>
              </a:rPr>
              <a:t> </a:t>
            </a:r>
            <a:r>
              <a:rPr lang="en-US" altLang="zh-CN" sz="2400" b="1">
                <a:solidFill>
                  <a:srgbClr val="0000FF"/>
                </a:solidFill>
              </a:rPr>
              <a:t>3n-3</a:t>
            </a:r>
            <a:endParaRPr lang="en-US" altLang="zh-CN" sz="2400" b="1">
              <a:solidFill>
                <a:srgbClr val="0000FF"/>
              </a:solidFill>
            </a:endParaRPr>
          </a:p>
        </p:txBody>
      </p:sp>
      <p:sp>
        <p:nvSpPr>
          <p:cNvPr id="759902" name="Rectangle 94"/>
          <p:cNvSpPr>
            <a:spLocks noChangeArrowheads="1"/>
          </p:cNvSpPr>
          <p:nvPr/>
        </p:nvSpPr>
        <p:spPr bwMode="auto">
          <a:xfrm>
            <a:off x="7315200" y="4876800"/>
            <a:ext cx="811213" cy="457200"/>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a:r>
              <a:rPr lang="en-US" altLang="zh-CN" sz="2400" b="1">
                <a:solidFill>
                  <a:schemeClr val="accent1"/>
                </a:solidFill>
              </a:rPr>
              <a:t>4n-3</a:t>
            </a:r>
            <a:endParaRPr lang="en-US" altLang="zh-CN" sz="2400" b="1">
              <a:solidFill>
                <a:schemeClr val="accent1"/>
              </a:solidFill>
            </a:endParaRPr>
          </a:p>
        </p:txBody>
      </p:sp>
      <p:grpSp>
        <p:nvGrpSpPr>
          <p:cNvPr id="37894" name="Group 109"/>
          <p:cNvGrpSpPr/>
          <p:nvPr/>
        </p:nvGrpSpPr>
        <p:grpSpPr bwMode="auto">
          <a:xfrm>
            <a:off x="4876800" y="838200"/>
            <a:ext cx="3733800" cy="3124200"/>
            <a:chOff x="3024" y="432"/>
            <a:chExt cx="2352" cy="1968"/>
          </a:xfrm>
        </p:grpSpPr>
        <p:grpSp>
          <p:nvGrpSpPr>
            <p:cNvPr id="37906" name="Group 57"/>
            <p:cNvGrpSpPr/>
            <p:nvPr/>
          </p:nvGrpSpPr>
          <p:grpSpPr bwMode="auto">
            <a:xfrm>
              <a:off x="3648" y="432"/>
              <a:ext cx="528" cy="1584"/>
              <a:chOff x="3744" y="864"/>
              <a:chExt cx="432" cy="1584"/>
            </a:xfrm>
          </p:grpSpPr>
          <p:sp>
            <p:nvSpPr>
              <p:cNvPr id="37932" name="Line 58"/>
              <p:cNvSpPr>
                <a:spLocks noChangeShapeType="1"/>
              </p:cNvSpPr>
              <p:nvPr/>
            </p:nvSpPr>
            <p:spPr bwMode="auto">
              <a:xfrm>
                <a:off x="3744" y="1056"/>
                <a:ext cx="0" cy="1392"/>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33" name="Line 59"/>
              <p:cNvSpPr>
                <a:spLocks noChangeShapeType="1"/>
              </p:cNvSpPr>
              <p:nvPr/>
            </p:nvSpPr>
            <p:spPr bwMode="auto">
              <a:xfrm>
                <a:off x="4176" y="864"/>
                <a:ext cx="0" cy="1248"/>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34" name="Line 60"/>
              <p:cNvSpPr>
                <a:spLocks noChangeShapeType="1"/>
              </p:cNvSpPr>
              <p:nvPr/>
            </p:nvSpPr>
            <p:spPr bwMode="auto">
              <a:xfrm flipV="1">
                <a:off x="3744" y="864"/>
                <a:ext cx="432" cy="192"/>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35" name="Line 61"/>
              <p:cNvSpPr>
                <a:spLocks noChangeShapeType="1"/>
              </p:cNvSpPr>
              <p:nvPr/>
            </p:nvSpPr>
            <p:spPr bwMode="auto">
              <a:xfrm flipV="1">
                <a:off x="3744" y="2112"/>
                <a:ext cx="432" cy="336"/>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7907" name="Line 62"/>
            <p:cNvSpPr>
              <a:spLocks noChangeShapeType="1"/>
            </p:cNvSpPr>
            <p:nvPr/>
          </p:nvSpPr>
          <p:spPr bwMode="auto">
            <a:xfrm>
              <a:off x="3888" y="960"/>
              <a:ext cx="0" cy="336"/>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08" name="Line 63"/>
            <p:cNvSpPr>
              <a:spLocks noChangeShapeType="1"/>
            </p:cNvSpPr>
            <p:nvPr/>
          </p:nvSpPr>
          <p:spPr bwMode="auto">
            <a:xfrm>
              <a:off x="3168" y="1488"/>
              <a:ext cx="480" cy="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09" name="Line 64"/>
            <p:cNvSpPr>
              <a:spLocks noChangeShapeType="1"/>
            </p:cNvSpPr>
            <p:nvPr/>
          </p:nvSpPr>
          <p:spPr bwMode="auto">
            <a:xfrm flipV="1">
              <a:off x="3600" y="1536"/>
              <a:ext cx="0" cy="336"/>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10" name="Line 65"/>
            <p:cNvSpPr>
              <a:spLocks noChangeShapeType="1"/>
            </p:cNvSpPr>
            <p:nvPr/>
          </p:nvSpPr>
          <p:spPr bwMode="auto">
            <a:xfrm flipH="1">
              <a:off x="4224" y="960"/>
              <a:ext cx="288" cy="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11" name="Line 66"/>
            <p:cNvSpPr>
              <a:spLocks noChangeShapeType="1"/>
            </p:cNvSpPr>
            <p:nvPr/>
          </p:nvSpPr>
          <p:spPr bwMode="auto">
            <a:xfrm>
              <a:off x="4224" y="624"/>
              <a:ext cx="0" cy="288"/>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12" name="Line 67"/>
            <p:cNvSpPr>
              <a:spLocks noChangeShapeType="1"/>
            </p:cNvSpPr>
            <p:nvPr/>
          </p:nvSpPr>
          <p:spPr bwMode="auto">
            <a:xfrm flipV="1">
              <a:off x="3744" y="1776"/>
              <a:ext cx="384" cy="240"/>
            </a:xfrm>
            <a:prstGeom prst="line">
              <a:avLst/>
            </a:prstGeom>
            <a:noFill/>
            <a:ln w="22225">
              <a:solidFill>
                <a:srgbClr val="0000FF"/>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13" name="Line 68"/>
            <p:cNvSpPr>
              <a:spLocks noChangeShapeType="1"/>
            </p:cNvSpPr>
            <p:nvPr/>
          </p:nvSpPr>
          <p:spPr bwMode="auto">
            <a:xfrm rot="10800000">
              <a:off x="3984" y="1920"/>
              <a:ext cx="192" cy="288"/>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14" name="Line 69"/>
            <p:cNvSpPr>
              <a:spLocks noChangeShapeType="1"/>
            </p:cNvSpPr>
            <p:nvPr/>
          </p:nvSpPr>
          <p:spPr bwMode="auto">
            <a:xfrm flipV="1">
              <a:off x="4176" y="1392"/>
              <a:ext cx="384" cy="2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15" name="Line 70"/>
            <p:cNvSpPr>
              <a:spLocks noChangeShapeType="1"/>
            </p:cNvSpPr>
            <p:nvPr/>
          </p:nvSpPr>
          <p:spPr bwMode="auto">
            <a:xfrm>
              <a:off x="4176" y="1680"/>
              <a:ext cx="43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16" name="Freeform 71"/>
            <p:cNvSpPr/>
            <p:nvPr/>
          </p:nvSpPr>
          <p:spPr bwMode="auto">
            <a:xfrm>
              <a:off x="4268" y="1620"/>
              <a:ext cx="49" cy="56"/>
            </a:xfrm>
            <a:custGeom>
              <a:avLst/>
              <a:gdLst>
                <a:gd name="T0" fmla="*/ 0 w 49"/>
                <a:gd name="T1" fmla="*/ 0 h 56"/>
                <a:gd name="T2" fmla="*/ 40 w 49"/>
                <a:gd name="T3" fmla="*/ 32 h 56"/>
                <a:gd name="T4" fmla="*/ 48 w 49"/>
                <a:gd name="T5" fmla="*/ 56 h 56"/>
                <a:gd name="T6" fmla="*/ 0 60000 65536"/>
                <a:gd name="T7" fmla="*/ 0 60000 65536"/>
                <a:gd name="T8" fmla="*/ 0 60000 65536"/>
                <a:gd name="T9" fmla="*/ 0 w 49"/>
                <a:gd name="T10" fmla="*/ 0 h 56"/>
                <a:gd name="T11" fmla="*/ 49 w 49"/>
                <a:gd name="T12" fmla="*/ 56 h 56"/>
              </a:gdLst>
              <a:ahLst/>
              <a:cxnLst>
                <a:cxn ang="T6">
                  <a:pos x="T0" y="T1"/>
                </a:cxn>
                <a:cxn ang="T7">
                  <a:pos x="T2" y="T3"/>
                </a:cxn>
                <a:cxn ang="T8">
                  <a:pos x="T4" y="T5"/>
                </a:cxn>
              </a:cxnLst>
              <a:rect l="T9" t="T10" r="T11" b="T12"/>
              <a:pathLst>
                <a:path w="49" h="56">
                  <a:moveTo>
                    <a:pt x="0" y="0"/>
                  </a:moveTo>
                  <a:cubicBezTo>
                    <a:pt x="20" y="10"/>
                    <a:pt x="20" y="22"/>
                    <a:pt x="40" y="32"/>
                  </a:cubicBezTo>
                  <a:cubicBezTo>
                    <a:pt x="49" y="50"/>
                    <a:pt x="48" y="42"/>
                    <a:pt x="48" y="56"/>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917" name="Line 72"/>
            <p:cNvSpPr>
              <a:spLocks noChangeShapeType="1"/>
            </p:cNvSpPr>
            <p:nvPr/>
          </p:nvSpPr>
          <p:spPr bwMode="auto">
            <a:xfrm>
              <a:off x="4704" y="1680"/>
              <a:ext cx="33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18" name="Line 73"/>
            <p:cNvSpPr>
              <a:spLocks noChangeShapeType="1"/>
            </p:cNvSpPr>
            <p:nvPr/>
          </p:nvSpPr>
          <p:spPr bwMode="auto">
            <a:xfrm>
              <a:off x="4704" y="960"/>
              <a:ext cx="33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19" name="Line 74"/>
            <p:cNvSpPr>
              <a:spLocks noChangeShapeType="1"/>
            </p:cNvSpPr>
            <p:nvPr/>
          </p:nvSpPr>
          <p:spPr bwMode="auto">
            <a:xfrm>
              <a:off x="4848" y="960"/>
              <a:ext cx="0" cy="72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20" name="Rectangle 75"/>
            <p:cNvSpPr>
              <a:spLocks noChangeArrowheads="1"/>
            </p:cNvSpPr>
            <p:nvPr/>
          </p:nvSpPr>
          <p:spPr bwMode="auto">
            <a:xfrm>
              <a:off x="3024" y="1152"/>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err="1" smtClean="0">
                  <a:solidFill>
                    <a:srgbClr val="CC3300"/>
                  </a:solidFill>
                  <a:latin typeface="Times New Roman" panose="02020603050405020304" pitchFamily="18" charset="0"/>
                  <a:sym typeface="Symbol" panose="05050102010706020507" pitchFamily="18" charset="2"/>
                </a:rPr>
                <a:t>E</a:t>
              </a:r>
              <a:r>
                <a:rPr kumimoji="1" lang="en-US" altLang="zh-CN" sz="2400" b="1" i="1" baseline="-25000" dirty="0" err="1" smtClean="0">
                  <a:solidFill>
                    <a:srgbClr val="CC3300"/>
                  </a:solidFill>
                  <a:latin typeface="Times New Roman" panose="02020603050405020304" pitchFamily="18" charset="0"/>
                  <a:sym typeface="Symbol" panose="05050102010706020507" pitchFamily="18" charset="2"/>
                </a:rPr>
                <a:t>i</a:t>
              </a:r>
              <a:endParaRPr kumimoji="1" lang="en-US" altLang="zh-CN" sz="2400" b="1" i="1" baseline="-25000" dirty="0">
                <a:solidFill>
                  <a:srgbClr val="CC3300"/>
                </a:solidFill>
                <a:latin typeface="Times New Roman" panose="02020603050405020304" pitchFamily="18" charset="0"/>
                <a:sym typeface="Symbol" panose="05050102010706020507" pitchFamily="18" charset="2"/>
              </a:endParaRPr>
            </a:p>
          </p:txBody>
        </p:sp>
        <p:sp>
          <p:nvSpPr>
            <p:cNvPr id="37921" name="Rectangle 76"/>
            <p:cNvSpPr>
              <a:spLocks noChangeArrowheads="1"/>
            </p:cNvSpPr>
            <p:nvPr/>
          </p:nvSpPr>
          <p:spPr bwMode="auto">
            <a:xfrm>
              <a:off x="3312" y="168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smtClean="0">
                  <a:solidFill>
                    <a:srgbClr val="CC3300"/>
                  </a:solidFill>
                  <a:latin typeface="Times New Roman" panose="02020603050405020304" pitchFamily="18" charset="0"/>
                  <a:sym typeface="Symbol" panose="05050102010706020507" pitchFamily="18" charset="2"/>
                </a:rPr>
                <a:t>X</a:t>
              </a:r>
              <a:r>
                <a:rPr kumimoji="1" lang="en-US" altLang="zh-CN" sz="2400" b="1" i="1" baseline="-25000" dirty="0" smtClean="0">
                  <a:solidFill>
                    <a:srgbClr val="CC3300"/>
                  </a:solidFill>
                  <a:latin typeface="Times New Roman" panose="02020603050405020304" pitchFamily="18" charset="0"/>
                  <a:sym typeface="Symbol" panose="05050102010706020507" pitchFamily="18" charset="2"/>
                </a:rPr>
                <a:t>i</a:t>
              </a:r>
              <a:endParaRPr kumimoji="1" lang="en-US" altLang="zh-CN" sz="2400" b="1" i="1" baseline="-25000" dirty="0">
                <a:solidFill>
                  <a:srgbClr val="CC3300"/>
                </a:solidFill>
                <a:latin typeface="Times New Roman" panose="02020603050405020304" pitchFamily="18" charset="0"/>
                <a:sym typeface="Symbol" panose="05050102010706020507" pitchFamily="18" charset="2"/>
              </a:endParaRPr>
            </a:p>
          </p:txBody>
        </p:sp>
        <p:sp>
          <p:nvSpPr>
            <p:cNvPr id="37922" name="Rectangle 77"/>
            <p:cNvSpPr>
              <a:spLocks noChangeArrowheads="1"/>
            </p:cNvSpPr>
            <p:nvPr/>
          </p:nvSpPr>
          <p:spPr bwMode="auto">
            <a:xfrm>
              <a:off x="4080" y="1728"/>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T</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baseline="-25000">
                <a:solidFill>
                  <a:srgbClr val="CC3300"/>
                </a:solidFill>
                <a:latin typeface="Times New Roman" panose="02020603050405020304" pitchFamily="18" charset="0"/>
                <a:sym typeface="Symbol" panose="05050102010706020507" pitchFamily="18" charset="2"/>
              </a:endParaRPr>
            </a:p>
          </p:txBody>
        </p:sp>
        <p:sp>
          <p:nvSpPr>
            <p:cNvPr id="37923" name="Rectangle 78"/>
            <p:cNvSpPr>
              <a:spLocks noChangeArrowheads="1"/>
            </p:cNvSpPr>
            <p:nvPr/>
          </p:nvSpPr>
          <p:spPr bwMode="auto">
            <a:xfrm>
              <a:off x="4112" y="211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N</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a:solidFill>
                  <a:srgbClr val="CC3300"/>
                </a:solidFill>
                <a:latin typeface="Times New Roman" panose="02020603050405020304" pitchFamily="18" charset="0"/>
                <a:sym typeface="Symbol" panose="05050102010706020507" pitchFamily="18" charset="2"/>
              </a:endParaRPr>
            </a:p>
          </p:txBody>
        </p:sp>
        <p:sp>
          <p:nvSpPr>
            <p:cNvPr id="37924" name="Rectangle 79"/>
            <p:cNvSpPr>
              <a:spLocks noChangeArrowheads="1"/>
            </p:cNvSpPr>
            <p:nvPr/>
          </p:nvSpPr>
          <p:spPr bwMode="auto">
            <a:xfrm>
              <a:off x="4272" y="144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993300"/>
                  </a:solidFill>
                  <a:latin typeface="Times New Roman" panose="02020603050405020304" pitchFamily="18" charset="0"/>
                  <a:sym typeface="Symbol" panose="05050102010706020507" pitchFamily="18" charset="2"/>
                </a:rPr>
                <a:t></a:t>
              </a:r>
              <a:r>
                <a:rPr kumimoji="1" lang="en-US" altLang="zh-CN" sz="2400" b="1" i="1" baseline="-25000">
                  <a:solidFill>
                    <a:srgbClr val="993300"/>
                  </a:solidFill>
                  <a:latin typeface="Times New Roman" panose="02020603050405020304" pitchFamily="18" charset="0"/>
                  <a:sym typeface="Symbol" panose="05050102010706020507" pitchFamily="18" charset="2"/>
                </a:rPr>
                <a:t>i</a:t>
              </a:r>
              <a:endParaRPr kumimoji="1" lang="en-US" altLang="zh-CN" sz="2400" b="1" i="1" baseline="-25000">
                <a:solidFill>
                  <a:srgbClr val="993300"/>
                </a:solidFill>
                <a:latin typeface="Times New Roman" panose="02020603050405020304" pitchFamily="18" charset="0"/>
                <a:sym typeface="Symbol" panose="05050102010706020507" pitchFamily="18" charset="2"/>
              </a:endParaRPr>
            </a:p>
          </p:txBody>
        </p:sp>
        <p:sp>
          <p:nvSpPr>
            <p:cNvPr id="37925" name="Rectangle 80"/>
            <p:cNvSpPr>
              <a:spLocks noChangeArrowheads="1"/>
            </p:cNvSpPr>
            <p:nvPr/>
          </p:nvSpPr>
          <p:spPr bwMode="auto">
            <a:xfrm>
              <a:off x="4848" y="1152"/>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h</a:t>
              </a:r>
              <a:r>
                <a:rPr kumimoji="1" lang="en-US" altLang="zh-CN" sz="2400" b="1" i="1" baseline="-25000">
                  <a:solidFill>
                    <a:srgbClr val="CC3300"/>
                  </a:solidFill>
                  <a:latin typeface="Times New Roman" panose="02020603050405020304" pitchFamily="18" charset="0"/>
                  <a:sym typeface="Symbol" panose="05050102010706020507" pitchFamily="18" charset="2"/>
                </a:rPr>
                <a:t>i</a:t>
              </a:r>
              <a:r>
                <a:rPr kumimoji="1" lang="en-US" altLang="zh-CN" sz="2400" b="1" baseline="-25000">
                  <a:solidFill>
                    <a:srgbClr val="CC3300"/>
                  </a:solidFill>
                  <a:latin typeface="Times New Roman" panose="02020603050405020304" pitchFamily="18" charset="0"/>
                  <a:sym typeface="Symbol" panose="05050102010706020507" pitchFamily="18" charset="2"/>
                </a:rPr>
                <a:t>+1</a:t>
              </a:r>
              <a:endParaRPr kumimoji="1" lang="en-US" altLang="zh-CN" sz="2400" b="1" i="1" baseline="-25000">
                <a:solidFill>
                  <a:srgbClr val="CC3300"/>
                </a:solidFill>
                <a:latin typeface="Times New Roman" panose="02020603050405020304" pitchFamily="18" charset="0"/>
                <a:sym typeface="Symbol" panose="05050102010706020507" pitchFamily="18" charset="2"/>
              </a:endParaRPr>
            </a:p>
          </p:txBody>
        </p:sp>
        <p:sp>
          <p:nvSpPr>
            <p:cNvPr id="37926" name="Rectangle 81"/>
            <p:cNvSpPr>
              <a:spLocks noChangeArrowheads="1"/>
            </p:cNvSpPr>
            <p:nvPr/>
          </p:nvSpPr>
          <p:spPr bwMode="auto">
            <a:xfrm>
              <a:off x="3744" y="1296"/>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err="1" smtClean="0">
                  <a:solidFill>
                    <a:srgbClr val="CC3300"/>
                  </a:solidFill>
                  <a:latin typeface="Times New Roman" panose="02020603050405020304" pitchFamily="18" charset="0"/>
                  <a:sym typeface="Symbol" panose="05050102010706020507" pitchFamily="18" charset="2"/>
                </a:rPr>
                <a:t>G</a:t>
              </a:r>
              <a:r>
                <a:rPr kumimoji="1" lang="en-US" altLang="zh-CN" sz="2400" b="1" i="1" baseline="-25000" dirty="0" err="1" smtClean="0">
                  <a:solidFill>
                    <a:srgbClr val="CC3300"/>
                  </a:solidFill>
                  <a:latin typeface="Times New Roman" panose="02020603050405020304" pitchFamily="18" charset="0"/>
                  <a:sym typeface="Symbol" panose="05050102010706020507" pitchFamily="18" charset="2"/>
                </a:rPr>
                <a:t>i</a:t>
              </a:r>
              <a:endParaRPr kumimoji="1" lang="en-US" altLang="zh-CN" sz="2400" b="1" i="1" baseline="-25000" dirty="0">
                <a:solidFill>
                  <a:srgbClr val="CC3300"/>
                </a:solidFill>
                <a:latin typeface="Times New Roman" panose="02020603050405020304" pitchFamily="18" charset="0"/>
                <a:sym typeface="Symbol" panose="05050102010706020507" pitchFamily="18" charset="2"/>
              </a:endParaRPr>
            </a:p>
          </p:txBody>
        </p:sp>
        <p:sp>
          <p:nvSpPr>
            <p:cNvPr id="37927" name="Rectangle 82"/>
            <p:cNvSpPr>
              <a:spLocks noChangeArrowheads="1"/>
            </p:cNvSpPr>
            <p:nvPr/>
          </p:nvSpPr>
          <p:spPr bwMode="auto">
            <a:xfrm>
              <a:off x="4416" y="72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smtClean="0">
                  <a:solidFill>
                    <a:srgbClr val="CC3300"/>
                  </a:solidFill>
                  <a:latin typeface="Times New Roman" panose="02020603050405020304" pitchFamily="18" charset="0"/>
                  <a:sym typeface="Symbol" panose="05050102010706020507" pitchFamily="18" charset="2"/>
                </a:rPr>
                <a:t>E</a:t>
              </a:r>
              <a:r>
                <a:rPr kumimoji="1" lang="en-US" altLang="zh-CN" sz="2400" b="1" i="1" baseline="-25000" dirty="0" smtClean="0">
                  <a:solidFill>
                    <a:srgbClr val="CC3300"/>
                  </a:solidFill>
                  <a:latin typeface="Times New Roman" panose="02020603050405020304" pitchFamily="18" charset="0"/>
                  <a:sym typeface="Symbol" panose="05050102010706020507" pitchFamily="18" charset="2"/>
                </a:rPr>
                <a:t>i</a:t>
              </a:r>
              <a:r>
                <a:rPr kumimoji="1" lang="en-US" altLang="zh-CN" sz="2400" b="1" baseline="-25000" dirty="0" smtClean="0">
                  <a:solidFill>
                    <a:srgbClr val="CC3300"/>
                  </a:solidFill>
                  <a:latin typeface="Times New Roman" panose="02020603050405020304" pitchFamily="18" charset="0"/>
                  <a:sym typeface="Symbol" panose="05050102010706020507" pitchFamily="18" charset="2"/>
                </a:rPr>
                <a:t>+1</a:t>
              </a:r>
              <a:endParaRPr kumimoji="1" lang="en-US" altLang="zh-CN" sz="2400" b="1" baseline="-25000" dirty="0">
                <a:solidFill>
                  <a:srgbClr val="CC3300"/>
                </a:solidFill>
                <a:latin typeface="Times New Roman" panose="02020603050405020304" pitchFamily="18" charset="0"/>
                <a:sym typeface="Symbol" panose="05050102010706020507" pitchFamily="18" charset="2"/>
              </a:endParaRPr>
            </a:p>
          </p:txBody>
        </p:sp>
        <p:sp>
          <p:nvSpPr>
            <p:cNvPr id="37928" name="Rectangle 83"/>
            <p:cNvSpPr>
              <a:spLocks noChangeArrowheads="1"/>
            </p:cNvSpPr>
            <p:nvPr/>
          </p:nvSpPr>
          <p:spPr bwMode="auto">
            <a:xfrm>
              <a:off x="4176" y="432"/>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smtClean="0">
                  <a:solidFill>
                    <a:srgbClr val="CC3300"/>
                  </a:solidFill>
                  <a:latin typeface="Times New Roman" panose="02020603050405020304" pitchFamily="18" charset="0"/>
                  <a:sym typeface="Symbol" panose="05050102010706020507" pitchFamily="18" charset="2"/>
                </a:rPr>
                <a:t>X</a:t>
              </a:r>
              <a:r>
                <a:rPr kumimoji="1" lang="en-US" altLang="zh-CN" sz="2400" b="1" i="1" baseline="-25000" dirty="0" smtClean="0">
                  <a:solidFill>
                    <a:srgbClr val="CC3300"/>
                  </a:solidFill>
                  <a:latin typeface="Times New Roman" panose="02020603050405020304" pitchFamily="18" charset="0"/>
                  <a:sym typeface="Symbol" panose="05050102010706020507" pitchFamily="18" charset="2"/>
                </a:rPr>
                <a:t>i</a:t>
              </a:r>
              <a:r>
                <a:rPr kumimoji="1" lang="en-US" altLang="zh-CN" sz="2400" b="1" baseline="-25000" dirty="0" smtClean="0">
                  <a:solidFill>
                    <a:srgbClr val="CC3300"/>
                  </a:solidFill>
                  <a:latin typeface="Times New Roman" panose="02020603050405020304" pitchFamily="18" charset="0"/>
                  <a:sym typeface="Symbol" panose="05050102010706020507" pitchFamily="18" charset="2"/>
                </a:rPr>
                <a:t>+1</a:t>
              </a:r>
              <a:endParaRPr kumimoji="1" lang="en-US" altLang="zh-CN" sz="2400" b="1" baseline="-25000" dirty="0">
                <a:solidFill>
                  <a:srgbClr val="CC3300"/>
                </a:solidFill>
                <a:latin typeface="Times New Roman" panose="02020603050405020304" pitchFamily="18" charset="0"/>
                <a:sym typeface="Symbol" panose="05050102010706020507" pitchFamily="18" charset="2"/>
              </a:endParaRPr>
            </a:p>
          </p:txBody>
        </p:sp>
        <p:sp>
          <p:nvSpPr>
            <p:cNvPr id="37929" name="Line 96"/>
            <p:cNvSpPr>
              <a:spLocks noChangeShapeType="1"/>
            </p:cNvSpPr>
            <p:nvPr/>
          </p:nvSpPr>
          <p:spPr bwMode="auto">
            <a:xfrm flipH="1">
              <a:off x="3072" y="2016"/>
              <a:ext cx="52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30" name="Line 97"/>
            <p:cNvSpPr>
              <a:spLocks noChangeShapeType="1"/>
            </p:cNvSpPr>
            <p:nvPr/>
          </p:nvSpPr>
          <p:spPr bwMode="auto">
            <a:xfrm>
              <a:off x="3264" y="1488"/>
              <a:ext cx="0" cy="528"/>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31" name="Rectangle 98"/>
            <p:cNvSpPr>
              <a:spLocks noChangeArrowheads="1"/>
            </p:cNvSpPr>
            <p:nvPr/>
          </p:nvSpPr>
          <p:spPr bwMode="auto">
            <a:xfrm>
              <a:off x="3024" y="1584"/>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h</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baseline="-25000">
                <a:solidFill>
                  <a:srgbClr val="CC3300"/>
                </a:solidFill>
                <a:latin typeface="Times New Roman" panose="02020603050405020304" pitchFamily="18" charset="0"/>
                <a:sym typeface="Symbol" panose="05050102010706020507" pitchFamily="18" charset="2"/>
              </a:endParaRPr>
            </a:p>
          </p:txBody>
        </p:sp>
      </p:grpSp>
      <p:grpSp>
        <p:nvGrpSpPr>
          <p:cNvPr id="37895" name="Group 108"/>
          <p:cNvGrpSpPr/>
          <p:nvPr/>
        </p:nvGrpSpPr>
        <p:grpSpPr bwMode="auto">
          <a:xfrm>
            <a:off x="1066800" y="838200"/>
            <a:ext cx="2667000" cy="3121025"/>
            <a:chOff x="672" y="242"/>
            <a:chExt cx="1680" cy="1966"/>
          </a:xfrm>
        </p:grpSpPr>
        <p:sp>
          <p:nvSpPr>
            <p:cNvPr id="37902" name="Arc 54"/>
            <p:cNvSpPr/>
            <p:nvPr/>
          </p:nvSpPr>
          <p:spPr bwMode="auto">
            <a:xfrm rot="782077" flipH="1">
              <a:off x="672" y="576"/>
              <a:ext cx="1680" cy="1632"/>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47625">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7903" name="Line 55"/>
            <p:cNvSpPr>
              <a:spLocks noChangeShapeType="1"/>
            </p:cNvSpPr>
            <p:nvPr/>
          </p:nvSpPr>
          <p:spPr bwMode="auto">
            <a:xfrm>
              <a:off x="1163" y="1058"/>
              <a:ext cx="1" cy="672"/>
            </a:xfrm>
            <a:prstGeom prst="line">
              <a:avLst/>
            </a:prstGeom>
            <a:noFill/>
            <a:ln w="476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04" name="Line 56"/>
            <p:cNvSpPr>
              <a:spLocks noChangeShapeType="1"/>
            </p:cNvSpPr>
            <p:nvPr/>
          </p:nvSpPr>
          <p:spPr bwMode="auto">
            <a:xfrm>
              <a:off x="1403" y="914"/>
              <a:ext cx="1" cy="672"/>
            </a:xfrm>
            <a:prstGeom prst="line">
              <a:avLst/>
            </a:prstGeom>
            <a:noFill/>
            <a:ln w="476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05" name="Arc 102"/>
            <p:cNvSpPr/>
            <p:nvPr/>
          </p:nvSpPr>
          <p:spPr bwMode="auto">
            <a:xfrm rot="2376148" flipV="1">
              <a:off x="923" y="242"/>
              <a:ext cx="864" cy="1948"/>
            </a:xfrm>
            <a:custGeom>
              <a:avLst/>
              <a:gdLst>
                <a:gd name="T0" fmla="*/ 0 w 21600"/>
                <a:gd name="T1" fmla="*/ 0 h 24398"/>
                <a:gd name="T2" fmla="*/ 0 w 21600"/>
                <a:gd name="T3" fmla="*/ 1 h 24398"/>
                <a:gd name="T4" fmla="*/ 0 w 21600"/>
                <a:gd name="T5" fmla="*/ 1 h 24398"/>
                <a:gd name="T6" fmla="*/ 0 60000 65536"/>
                <a:gd name="T7" fmla="*/ 0 60000 65536"/>
                <a:gd name="T8" fmla="*/ 0 60000 65536"/>
                <a:gd name="T9" fmla="*/ 0 w 21600"/>
                <a:gd name="T10" fmla="*/ 0 h 24398"/>
                <a:gd name="T11" fmla="*/ 21600 w 21600"/>
                <a:gd name="T12" fmla="*/ 24398 h 24398"/>
              </a:gdLst>
              <a:ahLst/>
              <a:cxnLst>
                <a:cxn ang="T6">
                  <a:pos x="T0" y="T1"/>
                </a:cxn>
                <a:cxn ang="T7">
                  <a:pos x="T2" y="T3"/>
                </a:cxn>
                <a:cxn ang="T8">
                  <a:pos x="T4" y="T5"/>
                </a:cxn>
              </a:cxnLst>
              <a:rect l="T9" t="T10" r="T11" b="T12"/>
              <a:pathLst>
                <a:path w="21600" h="24398" fill="none" extrusionOk="0">
                  <a:moveTo>
                    <a:pt x="4741" y="-1"/>
                  </a:moveTo>
                  <a:cubicBezTo>
                    <a:pt x="14597" y="2217"/>
                    <a:pt x="21600" y="10970"/>
                    <a:pt x="21600" y="21073"/>
                  </a:cubicBezTo>
                  <a:cubicBezTo>
                    <a:pt x="21600" y="22186"/>
                    <a:pt x="21513" y="23297"/>
                    <a:pt x="21342" y="24397"/>
                  </a:cubicBezTo>
                </a:path>
                <a:path w="21600" h="24398" stroke="0" extrusionOk="0">
                  <a:moveTo>
                    <a:pt x="4741" y="-1"/>
                  </a:moveTo>
                  <a:cubicBezTo>
                    <a:pt x="14597" y="2217"/>
                    <a:pt x="21600" y="10970"/>
                    <a:pt x="21600" y="21073"/>
                  </a:cubicBezTo>
                  <a:cubicBezTo>
                    <a:pt x="21600" y="22186"/>
                    <a:pt x="21513" y="23297"/>
                    <a:pt x="21342" y="24397"/>
                  </a:cubicBezTo>
                  <a:lnTo>
                    <a:pt x="0" y="21073"/>
                  </a:lnTo>
                  <a:lnTo>
                    <a:pt x="4741" y="-1"/>
                  </a:lnTo>
                  <a:close/>
                </a:path>
              </a:pathLst>
            </a:custGeom>
            <a:noFill/>
            <a:ln w="47625">
              <a:solidFill>
                <a:srgbClr val="CC33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759912" name="Text Box 104"/>
          <p:cNvSpPr txBox="1">
            <a:spLocks noChangeArrowheads="1"/>
          </p:cNvSpPr>
          <p:nvPr/>
        </p:nvSpPr>
        <p:spPr bwMode="auto">
          <a:xfrm>
            <a:off x="1143000" y="5181600"/>
            <a:ext cx="655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2400" b="1">
                <a:solidFill>
                  <a:srgbClr val="0000FF"/>
                </a:solidFill>
              </a:rPr>
              <a:t>假定滑动面上作用点位置：</a:t>
            </a:r>
            <a:r>
              <a:rPr lang="en-US" altLang="zh-CN" sz="2400" b="1">
                <a:solidFill>
                  <a:srgbClr val="0000FF"/>
                </a:solidFill>
              </a:rPr>
              <a:t>n</a:t>
            </a:r>
            <a:endParaRPr lang="en-US" altLang="zh-CN" sz="2400" b="1">
              <a:solidFill>
                <a:srgbClr val="0000FF"/>
              </a:solidFill>
            </a:endParaRPr>
          </a:p>
        </p:txBody>
      </p:sp>
      <p:sp>
        <p:nvSpPr>
          <p:cNvPr id="759913" name="AutoShape 105"/>
          <p:cNvSpPr/>
          <p:nvPr/>
        </p:nvSpPr>
        <p:spPr bwMode="auto">
          <a:xfrm>
            <a:off x="7086600" y="4800600"/>
            <a:ext cx="76200" cy="609600"/>
          </a:xfrm>
          <a:prstGeom prst="rightBrace">
            <a:avLst>
              <a:gd name="adj1" fmla="val 66667"/>
              <a:gd name="adj2" fmla="val 50000"/>
            </a:avLst>
          </a:prstGeom>
          <a:noFill/>
          <a:ln w="34925">
            <a:solidFill>
              <a:srgbClr val="CC3300"/>
            </a:solidFill>
            <a:round/>
          </a:ln>
          <a:extLst>
            <a:ext uri="{909E8E84-426E-40DD-AFC4-6F175D3DCCD1}">
              <a14:hiddenFill xmlns:a14="http://schemas.microsoft.com/office/drawing/2010/main">
                <a:solidFill>
                  <a:srgbClr val="FFFFFF"/>
                </a:solidFill>
              </a14:hiddenFill>
            </a:ext>
          </a:extLst>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759914" name="Text Box 106"/>
          <p:cNvSpPr txBox="1">
            <a:spLocks noChangeArrowheads="1"/>
          </p:cNvSpPr>
          <p:nvPr/>
        </p:nvSpPr>
        <p:spPr bwMode="auto">
          <a:xfrm>
            <a:off x="1066800" y="5943600"/>
            <a:ext cx="4876800" cy="496888"/>
          </a:xfrm>
          <a:prstGeom prst="rect">
            <a:avLst/>
          </a:prstGeom>
          <a:solidFill>
            <a:schemeClr val="tx2">
              <a:lumMod val="20000"/>
              <a:lumOff val="80000"/>
            </a:schemeClr>
          </a:solidFill>
          <a:ln w="9525" algn="ctr">
            <a:solidFill>
              <a:srgbClr val="0066FF"/>
            </a:solidFill>
            <a:miter lim="800000"/>
          </a:ln>
        </p:spPr>
        <p:txBody>
          <a:bodyPr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lang="en-US" altLang="zh-CN" sz="3200" b="1" dirty="0">
                <a:solidFill>
                  <a:srgbClr val="CC3300"/>
                </a:solidFill>
                <a:ea typeface="隶书" panose="02010509060101010101" pitchFamily="49" charset="-122"/>
              </a:rPr>
              <a:t> </a:t>
            </a:r>
            <a:r>
              <a:rPr lang="zh-CN" altLang="en-US" sz="3200" b="1" dirty="0">
                <a:solidFill>
                  <a:srgbClr val="CC3300"/>
                </a:solidFill>
                <a:ea typeface="隶书" panose="02010509060101010101" pitchFamily="49" charset="-122"/>
              </a:rPr>
              <a:t>未知数</a:t>
            </a:r>
            <a:r>
              <a:rPr lang="en-US" altLang="zh-CN" sz="3200" b="1" dirty="0">
                <a:solidFill>
                  <a:srgbClr val="CC3300"/>
                </a:solidFill>
                <a:ea typeface="隶书" panose="02010509060101010101" pitchFamily="49" charset="-122"/>
              </a:rPr>
              <a:t>: </a:t>
            </a:r>
            <a:r>
              <a:rPr lang="en-US" altLang="zh-CN" sz="3200" b="1" dirty="0">
                <a:solidFill>
                  <a:srgbClr val="0000FF"/>
                </a:solidFill>
                <a:ea typeface="隶书" panose="02010509060101010101" pitchFamily="49" charset="-122"/>
              </a:rPr>
              <a:t>2n+1  </a:t>
            </a:r>
            <a:r>
              <a:rPr lang="zh-CN" altLang="en-US" sz="3200" b="1" dirty="0">
                <a:solidFill>
                  <a:srgbClr val="CC3300"/>
                </a:solidFill>
                <a:ea typeface="隶书" panose="02010509060101010101" pitchFamily="49" charset="-122"/>
              </a:rPr>
              <a:t>方程数</a:t>
            </a:r>
            <a:r>
              <a:rPr lang="en-US" altLang="zh-CN" sz="3200" b="1" dirty="0">
                <a:solidFill>
                  <a:srgbClr val="CC3300"/>
                </a:solidFill>
                <a:ea typeface="隶书" panose="02010509060101010101" pitchFamily="49" charset="-122"/>
              </a:rPr>
              <a:t>: </a:t>
            </a:r>
            <a:r>
              <a:rPr lang="en-US" altLang="zh-CN" sz="3200" b="1" dirty="0">
                <a:solidFill>
                  <a:srgbClr val="0000FF"/>
                </a:solidFill>
                <a:ea typeface="隶书" panose="02010509060101010101" pitchFamily="49" charset="-122"/>
              </a:rPr>
              <a:t>4n </a:t>
            </a:r>
            <a:endParaRPr lang="en-US" altLang="zh-CN" sz="3200" b="1" dirty="0">
              <a:solidFill>
                <a:srgbClr val="0000FF"/>
              </a:solidFill>
              <a:ea typeface="隶书" panose="02010509060101010101" pitchFamily="49" charset="-122"/>
            </a:endParaRPr>
          </a:p>
        </p:txBody>
      </p:sp>
      <p:sp>
        <p:nvSpPr>
          <p:cNvPr id="759915" name="AutoShape 107"/>
          <p:cNvSpPr>
            <a:spLocks noChangeArrowheads="1"/>
          </p:cNvSpPr>
          <p:nvPr/>
        </p:nvSpPr>
        <p:spPr bwMode="auto">
          <a:xfrm>
            <a:off x="685800" y="5181600"/>
            <a:ext cx="304800" cy="914400"/>
          </a:xfrm>
          <a:prstGeom prst="curvedRightArrow">
            <a:avLst>
              <a:gd name="adj1" fmla="val 60000"/>
              <a:gd name="adj2" fmla="val 120000"/>
              <a:gd name="adj3" fmla="val 33333"/>
            </a:avLst>
          </a:prstGeom>
          <a:solidFill>
            <a:srgbClr val="99FF99"/>
          </a:solidFill>
          <a:ln w="9525">
            <a:solidFill>
              <a:srgbClr val="CC3300"/>
            </a:solidFill>
            <a:miter lim="800000"/>
          </a:ln>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759918" name="Text Box 110"/>
          <p:cNvSpPr txBox="1">
            <a:spLocks noChangeArrowheads="1"/>
          </p:cNvSpPr>
          <p:nvPr/>
        </p:nvSpPr>
        <p:spPr bwMode="auto">
          <a:xfrm>
            <a:off x="685800" y="4038600"/>
            <a:ext cx="1223963"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3200" b="1">
                <a:solidFill>
                  <a:srgbClr val="990033"/>
                </a:solidFill>
                <a:ea typeface="隶书" panose="02010509060101010101" pitchFamily="49" charset="-122"/>
              </a:rPr>
              <a:t>假定：</a:t>
            </a:r>
            <a:endParaRPr lang="zh-CN" altLang="en-US" sz="3200" b="1">
              <a:solidFill>
                <a:srgbClr val="0000FF"/>
              </a:solidFill>
              <a:ea typeface="隶书" panose="02010509060101010101" pitchFamily="49" charset="-122"/>
            </a:endParaRPr>
          </a:p>
        </p:txBody>
      </p:sp>
      <p:sp>
        <p:nvSpPr>
          <p:cNvPr id="759919" name="Text Box 111"/>
          <p:cNvSpPr txBox="1">
            <a:spLocks noChangeArrowheads="1"/>
          </p:cNvSpPr>
          <p:nvPr/>
        </p:nvSpPr>
        <p:spPr bwMode="auto">
          <a:xfrm>
            <a:off x="1905000" y="4114800"/>
            <a:ext cx="3810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2400" b="1">
                <a:solidFill>
                  <a:schemeClr val="tx2"/>
                </a:solidFill>
              </a:rPr>
              <a:t>圆弧滑裂面；不考虑条间力</a:t>
            </a:r>
            <a:endParaRPr lang="zh-CN" altLang="en-US" sz="2400" b="1">
              <a:solidFill>
                <a:schemeClr val="tx2"/>
              </a:solidFill>
            </a:endParaRPr>
          </a:p>
        </p:txBody>
      </p:sp>
      <p:sp>
        <p:nvSpPr>
          <p:cNvPr id="48" name="Rectangle 6"/>
          <p:cNvSpPr>
            <a:spLocks noChangeArrowheads="1"/>
          </p:cNvSpPr>
          <p:nvPr/>
        </p:nvSpPr>
        <p:spPr bwMode="auto">
          <a:xfrm>
            <a:off x="0" y="-7396"/>
            <a:ext cx="41148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黏性土坡的稳定性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59918"/>
                                        </p:tgtEl>
                                        <p:attrNameLst>
                                          <p:attrName>style.visibility</p:attrName>
                                        </p:attrNameLst>
                                      </p:cBhvr>
                                      <p:to>
                                        <p:strVal val="visible"/>
                                      </p:to>
                                    </p:set>
                                    <p:animEffect transition="in" filter="dissolve">
                                      <p:cBhvr>
                                        <p:cTn id="7" dur="500"/>
                                        <p:tgtEl>
                                          <p:spTgt spid="75991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59919"/>
                                        </p:tgtEl>
                                        <p:attrNameLst>
                                          <p:attrName>style.visibility</p:attrName>
                                        </p:attrNameLst>
                                      </p:cBhvr>
                                      <p:to>
                                        <p:strVal val="visible"/>
                                      </p:to>
                                    </p:set>
                                    <p:animEffect transition="in" filter="dissolve">
                                      <p:cBhvr>
                                        <p:cTn id="12" dur="500"/>
                                        <p:tgtEl>
                                          <p:spTgt spid="75991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59893"/>
                                        </p:tgtEl>
                                        <p:attrNameLst>
                                          <p:attrName>style.visibility</p:attrName>
                                        </p:attrNameLst>
                                      </p:cBhvr>
                                      <p:to>
                                        <p:strVal val="visible"/>
                                      </p:to>
                                    </p:set>
                                    <p:animEffect transition="in" filter="dissolve">
                                      <p:cBhvr>
                                        <p:cTn id="17" dur="500"/>
                                        <p:tgtEl>
                                          <p:spTgt spid="75989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59912"/>
                                        </p:tgtEl>
                                        <p:attrNameLst>
                                          <p:attrName>style.visibility</p:attrName>
                                        </p:attrNameLst>
                                      </p:cBhvr>
                                      <p:to>
                                        <p:strVal val="visible"/>
                                      </p:to>
                                    </p:set>
                                    <p:animEffect transition="in" filter="dissolve">
                                      <p:cBhvr>
                                        <p:cTn id="22" dur="500"/>
                                        <p:tgtEl>
                                          <p:spTgt spid="75991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59913"/>
                                        </p:tgtEl>
                                        <p:attrNameLst>
                                          <p:attrName>style.visibility</p:attrName>
                                        </p:attrNameLst>
                                      </p:cBhvr>
                                      <p:to>
                                        <p:strVal val="visible"/>
                                      </p:to>
                                    </p:set>
                                    <p:animEffect transition="in" filter="dissolve">
                                      <p:cBhvr>
                                        <p:cTn id="27" dur="500"/>
                                        <p:tgtEl>
                                          <p:spTgt spid="759913"/>
                                        </p:tgtEl>
                                      </p:cBhvr>
                                    </p:animEffect>
                                  </p:childTnLst>
                                </p:cTn>
                              </p:par>
                            </p:childTnLst>
                          </p:cTn>
                        </p:par>
                        <p:par>
                          <p:cTn id="28" fill="hold">
                            <p:stCondLst>
                              <p:cond delay="500"/>
                            </p:stCondLst>
                            <p:childTnLst>
                              <p:par>
                                <p:cTn id="29" presetID="9" presetClass="entr" presetSubtype="0" fill="hold" grpId="0" nodeType="afterEffect">
                                  <p:stCondLst>
                                    <p:cond delay="0"/>
                                  </p:stCondLst>
                                  <p:childTnLst>
                                    <p:set>
                                      <p:cBhvr>
                                        <p:cTn id="30" dur="1" fill="hold">
                                          <p:stCondLst>
                                            <p:cond delay="0"/>
                                          </p:stCondLst>
                                        </p:cTn>
                                        <p:tgtEl>
                                          <p:spTgt spid="759902"/>
                                        </p:tgtEl>
                                        <p:attrNameLst>
                                          <p:attrName>style.visibility</p:attrName>
                                        </p:attrNameLst>
                                      </p:cBhvr>
                                      <p:to>
                                        <p:strVal val="visible"/>
                                      </p:to>
                                    </p:set>
                                    <p:animEffect transition="in" filter="dissolve">
                                      <p:cBhvr>
                                        <p:cTn id="31" dur="500"/>
                                        <p:tgtEl>
                                          <p:spTgt spid="75990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759915"/>
                                        </p:tgtEl>
                                        <p:attrNameLst>
                                          <p:attrName>style.visibility</p:attrName>
                                        </p:attrNameLst>
                                      </p:cBhvr>
                                      <p:to>
                                        <p:strVal val="visible"/>
                                      </p:to>
                                    </p:set>
                                    <p:animEffect transition="in" filter="wipe(up)">
                                      <p:cBhvr>
                                        <p:cTn id="36" dur="500"/>
                                        <p:tgtEl>
                                          <p:spTgt spid="759915"/>
                                        </p:tgtEl>
                                      </p:cBhvr>
                                    </p:animEffect>
                                  </p:childTnLst>
                                </p:cTn>
                              </p:par>
                            </p:childTnLst>
                          </p:cTn>
                        </p:par>
                        <p:par>
                          <p:cTn id="37" fill="hold">
                            <p:stCondLst>
                              <p:cond delay="500"/>
                            </p:stCondLst>
                            <p:childTnLst>
                              <p:par>
                                <p:cTn id="38" presetID="9" presetClass="entr" presetSubtype="0" fill="hold" grpId="0" nodeType="afterEffect">
                                  <p:stCondLst>
                                    <p:cond delay="0"/>
                                  </p:stCondLst>
                                  <p:childTnLst>
                                    <p:set>
                                      <p:cBhvr>
                                        <p:cTn id="39" dur="1" fill="hold">
                                          <p:stCondLst>
                                            <p:cond delay="0"/>
                                          </p:stCondLst>
                                        </p:cTn>
                                        <p:tgtEl>
                                          <p:spTgt spid="759914"/>
                                        </p:tgtEl>
                                        <p:attrNameLst>
                                          <p:attrName>style.visibility</p:attrName>
                                        </p:attrNameLst>
                                      </p:cBhvr>
                                      <p:to>
                                        <p:strVal val="visible"/>
                                      </p:to>
                                    </p:set>
                                    <p:animEffect transition="in" filter="dissolve">
                                      <p:cBhvr>
                                        <p:cTn id="40" dur="500"/>
                                        <p:tgtEl>
                                          <p:spTgt spid="7599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9893" grpId="0" autoUpdateAnimBg="0"/>
      <p:bldP spid="759902" grpId="0" bldLvl="0" animBg="1" autoUpdateAnimBg="0"/>
      <p:bldP spid="759912" grpId="0" autoUpdateAnimBg="0"/>
      <p:bldP spid="759913" grpId="0" bldLvl="0" animBg="1"/>
      <p:bldP spid="759914" grpId="0" bldLvl="0" animBg="1" autoUpdateAnimBg="0"/>
      <p:bldP spid="759915" grpId="0" bldLvl="0" animBg="1"/>
      <p:bldP spid="759918" grpId="0" autoUpdateAnimBg="0"/>
      <p:bldP spid="759919" grpId="0"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0835" name="Rectangle 3"/>
          <p:cNvSpPr>
            <a:spLocks noGrp="1" noChangeArrowheads="1"/>
          </p:cNvSpPr>
          <p:nvPr>
            <p:ph type="body" sz="half" idx="1"/>
          </p:nvPr>
        </p:nvSpPr>
        <p:spPr bwMode="auto">
          <a:xfrm>
            <a:off x="381000" y="685800"/>
            <a:ext cx="28956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indent="0" algn="just" eaLnBrk="1" hangingPunct="1">
              <a:buFontTx/>
              <a:buNone/>
            </a:pPr>
            <a:r>
              <a:rPr lang="zh-CN" altLang="en-US" b="1" dirty="0" smtClean="0">
                <a:solidFill>
                  <a:srgbClr val="993300"/>
                </a:solidFill>
                <a:ea typeface="隶书" panose="02010509060101010101" pitchFamily="49" charset="-122"/>
              </a:rPr>
              <a:t>竖向力平衡：</a:t>
            </a:r>
            <a:endParaRPr lang="zh-CN" altLang="en-US" b="1" dirty="0" smtClean="0">
              <a:solidFill>
                <a:srgbClr val="993300"/>
              </a:solidFill>
              <a:ea typeface="隶书" panose="02010509060101010101" pitchFamily="49" charset="-122"/>
            </a:endParaRPr>
          </a:p>
        </p:txBody>
      </p:sp>
      <p:grpSp>
        <p:nvGrpSpPr>
          <p:cNvPr id="2" name="Group 108"/>
          <p:cNvGrpSpPr/>
          <p:nvPr/>
        </p:nvGrpSpPr>
        <p:grpSpPr bwMode="auto">
          <a:xfrm>
            <a:off x="7010400" y="5181600"/>
            <a:ext cx="1066800" cy="457200"/>
            <a:chOff x="4416" y="3216"/>
            <a:chExt cx="672" cy="288"/>
          </a:xfrm>
        </p:grpSpPr>
        <p:sp>
          <p:nvSpPr>
            <p:cNvPr id="38985" name="Line 17"/>
            <p:cNvSpPr>
              <a:spLocks noChangeShapeType="1"/>
            </p:cNvSpPr>
            <p:nvPr/>
          </p:nvSpPr>
          <p:spPr bwMode="auto">
            <a:xfrm flipV="1">
              <a:off x="4416" y="3264"/>
              <a:ext cx="384" cy="240"/>
            </a:xfrm>
            <a:prstGeom prst="line">
              <a:avLst/>
            </a:prstGeom>
            <a:noFill/>
            <a:ln w="22225">
              <a:solidFill>
                <a:srgbClr val="0000FF"/>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86" name="Rectangle 27"/>
            <p:cNvSpPr>
              <a:spLocks noChangeArrowheads="1"/>
            </p:cNvSpPr>
            <p:nvPr/>
          </p:nvSpPr>
          <p:spPr bwMode="auto">
            <a:xfrm>
              <a:off x="4752" y="3216"/>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T</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baseline="-25000">
                <a:solidFill>
                  <a:srgbClr val="CC3300"/>
                </a:solidFill>
                <a:latin typeface="Times New Roman" panose="02020603050405020304" pitchFamily="18" charset="0"/>
                <a:sym typeface="Symbol" panose="05050102010706020507" pitchFamily="18" charset="2"/>
              </a:endParaRPr>
            </a:p>
          </p:txBody>
        </p:sp>
      </p:grpSp>
      <p:grpSp>
        <p:nvGrpSpPr>
          <p:cNvPr id="3" name="Group 107"/>
          <p:cNvGrpSpPr/>
          <p:nvPr/>
        </p:nvGrpSpPr>
        <p:grpSpPr bwMode="auto">
          <a:xfrm>
            <a:off x="7391400" y="5486400"/>
            <a:ext cx="736600" cy="762000"/>
            <a:chOff x="4656" y="3408"/>
            <a:chExt cx="464" cy="480"/>
          </a:xfrm>
        </p:grpSpPr>
        <p:sp>
          <p:nvSpPr>
            <p:cNvPr id="38983" name="Line 18"/>
            <p:cNvSpPr>
              <a:spLocks noChangeShapeType="1"/>
            </p:cNvSpPr>
            <p:nvPr/>
          </p:nvSpPr>
          <p:spPr bwMode="auto">
            <a:xfrm rot="10800000">
              <a:off x="4656" y="3408"/>
              <a:ext cx="192" cy="288"/>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84" name="Rectangle 28"/>
            <p:cNvSpPr>
              <a:spLocks noChangeArrowheads="1"/>
            </p:cNvSpPr>
            <p:nvPr/>
          </p:nvSpPr>
          <p:spPr bwMode="auto">
            <a:xfrm>
              <a:off x="4784" y="360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N</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a:solidFill>
                  <a:srgbClr val="CC3300"/>
                </a:solidFill>
                <a:latin typeface="Times New Roman" panose="02020603050405020304" pitchFamily="18" charset="0"/>
                <a:sym typeface="Symbol" panose="05050102010706020507" pitchFamily="18" charset="2"/>
              </a:endParaRPr>
            </a:p>
          </p:txBody>
        </p:sp>
      </p:grpSp>
      <p:grpSp>
        <p:nvGrpSpPr>
          <p:cNvPr id="4" name="Group 105"/>
          <p:cNvGrpSpPr/>
          <p:nvPr/>
        </p:nvGrpSpPr>
        <p:grpSpPr bwMode="auto">
          <a:xfrm>
            <a:off x="6858000" y="3124200"/>
            <a:ext cx="1524000" cy="2514600"/>
            <a:chOff x="4320" y="1920"/>
            <a:chExt cx="960" cy="1584"/>
          </a:xfrm>
        </p:grpSpPr>
        <p:grpSp>
          <p:nvGrpSpPr>
            <p:cNvPr id="38974" name="Group 7"/>
            <p:cNvGrpSpPr/>
            <p:nvPr/>
          </p:nvGrpSpPr>
          <p:grpSpPr bwMode="auto">
            <a:xfrm>
              <a:off x="4320" y="1920"/>
              <a:ext cx="528" cy="1584"/>
              <a:chOff x="3744" y="864"/>
              <a:chExt cx="432" cy="1584"/>
            </a:xfrm>
          </p:grpSpPr>
          <p:sp>
            <p:nvSpPr>
              <p:cNvPr id="38979" name="Line 8"/>
              <p:cNvSpPr>
                <a:spLocks noChangeShapeType="1"/>
              </p:cNvSpPr>
              <p:nvPr/>
            </p:nvSpPr>
            <p:spPr bwMode="auto">
              <a:xfrm>
                <a:off x="3744" y="1056"/>
                <a:ext cx="0" cy="1392"/>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80" name="Line 9"/>
              <p:cNvSpPr>
                <a:spLocks noChangeShapeType="1"/>
              </p:cNvSpPr>
              <p:nvPr/>
            </p:nvSpPr>
            <p:spPr bwMode="auto">
              <a:xfrm>
                <a:off x="4176" y="864"/>
                <a:ext cx="0" cy="1248"/>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81" name="Line 10"/>
              <p:cNvSpPr>
                <a:spLocks noChangeShapeType="1"/>
              </p:cNvSpPr>
              <p:nvPr/>
            </p:nvSpPr>
            <p:spPr bwMode="auto">
              <a:xfrm flipV="1">
                <a:off x="3744" y="864"/>
                <a:ext cx="432" cy="192"/>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82" name="Line 11"/>
              <p:cNvSpPr>
                <a:spLocks noChangeShapeType="1"/>
              </p:cNvSpPr>
              <p:nvPr/>
            </p:nvSpPr>
            <p:spPr bwMode="auto">
              <a:xfrm flipV="1">
                <a:off x="3744" y="2112"/>
                <a:ext cx="432" cy="336"/>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8975" name="Line 19"/>
            <p:cNvSpPr>
              <a:spLocks noChangeShapeType="1"/>
            </p:cNvSpPr>
            <p:nvPr/>
          </p:nvSpPr>
          <p:spPr bwMode="auto">
            <a:xfrm flipV="1">
              <a:off x="4848" y="2880"/>
              <a:ext cx="384" cy="2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76" name="Line 20"/>
            <p:cNvSpPr>
              <a:spLocks noChangeShapeType="1"/>
            </p:cNvSpPr>
            <p:nvPr/>
          </p:nvSpPr>
          <p:spPr bwMode="auto">
            <a:xfrm>
              <a:off x="4848" y="3168"/>
              <a:ext cx="43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77" name="Freeform 21"/>
            <p:cNvSpPr/>
            <p:nvPr/>
          </p:nvSpPr>
          <p:spPr bwMode="auto">
            <a:xfrm>
              <a:off x="4940" y="3108"/>
              <a:ext cx="49" cy="56"/>
            </a:xfrm>
            <a:custGeom>
              <a:avLst/>
              <a:gdLst>
                <a:gd name="T0" fmla="*/ 0 w 49"/>
                <a:gd name="T1" fmla="*/ 0 h 56"/>
                <a:gd name="T2" fmla="*/ 40 w 49"/>
                <a:gd name="T3" fmla="*/ 32 h 56"/>
                <a:gd name="T4" fmla="*/ 48 w 49"/>
                <a:gd name="T5" fmla="*/ 56 h 56"/>
                <a:gd name="T6" fmla="*/ 0 60000 65536"/>
                <a:gd name="T7" fmla="*/ 0 60000 65536"/>
                <a:gd name="T8" fmla="*/ 0 60000 65536"/>
                <a:gd name="T9" fmla="*/ 0 w 49"/>
                <a:gd name="T10" fmla="*/ 0 h 56"/>
                <a:gd name="T11" fmla="*/ 49 w 49"/>
                <a:gd name="T12" fmla="*/ 56 h 56"/>
              </a:gdLst>
              <a:ahLst/>
              <a:cxnLst>
                <a:cxn ang="T6">
                  <a:pos x="T0" y="T1"/>
                </a:cxn>
                <a:cxn ang="T7">
                  <a:pos x="T2" y="T3"/>
                </a:cxn>
                <a:cxn ang="T8">
                  <a:pos x="T4" y="T5"/>
                </a:cxn>
              </a:cxnLst>
              <a:rect l="T9" t="T10" r="T11" b="T12"/>
              <a:pathLst>
                <a:path w="49" h="56">
                  <a:moveTo>
                    <a:pt x="0" y="0"/>
                  </a:moveTo>
                  <a:cubicBezTo>
                    <a:pt x="20" y="10"/>
                    <a:pt x="20" y="22"/>
                    <a:pt x="40" y="32"/>
                  </a:cubicBezTo>
                  <a:cubicBezTo>
                    <a:pt x="49" y="50"/>
                    <a:pt x="48" y="42"/>
                    <a:pt x="48" y="56"/>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978" name="Rectangle 29"/>
            <p:cNvSpPr>
              <a:spLocks noChangeArrowheads="1"/>
            </p:cNvSpPr>
            <p:nvPr/>
          </p:nvSpPr>
          <p:spPr bwMode="auto">
            <a:xfrm>
              <a:off x="4944" y="2928"/>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993300"/>
                  </a:solidFill>
                  <a:latin typeface="Times New Roman" panose="02020603050405020304" pitchFamily="18" charset="0"/>
                  <a:sym typeface="Symbol" panose="05050102010706020507" pitchFamily="18" charset="2"/>
                </a:rPr>
                <a:t></a:t>
              </a:r>
              <a:r>
                <a:rPr kumimoji="1" lang="en-US" altLang="zh-CN" sz="2400" b="1" i="1" baseline="-25000">
                  <a:solidFill>
                    <a:srgbClr val="993300"/>
                  </a:solidFill>
                  <a:latin typeface="Times New Roman" panose="02020603050405020304" pitchFamily="18" charset="0"/>
                  <a:sym typeface="Symbol" panose="05050102010706020507" pitchFamily="18" charset="2"/>
                </a:rPr>
                <a:t>i</a:t>
              </a:r>
              <a:endParaRPr kumimoji="1" lang="en-US" altLang="zh-CN" sz="2400" b="1" i="1" baseline="-25000">
                <a:solidFill>
                  <a:srgbClr val="993300"/>
                </a:solidFill>
                <a:latin typeface="Times New Roman" panose="02020603050405020304" pitchFamily="18" charset="0"/>
                <a:sym typeface="Symbol" panose="05050102010706020507" pitchFamily="18" charset="2"/>
              </a:endParaRPr>
            </a:p>
          </p:txBody>
        </p:sp>
      </p:grpSp>
      <p:grpSp>
        <p:nvGrpSpPr>
          <p:cNvPr id="6" name="Group 106"/>
          <p:cNvGrpSpPr/>
          <p:nvPr/>
        </p:nvGrpSpPr>
        <p:grpSpPr bwMode="auto">
          <a:xfrm>
            <a:off x="7010400" y="3962400"/>
            <a:ext cx="838200" cy="990600"/>
            <a:chOff x="4416" y="2448"/>
            <a:chExt cx="528" cy="624"/>
          </a:xfrm>
        </p:grpSpPr>
        <p:sp>
          <p:nvSpPr>
            <p:cNvPr id="38972" name="Line 12"/>
            <p:cNvSpPr>
              <a:spLocks noChangeShapeType="1"/>
            </p:cNvSpPr>
            <p:nvPr/>
          </p:nvSpPr>
          <p:spPr bwMode="auto">
            <a:xfrm>
              <a:off x="4560" y="2448"/>
              <a:ext cx="0" cy="336"/>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73" name="Rectangle 31"/>
            <p:cNvSpPr>
              <a:spLocks noChangeArrowheads="1"/>
            </p:cNvSpPr>
            <p:nvPr/>
          </p:nvSpPr>
          <p:spPr bwMode="auto">
            <a:xfrm>
              <a:off x="4416" y="2784"/>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err="1" smtClean="0">
                  <a:solidFill>
                    <a:srgbClr val="CC3300"/>
                  </a:solidFill>
                  <a:latin typeface="Times New Roman" panose="02020603050405020304" pitchFamily="18" charset="0"/>
                  <a:sym typeface="Symbol" panose="05050102010706020507" pitchFamily="18" charset="2"/>
                </a:rPr>
                <a:t>G</a:t>
              </a:r>
              <a:r>
                <a:rPr kumimoji="1" lang="en-US" altLang="zh-CN" sz="2400" b="1" i="1" baseline="-25000" dirty="0" err="1" smtClean="0">
                  <a:solidFill>
                    <a:srgbClr val="CC3300"/>
                  </a:solidFill>
                  <a:latin typeface="Times New Roman" panose="02020603050405020304" pitchFamily="18" charset="0"/>
                  <a:sym typeface="Symbol" panose="05050102010706020507" pitchFamily="18" charset="2"/>
                </a:rPr>
                <a:t>i</a:t>
              </a:r>
              <a:endParaRPr kumimoji="1" lang="en-US" altLang="zh-CN" sz="2400" b="1" i="1" baseline="-25000" dirty="0">
                <a:solidFill>
                  <a:srgbClr val="CC3300"/>
                </a:solidFill>
                <a:latin typeface="Times New Roman" panose="02020603050405020304" pitchFamily="18" charset="0"/>
                <a:sym typeface="Symbol" panose="05050102010706020507" pitchFamily="18" charset="2"/>
              </a:endParaRPr>
            </a:p>
          </p:txBody>
        </p:sp>
      </p:grpSp>
      <p:grpSp>
        <p:nvGrpSpPr>
          <p:cNvPr id="38920" name="Group 87"/>
          <p:cNvGrpSpPr/>
          <p:nvPr/>
        </p:nvGrpSpPr>
        <p:grpSpPr bwMode="auto">
          <a:xfrm>
            <a:off x="4876800" y="152400"/>
            <a:ext cx="4267200" cy="3090863"/>
            <a:chOff x="2976" y="117"/>
            <a:chExt cx="2688" cy="1947"/>
          </a:xfrm>
        </p:grpSpPr>
        <p:sp>
          <p:nvSpPr>
            <p:cNvPr id="38934" name="Text Box 48"/>
            <p:cNvSpPr txBox="1">
              <a:spLocks noChangeArrowheads="1"/>
            </p:cNvSpPr>
            <p:nvPr/>
          </p:nvSpPr>
          <p:spPr bwMode="auto">
            <a:xfrm>
              <a:off x="2976" y="1737"/>
              <a:ext cx="41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dirty="0" smtClean="0">
                  <a:solidFill>
                    <a:schemeClr val="tx1"/>
                  </a:solidFill>
                  <a:latin typeface="Times New Roman" panose="02020603050405020304" pitchFamily="18" charset="0"/>
                </a:rPr>
                <a:t>C</a:t>
              </a:r>
              <a:endParaRPr kumimoji="1" lang="en-US" altLang="zh-CN" sz="2800" b="1" dirty="0">
                <a:solidFill>
                  <a:schemeClr val="tx1"/>
                </a:solidFill>
                <a:latin typeface="Times New Roman" panose="02020603050405020304" pitchFamily="18" charset="0"/>
              </a:endParaRPr>
            </a:p>
          </p:txBody>
        </p:sp>
        <p:grpSp>
          <p:nvGrpSpPr>
            <p:cNvPr id="38935" name="Group 50"/>
            <p:cNvGrpSpPr/>
            <p:nvPr/>
          </p:nvGrpSpPr>
          <p:grpSpPr bwMode="auto">
            <a:xfrm>
              <a:off x="3052" y="117"/>
              <a:ext cx="2612" cy="1921"/>
              <a:chOff x="2633" y="1296"/>
              <a:chExt cx="3079" cy="2016"/>
            </a:xfrm>
          </p:grpSpPr>
          <p:sp>
            <p:nvSpPr>
              <p:cNvPr id="38953" name="Freeform 51"/>
              <p:cNvSpPr/>
              <p:nvPr/>
            </p:nvSpPr>
            <p:spPr bwMode="auto">
              <a:xfrm>
                <a:off x="2633" y="2032"/>
                <a:ext cx="3022" cy="1189"/>
              </a:xfrm>
              <a:custGeom>
                <a:avLst/>
                <a:gdLst>
                  <a:gd name="T0" fmla="*/ 0 w 1785"/>
                  <a:gd name="T1" fmla="*/ 2496 h 763"/>
                  <a:gd name="T2" fmla="*/ 1339 w 1785"/>
                  <a:gd name="T3" fmla="*/ 2506 h 763"/>
                  <a:gd name="T4" fmla="*/ 6647 w 1785"/>
                  <a:gd name="T5" fmla="*/ 0 h 763"/>
                  <a:gd name="T6" fmla="*/ 8661 w 1785"/>
                  <a:gd name="T7" fmla="*/ 0 h 763"/>
                  <a:gd name="T8" fmla="*/ 7920 w 1785"/>
                  <a:gd name="T9" fmla="*/ 0 h 763"/>
                  <a:gd name="T10" fmla="*/ 7652 w 1785"/>
                  <a:gd name="T11" fmla="*/ 597 h 763"/>
                  <a:gd name="T12" fmla="*/ 7254 w 1785"/>
                  <a:gd name="T13" fmla="*/ 1153 h 763"/>
                  <a:gd name="T14" fmla="*/ 6931 w 1785"/>
                  <a:gd name="T15" fmla="*/ 1487 h 763"/>
                  <a:gd name="T16" fmla="*/ 6589 w 1785"/>
                  <a:gd name="T17" fmla="*/ 1797 h 763"/>
                  <a:gd name="T18" fmla="*/ 6091 w 1785"/>
                  <a:gd name="T19" fmla="*/ 2135 h 763"/>
                  <a:gd name="T20" fmla="*/ 5484 w 1785"/>
                  <a:gd name="T21" fmla="*/ 2453 h 763"/>
                  <a:gd name="T22" fmla="*/ 5018 w 1785"/>
                  <a:gd name="T23" fmla="*/ 2615 h 763"/>
                  <a:gd name="T24" fmla="*/ 4425 w 1785"/>
                  <a:gd name="T25" fmla="*/ 2752 h 763"/>
                  <a:gd name="T26" fmla="*/ 3887 w 1785"/>
                  <a:gd name="T27" fmla="*/ 2841 h 763"/>
                  <a:gd name="T28" fmla="*/ 3213 w 1785"/>
                  <a:gd name="T29" fmla="*/ 2888 h 763"/>
                  <a:gd name="T30" fmla="*/ 2760 w 1785"/>
                  <a:gd name="T31" fmla="*/ 2888 h 763"/>
                  <a:gd name="T32" fmla="*/ 2255 w 1785"/>
                  <a:gd name="T33" fmla="*/ 2861 h 763"/>
                  <a:gd name="T34" fmla="*/ 1639 w 1785"/>
                  <a:gd name="T35" fmla="*/ 2771 h 763"/>
                  <a:gd name="T36" fmla="*/ 1150 w 1785"/>
                  <a:gd name="T37" fmla="*/ 2652 h 763"/>
                  <a:gd name="T38" fmla="*/ 733 w 1785"/>
                  <a:gd name="T39" fmla="*/ 2523 h 763"/>
                  <a:gd name="T40" fmla="*/ 650 w 1785"/>
                  <a:gd name="T41" fmla="*/ 2506 h 76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785"/>
                  <a:gd name="T64" fmla="*/ 0 h 763"/>
                  <a:gd name="T65" fmla="*/ 1785 w 1785"/>
                  <a:gd name="T66" fmla="*/ 763 h 76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785" h="763">
                    <a:moveTo>
                      <a:pt x="0" y="660"/>
                    </a:moveTo>
                    <a:lnTo>
                      <a:pt x="276" y="662"/>
                    </a:lnTo>
                    <a:lnTo>
                      <a:pt x="1370" y="0"/>
                    </a:lnTo>
                    <a:lnTo>
                      <a:pt x="1785" y="0"/>
                    </a:lnTo>
                    <a:lnTo>
                      <a:pt x="1632" y="0"/>
                    </a:lnTo>
                    <a:lnTo>
                      <a:pt x="1577" y="158"/>
                    </a:lnTo>
                    <a:lnTo>
                      <a:pt x="1495" y="305"/>
                    </a:lnTo>
                    <a:lnTo>
                      <a:pt x="1428" y="393"/>
                    </a:lnTo>
                    <a:lnTo>
                      <a:pt x="1358" y="475"/>
                    </a:lnTo>
                    <a:lnTo>
                      <a:pt x="1255" y="564"/>
                    </a:lnTo>
                    <a:lnTo>
                      <a:pt x="1130" y="648"/>
                    </a:lnTo>
                    <a:lnTo>
                      <a:pt x="1034" y="691"/>
                    </a:lnTo>
                    <a:lnTo>
                      <a:pt x="912" y="727"/>
                    </a:lnTo>
                    <a:lnTo>
                      <a:pt x="801" y="751"/>
                    </a:lnTo>
                    <a:lnTo>
                      <a:pt x="662" y="763"/>
                    </a:lnTo>
                    <a:lnTo>
                      <a:pt x="569" y="763"/>
                    </a:lnTo>
                    <a:lnTo>
                      <a:pt x="465" y="756"/>
                    </a:lnTo>
                    <a:lnTo>
                      <a:pt x="338" y="732"/>
                    </a:lnTo>
                    <a:lnTo>
                      <a:pt x="237" y="701"/>
                    </a:lnTo>
                    <a:lnTo>
                      <a:pt x="151" y="667"/>
                    </a:lnTo>
                    <a:lnTo>
                      <a:pt x="134" y="662"/>
                    </a:lnTo>
                  </a:path>
                </a:pathLst>
              </a:custGeom>
              <a:solidFill>
                <a:srgbClr val="66FF66">
                  <a:alpha val="50195"/>
                </a:srgbClr>
              </a:solidFill>
              <a:ln w="38100">
                <a:solidFill>
                  <a:srgbClr val="008000"/>
                </a:solidFill>
                <a:round/>
              </a:ln>
            </p:spPr>
            <p:txBody>
              <a:bodyPr/>
              <a:lstStyle/>
              <a:p>
                <a:endParaRPr lang="zh-CN" altLang="en-US"/>
              </a:p>
            </p:txBody>
          </p:sp>
          <p:sp>
            <p:nvSpPr>
              <p:cNvPr id="38954" name="Line 52"/>
              <p:cNvSpPr>
                <a:spLocks noChangeShapeType="1"/>
              </p:cNvSpPr>
              <p:nvPr/>
            </p:nvSpPr>
            <p:spPr bwMode="auto">
              <a:xfrm flipV="1">
                <a:off x="3121" y="3045"/>
                <a:ext cx="0" cy="104"/>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55" name="Line 53"/>
              <p:cNvSpPr>
                <a:spLocks noChangeShapeType="1"/>
              </p:cNvSpPr>
              <p:nvPr/>
            </p:nvSpPr>
            <p:spPr bwMode="auto">
              <a:xfrm flipV="1">
                <a:off x="3327" y="2932"/>
                <a:ext cx="0" cy="26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56" name="Line 54"/>
              <p:cNvSpPr>
                <a:spLocks noChangeShapeType="1"/>
              </p:cNvSpPr>
              <p:nvPr/>
            </p:nvSpPr>
            <p:spPr bwMode="auto">
              <a:xfrm flipV="1">
                <a:off x="3563" y="2826"/>
                <a:ext cx="0" cy="40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57" name="Line 55"/>
              <p:cNvSpPr>
                <a:spLocks noChangeShapeType="1"/>
              </p:cNvSpPr>
              <p:nvPr/>
            </p:nvSpPr>
            <p:spPr bwMode="auto">
              <a:xfrm flipH="1" flipV="1">
                <a:off x="3803" y="2660"/>
                <a:ext cx="0" cy="55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58" name="Line 56"/>
              <p:cNvSpPr>
                <a:spLocks noChangeShapeType="1"/>
              </p:cNvSpPr>
              <p:nvPr/>
            </p:nvSpPr>
            <p:spPr bwMode="auto">
              <a:xfrm flipH="1" flipV="1">
                <a:off x="4035" y="2535"/>
                <a:ext cx="0" cy="656"/>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59" name="Line 57"/>
              <p:cNvSpPr>
                <a:spLocks noChangeShapeType="1"/>
              </p:cNvSpPr>
              <p:nvPr/>
            </p:nvSpPr>
            <p:spPr bwMode="auto">
              <a:xfrm flipV="1">
                <a:off x="4253" y="2409"/>
                <a:ext cx="0" cy="737"/>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60" name="Line 58"/>
              <p:cNvSpPr>
                <a:spLocks noChangeShapeType="1"/>
              </p:cNvSpPr>
              <p:nvPr/>
            </p:nvSpPr>
            <p:spPr bwMode="auto">
              <a:xfrm flipH="1" flipV="1">
                <a:off x="4511" y="2269"/>
                <a:ext cx="0" cy="78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61" name="Line 59"/>
              <p:cNvSpPr>
                <a:spLocks noChangeShapeType="1"/>
              </p:cNvSpPr>
              <p:nvPr/>
            </p:nvSpPr>
            <p:spPr bwMode="auto">
              <a:xfrm flipV="1">
                <a:off x="4740" y="2147"/>
                <a:ext cx="0" cy="766"/>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62" name="Line 60"/>
              <p:cNvSpPr>
                <a:spLocks noChangeShapeType="1"/>
              </p:cNvSpPr>
              <p:nvPr/>
            </p:nvSpPr>
            <p:spPr bwMode="auto">
              <a:xfrm>
                <a:off x="4949" y="2024"/>
                <a:ext cx="0" cy="73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63" name="Line 61"/>
              <p:cNvSpPr>
                <a:spLocks noChangeShapeType="1"/>
              </p:cNvSpPr>
              <p:nvPr/>
            </p:nvSpPr>
            <p:spPr bwMode="auto">
              <a:xfrm>
                <a:off x="5172" y="2032"/>
                <a:ext cx="0" cy="457"/>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64" name="Line 62"/>
              <p:cNvSpPr>
                <a:spLocks noChangeShapeType="1"/>
              </p:cNvSpPr>
              <p:nvPr/>
            </p:nvSpPr>
            <p:spPr bwMode="auto">
              <a:xfrm flipH="1">
                <a:off x="2886" y="1556"/>
                <a:ext cx="787" cy="1496"/>
              </a:xfrm>
              <a:prstGeom prst="line">
                <a:avLst/>
              </a:prstGeom>
              <a:noFill/>
              <a:ln w="38100">
                <a:solidFill>
                  <a:srgbClr val="CC0099"/>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65" name="Line 63"/>
              <p:cNvSpPr>
                <a:spLocks noChangeShapeType="1"/>
              </p:cNvSpPr>
              <p:nvPr/>
            </p:nvSpPr>
            <p:spPr bwMode="auto">
              <a:xfrm>
                <a:off x="3670" y="1553"/>
                <a:ext cx="1734" cy="479"/>
              </a:xfrm>
              <a:prstGeom prst="line">
                <a:avLst/>
              </a:prstGeom>
              <a:noFill/>
              <a:ln w="38100">
                <a:solidFill>
                  <a:srgbClr val="0000CC"/>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66" name="Line 64"/>
              <p:cNvSpPr>
                <a:spLocks noChangeShapeType="1"/>
              </p:cNvSpPr>
              <p:nvPr/>
            </p:nvSpPr>
            <p:spPr bwMode="auto">
              <a:xfrm>
                <a:off x="3678" y="1545"/>
                <a:ext cx="5" cy="1767"/>
              </a:xfrm>
              <a:prstGeom prst="line">
                <a:avLst/>
              </a:prstGeom>
              <a:noFill/>
              <a:ln w="28575">
                <a:solidFill>
                  <a:srgbClr val="CC00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67" name="Line 65"/>
              <p:cNvSpPr>
                <a:spLocks noChangeShapeType="1"/>
              </p:cNvSpPr>
              <p:nvPr/>
            </p:nvSpPr>
            <p:spPr bwMode="auto">
              <a:xfrm>
                <a:off x="3670" y="1541"/>
                <a:ext cx="745" cy="1556"/>
              </a:xfrm>
              <a:prstGeom prst="line">
                <a:avLst/>
              </a:prstGeom>
              <a:noFill/>
              <a:ln w="38100">
                <a:solidFill>
                  <a:srgbClr val="CC00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68" name="Freeform 66"/>
              <p:cNvSpPr/>
              <p:nvPr/>
            </p:nvSpPr>
            <p:spPr bwMode="auto">
              <a:xfrm>
                <a:off x="3673" y="1934"/>
                <a:ext cx="174" cy="37"/>
              </a:xfrm>
              <a:custGeom>
                <a:avLst/>
                <a:gdLst>
                  <a:gd name="T0" fmla="*/ 0 w 103"/>
                  <a:gd name="T1" fmla="*/ 80 h 24"/>
                  <a:gd name="T2" fmla="*/ 162 w 103"/>
                  <a:gd name="T3" fmla="*/ 88 h 24"/>
                  <a:gd name="T4" fmla="*/ 372 w 103"/>
                  <a:gd name="T5" fmla="*/ 62 h 24"/>
                  <a:gd name="T6" fmla="*/ 497 w 103"/>
                  <a:gd name="T7" fmla="*/ 0 h 24"/>
                  <a:gd name="T8" fmla="*/ 0 60000 65536"/>
                  <a:gd name="T9" fmla="*/ 0 60000 65536"/>
                  <a:gd name="T10" fmla="*/ 0 60000 65536"/>
                  <a:gd name="T11" fmla="*/ 0 60000 65536"/>
                  <a:gd name="T12" fmla="*/ 0 w 103"/>
                  <a:gd name="T13" fmla="*/ 0 h 24"/>
                  <a:gd name="T14" fmla="*/ 103 w 103"/>
                  <a:gd name="T15" fmla="*/ 24 h 24"/>
                </a:gdLst>
                <a:ahLst/>
                <a:cxnLst>
                  <a:cxn ang="T8">
                    <a:pos x="T0" y="T1"/>
                  </a:cxn>
                  <a:cxn ang="T9">
                    <a:pos x="T2" y="T3"/>
                  </a:cxn>
                  <a:cxn ang="T10">
                    <a:pos x="T4" y="T5"/>
                  </a:cxn>
                  <a:cxn ang="T11">
                    <a:pos x="T6" y="T7"/>
                  </a:cxn>
                </a:cxnLst>
                <a:rect l="T12" t="T13" r="T14" b="T15"/>
                <a:pathLst>
                  <a:path w="103" h="24">
                    <a:moveTo>
                      <a:pt x="0" y="22"/>
                    </a:moveTo>
                    <a:lnTo>
                      <a:pt x="34" y="24"/>
                    </a:lnTo>
                    <a:lnTo>
                      <a:pt x="77" y="17"/>
                    </a:lnTo>
                    <a:lnTo>
                      <a:pt x="103" y="0"/>
                    </a:lnTo>
                  </a:path>
                </a:pathLst>
              </a:custGeom>
              <a:noFill/>
              <a:ln w="38100">
                <a:solidFill>
                  <a:srgbClr val="CC0099"/>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969" name="Text Box 67"/>
              <p:cNvSpPr txBox="1">
                <a:spLocks noChangeArrowheads="1"/>
              </p:cNvSpPr>
              <p:nvPr/>
            </p:nvSpPr>
            <p:spPr bwMode="auto">
              <a:xfrm>
                <a:off x="3357" y="1296"/>
                <a:ext cx="486"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chemeClr val="tx1"/>
                    </a:solidFill>
                    <a:latin typeface="Times New Roman" panose="02020603050405020304" pitchFamily="18" charset="0"/>
                  </a:rPr>
                  <a:t>O</a:t>
                </a:r>
                <a:endParaRPr kumimoji="1" lang="en-US" altLang="zh-CN" sz="2800" b="1">
                  <a:solidFill>
                    <a:schemeClr val="tx1"/>
                  </a:solidFill>
                  <a:latin typeface="Times New Roman" panose="02020603050405020304" pitchFamily="18" charset="0"/>
                </a:endParaRPr>
              </a:p>
            </p:txBody>
          </p:sp>
          <p:sp>
            <p:nvSpPr>
              <p:cNvPr id="38970" name="Text Box 68"/>
              <p:cNvSpPr txBox="1">
                <a:spLocks noChangeArrowheads="1"/>
              </p:cNvSpPr>
              <p:nvPr/>
            </p:nvSpPr>
            <p:spPr bwMode="auto">
              <a:xfrm>
                <a:off x="4331" y="1350"/>
                <a:ext cx="409"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0000CC"/>
                    </a:solidFill>
                    <a:latin typeface="Times New Roman" panose="02020603050405020304" pitchFamily="18" charset="0"/>
                  </a:rPr>
                  <a:t>R</a:t>
                </a:r>
                <a:endParaRPr kumimoji="1" lang="en-US" altLang="zh-CN" sz="2800" b="1">
                  <a:solidFill>
                    <a:srgbClr val="0000CC"/>
                  </a:solidFill>
                  <a:latin typeface="Times New Roman" panose="02020603050405020304" pitchFamily="18" charset="0"/>
                </a:endParaRPr>
              </a:p>
            </p:txBody>
          </p:sp>
          <p:sp>
            <p:nvSpPr>
              <p:cNvPr id="38971" name="Text Box 69"/>
              <p:cNvSpPr txBox="1">
                <a:spLocks noChangeArrowheads="1"/>
              </p:cNvSpPr>
              <p:nvPr/>
            </p:nvSpPr>
            <p:spPr bwMode="auto">
              <a:xfrm>
                <a:off x="5142" y="1577"/>
                <a:ext cx="570"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dirty="0" smtClean="0">
                    <a:solidFill>
                      <a:schemeClr val="tx1"/>
                    </a:solidFill>
                    <a:latin typeface="Times New Roman" panose="02020603050405020304" pitchFamily="18" charset="0"/>
                  </a:rPr>
                  <a:t>A</a:t>
                </a:r>
                <a:endParaRPr kumimoji="1" lang="en-US" altLang="zh-CN" sz="2800" b="1" dirty="0">
                  <a:solidFill>
                    <a:schemeClr val="tx1"/>
                  </a:solidFill>
                  <a:latin typeface="Times New Roman" panose="02020603050405020304" pitchFamily="18" charset="0"/>
                </a:endParaRPr>
              </a:p>
            </p:txBody>
          </p:sp>
        </p:grpSp>
        <p:sp>
          <p:nvSpPr>
            <p:cNvPr id="38936" name="Text Box 70"/>
            <p:cNvSpPr txBox="1">
              <a:spLocks noChangeArrowheads="1"/>
            </p:cNvSpPr>
            <p:nvPr/>
          </p:nvSpPr>
          <p:spPr bwMode="auto">
            <a:xfrm>
              <a:off x="3888" y="720"/>
              <a:ext cx="40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900" b="1">
                  <a:solidFill>
                    <a:srgbClr val="FF0000"/>
                  </a:solidFill>
                  <a:latin typeface="Times New Roman" panose="02020603050405020304" pitchFamily="18" charset="0"/>
                  <a:sym typeface="Symbol" panose="05050102010706020507" pitchFamily="18" charset="2"/>
                </a:rPr>
                <a:t> </a:t>
              </a:r>
              <a:r>
                <a:rPr kumimoji="1" lang="en-US" altLang="zh-CN" sz="2800" b="1">
                  <a:solidFill>
                    <a:srgbClr val="FF0000"/>
                  </a:solidFill>
                  <a:latin typeface="Times New Roman" panose="02020603050405020304" pitchFamily="18" charset="0"/>
                  <a:sym typeface="Symbol" panose="05050102010706020507" pitchFamily="18" charset="2"/>
                </a:rPr>
                <a:t></a:t>
              </a:r>
              <a:r>
                <a:rPr kumimoji="1" lang="en-US" altLang="zh-CN" sz="2800" b="1" i="1" baseline="-25000">
                  <a:solidFill>
                    <a:srgbClr val="FF0000"/>
                  </a:solidFill>
                  <a:latin typeface="Times New Roman" panose="02020603050405020304" pitchFamily="18" charset="0"/>
                  <a:sym typeface="Symbol" panose="05050102010706020507" pitchFamily="18" charset="2"/>
                </a:rPr>
                <a:t>i</a:t>
              </a:r>
              <a:endParaRPr kumimoji="1" lang="en-US" altLang="zh-CN" sz="2800" b="1" i="1" baseline="-25000">
                <a:solidFill>
                  <a:srgbClr val="FF0000"/>
                </a:solidFill>
                <a:latin typeface="Times New Roman" panose="02020603050405020304" pitchFamily="18" charset="0"/>
              </a:endParaRPr>
            </a:p>
          </p:txBody>
        </p:sp>
        <p:sp>
          <p:nvSpPr>
            <p:cNvPr id="38937" name="Line 71"/>
            <p:cNvSpPr>
              <a:spLocks noChangeShapeType="1"/>
            </p:cNvSpPr>
            <p:nvPr/>
          </p:nvSpPr>
          <p:spPr bwMode="auto">
            <a:xfrm flipV="1">
              <a:off x="4436" y="879"/>
              <a:ext cx="0" cy="313"/>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38" name="Line 72"/>
            <p:cNvSpPr>
              <a:spLocks noChangeShapeType="1"/>
            </p:cNvSpPr>
            <p:nvPr/>
          </p:nvSpPr>
          <p:spPr bwMode="auto">
            <a:xfrm flipV="1">
              <a:off x="4639" y="872"/>
              <a:ext cx="0" cy="183"/>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39" name="Line 73"/>
            <p:cNvSpPr>
              <a:spLocks noChangeShapeType="1"/>
            </p:cNvSpPr>
            <p:nvPr/>
          </p:nvSpPr>
          <p:spPr bwMode="auto">
            <a:xfrm>
              <a:off x="4429" y="956"/>
              <a:ext cx="210" cy="0"/>
            </a:xfrm>
            <a:prstGeom prst="line">
              <a:avLst/>
            </a:prstGeom>
            <a:noFill/>
            <a:ln w="28575">
              <a:solidFill>
                <a:srgbClr val="0000CC"/>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40" name="Text Box 74"/>
            <p:cNvSpPr txBox="1">
              <a:spLocks noChangeArrowheads="1"/>
            </p:cNvSpPr>
            <p:nvPr/>
          </p:nvSpPr>
          <p:spPr bwMode="auto">
            <a:xfrm>
              <a:off x="4442" y="667"/>
              <a:ext cx="24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0000FF"/>
                  </a:solidFill>
                  <a:latin typeface="Times New Roman" panose="02020603050405020304" pitchFamily="18" charset="0"/>
                </a:rPr>
                <a:t>b</a:t>
              </a:r>
              <a:endParaRPr kumimoji="1" lang="en-US" altLang="zh-CN" sz="2800" b="1">
                <a:solidFill>
                  <a:srgbClr val="0000FF"/>
                </a:solidFill>
                <a:latin typeface="Times New Roman" panose="02020603050405020304" pitchFamily="18" charset="0"/>
              </a:endParaRPr>
            </a:p>
          </p:txBody>
        </p:sp>
        <p:sp>
          <p:nvSpPr>
            <p:cNvPr id="38941" name="Text Box 75"/>
            <p:cNvSpPr txBox="1">
              <a:spLocks noChangeArrowheads="1"/>
            </p:cNvSpPr>
            <p:nvPr/>
          </p:nvSpPr>
          <p:spPr bwMode="auto">
            <a:xfrm>
              <a:off x="4752" y="624"/>
              <a:ext cx="2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chemeClr val="tx1"/>
                  </a:solidFill>
                  <a:latin typeface="Times New Roman" panose="02020603050405020304" pitchFamily="18" charset="0"/>
                </a:rPr>
                <a:t>B</a:t>
              </a:r>
              <a:endParaRPr kumimoji="1" lang="en-US" altLang="zh-CN" sz="2800" b="1">
                <a:solidFill>
                  <a:schemeClr val="tx1"/>
                </a:solidFill>
                <a:latin typeface="Times New Roman" panose="02020603050405020304" pitchFamily="18" charset="0"/>
              </a:endParaRPr>
            </a:p>
          </p:txBody>
        </p:sp>
        <p:grpSp>
          <p:nvGrpSpPr>
            <p:cNvPr id="38942" name="Group 76"/>
            <p:cNvGrpSpPr/>
            <p:nvPr/>
          </p:nvGrpSpPr>
          <p:grpSpPr bwMode="auto">
            <a:xfrm>
              <a:off x="3408" y="864"/>
              <a:ext cx="2064" cy="1085"/>
              <a:chOff x="3072" y="2016"/>
              <a:chExt cx="2400" cy="1272"/>
            </a:xfrm>
          </p:grpSpPr>
          <p:sp>
            <p:nvSpPr>
              <p:cNvPr id="38943" name="Text Box 77"/>
              <p:cNvSpPr txBox="1">
                <a:spLocks noChangeArrowheads="1"/>
              </p:cNvSpPr>
              <p:nvPr/>
            </p:nvSpPr>
            <p:spPr bwMode="auto">
              <a:xfrm>
                <a:off x="3072" y="2927"/>
                <a:ext cx="336"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600" b="1">
                    <a:solidFill>
                      <a:srgbClr val="FF6600"/>
                    </a:solidFill>
                    <a:latin typeface="Times New Roman" panose="02020603050405020304" pitchFamily="18" charset="0"/>
                  </a:rPr>
                  <a:t>-2</a:t>
                </a:r>
                <a:endParaRPr kumimoji="1" lang="en-US" altLang="zh-CN" sz="2600" b="1">
                  <a:solidFill>
                    <a:srgbClr val="FF6600"/>
                  </a:solidFill>
                  <a:latin typeface="Times New Roman" panose="02020603050405020304" pitchFamily="18" charset="0"/>
                </a:endParaRPr>
              </a:p>
            </p:txBody>
          </p:sp>
          <p:sp>
            <p:nvSpPr>
              <p:cNvPr id="38944" name="Text Box 78"/>
              <p:cNvSpPr txBox="1">
                <a:spLocks noChangeArrowheads="1"/>
              </p:cNvSpPr>
              <p:nvPr/>
            </p:nvSpPr>
            <p:spPr bwMode="auto">
              <a:xfrm>
                <a:off x="3305" y="2894"/>
                <a:ext cx="334"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FF6600"/>
                    </a:solidFill>
                    <a:latin typeface="Times New Roman" panose="02020603050405020304" pitchFamily="18" charset="0"/>
                  </a:rPr>
                  <a:t>-1</a:t>
                </a:r>
                <a:endParaRPr kumimoji="1" lang="en-US" altLang="zh-CN" sz="2400" b="1">
                  <a:solidFill>
                    <a:srgbClr val="FF6600"/>
                  </a:solidFill>
                  <a:latin typeface="Times New Roman" panose="02020603050405020304" pitchFamily="18" charset="0"/>
                </a:endParaRPr>
              </a:p>
            </p:txBody>
          </p:sp>
          <p:sp>
            <p:nvSpPr>
              <p:cNvPr id="38945" name="Text Box 79"/>
              <p:cNvSpPr txBox="1">
                <a:spLocks noChangeArrowheads="1"/>
              </p:cNvSpPr>
              <p:nvPr/>
            </p:nvSpPr>
            <p:spPr bwMode="auto">
              <a:xfrm>
                <a:off x="3505" y="2880"/>
                <a:ext cx="33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800" b="1">
                    <a:solidFill>
                      <a:srgbClr val="FF6600"/>
                    </a:solidFill>
                    <a:latin typeface="Times New Roman" panose="02020603050405020304" pitchFamily="18" charset="0"/>
                  </a:rPr>
                  <a:t>0</a:t>
                </a:r>
                <a:endParaRPr kumimoji="1" lang="en-US" altLang="zh-CN" sz="2800" b="1">
                  <a:solidFill>
                    <a:srgbClr val="FF6600"/>
                  </a:solidFill>
                  <a:latin typeface="Times New Roman" panose="02020603050405020304" pitchFamily="18" charset="0"/>
                </a:endParaRPr>
              </a:p>
            </p:txBody>
          </p:sp>
          <p:sp>
            <p:nvSpPr>
              <p:cNvPr id="38946" name="Text Box 80"/>
              <p:cNvSpPr txBox="1">
                <a:spLocks noChangeArrowheads="1"/>
              </p:cNvSpPr>
              <p:nvPr/>
            </p:nvSpPr>
            <p:spPr bwMode="auto">
              <a:xfrm>
                <a:off x="3792" y="2832"/>
                <a:ext cx="33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1</a:t>
                </a:r>
                <a:endParaRPr kumimoji="1" lang="en-US" altLang="zh-CN" sz="2800" b="1">
                  <a:solidFill>
                    <a:srgbClr val="FF6600"/>
                  </a:solidFill>
                  <a:latin typeface="Times New Roman" panose="02020603050405020304" pitchFamily="18" charset="0"/>
                </a:endParaRPr>
              </a:p>
            </p:txBody>
          </p:sp>
          <p:sp>
            <p:nvSpPr>
              <p:cNvPr id="38947" name="Text Box 81"/>
              <p:cNvSpPr txBox="1">
                <a:spLocks noChangeArrowheads="1"/>
              </p:cNvSpPr>
              <p:nvPr/>
            </p:nvSpPr>
            <p:spPr bwMode="auto">
              <a:xfrm>
                <a:off x="4032" y="2737"/>
                <a:ext cx="33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2</a:t>
                </a:r>
                <a:endParaRPr kumimoji="1" lang="en-US" altLang="zh-CN" sz="2800" b="1">
                  <a:solidFill>
                    <a:srgbClr val="FF6600"/>
                  </a:solidFill>
                  <a:latin typeface="Times New Roman" panose="02020603050405020304" pitchFamily="18" charset="0"/>
                </a:endParaRPr>
              </a:p>
            </p:txBody>
          </p:sp>
          <p:sp>
            <p:nvSpPr>
              <p:cNvPr id="38948" name="Text Box 82"/>
              <p:cNvSpPr txBox="1">
                <a:spLocks noChangeArrowheads="1"/>
              </p:cNvSpPr>
              <p:nvPr/>
            </p:nvSpPr>
            <p:spPr bwMode="auto">
              <a:xfrm>
                <a:off x="4272" y="2592"/>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3</a:t>
                </a:r>
                <a:endParaRPr kumimoji="1" lang="en-US" altLang="zh-CN" sz="2800" b="1">
                  <a:solidFill>
                    <a:srgbClr val="FF6600"/>
                  </a:solidFill>
                  <a:latin typeface="Times New Roman" panose="02020603050405020304" pitchFamily="18" charset="0"/>
                </a:endParaRPr>
              </a:p>
            </p:txBody>
          </p:sp>
          <p:sp>
            <p:nvSpPr>
              <p:cNvPr id="38949" name="Text Box 83"/>
              <p:cNvSpPr txBox="1">
                <a:spLocks noChangeArrowheads="1"/>
              </p:cNvSpPr>
              <p:nvPr/>
            </p:nvSpPr>
            <p:spPr bwMode="auto">
              <a:xfrm>
                <a:off x="4512" y="2448"/>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4</a:t>
                </a:r>
                <a:endParaRPr kumimoji="1" lang="en-US" altLang="zh-CN" sz="2800" b="1">
                  <a:solidFill>
                    <a:srgbClr val="FF6600"/>
                  </a:solidFill>
                  <a:latin typeface="Times New Roman" panose="02020603050405020304" pitchFamily="18" charset="0"/>
                </a:endParaRPr>
              </a:p>
            </p:txBody>
          </p:sp>
          <p:sp>
            <p:nvSpPr>
              <p:cNvPr id="38950" name="Text Box 84"/>
              <p:cNvSpPr txBox="1">
                <a:spLocks noChangeArrowheads="1"/>
              </p:cNvSpPr>
              <p:nvPr/>
            </p:nvSpPr>
            <p:spPr bwMode="auto">
              <a:xfrm>
                <a:off x="4752" y="2353"/>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5</a:t>
                </a:r>
                <a:endParaRPr kumimoji="1" lang="en-US" altLang="zh-CN" sz="2800" b="1">
                  <a:solidFill>
                    <a:srgbClr val="FF6600"/>
                  </a:solidFill>
                  <a:latin typeface="Times New Roman" panose="02020603050405020304" pitchFamily="18" charset="0"/>
                </a:endParaRPr>
              </a:p>
            </p:txBody>
          </p:sp>
          <p:sp>
            <p:nvSpPr>
              <p:cNvPr id="38951" name="Text Box 85"/>
              <p:cNvSpPr txBox="1">
                <a:spLocks noChangeArrowheads="1"/>
              </p:cNvSpPr>
              <p:nvPr/>
            </p:nvSpPr>
            <p:spPr bwMode="auto">
              <a:xfrm>
                <a:off x="4944" y="2160"/>
                <a:ext cx="33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6</a:t>
                </a:r>
                <a:endParaRPr kumimoji="1" lang="en-US" altLang="zh-CN" sz="2800" b="1">
                  <a:solidFill>
                    <a:srgbClr val="FF6600"/>
                  </a:solidFill>
                  <a:latin typeface="Times New Roman" panose="02020603050405020304" pitchFamily="18" charset="0"/>
                </a:endParaRPr>
              </a:p>
            </p:txBody>
          </p:sp>
          <p:sp>
            <p:nvSpPr>
              <p:cNvPr id="38952" name="Text Box 86"/>
              <p:cNvSpPr txBox="1">
                <a:spLocks noChangeArrowheads="1"/>
              </p:cNvSpPr>
              <p:nvPr/>
            </p:nvSpPr>
            <p:spPr bwMode="auto">
              <a:xfrm>
                <a:off x="5136" y="2016"/>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7</a:t>
                </a:r>
                <a:endParaRPr kumimoji="1" lang="en-US" altLang="zh-CN" sz="2800" b="1">
                  <a:solidFill>
                    <a:srgbClr val="FF6600"/>
                  </a:solidFill>
                  <a:latin typeface="Times New Roman" panose="02020603050405020304" pitchFamily="18" charset="0"/>
                </a:endParaRPr>
              </a:p>
            </p:txBody>
          </p:sp>
        </p:grpSp>
      </p:grpSp>
      <p:sp>
        <p:nvSpPr>
          <p:cNvPr id="760921" name="Rectangle 89"/>
          <p:cNvSpPr>
            <a:spLocks noChangeArrowheads="1"/>
          </p:cNvSpPr>
          <p:nvPr/>
        </p:nvSpPr>
        <p:spPr bwMode="auto">
          <a:xfrm>
            <a:off x="228600" y="1905000"/>
            <a:ext cx="37338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just" eaLnBrk="1" hangingPunct="1"/>
            <a:r>
              <a:rPr lang="zh-CN" altLang="en-US" sz="3200" b="1">
                <a:solidFill>
                  <a:srgbClr val="993300"/>
                </a:solidFill>
                <a:ea typeface="隶书" panose="02010509060101010101" pitchFamily="49" charset="-122"/>
              </a:rPr>
              <a:t>极限平衡条件：</a:t>
            </a:r>
            <a:endParaRPr lang="zh-CN" altLang="en-US" sz="3200" b="1">
              <a:solidFill>
                <a:srgbClr val="993300"/>
              </a:solidFill>
              <a:ea typeface="隶书" panose="02010509060101010101" pitchFamily="49" charset="-122"/>
            </a:endParaRPr>
          </a:p>
        </p:txBody>
      </p:sp>
      <p:sp>
        <p:nvSpPr>
          <p:cNvPr id="760926" name="Rectangle 94"/>
          <p:cNvSpPr>
            <a:spLocks noChangeArrowheads="1"/>
          </p:cNvSpPr>
          <p:nvPr/>
        </p:nvSpPr>
        <p:spPr bwMode="auto">
          <a:xfrm>
            <a:off x="152400" y="3352800"/>
            <a:ext cx="4953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just" eaLnBrk="1" hangingPunct="1"/>
            <a:r>
              <a:rPr lang="zh-CN" altLang="en-US" sz="3200" b="1">
                <a:solidFill>
                  <a:srgbClr val="993300"/>
                </a:solidFill>
                <a:ea typeface="隶书" panose="02010509060101010101" pitchFamily="49" charset="-122"/>
              </a:rPr>
              <a:t>整体对圆心的力矩平衡：</a:t>
            </a:r>
            <a:endParaRPr lang="zh-CN" altLang="en-US" sz="3200" b="1">
              <a:solidFill>
                <a:srgbClr val="993300"/>
              </a:solidFill>
              <a:ea typeface="隶书" panose="02010509060101010101" pitchFamily="49" charset="-122"/>
            </a:endParaRPr>
          </a:p>
        </p:txBody>
      </p:sp>
      <p:sp>
        <p:nvSpPr>
          <p:cNvPr id="760927" name="Rectangle 95"/>
          <p:cNvSpPr>
            <a:spLocks noChangeArrowheads="1"/>
          </p:cNvSpPr>
          <p:nvPr/>
        </p:nvSpPr>
        <p:spPr bwMode="auto">
          <a:xfrm>
            <a:off x="304800" y="4114800"/>
            <a:ext cx="2789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r>
              <a:rPr kumimoji="1" lang="zh-CN" altLang="en-US" sz="2400" b="1">
                <a:solidFill>
                  <a:srgbClr val="0000FF"/>
                </a:solidFill>
                <a:latin typeface="宋体" panose="02010600030101010101" pitchFamily="2" charset="-122"/>
              </a:rPr>
              <a:t>滑动力矩</a:t>
            </a:r>
            <a:r>
              <a:rPr kumimoji="1" lang="en-US" altLang="zh-CN" sz="2400" b="1">
                <a:solidFill>
                  <a:srgbClr val="993300"/>
                </a:solidFill>
                <a:latin typeface="宋体" panose="02010600030101010101" pitchFamily="2" charset="-122"/>
              </a:rPr>
              <a:t>=</a:t>
            </a:r>
            <a:r>
              <a:rPr kumimoji="1" lang="zh-CN" altLang="en-US" sz="2400" b="1">
                <a:solidFill>
                  <a:srgbClr val="0000FF"/>
                </a:solidFill>
                <a:latin typeface="宋体" panose="02010600030101010101" pitchFamily="2" charset="-122"/>
              </a:rPr>
              <a:t>抗滑力矩</a:t>
            </a:r>
            <a:endParaRPr kumimoji="1" lang="zh-CN" altLang="en-US" sz="2400" b="1">
              <a:solidFill>
                <a:srgbClr val="0000FF"/>
              </a:solidFill>
              <a:latin typeface="宋体" panose="02010600030101010101" pitchFamily="2" charset="-122"/>
            </a:endParaRPr>
          </a:p>
        </p:txBody>
      </p:sp>
      <p:sp>
        <p:nvSpPr>
          <p:cNvPr id="760930" name="AutoShape 98"/>
          <p:cNvSpPr>
            <a:spLocks noChangeArrowheads="1"/>
          </p:cNvSpPr>
          <p:nvPr/>
        </p:nvSpPr>
        <p:spPr bwMode="auto">
          <a:xfrm>
            <a:off x="3200400" y="4267200"/>
            <a:ext cx="228600" cy="228600"/>
          </a:xfrm>
          <a:prstGeom prst="leftRightArrow">
            <a:avLst>
              <a:gd name="adj1" fmla="val 50000"/>
              <a:gd name="adj2" fmla="val 20000"/>
            </a:avLst>
          </a:prstGeom>
          <a:solidFill>
            <a:srgbClr val="33CCFF"/>
          </a:solidFill>
          <a:ln w="9525">
            <a:solidFill>
              <a:srgbClr val="CC3300"/>
            </a:solidFill>
            <a:miter lim="800000"/>
          </a:ln>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760936" name="AutoShape 104"/>
          <p:cNvSpPr>
            <a:spLocks noChangeArrowheads="1"/>
          </p:cNvSpPr>
          <p:nvPr/>
        </p:nvSpPr>
        <p:spPr bwMode="auto">
          <a:xfrm>
            <a:off x="4343400" y="5502965"/>
            <a:ext cx="1219200" cy="619125"/>
          </a:xfrm>
          <a:prstGeom prst="leftArrowCallout">
            <a:avLst>
              <a:gd name="adj1" fmla="val 30583"/>
              <a:gd name="adj2" fmla="val 15292"/>
              <a:gd name="adj3" fmla="val 57846"/>
              <a:gd name="adj4" fmla="val 67681"/>
            </a:avLst>
          </a:prstGeom>
          <a:solidFill>
            <a:schemeClr val="tx2">
              <a:lumMod val="20000"/>
              <a:lumOff val="80000"/>
            </a:schemeClr>
          </a:solidFill>
          <a:ln w="9525" algn="ctr">
            <a:solidFill>
              <a:srgbClr val="009600"/>
            </a:solidFill>
            <a:miter lim="800000"/>
          </a:ln>
        </p:spPr>
        <p:txBody>
          <a:bodyPr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kumimoji="1" lang="zh-CN" altLang="en-US" sz="2000" b="1" dirty="0">
                <a:solidFill>
                  <a:srgbClr val="CC0000"/>
                </a:solidFill>
                <a:latin typeface="Times New Roman" panose="02020603050405020304" pitchFamily="18" charset="0"/>
                <a:ea typeface="方正姚体" panose="02010601030101010101" pitchFamily="2" charset="-122"/>
              </a:rPr>
              <a:t>显式</a:t>
            </a:r>
            <a:endParaRPr kumimoji="1" lang="zh-CN" altLang="en-US" sz="2000" b="1" dirty="0">
              <a:solidFill>
                <a:srgbClr val="CC0000"/>
              </a:solidFill>
              <a:latin typeface="Times New Roman" panose="02020603050405020304" pitchFamily="18" charset="0"/>
              <a:ea typeface="方正姚体" panose="02010601030101010101" pitchFamily="2" charset="-122"/>
            </a:endParaRPr>
          </a:p>
          <a:p>
            <a:pPr algn="ctr" eaLnBrk="1" hangingPunct="1">
              <a:spcBef>
                <a:spcPct val="0"/>
              </a:spcBef>
            </a:pPr>
            <a:r>
              <a:rPr kumimoji="1" lang="zh-CN" altLang="en-US" sz="2000" b="1" dirty="0">
                <a:solidFill>
                  <a:srgbClr val="CC0000"/>
                </a:solidFill>
                <a:latin typeface="Times New Roman" panose="02020603050405020304" pitchFamily="18" charset="0"/>
                <a:ea typeface="方正姚体" panose="02010601030101010101" pitchFamily="2" charset="-122"/>
              </a:rPr>
              <a:t>表达</a:t>
            </a:r>
            <a:endParaRPr kumimoji="1" lang="zh-CN" altLang="en-US" sz="2000" b="1" i="1" dirty="0">
              <a:solidFill>
                <a:schemeClr val="hlink"/>
              </a:solidFill>
              <a:latin typeface="Times New Roman" panose="02020603050405020304" pitchFamily="18" charset="0"/>
              <a:ea typeface="方正姚体" panose="02010601030101010101" pitchFamily="2" charset="-122"/>
            </a:endParaRPr>
          </a:p>
        </p:txBody>
      </p:sp>
      <p:sp>
        <p:nvSpPr>
          <p:cNvPr id="760941" name="Line 109"/>
          <p:cNvSpPr>
            <a:spLocks noChangeShapeType="1"/>
          </p:cNvSpPr>
          <p:nvPr/>
        </p:nvSpPr>
        <p:spPr bwMode="auto">
          <a:xfrm flipH="1">
            <a:off x="6400800" y="2895600"/>
            <a:ext cx="990600" cy="0"/>
          </a:xfrm>
          <a:prstGeom prst="line">
            <a:avLst/>
          </a:prstGeom>
          <a:noFill/>
          <a:ln w="34925">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0943" name="Line 111"/>
          <p:cNvSpPr>
            <a:spLocks noChangeShapeType="1"/>
          </p:cNvSpPr>
          <p:nvPr/>
        </p:nvSpPr>
        <p:spPr bwMode="auto">
          <a:xfrm>
            <a:off x="7391400" y="2590800"/>
            <a:ext cx="0" cy="53340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0945" name="Line 113"/>
          <p:cNvSpPr>
            <a:spLocks noChangeShapeType="1"/>
          </p:cNvSpPr>
          <p:nvPr/>
        </p:nvSpPr>
        <p:spPr bwMode="auto">
          <a:xfrm flipV="1">
            <a:off x="7162800" y="2895600"/>
            <a:ext cx="457200" cy="152400"/>
          </a:xfrm>
          <a:prstGeom prst="line">
            <a:avLst/>
          </a:prstGeom>
          <a:noFill/>
          <a:ln w="349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mc:Choice xmlns:a14="http://schemas.microsoft.com/office/drawing/2010/main" Requires="a14">
          <p:sp>
            <p:nvSpPr>
              <p:cNvPr id="5" name="文本框 4"/>
              <p:cNvSpPr txBox="1"/>
              <p:nvPr/>
            </p:nvSpPr>
            <p:spPr>
              <a:xfrm>
                <a:off x="1227999" y="1308968"/>
                <a:ext cx="1857240" cy="36933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𝑁</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𝐺</m:t>
                          </m:r>
                        </m:e>
                        <m:sub>
                          <m:r>
                            <a:rPr lang="en-US" altLang="zh-CN" sz="2400" b="0" i="1" smtClean="0">
                              <a:latin typeface="Cambria Math" panose="02040503050406030204" pitchFamily="18" charset="0"/>
                            </a:rPr>
                            <m:t>𝑖</m:t>
                          </m:r>
                        </m:sub>
                      </m:sSub>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cos</m:t>
                          </m:r>
                        </m:fName>
                        <m:e>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𝜃</m:t>
                              </m:r>
                            </m:e>
                            <m:sub>
                              <m:r>
                                <a:rPr lang="en-US" altLang="zh-CN" sz="2400" b="0" i="1" smtClean="0">
                                  <a:latin typeface="Cambria Math" panose="02040503050406030204" pitchFamily="18" charset="0"/>
                                </a:rPr>
                                <m:t>𝑖</m:t>
                              </m:r>
                            </m:sub>
                          </m:sSub>
                        </m:e>
                      </m:func>
                    </m:oMath>
                  </m:oMathPara>
                </a14:m>
                <a:endParaRPr lang="zh-CN" altLang="en-US" sz="2400" dirty="0">
                  <a:latin typeface="Times New Roman" panose="02020603050405020304" pitchFamily="18" charset="0"/>
                  <a:cs typeface="Times New Roman" panose="020206030504050203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1227999" y="1308968"/>
                <a:ext cx="1857240" cy="369332"/>
              </a:xfrm>
              <a:prstGeom prst="rect">
                <a:avLst/>
              </a:prstGeom>
              <a:blipFill rotWithShape="1">
                <a:blip r:embed="rId1"/>
                <a:stretch>
                  <a:fillRect l="-29" t="-63" r="-1824" b="17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163482" y="2506929"/>
                <a:ext cx="4815164" cy="58233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𝑇</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𝑖</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𝑙</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𝑁</m:t>
                              </m:r>
                            </m:e>
                            <m:sub>
                              <m:r>
                                <a:rPr lang="en-US" altLang="zh-CN" sz="2000" b="0" i="1" smtClean="0">
                                  <a:latin typeface="Cambria Math" panose="02040503050406030204" pitchFamily="18" charset="0"/>
                                </a:rPr>
                                <m:t>𝑖</m:t>
                              </m:r>
                            </m:sub>
                          </m:sSub>
                          <m:func>
                            <m:funcPr>
                              <m:ctrlPr>
                                <a:rPr lang="en-US" altLang="zh-CN" sz="2000" b="0" i="1" smtClean="0">
                                  <a:latin typeface="Cambria Math" panose="02040503050406030204" pitchFamily="18" charset="0"/>
                                </a:rPr>
                              </m:ctrlPr>
                            </m:funcPr>
                            <m:fName>
                              <m:r>
                                <m:rPr>
                                  <m:sty m:val="p"/>
                                </m:rPr>
                                <a:rPr lang="en-US" altLang="zh-CN" sz="2000" b="0" i="0" smtClean="0">
                                  <a:latin typeface="Cambria Math" panose="02040503050406030204" pitchFamily="18" charset="0"/>
                                </a:rPr>
                                <m:t>tan</m:t>
                              </m:r>
                            </m:fName>
                            <m:e>
                              <m:sSub>
                                <m:sSubPr>
                                  <m:ctrlPr>
                                    <a:rPr lang="en-US" altLang="zh-CN" sz="2000" b="0" i="1" smtClean="0">
                                      <a:latin typeface="Cambria Math" panose="02040503050406030204" pitchFamily="18" charset="0"/>
                                    </a:rPr>
                                  </m:ctrlPr>
                                </m:sSubPr>
                                <m:e>
                                  <m:r>
                                    <a:rPr lang="zh-CN" altLang="en-US" sz="2000" b="0" i="1" smtClean="0">
                                      <a:latin typeface="Cambria Math" panose="02040503050406030204" pitchFamily="18" charset="0"/>
                                    </a:rPr>
                                    <m:t>𝜑</m:t>
                                  </m:r>
                                </m:e>
                                <m:sub>
                                  <m:r>
                                    <a:rPr lang="en-US" altLang="zh-CN" sz="2000" b="0" i="1" smtClean="0">
                                      <a:latin typeface="Cambria Math" panose="02040503050406030204" pitchFamily="18" charset="0"/>
                                    </a:rPr>
                                    <m:t>𝑖</m:t>
                                  </m:r>
                                </m:sub>
                              </m:sSub>
                            </m:e>
                          </m:func>
                        </m:num>
                        <m:den>
                          <m:r>
                            <a:rPr lang="en-US" altLang="zh-CN" sz="2000" b="0" i="1" smtClean="0">
                              <a:latin typeface="Cambria Math" panose="02040503050406030204" pitchFamily="18" charset="0"/>
                            </a:rPr>
                            <m:t>𝐾</m:t>
                          </m:r>
                        </m:den>
                      </m:f>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𝑖</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𝑙</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𝐺</m:t>
                              </m:r>
                            </m:e>
                            <m:sub>
                              <m:r>
                                <a:rPr lang="en-US" altLang="zh-CN" sz="2000" b="0" i="1" smtClean="0">
                                  <a:latin typeface="Cambria Math" panose="02040503050406030204" pitchFamily="18" charset="0"/>
                                </a:rPr>
                                <m:t>𝑖</m:t>
                              </m:r>
                            </m:sub>
                          </m:sSub>
                          <m:func>
                            <m:funcPr>
                              <m:ctrlPr>
                                <a:rPr lang="en-US" altLang="zh-CN" sz="2000" b="0" i="1" smtClean="0">
                                  <a:latin typeface="Cambria Math" panose="02040503050406030204" pitchFamily="18" charset="0"/>
                                </a:rPr>
                              </m:ctrlPr>
                            </m:funcPr>
                            <m:fName>
                              <m:r>
                                <m:rPr>
                                  <m:sty m:val="p"/>
                                </m:rPr>
                                <a:rPr lang="en-US" altLang="zh-CN" sz="2000" b="0" i="0" smtClean="0">
                                  <a:latin typeface="Cambria Math" panose="02040503050406030204" pitchFamily="18" charset="0"/>
                                </a:rPr>
                                <m:t>cos</m:t>
                              </m:r>
                            </m:fName>
                            <m:e>
                              <m:sSub>
                                <m:sSubPr>
                                  <m:ctrlPr>
                                    <a:rPr lang="en-US" altLang="zh-CN" sz="2000" b="0" i="1" smtClean="0">
                                      <a:latin typeface="Cambria Math" panose="02040503050406030204" pitchFamily="18" charset="0"/>
                                    </a:rPr>
                                  </m:ctrlPr>
                                </m:sSubPr>
                                <m:e>
                                  <m:r>
                                    <a:rPr lang="zh-CN" altLang="en-US" sz="2000" b="0" i="1" smtClean="0">
                                      <a:latin typeface="Cambria Math" panose="02040503050406030204" pitchFamily="18" charset="0"/>
                                    </a:rPr>
                                    <m:t>𝜃</m:t>
                                  </m:r>
                                </m:e>
                                <m:sub>
                                  <m:r>
                                    <a:rPr lang="en-US" altLang="zh-CN" sz="2000" b="0" i="1" smtClean="0">
                                      <a:latin typeface="Cambria Math" panose="02040503050406030204" pitchFamily="18" charset="0"/>
                                    </a:rPr>
                                    <m:t>𝑖</m:t>
                                  </m:r>
                                </m:sub>
                              </m:sSub>
                              <m:func>
                                <m:funcPr>
                                  <m:ctrlPr>
                                    <a:rPr lang="en-US" altLang="zh-CN" sz="2000" b="0" i="1" smtClean="0">
                                      <a:latin typeface="Cambria Math" panose="02040503050406030204" pitchFamily="18" charset="0"/>
                                    </a:rPr>
                                  </m:ctrlPr>
                                </m:funcPr>
                                <m:fName>
                                  <m:r>
                                    <m:rPr>
                                      <m:sty m:val="p"/>
                                    </m:rPr>
                                    <a:rPr lang="en-US" altLang="zh-CN" sz="2000" b="0" i="0" smtClean="0">
                                      <a:latin typeface="Cambria Math" panose="02040503050406030204" pitchFamily="18" charset="0"/>
                                    </a:rPr>
                                    <m:t>tan</m:t>
                                  </m:r>
                                </m:fName>
                                <m:e>
                                  <m:sSub>
                                    <m:sSubPr>
                                      <m:ctrlPr>
                                        <a:rPr lang="en-US" altLang="zh-CN" sz="2000" b="0" i="1" smtClean="0">
                                          <a:latin typeface="Cambria Math" panose="02040503050406030204" pitchFamily="18" charset="0"/>
                                        </a:rPr>
                                      </m:ctrlPr>
                                    </m:sSubPr>
                                    <m:e>
                                      <m:r>
                                        <a:rPr lang="zh-CN" altLang="en-US" sz="2000" b="0" i="1" smtClean="0">
                                          <a:latin typeface="Cambria Math" panose="02040503050406030204" pitchFamily="18" charset="0"/>
                                        </a:rPr>
                                        <m:t>𝜑</m:t>
                                      </m:r>
                                    </m:e>
                                    <m:sub>
                                      <m:r>
                                        <a:rPr lang="en-US" altLang="zh-CN" sz="2000" b="0" i="1" smtClean="0">
                                          <a:latin typeface="Cambria Math" panose="02040503050406030204" pitchFamily="18" charset="0"/>
                                        </a:rPr>
                                        <m:t>𝑖</m:t>
                                      </m:r>
                                    </m:sub>
                                  </m:sSub>
                                </m:e>
                              </m:func>
                            </m:e>
                          </m:func>
                        </m:num>
                        <m:den>
                          <m:r>
                            <a:rPr lang="en-US" altLang="zh-CN" sz="2000" b="0" i="1" smtClean="0">
                              <a:latin typeface="Cambria Math" panose="02040503050406030204" pitchFamily="18" charset="0"/>
                            </a:rPr>
                            <m:t>𝐾</m:t>
                          </m:r>
                        </m:den>
                      </m:f>
                    </m:oMath>
                  </m:oMathPara>
                </a14:m>
                <a:endParaRPr lang="zh-CN" altLang="en-US" sz="2000" dirty="0">
                  <a:latin typeface="Times New Roman" panose="02020603050405020304" pitchFamily="18" charset="0"/>
                  <a:cs typeface="Times New Roman" panose="02020603050405020304" pitchFamily="18" charset="0"/>
                </a:endParaRPr>
              </a:p>
            </p:txBody>
          </p:sp>
        </mc:Choice>
        <mc:Fallback>
          <p:sp>
            <p:nvSpPr>
              <p:cNvPr id="7" name="文本框 6"/>
              <p:cNvSpPr txBox="1">
                <a:spLocks noRot="1" noChangeAspect="1" noMove="1" noResize="1" noEditPoints="1" noAdjustHandles="1" noChangeArrowheads="1" noChangeShapeType="1" noTextEdit="1"/>
              </p:cNvSpPr>
              <p:nvPr/>
            </p:nvSpPr>
            <p:spPr>
              <a:xfrm>
                <a:off x="163482" y="2506929"/>
                <a:ext cx="4815164" cy="582339"/>
              </a:xfrm>
              <a:prstGeom prst="rect">
                <a:avLst/>
              </a:prstGeom>
              <a:blipFill rotWithShape="1">
                <a:blip r:embed="rId2"/>
                <a:stretch>
                  <a:fillRect l="-6" t="-100" r="5" b="10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3775168" y="4134606"/>
                <a:ext cx="1228541" cy="36933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𝑀</m:t>
                          </m:r>
                        </m:e>
                        <m:sub>
                          <m:r>
                            <a:rPr lang="en-US" altLang="zh-CN" sz="2400" b="0" i="1" smtClean="0">
                              <a:latin typeface="Cambria Math" panose="02040503050406030204" pitchFamily="18" charset="0"/>
                            </a:rPr>
                            <m:t>𝑠</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𝑀</m:t>
                          </m:r>
                        </m:e>
                        <m:sub>
                          <m:r>
                            <a:rPr lang="en-US" altLang="zh-CN" sz="2400" b="0" i="1" smtClean="0">
                              <a:latin typeface="Cambria Math" panose="02040503050406030204" pitchFamily="18" charset="0"/>
                            </a:rPr>
                            <m:t>𝑟</m:t>
                          </m:r>
                        </m:sub>
                      </m:sSub>
                    </m:oMath>
                  </m:oMathPara>
                </a14:m>
                <a:endParaRPr lang="zh-CN" altLang="en-US" sz="2400" dirty="0">
                  <a:latin typeface="Times New Roman" panose="02020603050405020304" pitchFamily="18" charset="0"/>
                  <a:cs typeface="Times New Roman" panose="02020603050405020304" pitchFamily="18" charset="0"/>
                </a:endParaRPr>
              </a:p>
            </p:txBody>
          </p:sp>
        </mc:Choice>
        <mc:Fallback>
          <p:sp>
            <p:nvSpPr>
              <p:cNvPr id="8" name="文本框 7"/>
              <p:cNvSpPr txBox="1">
                <a:spLocks noRot="1" noChangeAspect="1" noMove="1" noResize="1" noEditPoints="1" noAdjustHandles="1" noChangeArrowheads="1" noChangeShapeType="1" noTextEdit="1"/>
              </p:cNvSpPr>
              <p:nvPr/>
            </p:nvSpPr>
            <p:spPr>
              <a:xfrm>
                <a:off x="3775168" y="4134606"/>
                <a:ext cx="1228541" cy="369332"/>
              </a:xfrm>
              <a:prstGeom prst="rect">
                <a:avLst/>
              </a:prstGeom>
              <a:blipFill rotWithShape="1">
                <a:blip r:embed="rId3"/>
                <a:stretch>
                  <a:fillRect l="-8" t="-33" r="-4297" b="14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328050" y="4711368"/>
                <a:ext cx="5681812" cy="546432"/>
              </a:xfrm>
              <a:prstGeom prst="rect">
                <a:avLst/>
              </a:prstGeom>
              <a:noFill/>
            </p:spPr>
            <p:txBody>
              <a:bodyPr wrap="none" lIns="0" tIns="0" rIns="0" bIns="0" rtlCol="0">
                <a:spAutoFit/>
              </a:bodyPr>
              <a:lstStyle/>
              <a:p>
                <a14:m>
                  <m:oMath xmlns:m="http://schemas.openxmlformats.org/officeDocument/2006/math">
                    <m:nary>
                      <m:naryPr>
                        <m:chr m:val="∑"/>
                        <m:subHide m:val="on"/>
                        <m:supHide m:val="on"/>
                        <m:ctrlPr>
                          <a:rPr lang="zh-CN" altLang="en-US" sz="2400" i="1" smtClean="0">
                            <a:latin typeface="Cambria Math" panose="02040503050406030204" pitchFamily="18" charset="0"/>
                          </a:rPr>
                        </m:ctrlPr>
                      </m:naryPr>
                      <m:sub/>
                      <m:sup/>
                      <m:e>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𝐺</m:t>
                            </m:r>
                          </m:e>
                          <m:sub>
                            <m:r>
                              <a:rPr lang="en-US" altLang="zh-CN" sz="2400" b="0" i="1" smtClean="0">
                                <a:latin typeface="Cambria Math" panose="02040503050406030204" pitchFamily="18" charset="0"/>
                              </a:rPr>
                              <m:t>𝑖</m:t>
                            </m:r>
                          </m:sub>
                        </m:sSub>
                        <m:func>
                          <m:funcPr>
                            <m:ctrlPr>
                              <a:rPr lang="en-US" altLang="zh-CN" sz="2400" i="1" smtClean="0">
                                <a:latin typeface="Cambria Math" panose="02040503050406030204" pitchFamily="18" charset="0"/>
                              </a:rPr>
                            </m:ctrlPr>
                          </m:funcPr>
                          <m:fName>
                            <m:r>
                              <m:rPr>
                                <m:sty m:val="p"/>
                              </m:rPr>
                              <a:rPr lang="en-US" altLang="zh-CN" sz="2400" i="0" smtClean="0">
                                <a:latin typeface="Cambria Math" panose="02040503050406030204" pitchFamily="18" charset="0"/>
                              </a:rPr>
                              <m:t>sin</m:t>
                            </m:r>
                          </m:fName>
                          <m:e>
                            <m:sSub>
                              <m:sSubPr>
                                <m:ctrlPr>
                                  <a:rPr lang="en-US" altLang="zh-CN" sz="2400" i="1" smtClean="0">
                                    <a:latin typeface="Cambria Math" panose="02040503050406030204" pitchFamily="18" charset="0"/>
                                  </a:rPr>
                                </m:ctrlPr>
                              </m:sSubPr>
                              <m:e>
                                <m:r>
                                  <a:rPr lang="zh-CN" altLang="en-US" sz="2400" i="1" smtClean="0">
                                    <a:latin typeface="Cambria Math" panose="02040503050406030204" pitchFamily="18" charset="0"/>
                                  </a:rPr>
                                  <m:t>𝜃</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𝑅</m:t>
                            </m:r>
                            <m:r>
                              <a:rPr lang="en-US" altLang="zh-CN" sz="2400" b="0" i="1" smtClean="0">
                                <a:latin typeface="Cambria Math" panose="02040503050406030204" pitchFamily="18" charset="0"/>
                              </a:rPr>
                              <m:t>=</m:t>
                            </m:r>
                            <m:nary>
                              <m:naryPr>
                                <m:chr m:val="∑"/>
                                <m:subHide m:val="on"/>
                                <m:supHide m:val="on"/>
                                <m:ctrlPr>
                                  <a:rPr lang="en-US" altLang="zh-CN" sz="2400" b="0" i="1" smtClean="0">
                                    <a:latin typeface="Cambria Math" panose="02040503050406030204" pitchFamily="18" charset="0"/>
                                  </a:rPr>
                                </m:ctrlPr>
                              </m:naryPr>
                              <m:sub/>
                              <m:sup/>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𝑅</m:t>
                                </m:r>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nary>
                                      <m:naryPr>
                                        <m:chr m:val="∑"/>
                                        <m:subHide m:val="on"/>
                                        <m:supHide m:val="on"/>
                                        <m:ctrlPr>
                                          <a:rPr lang="en-US" altLang="zh-CN" sz="2400" b="0" i="1" smtClean="0">
                                            <a:latin typeface="Cambria Math" panose="02040503050406030204" pitchFamily="18" charset="0"/>
                                          </a:rPr>
                                        </m:ctrlPr>
                                      </m:naryPr>
                                      <m:sub/>
                                      <m:sup/>
                                      <m:e>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𝑖</m:t>
                                            </m:r>
                                          </m:sub>
                                        </m:sSub>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𝑙</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𝐺</m:t>
                                            </m:r>
                                          </m:e>
                                          <m:sub>
                                            <m:r>
                                              <a:rPr lang="en-US" altLang="zh-CN" sz="2400" b="0" i="1" smtClean="0">
                                                <a:latin typeface="Cambria Math" panose="02040503050406030204" pitchFamily="18" charset="0"/>
                                              </a:rPr>
                                              <m:t>𝑖</m:t>
                                            </m:r>
                                          </m:sub>
                                        </m:sSub>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cos</m:t>
                                            </m:r>
                                          </m:fName>
                                          <m:e>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𝜃</m:t>
                                                </m:r>
                                              </m:e>
                                              <m:sub>
                                                <m:r>
                                                  <a:rPr lang="en-US" altLang="zh-CN" sz="2400" b="0" i="1" smtClean="0">
                                                    <a:latin typeface="Cambria Math" panose="02040503050406030204" pitchFamily="18" charset="0"/>
                                                  </a:rPr>
                                                  <m:t>𝑖</m:t>
                                                </m:r>
                                              </m:sub>
                                            </m:sSub>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tan</m:t>
                                                </m:r>
                                              </m:fName>
                                              <m:e>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𝜑</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e>
                                            </m:func>
                                          </m:e>
                                        </m:func>
                                      </m:e>
                                    </m:nary>
                                  </m:num>
                                  <m:den>
                                    <m:r>
                                      <a:rPr lang="en-US" altLang="zh-CN" sz="2400" b="0" i="1" smtClean="0">
                                        <a:latin typeface="Cambria Math" panose="02040503050406030204" pitchFamily="18" charset="0"/>
                                      </a:rPr>
                                      <m:t>𝐾</m:t>
                                    </m:r>
                                  </m:den>
                                </m:f>
                              </m:e>
                            </m:nary>
                          </m:e>
                        </m:func>
                      </m:e>
                    </m:nary>
                  </m:oMath>
                </a14:m>
                <a:r>
                  <a:rPr lang="en-US" altLang="zh-CN" sz="2400" dirty="0" smtClean="0">
                    <a:latin typeface="Times New Roman" panose="02020603050405020304" pitchFamily="18" charset="0"/>
                    <a:cs typeface="Times New Roman" panose="02020603050405020304" pitchFamily="18" charset="0"/>
                  </a:rPr>
                  <a:t>R</a:t>
                </a:r>
                <a:endParaRPr lang="zh-CN" altLang="en-US" sz="2400" dirty="0">
                  <a:latin typeface="Times New Roman" panose="02020603050405020304" pitchFamily="18" charset="0"/>
                  <a:cs typeface="Times New Roman" panose="02020603050405020304" pitchFamily="18" charset="0"/>
                </a:endParaRPr>
              </a:p>
            </p:txBody>
          </p:sp>
        </mc:Choice>
        <mc:Fallback>
          <p:sp>
            <p:nvSpPr>
              <p:cNvPr id="9" name="文本框 8"/>
              <p:cNvSpPr txBox="1">
                <a:spLocks noRot="1" noChangeAspect="1" noMove="1" noResize="1" noEditPoints="1" noAdjustHandles="1" noChangeArrowheads="1" noChangeShapeType="1" noTextEdit="1"/>
              </p:cNvSpPr>
              <p:nvPr/>
            </p:nvSpPr>
            <p:spPr>
              <a:xfrm>
                <a:off x="328050" y="4711368"/>
                <a:ext cx="5681812" cy="546432"/>
              </a:xfrm>
              <a:prstGeom prst="rect">
                <a:avLst/>
              </a:prstGeom>
              <a:blipFill rotWithShape="1">
                <a:blip r:embed="rId4"/>
                <a:stretch>
                  <a:fillRect l="-7" t="-55" r="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439625" y="5555353"/>
                <a:ext cx="3888180" cy="776495"/>
              </a:xfrm>
              <a:prstGeom prst="rect">
                <a:avLst/>
              </a:prstGeom>
              <a:solidFill>
                <a:srgbClr val="FFFF00"/>
              </a:solid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𝐾</m:t>
                      </m:r>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nary>
                            <m:naryPr>
                              <m:chr m:val="∑"/>
                              <m:subHide m:val="on"/>
                              <m:supHide m:val="on"/>
                              <m:ctrlPr>
                                <a:rPr lang="en-US" altLang="zh-CN" sz="2400" b="0" i="1" smtClean="0">
                                  <a:latin typeface="Cambria Math" panose="02040503050406030204" pitchFamily="18" charset="0"/>
                                </a:rPr>
                              </m:ctrlPr>
                            </m:naryPr>
                            <m:sub/>
                            <m:sup/>
                            <m:e>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𝑖</m:t>
                                  </m:r>
                                </m:sub>
                              </m:sSub>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𝑙</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𝐺</m:t>
                                  </m:r>
                                </m:e>
                                <m:sub>
                                  <m:r>
                                    <a:rPr lang="en-US" altLang="zh-CN" sz="2400" b="0" i="1" smtClean="0">
                                      <a:latin typeface="Cambria Math" panose="02040503050406030204" pitchFamily="18" charset="0"/>
                                    </a:rPr>
                                    <m:t>𝑖</m:t>
                                  </m:r>
                                </m:sub>
                              </m:sSub>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cos</m:t>
                                  </m:r>
                                </m:fName>
                                <m:e>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𝜃</m:t>
                                      </m:r>
                                    </m:e>
                                    <m:sub>
                                      <m:r>
                                        <a:rPr lang="en-US" altLang="zh-CN" sz="2400" b="0" i="1" smtClean="0">
                                          <a:latin typeface="Cambria Math" panose="02040503050406030204" pitchFamily="18" charset="0"/>
                                        </a:rPr>
                                        <m:t>𝑖</m:t>
                                      </m:r>
                                    </m:sub>
                                  </m:sSub>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tan</m:t>
                                      </m:r>
                                    </m:fName>
                                    <m:e>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𝜑</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e>
                                  </m:func>
                                </m:e>
                              </m:func>
                            </m:e>
                          </m:nary>
                        </m:num>
                        <m:den>
                          <m:nary>
                            <m:naryPr>
                              <m:chr m:val="∑"/>
                              <m:subHide m:val="on"/>
                              <m:supHide m:val="on"/>
                              <m:ctrlPr>
                                <a:rPr lang="en-US" altLang="zh-CN" sz="2400" b="0" i="1" smtClean="0">
                                  <a:latin typeface="Cambria Math" panose="02040503050406030204" pitchFamily="18" charset="0"/>
                                </a:rPr>
                              </m:ctrlPr>
                            </m:naryPr>
                            <m:sub/>
                            <m:sup/>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𝐺</m:t>
                                  </m:r>
                                </m:e>
                                <m:sub>
                                  <m:r>
                                    <a:rPr lang="en-US" altLang="zh-CN" sz="2400" b="0" i="1" smtClean="0">
                                      <a:latin typeface="Cambria Math" panose="02040503050406030204" pitchFamily="18" charset="0"/>
                                    </a:rPr>
                                    <m:t>𝑖</m:t>
                                  </m:r>
                                </m:sub>
                              </m:sSub>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sin</m:t>
                                  </m:r>
                                </m:fName>
                                <m:e>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𝜃</m:t>
                                      </m:r>
                                    </m:e>
                                    <m:sub>
                                      <m:r>
                                        <a:rPr lang="en-US" altLang="zh-CN" sz="2400" b="0" i="1" smtClean="0">
                                          <a:latin typeface="Cambria Math" panose="02040503050406030204" pitchFamily="18" charset="0"/>
                                        </a:rPr>
                                        <m:t>𝑖</m:t>
                                      </m:r>
                                    </m:sub>
                                  </m:sSub>
                                </m:e>
                              </m:func>
                            </m:e>
                          </m:nary>
                        </m:den>
                      </m:f>
                    </m:oMath>
                  </m:oMathPara>
                </a14:m>
                <a:endParaRPr lang="zh-CN" altLang="en-US" sz="2400" dirty="0">
                  <a:latin typeface="Times New Roman" panose="02020603050405020304" pitchFamily="18" charset="0"/>
                  <a:cs typeface="Times New Roman" panose="02020603050405020304" pitchFamily="18" charset="0"/>
                </a:endParaRPr>
              </a:p>
            </p:txBody>
          </p:sp>
        </mc:Choice>
        <mc:Fallback>
          <p:sp>
            <p:nvSpPr>
              <p:cNvPr id="10" name="文本框 9"/>
              <p:cNvSpPr txBox="1">
                <a:spLocks noRot="1" noChangeAspect="1" noMove="1" noResize="1" noEditPoints="1" noAdjustHandles="1" noChangeArrowheads="1" noChangeShapeType="1" noTextEdit="1"/>
              </p:cNvSpPr>
              <p:nvPr/>
            </p:nvSpPr>
            <p:spPr>
              <a:xfrm>
                <a:off x="439625" y="5555353"/>
                <a:ext cx="3888180" cy="776495"/>
              </a:xfrm>
              <a:prstGeom prst="rect">
                <a:avLst/>
              </a:prstGeom>
              <a:blipFill rotWithShape="1">
                <a:blip r:embed="rId5"/>
                <a:stretch>
                  <a:fillRect l="-5" t="-48" r="-401" b="34"/>
                </a:stretch>
              </a:blipFill>
            </p:spPr>
            <p:txBody>
              <a:bodyPr/>
              <a:lstStyle/>
              <a:p>
                <a:r>
                  <a:rPr lang="zh-CN" altLang="en-US">
                    <a:noFill/>
                  </a:rPr>
                  <a:t> </a:t>
                </a:r>
              </a:p>
            </p:txBody>
          </p:sp>
        </mc:Fallback>
      </mc:AlternateContent>
      <p:sp>
        <p:nvSpPr>
          <p:cNvPr id="80" name="Rectangle 6"/>
          <p:cNvSpPr>
            <a:spLocks noChangeArrowheads="1"/>
          </p:cNvSpPr>
          <p:nvPr/>
        </p:nvSpPr>
        <p:spPr bwMode="auto">
          <a:xfrm>
            <a:off x="0" y="-7396"/>
            <a:ext cx="41148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黏性土坡的稳定性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60835">
                                            <p:txEl>
                                              <p:pRg st="0" end="0"/>
                                            </p:txEl>
                                          </p:spTgt>
                                        </p:tgtEl>
                                        <p:attrNameLst>
                                          <p:attrName>style.visibility</p:attrName>
                                        </p:attrNameLst>
                                      </p:cBhvr>
                                      <p:to>
                                        <p:strVal val="visible"/>
                                      </p:to>
                                    </p:set>
                                    <p:animEffect transition="in" filter="wipe(left)">
                                      <p:cBhvr>
                                        <p:cTn id="27" dur="500"/>
                                        <p:tgtEl>
                                          <p:spTgt spid="76083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60921"/>
                                        </p:tgtEl>
                                        <p:attrNameLst>
                                          <p:attrName>style.visibility</p:attrName>
                                        </p:attrNameLst>
                                      </p:cBhvr>
                                      <p:to>
                                        <p:strVal val="visible"/>
                                      </p:to>
                                    </p:set>
                                    <p:animEffect transition="in" filter="wipe(left)">
                                      <p:cBhvr>
                                        <p:cTn id="32" dur="500"/>
                                        <p:tgtEl>
                                          <p:spTgt spid="76092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60926"/>
                                        </p:tgtEl>
                                        <p:attrNameLst>
                                          <p:attrName>style.visibility</p:attrName>
                                        </p:attrNameLst>
                                      </p:cBhvr>
                                      <p:to>
                                        <p:strVal val="visible"/>
                                      </p:to>
                                    </p:set>
                                    <p:animEffect transition="in" filter="wipe(left)">
                                      <p:cBhvr>
                                        <p:cTn id="37" dur="500"/>
                                        <p:tgtEl>
                                          <p:spTgt spid="76092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60927"/>
                                        </p:tgtEl>
                                        <p:attrNameLst>
                                          <p:attrName>style.visibility</p:attrName>
                                        </p:attrNameLst>
                                      </p:cBhvr>
                                      <p:to>
                                        <p:strVal val="visible"/>
                                      </p:to>
                                    </p:set>
                                    <p:animEffect transition="in" filter="wipe(left)">
                                      <p:cBhvr>
                                        <p:cTn id="42" dur="500"/>
                                        <p:tgtEl>
                                          <p:spTgt spid="760927"/>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760930"/>
                                        </p:tgtEl>
                                        <p:attrNameLst>
                                          <p:attrName>style.visibility</p:attrName>
                                        </p:attrNameLst>
                                      </p:cBhvr>
                                      <p:to>
                                        <p:strVal val="visible"/>
                                      </p:to>
                                    </p:set>
                                    <p:animEffect transition="in" filter="dissolve">
                                      <p:cBhvr>
                                        <p:cTn id="47" dur="500"/>
                                        <p:tgtEl>
                                          <p:spTgt spid="76093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760943"/>
                                        </p:tgtEl>
                                        <p:attrNameLst>
                                          <p:attrName>style.visibility</p:attrName>
                                        </p:attrNameLst>
                                      </p:cBhvr>
                                      <p:to>
                                        <p:strVal val="visible"/>
                                      </p:to>
                                    </p:set>
                                    <p:animEffect transition="in" filter="wipe(up)">
                                      <p:cBhvr>
                                        <p:cTn id="52" dur="500"/>
                                        <p:tgtEl>
                                          <p:spTgt spid="760943"/>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37" fill="hold" nodeType="clickEffect">
                                  <p:stCondLst>
                                    <p:cond delay="0"/>
                                  </p:stCondLst>
                                  <p:childTnLst>
                                    <p:set>
                                      <p:cBhvr>
                                        <p:cTn id="56" dur="1" fill="hold">
                                          <p:stCondLst>
                                            <p:cond delay="0"/>
                                          </p:stCondLst>
                                        </p:cTn>
                                        <p:tgtEl>
                                          <p:spTgt spid="760941"/>
                                        </p:tgtEl>
                                        <p:attrNameLst>
                                          <p:attrName>style.visibility</p:attrName>
                                        </p:attrNameLst>
                                      </p:cBhvr>
                                      <p:to>
                                        <p:strVal val="visible"/>
                                      </p:to>
                                    </p:set>
                                    <p:animEffect transition="in" filter="barn(outVertical)">
                                      <p:cBhvr>
                                        <p:cTn id="57" dur="500"/>
                                        <p:tgtEl>
                                          <p:spTgt spid="76094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760945"/>
                                        </p:tgtEl>
                                        <p:attrNameLst>
                                          <p:attrName>style.visibility</p:attrName>
                                        </p:attrNameLst>
                                      </p:cBhvr>
                                      <p:to>
                                        <p:strVal val="visible"/>
                                      </p:to>
                                    </p:set>
                                    <p:animEffect transition="in" filter="wipe(left)">
                                      <p:cBhvr>
                                        <p:cTn id="62" dur="500"/>
                                        <p:tgtEl>
                                          <p:spTgt spid="760945"/>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grpId="0" nodeType="clickEffect">
                                  <p:stCondLst>
                                    <p:cond delay="0"/>
                                  </p:stCondLst>
                                  <p:childTnLst>
                                    <p:set>
                                      <p:cBhvr>
                                        <p:cTn id="66" dur="1" fill="hold">
                                          <p:stCondLst>
                                            <p:cond delay="0"/>
                                          </p:stCondLst>
                                        </p:cTn>
                                        <p:tgtEl>
                                          <p:spTgt spid="760936"/>
                                        </p:tgtEl>
                                        <p:attrNameLst>
                                          <p:attrName>style.visibility</p:attrName>
                                        </p:attrNameLst>
                                      </p:cBhvr>
                                      <p:to>
                                        <p:strVal val="visible"/>
                                      </p:to>
                                    </p:set>
                                    <p:anim calcmode="lin" valueType="num">
                                      <p:cBhvr additive="base">
                                        <p:cTn id="67" dur="500" fill="hold"/>
                                        <p:tgtEl>
                                          <p:spTgt spid="760936"/>
                                        </p:tgtEl>
                                        <p:attrNameLst>
                                          <p:attrName>ppt_x</p:attrName>
                                        </p:attrNameLst>
                                      </p:cBhvr>
                                      <p:tavLst>
                                        <p:tav tm="0">
                                          <p:val>
                                            <p:strVal val="1+#ppt_w/2"/>
                                          </p:val>
                                        </p:tav>
                                        <p:tav tm="100000">
                                          <p:val>
                                            <p:strVal val="#ppt_x"/>
                                          </p:val>
                                        </p:tav>
                                      </p:tavLst>
                                    </p:anim>
                                    <p:anim calcmode="lin" valueType="num">
                                      <p:cBhvr additive="base">
                                        <p:cTn id="68" dur="500" fill="hold"/>
                                        <p:tgtEl>
                                          <p:spTgt spid="7609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0835" grpId="0" autoUpdateAnimBg="0" build="p"/>
      <p:bldP spid="760921" grpId="0" autoUpdateAnimBg="0"/>
      <p:bldP spid="760926" grpId="0" autoUpdateAnimBg="0"/>
      <p:bldP spid="760927" grpId="0" autoUpdateAnimBg="0"/>
      <p:bldP spid="760930" grpId="0" bldLvl="0" animBg="1"/>
      <p:bldP spid="760936" grpId="0" bldLvl="0" animBg="1"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6"/>
          <p:cNvSpPr>
            <a:spLocks noChangeArrowheads="1"/>
          </p:cNvSpPr>
          <p:nvPr/>
        </p:nvSpPr>
        <p:spPr bwMode="auto">
          <a:xfrm>
            <a:off x="2209800" y="717376"/>
            <a:ext cx="30480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lang="zh-CN" altLang="en-US" sz="2000" b="1">
                <a:solidFill>
                  <a:schemeClr val="tx2"/>
                </a:solidFill>
              </a:rPr>
              <a:t>圆心 </a:t>
            </a:r>
            <a:r>
              <a:rPr lang="en-US" altLang="zh-CN" sz="2000" b="1">
                <a:solidFill>
                  <a:schemeClr val="tx2"/>
                </a:solidFill>
              </a:rPr>
              <a:t>O</a:t>
            </a:r>
            <a:r>
              <a:rPr lang="zh-CN" altLang="en-US" sz="2000" b="1">
                <a:solidFill>
                  <a:schemeClr val="tx2"/>
                </a:solidFill>
              </a:rPr>
              <a:t>，半径 </a:t>
            </a:r>
            <a:r>
              <a:rPr lang="en-US" altLang="zh-CN" sz="2000" b="1">
                <a:solidFill>
                  <a:schemeClr val="tx2"/>
                </a:solidFill>
              </a:rPr>
              <a:t>R</a:t>
            </a:r>
            <a:r>
              <a:rPr lang="zh-CN" altLang="en-US" sz="2000" b="1">
                <a:solidFill>
                  <a:schemeClr val="tx2"/>
                </a:solidFill>
              </a:rPr>
              <a:t>（如图）</a:t>
            </a:r>
            <a:endParaRPr lang="zh-CN" altLang="en-US" sz="2000" b="1">
              <a:solidFill>
                <a:schemeClr val="tx1"/>
              </a:solidFill>
            </a:endParaRPr>
          </a:p>
        </p:txBody>
      </p:sp>
      <p:sp>
        <p:nvSpPr>
          <p:cNvPr id="39939" name="Rectangle 7"/>
          <p:cNvSpPr>
            <a:spLocks noChangeArrowheads="1"/>
          </p:cNvSpPr>
          <p:nvPr/>
        </p:nvSpPr>
        <p:spPr bwMode="auto">
          <a:xfrm>
            <a:off x="2667000" y="1403176"/>
            <a:ext cx="18288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lang="zh-CN" altLang="en-US" sz="2000" b="1">
                <a:solidFill>
                  <a:schemeClr val="tx2"/>
                </a:solidFill>
              </a:rPr>
              <a:t>分条：</a:t>
            </a:r>
            <a:r>
              <a:rPr lang="en-US" altLang="zh-CN" sz="2000" b="1">
                <a:solidFill>
                  <a:schemeClr val="tx2"/>
                </a:solidFill>
              </a:rPr>
              <a:t>b=R/10</a:t>
            </a:r>
            <a:endParaRPr lang="en-US" altLang="zh-CN" sz="2000" b="1">
              <a:solidFill>
                <a:schemeClr val="tx1"/>
              </a:solidFill>
            </a:endParaRPr>
          </a:p>
        </p:txBody>
      </p:sp>
      <p:sp>
        <p:nvSpPr>
          <p:cNvPr id="39940" name="Rectangle 8"/>
          <p:cNvSpPr>
            <a:spLocks noChangeArrowheads="1"/>
          </p:cNvSpPr>
          <p:nvPr/>
        </p:nvSpPr>
        <p:spPr bwMode="auto">
          <a:xfrm>
            <a:off x="2590800" y="2241376"/>
            <a:ext cx="2133600" cy="609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lang="zh-CN" altLang="en-US" sz="2000" b="1">
                <a:solidFill>
                  <a:schemeClr val="tx2"/>
                </a:solidFill>
              </a:rPr>
              <a:t>编号：过圆心垂线为 </a:t>
            </a:r>
            <a:r>
              <a:rPr lang="en-US" altLang="zh-CN" sz="2000" b="1">
                <a:solidFill>
                  <a:schemeClr val="tx2"/>
                </a:solidFill>
              </a:rPr>
              <a:t>0# </a:t>
            </a:r>
            <a:r>
              <a:rPr lang="zh-CN" altLang="en-US" sz="2000" b="1">
                <a:solidFill>
                  <a:schemeClr val="tx2"/>
                </a:solidFill>
              </a:rPr>
              <a:t>条中线</a:t>
            </a:r>
            <a:endParaRPr lang="zh-CN" altLang="en-US" sz="2000" b="1">
              <a:solidFill>
                <a:schemeClr val="tx1"/>
              </a:solidFill>
            </a:endParaRPr>
          </a:p>
        </p:txBody>
      </p:sp>
      <p:sp>
        <p:nvSpPr>
          <p:cNvPr id="39941" name="Rectangle 9"/>
          <p:cNvSpPr>
            <a:spLocks noChangeArrowheads="1"/>
          </p:cNvSpPr>
          <p:nvPr/>
        </p:nvSpPr>
        <p:spPr bwMode="auto">
          <a:xfrm>
            <a:off x="2438400" y="3155776"/>
            <a:ext cx="23622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lang="zh-CN" altLang="en-US" sz="2000" b="1" dirty="0">
                <a:solidFill>
                  <a:schemeClr val="tx2"/>
                </a:solidFill>
              </a:rPr>
              <a:t>列表计算  </a:t>
            </a:r>
            <a:r>
              <a:rPr lang="en-US" altLang="zh-CN" sz="2000" b="1" i="1" dirty="0">
                <a:solidFill>
                  <a:schemeClr val="tx2"/>
                </a:solidFill>
              </a:rPr>
              <a:t>l</a:t>
            </a:r>
            <a:r>
              <a:rPr lang="en-US" altLang="zh-CN" sz="2000" b="1" i="1" baseline="-25000" dirty="0">
                <a:solidFill>
                  <a:schemeClr val="tx2"/>
                </a:solidFill>
              </a:rPr>
              <a:t>i</a:t>
            </a:r>
            <a:r>
              <a:rPr lang="en-US" altLang="zh-CN" sz="2000" b="1" dirty="0">
                <a:solidFill>
                  <a:schemeClr val="tx2"/>
                </a:solidFill>
              </a:rPr>
              <a:t>  </a:t>
            </a:r>
            <a:r>
              <a:rPr lang="en-US" altLang="zh-CN" sz="2000" b="1" dirty="0" err="1" smtClean="0">
                <a:solidFill>
                  <a:schemeClr val="tx2"/>
                </a:solidFill>
              </a:rPr>
              <a:t>G</a:t>
            </a:r>
            <a:r>
              <a:rPr lang="en-US" altLang="zh-CN" sz="2000" b="1" i="1" baseline="-25000" dirty="0" err="1" smtClean="0">
                <a:solidFill>
                  <a:schemeClr val="tx2"/>
                </a:solidFill>
              </a:rPr>
              <a:t>i</a:t>
            </a:r>
            <a:r>
              <a:rPr lang="en-US" altLang="zh-CN" sz="2000" b="1" i="1" dirty="0" smtClean="0">
                <a:solidFill>
                  <a:schemeClr val="tx2"/>
                </a:solidFill>
              </a:rPr>
              <a:t>   </a:t>
            </a:r>
            <a:r>
              <a:rPr lang="en-US" altLang="zh-CN" sz="2000" b="1" i="1" dirty="0">
                <a:solidFill>
                  <a:schemeClr val="tx2"/>
                </a:solidFill>
                <a:sym typeface="Symbol" panose="05050102010706020507" pitchFamily="18" charset="2"/>
              </a:rPr>
              <a:t></a:t>
            </a:r>
            <a:r>
              <a:rPr lang="en-US" altLang="zh-CN" sz="2000" b="1" i="1" baseline="-25000" dirty="0" err="1">
                <a:solidFill>
                  <a:schemeClr val="tx2"/>
                </a:solidFill>
              </a:rPr>
              <a:t>i</a:t>
            </a:r>
            <a:endParaRPr lang="en-US" altLang="zh-CN" sz="2000" b="1" i="1" baseline="-25000" dirty="0">
              <a:solidFill>
                <a:schemeClr val="tx2"/>
              </a:solidFill>
            </a:endParaRPr>
          </a:p>
        </p:txBody>
      </p:sp>
      <p:sp>
        <p:nvSpPr>
          <p:cNvPr id="39942" name="Rectangle 10"/>
          <p:cNvSpPr>
            <a:spLocks noChangeArrowheads="1"/>
          </p:cNvSpPr>
          <p:nvPr/>
        </p:nvSpPr>
        <p:spPr bwMode="auto">
          <a:xfrm>
            <a:off x="2133600" y="5136976"/>
            <a:ext cx="33528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lang="zh-CN" altLang="en-US" sz="2000" b="1">
                <a:solidFill>
                  <a:schemeClr val="tx2"/>
                </a:solidFill>
              </a:rPr>
              <a:t>变化圆心 </a:t>
            </a:r>
            <a:r>
              <a:rPr lang="en-US" altLang="zh-CN" sz="2000" b="1">
                <a:solidFill>
                  <a:schemeClr val="tx2"/>
                </a:solidFill>
              </a:rPr>
              <a:t>O </a:t>
            </a:r>
            <a:r>
              <a:rPr lang="zh-CN" altLang="en-US" sz="2000" b="1">
                <a:solidFill>
                  <a:schemeClr val="tx2"/>
                </a:solidFill>
              </a:rPr>
              <a:t>和半径 </a:t>
            </a:r>
            <a:r>
              <a:rPr lang="en-US" altLang="zh-CN" sz="2000" b="1">
                <a:solidFill>
                  <a:schemeClr val="tx2"/>
                </a:solidFill>
              </a:rPr>
              <a:t>R</a:t>
            </a:r>
            <a:endParaRPr lang="en-US" altLang="zh-CN" sz="2000" b="1">
              <a:solidFill>
                <a:schemeClr val="tx2"/>
              </a:solidFill>
            </a:endParaRPr>
          </a:p>
        </p:txBody>
      </p:sp>
      <p:sp>
        <p:nvSpPr>
          <p:cNvPr id="39943" name="Rectangle 12"/>
          <p:cNvSpPr>
            <a:spLocks noChangeArrowheads="1"/>
          </p:cNvSpPr>
          <p:nvPr/>
        </p:nvSpPr>
        <p:spPr bwMode="auto">
          <a:xfrm>
            <a:off x="2895600" y="5822776"/>
            <a:ext cx="14478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lang="en-US" altLang="zh-CN" sz="2000" b="1" dirty="0" smtClean="0">
                <a:solidFill>
                  <a:schemeClr val="tx2"/>
                </a:solidFill>
              </a:rPr>
              <a:t>K </a:t>
            </a:r>
            <a:r>
              <a:rPr lang="zh-CN" altLang="en-US" sz="2000" b="1" dirty="0">
                <a:solidFill>
                  <a:schemeClr val="tx2"/>
                </a:solidFill>
              </a:rPr>
              <a:t>最小</a:t>
            </a:r>
            <a:endParaRPr lang="zh-CN" altLang="en-US" sz="2000" b="1" dirty="0">
              <a:solidFill>
                <a:schemeClr val="tx2"/>
              </a:solidFill>
            </a:endParaRPr>
          </a:p>
        </p:txBody>
      </p:sp>
      <p:sp>
        <p:nvSpPr>
          <p:cNvPr id="39944" name="Rectangle 13"/>
          <p:cNvSpPr>
            <a:spLocks noChangeArrowheads="1"/>
          </p:cNvSpPr>
          <p:nvPr/>
        </p:nvSpPr>
        <p:spPr bwMode="auto">
          <a:xfrm>
            <a:off x="3015816" y="6508576"/>
            <a:ext cx="1283568" cy="3048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lang="en-US" altLang="zh-CN" sz="2000" b="1" dirty="0">
                <a:solidFill>
                  <a:schemeClr val="tx2"/>
                </a:solidFill>
              </a:rPr>
              <a:t>END</a:t>
            </a:r>
            <a:endParaRPr lang="en-US" altLang="zh-CN" sz="2000" b="1" dirty="0">
              <a:solidFill>
                <a:schemeClr val="tx2"/>
              </a:solidFill>
            </a:endParaRPr>
          </a:p>
        </p:txBody>
      </p:sp>
      <p:sp>
        <p:nvSpPr>
          <p:cNvPr id="39945" name="AutoShape 14"/>
          <p:cNvSpPr>
            <a:spLocks noChangeArrowheads="1"/>
          </p:cNvSpPr>
          <p:nvPr/>
        </p:nvSpPr>
        <p:spPr bwMode="auto">
          <a:xfrm>
            <a:off x="3505200" y="1098376"/>
            <a:ext cx="228600" cy="304800"/>
          </a:xfrm>
          <a:prstGeom prst="downArrow">
            <a:avLst>
              <a:gd name="adj1" fmla="val 50000"/>
              <a:gd name="adj2" fmla="val 33333"/>
            </a:avLst>
          </a:prstGeom>
          <a:solidFill>
            <a:srgbClr val="FF66FF"/>
          </a:solidFill>
          <a:ln w="9525">
            <a:solidFill>
              <a:schemeClr val="tx1"/>
            </a:solidFill>
            <a:miter lim="800000"/>
          </a:ln>
        </p:spPr>
        <p:txBody>
          <a:bodyPr vert="eaVert"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39946" name="AutoShape 15"/>
          <p:cNvSpPr>
            <a:spLocks noChangeArrowheads="1"/>
          </p:cNvSpPr>
          <p:nvPr/>
        </p:nvSpPr>
        <p:spPr bwMode="auto">
          <a:xfrm>
            <a:off x="3505200" y="1860376"/>
            <a:ext cx="228600" cy="381000"/>
          </a:xfrm>
          <a:prstGeom prst="downArrow">
            <a:avLst>
              <a:gd name="adj1" fmla="val 50000"/>
              <a:gd name="adj2" fmla="val 41667"/>
            </a:avLst>
          </a:prstGeom>
          <a:solidFill>
            <a:srgbClr val="FF66FF"/>
          </a:solidFill>
          <a:ln w="9525">
            <a:solidFill>
              <a:schemeClr val="tx1"/>
            </a:solidFill>
            <a:miter lim="800000"/>
          </a:ln>
        </p:spPr>
        <p:txBody>
          <a:bodyPr vert="eaVert"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39947" name="AutoShape 16"/>
          <p:cNvSpPr>
            <a:spLocks noChangeArrowheads="1"/>
          </p:cNvSpPr>
          <p:nvPr/>
        </p:nvSpPr>
        <p:spPr bwMode="auto">
          <a:xfrm>
            <a:off x="3505200" y="2850976"/>
            <a:ext cx="228600" cy="304800"/>
          </a:xfrm>
          <a:prstGeom prst="downArrow">
            <a:avLst>
              <a:gd name="adj1" fmla="val 50000"/>
              <a:gd name="adj2" fmla="val 33333"/>
            </a:avLst>
          </a:prstGeom>
          <a:solidFill>
            <a:srgbClr val="FF66FF"/>
          </a:solidFill>
          <a:ln w="9525">
            <a:solidFill>
              <a:schemeClr val="tx1"/>
            </a:solidFill>
            <a:miter lim="800000"/>
          </a:ln>
        </p:spPr>
        <p:txBody>
          <a:bodyPr vert="eaVert"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39948" name="AutoShape 17"/>
          <p:cNvSpPr>
            <a:spLocks noChangeArrowheads="1"/>
          </p:cNvSpPr>
          <p:nvPr/>
        </p:nvSpPr>
        <p:spPr bwMode="auto">
          <a:xfrm>
            <a:off x="3505200" y="3536776"/>
            <a:ext cx="228600" cy="304800"/>
          </a:xfrm>
          <a:prstGeom prst="downArrow">
            <a:avLst>
              <a:gd name="adj1" fmla="val 50000"/>
              <a:gd name="adj2" fmla="val 33333"/>
            </a:avLst>
          </a:prstGeom>
          <a:solidFill>
            <a:srgbClr val="FF66FF"/>
          </a:solidFill>
          <a:ln w="9525">
            <a:solidFill>
              <a:schemeClr val="tx1"/>
            </a:solidFill>
            <a:miter lim="800000"/>
          </a:ln>
        </p:spPr>
        <p:txBody>
          <a:bodyPr vert="eaVert"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39949" name="AutoShape 18"/>
          <p:cNvSpPr>
            <a:spLocks noChangeArrowheads="1"/>
          </p:cNvSpPr>
          <p:nvPr/>
        </p:nvSpPr>
        <p:spPr bwMode="auto">
          <a:xfrm>
            <a:off x="3505200" y="4755976"/>
            <a:ext cx="228600" cy="381000"/>
          </a:xfrm>
          <a:prstGeom prst="downArrow">
            <a:avLst>
              <a:gd name="adj1" fmla="val 50000"/>
              <a:gd name="adj2" fmla="val 41667"/>
            </a:avLst>
          </a:prstGeom>
          <a:solidFill>
            <a:srgbClr val="FF66FF"/>
          </a:solidFill>
          <a:ln w="9525">
            <a:solidFill>
              <a:schemeClr val="tx1"/>
            </a:solidFill>
            <a:miter lim="800000"/>
          </a:ln>
        </p:spPr>
        <p:txBody>
          <a:bodyPr vert="eaVert"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39950" name="AutoShape 19"/>
          <p:cNvSpPr>
            <a:spLocks noChangeArrowheads="1"/>
          </p:cNvSpPr>
          <p:nvPr/>
        </p:nvSpPr>
        <p:spPr bwMode="auto">
          <a:xfrm>
            <a:off x="3505200" y="5517976"/>
            <a:ext cx="228600" cy="304800"/>
          </a:xfrm>
          <a:prstGeom prst="downArrow">
            <a:avLst>
              <a:gd name="adj1" fmla="val 50000"/>
              <a:gd name="adj2" fmla="val 33333"/>
            </a:avLst>
          </a:prstGeom>
          <a:solidFill>
            <a:srgbClr val="FF66FF"/>
          </a:solidFill>
          <a:ln w="9525">
            <a:solidFill>
              <a:schemeClr val="tx1"/>
            </a:solidFill>
            <a:miter lim="800000"/>
          </a:ln>
        </p:spPr>
        <p:txBody>
          <a:bodyPr vert="eaVert"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39951" name="AutoShape 20"/>
          <p:cNvSpPr>
            <a:spLocks noChangeArrowheads="1"/>
          </p:cNvSpPr>
          <p:nvPr/>
        </p:nvSpPr>
        <p:spPr bwMode="auto">
          <a:xfrm>
            <a:off x="3505200" y="6203776"/>
            <a:ext cx="228600" cy="304800"/>
          </a:xfrm>
          <a:prstGeom prst="downArrow">
            <a:avLst>
              <a:gd name="adj1" fmla="val 50000"/>
              <a:gd name="adj2" fmla="val 33333"/>
            </a:avLst>
          </a:prstGeom>
          <a:solidFill>
            <a:srgbClr val="FF66FF"/>
          </a:solidFill>
          <a:ln w="9525">
            <a:solidFill>
              <a:schemeClr val="tx1"/>
            </a:solidFill>
            <a:miter lim="800000"/>
          </a:ln>
        </p:spPr>
        <p:txBody>
          <a:bodyPr vert="eaVert"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grpSp>
        <p:nvGrpSpPr>
          <p:cNvPr id="39952" name="Group 21"/>
          <p:cNvGrpSpPr/>
          <p:nvPr/>
        </p:nvGrpSpPr>
        <p:grpSpPr bwMode="auto">
          <a:xfrm>
            <a:off x="1371600" y="1631776"/>
            <a:ext cx="1295400" cy="3810000"/>
            <a:chOff x="1296" y="672"/>
            <a:chExt cx="816" cy="2400"/>
          </a:xfrm>
        </p:grpSpPr>
        <p:sp>
          <p:nvSpPr>
            <p:cNvPr id="40010" name="AutoShape 22"/>
            <p:cNvSpPr>
              <a:spLocks noChangeArrowheads="1"/>
            </p:cNvSpPr>
            <p:nvPr/>
          </p:nvSpPr>
          <p:spPr bwMode="auto">
            <a:xfrm>
              <a:off x="1296" y="672"/>
              <a:ext cx="816" cy="96"/>
            </a:xfrm>
            <a:prstGeom prst="rightArrow">
              <a:avLst>
                <a:gd name="adj1" fmla="val 50000"/>
                <a:gd name="adj2" fmla="val 212500"/>
              </a:avLst>
            </a:prstGeom>
            <a:solidFill>
              <a:schemeClr val="folHlink"/>
            </a:solidFill>
            <a:ln w="9525">
              <a:solidFill>
                <a:schemeClr val="folHlink"/>
              </a:solidFill>
              <a:miter lim="800000"/>
            </a:ln>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40011" name="AutoShape 23"/>
            <p:cNvSpPr>
              <a:spLocks noChangeArrowheads="1"/>
            </p:cNvSpPr>
            <p:nvPr/>
          </p:nvSpPr>
          <p:spPr bwMode="auto">
            <a:xfrm rot="5400000">
              <a:off x="144" y="1872"/>
              <a:ext cx="2352" cy="48"/>
            </a:xfrm>
            <a:prstGeom prst="flowChartTerminator">
              <a:avLst/>
            </a:prstGeom>
            <a:solidFill>
              <a:schemeClr val="folHlink"/>
            </a:solidFill>
            <a:ln w="9525">
              <a:solidFill>
                <a:schemeClr val="folHlink"/>
              </a:solidFill>
              <a:miter lim="800000"/>
            </a:ln>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40012" name="AutoShape 24"/>
            <p:cNvSpPr>
              <a:spLocks noChangeArrowheads="1"/>
            </p:cNvSpPr>
            <p:nvPr/>
          </p:nvSpPr>
          <p:spPr bwMode="auto">
            <a:xfrm>
              <a:off x="1296" y="3024"/>
              <a:ext cx="480" cy="48"/>
            </a:xfrm>
            <a:prstGeom prst="flowChartTerminator">
              <a:avLst/>
            </a:prstGeom>
            <a:solidFill>
              <a:schemeClr val="folHlink"/>
            </a:solidFill>
            <a:ln w="9525">
              <a:solidFill>
                <a:schemeClr val="folHlink"/>
              </a:solidFill>
              <a:miter lim="800000"/>
            </a:ln>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grpSp>
      <p:grpSp>
        <p:nvGrpSpPr>
          <p:cNvPr id="39953" name="Group 94"/>
          <p:cNvGrpSpPr/>
          <p:nvPr/>
        </p:nvGrpSpPr>
        <p:grpSpPr bwMode="auto">
          <a:xfrm>
            <a:off x="6858000" y="3048000"/>
            <a:ext cx="1524000" cy="3124200"/>
            <a:chOff x="4320" y="1920"/>
            <a:chExt cx="960" cy="1968"/>
          </a:xfrm>
        </p:grpSpPr>
        <p:grpSp>
          <p:nvGrpSpPr>
            <p:cNvPr id="39995" name="Group 38"/>
            <p:cNvGrpSpPr/>
            <p:nvPr/>
          </p:nvGrpSpPr>
          <p:grpSpPr bwMode="auto">
            <a:xfrm>
              <a:off x="4320" y="1920"/>
              <a:ext cx="528" cy="1584"/>
              <a:chOff x="3744" y="864"/>
              <a:chExt cx="432" cy="1584"/>
            </a:xfrm>
          </p:grpSpPr>
          <p:sp>
            <p:nvSpPr>
              <p:cNvPr id="40006" name="Line 39"/>
              <p:cNvSpPr>
                <a:spLocks noChangeShapeType="1"/>
              </p:cNvSpPr>
              <p:nvPr/>
            </p:nvSpPr>
            <p:spPr bwMode="auto">
              <a:xfrm>
                <a:off x="3744" y="1056"/>
                <a:ext cx="0" cy="1392"/>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007" name="Line 40"/>
              <p:cNvSpPr>
                <a:spLocks noChangeShapeType="1"/>
              </p:cNvSpPr>
              <p:nvPr/>
            </p:nvSpPr>
            <p:spPr bwMode="auto">
              <a:xfrm>
                <a:off x="4176" y="864"/>
                <a:ext cx="0" cy="1248"/>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008" name="Line 41"/>
              <p:cNvSpPr>
                <a:spLocks noChangeShapeType="1"/>
              </p:cNvSpPr>
              <p:nvPr/>
            </p:nvSpPr>
            <p:spPr bwMode="auto">
              <a:xfrm flipV="1">
                <a:off x="3744" y="864"/>
                <a:ext cx="432" cy="192"/>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009" name="Line 42"/>
              <p:cNvSpPr>
                <a:spLocks noChangeShapeType="1"/>
              </p:cNvSpPr>
              <p:nvPr/>
            </p:nvSpPr>
            <p:spPr bwMode="auto">
              <a:xfrm flipV="1">
                <a:off x="3744" y="2112"/>
                <a:ext cx="432" cy="336"/>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9996" name="Line 43"/>
            <p:cNvSpPr>
              <a:spLocks noChangeShapeType="1"/>
            </p:cNvSpPr>
            <p:nvPr/>
          </p:nvSpPr>
          <p:spPr bwMode="auto">
            <a:xfrm>
              <a:off x="4560" y="2448"/>
              <a:ext cx="0" cy="336"/>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97" name="Line 44"/>
            <p:cNvSpPr>
              <a:spLocks noChangeShapeType="1"/>
            </p:cNvSpPr>
            <p:nvPr/>
          </p:nvSpPr>
          <p:spPr bwMode="auto">
            <a:xfrm flipV="1">
              <a:off x="4416" y="3264"/>
              <a:ext cx="384" cy="240"/>
            </a:xfrm>
            <a:prstGeom prst="line">
              <a:avLst/>
            </a:prstGeom>
            <a:noFill/>
            <a:ln w="22225">
              <a:solidFill>
                <a:srgbClr val="0000FF"/>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98" name="Line 45"/>
            <p:cNvSpPr>
              <a:spLocks noChangeShapeType="1"/>
            </p:cNvSpPr>
            <p:nvPr/>
          </p:nvSpPr>
          <p:spPr bwMode="auto">
            <a:xfrm rot="10800000">
              <a:off x="4656" y="3408"/>
              <a:ext cx="192" cy="288"/>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99" name="Line 46"/>
            <p:cNvSpPr>
              <a:spLocks noChangeShapeType="1"/>
            </p:cNvSpPr>
            <p:nvPr/>
          </p:nvSpPr>
          <p:spPr bwMode="auto">
            <a:xfrm flipV="1">
              <a:off x="4848" y="2880"/>
              <a:ext cx="384" cy="2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000" name="Line 47"/>
            <p:cNvSpPr>
              <a:spLocks noChangeShapeType="1"/>
            </p:cNvSpPr>
            <p:nvPr/>
          </p:nvSpPr>
          <p:spPr bwMode="auto">
            <a:xfrm>
              <a:off x="4848" y="3168"/>
              <a:ext cx="43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001" name="Freeform 48"/>
            <p:cNvSpPr/>
            <p:nvPr/>
          </p:nvSpPr>
          <p:spPr bwMode="auto">
            <a:xfrm>
              <a:off x="4940" y="3108"/>
              <a:ext cx="49" cy="56"/>
            </a:xfrm>
            <a:custGeom>
              <a:avLst/>
              <a:gdLst>
                <a:gd name="T0" fmla="*/ 0 w 49"/>
                <a:gd name="T1" fmla="*/ 0 h 56"/>
                <a:gd name="T2" fmla="*/ 40 w 49"/>
                <a:gd name="T3" fmla="*/ 32 h 56"/>
                <a:gd name="T4" fmla="*/ 48 w 49"/>
                <a:gd name="T5" fmla="*/ 56 h 56"/>
                <a:gd name="T6" fmla="*/ 0 60000 65536"/>
                <a:gd name="T7" fmla="*/ 0 60000 65536"/>
                <a:gd name="T8" fmla="*/ 0 60000 65536"/>
                <a:gd name="T9" fmla="*/ 0 w 49"/>
                <a:gd name="T10" fmla="*/ 0 h 56"/>
                <a:gd name="T11" fmla="*/ 49 w 49"/>
                <a:gd name="T12" fmla="*/ 56 h 56"/>
              </a:gdLst>
              <a:ahLst/>
              <a:cxnLst>
                <a:cxn ang="T6">
                  <a:pos x="T0" y="T1"/>
                </a:cxn>
                <a:cxn ang="T7">
                  <a:pos x="T2" y="T3"/>
                </a:cxn>
                <a:cxn ang="T8">
                  <a:pos x="T4" y="T5"/>
                </a:cxn>
              </a:cxnLst>
              <a:rect l="T9" t="T10" r="T11" b="T12"/>
              <a:pathLst>
                <a:path w="49" h="56">
                  <a:moveTo>
                    <a:pt x="0" y="0"/>
                  </a:moveTo>
                  <a:cubicBezTo>
                    <a:pt x="20" y="10"/>
                    <a:pt x="20" y="22"/>
                    <a:pt x="40" y="32"/>
                  </a:cubicBezTo>
                  <a:cubicBezTo>
                    <a:pt x="49" y="50"/>
                    <a:pt x="48" y="42"/>
                    <a:pt x="48" y="56"/>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002" name="Rectangle 49"/>
            <p:cNvSpPr>
              <a:spLocks noChangeArrowheads="1"/>
            </p:cNvSpPr>
            <p:nvPr/>
          </p:nvSpPr>
          <p:spPr bwMode="auto">
            <a:xfrm>
              <a:off x="4752" y="3216"/>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T</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baseline="-25000">
                <a:solidFill>
                  <a:srgbClr val="CC3300"/>
                </a:solidFill>
                <a:latin typeface="Times New Roman" panose="02020603050405020304" pitchFamily="18" charset="0"/>
                <a:sym typeface="Symbol" panose="05050102010706020507" pitchFamily="18" charset="2"/>
              </a:endParaRPr>
            </a:p>
          </p:txBody>
        </p:sp>
        <p:sp>
          <p:nvSpPr>
            <p:cNvPr id="40003" name="Rectangle 50"/>
            <p:cNvSpPr>
              <a:spLocks noChangeArrowheads="1"/>
            </p:cNvSpPr>
            <p:nvPr/>
          </p:nvSpPr>
          <p:spPr bwMode="auto">
            <a:xfrm>
              <a:off x="4784" y="360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N</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a:solidFill>
                  <a:srgbClr val="CC3300"/>
                </a:solidFill>
                <a:latin typeface="Times New Roman" panose="02020603050405020304" pitchFamily="18" charset="0"/>
                <a:sym typeface="Symbol" panose="05050102010706020507" pitchFamily="18" charset="2"/>
              </a:endParaRPr>
            </a:p>
          </p:txBody>
        </p:sp>
        <p:sp>
          <p:nvSpPr>
            <p:cNvPr id="40004" name="Rectangle 51"/>
            <p:cNvSpPr>
              <a:spLocks noChangeArrowheads="1"/>
            </p:cNvSpPr>
            <p:nvPr/>
          </p:nvSpPr>
          <p:spPr bwMode="auto">
            <a:xfrm>
              <a:off x="4944" y="2928"/>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993300"/>
                  </a:solidFill>
                  <a:latin typeface="Times New Roman" panose="02020603050405020304" pitchFamily="18" charset="0"/>
                  <a:sym typeface="Symbol" panose="05050102010706020507" pitchFamily="18" charset="2"/>
                </a:rPr>
                <a:t></a:t>
              </a:r>
              <a:r>
                <a:rPr kumimoji="1" lang="en-US" altLang="zh-CN" sz="2400" b="1" i="1" baseline="-25000">
                  <a:solidFill>
                    <a:srgbClr val="993300"/>
                  </a:solidFill>
                  <a:latin typeface="Times New Roman" panose="02020603050405020304" pitchFamily="18" charset="0"/>
                  <a:sym typeface="Symbol" panose="05050102010706020507" pitchFamily="18" charset="2"/>
                </a:rPr>
                <a:t>i</a:t>
              </a:r>
              <a:endParaRPr kumimoji="1" lang="en-US" altLang="zh-CN" sz="2400" b="1" i="1" baseline="-25000">
                <a:solidFill>
                  <a:srgbClr val="993300"/>
                </a:solidFill>
                <a:latin typeface="Times New Roman" panose="02020603050405020304" pitchFamily="18" charset="0"/>
                <a:sym typeface="Symbol" panose="05050102010706020507" pitchFamily="18" charset="2"/>
              </a:endParaRPr>
            </a:p>
          </p:txBody>
        </p:sp>
        <p:sp>
          <p:nvSpPr>
            <p:cNvPr id="40005" name="Rectangle 52"/>
            <p:cNvSpPr>
              <a:spLocks noChangeArrowheads="1"/>
            </p:cNvSpPr>
            <p:nvPr/>
          </p:nvSpPr>
          <p:spPr bwMode="auto">
            <a:xfrm>
              <a:off x="4416" y="2784"/>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err="1" smtClean="0">
                  <a:solidFill>
                    <a:srgbClr val="CC3300"/>
                  </a:solidFill>
                  <a:latin typeface="Times New Roman" panose="02020603050405020304" pitchFamily="18" charset="0"/>
                  <a:sym typeface="Symbol" panose="05050102010706020507" pitchFamily="18" charset="2"/>
                </a:rPr>
                <a:t>G</a:t>
              </a:r>
              <a:r>
                <a:rPr kumimoji="1" lang="en-US" altLang="zh-CN" sz="2400" b="1" i="1" baseline="-25000" dirty="0" err="1" smtClean="0">
                  <a:solidFill>
                    <a:srgbClr val="CC3300"/>
                  </a:solidFill>
                  <a:latin typeface="Times New Roman" panose="02020603050405020304" pitchFamily="18" charset="0"/>
                  <a:sym typeface="Symbol" panose="05050102010706020507" pitchFamily="18" charset="2"/>
                </a:rPr>
                <a:t>i</a:t>
              </a:r>
              <a:endParaRPr kumimoji="1" lang="en-US" altLang="zh-CN" sz="2400" b="1" i="1" baseline="-25000" dirty="0">
                <a:solidFill>
                  <a:srgbClr val="CC3300"/>
                </a:solidFill>
                <a:latin typeface="Times New Roman" panose="02020603050405020304" pitchFamily="18" charset="0"/>
                <a:sym typeface="Symbol" panose="05050102010706020507" pitchFamily="18" charset="2"/>
              </a:endParaRPr>
            </a:p>
          </p:txBody>
        </p:sp>
      </p:grpSp>
      <p:grpSp>
        <p:nvGrpSpPr>
          <p:cNvPr id="39954" name="Group 53"/>
          <p:cNvGrpSpPr/>
          <p:nvPr/>
        </p:nvGrpSpPr>
        <p:grpSpPr bwMode="auto">
          <a:xfrm>
            <a:off x="4876800" y="152400"/>
            <a:ext cx="4267200" cy="3090863"/>
            <a:chOff x="2976" y="117"/>
            <a:chExt cx="2688" cy="1947"/>
          </a:xfrm>
        </p:grpSpPr>
        <p:sp>
          <p:nvSpPr>
            <p:cNvPr id="39957" name="Text Box 54"/>
            <p:cNvSpPr txBox="1">
              <a:spLocks noChangeArrowheads="1"/>
            </p:cNvSpPr>
            <p:nvPr/>
          </p:nvSpPr>
          <p:spPr bwMode="auto">
            <a:xfrm>
              <a:off x="2976" y="1737"/>
              <a:ext cx="41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dirty="0" smtClean="0">
                  <a:solidFill>
                    <a:schemeClr val="tx1"/>
                  </a:solidFill>
                  <a:latin typeface="Times New Roman" panose="02020603050405020304" pitchFamily="18" charset="0"/>
                </a:rPr>
                <a:t>C</a:t>
              </a:r>
              <a:endParaRPr kumimoji="1" lang="en-US" altLang="zh-CN" sz="2800" b="1" dirty="0">
                <a:solidFill>
                  <a:schemeClr val="tx1"/>
                </a:solidFill>
                <a:latin typeface="Times New Roman" panose="02020603050405020304" pitchFamily="18" charset="0"/>
              </a:endParaRPr>
            </a:p>
          </p:txBody>
        </p:sp>
        <p:grpSp>
          <p:nvGrpSpPr>
            <p:cNvPr id="39958" name="Group 55"/>
            <p:cNvGrpSpPr/>
            <p:nvPr/>
          </p:nvGrpSpPr>
          <p:grpSpPr bwMode="auto">
            <a:xfrm>
              <a:off x="3052" y="117"/>
              <a:ext cx="2612" cy="1921"/>
              <a:chOff x="2633" y="1296"/>
              <a:chExt cx="3079" cy="2016"/>
            </a:xfrm>
          </p:grpSpPr>
          <p:sp>
            <p:nvSpPr>
              <p:cNvPr id="39976" name="Freeform 56"/>
              <p:cNvSpPr/>
              <p:nvPr/>
            </p:nvSpPr>
            <p:spPr bwMode="auto">
              <a:xfrm>
                <a:off x="2633" y="2032"/>
                <a:ext cx="3022" cy="1189"/>
              </a:xfrm>
              <a:custGeom>
                <a:avLst/>
                <a:gdLst>
                  <a:gd name="T0" fmla="*/ 0 w 1785"/>
                  <a:gd name="T1" fmla="*/ 2496 h 763"/>
                  <a:gd name="T2" fmla="*/ 1339 w 1785"/>
                  <a:gd name="T3" fmla="*/ 2506 h 763"/>
                  <a:gd name="T4" fmla="*/ 6647 w 1785"/>
                  <a:gd name="T5" fmla="*/ 0 h 763"/>
                  <a:gd name="T6" fmla="*/ 8661 w 1785"/>
                  <a:gd name="T7" fmla="*/ 0 h 763"/>
                  <a:gd name="T8" fmla="*/ 7920 w 1785"/>
                  <a:gd name="T9" fmla="*/ 0 h 763"/>
                  <a:gd name="T10" fmla="*/ 7652 w 1785"/>
                  <a:gd name="T11" fmla="*/ 597 h 763"/>
                  <a:gd name="T12" fmla="*/ 7254 w 1785"/>
                  <a:gd name="T13" fmla="*/ 1153 h 763"/>
                  <a:gd name="T14" fmla="*/ 6931 w 1785"/>
                  <a:gd name="T15" fmla="*/ 1487 h 763"/>
                  <a:gd name="T16" fmla="*/ 6589 w 1785"/>
                  <a:gd name="T17" fmla="*/ 1797 h 763"/>
                  <a:gd name="T18" fmla="*/ 6091 w 1785"/>
                  <a:gd name="T19" fmla="*/ 2135 h 763"/>
                  <a:gd name="T20" fmla="*/ 5484 w 1785"/>
                  <a:gd name="T21" fmla="*/ 2453 h 763"/>
                  <a:gd name="T22" fmla="*/ 5018 w 1785"/>
                  <a:gd name="T23" fmla="*/ 2615 h 763"/>
                  <a:gd name="T24" fmla="*/ 4425 w 1785"/>
                  <a:gd name="T25" fmla="*/ 2752 h 763"/>
                  <a:gd name="T26" fmla="*/ 3887 w 1785"/>
                  <a:gd name="T27" fmla="*/ 2841 h 763"/>
                  <a:gd name="T28" fmla="*/ 3213 w 1785"/>
                  <a:gd name="T29" fmla="*/ 2888 h 763"/>
                  <a:gd name="T30" fmla="*/ 2760 w 1785"/>
                  <a:gd name="T31" fmla="*/ 2888 h 763"/>
                  <a:gd name="T32" fmla="*/ 2255 w 1785"/>
                  <a:gd name="T33" fmla="*/ 2861 h 763"/>
                  <a:gd name="T34" fmla="*/ 1639 w 1785"/>
                  <a:gd name="T35" fmla="*/ 2771 h 763"/>
                  <a:gd name="T36" fmla="*/ 1150 w 1785"/>
                  <a:gd name="T37" fmla="*/ 2652 h 763"/>
                  <a:gd name="T38" fmla="*/ 733 w 1785"/>
                  <a:gd name="T39" fmla="*/ 2523 h 763"/>
                  <a:gd name="T40" fmla="*/ 650 w 1785"/>
                  <a:gd name="T41" fmla="*/ 2506 h 76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785"/>
                  <a:gd name="T64" fmla="*/ 0 h 763"/>
                  <a:gd name="T65" fmla="*/ 1785 w 1785"/>
                  <a:gd name="T66" fmla="*/ 763 h 76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785" h="763">
                    <a:moveTo>
                      <a:pt x="0" y="660"/>
                    </a:moveTo>
                    <a:lnTo>
                      <a:pt x="276" y="662"/>
                    </a:lnTo>
                    <a:lnTo>
                      <a:pt x="1370" y="0"/>
                    </a:lnTo>
                    <a:lnTo>
                      <a:pt x="1785" y="0"/>
                    </a:lnTo>
                    <a:lnTo>
                      <a:pt x="1632" y="0"/>
                    </a:lnTo>
                    <a:lnTo>
                      <a:pt x="1577" y="158"/>
                    </a:lnTo>
                    <a:lnTo>
                      <a:pt x="1495" y="305"/>
                    </a:lnTo>
                    <a:lnTo>
                      <a:pt x="1428" y="393"/>
                    </a:lnTo>
                    <a:lnTo>
                      <a:pt x="1358" y="475"/>
                    </a:lnTo>
                    <a:lnTo>
                      <a:pt x="1255" y="564"/>
                    </a:lnTo>
                    <a:lnTo>
                      <a:pt x="1130" y="648"/>
                    </a:lnTo>
                    <a:lnTo>
                      <a:pt x="1034" y="691"/>
                    </a:lnTo>
                    <a:lnTo>
                      <a:pt x="912" y="727"/>
                    </a:lnTo>
                    <a:lnTo>
                      <a:pt x="801" y="751"/>
                    </a:lnTo>
                    <a:lnTo>
                      <a:pt x="662" y="763"/>
                    </a:lnTo>
                    <a:lnTo>
                      <a:pt x="569" y="763"/>
                    </a:lnTo>
                    <a:lnTo>
                      <a:pt x="465" y="756"/>
                    </a:lnTo>
                    <a:lnTo>
                      <a:pt x="338" y="732"/>
                    </a:lnTo>
                    <a:lnTo>
                      <a:pt x="237" y="701"/>
                    </a:lnTo>
                    <a:lnTo>
                      <a:pt x="151" y="667"/>
                    </a:lnTo>
                    <a:lnTo>
                      <a:pt x="134" y="662"/>
                    </a:lnTo>
                  </a:path>
                </a:pathLst>
              </a:custGeom>
              <a:solidFill>
                <a:srgbClr val="66FF66">
                  <a:alpha val="50195"/>
                </a:srgbClr>
              </a:solidFill>
              <a:ln w="38100">
                <a:solidFill>
                  <a:srgbClr val="008000"/>
                </a:solidFill>
                <a:round/>
              </a:ln>
            </p:spPr>
            <p:txBody>
              <a:bodyPr/>
              <a:lstStyle/>
              <a:p>
                <a:endParaRPr lang="zh-CN" altLang="en-US"/>
              </a:p>
            </p:txBody>
          </p:sp>
          <p:sp>
            <p:nvSpPr>
              <p:cNvPr id="39977" name="Line 57"/>
              <p:cNvSpPr>
                <a:spLocks noChangeShapeType="1"/>
              </p:cNvSpPr>
              <p:nvPr/>
            </p:nvSpPr>
            <p:spPr bwMode="auto">
              <a:xfrm flipV="1">
                <a:off x="3121" y="3045"/>
                <a:ext cx="0" cy="104"/>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78" name="Line 58"/>
              <p:cNvSpPr>
                <a:spLocks noChangeShapeType="1"/>
              </p:cNvSpPr>
              <p:nvPr/>
            </p:nvSpPr>
            <p:spPr bwMode="auto">
              <a:xfrm flipV="1">
                <a:off x="3327" y="2932"/>
                <a:ext cx="0" cy="26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79" name="Line 59"/>
              <p:cNvSpPr>
                <a:spLocks noChangeShapeType="1"/>
              </p:cNvSpPr>
              <p:nvPr/>
            </p:nvSpPr>
            <p:spPr bwMode="auto">
              <a:xfrm flipV="1">
                <a:off x="3563" y="2826"/>
                <a:ext cx="0" cy="40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80" name="Line 60"/>
              <p:cNvSpPr>
                <a:spLocks noChangeShapeType="1"/>
              </p:cNvSpPr>
              <p:nvPr/>
            </p:nvSpPr>
            <p:spPr bwMode="auto">
              <a:xfrm flipH="1" flipV="1">
                <a:off x="3803" y="2660"/>
                <a:ext cx="0" cy="55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81" name="Line 61"/>
              <p:cNvSpPr>
                <a:spLocks noChangeShapeType="1"/>
              </p:cNvSpPr>
              <p:nvPr/>
            </p:nvSpPr>
            <p:spPr bwMode="auto">
              <a:xfrm flipH="1" flipV="1">
                <a:off x="4035" y="2535"/>
                <a:ext cx="0" cy="656"/>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82" name="Line 62"/>
              <p:cNvSpPr>
                <a:spLocks noChangeShapeType="1"/>
              </p:cNvSpPr>
              <p:nvPr/>
            </p:nvSpPr>
            <p:spPr bwMode="auto">
              <a:xfrm flipV="1">
                <a:off x="4253" y="2409"/>
                <a:ext cx="0" cy="737"/>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83" name="Line 63"/>
              <p:cNvSpPr>
                <a:spLocks noChangeShapeType="1"/>
              </p:cNvSpPr>
              <p:nvPr/>
            </p:nvSpPr>
            <p:spPr bwMode="auto">
              <a:xfrm flipH="1" flipV="1">
                <a:off x="4511" y="2269"/>
                <a:ext cx="0" cy="78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84" name="Line 64"/>
              <p:cNvSpPr>
                <a:spLocks noChangeShapeType="1"/>
              </p:cNvSpPr>
              <p:nvPr/>
            </p:nvSpPr>
            <p:spPr bwMode="auto">
              <a:xfrm flipV="1">
                <a:off x="4740" y="2147"/>
                <a:ext cx="0" cy="766"/>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85" name="Line 65"/>
              <p:cNvSpPr>
                <a:spLocks noChangeShapeType="1"/>
              </p:cNvSpPr>
              <p:nvPr/>
            </p:nvSpPr>
            <p:spPr bwMode="auto">
              <a:xfrm>
                <a:off x="4949" y="2024"/>
                <a:ext cx="0" cy="73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86" name="Line 66"/>
              <p:cNvSpPr>
                <a:spLocks noChangeShapeType="1"/>
              </p:cNvSpPr>
              <p:nvPr/>
            </p:nvSpPr>
            <p:spPr bwMode="auto">
              <a:xfrm>
                <a:off x="5172" y="2032"/>
                <a:ext cx="0" cy="457"/>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87" name="Line 67"/>
              <p:cNvSpPr>
                <a:spLocks noChangeShapeType="1"/>
              </p:cNvSpPr>
              <p:nvPr/>
            </p:nvSpPr>
            <p:spPr bwMode="auto">
              <a:xfrm flipH="1">
                <a:off x="2886" y="1556"/>
                <a:ext cx="787" cy="1496"/>
              </a:xfrm>
              <a:prstGeom prst="line">
                <a:avLst/>
              </a:prstGeom>
              <a:noFill/>
              <a:ln w="38100">
                <a:solidFill>
                  <a:srgbClr val="CC0099"/>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88" name="Line 68"/>
              <p:cNvSpPr>
                <a:spLocks noChangeShapeType="1"/>
              </p:cNvSpPr>
              <p:nvPr/>
            </p:nvSpPr>
            <p:spPr bwMode="auto">
              <a:xfrm>
                <a:off x="3670" y="1553"/>
                <a:ext cx="1734" cy="479"/>
              </a:xfrm>
              <a:prstGeom prst="line">
                <a:avLst/>
              </a:prstGeom>
              <a:noFill/>
              <a:ln w="38100">
                <a:solidFill>
                  <a:srgbClr val="0000CC"/>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89" name="Line 69"/>
              <p:cNvSpPr>
                <a:spLocks noChangeShapeType="1"/>
              </p:cNvSpPr>
              <p:nvPr/>
            </p:nvSpPr>
            <p:spPr bwMode="auto">
              <a:xfrm>
                <a:off x="3678" y="1545"/>
                <a:ext cx="5" cy="1767"/>
              </a:xfrm>
              <a:prstGeom prst="line">
                <a:avLst/>
              </a:prstGeom>
              <a:noFill/>
              <a:ln w="28575">
                <a:solidFill>
                  <a:srgbClr val="CC00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90" name="Line 70"/>
              <p:cNvSpPr>
                <a:spLocks noChangeShapeType="1"/>
              </p:cNvSpPr>
              <p:nvPr/>
            </p:nvSpPr>
            <p:spPr bwMode="auto">
              <a:xfrm>
                <a:off x="3670" y="1541"/>
                <a:ext cx="745" cy="1556"/>
              </a:xfrm>
              <a:prstGeom prst="line">
                <a:avLst/>
              </a:prstGeom>
              <a:noFill/>
              <a:ln w="38100">
                <a:solidFill>
                  <a:srgbClr val="CC00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91" name="Freeform 71"/>
              <p:cNvSpPr/>
              <p:nvPr/>
            </p:nvSpPr>
            <p:spPr bwMode="auto">
              <a:xfrm>
                <a:off x="3673" y="1934"/>
                <a:ext cx="174" cy="37"/>
              </a:xfrm>
              <a:custGeom>
                <a:avLst/>
                <a:gdLst>
                  <a:gd name="T0" fmla="*/ 0 w 103"/>
                  <a:gd name="T1" fmla="*/ 80 h 24"/>
                  <a:gd name="T2" fmla="*/ 162 w 103"/>
                  <a:gd name="T3" fmla="*/ 88 h 24"/>
                  <a:gd name="T4" fmla="*/ 372 w 103"/>
                  <a:gd name="T5" fmla="*/ 62 h 24"/>
                  <a:gd name="T6" fmla="*/ 497 w 103"/>
                  <a:gd name="T7" fmla="*/ 0 h 24"/>
                  <a:gd name="T8" fmla="*/ 0 60000 65536"/>
                  <a:gd name="T9" fmla="*/ 0 60000 65536"/>
                  <a:gd name="T10" fmla="*/ 0 60000 65536"/>
                  <a:gd name="T11" fmla="*/ 0 60000 65536"/>
                  <a:gd name="T12" fmla="*/ 0 w 103"/>
                  <a:gd name="T13" fmla="*/ 0 h 24"/>
                  <a:gd name="T14" fmla="*/ 103 w 103"/>
                  <a:gd name="T15" fmla="*/ 24 h 24"/>
                </a:gdLst>
                <a:ahLst/>
                <a:cxnLst>
                  <a:cxn ang="T8">
                    <a:pos x="T0" y="T1"/>
                  </a:cxn>
                  <a:cxn ang="T9">
                    <a:pos x="T2" y="T3"/>
                  </a:cxn>
                  <a:cxn ang="T10">
                    <a:pos x="T4" y="T5"/>
                  </a:cxn>
                  <a:cxn ang="T11">
                    <a:pos x="T6" y="T7"/>
                  </a:cxn>
                </a:cxnLst>
                <a:rect l="T12" t="T13" r="T14" b="T15"/>
                <a:pathLst>
                  <a:path w="103" h="24">
                    <a:moveTo>
                      <a:pt x="0" y="22"/>
                    </a:moveTo>
                    <a:lnTo>
                      <a:pt x="34" y="24"/>
                    </a:lnTo>
                    <a:lnTo>
                      <a:pt x="77" y="17"/>
                    </a:lnTo>
                    <a:lnTo>
                      <a:pt x="103" y="0"/>
                    </a:lnTo>
                  </a:path>
                </a:pathLst>
              </a:custGeom>
              <a:noFill/>
              <a:ln w="38100">
                <a:solidFill>
                  <a:srgbClr val="CC0099"/>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992" name="Text Box 72"/>
              <p:cNvSpPr txBox="1">
                <a:spLocks noChangeArrowheads="1"/>
              </p:cNvSpPr>
              <p:nvPr/>
            </p:nvSpPr>
            <p:spPr bwMode="auto">
              <a:xfrm>
                <a:off x="3357" y="1296"/>
                <a:ext cx="486"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chemeClr val="tx1"/>
                    </a:solidFill>
                    <a:latin typeface="Times New Roman" panose="02020603050405020304" pitchFamily="18" charset="0"/>
                  </a:rPr>
                  <a:t>O</a:t>
                </a:r>
                <a:endParaRPr kumimoji="1" lang="en-US" altLang="zh-CN" sz="2800" b="1">
                  <a:solidFill>
                    <a:schemeClr val="tx1"/>
                  </a:solidFill>
                  <a:latin typeface="Times New Roman" panose="02020603050405020304" pitchFamily="18" charset="0"/>
                </a:endParaRPr>
              </a:p>
            </p:txBody>
          </p:sp>
          <p:sp>
            <p:nvSpPr>
              <p:cNvPr id="39993" name="Text Box 73"/>
              <p:cNvSpPr txBox="1">
                <a:spLocks noChangeArrowheads="1"/>
              </p:cNvSpPr>
              <p:nvPr/>
            </p:nvSpPr>
            <p:spPr bwMode="auto">
              <a:xfrm>
                <a:off x="4331" y="1350"/>
                <a:ext cx="409"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0000CC"/>
                    </a:solidFill>
                    <a:latin typeface="Times New Roman" panose="02020603050405020304" pitchFamily="18" charset="0"/>
                  </a:rPr>
                  <a:t>R</a:t>
                </a:r>
                <a:endParaRPr kumimoji="1" lang="en-US" altLang="zh-CN" sz="2800" b="1">
                  <a:solidFill>
                    <a:srgbClr val="0000CC"/>
                  </a:solidFill>
                  <a:latin typeface="Times New Roman" panose="02020603050405020304" pitchFamily="18" charset="0"/>
                </a:endParaRPr>
              </a:p>
            </p:txBody>
          </p:sp>
          <p:sp>
            <p:nvSpPr>
              <p:cNvPr id="39994" name="Text Box 74"/>
              <p:cNvSpPr txBox="1">
                <a:spLocks noChangeArrowheads="1"/>
              </p:cNvSpPr>
              <p:nvPr/>
            </p:nvSpPr>
            <p:spPr bwMode="auto">
              <a:xfrm>
                <a:off x="5142" y="1577"/>
                <a:ext cx="570"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dirty="0" smtClean="0">
                    <a:solidFill>
                      <a:schemeClr val="tx1"/>
                    </a:solidFill>
                    <a:latin typeface="Times New Roman" panose="02020603050405020304" pitchFamily="18" charset="0"/>
                  </a:rPr>
                  <a:t>A</a:t>
                </a:r>
                <a:endParaRPr kumimoji="1" lang="en-US" altLang="zh-CN" sz="2800" b="1" dirty="0">
                  <a:solidFill>
                    <a:schemeClr val="tx1"/>
                  </a:solidFill>
                  <a:latin typeface="Times New Roman" panose="02020603050405020304" pitchFamily="18" charset="0"/>
                </a:endParaRPr>
              </a:p>
            </p:txBody>
          </p:sp>
        </p:grpSp>
        <p:sp>
          <p:nvSpPr>
            <p:cNvPr id="39959" name="Text Box 75"/>
            <p:cNvSpPr txBox="1">
              <a:spLocks noChangeArrowheads="1"/>
            </p:cNvSpPr>
            <p:nvPr/>
          </p:nvSpPr>
          <p:spPr bwMode="auto">
            <a:xfrm>
              <a:off x="3888" y="720"/>
              <a:ext cx="40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900" b="1">
                  <a:solidFill>
                    <a:srgbClr val="FF0000"/>
                  </a:solidFill>
                  <a:latin typeface="Times New Roman" panose="02020603050405020304" pitchFamily="18" charset="0"/>
                  <a:sym typeface="Symbol" panose="05050102010706020507" pitchFamily="18" charset="2"/>
                </a:rPr>
                <a:t> </a:t>
              </a:r>
              <a:r>
                <a:rPr kumimoji="1" lang="en-US" altLang="zh-CN" sz="2800" b="1">
                  <a:solidFill>
                    <a:srgbClr val="FF0000"/>
                  </a:solidFill>
                  <a:latin typeface="Times New Roman" panose="02020603050405020304" pitchFamily="18" charset="0"/>
                  <a:sym typeface="Symbol" panose="05050102010706020507" pitchFamily="18" charset="2"/>
                </a:rPr>
                <a:t></a:t>
              </a:r>
              <a:r>
                <a:rPr kumimoji="1" lang="en-US" altLang="zh-CN" sz="2800" b="1" i="1" baseline="-25000">
                  <a:solidFill>
                    <a:srgbClr val="FF0000"/>
                  </a:solidFill>
                  <a:latin typeface="Times New Roman" panose="02020603050405020304" pitchFamily="18" charset="0"/>
                  <a:sym typeface="Symbol" panose="05050102010706020507" pitchFamily="18" charset="2"/>
                </a:rPr>
                <a:t>i</a:t>
              </a:r>
              <a:endParaRPr kumimoji="1" lang="en-US" altLang="zh-CN" sz="2800" b="1" i="1" baseline="-25000">
                <a:solidFill>
                  <a:srgbClr val="FF0000"/>
                </a:solidFill>
                <a:latin typeface="Times New Roman" panose="02020603050405020304" pitchFamily="18" charset="0"/>
              </a:endParaRPr>
            </a:p>
          </p:txBody>
        </p:sp>
        <p:sp>
          <p:nvSpPr>
            <p:cNvPr id="39960" name="Line 76"/>
            <p:cNvSpPr>
              <a:spLocks noChangeShapeType="1"/>
            </p:cNvSpPr>
            <p:nvPr/>
          </p:nvSpPr>
          <p:spPr bwMode="auto">
            <a:xfrm flipV="1">
              <a:off x="4436" y="879"/>
              <a:ext cx="0" cy="313"/>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61" name="Line 77"/>
            <p:cNvSpPr>
              <a:spLocks noChangeShapeType="1"/>
            </p:cNvSpPr>
            <p:nvPr/>
          </p:nvSpPr>
          <p:spPr bwMode="auto">
            <a:xfrm flipV="1">
              <a:off x="4639" y="872"/>
              <a:ext cx="0" cy="183"/>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62" name="Line 78"/>
            <p:cNvSpPr>
              <a:spLocks noChangeShapeType="1"/>
            </p:cNvSpPr>
            <p:nvPr/>
          </p:nvSpPr>
          <p:spPr bwMode="auto">
            <a:xfrm>
              <a:off x="4429" y="956"/>
              <a:ext cx="210" cy="0"/>
            </a:xfrm>
            <a:prstGeom prst="line">
              <a:avLst/>
            </a:prstGeom>
            <a:noFill/>
            <a:ln w="28575">
              <a:solidFill>
                <a:srgbClr val="0000CC"/>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63" name="Text Box 79"/>
            <p:cNvSpPr txBox="1">
              <a:spLocks noChangeArrowheads="1"/>
            </p:cNvSpPr>
            <p:nvPr/>
          </p:nvSpPr>
          <p:spPr bwMode="auto">
            <a:xfrm>
              <a:off x="4442" y="667"/>
              <a:ext cx="24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0000FF"/>
                  </a:solidFill>
                  <a:latin typeface="Times New Roman" panose="02020603050405020304" pitchFamily="18" charset="0"/>
                </a:rPr>
                <a:t>b</a:t>
              </a:r>
              <a:endParaRPr kumimoji="1" lang="en-US" altLang="zh-CN" sz="2800" b="1">
                <a:solidFill>
                  <a:srgbClr val="0000FF"/>
                </a:solidFill>
                <a:latin typeface="Times New Roman" panose="02020603050405020304" pitchFamily="18" charset="0"/>
              </a:endParaRPr>
            </a:p>
          </p:txBody>
        </p:sp>
        <p:sp>
          <p:nvSpPr>
            <p:cNvPr id="39964" name="Text Box 80"/>
            <p:cNvSpPr txBox="1">
              <a:spLocks noChangeArrowheads="1"/>
            </p:cNvSpPr>
            <p:nvPr/>
          </p:nvSpPr>
          <p:spPr bwMode="auto">
            <a:xfrm>
              <a:off x="4752" y="624"/>
              <a:ext cx="2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chemeClr val="tx1"/>
                  </a:solidFill>
                  <a:latin typeface="Times New Roman" panose="02020603050405020304" pitchFamily="18" charset="0"/>
                </a:rPr>
                <a:t>B</a:t>
              </a:r>
              <a:endParaRPr kumimoji="1" lang="en-US" altLang="zh-CN" sz="2800" b="1">
                <a:solidFill>
                  <a:schemeClr val="tx1"/>
                </a:solidFill>
                <a:latin typeface="Times New Roman" panose="02020603050405020304" pitchFamily="18" charset="0"/>
              </a:endParaRPr>
            </a:p>
          </p:txBody>
        </p:sp>
        <p:grpSp>
          <p:nvGrpSpPr>
            <p:cNvPr id="39965" name="Group 81"/>
            <p:cNvGrpSpPr/>
            <p:nvPr/>
          </p:nvGrpSpPr>
          <p:grpSpPr bwMode="auto">
            <a:xfrm>
              <a:off x="3408" y="864"/>
              <a:ext cx="2064" cy="1085"/>
              <a:chOff x="3072" y="2016"/>
              <a:chExt cx="2400" cy="1272"/>
            </a:xfrm>
          </p:grpSpPr>
          <p:sp>
            <p:nvSpPr>
              <p:cNvPr id="39966" name="Text Box 82"/>
              <p:cNvSpPr txBox="1">
                <a:spLocks noChangeArrowheads="1"/>
              </p:cNvSpPr>
              <p:nvPr/>
            </p:nvSpPr>
            <p:spPr bwMode="auto">
              <a:xfrm>
                <a:off x="3072" y="2927"/>
                <a:ext cx="336"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600" b="1">
                    <a:solidFill>
                      <a:srgbClr val="FF6600"/>
                    </a:solidFill>
                    <a:latin typeface="Times New Roman" panose="02020603050405020304" pitchFamily="18" charset="0"/>
                  </a:rPr>
                  <a:t>-2</a:t>
                </a:r>
                <a:endParaRPr kumimoji="1" lang="en-US" altLang="zh-CN" sz="2600" b="1">
                  <a:solidFill>
                    <a:srgbClr val="FF6600"/>
                  </a:solidFill>
                  <a:latin typeface="Times New Roman" panose="02020603050405020304" pitchFamily="18" charset="0"/>
                </a:endParaRPr>
              </a:p>
            </p:txBody>
          </p:sp>
          <p:sp>
            <p:nvSpPr>
              <p:cNvPr id="39967" name="Text Box 83"/>
              <p:cNvSpPr txBox="1">
                <a:spLocks noChangeArrowheads="1"/>
              </p:cNvSpPr>
              <p:nvPr/>
            </p:nvSpPr>
            <p:spPr bwMode="auto">
              <a:xfrm>
                <a:off x="3305" y="2894"/>
                <a:ext cx="334"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FF6600"/>
                    </a:solidFill>
                    <a:latin typeface="Times New Roman" panose="02020603050405020304" pitchFamily="18" charset="0"/>
                  </a:rPr>
                  <a:t>-1</a:t>
                </a:r>
                <a:endParaRPr kumimoji="1" lang="en-US" altLang="zh-CN" sz="2400" b="1">
                  <a:solidFill>
                    <a:srgbClr val="FF6600"/>
                  </a:solidFill>
                  <a:latin typeface="Times New Roman" panose="02020603050405020304" pitchFamily="18" charset="0"/>
                </a:endParaRPr>
              </a:p>
            </p:txBody>
          </p:sp>
          <p:sp>
            <p:nvSpPr>
              <p:cNvPr id="39968" name="Text Box 84"/>
              <p:cNvSpPr txBox="1">
                <a:spLocks noChangeArrowheads="1"/>
              </p:cNvSpPr>
              <p:nvPr/>
            </p:nvSpPr>
            <p:spPr bwMode="auto">
              <a:xfrm>
                <a:off x="3505" y="2880"/>
                <a:ext cx="33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800" b="1">
                    <a:solidFill>
                      <a:srgbClr val="FF6600"/>
                    </a:solidFill>
                    <a:latin typeface="Times New Roman" panose="02020603050405020304" pitchFamily="18" charset="0"/>
                  </a:rPr>
                  <a:t>0</a:t>
                </a:r>
                <a:endParaRPr kumimoji="1" lang="en-US" altLang="zh-CN" sz="2800" b="1">
                  <a:solidFill>
                    <a:srgbClr val="FF6600"/>
                  </a:solidFill>
                  <a:latin typeface="Times New Roman" panose="02020603050405020304" pitchFamily="18" charset="0"/>
                </a:endParaRPr>
              </a:p>
            </p:txBody>
          </p:sp>
          <p:sp>
            <p:nvSpPr>
              <p:cNvPr id="39969" name="Text Box 85"/>
              <p:cNvSpPr txBox="1">
                <a:spLocks noChangeArrowheads="1"/>
              </p:cNvSpPr>
              <p:nvPr/>
            </p:nvSpPr>
            <p:spPr bwMode="auto">
              <a:xfrm>
                <a:off x="3792" y="2832"/>
                <a:ext cx="33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1</a:t>
                </a:r>
                <a:endParaRPr kumimoji="1" lang="en-US" altLang="zh-CN" sz="2800" b="1">
                  <a:solidFill>
                    <a:srgbClr val="FF6600"/>
                  </a:solidFill>
                  <a:latin typeface="Times New Roman" panose="02020603050405020304" pitchFamily="18" charset="0"/>
                </a:endParaRPr>
              </a:p>
            </p:txBody>
          </p:sp>
          <p:sp>
            <p:nvSpPr>
              <p:cNvPr id="39970" name="Text Box 86"/>
              <p:cNvSpPr txBox="1">
                <a:spLocks noChangeArrowheads="1"/>
              </p:cNvSpPr>
              <p:nvPr/>
            </p:nvSpPr>
            <p:spPr bwMode="auto">
              <a:xfrm>
                <a:off x="4032" y="2737"/>
                <a:ext cx="33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2</a:t>
                </a:r>
                <a:endParaRPr kumimoji="1" lang="en-US" altLang="zh-CN" sz="2800" b="1">
                  <a:solidFill>
                    <a:srgbClr val="FF6600"/>
                  </a:solidFill>
                  <a:latin typeface="Times New Roman" panose="02020603050405020304" pitchFamily="18" charset="0"/>
                </a:endParaRPr>
              </a:p>
            </p:txBody>
          </p:sp>
          <p:sp>
            <p:nvSpPr>
              <p:cNvPr id="39971" name="Text Box 87"/>
              <p:cNvSpPr txBox="1">
                <a:spLocks noChangeArrowheads="1"/>
              </p:cNvSpPr>
              <p:nvPr/>
            </p:nvSpPr>
            <p:spPr bwMode="auto">
              <a:xfrm>
                <a:off x="4272" y="2592"/>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3</a:t>
                </a:r>
                <a:endParaRPr kumimoji="1" lang="en-US" altLang="zh-CN" sz="2800" b="1">
                  <a:solidFill>
                    <a:srgbClr val="FF6600"/>
                  </a:solidFill>
                  <a:latin typeface="Times New Roman" panose="02020603050405020304" pitchFamily="18" charset="0"/>
                </a:endParaRPr>
              </a:p>
            </p:txBody>
          </p:sp>
          <p:sp>
            <p:nvSpPr>
              <p:cNvPr id="39972" name="Text Box 88"/>
              <p:cNvSpPr txBox="1">
                <a:spLocks noChangeArrowheads="1"/>
              </p:cNvSpPr>
              <p:nvPr/>
            </p:nvSpPr>
            <p:spPr bwMode="auto">
              <a:xfrm>
                <a:off x="4512" y="2448"/>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4</a:t>
                </a:r>
                <a:endParaRPr kumimoji="1" lang="en-US" altLang="zh-CN" sz="2800" b="1">
                  <a:solidFill>
                    <a:srgbClr val="FF6600"/>
                  </a:solidFill>
                  <a:latin typeface="Times New Roman" panose="02020603050405020304" pitchFamily="18" charset="0"/>
                </a:endParaRPr>
              </a:p>
            </p:txBody>
          </p:sp>
          <p:sp>
            <p:nvSpPr>
              <p:cNvPr id="39973" name="Text Box 89"/>
              <p:cNvSpPr txBox="1">
                <a:spLocks noChangeArrowheads="1"/>
              </p:cNvSpPr>
              <p:nvPr/>
            </p:nvSpPr>
            <p:spPr bwMode="auto">
              <a:xfrm>
                <a:off x="4752" y="2353"/>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5</a:t>
                </a:r>
                <a:endParaRPr kumimoji="1" lang="en-US" altLang="zh-CN" sz="2800" b="1">
                  <a:solidFill>
                    <a:srgbClr val="FF6600"/>
                  </a:solidFill>
                  <a:latin typeface="Times New Roman" panose="02020603050405020304" pitchFamily="18" charset="0"/>
                </a:endParaRPr>
              </a:p>
            </p:txBody>
          </p:sp>
          <p:sp>
            <p:nvSpPr>
              <p:cNvPr id="39974" name="Text Box 90"/>
              <p:cNvSpPr txBox="1">
                <a:spLocks noChangeArrowheads="1"/>
              </p:cNvSpPr>
              <p:nvPr/>
            </p:nvSpPr>
            <p:spPr bwMode="auto">
              <a:xfrm>
                <a:off x="4944" y="2160"/>
                <a:ext cx="33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6</a:t>
                </a:r>
                <a:endParaRPr kumimoji="1" lang="en-US" altLang="zh-CN" sz="2800" b="1">
                  <a:solidFill>
                    <a:srgbClr val="FF6600"/>
                  </a:solidFill>
                  <a:latin typeface="Times New Roman" panose="02020603050405020304" pitchFamily="18" charset="0"/>
                </a:endParaRPr>
              </a:p>
            </p:txBody>
          </p:sp>
          <p:sp>
            <p:nvSpPr>
              <p:cNvPr id="39975" name="Text Box 91"/>
              <p:cNvSpPr txBox="1">
                <a:spLocks noChangeArrowheads="1"/>
              </p:cNvSpPr>
              <p:nvPr/>
            </p:nvSpPr>
            <p:spPr bwMode="auto">
              <a:xfrm>
                <a:off x="5136" y="2016"/>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7</a:t>
                </a:r>
                <a:endParaRPr kumimoji="1" lang="en-US" altLang="zh-CN" sz="2800" b="1">
                  <a:solidFill>
                    <a:srgbClr val="FF6600"/>
                  </a:solidFill>
                  <a:latin typeface="Times New Roman" panose="02020603050405020304" pitchFamily="18" charset="0"/>
                </a:endParaRPr>
              </a:p>
            </p:txBody>
          </p:sp>
        </p:grpSp>
      </p:grpSp>
      <p:sp>
        <p:nvSpPr>
          <p:cNvPr id="39956" name="Rectangle 93"/>
          <p:cNvSpPr>
            <a:spLocks noChangeArrowheads="1"/>
          </p:cNvSpPr>
          <p:nvPr/>
        </p:nvSpPr>
        <p:spPr bwMode="auto">
          <a:xfrm>
            <a:off x="304800" y="2469976"/>
            <a:ext cx="8382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just" eaLnBrk="1" hangingPunct="1"/>
            <a:r>
              <a:rPr lang="zh-CN" altLang="en-US" sz="3200" b="1">
                <a:solidFill>
                  <a:srgbClr val="993300"/>
                </a:solidFill>
                <a:ea typeface="隶书" panose="02010509060101010101" pitchFamily="49" charset="-122"/>
              </a:rPr>
              <a:t>计</a:t>
            </a:r>
            <a:endParaRPr lang="zh-CN" altLang="en-US" sz="3200" b="1">
              <a:solidFill>
                <a:srgbClr val="993300"/>
              </a:solidFill>
              <a:ea typeface="隶书" panose="02010509060101010101" pitchFamily="49" charset="-122"/>
            </a:endParaRPr>
          </a:p>
          <a:p>
            <a:pPr algn="just" eaLnBrk="1" hangingPunct="1"/>
            <a:r>
              <a:rPr lang="zh-CN" altLang="en-US" sz="3200" b="1">
                <a:solidFill>
                  <a:srgbClr val="993300"/>
                </a:solidFill>
                <a:ea typeface="隶书" panose="02010509060101010101" pitchFamily="49" charset="-122"/>
              </a:rPr>
              <a:t>算</a:t>
            </a:r>
            <a:endParaRPr lang="zh-CN" altLang="en-US" sz="3200" b="1">
              <a:solidFill>
                <a:srgbClr val="993300"/>
              </a:solidFill>
              <a:ea typeface="隶书" panose="02010509060101010101" pitchFamily="49" charset="-122"/>
            </a:endParaRPr>
          </a:p>
          <a:p>
            <a:pPr algn="just" eaLnBrk="1" hangingPunct="1"/>
            <a:r>
              <a:rPr lang="zh-CN" altLang="en-US" sz="3200" b="1">
                <a:solidFill>
                  <a:srgbClr val="993300"/>
                </a:solidFill>
                <a:ea typeface="隶书" panose="02010509060101010101" pitchFamily="49" charset="-122"/>
              </a:rPr>
              <a:t>步</a:t>
            </a:r>
            <a:endParaRPr lang="zh-CN" altLang="en-US" sz="3200" b="1">
              <a:solidFill>
                <a:srgbClr val="993300"/>
              </a:solidFill>
              <a:ea typeface="隶书" panose="02010509060101010101" pitchFamily="49" charset="-122"/>
            </a:endParaRPr>
          </a:p>
          <a:p>
            <a:pPr algn="just" eaLnBrk="1" hangingPunct="1"/>
            <a:r>
              <a:rPr lang="zh-CN" altLang="en-US" sz="3200" b="1">
                <a:solidFill>
                  <a:srgbClr val="993300"/>
                </a:solidFill>
                <a:ea typeface="隶书" panose="02010509060101010101" pitchFamily="49" charset="-122"/>
              </a:rPr>
              <a:t>骤</a:t>
            </a:r>
            <a:endParaRPr lang="zh-CN" altLang="en-US" sz="3200" b="1">
              <a:solidFill>
                <a:srgbClr val="993300"/>
              </a:solidFill>
              <a:ea typeface="隶书" panose="02010509060101010101" pitchFamily="49" charset="-122"/>
            </a:endParaRPr>
          </a:p>
          <a:p>
            <a:pPr algn="just" eaLnBrk="1" hangingPunct="1"/>
            <a:endParaRPr lang="en-US" altLang="zh-CN" sz="3200" b="1">
              <a:solidFill>
                <a:srgbClr val="993300"/>
              </a:solidFill>
              <a:ea typeface="隶书" panose="02010509060101010101" pitchFamily="49" charset="-122"/>
            </a:endParaRPr>
          </a:p>
        </p:txBody>
      </p:sp>
      <mc:AlternateContent xmlns:mc="http://schemas.openxmlformats.org/markup-compatibility/2006">
        <mc:Choice xmlns:a14="http://schemas.microsoft.com/office/drawing/2010/main" Requires="a14">
          <p:sp>
            <p:nvSpPr>
              <p:cNvPr id="77" name="文本框 76"/>
              <p:cNvSpPr txBox="1"/>
              <p:nvPr/>
            </p:nvSpPr>
            <p:spPr>
              <a:xfrm>
                <a:off x="1932652" y="3900622"/>
                <a:ext cx="3888180" cy="776495"/>
              </a:xfrm>
              <a:prstGeom prst="rect">
                <a:avLst/>
              </a:prstGeom>
              <a:solidFill>
                <a:schemeClr val="tx2">
                  <a:lumMod val="20000"/>
                  <a:lumOff val="80000"/>
                </a:schemeClr>
              </a:solid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𝐾</m:t>
                      </m:r>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nary>
                            <m:naryPr>
                              <m:chr m:val="∑"/>
                              <m:subHide m:val="on"/>
                              <m:supHide m:val="on"/>
                              <m:ctrlPr>
                                <a:rPr lang="en-US" altLang="zh-CN" sz="2400" b="0" i="1" smtClean="0">
                                  <a:latin typeface="Cambria Math" panose="02040503050406030204" pitchFamily="18" charset="0"/>
                                </a:rPr>
                              </m:ctrlPr>
                            </m:naryPr>
                            <m:sub/>
                            <m:sup/>
                            <m:e>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𝑖</m:t>
                                  </m:r>
                                </m:sub>
                              </m:sSub>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𝑙</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𝐺</m:t>
                                  </m:r>
                                </m:e>
                                <m:sub>
                                  <m:r>
                                    <a:rPr lang="en-US" altLang="zh-CN" sz="2400" b="0" i="1" smtClean="0">
                                      <a:latin typeface="Cambria Math" panose="02040503050406030204" pitchFamily="18" charset="0"/>
                                    </a:rPr>
                                    <m:t>𝑖</m:t>
                                  </m:r>
                                </m:sub>
                              </m:sSub>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cos</m:t>
                                  </m:r>
                                </m:fName>
                                <m:e>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𝜃</m:t>
                                      </m:r>
                                    </m:e>
                                    <m:sub>
                                      <m:r>
                                        <a:rPr lang="en-US" altLang="zh-CN" sz="2400" b="0" i="1" smtClean="0">
                                          <a:latin typeface="Cambria Math" panose="02040503050406030204" pitchFamily="18" charset="0"/>
                                        </a:rPr>
                                        <m:t>𝑖</m:t>
                                      </m:r>
                                    </m:sub>
                                  </m:sSub>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tan</m:t>
                                      </m:r>
                                    </m:fName>
                                    <m:e>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𝜑</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e>
                                  </m:func>
                                </m:e>
                              </m:func>
                            </m:e>
                          </m:nary>
                        </m:num>
                        <m:den>
                          <m:nary>
                            <m:naryPr>
                              <m:chr m:val="∑"/>
                              <m:subHide m:val="on"/>
                              <m:supHide m:val="on"/>
                              <m:ctrlPr>
                                <a:rPr lang="en-US" altLang="zh-CN" sz="2400" b="0" i="1" smtClean="0">
                                  <a:latin typeface="Cambria Math" panose="02040503050406030204" pitchFamily="18" charset="0"/>
                                </a:rPr>
                              </m:ctrlPr>
                            </m:naryPr>
                            <m:sub/>
                            <m:sup/>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𝐺</m:t>
                                  </m:r>
                                </m:e>
                                <m:sub>
                                  <m:r>
                                    <a:rPr lang="en-US" altLang="zh-CN" sz="2400" b="0" i="1" smtClean="0">
                                      <a:latin typeface="Cambria Math" panose="02040503050406030204" pitchFamily="18" charset="0"/>
                                    </a:rPr>
                                    <m:t>𝑖</m:t>
                                  </m:r>
                                </m:sub>
                              </m:sSub>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sin</m:t>
                                  </m:r>
                                </m:fName>
                                <m:e>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𝜃</m:t>
                                      </m:r>
                                    </m:e>
                                    <m:sub>
                                      <m:r>
                                        <a:rPr lang="en-US" altLang="zh-CN" sz="2400" b="0" i="1" smtClean="0">
                                          <a:latin typeface="Cambria Math" panose="02040503050406030204" pitchFamily="18" charset="0"/>
                                        </a:rPr>
                                        <m:t>𝑖</m:t>
                                      </m:r>
                                    </m:sub>
                                  </m:sSub>
                                </m:e>
                              </m:func>
                            </m:e>
                          </m:nary>
                        </m:den>
                      </m:f>
                    </m:oMath>
                  </m:oMathPara>
                </a14:m>
                <a:endParaRPr lang="zh-CN" altLang="en-US" sz="2400" dirty="0">
                  <a:latin typeface="Times New Roman" panose="02020603050405020304" pitchFamily="18" charset="0"/>
                  <a:cs typeface="Times New Roman" panose="02020603050405020304" pitchFamily="18" charset="0"/>
                </a:endParaRPr>
              </a:p>
            </p:txBody>
          </p:sp>
        </mc:Choice>
        <mc:Fallback>
          <p:sp>
            <p:nvSpPr>
              <p:cNvPr id="77" name="文本框 76"/>
              <p:cNvSpPr txBox="1">
                <a:spLocks noRot="1" noChangeAspect="1" noMove="1" noResize="1" noEditPoints="1" noAdjustHandles="1" noChangeArrowheads="1" noChangeShapeType="1" noTextEdit="1"/>
              </p:cNvSpPr>
              <p:nvPr/>
            </p:nvSpPr>
            <p:spPr>
              <a:xfrm>
                <a:off x="1932652" y="3900622"/>
                <a:ext cx="3888180" cy="776495"/>
              </a:xfrm>
              <a:prstGeom prst="rect">
                <a:avLst/>
              </a:prstGeom>
              <a:blipFill rotWithShape="1">
                <a:blip r:embed="rId1"/>
                <a:stretch>
                  <a:fillRect l="-9" t="-58" r="-397" b="44"/>
                </a:stretch>
              </a:blipFill>
            </p:spPr>
            <p:txBody>
              <a:bodyPr/>
              <a:lstStyle/>
              <a:p>
                <a:r>
                  <a:rPr lang="zh-CN" altLang="en-US">
                    <a:noFill/>
                  </a:rPr>
                  <a:t> </a:t>
                </a:r>
              </a:p>
            </p:txBody>
          </p:sp>
        </mc:Fallback>
      </mc:AlternateContent>
      <p:sp>
        <p:nvSpPr>
          <p:cNvPr id="78" name="Rectangle 6"/>
          <p:cNvSpPr>
            <a:spLocks noChangeArrowheads="1"/>
          </p:cNvSpPr>
          <p:nvPr/>
        </p:nvSpPr>
        <p:spPr bwMode="auto">
          <a:xfrm>
            <a:off x="0" y="-7396"/>
            <a:ext cx="41148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黏性土坡的稳定性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3" name="Rectangle 3"/>
          <p:cNvSpPr>
            <a:spLocks noGrp="1" noChangeArrowheads="1"/>
          </p:cNvSpPr>
          <p:nvPr>
            <p:ph type="body" sz="half" idx="1"/>
          </p:nvPr>
        </p:nvSpPr>
        <p:spPr bwMode="auto">
          <a:xfrm>
            <a:off x="788916" y="644525"/>
            <a:ext cx="39624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indent="0" algn="just" eaLnBrk="1" hangingPunct="1">
              <a:buFontTx/>
              <a:buNone/>
            </a:pPr>
            <a:r>
              <a:rPr lang="zh-CN" altLang="en-US" b="1" dirty="0" smtClean="0">
                <a:solidFill>
                  <a:srgbClr val="993300"/>
                </a:solidFill>
                <a:ea typeface="隶书" panose="02010509060101010101" pitchFamily="49" charset="-122"/>
              </a:rPr>
              <a:t>瑞典条分法的讨论</a:t>
            </a:r>
            <a:endParaRPr lang="zh-CN" altLang="en-US" b="1" dirty="0" smtClean="0">
              <a:solidFill>
                <a:srgbClr val="993300"/>
              </a:solidFill>
              <a:ea typeface="隶书" panose="02010509060101010101" pitchFamily="49" charset="-122"/>
            </a:endParaRPr>
          </a:p>
        </p:txBody>
      </p:sp>
      <p:grpSp>
        <p:nvGrpSpPr>
          <p:cNvPr id="40964" name="Group 89"/>
          <p:cNvGrpSpPr/>
          <p:nvPr/>
        </p:nvGrpSpPr>
        <p:grpSpPr bwMode="auto">
          <a:xfrm>
            <a:off x="7010400" y="3124200"/>
            <a:ext cx="1524000" cy="3124200"/>
            <a:chOff x="4416" y="1968"/>
            <a:chExt cx="960" cy="1968"/>
          </a:xfrm>
        </p:grpSpPr>
        <p:grpSp>
          <p:nvGrpSpPr>
            <p:cNvPr id="41026" name="Group 4"/>
            <p:cNvGrpSpPr/>
            <p:nvPr/>
          </p:nvGrpSpPr>
          <p:grpSpPr bwMode="auto">
            <a:xfrm>
              <a:off x="4416" y="1968"/>
              <a:ext cx="528" cy="1584"/>
              <a:chOff x="3744" y="864"/>
              <a:chExt cx="432" cy="1584"/>
            </a:xfrm>
          </p:grpSpPr>
          <p:sp>
            <p:nvSpPr>
              <p:cNvPr id="41037" name="Line 5"/>
              <p:cNvSpPr>
                <a:spLocks noChangeShapeType="1"/>
              </p:cNvSpPr>
              <p:nvPr/>
            </p:nvSpPr>
            <p:spPr bwMode="auto">
              <a:xfrm>
                <a:off x="3744" y="1056"/>
                <a:ext cx="0" cy="1392"/>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38" name="Line 6"/>
              <p:cNvSpPr>
                <a:spLocks noChangeShapeType="1"/>
              </p:cNvSpPr>
              <p:nvPr/>
            </p:nvSpPr>
            <p:spPr bwMode="auto">
              <a:xfrm>
                <a:off x="4176" y="864"/>
                <a:ext cx="0" cy="1248"/>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39" name="Line 7"/>
              <p:cNvSpPr>
                <a:spLocks noChangeShapeType="1"/>
              </p:cNvSpPr>
              <p:nvPr/>
            </p:nvSpPr>
            <p:spPr bwMode="auto">
              <a:xfrm flipV="1">
                <a:off x="3744" y="864"/>
                <a:ext cx="432" cy="192"/>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40" name="Line 8"/>
              <p:cNvSpPr>
                <a:spLocks noChangeShapeType="1"/>
              </p:cNvSpPr>
              <p:nvPr/>
            </p:nvSpPr>
            <p:spPr bwMode="auto">
              <a:xfrm flipV="1">
                <a:off x="3744" y="2112"/>
                <a:ext cx="432" cy="336"/>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1027" name="Line 9"/>
            <p:cNvSpPr>
              <a:spLocks noChangeShapeType="1"/>
            </p:cNvSpPr>
            <p:nvPr/>
          </p:nvSpPr>
          <p:spPr bwMode="auto">
            <a:xfrm>
              <a:off x="4656" y="2496"/>
              <a:ext cx="0" cy="336"/>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028" name="Line 10"/>
            <p:cNvSpPr>
              <a:spLocks noChangeShapeType="1"/>
            </p:cNvSpPr>
            <p:nvPr/>
          </p:nvSpPr>
          <p:spPr bwMode="auto">
            <a:xfrm flipV="1">
              <a:off x="4512" y="3312"/>
              <a:ext cx="384" cy="240"/>
            </a:xfrm>
            <a:prstGeom prst="line">
              <a:avLst/>
            </a:prstGeom>
            <a:noFill/>
            <a:ln w="22225">
              <a:solidFill>
                <a:srgbClr val="0000FF"/>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029" name="Line 11"/>
            <p:cNvSpPr>
              <a:spLocks noChangeShapeType="1"/>
            </p:cNvSpPr>
            <p:nvPr/>
          </p:nvSpPr>
          <p:spPr bwMode="auto">
            <a:xfrm rot="10800000">
              <a:off x="4752" y="3456"/>
              <a:ext cx="192" cy="288"/>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030" name="Line 12"/>
            <p:cNvSpPr>
              <a:spLocks noChangeShapeType="1"/>
            </p:cNvSpPr>
            <p:nvPr/>
          </p:nvSpPr>
          <p:spPr bwMode="auto">
            <a:xfrm flipV="1">
              <a:off x="4944" y="2928"/>
              <a:ext cx="384" cy="2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31" name="Line 13"/>
            <p:cNvSpPr>
              <a:spLocks noChangeShapeType="1"/>
            </p:cNvSpPr>
            <p:nvPr/>
          </p:nvSpPr>
          <p:spPr bwMode="auto">
            <a:xfrm>
              <a:off x="4944" y="3216"/>
              <a:ext cx="43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32" name="Freeform 14"/>
            <p:cNvSpPr/>
            <p:nvPr/>
          </p:nvSpPr>
          <p:spPr bwMode="auto">
            <a:xfrm>
              <a:off x="5036" y="3156"/>
              <a:ext cx="49" cy="56"/>
            </a:xfrm>
            <a:custGeom>
              <a:avLst/>
              <a:gdLst>
                <a:gd name="T0" fmla="*/ 0 w 49"/>
                <a:gd name="T1" fmla="*/ 0 h 56"/>
                <a:gd name="T2" fmla="*/ 40 w 49"/>
                <a:gd name="T3" fmla="*/ 32 h 56"/>
                <a:gd name="T4" fmla="*/ 48 w 49"/>
                <a:gd name="T5" fmla="*/ 56 h 56"/>
                <a:gd name="T6" fmla="*/ 0 60000 65536"/>
                <a:gd name="T7" fmla="*/ 0 60000 65536"/>
                <a:gd name="T8" fmla="*/ 0 60000 65536"/>
                <a:gd name="T9" fmla="*/ 0 w 49"/>
                <a:gd name="T10" fmla="*/ 0 h 56"/>
                <a:gd name="T11" fmla="*/ 49 w 49"/>
                <a:gd name="T12" fmla="*/ 56 h 56"/>
              </a:gdLst>
              <a:ahLst/>
              <a:cxnLst>
                <a:cxn ang="T6">
                  <a:pos x="T0" y="T1"/>
                </a:cxn>
                <a:cxn ang="T7">
                  <a:pos x="T2" y="T3"/>
                </a:cxn>
                <a:cxn ang="T8">
                  <a:pos x="T4" y="T5"/>
                </a:cxn>
              </a:cxnLst>
              <a:rect l="T9" t="T10" r="T11" b="T12"/>
              <a:pathLst>
                <a:path w="49" h="56">
                  <a:moveTo>
                    <a:pt x="0" y="0"/>
                  </a:moveTo>
                  <a:cubicBezTo>
                    <a:pt x="20" y="10"/>
                    <a:pt x="20" y="22"/>
                    <a:pt x="40" y="32"/>
                  </a:cubicBezTo>
                  <a:cubicBezTo>
                    <a:pt x="49" y="50"/>
                    <a:pt x="48" y="42"/>
                    <a:pt x="48" y="56"/>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033" name="Rectangle 15"/>
            <p:cNvSpPr>
              <a:spLocks noChangeArrowheads="1"/>
            </p:cNvSpPr>
            <p:nvPr/>
          </p:nvSpPr>
          <p:spPr bwMode="auto">
            <a:xfrm>
              <a:off x="4848" y="326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T</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baseline="-25000">
                <a:solidFill>
                  <a:srgbClr val="CC3300"/>
                </a:solidFill>
                <a:latin typeface="Times New Roman" panose="02020603050405020304" pitchFamily="18" charset="0"/>
                <a:sym typeface="Symbol" panose="05050102010706020507" pitchFamily="18" charset="2"/>
              </a:endParaRPr>
            </a:p>
          </p:txBody>
        </p:sp>
        <p:sp>
          <p:nvSpPr>
            <p:cNvPr id="41034" name="Rectangle 16"/>
            <p:cNvSpPr>
              <a:spLocks noChangeArrowheads="1"/>
            </p:cNvSpPr>
            <p:nvPr/>
          </p:nvSpPr>
          <p:spPr bwMode="auto">
            <a:xfrm>
              <a:off x="4880" y="3648"/>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N</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a:solidFill>
                  <a:srgbClr val="CC3300"/>
                </a:solidFill>
                <a:latin typeface="Times New Roman" panose="02020603050405020304" pitchFamily="18" charset="0"/>
                <a:sym typeface="Symbol" panose="05050102010706020507" pitchFamily="18" charset="2"/>
              </a:endParaRPr>
            </a:p>
          </p:txBody>
        </p:sp>
        <p:sp>
          <p:nvSpPr>
            <p:cNvPr id="41035" name="Rectangle 17"/>
            <p:cNvSpPr>
              <a:spLocks noChangeArrowheads="1"/>
            </p:cNvSpPr>
            <p:nvPr/>
          </p:nvSpPr>
          <p:spPr bwMode="auto">
            <a:xfrm>
              <a:off x="5040" y="2976"/>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993300"/>
                  </a:solidFill>
                  <a:latin typeface="Times New Roman" panose="02020603050405020304" pitchFamily="18" charset="0"/>
                  <a:sym typeface="Symbol" panose="05050102010706020507" pitchFamily="18" charset="2"/>
                </a:rPr>
                <a:t></a:t>
              </a:r>
              <a:r>
                <a:rPr kumimoji="1" lang="en-US" altLang="zh-CN" sz="2400" b="1" i="1" baseline="-25000">
                  <a:solidFill>
                    <a:srgbClr val="993300"/>
                  </a:solidFill>
                  <a:latin typeface="Times New Roman" panose="02020603050405020304" pitchFamily="18" charset="0"/>
                  <a:sym typeface="Symbol" panose="05050102010706020507" pitchFamily="18" charset="2"/>
                </a:rPr>
                <a:t>i</a:t>
              </a:r>
              <a:endParaRPr kumimoji="1" lang="en-US" altLang="zh-CN" sz="2400" b="1" i="1" baseline="-25000">
                <a:solidFill>
                  <a:srgbClr val="993300"/>
                </a:solidFill>
                <a:latin typeface="Times New Roman" panose="02020603050405020304" pitchFamily="18" charset="0"/>
                <a:sym typeface="Symbol" panose="05050102010706020507" pitchFamily="18" charset="2"/>
              </a:endParaRPr>
            </a:p>
          </p:txBody>
        </p:sp>
        <p:sp>
          <p:nvSpPr>
            <p:cNvPr id="41036" name="Rectangle 18"/>
            <p:cNvSpPr>
              <a:spLocks noChangeArrowheads="1"/>
            </p:cNvSpPr>
            <p:nvPr/>
          </p:nvSpPr>
          <p:spPr bwMode="auto">
            <a:xfrm>
              <a:off x="4512" y="2832"/>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err="1" smtClean="0">
                  <a:solidFill>
                    <a:srgbClr val="CC3300"/>
                  </a:solidFill>
                  <a:latin typeface="Times New Roman" panose="02020603050405020304" pitchFamily="18" charset="0"/>
                  <a:sym typeface="Symbol" panose="05050102010706020507" pitchFamily="18" charset="2"/>
                </a:rPr>
                <a:t>G</a:t>
              </a:r>
              <a:r>
                <a:rPr kumimoji="1" lang="en-US" altLang="zh-CN" sz="2400" b="1" i="1" baseline="-25000" dirty="0" err="1" smtClean="0">
                  <a:solidFill>
                    <a:srgbClr val="CC3300"/>
                  </a:solidFill>
                  <a:latin typeface="Times New Roman" panose="02020603050405020304" pitchFamily="18" charset="0"/>
                  <a:sym typeface="Symbol" panose="05050102010706020507" pitchFamily="18" charset="2"/>
                </a:rPr>
                <a:t>i</a:t>
              </a:r>
              <a:endParaRPr kumimoji="1" lang="en-US" altLang="zh-CN" sz="2400" b="1" i="1" baseline="-25000" dirty="0">
                <a:solidFill>
                  <a:srgbClr val="CC3300"/>
                </a:solidFill>
                <a:latin typeface="Times New Roman" panose="02020603050405020304" pitchFamily="18" charset="0"/>
                <a:sym typeface="Symbol" panose="05050102010706020507" pitchFamily="18" charset="2"/>
              </a:endParaRPr>
            </a:p>
          </p:txBody>
        </p:sp>
      </p:grpSp>
      <p:grpSp>
        <p:nvGrpSpPr>
          <p:cNvPr id="40965" name="Group 19"/>
          <p:cNvGrpSpPr/>
          <p:nvPr/>
        </p:nvGrpSpPr>
        <p:grpSpPr bwMode="auto">
          <a:xfrm>
            <a:off x="4876800" y="152400"/>
            <a:ext cx="4159696" cy="3090863"/>
            <a:chOff x="2976" y="117"/>
            <a:chExt cx="2688" cy="1947"/>
          </a:xfrm>
        </p:grpSpPr>
        <p:sp>
          <p:nvSpPr>
            <p:cNvPr id="40988" name="Text Box 20"/>
            <p:cNvSpPr txBox="1">
              <a:spLocks noChangeArrowheads="1"/>
            </p:cNvSpPr>
            <p:nvPr/>
          </p:nvSpPr>
          <p:spPr bwMode="auto">
            <a:xfrm>
              <a:off x="2976" y="1737"/>
              <a:ext cx="41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dirty="0" smtClean="0">
                  <a:solidFill>
                    <a:schemeClr val="tx1"/>
                  </a:solidFill>
                  <a:latin typeface="Times New Roman" panose="02020603050405020304" pitchFamily="18" charset="0"/>
                </a:rPr>
                <a:t>C</a:t>
              </a:r>
              <a:endParaRPr kumimoji="1" lang="en-US" altLang="zh-CN" sz="2800" b="1" dirty="0">
                <a:solidFill>
                  <a:schemeClr val="tx1"/>
                </a:solidFill>
                <a:latin typeface="Times New Roman" panose="02020603050405020304" pitchFamily="18" charset="0"/>
              </a:endParaRPr>
            </a:p>
          </p:txBody>
        </p:sp>
        <p:grpSp>
          <p:nvGrpSpPr>
            <p:cNvPr id="40989" name="Group 21"/>
            <p:cNvGrpSpPr/>
            <p:nvPr/>
          </p:nvGrpSpPr>
          <p:grpSpPr bwMode="auto">
            <a:xfrm>
              <a:off x="3052" y="117"/>
              <a:ext cx="2612" cy="1921"/>
              <a:chOff x="2633" y="1296"/>
              <a:chExt cx="3079" cy="2016"/>
            </a:xfrm>
          </p:grpSpPr>
          <p:sp>
            <p:nvSpPr>
              <p:cNvPr id="41007" name="Freeform 22"/>
              <p:cNvSpPr/>
              <p:nvPr/>
            </p:nvSpPr>
            <p:spPr bwMode="auto">
              <a:xfrm>
                <a:off x="2633" y="2032"/>
                <a:ext cx="3022" cy="1189"/>
              </a:xfrm>
              <a:custGeom>
                <a:avLst/>
                <a:gdLst>
                  <a:gd name="T0" fmla="*/ 0 w 1785"/>
                  <a:gd name="T1" fmla="*/ 2496 h 763"/>
                  <a:gd name="T2" fmla="*/ 1339 w 1785"/>
                  <a:gd name="T3" fmla="*/ 2506 h 763"/>
                  <a:gd name="T4" fmla="*/ 6647 w 1785"/>
                  <a:gd name="T5" fmla="*/ 0 h 763"/>
                  <a:gd name="T6" fmla="*/ 8661 w 1785"/>
                  <a:gd name="T7" fmla="*/ 0 h 763"/>
                  <a:gd name="T8" fmla="*/ 7920 w 1785"/>
                  <a:gd name="T9" fmla="*/ 0 h 763"/>
                  <a:gd name="T10" fmla="*/ 7652 w 1785"/>
                  <a:gd name="T11" fmla="*/ 597 h 763"/>
                  <a:gd name="T12" fmla="*/ 7254 w 1785"/>
                  <a:gd name="T13" fmla="*/ 1153 h 763"/>
                  <a:gd name="T14" fmla="*/ 6931 w 1785"/>
                  <a:gd name="T15" fmla="*/ 1487 h 763"/>
                  <a:gd name="T16" fmla="*/ 6589 w 1785"/>
                  <a:gd name="T17" fmla="*/ 1797 h 763"/>
                  <a:gd name="T18" fmla="*/ 6091 w 1785"/>
                  <a:gd name="T19" fmla="*/ 2135 h 763"/>
                  <a:gd name="T20" fmla="*/ 5484 w 1785"/>
                  <a:gd name="T21" fmla="*/ 2453 h 763"/>
                  <a:gd name="T22" fmla="*/ 5018 w 1785"/>
                  <a:gd name="T23" fmla="*/ 2615 h 763"/>
                  <a:gd name="T24" fmla="*/ 4425 w 1785"/>
                  <a:gd name="T25" fmla="*/ 2752 h 763"/>
                  <a:gd name="T26" fmla="*/ 3887 w 1785"/>
                  <a:gd name="T27" fmla="*/ 2841 h 763"/>
                  <a:gd name="T28" fmla="*/ 3213 w 1785"/>
                  <a:gd name="T29" fmla="*/ 2888 h 763"/>
                  <a:gd name="T30" fmla="*/ 2760 w 1785"/>
                  <a:gd name="T31" fmla="*/ 2888 h 763"/>
                  <a:gd name="T32" fmla="*/ 2255 w 1785"/>
                  <a:gd name="T33" fmla="*/ 2861 h 763"/>
                  <a:gd name="T34" fmla="*/ 1639 w 1785"/>
                  <a:gd name="T35" fmla="*/ 2771 h 763"/>
                  <a:gd name="T36" fmla="*/ 1150 w 1785"/>
                  <a:gd name="T37" fmla="*/ 2652 h 763"/>
                  <a:gd name="T38" fmla="*/ 733 w 1785"/>
                  <a:gd name="T39" fmla="*/ 2523 h 763"/>
                  <a:gd name="T40" fmla="*/ 650 w 1785"/>
                  <a:gd name="T41" fmla="*/ 2506 h 76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785"/>
                  <a:gd name="T64" fmla="*/ 0 h 763"/>
                  <a:gd name="T65" fmla="*/ 1785 w 1785"/>
                  <a:gd name="T66" fmla="*/ 763 h 76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785" h="763">
                    <a:moveTo>
                      <a:pt x="0" y="660"/>
                    </a:moveTo>
                    <a:lnTo>
                      <a:pt x="276" y="662"/>
                    </a:lnTo>
                    <a:lnTo>
                      <a:pt x="1370" y="0"/>
                    </a:lnTo>
                    <a:lnTo>
                      <a:pt x="1785" y="0"/>
                    </a:lnTo>
                    <a:lnTo>
                      <a:pt x="1632" y="0"/>
                    </a:lnTo>
                    <a:lnTo>
                      <a:pt x="1577" y="158"/>
                    </a:lnTo>
                    <a:lnTo>
                      <a:pt x="1495" y="305"/>
                    </a:lnTo>
                    <a:lnTo>
                      <a:pt x="1428" y="393"/>
                    </a:lnTo>
                    <a:lnTo>
                      <a:pt x="1358" y="475"/>
                    </a:lnTo>
                    <a:lnTo>
                      <a:pt x="1255" y="564"/>
                    </a:lnTo>
                    <a:lnTo>
                      <a:pt x="1130" y="648"/>
                    </a:lnTo>
                    <a:lnTo>
                      <a:pt x="1034" y="691"/>
                    </a:lnTo>
                    <a:lnTo>
                      <a:pt x="912" y="727"/>
                    </a:lnTo>
                    <a:lnTo>
                      <a:pt x="801" y="751"/>
                    </a:lnTo>
                    <a:lnTo>
                      <a:pt x="662" y="763"/>
                    </a:lnTo>
                    <a:lnTo>
                      <a:pt x="569" y="763"/>
                    </a:lnTo>
                    <a:lnTo>
                      <a:pt x="465" y="756"/>
                    </a:lnTo>
                    <a:lnTo>
                      <a:pt x="338" y="732"/>
                    </a:lnTo>
                    <a:lnTo>
                      <a:pt x="237" y="701"/>
                    </a:lnTo>
                    <a:lnTo>
                      <a:pt x="151" y="667"/>
                    </a:lnTo>
                    <a:lnTo>
                      <a:pt x="134" y="662"/>
                    </a:lnTo>
                  </a:path>
                </a:pathLst>
              </a:custGeom>
              <a:solidFill>
                <a:srgbClr val="66FF66">
                  <a:alpha val="50195"/>
                </a:srgbClr>
              </a:solidFill>
              <a:ln w="38100">
                <a:solidFill>
                  <a:srgbClr val="008000"/>
                </a:solidFill>
                <a:round/>
              </a:ln>
            </p:spPr>
            <p:txBody>
              <a:bodyPr/>
              <a:lstStyle/>
              <a:p>
                <a:endParaRPr lang="zh-CN" altLang="en-US"/>
              </a:p>
            </p:txBody>
          </p:sp>
          <p:sp>
            <p:nvSpPr>
              <p:cNvPr id="41008" name="Line 23"/>
              <p:cNvSpPr>
                <a:spLocks noChangeShapeType="1"/>
              </p:cNvSpPr>
              <p:nvPr/>
            </p:nvSpPr>
            <p:spPr bwMode="auto">
              <a:xfrm flipV="1">
                <a:off x="3121" y="3045"/>
                <a:ext cx="0" cy="104"/>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09" name="Line 24"/>
              <p:cNvSpPr>
                <a:spLocks noChangeShapeType="1"/>
              </p:cNvSpPr>
              <p:nvPr/>
            </p:nvSpPr>
            <p:spPr bwMode="auto">
              <a:xfrm flipV="1">
                <a:off x="3327" y="2932"/>
                <a:ext cx="0" cy="26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10" name="Line 25"/>
              <p:cNvSpPr>
                <a:spLocks noChangeShapeType="1"/>
              </p:cNvSpPr>
              <p:nvPr/>
            </p:nvSpPr>
            <p:spPr bwMode="auto">
              <a:xfrm flipV="1">
                <a:off x="3563" y="2826"/>
                <a:ext cx="0" cy="40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11" name="Line 26"/>
              <p:cNvSpPr>
                <a:spLocks noChangeShapeType="1"/>
              </p:cNvSpPr>
              <p:nvPr/>
            </p:nvSpPr>
            <p:spPr bwMode="auto">
              <a:xfrm flipH="1" flipV="1">
                <a:off x="3803" y="2660"/>
                <a:ext cx="0" cy="55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12" name="Line 27"/>
              <p:cNvSpPr>
                <a:spLocks noChangeShapeType="1"/>
              </p:cNvSpPr>
              <p:nvPr/>
            </p:nvSpPr>
            <p:spPr bwMode="auto">
              <a:xfrm flipH="1" flipV="1">
                <a:off x="4035" y="2535"/>
                <a:ext cx="0" cy="656"/>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13" name="Line 28"/>
              <p:cNvSpPr>
                <a:spLocks noChangeShapeType="1"/>
              </p:cNvSpPr>
              <p:nvPr/>
            </p:nvSpPr>
            <p:spPr bwMode="auto">
              <a:xfrm flipV="1">
                <a:off x="4253" y="2409"/>
                <a:ext cx="0" cy="737"/>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14" name="Line 29"/>
              <p:cNvSpPr>
                <a:spLocks noChangeShapeType="1"/>
              </p:cNvSpPr>
              <p:nvPr/>
            </p:nvSpPr>
            <p:spPr bwMode="auto">
              <a:xfrm flipH="1" flipV="1">
                <a:off x="4511" y="2269"/>
                <a:ext cx="0" cy="78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15" name="Line 30"/>
              <p:cNvSpPr>
                <a:spLocks noChangeShapeType="1"/>
              </p:cNvSpPr>
              <p:nvPr/>
            </p:nvSpPr>
            <p:spPr bwMode="auto">
              <a:xfrm flipV="1">
                <a:off x="4740" y="2147"/>
                <a:ext cx="0" cy="766"/>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16" name="Line 31"/>
              <p:cNvSpPr>
                <a:spLocks noChangeShapeType="1"/>
              </p:cNvSpPr>
              <p:nvPr/>
            </p:nvSpPr>
            <p:spPr bwMode="auto">
              <a:xfrm>
                <a:off x="4949" y="2024"/>
                <a:ext cx="0" cy="73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17" name="Line 32"/>
              <p:cNvSpPr>
                <a:spLocks noChangeShapeType="1"/>
              </p:cNvSpPr>
              <p:nvPr/>
            </p:nvSpPr>
            <p:spPr bwMode="auto">
              <a:xfrm>
                <a:off x="5172" y="2032"/>
                <a:ext cx="0" cy="457"/>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18" name="Line 33"/>
              <p:cNvSpPr>
                <a:spLocks noChangeShapeType="1"/>
              </p:cNvSpPr>
              <p:nvPr/>
            </p:nvSpPr>
            <p:spPr bwMode="auto">
              <a:xfrm flipH="1">
                <a:off x="2886" y="1556"/>
                <a:ext cx="787" cy="1496"/>
              </a:xfrm>
              <a:prstGeom prst="line">
                <a:avLst/>
              </a:prstGeom>
              <a:noFill/>
              <a:ln w="38100">
                <a:solidFill>
                  <a:srgbClr val="CC0099"/>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019" name="Line 34"/>
              <p:cNvSpPr>
                <a:spLocks noChangeShapeType="1"/>
              </p:cNvSpPr>
              <p:nvPr/>
            </p:nvSpPr>
            <p:spPr bwMode="auto">
              <a:xfrm>
                <a:off x="3670" y="1553"/>
                <a:ext cx="1734" cy="479"/>
              </a:xfrm>
              <a:prstGeom prst="line">
                <a:avLst/>
              </a:prstGeom>
              <a:noFill/>
              <a:ln w="38100">
                <a:solidFill>
                  <a:srgbClr val="0000CC"/>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020" name="Line 35"/>
              <p:cNvSpPr>
                <a:spLocks noChangeShapeType="1"/>
              </p:cNvSpPr>
              <p:nvPr/>
            </p:nvSpPr>
            <p:spPr bwMode="auto">
              <a:xfrm>
                <a:off x="3678" y="1545"/>
                <a:ext cx="5" cy="1767"/>
              </a:xfrm>
              <a:prstGeom prst="line">
                <a:avLst/>
              </a:prstGeom>
              <a:noFill/>
              <a:ln w="28575">
                <a:solidFill>
                  <a:srgbClr val="CC00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21" name="Line 36"/>
              <p:cNvSpPr>
                <a:spLocks noChangeShapeType="1"/>
              </p:cNvSpPr>
              <p:nvPr/>
            </p:nvSpPr>
            <p:spPr bwMode="auto">
              <a:xfrm>
                <a:off x="3670" y="1541"/>
                <a:ext cx="745" cy="1556"/>
              </a:xfrm>
              <a:prstGeom prst="line">
                <a:avLst/>
              </a:prstGeom>
              <a:noFill/>
              <a:ln w="38100">
                <a:solidFill>
                  <a:srgbClr val="CC00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22" name="Freeform 37"/>
              <p:cNvSpPr/>
              <p:nvPr/>
            </p:nvSpPr>
            <p:spPr bwMode="auto">
              <a:xfrm>
                <a:off x="3673" y="1934"/>
                <a:ext cx="174" cy="37"/>
              </a:xfrm>
              <a:custGeom>
                <a:avLst/>
                <a:gdLst>
                  <a:gd name="T0" fmla="*/ 0 w 103"/>
                  <a:gd name="T1" fmla="*/ 80 h 24"/>
                  <a:gd name="T2" fmla="*/ 162 w 103"/>
                  <a:gd name="T3" fmla="*/ 88 h 24"/>
                  <a:gd name="T4" fmla="*/ 372 w 103"/>
                  <a:gd name="T5" fmla="*/ 62 h 24"/>
                  <a:gd name="T6" fmla="*/ 497 w 103"/>
                  <a:gd name="T7" fmla="*/ 0 h 24"/>
                  <a:gd name="T8" fmla="*/ 0 60000 65536"/>
                  <a:gd name="T9" fmla="*/ 0 60000 65536"/>
                  <a:gd name="T10" fmla="*/ 0 60000 65536"/>
                  <a:gd name="T11" fmla="*/ 0 60000 65536"/>
                  <a:gd name="T12" fmla="*/ 0 w 103"/>
                  <a:gd name="T13" fmla="*/ 0 h 24"/>
                  <a:gd name="T14" fmla="*/ 103 w 103"/>
                  <a:gd name="T15" fmla="*/ 24 h 24"/>
                </a:gdLst>
                <a:ahLst/>
                <a:cxnLst>
                  <a:cxn ang="T8">
                    <a:pos x="T0" y="T1"/>
                  </a:cxn>
                  <a:cxn ang="T9">
                    <a:pos x="T2" y="T3"/>
                  </a:cxn>
                  <a:cxn ang="T10">
                    <a:pos x="T4" y="T5"/>
                  </a:cxn>
                  <a:cxn ang="T11">
                    <a:pos x="T6" y="T7"/>
                  </a:cxn>
                </a:cxnLst>
                <a:rect l="T12" t="T13" r="T14" b="T15"/>
                <a:pathLst>
                  <a:path w="103" h="24">
                    <a:moveTo>
                      <a:pt x="0" y="22"/>
                    </a:moveTo>
                    <a:lnTo>
                      <a:pt x="34" y="24"/>
                    </a:lnTo>
                    <a:lnTo>
                      <a:pt x="77" y="17"/>
                    </a:lnTo>
                    <a:lnTo>
                      <a:pt x="103" y="0"/>
                    </a:lnTo>
                  </a:path>
                </a:pathLst>
              </a:custGeom>
              <a:noFill/>
              <a:ln w="38100">
                <a:solidFill>
                  <a:srgbClr val="CC0099"/>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023" name="Text Box 38"/>
              <p:cNvSpPr txBox="1">
                <a:spLocks noChangeArrowheads="1"/>
              </p:cNvSpPr>
              <p:nvPr/>
            </p:nvSpPr>
            <p:spPr bwMode="auto">
              <a:xfrm>
                <a:off x="3357" y="1296"/>
                <a:ext cx="486"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chemeClr val="tx1"/>
                    </a:solidFill>
                    <a:latin typeface="Times New Roman" panose="02020603050405020304" pitchFamily="18" charset="0"/>
                  </a:rPr>
                  <a:t>O</a:t>
                </a:r>
                <a:endParaRPr kumimoji="1" lang="en-US" altLang="zh-CN" sz="2800" b="1">
                  <a:solidFill>
                    <a:schemeClr val="tx1"/>
                  </a:solidFill>
                  <a:latin typeface="Times New Roman" panose="02020603050405020304" pitchFamily="18" charset="0"/>
                </a:endParaRPr>
              </a:p>
            </p:txBody>
          </p:sp>
          <p:sp>
            <p:nvSpPr>
              <p:cNvPr id="41024" name="Text Box 39"/>
              <p:cNvSpPr txBox="1">
                <a:spLocks noChangeArrowheads="1"/>
              </p:cNvSpPr>
              <p:nvPr/>
            </p:nvSpPr>
            <p:spPr bwMode="auto">
              <a:xfrm>
                <a:off x="4331" y="1350"/>
                <a:ext cx="409"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0000CC"/>
                    </a:solidFill>
                    <a:latin typeface="Times New Roman" panose="02020603050405020304" pitchFamily="18" charset="0"/>
                  </a:rPr>
                  <a:t>R</a:t>
                </a:r>
                <a:endParaRPr kumimoji="1" lang="en-US" altLang="zh-CN" sz="2800" b="1">
                  <a:solidFill>
                    <a:srgbClr val="0000CC"/>
                  </a:solidFill>
                  <a:latin typeface="Times New Roman" panose="02020603050405020304" pitchFamily="18" charset="0"/>
                </a:endParaRPr>
              </a:p>
            </p:txBody>
          </p:sp>
          <p:sp>
            <p:nvSpPr>
              <p:cNvPr id="41025" name="Text Box 40"/>
              <p:cNvSpPr txBox="1">
                <a:spLocks noChangeArrowheads="1"/>
              </p:cNvSpPr>
              <p:nvPr/>
            </p:nvSpPr>
            <p:spPr bwMode="auto">
              <a:xfrm>
                <a:off x="5142" y="1577"/>
                <a:ext cx="570"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dirty="0" smtClean="0">
                    <a:solidFill>
                      <a:schemeClr val="tx1"/>
                    </a:solidFill>
                    <a:latin typeface="Times New Roman" panose="02020603050405020304" pitchFamily="18" charset="0"/>
                  </a:rPr>
                  <a:t>A</a:t>
                </a:r>
                <a:endParaRPr kumimoji="1" lang="en-US" altLang="zh-CN" sz="2800" b="1" dirty="0">
                  <a:solidFill>
                    <a:schemeClr val="tx1"/>
                  </a:solidFill>
                  <a:latin typeface="Times New Roman" panose="02020603050405020304" pitchFamily="18" charset="0"/>
                </a:endParaRPr>
              </a:p>
            </p:txBody>
          </p:sp>
        </p:grpSp>
        <p:sp>
          <p:nvSpPr>
            <p:cNvPr id="40990" name="Text Box 41"/>
            <p:cNvSpPr txBox="1">
              <a:spLocks noChangeArrowheads="1"/>
            </p:cNvSpPr>
            <p:nvPr/>
          </p:nvSpPr>
          <p:spPr bwMode="auto">
            <a:xfrm>
              <a:off x="3888" y="720"/>
              <a:ext cx="40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900" b="1">
                  <a:solidFill>
                    <a:srgbClr val="FF0000"/>
                  </a:solidFill>
                  <a:latin typeface="Times New Roman" panose="02020603050405020304" pitchFamily="18" charset="0"/>
                  <a:sym typeface="Symbol" panose="05050102010706020507" pitchFamily="18" charset="2"/>
                </a:rPr>
                <a:t> </a:t>
              </a:r>
              <a:r>
                <a:rPr kumimoji="1" lang="en-US" altLang="zh-CN" sz="2800" b="1">
                  <a:solidFill>
                    <a:srgbClr val="FF0000"/>
                  </a:solidFill>
                  <a:latin typeface="Times New Roman" panose="02020603050405020304" pitchFamily="18" charset="0"/>
                  <a:sym typeface="Symbol" panose="05050102010706020507" pitchFamily="18" charset="2"/>
                </a:rPr>
                <a:t></a:t>
              </a:r>
              <a:r>
                <a:rPr kumimoji="1" lang="en-US" altLang="zh-CN" sz="2800" b="1" i="1" baseline="-25000">
                  <a:solidFill>
                    <a:srgbClr val="FF0000"/>
                  </a:solidFill>
                  <a:latin typeface="Times New Roman" panose="02020603050405020304" pitchFamily="18" charset="0"/>
                  <a:sym typeface="Symbol" panose="05050102010706020507" pitchFamily="18" charset="2"/>
                </a:rPr>
                <a:t>i</a:t>
              </a:r>
              <a:endParaRPr kumimoji="1" lang="en-US" altLang="zh-CN" sz="2800" b="1" i="1" baseline="-25000">
                <a:solidFill>
                  <a:srgbClr val="FF0000"/>
                </a:solidFill>
                <a:latin typeface="Times New Roman" panose="02020603050405020304" pitchFamily="18" charset="0"/>
              </a:endParaRPr>
            </a:p>
          </p:txBody>
        </p:sp>
        <p:sp>
          <p:nvSpPr>
            <p:cNvPr id="40991" name="Line 42"/>
            <p:cNvSpPr>
              <a:spLocks noChangeShapeType="1"/>
            </p:cNvSpPr>
            <p:nvPr/>
          </p:nvSpPr>
          <p:spPr bwMode="auto">
            <a:xfrm flipV="1">
              <a:off x="4436" y="879"/>
              <a:ext cx="0" cy="313"/>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92" name="Line 43"/>
            <p:cNvSpPr>
              <a:spLocks noChangeShapeType="1"/>
            </p:cNvSpPr>
            <p:nvPr/>
          </p:nvSpPr>
          <p:spPr bwMode="auto">
            <a:xfrm flipV="1">
              <a:off x="4639" y="872"/>
              <a:ext cx="0" cy="183"/>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93" name="Line 44"/>
            <p:cNvSpPr>
              <a:spLocks noChangeShapeType="1"/>
            </p:cNvSpPr>
            <p:nvPr/>
          </p:nvSpPr>
          <p:spPr bwMode="auto">
            <a:xfrm>
              <a:off x="4429" y="956"/>
              <a:ext cx="210" cy="0"/>
            </a:xfrm>
            <a:prstGeom prst="line">
              <a:avLst/>
            </a:prstGeom>
            <a:noFill/>
            <a:ln w="28575">
              <a:solidFill>
                <a:srgbClr val="0000CC"/>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94" name="Text Box 45"/>
            <p:cNvSpPr txBox="1">
              <a:spLocks noChangeArrowheads="1"/>
            </p:cNvSpPr>
            <p:nvPr/>
          </p:nvSpPr>
          <p:spPr bwMode="auto">
            <a:xfrm>
              <a:off x="4442" y="667"/>
              <a:ext cx="24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0000FF"/>
                  </a:solidFill>
                  <a:latin typeface="Times New Roman" panose="02020603050405020304" pitchFamily="18" charset="0"/>
                </a:rPr>
                <a:t>b</a:t>
              </a:r>
              <a:endParaRPr kumimoji="1" lang="en-US" altLang="zh-CN" sz="2800" b="1">
                <a:solidFill>
                  <a:srgbClr val="0000FF"/>
                </a:solidFill>
                <a:latin typeface="Times New Roman" panose="02020603050405020304" pitchFamily="18" charset="0"/>
              </a:endParaRPr>
            </a:p>
          </p:txBody>
        </p:sp>
        <p:sp>
          <p:nvSpPr>
            <p:cNvPr id="40995" name="Text Box 46"/>
            <p:cNvSpPr txBox="1">
              <a:spLocks noChangeArrowheads="1"/>
            </p:cNvSpPr>
            <p:nvPr/>
          </p:nvSpPr>
          <p:spPr bwMode="auto">
            <a:xfrm>
              <a:off x="4752" y="624"/>
              <a:ext cx="2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chemeClr val="tx1"/>
                  </a:solidFill>
                  <a:latin typeface="Times New Roman" panose="02020603050405020304" pitchFamily="18" charset="0"/>
                </a:rPr>
                <a:t>B</a:t>
              </a:r>
              <a:endParaRPr kumimoji="1" lang="en-US" altLang="zh-CN" sz="2800" b="1">
                <a:solidFill>
                  <a:schemeClr val="tx1"/>
                </a:solidFill>
                <a:latin typeface="Times New Roman" panose="02020603050405020304" pitchFamily="18" charset="0"/>
              </a:endParaRPr>
            </a:p>
          </p:txBody>
        </p:sp>
        <p:grpSp>
          <p:nvGrpSpPr>
            <p:cNvPr id="40996" name="Group 47"/>
            <p:cNvGrpSpPr/>
            <p:nvPr/>
          </p:nvGrpSpPr>
          <p:grpSpPr bwMode="auto">
            <a:xfrm>
              <a:off x="3408" y="864"/>
              <a:ext cx="2064" cy="1085"/>
              <a:chOff x="3072" y="2016"/>
              <a:chExt cx="2400" cy="1272"/>
            </a:xfrm>
          </p:grpSpPr>
          <p:sp>
            <p:nvSpPr>
              <p:cNvPr id="40997" name="Text Box 48"/>
              <p:cNvSpPr txBox="1">
                <a:spLocks noChangeArrowheads="1"/>
              </p:cNvSpPr>
              <p:nvPr/>
            </p:nvSpPr>
            <p:spPr bwMode="auto">
              <a:xfrm>
                <a:off x="3072" y="2927"/>
                <a:ext cx="336"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600" b="1">
                    <a:solidFill>
                      <a:srgbClr val="FF6600"/>
                    </a:solidFill>
                    <a:latin typeface="Times New Roman" panose="02020603050405020304" pitchFamily="18" charset="0"/>
                  </a:rPr>
                  <a:t>-2</a:t>
                </a:r>
                <a:endParaRPr kumimoji="1" lang="en-US" altLang="zh-CN" sz="2600" b="1">
                  <a:solidFill>
                    <a:srgbClr val="FF6600"/>
                  </a:solidFill>
                  <a:latin typeface="Times New Roman" panose="02020603050405020304" pitchFamily="18" charset="0"/>
                </a:endParaRPr>
              </a:p>
            </p:txBody>
          </p:sp>
          <p:sp>
            <p:nvSpPr>
              <p:cNvPr id="40998" name="Text Box 49"/>
              <p:cNvSpPr txBox="1">
                <a:spLocks noChangeArrowheads="1"/>
              </p:cNvSpPr>
              <p:nvPr/>
            </p:nvSpPr>
            <p:spPr bwMode="auto">
              <a:xfrm>
                <a:off x="3305" y="2894"/>
                <a:ext cx="334"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FF6600"/>
                    </a:solidFill>
                    <a:latin typeface="Times New Roman" panose="02020603050405020304" pitchFamily="18" charset="0"/>
                  </a:rPr>
                  <a:t>-1</a:t>
                </a:r>
                <a:endParaRPr kumimoji="1" lang="en-US" altLang="zh-CN" sz="2400" b="1">
                  <a:solidFill>
                    <a:srgbClr val="FF6600"/>
                  </a:solidFill>
                  <a:latin typeface="Times New Roman" panose="02020603050405020304" pitchFamily="18" charset="0"/>
                </a:endParaRPr>
              </a:p>
            </p:txBody>
          </p:sp>
          <p:sp>
            <p:nvSpPr>
              <p:cNvPr id="40999" name="Text Box 50"/>
              <p:cNvSpPr txBox="1">
                <a:spLocks noChangeArrowheads="1"/>
              </p:cNvSpPr>
              <p:nvPr/>
            </p:nvSpPr>
            <p:spPr bwMode="auto">
              <a:xfrm>
                <a:off x="3505" y="2880"/>
                <a:ext cx="33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800" b="1">
                    <a:solidFill>
                      <a:srgbClr val="FF6600"/>
                    </a:solidFill>
                    <a:latin typeface="Times New Roman" panose="02020603050405020304" pitchFamily="18" charset="0"/>
                  </a:rPr>
                  <a:t>0</a:t>
                </a:r>
                <a:endParaRPr kumimoji="1" lang="en-US" altLang="zh-CN" sz="2800" b="1">
                  <a:solidFill>
                    <a:srgbClr val="FF6600"/>
                  </a:solidFill>
                  <a:latin typeface="Times New Roman" panose="02020603050405020304" pitchFamily="18" charset="0"/>
                </a:endParaRPr>
              </a:p>
            </p:txBody>
          </p:sp>
          <p:sp>
            <p:nvSpPr>
              <p:cNvPr id="41000" name="Text Box 51"/>
              <p:cNvSpPr txBox="1">
                <a:spLocks noChangeArrowheads="1"/>
              </p:cNvSpPr>
              <p:nvPr/>
            </p:nvSpPr>
            <p:spPr bwMode="auto">
              <a:xfrm>
                <a:off x="3792" y="2832"/>
                <a:ext cx="33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1</a:t>
                </a:r>
                <a:endParaRPr kumimoji="1" lang="en-US" altLang="zh-CN" sz="2800" b="1">
                  <a:solidFill>
                    <a:srgbClr val="FF6600"/>
                  </a:solidFill>
                  <a:latin typeface="Times New Roman" panose="02020603050405020304" pitchFamily="18" charset="0"/>
                </a:endParaRPr>
              </a:p>
            </p:txBody>
          </p:sp>
          <p:sp>
            <p:nvSpPr>
              <p:cNvPr id="41001" name="Text Box 52"/>
              <p:cNvSpPr txBox="1">
                <a:spLocks noChangeArrowheads="1"/>
              </p:cNvSpPr>
              <p:nvPr/>
            </p:nvSpPr>
            <p:spPr bwMode="auto">
              <a:xfrm>
                <a:off x="4032" y="2737"/>
                <a:ext cx="33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2</a:t>
                </a:r>
                <a:endParaRPr kumimoji="1" lang="en-US" altLang="zh-CN" sz="2800" b="1">
                  <a:solidFill>
                    <a:srgbClr val="FF6600"/>
                  </a:solidFill>
                  <a:latin typeface="Times New Roman" panose="02020603050405020304" pitchFamily="18" charset="0"/>
                </a:endParaRPr>
              </a:p>
            </p:txBody>
          </p:sp>
          <p:sp>
            <p:nvSpPr>
              <p:cNvPr id="41002" name="Text Box 53"/>
              <p:cNvSpPr txBox="1">
                <a:spLocks noChangeArrowheads="1"/>
              </p:cNvSpPr>
              <p:nvPr/>
            </p:nvSpPr>
            <p:spPr bwMode="auto">
              <a:xfrm>
                <a:off x="4272" y="2592"/>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3</a:t>
                </a:r>
                <a:endParaRPr kumimoji="1" lang="en-US" altLang="zh-CN" sz="2800" b="1">
                  <a:solidFill>
                    <a:srgbClr val="FF6600"/>
                  </a:solidFill>
                  <a:latin typeface="Times New Roman" panose="02020603050405020304" pitchFamily="18" charset="0"/>
                </a:endParaRPr>
              </a:p>
            </p:txBody>
          </p:sp>
          <p:sp>
            <p:nvSpPr>
              <p:cNvPr id="41003" name="Text Box 54"/>
              <p:cNvSpPr txBox="1">
                <a:spLocks noChangeArrowheads="1"/>
              </p:cNvSpPr>
              <p:nvPr/>
            </p:nvSpPr>
            <p:spPr bwMode="auto">
              <a:xfrm>
                <a:off x="4512" y="2448"/>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4</a:t>
                </a:r>
                <a:endParaRPr kumimoji="1" lang="en-US" altLang="zh-CN" sz="2800" b="1">
                  <a:solidFill>
                    <a:srgbClr val="FF6600"/>
                  </a:solidFill>
                  <a:latin typeface="Times New Roman" panose="02020603050405020304" pitchFamily="18" charset="0"/>
                </a:endParaRPr>
              </a:p>
            </p:txBody>
          </p:sp>
          <p:sp>
            <p:nvSpPr>
              <p:cNvPr id="41004" name="Text Box 55"/>
              <p:cNvSpPr txBox="1">
                <a:spLocks noChangeArrowheads="1"/>
              </p:cNvSpPr>
              <p:nvPr/>
            </p:nvSpPr>
            <p:spPr bwMode="auto">
              <a:xfrm>
                <a:off x="4752" y="2353"/>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5</a:t>
                </a:r>
                <a:endParaRPr kumimoji="1" lang="en-US" altLang="zh-CN" sz="2800" b="1">
                  <a:solidFill>
                    <a:srgbClr val="FF6600"/>
                  </a:solidFill>
                  <a:latin typeface="Times New Roman" panose="02020603050405020304" pitchFamily="18" charset="0"/>
                </a:endParaRPr>
              </a:p>
            </p:txBody>
          </p:sp>
          <p:sp>
            <p:nvSpPr>
              <p:cNvPr id="41005" name="Text Box 56"/>
              <p:cNvSpPr txBox="1">
                <a:spLocks noChangeArrowheads="1"/>
              </p:cNvSpPr>
              <p:nvPr/>
            </p:nvSpPr>
            <p:spPr bwMode="auto">
              <a:xfrm>
                <a:off x="4944" y="2160"/>
                <a:ext cx="33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6</a:t>
                </a:r>
                <a:endParaRPr kumimoji="1" lang="en-US" altLang="zh-CN" sz="2800" b="1">
                  <a:solidFill>
                    <a:srgbClr val="FF6600"/>
                  </a:solidFill>
                  <a:latin typeface="Times New Roman" panose="02020603050405020304" pitchFamily="18" charset="0"/>
                </a:endParaRPr>
              </a:p>
            </p:txBody>
          </p:sp>
          <p:sp>
            <p:nvSpPr>
              <p:cNvPr id="41006" name="Text Box 57"/>
              <p:cNvSpPr txBox="1">
                <a:spLocks noChangeArrowheads="1"/>
              </p:cNvSpPr>
              <p:nvPr/>
            </p:nvSpPr>
            <p:spPr bwMode="auto">
              <a:xfrm>
                <a:off x="5136" y="2016"/>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7</a:t>
                </a:r>
                <a:endParaRPr kumimoji="1" lang="en-US" altLang="zh-CN" sz="2800" b="1">
                  <a:solidFill>
                    <a:srgbClr val="FF6600"/>
                  </a:solidFill>
                  <a:latin typeface="Times New Roman" panose="02020603050405020304" pitchFamily="18" charset="0"/>
                </a:endParaRPr>
              </a:p>
            </p:txBody>
          </p:sp>
        </p:grpSp>
      </p:grpSp>
      <p:sp>
        <p:nvSpPr>
          <p:cNvPr id="762942" name="Rectangle 62"/>
          <p:cNvSpPr>
            <a:spLocks noChangeArrowheads="1"/>
          </p:cNvSpPr>
          <p:nvPr/>
        </p:nvSpPr>
        <p:spPr bwMode="auto">
          <a:xfrm>
            <a:off x="304800" y="2209800"/>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a:r>
              <a:rPr kumimoji="1" lang="en-US" altLang="zh-CN" sz="2400" b="1">
                <a:solidFill>
                  <a:srgbClr val="0000FF"/>
                </a:solidFill>
                <a:latin typeface="宋体" panose="02010600030101010101" pitchFamily="2" charset="-122"/>
              </a:rPr>
              <a:t>(1) </a:t>
            </a:r>
            <a:r>
              <a:rPr kumimoji="1" lang="zh-CN" altLang="en-US" sz="2400" b="1">
                <a:solidFill>
                  <a:srgbClr val="0000FF"/>
                </a:solidFill>
                <a:latin typeface="宋体" panose="02010600030101010101" pitchFamily="2" charset="-122"/>
              </a:rPr>
              <a:t>一些平衡条件不能满足</a:t>
            </a:r>
            <a:endParaRPr kumimoji="1" lang="zh-CN" altLang="en-US" sz="2400" b="1">
              <a:solidFill>
                <a:srgbClr val="0000FF"/>
              </a:solidFill>
              <a:latin typeface="宋体" panose="02010600030101010101" pitchFamily="2" charset="-122"/>
            </a:endParaRPr>
          </a:p>
        </p:txBody>
      </p:sp>
      <p:sp>
        <p:nvSpPr>
          <p:cNvPr id="762948" name="Text Box 68"/>
          <p:cNvSpPr txBox="1">
            <a:spLocks noChangeArrowheads="1"/>
          </p:cNvSpPr>
          <p:nvPr/>
        </p:nvSpPr>
        <p:spPr bwMode="auto">
          <a:xfrm>
            <a:off x="381000" y="1447800"/>
            <a:ext cx="4876800" cy="496888"/>
          </a:xfrm>
          <a:prstGeom prst="rect">
            <a:avLst/>
          </a:prstGeom>
          <a:solidFill>
            <a:schemeClr val="tx2">
              <a:lumMod val="20000"/>
              <a:lumOff val="80000"/>
            </a:schemeClr>
          </a:solidFill>
          <a:ln w="9525" algn="ctr">
            <a:solidFill>
              <a:srgbClr val="0066FF"/>
            </a:solidFill>
            <a:miter lim="800000"/>
          </a:ln>
        </p:spPr>
        <p:txBody>
          <a:bodyPr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lang="en-US" altLang="zh-CN" sz="3200" b="1">
                <a:solidFill>
                  <a:srgbClr val="CC3300"/>
                </a:solidFill>
                <a:ea typeface="隶书" panose="02010509060101010101" pitchFamily="49" charset="-122"/>
              </a:rPr>
              <a:t> </a:t>
            </a:r>
            <a:r>
              <a:rPr lang="zh-CN" altLang="en-US" sz="3200" b="1">
                <a:solidFill>
                  <a:srgbClr val="CC3300"/>
                </a:solidFill>
                <a:ea typeface="隶书" panose="02010509060101010101" pitchFamily="49" charset="-122"/>
              </a:rPr>
              <a:t>未知数</a:t>
            </a:r>
            <a:r>
              <a:rPr lang="en-US" altLang="zh-CN" sz="3200" b="1">
                <a:solidFill>
                  <a:srgbClr val="CC3300"/>
                </a:solidFill>
                <a:ea typeface="隶书" panose="02010509060101010101" pitchFamily="49" charset="-122"/>
              </a:rPr>
              <a:t>: </a:t>
            </a:r>
            <a:r>
              <a:rPr lang="en-US" altLang="zh-CN" sz="3200" b="1">
                <a:solidFill>
                  <a:srgbClr val="0000FF"/>
                </a:solidFill>
                <a:ea typeface="隶书" panose="02010509060101010101" pitchFamily="49" charset="-122"/>
              </a:rPr>
              <a:t>2n+1  </a:t>
            </a:r>
            <a:r>
              <a:rPr lang="zh-CN" altLang="en-US" sz="3200" b="1">
                <a:solidFill>
                  <a:srgbClr val="CC3300"/>
                </a:solidFill>
                <a:ea typeface="隶书" panose="02010509060101010101" pitchFamily="49" charset="-122"/>
              </a:rPr>
              <a:t>方程数</a:t>
            </a:r>
            <a:r>
              <a:rPr lang="en-US" altLang="zh-CN" sz="3200" b="1">
                <a:solidFill>
                  <a:srgbClr val="CC3300"/>
                </a:solidFill>
                <a:ea typeface="隶书" panose="02010509060101010101" pitchFamily="49" charset="-122"/>
              </a:rPr>
              <a:t>: </a:t>
            </a:r>
            <a:r>
              <a:rPr lang="en-US" altLang="zh-CN" sz="3200" b="1">
                <a:solidFill>
                  <a:srgbClr val="0000FF"/>
                </a:solidFill>
                <a:ea typeface="隶书" panose="02010509060101010101" pitchFamily="49" charset="-122"/>
              </a:rPr>
              <a:t>4n </a:t>
            </a:r>
            <a:endParaRPr lang="en-US" altLang="zh-CN" sz="3200" b="1">
              <a:solidFill>
                <a:srgbClr val="0000FF"/>
              </a:solidFill>
              <a:ea typeface="隶书" panose="02010509060101010101" pitchFamily="49" charset="-122"/>
            </a:endParaRPr>
          </a:p>
        </p:txBody>
      </p:sp>
      <p:sp>
        <p:nvSpPr>
          <p:cNvPr id="762950" name="Rectangle 70"/>
          <p:cNvSpPr>
            <a:spLocks noChangeArrowheads="1"/>
          </p:cNvSpPr>
          <p:nvPr/>
        </p:nvSpPr>
        <p:spPr bwMode="auto">
          <a:xfrm>
            <a:off x="304800" y="4572000"/>
            <a:ext cx="167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a:r>
              <a:rPr kumimoji="1" lang="zh-CN" altLang="en-US" sz="2400" b="1">
                <a:solidFill>
                  <a:srgbClr val="0000FF"/>
                </a:solidFill>
                <a:latin typeface="宋体" panose="02010600030101010101" pitchFamily="2" charset="-122"/>
              </a:rPr>
              <a:t>对</a:t>
            </a:r>
            <a:r>
              <a:rPr kumimoji="1" lang="en-US" altLang="zh-CN" sz="2400" b="1">
                <a:solidFill>
                  <a:srgbClr val="0000FF"/>
                </a:solidFill>
                <a:latin typeface="宋体" panose="02010600030101010101" pitchFamily="2" charset="-122"/>
              </a:rPr>
              <a:t>0#</a:t>
            </a:r>
            <a:r>
              <a:rPr kumimoji="1" lang="zh-CN" altLang="en-US" sz="2400" b="1">
                <a:solidFill>
                  <a:srgbClr val="0000FF"/>
                </a:solidFill>
                <a:latin typeface="宋体" panose="02010600030101010101" pitchFamily="2" charset="-122"/>
              </a:rPr>
              <a:t>土条</a:t>
            </a:r>
            <a:endParaRPr kumimoji="1" lang="zh-CN" altLang="en-US" sz="2400" b="1">
              <a:solidFill>
                <a:srgbClr val="0000FF"/>
              </a:solidFill>
              <a:latin typeface="宋体" panose="02010600030101010101" pitchFamily="2" charset="-122"/>
            </a:endParaRPr>
          </a:p>
        </p:txBody>
      </p:sp>
      <p:grpSp>
        <p:nvGrpSpPr>
          <p:cNvPr id="7" name="Group 86"/>
          <p:cNvGrpSpPr/>
          <p:nvPr/>
        </p:nvGrpSpPr>
        <p:grpSpPr bwMode="auto">
          <a:xfrm>
            <a:off x="4953000" y="3429000"/>
            <a:ext cx="838200" cy="1981200"/>
            <a:chOff x="3120" y="2160"/>
            <a:chExt cx="528" cy="1248"/>
          </a:xfrm>
        </p:grpSpPr>
        <p:sp>
          <p:nvSpPr>
            <p:cNvPr id="40984" name="Line 72"/>
            <p:cNvSpPr>
              <a:spLocks noChangeShapeType="1"/>
            </p:cNvSpPr>
            <p:nvPr/>
          </p:nvSpPr>
          <p:spPr bwMode="auto">
            <a:xfrm>
              <a:off x="3120" y="2352"/>
              <a:ext cx="0" cy="1056"/>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85" name="Line 73"/>
            <p:cNvSpPr>
              <a:spLocks noChangeShapeType="1"/>
            </p:cNvSpPr>
            <p:nvPr/>
          </p:nvSpPr>
          <p:spPr bwMode="auto">
            <a:xfrm>
              <a:off x="3648" y="2160"/>
              <a:ext cx="0" cy="1248"/>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86" name="Line 74"/>
            <p:cNvSpPr>
              <a:spLocks noChangeShapeType="1"/>
            </p:cNvSpPr>
            <p:nvPr/>
          </p:nvSpPr>
          <p:spPr bwMode="auto">
            <a:xfrm flipV="1">
              <a:off x="3120" y="2160"/>
              <a:ext cx="528" cy="192"/>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87" name="Line 75"/>
            <p:cNvSpPr>
              <a:spLocks noChangeShapeType="1"/>
            </p:cNvSpPr>
            <p:nvPr/>
          </p:nvSpPr>
          <p:spPr bwMode="auto">
            <a:xfrm flipV="1">
              <a:off x="3120" y="3408"/>
              <a:ext cx="528" cy="0"/>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 name="Group 91"/>
          <p:cNvGrpSpPr/>
          <p:nvPr/>
        </p:nvGrpSpPr>
        <p:grpSpPr bwMode="auto">
          <a:xfrm>
            <a:off x="5105400" y="5486400"/>
            <a:ext cx="1066800" cy="457200"/>
            <a:chOff x="3216" y="3456"/>
            <a:chExt cx="672" cy="288"/>
          </a:xfrm>
        </p:grpSpPr>
        <p:sp>
          <p:nvSpPr>
            <p:cNvPr id="40982" name="Line 77"/>
            <p:cNvSpPr>
              <a:spLocks noChangeShapeType="1"/>
            </p:cNvSpPr>
            <p:nvPr/>
          </p:nvSpPr>
          <p:spPr bwMode="auto">
            <a:xfrm flipV="1">
              <a:off x="3216" y="3504"/>
              <a:ext cx="384" cy="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83" name="Rectangle 82"/>
            <p:cNvSpPr>
              <a:spLocks noChangeArrowheads="1"/>
            </p:cNvSpPr>
            <p:nvPr/>
          </p:nvSpPr>
          <p:spPr bwMode="auto">
            <a:xfrm>
              <a:off x="3552" y="3456"/>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T</a:t>
              </a:r>
              <a:r>
                <a:rPr kumimoji="1" lang="en-US" altLang="zh-CN" sz="2400" b="1" i="1" baseline="-25000">
                  <a:solidFill>
                    <a:srgbClr val="CC3300"/>
                  </a:solidFill>
                  <a:latin typeface="Times New Roman" panose="02020603050405020304" pitchFamily="18" charset="0"/>
                  <a:sym typeface="Symbol" panose="05050102010706020507" pitchFamily="18" charset="2"/>
                </a:rPr>
                <a:t>0</a:t>
              </a:r>
              <a:endParaRPr kumimoji="1" lang="en-US" altLang="zh-CN" sz="2400" b="1" i="1" baseline="-25000">
                <a:solidFill>
                  <a:srgbClr val="CC3300"/>
                </a:solidFill>
                <a:latin typeface="Times New Roman" panose="02020603050405020304" pitchFamily="18" charset="0"/>
                <a:sym typeface="Symbol" panose="05050102010706020507" pitchFamily="18" charset="2"/>
              </a:endParaRPr>
            </a:p>
          </p:txBody>
        </p:sp>
      </p:grpSp>
      <p:grpSp>
        <p:nvGrpSpPr>
          <p:cNvPr id="9" name="Group 92"/>
          <p:cNvGrpSpPr/>
          <p:nvPr/>
        </p:nvGrpSpPr>
        <p:grpSpPr bwMode="auto">
          <a:xfrm>
            <a:off x="5334000" y="5638800"/>
            <a:ext cx="635000" cy="838200"/>
            <a:chOff x="3360" y="3552"/>
            <a:chExt cx="400" cy="528"/>
          </a:xfrm>
        </p:grpSpPr>
        <p:sp>
          <p:nvSpPr>
            <p:cNvPr id="40980" name="Line 78"/>
            <p:cNvSpPr>
              <a:spLocks noChangeShapeType="1"/>
            </p:cNvSpPr>
            <p:nvPr/>
          </p:nvSpPr>
          <p:spPr bwMode="auto">
            <a:xfrm rot="10800000">
              <a:off x="3360" y="3552"/>
              <a:ext cx="0" cy="288"/>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81" name="Rectangle 83"/>
            <p:cNvSpPr>
              <a:spLocks noChangeArrowheads="1"/>
            </p:cNvSpPr>
            <p:nvPr/>
          </p:nvSpPr>
          <p:spPr bwMode="auto">
            <a:xfrm>
              <a:off x="3360" y="3792"/>
              <a:ext cx="4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N</a:t>
              </a:r>
              <a:r>
                <a:rPr kumimoji="1" lang="en-US" altLang="zh-CN" sz="2400" b="1" i="1" baseline="-25000">
                  <a:solidFill>
                    <a:srgbClr val="CC3300"/>
                  </a:solidFill>
                  <a:latin typeface="Times New Roman" panose="02020603050405020304" pitchFamily="18" charset="0"/>
                  <a:sym typeface="Symbol" panose="05050102010706020507" pitchFamily="18" charset="2"/>
                </a:rPr>
                <a:t>0</a:t>
              </a:r>
              <a:endParaRPr kumimoji="1" lang="en-US" altLang="zh-CN" sz="2400" b="1" i="1">
                <a:solidFill>
                  <a:srgbClr val="CC3300"/>
                </a:solidFill>
                <a:latin typeface="Times New Roman" panose="02020603050405020304" pitchFamily="18" charset="0"/>
                <a:sym typeface="Symbol" panose="05050102010706020507" pitchFamily="18" charset="2"/>
              </a:endParaRPr>
            </a:p>
          </p:txBody>
        </p:sp>
      </p:grpSp>
      <p:grpSp>
        <p:nvGrpSpPr>
          <p:cNvPr id="10" name="Group 90"/>
          <p:cNvGrpSpPr/>
          <p:nvPr/>
        </p:nvGrpSpPr>
        <p:grpSpPr bwMode="auto">
          <a:xfrm>
            <a:off x="5105400" y="4267200"/>
            <a:ext cx="838200" cy="990600"/>
            <a:chOff x="3216" y="2688"/>
            <a:chExt cx="528" cy="624"/>
          </a:xfrm>
        </p:grpSpPr>
        <p:sp>
          <p:nvSpPr>
            <p:cNvPr id="40978" name="Line 76"/>
            <p:cNvSpPr>
              <a:spLocks noChangeShapeType="1"/>
            </p:cNvSpPr>
            <p:nvPr/>
          </p:nvSpPr>
          <p:spPr bwMode="auto">
            <a:xfrm>
              <a:off x="3360" y="2688"/>
              <a:ext cx="0" cy="336"/>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79" name="Rectangle 85"/>
            <p:cNvSpPr>
              <a:spLocks noChangeArrowheads="1"/>
            </p:cNvSpPr>
            <p:nvPr/>
          </p:nvSpPr>
          <p:spPr bwMode="auto">
            <a:xfrm>
              <a:off x="3216" y="3024"/>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smtClean="0">
                  <a:solidFill>
                    <a:srgbClr val="CC3300"/>
                  </a:solidFill>
                  <a:latin typeface="Times New Roman" panose="02020603050405020304" pitchFamily="18" charset="0"/>
                  <a:sym typeface="Symbol" panose="05050102010706020507" pitchFamily="18" charset="2"/>
                </a:rPr>
                <a:t>G</a:t>
              </a:r>
              <a:r>
                <a:rPr kumimoji="1" lang="en-US" altLang="zh-CN" sz="2400" b="1" i="1" baseline="-25000" dirty="0" smtClean="0">
                  <a:solidFill>
                    <a:srgbClr val="CC3300"/>
                  </a:solidFill>
                  <a:latin typeface="Times New Roman" panose="02020603050405020304" pitchFamily="18" charset="0"/>
                  <a:sym typeface="Symbol" panose="05050102010706020507" pitchFamily="18" charset="2"/>
                </a:rPr>
                <a:t>0</a:t>
              </a:r>
              <a:endParaRPr kumimoji="1" lang="en-US" altLang="zh-CN" sz="2400" b="1" i="1" baseline="-25000" dirty="0">
                <a:solidFill>
                  <a:srgbClr val="CC3300"/>
                </a:solidFill>
                <a:latin typeface="Times New Roman" panose="02020603050405020304" pitchFamily="18" charset="0"/>
                <a:sym typeface="Symbol" panose="05050102010706020507" pitchFamily="18" charset="2"/>
              </a:endParaRPr>
            </a:p>
          </p:txBody>
        </p:sp>
      </p:grpSp>
      <mc:AlternateContent xmlns:mc="http://schemas.openxmlformats.org/markup-compatibility/2006">
        <mc:Choice xmlns:a14="http://schemas.microsoft.com/office/drawing/2010/main" Requires="a14">
          <p:sp>
            <p:nvSpPr>
              <p:cNvPr id="81" name="文本框 80"/>
              <p:cNvSpPr txBox="1"/>
              <p:nvPr/>
            </p:nvSpPr>
            <p:spPr>
              <a:xfrm>
                <a:off x="940661" y="2891768"/>
                <a:ext cx="1857240" cy="36933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𝑁</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𝐺</m:t>
                          </m:r>
                        </m:e>
                        <m:sub>
                          <m:r>
                            <a:rPr lang="en-US" altLang="zh-CN" sz="2400" b="0" i="1" smtClean="0">
                              <a:latin typeface="Cambria Math" panose="02040503050406030204" pitchFamily="18" charset="0"/>
                            </a:rPr>
                            <m:t>𝑖</m:t>
                          </m:r>
                        </m:sub>
                      </m:sSub>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cos</m:t>
                          </m:r>
                        </m:fName>
                        <m:e>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𝜃</m:t>
                              </m:r>
                            </m:e>
                            <m:sub>
                              <m:r>
                                <a:rPr lang="en-US" altLang="zh-CN" sz="2400" b="0" i="1" smtClean="0">
                                  <a:latin typeface="Cambria Math" panose="02040503050406030204" pitchFamily="18" charset="0"/>
                                </a:rPr>
                                <m:t>𝑖</m:t>
                              </m:r>
                            </m:sub>
                          </m:sSub>
                        </m:e>
                      </m:func>
                    </m:oMath>
                  </m:oMathPara>
                </a14:m>
                <a:endParaRPr lang="zh-CN" altLang="en-US" sz="2400" dirty="0">
                  <a:latin typeface="Times New Roman" panose="02020603050405020304" pitchFamily="18" charset="0"/>
                  <a:cs typeface="Times New Roman" panose="02020603050405020304" pitchFamily="18" charset="0"/>
                </a:endParaRPr>
              </a:p>
            </p:txBody>
          </p:sp>
        </mc:Choice>
        <mc:Fallback>
          <p:sp>
            <p:nvSpPr>
              <p:cNvPr id="81" name="文本框 80"/>
              <p:cNvSpPr txBox="1">
                <a:spLocks noRot="1" noChangeAspect="1" noMove="1" noResize="1" noEditPoints="1" noAdjustHandles="1" noChangeArrowheads="1" noChangeShapeType="1" noTextEdit="1"/>
              </p:cNvSpPr>
              <p:nvPr/>
            </p:nvSpPr>
            <p:spPr>
              <a:xfrm>
                <a:off x="940661" y="2891768"/>
                <a:ext cx="1857240" cy="369332"/>
              </a:xfrm>
              <a:prstGeom prst="rect">
                <a:avLst/>
              </a:prstGeom>
              <a:blipFill rotWithShape="1">
                <a:blip r:embed="rId1"/>
                <a:stretch>
                  <a:fillRect l="-12" t="-166" r="-1841" b="10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2" name="文本框 81"/>
              <p:cNvSpPr txBox="1"/>
              <p:nvPr/>
            </p:nvSpPr>
            <p:spPr>
              <a:xfrm>
                <a:off x="649215" y="3633130"/>
                <a:ext cx="3416576" cy="58233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𝑇</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𝑖</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𝑙</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𝑁</m:t>
                              </m:r>
                            </m:e>
                            <m:sub>
                              <m:r>
                                <a:rPr lang="en-US" altLang="zh-CN" sz="2000" b="0" i="1" smtClean="0">
                                  <a:latin typeface="Cambria Math" panose="02040503050406030204" pitchFamily="18" charset="0"/>
                                </a:rPr>
                                <m:t>𝑖</m:t>
                              </m:r>
                            </m:sub>
                          </m:sSub>
                          <m:func>
                            <m:funcPr>
                              <m:ctrlPr>
                                <a:rPr lang="en-US" altLang="zh-CN" sz="2000" b="0" i="1" smtClean="0">
                                  <a:latin typeface="Cambria Math" panose="02040503050406030204" pitchFamily="18" charset="0"/>
                                </a:rPr>
                              </m:ctrlPr>
                            </m:funcPr>
                            <m:fName>
                              <m:r>
                                <m:rPr>
                                  <m:sty m:val="p"/>
                                </m:rPr>
                                <a:rPr lang="en-US" altLang="zh-CN" sz="2000" b="0" i="0" smtClean="0">
                                  <a:latin typeface="Cambria Math" panose="02040503050406030204" pitchFamily="18" charset="0"/>
                                </a:rPr>
                                <m:t>tan</m:t>
                              </m:r>
                            </m:fName>
                            <m:e>
                              <m:sSub>
                                <m:sSubPr>
                                  <m:ctrlPr>
                                    <a:rPr lang="en-US" altLang="zh-CN" sz="2000" b="0" i="1" smtClean="0">
                                      <a:latin typeface="Cambria Math" panose="02040503050406030204" pitchFamily="18" charset="0"/>
                                    </a:rPr>
                                  </m:ctrlPr>
                                </m:sSubPr>
                                <m:e>
                                  <m:r>
                                    <a:rPr lang="zh-CN" altLang="en-US" sz="2000" b="0" i="1" smtClean="0">
                                      <a:latin typeface="Cambria Math" panose="02040503050406030204" pitchFamily="18" charset="0"/>
                                    </a:rPr>
                                    <m:t>𝜑</m:t>
                                  </m:r>
                                </m:e>
                                <m:sub>
                                  <m:r>
                                    <a:rPr lang="en-US" altLang="zh-CN" sz="2000" b="0" i="1" smtClean="0">
                                      <a:latin typeface="Cambria Math" panose="02040503050406030204" pitchFamily="18" charset="0"/>
                                    </a:rPr>
                                    <m:t>𝑖</m:t>
                                  </m:r>
                                </m:sub>
                              </m:sSub>
                            </m:e>
                          </m:func>
                        </m:num>
                        <m:den>
                          <m:r>
                            <a:rPr lang="en-US" altLang="zh-CN" sz="2000" b="0" i="1" smtClean="0">
                              <a:latin typeface="Cambria Math" panose="02040503050406030204" pitchFamily="18" charset="0"/>
                            </a:rPr>
                            <m:t>𝐾</m:t>
                          </m:r>
                        </m:den>
                      </m:f>
                      <m:r>
                        <a:rPr lang="en-US" altLang="zh-CN" sz="2000" b="0" i="1" smtClean="0">
                          <a:solidFill>
                            <a:srgbClr val="C00000"/>
                          </a:solidFill>
                          <a:latin typeface="Cambria Math" panose="02040503050406030204" pitchFamily="18" charset="0"/>
                          <a:ea typeface="Cambria Math" panose="02040503050406030204" pitchFamily="18" charset="0"/>
                        </a:rPr>
                        <m:t>≠</m:t>
                      </m:r>
                      <m:sSub>
                        <m:sSubPr>
                          <m:ctrlPr>
                            <a:rPr lang="en-US" altLang="zh-CN" sz="2000" b="0" i="1" smtClean="0">
                              <a:solidFill>
                                <a:srgbClr val="C00000"/>
                              </a:solidFill>
                              <a:latin typeface="Cambria Math" panose="02040503050406030204" pitchFamily="18" charset="0"/>
                              <a:ea typeface="Cambria Math" panose="02040503050406030204" pitchFamily="18" charset="0"/>
                            </a:rPr>
                          </m:ctrlPr>
                        </m:sSubPr>
                        <m:e>
                          <m:r>
                            <a:rPr lang="en-US" altLang="zh-CN" sz="2000" b="0" i="1" smtClean="0">
                              <a:solidFill>
                                <a:srgbClr val="C00000"/>
                              </a:solidFill>
                              <a:latin typeface="Cambria Math" panose="02040503050406030204" pitchFamily="18" charset="0"/>
                              <a:ea typeface="Cambria Math" panose="02040503050406030204" pitchFamily="18" charset="0"/>
                            </a:rPr>
                            <m:t>𝐺</m:t>
                          </m:r>
                        </m:e>
                        <m:sub>
                          <m:r>
                            <a:rPr lang="en-US" altLang="zh-CN" sz="2000" b="0" i="1" smtClean="0">
                              <a:solidFill>
                                <a:srgbClr val="C00000"/>
                              </a:solidFill>
                              <a:latin typeface="Cambria Math" panose="02040503050406030204" pitchFamily="18" charset="0"/>
                              <a:ea typeface="Cambria Math" panose="02040503050406030204" pitchFamily="18" charset="0"/>
                            </a:rPr>
                            <m:t>𝑖</m:t>
                          </m:r>
                        </m:sub>
                      </m:sSub>
                      <m:func>
                        <m:funcPr>
                          <m:ctrlPr>
                            <a:rPr lang="en-US" altLang="zh-CN" sz="2000" b="0" i="1" smtClean="0">
                              <a:solidFill>
                                <a:srgbClr val="C00000"/>
                              </a:solidFill>
                              <a:latin typeface="Cambria Math" panose="02040503050406030204" pitchFamily="18" charset="0"/>
                              <a:ea typeface="Cambria Math" panose="02040503050406030204" pitchFamily="18" charset="0"/>
                            </a:rPr>
                          </m:ctrlPr>
                        </m:funcPr>
                        <m:fName>
                          <m:r>
                            <m:rPr>
                              <m:sty m:val="p"/>
                            </m:rPr>
                            <a:rPr lang="en-US" altLang="zh-CN" sz="2000" b="0" i="0" smtClean="0">
                              <a:solidFill>
                                <a:srgbClr val="C00000"/>
                              </a:solidFill>
                              <a:latin typeface="Cambria Math" panose="02040503050406030204" pitchFamily="18" charset="0"/>
                              <a:ea typeface="Cambria Math" panose="02040503050406030204" pitchFamily="18" charset="0"/>
                            </a:rPr>
                            <m:t>sin</m:t>
                          </m:r>
                        </m:fName>
                        <m:e>
                          <m:sSub>
                            <m:sSubPr>
                              <m:ctrlPr>
                                <a:rPr lang="en-US" altLang="zh-CN" sz="2000" b="0" i="1" smtClean="0">
                                  <a:solidFill>
                                    <a:srgbClr val="C00000"/>
                                  </a:solidFill>
                                  <a:latin typeface="Cambria Math" panose="02040503050406030204" pitchFamily="18" charset="0"/>
                                  <a:ea typeface="Cambria Math" panose="02040503050406030204" pitchFamily="18" charset="0"/>
                                </a:rPr>
                              </m:ctrlPr>
                            </m:sSubPr>
                            <m:e>
                              <m:r>
                                <a:rPr lang="zh-CN" altLang="en-US" sz="2000" b="0" i="1" smtClean="0">
                                  <a:solidFill>
                                    <a:srgbClr val="C00000"/>
                                  </a:solidFill>
                                  <a:latin typeface="Cambria Math" panose="02040503050406030204" pitchFamily="18" charset="0"/>
                                  <a:ea typeface="Cambria Math" panose="02040503050406030204" pitchFamily="18" charset="0"/>
                                </a:rPr>
                                <m:t>𝜃</m:t>
                              </m:r>
                            </m:e>
                            <m:sub>
                              <m:r>
                                <a:rPr lang="en-US" altLang="zh-CN" sz="2000" b="0" i="1" smtClean="0">
                                  <a:solidFill>
                                    <a:srgbClr val="C00000"/>
                                  </a:solidFill>
                                  <a:latin typeface="Cambria Math" panose="02040503050406030204" pitchFamily="18" charset="0"/>
                                  <a:ea typeface="Cambria Math" panose="02040503050406030204" pitchFamily="18" charset="0"/>
                                </a:rPr>
                                <m:t>𝑖</m:t>
                              </m:r>
                            </m:sub>
                          </m:sSub>
                        </m:e>
                      </m:func>
                    </m:oMath>
                  </m:oMathPara>
                </a14:m>
                <a:endParaRPr lang="zh-CN" altLang="en-US" sz="2000" dirty="0">
                  <a:latin typeface="Times New Roman" panose="02020603050405020304" pitchFamily="18" charset="0"/>
                  <a:cs typeface="Times New Roman" panose="02020603050405020304" pitchFamily="18" charset="0"/>
                </a:endParaRPr>
              </a:p>
            </p:txBody>
          </p:sp>
        </mc:Choice>
        <mc:Fallback>
          <p:sp>
            <p:nvSpPr>
              <p:cNvPr id="82" name="文本框 81"/>
              <p:cNvSpPr txBox="1">
                <a:spLocks noRot="1" noChangeAspect="1" noMove="1" noResize="1" noEditPoints="1" noAdjustHandles="1" noChangeArrowheads="1" noChangeShapeType="1" noTextEdit="1"/>
              </p:cNvSpPr>
              <p:nvPr/>
            </p:nvSpPr>
            <p:spPr>
              <a:xfrm>
                <a:off x="649215" y="3633130"/>
                <a:ext cx="3416576" cy="582339"/>
              </a:xfrm>
              <a:prstGeom prst="rect">
                <a:avLst/>
              </a:prstGeom>
              <a:blipFill rotWithShape="1">
                <a:blip r:embed="rId2"/>
                <a:stretch>
                  <a:fillRect l="-7" t="-51" r="-282" b="5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3" name="文本框 82"/>
              <p:cNvSpPr txBox="1"/>
              <p:nvPr/>
            </p:nvSpPr>
            <p:spPr>
              <a:xfrm>
                <a:off x="819423" y="5392357"/>
                <a:ext cx="2879058" cy="58233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𝑇</m:t>
                          </m:r>
                        </m:e>
                        <m:sub>
                          <m:r>
                            <a:rPr lang="en-US" altLang="zh-CN" sz="2000" b="0" i="1" smtClean="0">
                              <a:latin typeface="Cambria Math" panose="02040503050406030204" pitchFamily="18" charset="0"/>
                            </a:rPr>
                            <m:t>0</m:t>
                          </m:r>
                        </m:sub>
                      </m:sSub>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0</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𝑙</m:t>
                              </m:r>
                            </m:e>
                            <m:sub>
                              <m:r>
                                <a:rPr lang="en-US" altLang="zh-CN" sz="2000" b="0" i="1" smtClean="0">
                                  <a:latin typeface="Cambria Math" panose="02040503050406030204" pitchFamily="18" charset="0"/>
                                </a:rPr>
                                <m:t>0</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𝑁</m:t>
                              </m:r>
                            </m:e>
                            <m:sub>
                              <m:r>
                                <a:rPr lang="en-US" altLang="zh-CN" sz="2000" b="0" i="1" smtClean="0">
                                  <a:latin typeface="Cambria Math" panose="02040503050406030204" pitchFamily="18" charset="0"/>
                                </a:rPr>
                                <m:t>0</m:t>
                              </m:r>
                            </m:sub>
                          </m:sSub>
                          <m:func>
                            <m:funcPr>
                              <m:ctrlPr>
                                <a:rPr lang="en-US" altLang="zh-CN" sz="2000" b="0" i="1" smtClean="0">
                                  <a:latin typeface="Cambria Math" panose="02040503050406030204" pitchFamily="18" charset="0"/>
                                </a:rPr>
                              </m:ctrlPr>
                            </m:funcPr>
                            <m:fName>
                              <m:r>
                                <m:rPr>
                                  <m:sty m:val="p"/>
                                </m:rPr>
                                <a:rPr lang="en-US" altLang="zh-CN" sz="2000" b="0" i="0" smtClean="0">
                                  <a:latin typeface="Cambria Math" panose="02040503050406030204" pitchFamily="18" charset="0"/>
                                </a:rPr>
                                <m:t>tan</m:t>
                              </m:r>
                            </m:fName>
                            <m:e>
                              <m:sSub>
                                <m:sSubPr>
                                  <m:ctrlPr>
                                    <a:rPr lang="en-US" altLang="zh-CN" sz="2000" b="0" i="1" smtClean="0">
                                      <a:latin typeface="Cambria Math" panose="02040503050406030204" pitchFamily="18" charset="0"/>
                                    </a:rPr>
                                  </m:ctrlPr>
                                </m:sSubPr>
                                <m:e>
                                  <m:r>
                                    <a:rPr lang="zh-CN" altLang="en-US" sz="2000" b="0" i="1" smtClean="0">
                                      <a:latin typeface="Cambria Math" panose="02040503050406030204" pitchFamily="18" charset="0"/>
                                    </a:rPr>
                                    <m:t>𝜑</m:t>
                                  </m:r>
                                </m:e>
                                <m:sub>
                                  <m:r>
                                    <a:rPr lang="en-US" altLang="zh-CN" sz="2000" b="0" i="1" smtClean="0">
                                      <a:latin typeface="Cambria Math" panose="02040503050406030204" pitchFamily="18" charset="0"/>
                                    </a:rPr>
                                    <m:t>0</m:t>
                                  </m:r>
                                </m:sub>
                              </m:sSub>
                            </m:e>
                          </m:func>
                        </m:num>
                        <m:den>
                          <m:r>
                            <a:rPr lang="en-US" altLang="zh-CN" sz="2000" b="0" i="1" smtClean="0">
                              <a:latin typeface="Cambria Math" panose="02040503050406030204" pitchFamily="18" charset="0"/>
                            </a:rPr>
                            <m:t>𝐾</m:t>
                          </m:r>
                        </m:den>
                      </m:f>
                      <m:r>
                        <a:rPr lang="en-US" altLang="zh-CN" sz="2000" b="0" i="1" smtClean="0">
                          <a:solidFill>
                            <a:srgbClr val="C00000"/>
                          </a:solidFill>
                          <a:latin typeface="Cambria Math" panose="02040503050406030204" pitchFamily="18" charset="0"/>
                        </a:rPr>
                        <m:t>&gt;</m:t>
                      </m:r>
                      <m:r>
                        <a:rPr lang="en-US" altLang="zh-CN" sz="2000" b="0" i="1" smtClean="0">
                          <a:solidFill>
                            <a:srgbClr val="C00000"/>
                          </a:solidFill>
                          <a:latin typeface="Cambria Math" panose="02040503050406030204" pitchFamily="18" charset="0"/>
                        </a:rPr>
                        <m:t>0</m:t>
                      </m:r>
                    </m:oMath>
                  </m:oMathPara>
                </a14:m>
                <a:endParaRPr lang="zh-CN" altLang="en-US" sz="2000" dirty="0">
                  <a:latin typeface="Times New Roman" panose="02020603050405020304" pitchFamily="18" charset="0"/>
                  <a:cs typeface="Times New Roman" panose="02020603050405020304" pitchFamily="18" charset="0"/>
                </a:endParaRPr>
              </a:p>
            </p:txBody>
          </p:sp>
        </mc:Choice>
        <mc:Fallback>
          <p:sp>
            <p:nvSpPr>
              <p:cNvPr id="83" name="文本框 82"/>
              <p:cNvSpPr txBox="1">
                <a:spLocks noRot="1" noChangeAspect="1" noMove="1" noResize="1" noEditPoints="1" noAdjustHandles="1" noChangeArrowheads="1" noChangeShapeType="1" noTextEdit="1"/>
              </p:cNvSpPr>
              <p:nvPr/>
            </p:nvSpPr>
            <p:spPr>
              <a:xfrm>
                <a:off x="819423" y="5392357"/>
                <a:ext cx="2879058" cy="582339"/>
              </a:xfrm>
              <a:prstGeom prst="rect">
                <a:avLst/>
              </a:prstGeom>
              <a:blipFill rotWithShape="1">
                <a:blip r:embed="rId3"/>
                <a:stretch>
                  <a:fillRect l="-9" t="-98" r="-1227" b="106"/>
                </a:stretch>
              </a:blipFill>
            </p:spPr>
            <p:txBody>
              <a:bodyPr/>
              <a:lstStyle/>
              <a:p>
                <a:r>
                  <a:rPr lang="zh-CN" altLang="en-US">
                    <a:noFill/>
                  </a:rPr>
                  <a:t> </a:t>
                </a:r>
              </a:p>
            </p:txBody>
          </p:sp>
        </mc:Fallback>
      </mc:AlternateContent>
      <p:sp>
        <p:nvSpPr>
          <p:cNvPr id="84" name="Rectangle 6"/>
          <p:cNvSpPr>
            <a:spLocks noChangeArrowheads="1"/>
          </p:cNvSpPr>
          <p:nvPr/>
        </p:nvSpPr>
        <p:spPr bwMode="auto">
          <a:xfrm>
            <a:off x="0" y="-7396"/>
            <a:ext cx="41148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黏性土坡的稳定性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62948"/>
                                        </p:tgtEl>
                                        <p:attrNameLst>
                                          <p:attrName>style.visibility</p:attrName>
                                        </p:attrNameLst>
                                      </p:cBhvr>
                                      <p:to>
                                        <p:strVal val="visible"/>
                                      </p:to>
                                    </p:set>
                                    <p:animEffect transition="in" filter="dissolve">
                                      <p:cBhvr>
                                        <p:cTn id="7" dur="500"/>
                                        <p:tgtEl>
                                          <p:spTgt spid="76294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62942"/>
                                        </p:tgtEl>
                                        <p:attrNameLst>
                                          <p:attrName>style.visibility</p:attrName>
                                        </p:attrNameLst>
                                      </p:cBhvr>
                                      <p:to>
                                        <p:strVal val="visible"/>
                                      </p:to>
                                    </p:set>
                                    <p:animEffect transition="in" filter="wipe(left)">
                                      <p:cBhvr>
                                        <p:cTn id="12" dur="500"/>
                                        <p:tgtEl>
                                          <p:spTgt spid="76294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762950"/>
                                        </p:tgtEl>
                                        <p:attrNameLst>
                                          <p:attrName>style.visibility</p:attrName>
                                        </p:attrNameLst>
                                      </p:cBhvr>
                                      <p:to>
                                        <p:strVal val="visible"/>
                                      </p:to>
                                    </p:set>
                                    <p:anim calcmode="lin" valueType="num">
                                      <p:cBhvr additive="base">
                                        <p:cTn id="17" dur="500" fill="hold"/>
                                        <p:tgtEl>
                                          <p:spTgt spid="762950"/>
                                        </p:tgtEl>
                                        <p:attrNameLst>
                                          <p:attrName>ppt_x</p:attrName>
                                        </p:attrNameLst>
                                      </p:cBhvr>
                                      <p:tavLst>
                                        <p:tav tm="0">
                                          <p:val>
                                            <p:strVal val="0-#ppt_w/2"/>
                                          </p:val>
                                        </p:tav>
                                        <p:tav tm="100000">
                                          <p:val>
                                            <p:strVal val="#ppt_x"/>
                                          </p:val>
                                        </p:tav>
                                      </p:tavLst>
                                    </p:anim>
                                    <p:anim calcmode="lin" valueType="num">
                                      <p:cBhvr additive="base">
                                        <p:cTn id="18" dur="500" fill="hold"/>
                                        <p:tgtEl>
                                          <p:spTgt spid="762950"/>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up)">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up)">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left)">
                                      <p:cBhvr>
                                        <p:cTn id="33"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wipe(down)">
                                      <p:cBhvr>
                                        <p:cTn id="3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2942" grpId="0" autoUpdateAnimBg="0"/>
      <p:bldP spid="762948" grpId="0" bldLvl="0" animBg="1" autoUpdateAnimBg="0"/>
      <p:bldP spid="762950" grpId="0"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41988" name="Group 19"/>
          <p:cNvGrpSpPr/>
          <p:nvPr/>
        </p:nvGrpSpPr>
        <p:grpSpPr bwMode="auto">
          <a:xfrm>
            <a:off x="4876800" y="152400"/>
            <a:ext cx="4267200" cy="3090863"/>
            <a:chOff x="2976" y="117"/>
            <a:chExt cx="2688" cy="1947"/>
          </a:xfrm>
        </p:grpSpPr>
        <p:sp>
          <p:nvSpPr>
            <p:cNvPr id="41997" name="Text Box 20"/>
            <p:cNvSpPr txBox="1">
              <a:spLocks noChangeArrowheads="1"/>
            </p:cNvSpPr>
            <p:nvPr/>
          </p:nvSpPr>
          <p:spPr bwMode="auto">
            <a:xfrm>
              <a:off x="2976" y="1737"/>
              <a:ext cx="41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dirty="0" smtClean="0">
                  <a:solidFill>
                    <a:schemeClr val="tx1"/>
                  </a:solidFill>
                  <a:latin typeface="Times New Roman" panose="02020603050405020304" pitchFamily="18" charset="0"/>
                </a:rPr>
                <a:t>C</a:t>
              </a:r>
              <a:endParaRPr kumimoji="1" lang="en-US" altLang="zh-CN" sz="2800" b="1" dirty="0">
                <a:solidFill>
                  <a:schemeClr val="tx1"/>
                </a:solidFill>
                <a:latin typeface="Times New Roman" panose="02020603050405020304" pitchFamily="18" charset="0"/>
              </a:endParaRPr>
            </a:p>
          </p:txBody>
        </p:sp>
        <p:grpSp>
          <p:nvGrpSpPr>
            <p:cNvPr id="41998" name="Group 21"/>
            <p:cNvGrpSpPr/>
            <p:nvPr/>
          </p:nvGrpSpPr>
          <p:grpSpPr bwMode="auto">
            <a:xfrm>
              <a:off x="3052" y="117"/>
              <a:ext cx="2612" cy="1921"/>
              <a:chOff x="2633" y="1296"/>
              <a:chExt cx="3079" cy="2016"/>
            </a:xfrm>
          </p:grpSpPr>
          <p:sp>
            <p:nvSpPr>
              <p:cNvPr id="42016" name="Freeform 22"/>
              <p:cNvSpPr/>
              <p:nvPr/>
            </p:nvSpPr>
            <p:spPr bwMode="auto">
              <a:xfrm>
                <a:off x="2633" y="2032"/>
                <a:ext cx="3022" cy="1189"/>
              </a:xfrm>
              <a:custGeom>
                <a:avLst/>
                <a:gdLst>
                  <a:gd name="T0" fmla="*/ 0 w 1785"/>
                  <a:gd name="T1" fmla="*/ 2496 h 763"/>
                  <a:gd name="T2" fmla="*/ 1339 w 1785"/>
                  <a:gd name="T3" fmla="*/ 2506 h 763"/>
                  <a:gd name="T4" fmla="*/ 6647 w 1785"/>
                  <a:gd name="T5" fmla="*/ 0 h 763"/>
                  <a:gd name="T6" fmla="*/ 8661 w 1785"/>
                  <a:gd name="T7" fmla="*/ 0 h 763"/>
                  <a:gd name="T8" fmla="*/ 7920 w 1785"/>
                  <a:gd name="T9" fmla="*/ 0 h 763"/>
                  <a:gd name="T10" fmla="*/ 7652 w 1785"/>
                  <a:gd name="T11" fmla="*/ 597 h 763"/>
                  <a:gd name="T12" fmla="*/ 7254 w 1785"/>
                  <a:gd name="T13" fmla="*/ 1153 h 763"/>
                  <a:gd name="T14" fmla="*/ 6931 w 1785"/>
                  <a:gd name="T15" fmla="*/ 1487 h 763"/>
                  <a:gd name="T16" fmla="*/ 6589 w 1785"/>
                  <a:gd name="T17" fmla="*/ 1797 h 763"/>
                  <a:gd name="T18" fmla="*/ 6091 w 1785"/>
                  <a:gd name="T19" fmla="*/ 2135 h 763"/>
                  <a:gd name="T20" fmla="*/ 5484 w 1785"/>
                  <a:gd name="T21" fmla="*/ 2453 h 763"/>
                  <a:gd name="T22" fmla="*/ 5018 w 1785"/>
                  <a:gd name="T23" fmla="*/ 2615 h 763"/>
                  <a:gd name="T24" fmla="*/ 4425 w 1785"/>
                  <a:gd name="T25" fmla="*/ 2752 h 763"/>
                  <a:gd name="T26" fmla="*/ 3887 w 1785"/>
                  <a:gd name="T27" fmla="*/ 2841 h 763"/>
                  <a:gd name="T28" fmla="*/ 3213 w 1785"/>
                  <a:gd name="T29" fmla="*/ 2888 h 763"/>
                  <a:gd name="T30" fmla="*/ 2760 w 1785"/>
                  <a:gd name="T31" fmla="*/ 2888 h 763"/>
                  <a:gd name="T32" fmla="*/ 2255 w 1785"/>
                  <a:gd name="T33" fmla="*/ 2861 h 763"/>
                  <a:gd name="T34" fmla="*/ 1639 w 1785"/>
                  <a:gd name="T35" fmla="*/ 2771 h 763"/>
                  <a:gd name="T36" fmla="*/ 1150 w 1785"/>
                  <a:gd name="T37" fmla="*/ 2652 h 763"/>
                  <a:gd name="T38" fmla="*/ 733 w 1785"/>
                  <a:gd name="T39" fmla="*/ 2523 h 763"/>
                  <a:gd name="T40" fmla="*/ 650 w 1785"/>
                  <a:gd name="T41" fmla="*/ 2506 h 76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785"/>
                  <a:gd name="T64" fmla="*/ 0 h 763"/>
                  <a:gd name="T65" fmla="*/ 1785 w 1785"/>
                  <a:gd name="T66" fmla="*/ 763 h 76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785" h="763">
                    <a:moveTo>
                      <a:pt x="0" y="660"/>
                    </a:moveTo>
                    <a:lnTo>
                      <a:pt x="276" y="662"/>
                    </a:lnTo>
                    <a:lnTo>
                      <a:pt x="1370" y="0"/>
                    </a:lnTo>
                    <a:lnTo>
                      <a:pt x="1785" y="0"/>
                    </a:lnTo>
                    <a:lnTo>
                      <a:pt x="1632" y="0"/>
                    </a:lnTo>
                    <a:lnTo>
                      <a:pt x="1577" y="158"/>
                    </a:lnTo>
                    <a:lnTo>
                      <a:pt x="1495" y="305"/>
                    </a:lnTo>
                    <a:lnTo>
                      <a:pt x="1428" y="393"/>
                    </a:lnTo>
                    <a:lnTo>
                      <a:pt x="1358" y="475"/>
                    </a:lnTo>
                    <a:lnTo>
                      <a:pt x="1255" y="564"/>
                    </a:lnTo>
                    <a:lnTo>
                      <a:pt x="1130" y="648"/>
                    </a:lnTo>
                    <a:lnTo>
                      <a:pt x="1034" y="691"/>
                    </a:lnTo>
                    <a:lnTo>
                      <a:pt x="912" y="727"/>
                    </a:lnTo>
                    <a:lnTo>
                      <a:pt x="801" y="751"/>
                    </a:lnTo>
                    <a:lnTo>
                      <a:pt x="662" y="763"/>
                    </a:lnTo>
                    <a:lnTo>
                      <a:pt x="569" y="763"/>
                    </a:lnTo>
                    <a:lnTo>
                      <a:pt x="465" y="756"/>
                    </a:lnTo>
                    <a:lnTo>
                      <a:pt x="338" y="732"/>
                    </a:lnTo>
                    <a:lnTo>
                      <a:pt x="237" y="701"/>
                    </a:lnTo>
                    <a:lnTo>
                      <a:pt x="151" y="667"/>
                    </a:lnTo>
                    <a:lnTo>
                      <a:pt x="134" y="662"/>
                    </a:lnTo>
                  </a:path>
                </a:pathLst>
              </a:custGeom>
              <a:solidFill>
                <a:srgbClr val="66FF66">
                  <a:alpha val="50195"/>
                </a:srgbClr>
              </a:solidFill>
              <a:ln w="38100">
                <a:solidFill>
                  <a:srgbClr val="008000"/>
                </a:solidFill>
                <a:round/>
              </a:ln>
            </p:spPr>
            <p:txBody>
              <a:bodyPr/>
              <a:lstStyle/>
              <a:p>
                <a:endParaRPr lang="zh-CN" altLang="en-US"/>
              </a:p>
            </p:txBody>
          </p:sp>
          <p:sp>
            <p:nvSpPr>
              <p:cNvPr id="42017" name="Line 23"/>
              <p:cNvSpPr>
                <a:spLocks noChangeShapeType="1"/>
              </p:cNvSpPr>
              <p:nvPr/>
            </p:nvSpPr>
            <p:spPr bwMode="auto">
              <a:xfrm flipV="1">
                <a:off x="3121" y="3045"/>
                <a:ext cx="0" cy="104"/>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18" name="Line 24"/>
              <p:cNvSpPr>
                <a:spLocks noChangeShapeType="1"/>
              </p:cNvSpPr>
              <p:nvPr/>
            </p:nvSpPr>
            <p:spPr bwMode="auto">
              <a:xfrm flipV="1">
                <a:off x="3327" y="2932"/>
                <a:ext cx="0" cy="26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19" name="Line 25"/>
              <p:cNvSpPr>
                <a:spLocks noChangeShapeType="1"/>
              </p:cNvSpPr>
              <p:nvPr/>
            </p:nvSpPr>
            <p:spPr bwMode="auto">
              <a:xfrm flipV="1">
                <a:off x="3563" y="2826"/>
                <a:ext cx="0" cy="40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0" name="Line 26"/>
              <p:cNvSpPr>
                <a:spLocks noChangeShapeType="1"/>
              </p:cNvSpPr>
              <p:nvPr/>
            </p:nvSpPr>
            <p:spPr bwMode="auto">
              <a:xfrm flipH="1" flipV="1">
                <a:off x="3803" y="2660"/>
                <a:ext cx="0" cy="55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1" name="Line 27"/>
              <p:cNvSpPr>
                <a:spLocks noChangeShapeType="1"/>
              </p:cNvSpPr>
              <p:nvPr/>
            </p:nvSpPr>
            <p:spPr bwMode="auto">
              <a:xfrm flipH="1" flipV="1">
                <a:off x="4035" y="2535"/>
                <a:ext cx="0" cy="656"/>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2" name="Line 28"/>
              <p:cNvSpPr>
                <a:spLocks noChangeShapeType="1"/>
              </p:cNvSpPr>
              <p:nvPr/>
            </p:nvSpPr>
            <p:spPr bwMode="auto">
              <a:xfrm flipV="1">
                <a:off x="4253" y="2409"/>
                <a:ext cx="0" cy="737"/>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3" name="Line 29"/>
              <p:cNvSpPr>
                <a:spLocks noChangeShapeType="1"/>
              </p:cNvSpPr>
              <p:nvPr/>
            </p:nvSpPr>
            <p:spPr bwMode="auto">
              <a:xfrm flipH="1" flipV="1">
                <a:off x="4511" y="2269"/>
                <a:ext cx="0" cy="78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4" name="Line 30"/>
              <p:cNvSpPr>
                <a:spLocks noChangeShapeType="1"/>
              </p:cNvSpPr>
              <p:nvPr/>
            </p:nvSpPr>
            <p:spPr bwMode="auto">
              <a:xfrm flipV="1">
                <a:off x="4740" y="2147"/>
                <a:ext cx="0" cy="766"/>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5" name="Line 31"/>
              <p:cNvSpPr>
                <a:spLocks noChangeShapeType="1"/>
              </p:cNvSpPr>
              <p:nvPr/>
            </p:nvSpPr>
            <p:spPr bwMode="auto">
              <a:xfrm>
                <a:off x="4949" y="2024"/>
                <a:ext cx="0" cy="73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6" name="Line 32"/>
              <p:cNvSpPr>
                <a:spLocks noChangeShapeType="1"/>
              </p:cNvSpPr>
              <p:nvPr/>
            </p:nvSpPr>
            <p:spPr bwMode="auto">
              <a:xfrm>
                <a:off x="5172" y="2032"/>
                <a:ext cx="0" cy="457"/>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7" name="Line 33"/>
              <p:cNvSpPr>
                <a:spLocks noChangeShapeType="1"/>
              </p:cNvSpPr>
              <p:nvPr/>
            </p:nvSpPr>
            <p:spPr bwMode="auto">
              <a:xfrm flipH="1">
                <a:off x="2886" y="1556"/>
                <a:ext cx="787" cy="1496"/>
              </a:xfrm>
              <a:prstGeom prst="line">
                <a:avLst/>
              </a:prstGeom>
              <a:noFill/>
              <a:ln w="38100">
                <a:solidFill>
                  <a:srgbClr val="CC0099"/>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28" name="Line 34"/>
              <p:cNvSpPr>
                <a:spLocks noChangeShapeType="1"/>
              </p:cNvSpPr>
              <p:nvPr/>
            </p:nvSpPr>
            <p:spPr bwMode="auto">
              <a:xfrm>
                <a:off x="3670" y="1553"/>
                <a:ext cx="1734" cy="479"/>
              </a:xfrm>
              <a:prstGeom prst="line">
                <a:avLst/>
              </a:prstGeom>
              <a:noFill/>
              <a:ln w="38100">
                <a:solidFill>
                  <a:srgbClr val="0000CC"/>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29" name="Line 35"/>
              <p:cNvSpPr>
                <a:spLocks noChangeShapeType="1"/>
              </p:cNvSpPr>
              <p:nvPr/>
            </p:nvSpPr>
            <p:spPr bwMode="auto">
              <a:xfrm>
                <a:off x="3678" y="1545"/>
                <a:ext cx="5" cy="1767"/>
              </a:xfrm>
              <a:prstGeom prst="line">
                <a:avLst/>
              </a:prstGeom>
              <a:noFill/>
              <a:ln w="28575">
                <a:solidFill>
                  <a:srgbClr val="CC00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0" name="Line 36"/>
              <p:cNvSpPr>
                <a:spLocks noChangeShapeType="1"/>
              </p:cNvSpPr>
              <p:nvPr/>
            </p:nvSpPr>
            <p:spPr bwMode="auto">
              <a:xfrm>
                <a:off x="3670" y="1541"/>
                <a:ext cx="745" cy="1556"/>
              </a:xfrm>
              <a:prstGeom prst="line">
                <a:avLst/>
              </a:prstGeom>
              <a:noFill/>
              <a:ln w="38100">
                <a:solidFill>
                  <a:srgbClr val="CC00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1" name="Freeform 37"/>
              <p:cNvSpPr/>
              <p:nvPr/>
            </p:nvSpPr>
            <p:spPr bwMode="auto">
              <a:xfrm>
                <a:off x="3673" y="1934"/>
                <a:ext cx="174" cy="37"/>
              </a:xfrm>
              <a:custGeom>
                <a:avLst/>
                <a:gdLst>
                  <a:gd name="T0" fmla="*/ 0 w 103"/>
                  <a:gd name="T1" fmla="*/ 80 h 24"/>
                  <a:gd name="T2" fmla="*/ 162 w 103"/>
                  <a:gd name="T3" fmla="*/ 88 h 24"/>
                  <a:gd name="T4" fmla="*/ 372 w 103"/>
                  <a:gd name="T5" fmla="*/ 62 h 24"/>
                  <a:gd name="T6" fmla="*/ 497 w 103"/>
                  <a:gd name="T7" fmla="*/ 0 h 24"/>
                  <a:gd name="T8" fmla="*/ 0 60000 65536"/>
                  <a:gd name="T9" fmla="*/ 0 60000 65536"/>
                  <a:gd name="T10" fmla="*/ 0 60000 65536"/>
                  <a:gd name="T11" fmla="*/ 0 60000 65536"/>
                  <a:gd name="T12" fmla="*/ 0 w 103"/>
                  <a:gd name="T13" fmla="*/ 0 h 24"/>
                  <a:gd name="T14" fmla="*/ 103 w 103"/>
                  <a:gd name="T15" fmla="*/ 24 h 24"/>
                </a:gdLst>
                <a:ahLst/>
                <a:cxnLst>
                  <a:cxn ang="T8">
                    <a:pos x="T0" y="T1"/>
                  </a:cxn>
                  <a:cxn ang="T9">
                    <a:pos x="T2" y="T3"/>
                  </a:cxn>
                  <a:cxn ang="T10">
                    <a:pos x="T4" y="T5"/>
                  </a:cxn>
                  <a:cxn ang="T11">
                    <a:pos x="T6" y="T7"/>
                  </a:cxn>
                </a:cxnLst>
                <a:rect l="T12" t="T13" r="T14" b="T15"/>
                <a:pathLst>
                  <a:path w="103" h="24">
                    <a:moveTo>
                      <a:pt x="0" y="22"/>
                    </a:moveTo>
                    <a:lnTo>
                      <a:pt x="34" y="24"/>
                    </a:lnTo>
                    <a:lnTo>
                      <a:pt x="77" y="17"/>
                    </a:lnTo>
                    <a:lnTo>
                      <a:pt x="103" y="0"/>
                    </a:lnTo>
                  </a:path>
                </a:pathLst>
              </a:custGeom>
              <a:noFill/>
              <a:ln w="38100">
                <a:solidFill>
                  <a:srgbClr val="CC0099"/>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032" name="Text Box 38"/>
              <p:cNvSpPr txBox="1">
                <a:spLocks noChangeArrowheads="1"/>
              </p:cNvSpPr>
              <p:nvPr/>
            </p:nvSpPr>
            <p:spPr bwMode="auto">
              <a:xfrm>
                <a:off x="3357" y="1296"/>
                <a:ext cx="486"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chemeClr val="tx1"/>
                    </a:solidFill>
                    <a:latin typeface="Times New Roman" panose="02020603050405020304" pitchFamily="18" charset="0"/>
                  </a:rPr>
                  <a:t>O</a:t>
                </a:r>
                <a:endParaRPr kumimoji="1" lang="en-US" altLang="zh-CN" sz="2800" b="1">
                  <a:solidFill>
                    <a:schemeClr val="tx1"/>
                  </a:solidFill>
                  <a:latin typeface="Times New Roman" panose="02020603050405020304" pitchFamily="18" charset="0"/>
                </a:endParaRPr>
              </a:p>
            </p:txBody>
          </p:sp>
          <p:sp>
            <p:nvSpPr>
              <p:cNvPr id="42033" name="Text Box 39"/>
              <p:cNvSpPr txBox="1">
                <a:spLocks noChangeArrowheads="1"/>
              </p:cNvSpPr>
              <p:nvPr/>
            </p:nvSpPr>
            <p:spPr bwMode="auto">
              <a:xfrm>
                <a:off x="4331" y="1350"/>
                <a:ext cx="409"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0000CC"/>
                    </a:solidFill>
                    <a:latin typeface="Times New Roman" panose="02020603050405020304" pitchFamily="18" charset="0"/>
                  </a:rPr>
                  <a:t>R</a:t>
                </a:r>
                <a:endParaRPr kumimoji="1" lang="en-US" altLang="zh-CN" sz="2800" b="1">
                  <a:solidFill>
                    <a:srgbClr val="0000CC"/>
                  </a:solidFill>
                  <a:latin typeface="Times New Roman" panose="02020603050405020304" pitchFamily="18" charset="0"/>
                </a:endParaRPr>
              </a:p>
            </p:txBody>
          </p:sp>
          <p:sp>
            <p:nvSpPr>
              <p:cNvPr id="42034" name="Text Box 40"/>
              <p:cNvSpPr txBox="1">
                <a:spLocks noChangeArrowheads="1"/>
              </p:cNvSpPr>
              <p:nvPr/>
            </p:nvSpPr>
            <p:spPr bwMode="auto">
              <a:xfrm>
                <a:off x="5142" y="1577"/>
                <a:ext cx="570"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dirty="0" smtClean="0">
                    <a:solidFill>
                      <a:schemeClr val="tx1"/>
                    </a:solidFill>
                    <a:latin typeface="Times New Roman" panose="02020603050405020304" pitchFamily="18" charset="0"/>
                  </a:rPr>
                  <a:t>A</a:t>
                </a:r>
                <a:endParaRPr kumimoji="1" lang="en-US" altLang="zh-CN" sz="2800" b="1" dirty="0">
                  <a:solidFill>
                    <a:schemeClr val="tx1"/>
                  </a:solidFill>
                  <a:latin typeface="Times New Roman" panose="02020603050405020304" pitchFamily="18" charset="0"/>
                </a:endParaRPr>
              </a:p>
            </p:txBody>
          </p:sp>
        </p:grpSp>
        <p:sp>
          <p:nvSpPr>
            <p:cNvPr id="41999" name="Text Box 41"/>
            <p:cNvSpPr txBox="1">
              <a:spLocks noChangeArrowheads="1"/>
            </p:cNvSpPr>
            <p:nvPr/>
          </p:nvSpPr>
          <p:spPr bwMode="auto">
            <a:xfrm>
              <a:off x="3888" y="720"/>
              <a:ext cx="40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900" b="1">
                  <a:solidFill>
                    <a:srgbClr val="FF0000"/>
                  </a:solidFill>
                  <a:latin typeface="Times New Roman" panose="02020603050405020304" pitchFamily="18" charset="0"/>
                  <a:sym typeface="Symbol" panose="05050102010706020507" pitchFamily="18" charset="2"/>
                </a:rPr>
                <a:t> </a:t>
              </a:r>
              <a:r>
                <a:rPr kumimoji="1" lang="en-US" altLang="zh-CN" sz="2800" b="1">
                  <a:solidFill>
                    <a:srgbClr val="FF0000"/>
                  </a:solidFill>
                  <a:latin typeface="Times New Roman" panose="02020603050405020304" pitchFamily="18" charset="0"/>
                  <a:sym typeface="Symbol" panose="05050102010706020507" pitchFamily="18" charset="2"/>
                </a:rPr>
                <a:t></a:t>
              </a:r>
              <a:r>
                <a:rPr kumimoji="1" lang="en-US" altLang="zh-CN" sz="2800" b="1" i="1" baseline="-25000">
                  <a:solidFill>
                    <a:srgbClr val="FF0000"/>
                  </a:solidFill>
                  <a:latin typeface="Times New Roman" panose="02020603050405020304" pitchFamily="18" charset="0"/>
                  <a:sym typeface="Symbol" panose="05050102010706020507" pitchFamily="18" charset="2"/>
                </a:rPr>
                <a:t>i</a:t>
              </a:r>
              <a:endParaRPr kumimoji="1" lang="en-US" altLang="zh-CN" sz="2800" b="1" i="1" baseline="-25000">
                <a:solidFill>
                  <a:srgbClr val="FF0000"/>
                </a:solidFill>
                <a:latin typeface="Times New Roman" panose="02020603050405020304" pitchFamily="18" charset="0"/>
              </a:endParaRPr>
            </a:p>
          </p:txBody>
        </p:sp>
        <p:sp>
          <p:nvSpPr>
            <p:cNvPr id="42000" name="Line 42"/>
            <p:cNvSpPr>
              <a:spLocks noChangeShapeType="1"/>
            </p:cNvSpPr>
            <p:nvPr/>
          </p:nvSpPr>
          <p:spPr bwMode="auto">
            <a:xfrm flipV="1">
              <a:off x="4436" y="879"/>
              <a:ext cx="0" cy="313"/>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1" name="Line 43"/>
            <p:cNvSpPr>
              <a:spLocks noChangeShapeType="1"/>
            </p:cNvSpPr>
            <p:nvPr/>
          </p:nvSpPr>
          <p:spPr bwMode="auto">
            <a:xfrm flipV="1">
              <a:off x="4639" y="872"/>
              <a:ext cx="0" cy="183"/>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2" name="Line 44"/>
            <p:cNvSpPr>
              <a:spLocks noChangeShapeType="1"/>
            </p:cNvSpPr>
            <p:nvPr/>
          </p:nvSpPr>
          <p:spPr bwMode="auto">
            <a:xfrm>
              <a:off x="4429" y="956"/>
              <a:ext cx="210" cy="0"/>
            </a:xfrm>
            <a:prstGeom prst="line">
              <a:avLst/>
            </a:prstGeom>
            <a:noFill/>
            <a:ln w="28575">
              <a:solidFill>
                <a:srgbClr val="0000CC"/>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03" name="Text Box 45"/>
            <p:cNvSpPr txBox="1">
              <a:spLocks noChangeArrowheads="1"/>
            </p:cNvSpPr>
            <p:nvPr/>
          </p:nvSpPr>
          <p:spPr bwMode="auto">
            <a:xfrm>
              <a:off x="4442" y="667"/>
              <a:ext cx="24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0000FF"/>
                  </a:solidFill>
                  <a:latin typeface="Times New Roman" panose="02020603050405020304" pitchFamily="18" charset="0"/>
                </a:rPr>
                <a:t>b</a:t>
              </a:r>
              <a:endParaRPr kumimoji="1" lang="en-US" altLang="zh-CN" sz="2800" b="1">
                <a:solidFill>
                  <a:srgbClr val="0000FF"/>
                </a:solidFill>
                <a:latin typeface="Times New Roman" panose="02020603050405020304" pitchFamily="18" charset="0"/>
              </a:endParaRPr>
            </a:p>
          </p:txBody>
        </p:sp>
        <p:sp>
          <p:nvSpPr>
            <p:cNvPr id="42004" name="Text Box 46"/>
            <p:cNvSpPr txBox="1">
              <a:spLocks noChangeArrowheads="1"/>
            </p:cNvSpPr>
            <p:nvPr/>
          </p:nvSpPr>
          <p:spPr bwMode="auto">
            <a:xfrm>
              <a:off x="4752" y="624"/>
              <a:ext cx="2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chemeClr val="tx1"/>
                  </a:solidFill>
                  <a:latin typeface="Times New Roman" panose="02020603050405020304" pitchFamily="18" charset="0"/>
                </a:rPr>
                <a:t>B</a:t>
              </a:r>
              <a:endParaRPr kumimoji="1" lang="en-US" altLang="zh-CN" sz="2800" b="1">
                <a:solidFill>
                  <a:schemeClr val="tx1"/>
                </a:solidFill>
                <a:latin typeface="Times New Roman" panose="02020603050405020304" pitchFamily="18" charset="0"/>
              </a:endParaRPr>
            </a:p>
          </p:txBody>
        </p:sp>
        <p:grpSp>
          <p:nvGrpSpPr>
            <p:cNvPr id="42005" name="Group 47"/>
            <p:cNvGrpSpPr/>
            <p:nvPr/>
          </p:nvGrpSpPr>
          <p:grpSpPr bwMode="auto">
            <a:xfrm>
              <a:off x="3408" y="864"/>
              <a:ext cx="2064" cy="1085"/>
              <a:chOff x="3072" y="2016"/>
              <a:chExt cx="2400" cy="1272"/>
            </a:xfrm>
          </p:grpSpPr>
          <p:sp>
            <p:nvSpPr>
              <p:cNvPr id="42006" name="Text Box 48"/>
              <p:cNvSpPr txBox="1">
                <a:spLocks noChangeArrowheads="1"/>
              </p:cNvSpPr>
              <p:nvPr/>
            </p:nvSpPr>
            <p:spPr bwMode="auto">
              <a:xfrm>
                <a:off x="3072" y="2927"/>
                <a:ext cx="336"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600" b="1">
                    <a:solidFill>
                      <a:srgbClr val="FF6600"/>
                    </a:solidFill>
                    <a:latin typeface="Times New Roman" panose="02020603050405020304" pitchFamily="18" charset="0"/>
                  </a:rPr>
                  <a:t>-2</a:t>
                </a:r>
                <a:endParaRPr kumimoji="1" lang="en-US" altLang="zh-CN" sz="2600" b="1">
                  <a:solidFill>
                    <a:srgbClr val="FF6600"/>
                  </a:solidFill>
                  <a:latin typeface="Times New Roman" panose="02020603050405020304" pitchFamily="18" charset="0"/>
                </a:endParaRPr>
              </a:p>
            </p:txBody>
          </p:sp>
          <p:sp>
            <p:nvSpPr>
              <p:cNvPr id="42007" name="Text Box 49"/>
              <p:cNvSpPr txBox="1">
                <a:spLocks noChangeArrowheads="1"/>
              </p:cNvSpPr>
              <p:nvPr/>
            </p:nvSpPr>
            <p:spPr bwMode="auto">
              <a:xfrm>
                <a:off x="3305" y="2894"/>
                <a:ext cx="334"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FF6600"/>
                    </a:solidFill>
                    <a:latin typeface="Times New Roman" panose="02020603050405020304" pitchFamily="18" charset="0"/>
                  </a:rPr>
                  <a:t>-1</a:t>
                </a:r>
                <a:endParaRPr kumimoji="1" lang="en-US" altLang="zh-CN" sz="2400" b="1">
                  <a:solidFill>
                    <a:srgbClr val="FF6600"/>
                  </a:solidFill>
                  <a:latin typeface="Times New Roman" panose="02020603050405020304" pitchFamily="18" charset="0"/>
                </a:endParaRPr>
              </a:p>
            </p:txBody>
          </p:sp>
          <p:sp>
            <p:nvSpPr>
              <p:cNvPr id="42008" name="Text Box 50"/>
              <p:cNvSpPr txBox="1">
                <a:spLocks noChangeArrowheads="1"/>
              </p:cNvSpPr>
              <p:nvPr/>
            </p:nvSpPr>
            <p:spPr bwMode="auto">
              <a:xfrm>
                <a:off x="3505" y="2880"/>
                <a:ext cx="33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800" b="1">
                    <a:solidFill>
                      <a:srgbClr val="FF6600"/>
                    </a:solidFill>
                    <a:latin typeface="Times New Roman" panose="02020603050405020304" pitchFamily="18" charset="0"/>
                  </a:rPr>
                  <a:t>0</a:t>
                </a:r>
                <a:endParaRPr kumimoji="1" lang="en-US" altLang="zh-CN" sz="2800" b="1">
                  <a:solidFill>
                    <a:srgbClr val="FF6600"/>
                  </a:solidFill>
                  <a:latin typeface="Times New Roman" panose="02020603050405020304" pitchFamily="18" charset="0"/>
                </a:endParaRPr>
              </a:p>
            </p:txBody>
          </p:sp>
          <p:sp>
            <p:nvSpPr>
              <p:cNvPr id="42009" name="Text Box 51"/>
              <p:cNvSpPr txBox="1">
                <a:spLocks noChangeArrowheads="1"/>
              </p:cNvSpPr>
              <p:nvPr/>
            </p:nvSpPr>
            <p:spPr bwMode="auto">
              <a:xfrm>
                <a:off x="3792" y="2832"/>
                <a:ext cx="33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1</a:t>
                </a:r>
                <a:endParaRPr kumimoji="1" lang="en-US" altLang="zh-CN" sz="2800" b="1">
                  <a:solidFill>
                    <a:srgbClr val="FF6600"/>
                  </a:solidFill>
                  <a:latin typeface="Times New Roman" panose="02020603050405020304" pitchFamily="18" charset="0"/>
                </a:endParaRPr>
              </a:p>
            </p:txBody>
          </p:sp>
          <p:sp>
            <p:nvSpPr>
              <p:cNvPr id="42010" name="Text Box 52"/>
              <p:cNvSpPr txBox="1">
                <a:spLocks noChangeArrowheads="1"/>
              </p:cNvSpPr>
              <p:nvPr/>
            </p:nvSpPr>
            <p:spPr bwMode="auto">
              <a:xfrm>
                <a:off x="4032" y="2737"/>
                <a:ext cx="33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2</a:t>
                </a:r>
                <a:endParaRPr kumimoji="1" lang="en-US" altLang="zh-CN" sz="2800" b="1">
                  <a:solidFill>
                    <a:srgbClr val="FF6600"/>
                  </a:solidFill>
                  <a:latin typeface="Times New Roman" panose="02020603050405020304" pitchFamily="18" charset="0"/>
                </a:endParaRPr>
              </a:p>
            </p:txBody>
          </p:sp>
          <p:sp>
            <p:nvSpPr>
              <p:cNvPr id="42011" name="Text Box 53"/>
              <p:cNvSpPr txBox="1">
                <a:spLocks noChangeArrowheads="1"/>
              </p:cNvSpPr>
              <p:nvPr/>
            </p:nvSpPr>
            <p:spPr bwMode="auto">
              <a:xfrm>
                <a:off x="4272" y="2592"/>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3</a:t>
                </a:r>
                <a:endParaRPr kumimoji="1" lang="en-US" altLang="zh-CN" sz="2800" b="1">
                  <a:solidFill>
                    <a:srgbClr val="FF6600"/>
                  </a:solidFill>
                  <a:latin typeface="Times New Roman" panose="02020603050405020304" pitchFamily="18" charset="0"/>
                </a:endParaRPr>
              </a:p>
            </p:txBody>
          </p:sp>
          <p:sp>
            <p:nvSpPr>
              <p:cNvPr id="42012" name="Text Box 54"/>
              <p:cNvSpPr txBox="1">
                <a:spLocks noChangeArrowheads="1"/>
              </p:cNvSpPr>
              <p:nvPr/>
            </p:nvSpPr>
            <p:spPr bwMode="auto">
              <a:xfrm>
                <a:off x="4512" y="2448"/>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4</a:t>
                </a:r>
                <a:endParaRPr kumimoji="1" lang="en-US" altLang="zh-CN" sz="2800" b="1">
                  <a:solidFill>
                    <a:srgbClr val="FF6600"/>
                  </a:solidFill>
                  <a:latin typeface="Times New Roman" panose="02020603050405020304" pitchFamily="18" charset="0"/>
                </a:endParaRPr>
              </a:p>
            </p:txBody>
          </p:sp>
          <p:sp>
            <p:nvSpPr>
              <p:cNvPr id="42013" name="Text Box 55"/>
              <p:cNvSpPr txBox="1">
                <a:spLocks noChangeArrowheads="1"/>
              </p:cNvSpPr>
              <p:nvPr/>
            </p:nvSpPr>
            <p:spPr bwMode="auto">
              <a:xfrm>
                <a:off x="4752" y="2353"/>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5</a:t>
                </a:r>
                <a:endParaRPr kumimoji="1" lang="en-US" altLang="zh-CN" sz="2800" b="1">
                  <a:solidFill>
                    <a:srgbClr val="FF6600"/>
                  </a:solidFill>
                  <a:latin typeface="Times New Roman" panose="02020603050405020304" pitchFamily="18" charset="0"/>
                </a:endParaRPr>
              </a:p>
            </p:txBody>
          </p:sp>
          <p:sp>
            <p:nvSpPr>
              <p:cNvPr id="42014" name="Text Box 56"/>
              <p:cNvSpPr txBox="1">
                <a:spLocks noChangeArrowheads="1"/>
              </p:cNvSpPr>
              <p:nvPr/>
            </p:nvSpPr>
            <p:spPr bwMode="auto">
              <a:xfrm>
                <a:off x="4944" y="2160"/>
                <a:ext cx="33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6</a:t>
                </a:r>
                <a:endParaRPr kumimoji="1" lang="en-US" altLang="zh-CN" sz="2800" b="1">
                  <a:solidFill>
                    <a:srgbClr val="FF6600"/>
                  </a:solidFill>
                  <a:latin typeface="Times New Roman" panose="02020603050405020304" pitchFamily="18" charset="0"/>
                </a:endParaRPr>
              </a:p>
            </p:txBody>
          </p:sp>
          <p:sp>
            <p:nvSpPr>
              <p:cNvPr id="42015" name="Text Box 57"/>
              <p:cNvSpPr txBox="1">
                <a:spLocks noChangeArrowheads="1"/>
              </p:cNvSpPr>
              <p:nvPr/>
            </p:nvSpPr>
            <p:spPr bwMode="auto">
              <a:xfrm>
                <a:off x="5136" y="2016"/>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7</a:t>
                </a:r>
                <a:endParaRPr kumimoji="1" lang="en-US" altLang="zh-CN" sz="2800" b="1">
                  <a:solidFill>
                    <a:srgbClr val="FF6600"/>
                  </a:solidFill>
                  <a:latin typeface="Times New Roman" panose="02020603050405020304" pitchFamily="18" charset="0"/>
                </a:endParaRPr>
              </a:p>
            </p:txBody>
          </p:sp>
        </p:grpSp>
      </p:grpSp>
      <p:sp>
        <p:nvSpPr>
          <p:cNvPr id="763981" name="Rectangle 77"/>
          <p:cNvSpPr>
            <a:spLocks noChangeArrowheads="1"/>
          </p:cNvSpPr>
          <p:nvPr/>
        </p:nvSpPr>
        <p:spPr bwMode="auto">
          <a:xfrm>
            <a:off x="304800" y="1752600"/>
            <a:ext cx="4800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a:r>
              <a:rPr kumimoji="1" lang="en-US" altLang="zh-CN" sz="2400" b="1">
                <a:solidFill>
                  <a:srgbClr val="0000FF"/>
                </a:solidFill>
                <a:latin typeface="宋体" panose="02010600030101010101" pitchFamily="2" charset="-122"/>
              </a:rPr>
              <a:t>(2) </a:t>
            </a:r>
            <a:r>
              <a:rPr kumimoji="1" lang="zh-CN" altLang="en-US" sz="2400" b="1">
                <a:solidFill>
                  <a:srgbClr val="0000FF"/>
                </a:solidFill>
                <a:latin typeface="宋体" panose="02010600030101010101" pitchFamily="2" charset="-122"/>
              </a:rPr>
              <a:t>假设圆弧滑裂面，与实际滑裂面有差别</a:t>
            </a:r>
            <a:endParaRPr kumimoji="1" lang="zh-CN" altLang="en-US" sz="2400" b="1">
              <a:solidFill>
                <a:srgbClr val="0000FF"/>
              </a:solidFill>
              <a:latin typeface="宋体" panose="02010600030101010101" pitchFamily="2" charset="-122"/>
            </a:endParaRPr>
          </a:p>
        </p:txBody>
      </p:sp>
      <p:sp>
        <p:nvSpPr>
          <p:cNvPr id="763983" name="Rectangle 79"/>
          <p:cNvSpPr>
            <a:spLocks noChangeArrowheads="1"/>
          </p:cNvSpPr>
          <p:nvPr/>
        </p:nvSpPr>
        <p:spPr bwMode="auto">
          <a:xfrm>
            <a:off x="181275" y="3608498"/>
            <a:ext cx="5791200" cy="990600"/>
          </a:xfrm>
          <a:prstGeom prst="rect">
            <a:avLst/>
          </a:prstGeom>
          <a:solidFill>
            <a:schemeClr val="accent1"/>
          </a:solidFill>
          <a:ln w="9525">
            <a:solidFill>
              <a:srgbClr val="99FF99"/>
            </a:solidFill>
            <a:miter lim="800000"/>
          </a:ln>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just" eaLnBrk="1" hangingPunct="1">
              <a:buFontTx/>
              <a:buChar char="•"/>
            </a:pPr>
            <a:r>
              <a:rPr lang="en-US" altLang="zh-CN" sz="2400" b="1" dirty="0">
                <a:solidFill>
                  <a:schemeClr val="tx1"/>
                </a:solidFill>
              </a:rPr>
              <a:t> </a:t>
            </a:r>
            <a:r>
              <a:rPr lang="zh-CN" altLang="en-US" sz="2400" b="1" dirty="0">
                <a:solidFill>
                  <a:schemeClr val="tx1"/>
                </a:solidFill>
              </a:rPr>
              <a:t>忽略条间力，使得计算</a:t>
            </a:r>
            <a:r>
              <a:rPr lang="zh-CN" altLang="en-US" sz="2400" b="1" dirty="0" smtClean="0">
                <a:solidFill>
                  <a:schemeClr val="tx1"/>
                </a:solidFill>
              </a:rPr>
              <a:t>安全系数 </a:t>
            </a:r>
            <a:r>
              <a:rPr lang="en-US" altLang="zh-CN" sz="2400" b="1" i="1" dirty="0" smtClean="0">
                <a:solidFill>
                  <a:schemeClr val="tx1"/>
                </a:solidFill>
              </a:rPr>
              <a:t>K</a:t>
            </a:r>
            <a:r>
              <a:rPr lang="en-US" altLang="zh-CN" sz="2400" b="1" dirty="0" smtClean="0">
                <a:solidFill>
                  <a:schemeClr val="tx1"/>
                </a:solidFill>
              </a:rPr>
              <a:t> </a:t>
            </a:r>
            <a:r>
              <a:rPr lang="zh-CN" altLang="en-US" sz="2400" b="1" dirty="0">
                <a:solidFill>
                  <a:schemeClr val="tx1"/>
                </a:solidFill>
              </a:rPr>
              <a:t>偏小</a:t>
            </a:r>
            <a:endParaRPr lang="zh-CN" altLang="en-US" sz="2400" b="1" dirty="0">
              <a:solidFill>
                <a:schemeClr val="tx1"/>
              </a:solidFill>
            </a:endParaRPr>
          </a:p>
          <a:p>
            <a:pPr algn="just" eaLnBrk="1" hangingPunct="1">
              <a:buFontTx/>
              <a:buChar char="•"/>
            </a:pPr>
            <a:r>
              <a:rPr lang="zh-CN" altLang="en-US" sz="2400" b="1" dirty="0">
                <a:solidFill>
                  <a:schemeClr val="tx1"/>
                </a:solidFill>
              </a:rPr>
              <a:t> 假设圆弧滑裂面，使 </a:t>
            </a:r>
            <a:r>
              <a:rPr lang="en-US" altLang="zh-CN" sz="2400" b="1" i="1" dirty="0" smtClean="0">
                <a:solidFill>
                  <a:schemeClr val="tx1"/>
                </a:solidFill>
              </a:rPr>
              <a:t>K</a:t>
            </a:r>
            <a:r>
              <a:rPr lang="en-US" altLang="zh-CN" sz="2400" b="1" dirty="0" smtClean="0">
                <a:solidFill>
                  <a:schemeClr val="tx1"/>
                </a:solidFill>
              </a:rPr>
              <a:t> </a:t>
            </a:r>
            <a:r>
              <a:rPr lang="zh-CN" altLang="en-US" sz="2400" b="1" dirty="0">
                <a:solidFill>
                  <a:schemeClr val="tx1"/>
                </a:solidFill>
              </a:rPr>
              <a:t>偏大</a:t>
            </a:r>
            <a:endParaRPr lang="zh-CN" altLang="en-US" sz="2400" b="1" dirty="0">
              <a:solidFill>
                <a:schemeClr val="tx1"/>
              </a:solidFill>
            </a:endParaRPr>
          </a:p>
        </p:txBody>
      </p:sp>
      <p:sp>
        <p:nvSpPr>
          <p:cNvPr id="763984" name="Rectangle 80"/>
          <p:cNvSpPr>
            <a:spLocks noChangeArrowheads="1"/>
          </p:cNvSpPr>
          <p:nvPr/>
        </p:nvSpPr>
        <p:spPr bwMode="auto">
          <a:xfrm>
            <a:off x="6400800" y="3962400"/>
            <a:ext cx="2590800" cy="769441"/>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r>
              <a:rPr kumimoji="1" lang="en-US" altLang="en-US" sz="2000" b="1" dirty="0" err="1">
                <a:solidFill>
                  <a:srgbClr val="993300"/>
                </a:solidFill>
                <a:latin typeface="Times New Roman" panose="02020603050405020304" pitchFamily="18" charset="0"/>
              </a:rPr>
              <a:t>最终结果是</a:t>
            </a:r>
            <a:r>
              <a:rPr kumimoji="1" lang="en-US" altLang="en-US" sz="2000" b="1" dirty="0">
                <a:solidFill>
                  <a:srgbClr val="993300"/>
                </a:solidFill>
                <a:latin typeface="Times New Roman" panose="02020603050405020304" pitchFamily="18" charset="0"/>
              </a:rPr>
              <a:t> </a:t>
            </a:r>
            <a:r>
              <a:rPr kumimoji="1" lang="en-US" altLang="en-US" sz="2000" b="1" i="1" dirty="0" smtClean="0">
                <a:solidFill>
                  <a:srgbClr val="993300"/>
                </a:solidFill>
                <a:latin typeface="Times New Roman" panose="02020603050405020304" pitchFamily="18" charset="0"/>
              </a:rPr>
              <a:t>K</a:t>
            </a:r>
            <a:r>
              <a:rPr kumimoji="1" lang="en-US" altLang="zh-CN" sz="2000" b="1" baseline="-25000" dirty="0" smtClean="0">
                <a:solidFill>
                  <a:srgbClr val="993300"/>
                </a:solidFill>
                <a:latin typeface="Times New Roman" panose="02020603050405020304" pitchFamily="18" charset="0"/>
              </a:rPr>
              <a:t> </a:t>
            </a:r>
            <a:r>
              <a:rPr kumimoji="1" lang="en-US" altLang="en-US" sz="2000" b="1" dirty="0" err="1">
                <a:solidFill>
                  <a:srgbClr val="993300"/>
                </a:solidFill>
                <a:latin typeface="Times New Roman" panose="02020603050405020304" pitchFamily="18" charset="0"/>
              </a:rPr>
              <a:t>偏小</a:t>
            </a:r>
            <a:r>
              <a:rPr kumimoji="1" lang="en-US" altLang="en-US" sz="2000" b="1" dirty="0">
                <a:solidFill>
                  <a:srgbClr val="993300"/>
                </a:solidFill>
                <a:latin typeface="Times New Roman" panose="02020603050405020304" pitchFamily="18" charset="0"/>
              </a:rPr>
              <a:t>，</a:t>
            </a:r>
            <a:endParaRPr kumimoji="1" lang="en-US" altLang="en-US" sz="2000" b="1" dirty="0">
              <a:solidFill>
                <a:srgbClr val="993300"/>
              </a:solidFill>
              <a:latin typeface="Times New Roman" panose="02020603050405020304" pitchFamily="18" charset="0"/>
            </a:endParaRPr>
          </a:p>
          <a:p>
            <a:pPr algn="l"/>
            <a:r>
              <a:rPr kumimoji="1" lang="en-US" altLang="en-US" sz="2000" b="1" dirty="0">
                <a:solidFill>
                  <a:srgbClr val="993300"/>
                </a:solidFill>
                <a:latin typeface="Times New Roman" panose="02020603050405020304" pitchFamily="18" charset="0"/>
                <a:sym typeface="Symbol" panose="05050102010706020507" pitchFamily="18" charset="2"/>
              </a:rPr>
              <a:t> </a:t>
            </a:r>
            <a:r>
              <a:rPr kumimoji="1" lang="en-US" altLang="en-US" sz="2000" b="1" i="1" dirty="0">
                <a:solidFill>
                  <a:srgbClr val="993300"/>
                </a:solidFill>
                <a:latin typeface="Times New Roman" panose="02020603050405020304" pitchFamily="18" charset="0"/>
                <a:sym typeface="Symbol" panose="05050102010706020507" pitchFamily="18" charset="2"/>
              </a:rPr>
              <a:t></a:t>
            </a:r>
            <a:r>
              <a:rPr kumimoji="1" lang="en-US" altLang="en-US" sz="2000" b="1" dirty="0">
                <a:solidFill>
                  <a:srgbClr val="993300"/>
                </a:solidFill>
                <a:latin typeface="Times New Roman" panose="02020603050405020304" pitchFamily="18" charset="0"/>
                <a:sym typeface="Symbol" panose="05050102010706020507" pitchFamily="18" charset="2"/>
              </a:rPr>
              <a:t> </a:t>
            </a:r>
            <a:r>
              <a:rPr kumimoji="1" lang="en-US" altLang="en-US" sz="2000" b="1" dirty="0" err="1">
                <a:solidFill>
                  <a:srgbClr val="993300"/>
                </a:solidFill>
                <a:latin typeface="Times New Roman" panose="02020603050405020304" pitchFamily="18" charset="0"/>
              </a:rPr>
              <a:t>越大</a:t>
            </a:r>
            <a:r>
              <a:rPr kumimoji="1" lang="en-US" altLang="en-US" sz="2000" b="1" dirty="0">
                <a:solidFill>
                  <a:srgbClr val="993300"/>
                </a:solidFill>
                <a:latin typeface="Times New Roman" panose="02020603050405020304" pitchFamily="18" charset="0"/>
              </a:rPr>
              <a:t> </a:t>
            </a:r>
            <a:r>
              <a:rPr kumimoji="1" lang="en-US" altLang="en-US" sz="2000" b="1" i="1" dirty="0" smtClean="0">
                <a:solidFill>
                  <a:srgbClr val="993300"/>
                </a:solidFill>
                <a:latin typeface="Times New Roman" panose="02020603050405020304" pitchFamily="18" charset="0"/>
              </a:rPr>
              <a:t>K</a:t>
            </a:r>
            <a:r>
              <a:rPr kumimoji="1" lang="en-US" altLang="zh-CN" sz="2000" b="1" dirty="0" smtClean="0">
                <a:solidFill>
                  <a:srgbClr val="993300"/>
                </a:solidFill>
                <a:latin typeface="Times New Roman" panose="02020603050405020304" pitchFamily="18" charset="0"/>
              </a:rPr>
              <a:t> </a:t>
            </a:r>
            <a:r>
              <a:rPr kumimoji="1" lang="en-US" altLang="en-US" sz="2000" b="1" dirty="0" err="1">
                <a:solidFill>
                  <a:srgbClr val="993300"/>
                </a:solidFill>
                <a:latin typeface="Times New Roman" panose="02020603050405020304" pitchFamily="18" charset="0"/>
              </a:rPr>
              <a:t>越偏小</a:t>
            </a:r>
            <a:endParaRPr kumimoji="1" lang="zh-CN" altLang="en-US" sz="2000" b="1" dirty="0">
              <a:solidFill>
                <a:srgbClr val="993300"/>
              </a:solidFill>
              <a:latin typeface="Times New Roman" panose="02020603050405020304" pitchFamily="18" charset="0"/>
            </a:endParaRPr>
          </a:p>
        </p:txBody>
      </p:sp>
      <p:sp>
        <p:nvSpPr>
          <p:cNvPr id="763985" name="AutoShape 81"/>
          <p:cNvSpPr>
            <a:spLocks noChangeArrowheads="1"/>
          </p:cNvSpPr>
          <p:nvPr/>
        </p:nvSpPr>
        <p:spPr bwMode="auto">
          <a:xfrm flipV="1">
            <a:off x="6096000" y="4267200"/>
            <a:ext cx="228600" cy="228600"/>
          </a:xfrm>
          <a:prstGeom prst="rightArrow">
            <a:avLst>
              <a:gd name="adj1" fmla="val 50000"/>
              <a:gd name="adj2" fmla="val 25000"/>
            </a:avLst>
          </a:prstGeom>
          <a:solidFill>
            <a:schemeClr val="folHlink"/>
          </a:solidFill>
          <a:ln w="9525">
            <a:solidFill>
              <a:srgbClr val="CC3300"/>
            </a:solidFill>
            <a:miter lim="800000"/>
          </a:ln>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763986" name="AutoShape 82"/>
          <p:cNvSpPr>
            <a:spLocks noChangeArrowheads="1"/>
          </p:cNvSpPr>
          <p:nvPr/>
        </p:nvSpPr>
        <p:spPr bwMode="auto">
          <a:xfrm rot="7300391" flipV="1">
            <a:off x="7022598" y="5108337"/>
            <a:ext cx="642938" cy="192088"/>
          </a:xfrm>
          <a:prstGeom prst="rightArrow">
            <a:avLst>
              <a:gd name="adj1" fmla="val 50000"/>
              <a:gd name="adj2" fmla="val 83678"/>
            </a:avLst>
          </a:prstGeom>
          <a:solidFill>
            <a:schemeClr val="folHlink"/>
          </a:solidFill>
          <a:ln w="9525">
            <a:solidFill>
              <a:srgbClr val="CC3300"/>
            </a:solidFill>
            <a:miter lim="800000"/>
          </a:ln>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763987" name="Text Box 83"/>
          <p:cNvSpPr txBox="1">
            <a:spLocks noChangeArrowheads="1"/>
          </p:cNvSpPr>
          <p:nvPr/>
        </p:nvSpPr>
        <p:spPr bwMode="auto">
          <a:xfrm>
            <a:off x="5053780" y="5715974"/>
            <a:ext cx="3870622" cy="369332"/>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2400" b="1" dirty="0">
                <a:solidFill>
                  <a:schemeClr val="accent1"/>
                </a:solidFill>
                <a:latin typeface="宋体" panose="02010600030101010101" pitchFamily="2" charset="-122"/>
              </a:rPr>
              <a:t>一般情况下</a:t>
            </a:r>
            <a:r>
              <a:rPr lang="zh-CN" altLang="en-US" sz="2400" b="1" dirty="0" smtClean="0">
                <a:solidFill>
                  <a:schemeClr val="accent1"/>
                </a:solidFill>
                <a:latin typeface="宋体" panose="02010600030101010101" pitchFamily="2" charset="-122"/>
              </a:rPr>
              <a:t>，</a:t>
            </a:r>
            <a:r>
              <a:rPr lang="en-US" altLang="zh-CN" sz="2400" b="1" dirty="0" smtClean="0">
                <a:solidFill>
                  <a:schemeClr val="accent1"/>
                </a:solidFill>
                <a:latin typeface="宋体" panose="02010600030101010101" pitchFamily="2" charset="-122"/>
              </a:rPr>
              <a:t>K</a:t>
            </a:r>
            <a:r>
              <a:rPr lang="zh-CN" altLang="en-US" sz="2400" b="1" dirty="0" smtClean="0">
                <a:solidFill>
                  <a:schemeClr val="accent1"/>
                </a:solidFill>
                <a:latin typeface="宋体" panose="02010600030101010101" pitchFamily="2" charset="-122"/>
              </a:rPr>
              <a:t>偏小</a:t>
            </a:r>
            <a:r>
              <a:rPr lang="en-US" altLang="zh-CN" sz="2400" b="1" dirty="0" smtClean="0">
                <a:solidFill>
                  <a:schemeClr val="accent1"/>
                </a:solidFill>
                <a:latin typeface="宋体" panose="02010600030101010101" pitchFamily="2" charset="-122"/>
              </a:rPr>
              <a:t>10%</a:t>
            </a:r>
            <a:r>
              <a:rPr lang="zh-CN" altLang="en-US" sz="2400" b="1" dirty="0" smtClean="0">
                <a:solidFill>
                  <a:schemeClr val="accent1"/>
                </a:solidFill>
                <a:latin typeface="宋体" panose="02010600030101010101" pitchFamily="2" charset="-122"/>
              </a:rPr>
              <a:t>左右</a:t>
            </a:r>
            <a:endParaRPr lang="zh-CN" altLang="en-US" sz="2400" b="1" dirty="0">
              <a:solidFill>
                <a:schemeClr val="accent1"/>
              </a:solidFill>
              <a:latin typeface="宋体" panose="02010600030101010101" pitchFamily="2" charset="-122"/>
            </a:endParaRPr>
          </a:p>
        </p:txBody>
      </p:sp>
      <p:sp>
        <p:nvSpPr>
          <p:cNvPr id="763988" name="AutoShape 84"/>
          <p:cNvSpPr>
            <a:spLocks noChangeArrowheads="1"/>
          </p:cNvSpPr>
          <p:nvPr/>
        </p:nvSpPr>
        <p:spPr bwMode="auto">
          <a:xfrm rot="10800000" flipV="1">
            <a:off x="4572000" y="5741431"/>
            <a:ext cx="228600" cy="228600"/>
          </a:xfrm>
          <a:prstGeom prst="rightArrow">
            <a:avLst>
              <a:gd name="adj1" fmla="val 50000"/>
              <a:gd name="adj2" fmla="val 25000"/>
            </a:avLst>
          </a:prstGeom>
          <a:solidFill>
            <a:schemeClr val="folHlink"/>
          </a:solidFill>
          <a:ln w="9525">
            <a:solidFill>
              <a:srgbClr val="CC3300"/>
            </a:solidFill>
            <a:miter lim="800000"/>
          </a:ln>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763989" name="Rectangle 85"/>
          <p:cNvSpPr>
            <a:spLocks noChangeArrowheads="1"/>
          </p:cNvSpPr>
          <p:nvPr/>
        </p:nvSpPr>
        <p:spPr bwMode="auto">
          <a:xfrm>
            <a:off x="467544" y="5561250"/>
            <a:ext cx="3851275" cy="588963"/>
          </a:xfrm>
          <a:prstGeom prst="rect">
            <a:avLst/>
          </a:prstGeom>
          <a:solidFill>
            <a:schemeClr val="accent1"/>
          </a:solidFill>
          <a:ln w="9525">
            <a:solidFill>
              <a:srgbClr val="0000FF"/>
            </a:solidFill>
            <a:miter lim="800000"/>
          </a:ln>
        </p:spPr>
        <p:txBody>
          <a:bodyPr wrap="none">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r>
              <a:rPr kumimoji="1" lang="en-US" altLang="en-US" sz="3200" dirty="0" err="1">
                <a:solidFill>
                  <a:srgbClr val="993300"/>
                </a:solidFill>
                <a:latin typeface="隶书" panose="02010509060101010101" pitchFamily="49" charset="-122"/>
                <a:ea typeface="隶书" panose="02010509060101010101" pitchFamily="49" charset="-122"/>
              </a:rPr>
              <a:t>工程应用中偏于安全</a:t>
            </a:r>
            <a:endParaRPr kumimoji="1" lang="zh-CN" altLang="en-US" sz="3200" dirty="0">
              <a:solidFill>
                <a:srgbClr val="993300"/>
              </a:solidFill>
              <a:latin typeface="隶书" panose="02010509060101010101" pitchFamily="49" charset="-122"/>
              <a:ea typeface="隶书" panose="02010509060101010101" pitchFamily="49" charset="-122"/>
            </a:endParaRPr>
          </a:p>
        </p:txBody>
      </p:sp>
      <p:sp>
        <p:nvSpPr>
          <p:cNvPr id="52" name="Rectangle 6"/>
          <p:cNvSpPr>
            <a:spLocks noChangeArrowheads="1"/>
          </p:cNvSpPr>
          <p:nvPr/>
        </p:nvSpPr>
        <p:spPr bwMode="auto">
          <a:xfrm>
            <a:off x="0" y="-7396"/>
            <a:ext cx="41148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黏性土坡的稳定性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63981"/>
                                        </p:tgtEl>
                                        <p:attrNameLst>
                                          <p:attrName>style.visibility</p:attrName>
                                        </p:attrNameLst>
                                      </p:cBhvr>
                                      <p:to>
                                        <p:strVal val="visible"/>
                                      </p:to>
                                    </p:set>
                                    <p:animEffect transition="in" filter="wipe(left)">
                                      <p:cBhvr>
                                        <p:cTn id="7" dur="500"/>
                                        <p:tgtEl>
                                          <p:spTgt spid="76398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63983">
                                            <p:txEl>
                                              <p:pRg st="4294967295" end="4294967295"/>
                                            </p:txEl>
                                          </p:spTgt>
                                        </p:tgtEl>
                                        <p:attrNameLst>
                                          <p:attrName>style.visibility</p:attrName>
                                        </p:attrNameLst>
                                      </p:cBhvr>
                                      <p:to>
                                        <p:strVal val="visible"/>
                                      </p:to>
                                    </p:set>
                                    <p:animEffect transition="in" filter="wipe(left)">
                                      <p:cBhvr>
                                        <p:cTn id="12" dur="500"/>
                                        <p:tgtEl>
                                          <p:spTgt spid="763983">
                                            <p:txEl>
                                              <p:pRg st="4294967295" end="429496729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63983">
                                            <p:txEl>
                                              <p:pRg st="0" end="0"/>
                                            </p:txEl>
                                          </p:spTgt>
                                        </p:tgtEl>
                                        <p:attrNameLst>
                                          <p:attrName>style.visibility</p:attrName>
                                        </p:attrNameLst>
                                      </p:cBhvr>
                                      <p:to>
                                        <p:strVal val="visible"/>
                                      </p:to>
                                    </p:set>
                                    <p:animEffect transition="in" filter="wipe(left)">
                                      <p:cBhvr>
                                        <p:cTn id="17" dur="500"/>
                                        <p:tgtEl>
                                          <p:spTgt spid="76398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63983">
                                            <p:txEl>
                                              <p:pRg st="1" end="1"/>
                                            </p:txEl>
                                          </p:spTgt>
                                        </p:tgtEl>
                                        <p:attrNameLst>
                                          <p:attrName>style.visibility</p:attrName>
                                        </p:attrNameLst>
                                      </p:cBhvr>
                                      <p:to>
                                        <p:strVal val="visible"/>
                                      </p:to>
                                    </p:set>
                                    <p:animEffect transition="in" filter="wipe(left)">
                                      <p:cBhvr>
                                        <p:cTn id="22" dur="500"/>
                                        <p:tgtEl>
                                          <p:spTgt spid="76398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763985"/>
                                        </p:tgtEl>
                                        <p:attrNameLst>
                                          <p:attrName>style.visibility</p:attrName>
                                        </p:attrNameLst>
                                      </p:cBhvr>
                                      <p:to>
                                        <p:strVal val="visible"/>
                                      </p:to>
                                    </p:set>
                                    <p:animEffect transition="in" filter="slide(fromLeft)">
                                      <p:cBhvr>
                                        <p:cTn id="27" dur="500"/>
                                        <p:tgtEl>
                                          <p:spTgt spid="763985"/>
                                        </p:tgtEl>
                                      </p:cBhvr>
                                    </p:animEffect>
                                  </p:childTnLst>
                                </p:cTn>
                              </p:par>
                            </p:childTnLst>
                          </p:cTn>
                        </p:par>
                        <p:par>
                          <p:cTn id="28" fill="hold">
                            <p:stCondLst>
                              <p:cond delay="500"/>
                            </p:stCondLst>
                            <p:childTnLst>
                              <p:par>
                                <p:cTn id="29" presetID="22" presetClass="entr" presetSubtype="1" fill="hold" grpId="0" nodeType="afterEffect">
                                  <p:stCondLst>
                                    <p:cond delay="0"/>
                                  </p:stCondLst>
                                  <p:childTnLst>
                                    <p:set>
                                      <p:cBhvr>
                                        <p:cTn id="30" dur="1" fill="hold">
                                          <p:stCondLst>
                                            <p:cond delay="0"/>
                                          </p:stCondLst>
                                        </p:cTn>
                                        <p:tgtEl>
                                          <p:spTgt spid="763984"/>
                                        </p:tgtEl>
                                        <p:attrNameLst>
                                          <p:attrName>style.visibility</p:attrName>
                                        </p:attrNameLst>
                                      </p:cBhvr>
                                      <p:to>
                                        <p:strVal val="visible"/>
                                      </p:to>
                                    </p:set>
                                    <p:animEffect transition="in" filter="wipe(up)">
                                      <p:cBhvr>
                                        <p:cTn id="31" dur="500"/>
                                        <p:tgtEl>
                                          <p:spTgt spid="76398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763986"/>
                                        </p:tgtEl>
                                        <p:attrNameLst>
                                          <p:attrName>style.visibility</p:attrName>
                                        </p:attrNameLst>
                                      </p:cBhvr>
                                      <p:to>
                                        <p:strVal val="visible"/>
                                      </p:to>
                                    </p:set>
                                    <p:animEffect transition="in" filter="wipe(up)">
                                      <p:cBhvr>
                                        <p:cTn id="36" dur="500"/>
                                        <p:tgtEl>
                                          <p:spTgt spid="763986"/>
                                        </p:tgtEl>
                                      </p:cBhvr>
                                    </p:animEffect>
                                  </p:childTnLst>
                                </p:cTn>
                              </p:par>
                            </p:childTnLst>
                          </p:cTn>
                        </p:par>
                        <p:par>
                          <p:cTn id="37" fill="hold">
                            <p:stCondLst>
                              <p:cond delay="500"/>
                            </p:stCondLst>
                            <p:childTnLst>
                              <p:par>
                                <p:cTn id="38" presetID="9" presetClass="entr" presetSubtype="0" fill="hold" grpId="0" nodeType="afterEffect">
                                  <p:stCondLst>
                                    <p:cond delay="0"/>
                                  </p:stCondLst>
                                  <p:childTnLst>
                                    <p:set>
                                      <p:cBhvr>
                                        <p:cTn id="39" dur="1" fill="hold">
                                          <p:stCondLst>
                                            <p:cond delay="0"/>
                                          </p:stCondLst>
                                        </p:cTn>
                                        <p:tgtEl>
                                          <p:spTgt spid="763987"/>
                                        </p:tgtEl>
                                        <p:attrNameLst>
                                          <p:attrName>style.visibility</p:attrName>
                                        </p:attrNameLst>
                                      </p:cBhvr>
                                      <p:to>
                                        <p:strVal val="visible"/>
                                      </p:to>
                                    </p:set>
                                    <p:animEffect transition="in" filter="dissolve">
                                      <p:cBhvr>
                                        <p:cTn id="40" dur="500"/>
                                        <p:tgtEl>
                                          <p:spTgt spid="763987"/>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2" fill="hold" grpId="0" nodeType="clickEffect">
                                  <p:stCondLst>
                                    <p:cond delay="0"/>
                                  </p:stCondLst>
                                  <p:childTnLst>
                                    <p:set>
                                      <p:cBhvr>
                                        <p:cTn id="44" dur="1" fill="hold">
                                          <p:stCondLst>
                                            <p:cond delay="0"/>
                                          </p:stCondLst>
                                        </p:cTn>
                                        <p:tgtEl>
                                          <p:spTgt spid="763988"/>
                                        </p:tgtEl>
                                        <p:attrNameLst>
                                          <p:attrName>style.visibility</p:attrName>
                                        </p:attrNameLst>
                                      </p:cBhvr>
                                      <p:to>
                                        <p:strVal val="visible"/>
                                      </p:to>
                                    </p:set>
                                    <p:animEffect transition="in" filter="slide(fromRight)">
                                      <p:cBhvr>
                                        <p:cTn id="45" dur="500"/>
                                        <p:tgtEl>
                                          <p:spTgt spid="763988"/>
                                        </p:tgtEl>
                                      </p:cBhvr>
                                    </p:animEffect>
                                  </p:childTnLst>
                                </p:cTn>
                              </p:par>
                            </p:childTnLst>
                          </p:cTn>
                        </p:par>
                        <p:par>
                          <p:cTn id="46" fill="hold">
                            <p:stCondLst>
                              <p:cond delay="500"/>
                            </p:stCondLst>
                            <p:childTnLst>
                              <p:par>
                                <p:cTn id="47" presetID="22" presetClass="entr" presetSubtype="1" fill="hold" grpId="0" nodeType="afterEffect">
                                  <p:stCondLst>
                                    <p:cond delay="0"/>
                                  </p:stCondLst>
                                  <p:childTnLst>
                                    <p:set>
                                      <p:cBhvr>
                                        <p:cTn id="48" dur="1" fill="hold">
                                          <p:stCondLst>
                                            <p:cond delay="0"/>
                                          </p:stCondLst>
                                        </p:cTn>
                                        <p:tgtEl>
                                          <p:spTgt spid="763989"/>
                                        </p:tgtEl>
                                        <p:attrNameLst>
                                          <p:attrName>style.visibility</p:attrName>
                                        </p:attrNameLst>
                                      </p:cBhvr>
                                      <p:to>
                                        <p:strVal val="visible"/>
                                      </p:to>
                                    </p:set>
                                    <p:animEffect transition="in" filter="wipe(up)">
                                      <p:cBhvr>
                                        <p:cTn id="49" dur="500"/>
                                        <p:tgtEl>
                                          <p:spTgt spid="7639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3981" grpId="0" autoUpdateAnimBg="0"/>
      <p:bldP spid="763983" grpId="0" autoUpdateAnimBg="0" build="p"/>
      <p:bldP spid="763984" grpId="0" bldLvl="0" animBg="1" autoUpdateAnimBg="0"/>
      <p:bldP spid="763985" grpId="0" bldLvl="0" animBg="1"/>
      <p:bldP spid="763986" grpId="0" bldLvl="0" animBg="1"/>
      <p:bldP spid="763987" grpId="0" bldLvl="0" animBg="1" autoUpdateAnimBg="0"/>
      <p:bldP spid="763988" grpId="0" bldLvl="0" animBg="1"/>
      <p:bldP spid="763989" grpId="0" bldLvl="0" animBg="1"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1" name="Rectangle 3"/>
          <p:cNvSpPr>
            <a:spLocks noGrp="1" noChangeArrowheads="1"/>
          </p:cNvSpPr>
          <p:nvPr>
            <p:ph type="body" sz="half" idx="1"/>
          </p:nvPr>
        </p:nvSpPr>
        <p:spPr bwMode="auto">
          <a:xfrm>
            <a:off x="787087" y="782762"/>
            <a:ext cx="4118992" cy="609600"/>
          </a:xfrm>
          <a:solidFill>
            <a:srgbClr val="FFC000"/>
          </a:solidFill>
        </p:spPr>
        <p:txBody>
          <a:bodyPr vert="horz" wrap="square" lIns="91440" tIns="45720" rIns="91440" bIns="45720" numCol="1" anchor="t" anchorCtr="0" compatLnSpc="1"/>
          <a:lstStyle/>
          <a:p>
            <a:pPr marL="0" indent="0" algn="just" eaLnBrk="1" hangingPunct="1">
              <a:buFontTx/>
              <a:buNone/>
            </a:pPr>
            <a:r>
              <a:rPr lang="zh-CN" altLang="en-US" sz="2800" b="1" dirty="0" smtClean="0">
                <a:solidFill>
                  <a:srgbClr val="993300"/>
                </a:solidFill>
                <a:latin typeface="+mn-ea"/>
              </a:rPr>
              <a:t>毕肖普（</a:t>
            </a:r>
            <a:r>
              <a:rPr lang="en-US" altLang="zh-CN" sz="2800" b="1" dirty="0" smtClean="0">
                <a:solidFill>
                  <a:srgbClr val="993300"/>
                </a:solidFill>
                <a:latin typeface="+mn-ea"/>
              </a:rPr>
              <a:t>Bishop</a:t>
            </a:r>
            <a:r>
              <a:rPr lang="zh-CN" altLang="en-US" sz="2800" b="1" dirty="0" smtClean="0">
                <a:solidFill>
                  <a:srgbClr val="993300"/>
                </a:solidFill>
                <a:latin typeface="+mn-ea"/>
              </a:rPr>
              <a:t>）条分法</a:t>
            </a:r>
            <a:endParaRPr lang="zh-CN" altLang="en-US" sz="2800" b="1" dirty="0" smtClean="0">
              <a:solidFill>
                <a:srgbClr val="993300"/>
              </a:solidFill>
              <a:latin typeface="+mn-ea"/>
            </a:endParaRPr>
          </a:p>
        </p:txBody>
      </p:sp>
      <p:sp>
        <p:nvSpPr>
          <p:cNvPr id="764932" name="Text Box 4"/>
          <p:cNvSpPr txBox="1">
            <a:spLocks noChangeArrowheads="1"/>
          </p:cNvSpPr>
          <p:nvPr/>
        </p:nvSpPr>
        <p:spPr bwMode="auto">
          <a:xfrm>
            <a:off x="1143000" y="4724400"/>
            <a:ext cx="655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2400" b="1">
                <a:solidFill>
                  <a:srgbClr val="0000FF"/>
                </a:solidFill>
              </a:rPr>
              <a:t>忽略条间切向力：</a:t>
            </a:r>
            <a:r>
              <a:rPr lang="en-US" altLang="zh-CN" sz="2400" b="1">
                <a:solidFill>
                  <a:srgbClr val="0000FF"/>
                </a:solidFill>
              </a:rPr>
              <a:t>n-1</a:t>
            </a:r>
            <a:endParaRPr lang="en-US" altLang="zh-CN" sz="2400" b="1">
              <a:solidFill>
                <a:srgbClr val="0000FF"/>
              </a:solidFill>
            </a:endParaRPr>
          </a:p>
        </p:txBody>
      </p:sp>
      <p:sp>
        <p:nvSpPr>
          <p:cNvPr id="764933" name="Rectangle 5"/>
          <p:cNvSpPr>
            <a:spLocks noChangeArrowheads="1"/>
          </p:cNvSpPr>
          <p:nvPr/>
        </p:nvSpPr>
        <p:spPr bwMode="auto">
          <a:xfrm>
            <a:off x="5486400" y="4953000"/>
            <a:ext cx="811213" cy="457200"/>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a:r>
              <a:rPr lang="en-US" altLang="zh-CN" sz="2400" b="1">
                <a:solidFill>
                  <a:schemeClr val="accent1"/>
                </a:solidFill>
              </a:rPr>
              <a:t>2n-1</a:t>
            </a:r>
            <a:endParaRPr lang="en-US" altLang="zh-CN" sz="2400" b="1">
              <a:solidFill>
                <a:schemeClr val="accent1"/>
              </a:solidFill>
            </a:endParaRPr>
          </a:p>
        </p:txBody>
      </p:sp>
      <p:grpSp>
        <p:nvGrpSpPr>
          <p:cNvPr id="43014" name="Group 6"/>
          <p:cNvGrpSpPr/>
          <p:nvPr/>
        </p:nvGrpSpPr>
        <p:grpSpPr bwMode="auto">
          <a:xfrm>
            <a:off x="4876800" y="838200"/>
            <a:ext cx="3733800" cy="3124200"/>
            <a:chOff x="3024" y="432"/>
            <a:chExt cx="2352" cy="1968"/>
          </a:xfrm>
        </p:grpSpPr>
        <p:grpSp>
          <p:nvGrpSpPr>
            <p:cNvPr id="43026" name="Group 7"/>
            <p:cNvGrpSpPr/>
            <p:nvPr/>
          </p:nvGrpSpPr>
          <p:grpSpPr bwMode="auto">
            <a:xfrm>
              <a:off x="3648" y="432"/>
              <a:ext cx="528" cy="1584"/>
              <a:chOff x="3744" y="864"/>
              <a:chExt cx="432" cy="1584"/>
            </a:xfrm>
          </p:grpSpPr>
          <p:sp>
            <p:nvSpPr>
              <p:cNvPr id="43052" name="Line 8"/>
              <p:cNvSpPr>
                <a:spLocks noChangeShapeType="1"/>
              </p:cNvSpPr>
              <p:nvPr/>
            </p:nvSpPr>
            <p:spPr bwMode="auto">
              <a:xfrm>
                <a:off x="3744" y="1056"/>
                <a:ext cx="0" cy="1392"/>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53" name="Line 9"/>
              <p:cNvSpPr>
                <a:spLocks noChangeShapeType="1"/>
              </p:cNvSpPr>
              <p:nvPr/>
            </p:nvSpPr>
            <p:spPr bwMode="auto">
              <a:xfrm>
                <a:off x="4176" y="864"/>
                <a:ext cx="0" cy="1248"/>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54" name="Line 10"/>
              <p:cNvSpPr>
                <a:spLocks noChangeShapeType="1"/>
              </p:cNvSpPr>
              <p:nvPr/>
            </p:nvSpPr>
            <p:spPr bwMode="auto">
              <a:xfrm flipV="1">
                <a:off x="3744" y="864"/>
                <a:ext cx="432" cy="192"/>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55" name="Line 11"/>
              <p:cNvSpPr>
                <a:spLocks noChangeShapeType="1"/>
              </p:cNvSpPr>
              <p:nvPr/>
            </p:nvSpPr>
            <p:spPr bwMode="auto">
              <a:xfrm flipV="1">
                <a:off x="3744" y="2112"/>
                <a:ext cx="432" cy="336"/>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3027" name="Line 12"/>
            <p:cNvSpPr>
              <a:spLocks noChangeShapeType="1"/>
            </p:cNvSpPr>
            <p:nvPr/>
          </p:nvSpPr>
          <p:spPr bwMode="auto">
            <a:xfrm>
              <a:off x="3888" y="960"/>
              <a:ext cx="0" cy="336"/>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28" name="Line 13"/>
            <p:cNvSpPr>
              <a:spLocks noChangeShapeType="1"/>
            </p:cNvSpPr>
            <p:nvPr/>
          </p:nvSpPr>
          <p:spPr bwMode="auto">
            <a:xfrm>
              <a:off x="3168" y="1488"/>
              <a:ext cx="480" cy="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29" name="Line 14"/>
            <p:cNvSpPr>
              <a:spLocks noChangeShapeType="1"/>
            </p:cNvSpPr>
            <p:nvPr/>
          </p:nvSpPr>
          <p:spPr bwMode="auto">
            <a:xfrm flipV="1">
              <a:off x="3600" y="1536"/>
              <a:ext cx="0" cy="336"/>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30" name="Line 15"/>
            <p:cNvSpPr>
              <a:spLocks noChangeShapeType="1"/>
            </p:cNvSpPr>
            <p:nvPr/>
          </p:nvSpPr>
          <p:spPr bwMode="auto">
            <a:xfrm flipH="1">
              <a:off x="4224" y="960"/>
              <a:ext cx="288" cy="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31" name="Line 16"/>
            <p:cNvSpPr>
              <a:spLocks noChangeShapeType="1"/>
            </p:cNvSpPr>
            <p:nvPr/>
          </p:nvSpPr>
          <p:spPr bwMode="auto">
            <a:xfrm>
              <a:off x="4224" y="624"/>
              <a:ext cx="0" cy="288"/>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32" name="Line 17"/>
            <p:cNvSpPr>
              <a:spLocks noChangeShapeType="1"/>
            </p:cNvSpPr>
            <p:nvPr/>
          </p:nvSpPr>
          <p:spPr bwMode="auto">
            <a:xfrm flipV="1">
              <a:off x="3744" y="1776"/>
              <a:ext cx="384" cy="240"/>
            </a:xfrm>
            <a:prstGeom prst="line">
              <a:avLst/>
            </a:prstGeom>
            <a:noFill/>
            <a:ln w="22225">
              <a:solidFill>
                <a:srgbClr val="0000FF"/>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33" name="Line 18"/>
            <p:cNvSpPr>
              <a:spLocks noChangeShapeType="1"/>
            </p:cNvSpPr>
            <p:nvPr/>
          </p:nvSpPr>
          <p:spPr bwMode="auto">
            <a:xfrm rot="10800000">
              <a:off x="3984" y="1920"/>
              <a:ext cx="192" cy="288"/>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34" name="Line 19"/>
            <p:cNvSpPr>
              <a:spLocks noChangeShapeType="1"/>
            </p:cNvSpPr>
            <p:nvPr/>
          </p:nvSpPr>
          <p:spPr bwMode="auto">
            <a:xfrm flipV="1">
              <a:off x="4176" y="1392"/>
              <a:ext cx="384" cy="2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35" name="Line 20"/>
            <p:cNvSpPr>
              <a:spLocks noChangeShapeType="1"/>
            </p:cNvSpPr>
            <p:nvPr/>
          </p:nvSpPr>
          <p:spPr bwMode="auto">
            <a:xfrm>
              <a:off x="4176" y="1680"/>
              <a:ext cx="43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36" name="Freeform 21"/>
            <p:cNvSpPr/>
            <p:nvPr/>
          </p:nvSpPr>
          <p:spPr bwMode="auto">
            <a:xfrm>
              <a:off x="4268" y="1620"/>
              <a:ext cx="49" cy="56"/>
            </a:xfrm>
            <a:custGeom>
              <a:avLst/>
              <a:gdLst>
                <a:gd name="T0" fmla="*/ 0 w 49"/>
                <a:gd name="T1" fmla="*/ 0 h 56"/>
                <a:gd name="T2" fmla="*/ 40 w 49"/>
                <a:gd name="T3" fmla="*/ 32 h 56"/>
                <a:gd name="T4" fmla="*/ 48 w 49"/>
                <a:gd name="T5" fmla="*/ 56 h 56"/>
                <a:gd name="T6" fmla="*/ 0 60000 65536"/>
                <a:gd name="T7" fmla="*/ 0 60000 65536"/>
                <a:gd name="T8" fmla="*/ 0 60000 65536"/>
                <a:gd name="T9" fmla="*/ 0 w 49"/>
                <a:gd name="T10" fmla="*/ 0 h 56"/>
                <a:gd name="T11" fmla="*/ 49 w 49"/>
                <a:gd name="T12" fmla="*/ 56 h 56"/>
              </a:gdLst>
              <a:ahLst/>
              <a:cxnLst>
                <a:cxn ang="T6">
                  <a:pos x="T0" y="T1"/>
                </a:cxn>
                <a:cxn ang="T7">
                  <a:pos x="T2" y="T3"/>
                </a:cxn>
                <a:cxn ang="T8">
                  <a:pos x="T4" y="T5"/>
                </a:cxn>
              </a:cxnLst>
              <a:rect l="T9" t="T10" r="T11" b="T12"/>
              <a:pathLst>
                <a:path w="49" h="56">
                  <a:moveTo>
                    <a:pt x="0" y="0"/>
                  </a:moveTo>
                  <a:cubicBezTo>
                    <a:pt x="20" y="10"/>
                    <a:pt x="20" y="22"/>
                    <a:pt x="40" y="32"/>
                  </a:cubicBezTo>
                  <a:cubicBezTo>
                    <a:pt x="49" y="50"/>
                    <a:pt x="48" y="42"/>
                    <a:pt x="48" y="56"/>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3037" name="Line 22"/>
            <p:cNvSpPr>
              <a:spLocks noChangeShapeType="1"/>
            </p:cNvSpPr>
            <p:nvPr/>
          </p:nvSpPr>
          <p:spPr bwMode="auto">
            <a:xfrm>
              <a:off x="4704" y="1680"/>
              <a:ext cx="33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38" name="Line 23"/>
            <p:cNvSpPr>
              <a:spLocks noChangeShapeType="1"/>
            </p:cNvSpPr>
            <p:nvPr/>
          </p:nvSpPr>
          <p:spPr bwMode="auto">
            <a:xfrm>
              <a:off x="4704" y="960"/>
              <a:ext cx="33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39" name="Line 24"/>
            <p:cNvSpPr>
              <a:spLocks noChangeShapeType="1"/>
            </p:cNvSpPr>
            <p:nvPr/>
          </p:nvSpPr>
          <p:spPr bwMode="auto">
            <a:xfrm>
              <a:off x="4848" y="960"/>
              <a:ext cx="0" cy="72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40" name="Rectangle 25"/>
            <p:cNvSpPr>
              <a:spLocks noChangeArrowheads="1"/>
            </p:cNvSpPr>
            <p:nvPr/>
          </p:nvSpPr>
          <p:spPr bwMode="auto">
            <a:xfrm>
              <a:off x="3024" y="1152"/>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err="1" smtClean="0">
                  <a:solidFill>
                    <a:srgbClr val="CC3300"/>
                  </a:solidFill>
                  <a:latin typeface="Times New Roman" panose="02020603050405020304" pitchFamily="18" charset="0"/>
                  <a:sym typeface="Symbol" panose="05050102010706020507" pitchFamily="18" charset="2"/>
                </a:rPr>
                <a:t>E</a:t>
              </a:r>
              <a:r>
                <a:rPr kumimoji="1" lang="en-US" altLang="zh-CN" sz="2400" b="1" i="1" baseline="-25000" dirty="0" err="1" smtClean="0">
                  <a:solidFill>
                    <a:srgbClr val="CC3300"/>
                  </a:solidFill>
                  <a:latin typeface="Times New Roman" panose="02020603050405020304" pitchFamily="18" charset="0"/>
                  <a:sym typeface="Symbol" panose="05050102010706020507" pitchFamily="18" charset="2"/>
                </a:rPr>
                <a:t>i</a:t>
              </a:r>
              <a:endParaRPr kumimoji="1" lang="en-US" altLang="zh-CN" sz="2400" b="1" i="1" baseline="-25000" dirty="0">
                <a:solidFill>
                  <a:srgbClr val="CC3300"/>
                </a:solidFill>
                <a:latin typeface="Times New Roman" panose="02020603050405020304" pitchFamily="18" charset="0"/>
                <a:sym typeface="Symbol" panose="05050102010706020507" pitchFamily="18" charset="2"/>
              </a:endParaRPr>
            </a:p>
          </p:txBody>
        </p:sp>
        <p:sp>
          <p:nvSpPr>
            <p:cNvPr id="43041" name="Rectangle 26"/>
            <p:cNvSpPr>
              <a:spLocks noChangeArrowheads="1"/>
            </p:cNvSpPr>
            <p:nvPr/>
          </p:nvSpPr>
          <p:spPr bwMode="auto">
            <a:xfrm>
              <a:off x="3312" y="168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smtClean="0">
                  <a:solidFill>
                    <a:srgbClr val="CC3300"/>
                  </a:solidFill>
                  <a:latin typeface="Times New Roman" panose="02020603050405020304" pitchFamily="18" charset="0"/>
                  <a:sym typeface="Symbol" panose="05050102010706020507" pitchFamily="18" charset="2"/>
                </a:rPr>
                <a:t>X</a:t>
              </a:r>
              <a:r>
                <a:rPr kumimoji="1" lang="en-US" altLang="zh-CN" sz="2400" b="1" i="1" baseline="-25000" dirty="0" smtClean="0">
                  <a:solidFill>
                    <a:srgbClr val="CC3300"/>
                  </a:solidFill>
                  <a:latin typeface="Times New Roman" panose="02020603050405020304" pitchFamily="18" charset="0"/>
                  <a:sym typeface="Symbol" panose="05050102010706020507" pitchFamily="18" charset="2"/>
                </a:rPr>
                <a:t>i</a:t>
              </a:r>
              <a:endParaRPr kumimoji="1" lang="en-US" altLang="zh-CN" sz="2400" b="1" i="1" baseline="-25000" dirty="0">
                <a:solidFill>
                  <a:srgbClr val="CC3300"/>
                </a:solidFill>
                <a:latin typeface="Times New Roman" panose="02020603050405020304" pitchFamily="18" charset="0"/>
                <a:sym typeface="Symbol" panose="05050102010706020507" pitchFamily="18" charset="2"/>
              </a:endParaRPr>
            </a:p>
          </p:txBody>
        </p:sp>
        <p:sp>
          <p:nvSpPr>
            <p:cNvPr id="43042" name="Rectangle 27"/>
            <p:cNvSpPr>
              <a:spLocks noChangeArrowheads="1"/>
            </p:cNvSpPr>
            <p:nvPr/>
          </p:nvSpPr>
          <p:spPr bwMode="auto">
            <a:xfrm>
              <a:off x="4080" y="1728"/>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T</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baseline="-25000">
                <a:solidFill>
                  <a:srgbClr val="CC3300"/>
                </a:solidFill>
                <a:latin typeface="Times New Roman" panose="02020603050405020304" pitchFamily="18" charset="0"/>
                <a:sym typeface="Symbol" panose="05050102010706020507" pitchFamily="18" charset="2"/>
              </a:endParaRPr>
            </a:p>
          </p:txBody>
        </p:sp>
        <p:sp>
          <p:nvSpPr>
            <p:cNvPr id="43043" name="Rectangle 28"/>
            <p:cNvSpPr>
              <a:spLocks noChangeArrowheads="1"/>
            </p:cNvSpPr>
            <p:nvPr/>
          </p:nvSpPr>
          <p:spPr bwMode="auto">
            <a:xfrm>
              <a:off x="4112" y="211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N</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a:solidFill>
                  <a:srgbClr val="CC3300"/>
                </a:solidFill>
                <a:latin typeface="Times New Roman" panose="02020603050405020304" pitchFamily="18" charset="0"/>
                <a:sym typeface="Symbol" panose="05050102010706020507" pitchFamily="18" charset="2"/>
              </a:endParaRPr>
            </a:p>
          </p:txBody>
        </p:sp>
        <p:sp>
          <p:nvSpPr>
            <p:cNvPr id="43044" name="Rectangle 29"/>
            <p:cNvSpPr>
              <a:spLocks noChangeArrowheads="1"/>
            </p:cNvSpPr>
            <p:nvPr/>
          </p:nvSpPr>
          <p:spPr bwMode="auto">
            <a:xfrm>
              <a:off x="4272" y="144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993300"/>
                  </a:solidFill>
                  <a:latin typeface="Times New Roman" panose="02020603050405020304" pitchFamily="18" charset="0"/>
                  <a:sym typeface="Symbol" panose="05050102010706020507" pitchFamily="18" charset="2"/>
                </a:rPr>
                <a:t></a:t>
              </a:r>
              <a:r>
                <a:rPr kumimoji="1" lang="en-US" altLang="zh-CN" sz="2400" b="1" i="1" baseline="-25000">
                  <a:solidFill>
                    <a:srgbClr val="993300"/>
                  </a:solidFill>
                  <a:latin typeface="Times New Roman" panose="02020603050405020304" pitchFamily="18" charset="0"/>
                  <a:sym typeface="Symbol" panose="05050102010706020507" pitchFamily="18" charset="2"/>
                </a:rPr>
                <a:t>i</a:t>
              </a:r>
              <a:endParaRPr kumimoji="1" lang="en-US" altLang="zh-CN" sz="2400" b="1" i="1" baseline="-25000">
                <a:solidFill>
                  <a:srgbClr val="993300"/>
                </a:solidFill>
                <a:latin typeface="Times New Roman" panose="02020603050405020304" pitchFamily="18" charset="0"/>
                <a:sym typeface="Symbol" panose="05050102010706020507" pitchFamily="18" charset="2"/>
              </a:endParaRPr>
            </a:p>
          </p:txBody>
        </p:sp>
        <p:sp>
          <p:nvSpPr>
            <p:cNvPr id="43045" name="Rectangle 30"/>
            <p:cNvSpPr>
              <a:spLocks noChangeArrowheads="1"/>
            </p:cNvSpPr>
            <p:nvPr/>
          </p:nvSpPr>
          <p:spPr bwMode="auto">
            <a:xfrm>
              <a:off x="4848" y="1152"/>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h</a:t>
              </a:r>
              <a:r>
                <a:rPr kumimoji="1" lang="en-US" altLang="zh-CN" sz="2400" b="1" i="1" baseline="-25000">
                  <a:solidFill>
                    <a:srgbClr val="CC3300"/>
                  </a:solidFill>
                  <a:latin typeface="Times New Roman" panose="02020603050405020304" pitchFamily="18" charset="0"/>
                  <a:sym typeface="Symbol" panose="05050102010706020507" pitchFamily="18" charset="2"/>
                </a:rPr>
                <a:t>i</a:t>
              </a:r>
              <a:r>
                <a:rPr kumimoji="1" lang="en-US" altLang="zh-CN" sz="2400" b="1" baseline="-25000">
                  <a:solidFill>
                    <a:srgbClr val="CC3300"/>
                  </a:solidFill>
                  <a:latin typeface="Times New Roman" panose="02020603050405020304" pitchFamily="18" charset="0"/>
                  <a:sym typeface="Symbol" panose="05050102010706020507" pitchFamily="18" charset="2"/>
                </a:rPr>
                <a:t>+1</a:t>
              </a:r>
              <a:endParaRPr kumimoji="1" lang="en-US" altLang="zh-CN" sz="2400" b="1" i="1" baseline="-25000">
                <a:solidFill>
                  <a:srgbClr val="CC3300"/>
                </a:solidFill>
                <a:latin typeface="Times New Roman" panose="02020603050405020304" pitchFamily="18" charset="0"/>
                <a:sym typeface="Symbol" panose="05050102010706020507" pitchFamily="18" charset="2"/>
              </a:endParaRPr>
            </a:p>
          </p:txBody>
        </p:sp>
        <p:sp>
          <p:nvSpPr>
            <p:cNvPr id="43046" name="Rectangle 31"/>
            <p:cNvSpPr>
              <a:spLocks noChangeArrowheads="1"/>
            </p:cNvSpPr>
            <p:nvPr/>
          </p:nvSpPr>
          <p:spPr bwMode="auto">
            <a:xfrm>
              <a:off x="3744" y="1296"/>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err="1" smtClean="0">
                  <a:solidFill>
                    <a:srgbClr val="CC3300"/>
                  </a:solidFill>
                  <a:latin typeface="Times New Roman" panose="02020603050405020304" pitchFamily="18" charset="0"/>
                  <a:sym typeface="Symbol" panose="05050102010706020507" pitchFamily="18" charset="2"/>
                </a:rPr>
                <a:t>G</a:t>
              </a:r>
              <a:r>
                <a:rPr kumimoji="1" lang="en-US" altLang="zh-CN" sz="2400" b="1" i="1" baseline="-25000" dirty="0" err="1" smtClean="0">
                  <a:solidFill>
                    <a:srgbClr val="CC3300"/>
                  </a:solidFill>
                  <a:latin typeface="Times New Roman" panose="02020603050405020304" pitchFamily="18" charset="0"/>
                  <a:sym typeface="Symbol" panose="05050102010706020507" pitchFamily="18" charset="2"/>
                </a:rPr>
                <a:t>i</a:t>
              </a:r>
              <a:endParaRPr kumimoji="1" lang="en-US" altLang="zh-CN" sz="2400" b="1" i="1" baseline="-25000" dirty="0">
                <a:solidFill>
                  <a:srgbClr val="CC3300"/>
                </a:solidFill>
                <a:latin typeface="Times New Roman" panose="02020603050405020304" pitchFamily="18" charset="0"/>
                <a:sym typeface="Symbol" panose="05050102010706020507" pitchFamily="18" charset="2"/>
              </a:endParaRPr>
            </a:p>
          </p:txBody>
        </p:sp>
        <p:sp>
          <p:nvSpPr>
            <p:cNvPr id="43047" name="Rectangle 32"/>
            <p:cNvSpPr>
              <a:spLocks noChangeArrowheads="1"/>
            </p:cNvSpPr>
            <p:nvPr/>
          </p:nvSpPr>
          <p:spPr bwMode="auto">
            <a:xfrm>
              <a:off x="4416" y="72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smtClean="0">
                  <a:solidFill>
                    <a:srgbClr val="CC3300"/>
                  </a:solidFill>
                  <a:latin typeface="Times New Roman" panose="02020603050405020304" pitchFamily="18" charset="0"/>
                  <a:sym typeface="Symbol" panose="05050102010706020507" pitchFamily="18" charset="2"/>
                </a:rPr>
                <a:t>E</a:t>
              </a:r>
              <a:r>
                <a:rPr kumimoji="1" lang="en-US" altLang="zh-CN" sz="2400" b="1" i="1" baseline="-25000" dirty="0" smtClean="0">
                  <a:solidFill>
                    <a:srgbClr val="CC3300"/>
                  </a:solidFill>
                  <a:latin typeface="Times New Roman" panose="02020603050405020304" pitchFamily="18" charset="0"/>
                  <a:sym typeface="Symbol" panose="05050102010706020507" pitchFamily="18" charset="2"/>
                </a:rPr>
                <a:t>i</a:t>
              </a:r>
              <a:r>
                <a:rPr kumimoji="1" lang="en-US" altLang="zh-CN" sz="2400" b="1" baseline="-25000" dirty="0" smtClean="0">
                  <a:solidFill>
                    <a:srgbClr val="CC3300"/>
                  </a:solidFill>
                  <a:latin typeface="Times New Roman" panose="02020603050405020304" pitchFamily="18" charset="0"/>
                  <a:sym typeface="Symbol" panose="05050102010706020507" pitchFamily="18" charset="2"/>
                </a:rPr>
                <a:t>+1</a:t>
              </a:r>
              <a:endParaRPr kumimoji="1" lang="en-US" altLang="zh-CN" sz="2400" b="1" baseline="-25000" dirty="0">
                <a:solidFill>
                  <a:srgbClr val="CC3300"/>
                </a:solidFill>
                <a:latin typeface="Times New Roman" panose="02020603050405020304" pitchFamily="18" charset="0"/>
                <a:sym typeface="Symbol" panose="05050102010706020507" pitchFamily="18" charset="2"/>
              </a:endParaRPr>
            </a:p>
          </p:txBody>
        </p:sp>
        <p:sp>
          <p:nvSpPr>
            <p:cNvPr id="43048" name="Rectangle 33"/>
            <p:cNvSpPr>
              <a:spLocks noChangeArrowheads="1"/>
            </p:cNvSpPr>
            <p:nvPr/>
          </p:nvSpPr>
          <p:spPr bwMode="auto">
            <a:xfrm>
              <a:off x="4176" y="432"/>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smtClean="0">
                  <a:solidFill>
                    <a:srgbClr val="CC3300"/>
                  </a:solidFill>
                  <a:latin typeface="Times New Roman" panose="02020603050405020304" pitchFamily="18" charset="0"/>
                  <a:sym typeface="Symbol" panose="05050102010706020507" pitchFamily="18" charset="2"/>
                </a:rPr>
                <a:t>X</a:t>
              </a:r>
              <a:r>
                <a:rPr kumimoji="1" lang="en-US" altLang="zh-CN" sz="2400" b="1" i="1" baseline="-25000" dirty="0" smtClean="0">
                  <a:solidFill>
                    <a:srgbClr val="CC3300"/>
                  </a:solidFill>
                  <a:latin typeface="Times New Roman" panose="02020603050405020304" pitchFamily="18" charset="0"/>
                  <a:sym typeface="Symbol" panose="05050102010706020507" pitchFamily="18" charset="2"/>
                </a:rPr>
                <a:t>i</a:t>
              </a:r>
              <a:r>
                <a:rPr kumimoji="1" lang="en-US" altLang="zh-CN" sz="2400" b="1" baseline="-25000" dirty="0" smtClean="0">
                  <a:solidFill>
                    <a:srgbClr val="CC3300"/>
                  </a:solidFill>
                  <a:latin typeface="Times New Roman" panose="02020603050405020304" pitchFamily="18" charset="0"/>
                  <a:sym typeface="Symbol" panose="05050102010706020507" pitchFamily="18" charset="2"/>
                </a:rPr>
                <a:t>+1</a:t>
              </a:r>
              <a:endParaRPr kumimoji="1" lang="en-US" altLang="zh-CN" sz="2400" b="1" baseline="-25000" dirty="0">
                <a:solidFill>
                  <a:srgbClr val="CC3300"/>
                </a:solidFill>
                <a:latin typeface="Times New Roman" panose="02020603050405020304" pitchFamily="18" charset="0"/>
                <a:sym typeface="Symbol" panose="05050102010706020507" pitchFamily="18" charset="2"/>
              </a:endParaRPr>
            </a:p>
          </p:txBody>
        </p:sp>
        <p:sp>
          <p:nvSpPr>
            <p:cNvPr id="43049" name="Line 34"/>
            <p:cNvSpPr>
              <a:spLocks noChangeShapeType="1"/>
            </p:cNvSpPr>
            <p:nvPr/>
          </p:nvSpPr>
          <p:spPr bwMode="auto">
            <a:xfrm flipH="1">
              <a:off x="3072" y="2016"/>
              <a:ext cx="52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50" name="Line 35"/>
            <p:cNvSpPr>
              <a:spLocks noChangeShapeType="1"/>
            </p:cNvSpPr>
            <p:nvPr/>
          </p:nvSpPr>
          <p:spPr bwMode="auto">
            <a:xfrm>
              <a:off x="3264" y="1488"/>
              <a:ext cx="0" cy="528"/>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51" name="Rectangle 36"/>
            <p:cNvSpPr>
              <a:spLocks noChangeArrowheads="1"/>
            </p:cNvSpPr>
            <p:nvPr/>
          </p:nvSpPr>
          <p:spPr bwMode="auto">
            <a:xfrm>
              <a:off x="3024" y="1584"/>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h</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baseline="-25000">
                <a:solidFill>
                  <a:srgbClr val="CC3300"/>
                </a:solidFill>
                <a:latin typeface="Times New Roman" panose="02020603050405020304" pitchFamily="18" charset="0"/>
                <a:sym typeface="Symbol" panose="05050102010706020507" pitchFamily="18" charset="2"/>
              </a:endParaRPr>
            </a:p>
          </p:txBody>
        </p:sp>
      </p:grpSp>
      <p:grpSp>
        <p:nvGrpSpPr>
          <p:cNvPr id="43015" name="Group 37"/>
          <p:cNvGrpSpPr/>
          <p:nvPr/>
        </p:nvGrpSpPr>
        <p:grpSpPr bwMode="auto">
          <a:xfrm>
            <a:off x="1066800" y="838200"/>
            <a:ext cx="2667000" cy="3121025"/>
            <a:chOff x="672" y="242"/>
            <a:chExt cx="1680" cy="1966"/>
          </a:xfrm>
        </p:grpSpPr>
        <p:sp>
          <p:nvSpPr>
            <p:cNvPr id="43022" name="Arc 38"/>
            <p:cNvSpPr/>
            <p:nvPr/>
          </p:nvSpPr>
          <p:spPr bwMode="auto">
            <a:xfrm rot="782077" flipH="1">
              <a:off x="672" y="576"/>
              <a:ext cx="1680" cy="1632"/>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47625">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3023" name="Line 39"/>
            <p:cNvSpPr>
              <a:spLocks noChangeShapeType="1"/>
            </p:cNvSpPr>
            <p:nvPr/>
          </p:nvSpPr>
          <p:spPr bwMode="auto">
            <a:xfrm>
              <a:off x="1163" y="1058"/>
              <a:ext cx="1" cy="672"/>
            </a:xfrm>
            <a:prstGeom prst="line">
              <a:avLst/>
            </a:prstGeom>
            <a:noFill/>
            <a:ln w="476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24" name="Line 40"/>
            <p:cNvSpPr>
              <a:spLocks noChangeShapeType="1"/>
            </p:cNvSpPr>
            <p:nvPr/>
          </p:nvSpPr>
          <p:spPr bwMode="auto">
            <a:xfrm>
              <a:off x="1403" y="914"/>
              <a:ext cx="1" cy="672"/>
            </a:xfrm>
            <a:prstGeom prst="line">
              <a:avLst/>
            </a:prstGeom>
            <a:noFill/>
            <a:ln w="476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25" name="Arc 41"/>
            <p:cNvSpPr/>
            <p:nvPr/>
          </p:nvSpPr>
          <p:spPr bwMode="auto">
            <a:xfrm rot="2376148" flipV="1">
              <a:off x="923" y="242"/>
              <a:ext cx="864" cy="1948"/>
            </a:xfrm>
            <a:custGeom>
              <a:avLst/>
              <a:gdLst>
                <a:gd name="T0" fmla="*/ 0 w 21600"/>
                <a:gd name="T1" fmla="*/ 0 h 24398"/>
                <a:gd name="T2" fmla="*/ 0 w 21600"/>
                <a:gd name="T3" fmla="*/ 1 h 24398"/>
                <a:gd name="T4" fmla="*/ 0 w 21600"/>
                <a:gd name="T5" fmla="*/ 1 h 24398"/>
                <a:gd name="T6" fmla="*/ 0 60000 65536"/>
                <a:gd name="T7" fmla="*/ 0 60000 65536"/>
                <a:gd name="T8" fmla="*/ 0 60000 65536"/>
                <a:gd name="T9" fmla="*/ 0 w 21600"/>
                <a:gd name="T10" fmla="*/ 0 h 24398"/>
                <a:gd name="T11" fmla="*/ 21600 w 21600"/>
                <a:gd name="T12" fmla="*/ 24398 h 24398"/>
              </a:gdLst>
              <a:ahLst/>
              <a:cxnLst>
                <a:cxn ang="T6">
                  <a:pos x="T0" y="T1"/>
                </a:cxn>
                <a:cxn ang="T7">
                  <a:pos x="T2" y="T3"/>
                </a:cxn>
                <a:cxn ang="T8">
                  <a:pos x="T4" y="T5"/>
                </a:cxn>
              </a:cxnLst>
              <a:rect l="T9" t="T10" r="T11" b="T12"/>
              <a:pathLst>
                <a:path w="21600" h="24398" fill="none" extrusionOk="0">
                  <a:moveTo>
                    <a:pt x="4741" y="-1"/>
                  </a:moveTo>
                  <a:cubicBezTo>
                    <a:pt x="14597" y="2217"/>
                    <a:pt x="21600" y="10970"/>
                    <a:pt x="21600" y="21073"/>
                  </a:cubicBezTo>
                  <a:cubicBezTo>
                    <a:pt x="21600" y="22186"/>
                    <a:pt x="21513" y="23297"/>
                    <a:pt x="21342" y="24397"/>
                  </a:cubicBezTo>
                </a:path>
                <a:path w="21600" h="24398" stroke="0" extrusionOk="0">
                  <a:moveTo>
                    <a:pt x="4741" y="-1"/>
                  </a:moveTo>
                  <a:cubicBezTo>
                    <a:pt x="14597" y="2217"/>
                    <a:pt x="21600" y="10970"/>
                    <a:pt x="21600" y="21073"/>
                  </a:cubicBezTo>
                  <a:cubicBezTo>
                    <a:pt x="21600" y="22186"/>
                    <a:pt x="21513" y="23297"/>
                    <a:pt x="21342" y="24397"/>
                  </a:cubicBezTo>
                  <a:lnTo>
                    <a:pt x="0" y="21073"/>
                  </a:lnTo>
                  <a:lnTo>
                    <a:pt x="4741" y="-1"/>
                  </a:lnTo>
                  <a:close/>
                </a:path>
              </a:pathLst>
            </a:custGeom>
            <a:noFill/>
            <a:ln w="47625">
              <a:solidFill>
                <a:srgbClr val="CC33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764970" name="Text Box 42"/>
          <p:cNvSpPr txBox="1">
            <a:spLocks noChangeArrowheads="1"/>
          </p:cNvSpPr>
          <p:nvPr/>
        </p:nvSpPr>
        <p:spPr bwMode="auto">
          <a:xfrm>
            <a:off x="1143000" y="5181600"/>
            <a:ext cx="655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2400" b="1">
                <a:solidFill>
                  <a:srgbClr val="0000FF"/>
                </a:solidFill>
              </a:rPr>
              <a:t>假定滑动面上作用点位置：</a:t>
            </a:r>
            <a:r>
              <a:rPr lang="en-US" altLang="zh-CN" sz="2400" b="1">
                <a:solidFill>
                  <a:srgbClr val="0000FF"/>
                </a:solidFill>
              </a:rPr>
              <a:t>n</a:t>
            </a:r>
            <a:endParaRPr lang="en-US" altLang="zh-CN" sz="2400" b="1">
              <a:solidFill>
                <a:srgbClr val="0000FF"/>
              </a:solidFill>
            </a:endParaRPr>
          </a:p>
        </p:txBody>
      </p:sp>
      <p:sp>
        <p:nvSpPr>
          <p:cNvPr id="764971" name="AutoShape 43"/>
          <p:cNvSpPr/>
          <p:nvPr/>
        </p:nvSpPr>
        <p:spPr bwMode="auto">
          <a:xfrm>
            <a:off x="5257800" y="4876800"/>
            <a:ext cx="76200" cy="609600"/>
          </a:xfrm>
          <a:prstGeom prst="rightBrace">
            <a:avLst>
              <a:gd name="adj1" fmla="val 66667"/>
              <a:gd name="adj2" fmla="val 50000"/>
            </a:avLst>
          </a:prstGeom>
          <a:noFill/>
          <a:ln w="34925">
            <a:solidFill>
              <a:srgbClr val="CC3300"/>
            </a:solidFill>
            <a:round/>
          </a:ln>
          <a:extLst>
            <a:ext uri="{909E8E84-426E-40DD-AFC4-6F175D3DCCD1}">
              <a14:hiddenFill xmlns:a14="http://schemas.microsoft.com/office/drawing/2010/main">
                <a:solidFill>
                  <a:srgbClr val="FFFFFF"/>
                </a:solidFill>
              </a14:hiddenFill>
            </a:ext>
          </a:extLst>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764972" name="Text Box 44"/>
          <p:cNvSpPr txBox="1">
            <a:spLocks noChangeArrowheads="1"/>
          </p:cNvSpPr>
          <p:nvPr/>
        </p:nvSpPr>
        <p:spPr bwMode="auto">
          <a:xfrm>
            <a:off x="1066800" y="5943600"/>
            <a:ext cx="4876800" cy="496888"/>
          </a:xfrm>
          <a:prstGeom prst="rect">
            <a:avLst/>
          </a:prstGeom>
          <a:solidFill>
            <a:schemeClr val="accent1"/>
          </a:solidFill>
          <a:ln w="9525" algn="ctr">
            <a:solidFill>
              <a:srgbClr val="0066FF"/>
            </a:solidFill>
            <a:miter lim="800000"/>
          </a:ln>
        </p:spPr>
        <p:txBody>
          <a:bodyPr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lang="en-US" altLang="zh-CN" sz="3200" b="1">
                <a:solidFill>
                  <a:srgbClr val="CC3300"/>
                </a:solidFill>
                <a:ea typeface="隶书" panose="02010509060101010101" pitchFamily="49" charset="-122"/>
              </a:rPr>
              <a:t> </a:t>
            </a:r>
            <a:r>
              <a:rPr lang="zh-CN" altLang="en-US" sz="3200" b="1">
                <a:solidFill>
                  <a:srgbClr val="CC3300"/>
                </a:solidFill>
                <a:ea typeface="隶书" panose="02010509060101010101" pitchFamily="49" charset="-122"/>
              </a:rPr>
              <a:t>未知数</a:t>
            </a:r>
            <a:r>
              <a:rPr lang="en-US" altLang="zh-CN" sz="3200" b="1">
                <a:solidFill>
                  <a:srgbClr val="CC3300"/>
                </a:solidFill>
                <a:ea typeface="隶书" panose="02010509060101010101" pitchFamily="49" charset="-122"/>
              </a:rPr>
              <a:t>: </a:t>
            </a:r>
            <a:r>
              <a:rPr lang="en-US" altLang="zh-CN" sz="3200" b="1">
                <a:solidFill>
                  <a:srgbClr val="0000FF"/>
                </a:solidFill>
                <a:ea typeface="隶书" panose="02010509060101010101" pitchFamily="49" charset="-122"/>
              </a:rPr>
              <a:t>4n-1  </a:t>
            </a:r>
            <a:r>
              <a:rPr lang="zh-CN" altLang="en-US" sz="3200" b="1">
                <a:solidFill>
                  <a:srgbClr val="CC3300"/>
                </a:solidFill>
                <a:ea typeface="隶书" panose="02010509060101010101" pitchFamily="49" charset="-122"/>
              </a:rPr>
              <a:t>方程数</a:t>
            </a:r>
            <a:r>
              <a:rPr lang="en-US" altLang="zh-CN" sz="3200" b="1">
                <a:solidFill>
                  <a:srgbClr val="CC3300"/>
                </a:solidFill>
                <a:ea typeface="隶书" panose="02010509060101010101" pitchFamily="49" charset="-122"/>
              </a:rPr>
              <a:t>: </a:t>
            </a:r>
            <a:r>
              <a:rPr lang="en-US" altLang="zh-CN" sz="3200" b="1">
                <a:solidFill>
                  <a:srgbClr val="0000FF"/>
                </a:solidFill>
                <a:ea typeface="隶书" panose="02010509060101010101" pitchFamily="49" charset="-122"/>
              </a:rPr>
              <a:t>4n </a:t>
            </a:r>
            <a:endParaRPr lang="en-US" altLang="zh-CN" sz="3200" b="1">
              <a:solidFill>
                <a:srgbClr val="0000FF"/>
              </a:solidFill>
              <a:ea typeface="隶书" panose="02010509060101010101" pitchFamily="49" charset="-122"/>
            </a:endParaRPr>
          </a:p>
        </p:txBody>
      </p:sp>
      <p:sp>
        <p:nvSpPr>
          <p:cNvPr id="764973" name="AutoShape 45"/>
          <p:cNvSpPr>
            <a:spLocks noChangeArrowheads="1"/>
          </p:cNvSpPr>
          <p:nvPr/>
        </p:nvSpPr>
        <p:spPr bwMode="auto">
          <a:xfrm>
            <a:off x="685800" y="5181600"/>
            <a:ext cx="304800" cy="914400"/>
          </a:xfrm>
          <a:prstGeom prst="curvedRightArrow">
            <a:avLst>
              <a:gd name="adj1" fmla="val 60000"/>
              <a:gd name="adj2" fmla="val 120000"/>
              <a:gd name="adj3" fmla="val 33333"/>
            </a:avLst>
          </a:prstGeom>
          <a:solidFill>
            <a:srgbClr val="99FF99"/>
          </a:solidFill>
          <a:ln w="9525">
            <a:solidFill>
              <a:srgbClr val="CC3300"/>
            </a:solidFill>
            <a:miter lim="800000"/>
          </a:ln>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764974" name="Text Box 46"/>
          <p:cNvSpPr txBox="1">
            <a:spLocks noChangeArrowheads="1"/>
          </p:cNvSpPr>
          <p:nvPr/>
        </p:nvSpPr>
        <p:spPr bwMode="auto">
          <a:xfrm>
            <a:off x="685800" y="4038600"/>
            <a:ext cx="1223963"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3200" b="1">
                <a:solidFill>
                  <a:srgbClr val="990033"/>
                </a:solidFill>
                <a:ea typeface="隶书" panose="02010509060101010101" pitchFamily="49" charset="-122"/>
              </a:rPr>
              <a:t>假定：</a:t>
            </a:r>
            <a:endParaRPr lang="zh-CN" altLang="en-US" sz="3200" b="1">
              <a:solidFill>
                <a:srgbClr val="0000FF"/>
              </a:solidFill>
              <a:ea typeface="隶书" panose="02010509060101010101" pitchFamily="49" charset="-122"/>
            </a:endParaRPr>
          </a:p>
        </p:txBody>
      </p:sp>
      <p:sp>
        <p:nvSpPr>
          <p:cNvPr id="764976" name="Text Box 48"/>
          <p:cNvSpPr txBox="1">
            <a:spLocks noChangeArrowheads="1"/>
          </p:cNvSpPr>
          <p:nvPr/>
        </p:nvSpPr>
        <p:spPr bwMode="auto">
          <a:xfrm>
            <a:off x="1904999" y="4191000"/>
            <a:ext cx="43926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2400" b="1" u="sng" dirty="0">
                <a:solidFill>
                  <a:srgbClr val="FF0000"/>
                </a:solidFill>
              </a:rPr>
              <a:t>圆弧滑裂面；条</a:t>
            </a:r>
            <a:r>
              <a:rPr lang="zh-CN" altLang="en-US" sz="2400" b="1" u="sng" dirty="0" smtClean="0">
                <a:solidFill>
                  <a:srgbClr val="FF0000"/>
                </a:solidFill>
              </a:rPr>
              <a:t>间切向力</a:t>
            </a:r>
            <a:r>
              <a:rPr lang="en-US" altLang="zh-CN" sz="2400" b="1" u="sng" dirty="0">
                <a:solidFill>
                  <a:srgbClr val="FF0000"/>
                </a:solidFill>
              </a:rPr>
              <a:t>=0</a:t>
            </a:r>
            <a:endParaRPr lang="en-US" altLang="zh-CN" sz="2400" b="1" u="sng" dirty="0">
              <a:solidFill>
                <a:srgbClr val="FF0000"/>
              </a:solidFill>
            </a:endParaRPr>
          </a:p>
        </p:txBody>
      </p:sp>
      <p:sp>
        <p:nvSpPr>
          <p:cNvPr id="48" name="Rectangle 6"/>
          <p:cNvSpPr>
            <a:spLocks noChangeArrowheads="1"/>
          </p:cNvSpPr>
          <p:nvPr/>
        </p:nvSpPr>
        <p:spPr bwMode="auto">
          <a:xfrm>
            <a:off x="0" y="-7396"/>
            <a:ext cx="41148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黏性土坡的稳定性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64974"/>
                                        </p:tgtEl>
                                        <p:attrNameLst>
                                          <p:attrName>style.visibility</p:attrName>
                                        </p:attrNameLst>
                                      </p:cBhvr>
                                      <p:to>
                                        <p:strVal val="visible"/>
                                      </p:to>
                                    </p:set>
                                    <p:animEffect transition="in" filter="dissolve">
                                      <p:cBhvr>
                                        <p:cTn id="7" dur="500"/>
                                        <p:tgtEl>
                                          <p:spTgt spid="764974"/>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764976"/>
                                        </p:tgtEl>
                                        <p:attrNameLst>
                                          <p:attrName>style.visibility</p:attrName>
                                        </p:attrNameLst>
                                      </p:cBhvr>
                                      <p:to>
                                        <p:strVal val="visible"/>
                                      </p:to>
                                    </p:set>
                                    <p:animEffect transition="in" filter="dissolve">
                                      <p:cBhvr>
                                        <p:cTn id="11" dur="500"/>
                                        <p:tgtEl>
                                          <p:spTgt spid="76497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764932"/>
                                        </p:tgtEl>
                                        <p:attrNameLst>
                                          <p:attrName>style.visibility</p:attrName>
                                        </p:attrNameLst>
                                      </p:cBhvr>
                                      <p:to>
                                        <p:strVal val="visible"/>
                                      </p:to>
                                    </p:set>
                                    <p:animEffect transition="in" filter="dissolve">
                                      <p:cBhvr>
                                        <p:cTn id="16" dur="500"/>
                                        <p:tgtEl>
                                          <p:spTgt spid="764932"/>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764970"/>
                                        </p:tgtEl>
                                        <p:attrNameLst>
                                          <p:attrName>style.visibility</p:attrName>
                                        </p:attrNameLst>
                                      </p:cBhvr>
                                      <p:to>
                                        <p:strVal val="visible"/>
                                      </p:to>
                                    </p:set>
                                    <p:animEffect transition="in" filter="dissolve">
                                      <p:cBhvr>
                                        <p:cTn id="21" dur="500"/>
                                        <p:tgtEl>
                                          <p:spTgt spid="764970"/>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764971"/>
                                        </p:tgtEl>
                                        <p:attrNameLst>
                                          <p:attrName>style.visibility</p:attrName>
                                        </p:attrNameLst>
                                      </p:cBhvr>
                                      <p:to>
                                        <p:strVal val="visible"/>
                                      </p:to>
                                    </p:set>
                                    <p:animEffect transition="in" filter="dissolve">
                                      <p:cBhvr>
                                        <p:cTn id="26" dur="500"/>
                                        <p:tgtEl>
                                          <p:spTgt spid="764971"/>
                                        </p:tgtEl>
                                      </p:cBhvr>
                                    </p:animEffect>
                                  </p:childTnLst>
                                </p:cTn>
                              </p:par>
                            </p:childTnLst>
                          </p:cTn>
                        </p:par>
                        <p:par>
                          <p:cTn id="27" fill="hold">
                            <p:stCondLst>
                              <p:cond delay="500"/>
                            </p:stCondLst>
                            <p:childTnLst>
                              <p:par>
                                <p:cTn id="28" presetID="9" presetClass="entr" presetSubtype="0" fill="hold" grpId="0" nodeType="afterEffect">
                                  <p:stCondLst>
                                    <p:cond delay="0"/>
                                  </p:stCondLst>
                                  <p:childTnLst>
                                    <p:set>
                                      <p:cBhvr>
                                        <p:cTn id="29" dur="1" fill="hold">
                                          <p:stCondLst>
                                            <p:cond delay="0"/>
                                          </p:stCondLst>
                                        </p:cTn>
                                        <p:tgtEl>
                                          <p:spTgt spid="764933"/>
                                        </p:tgtEl>
                                        <p:attrNameLst>
                                          <p:attrName>style.visibility</p:attrName>
                                        </p:attrNameLst>
                                      </p:cBhvr>
                                      <p:to>
                                        <p:strVal val="visible"/>
                                      </p:to>
                                    </p:set>
                                    <p:animEffect transition="in" filter="dissolve">
                                      <p:cBhvr>
                                        <p:cTn id="30" dur="500"/>
                                        <p:tgtEl>
                                          <p:spTgt spid="76493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764973"/>
                                        </p:tgtEl>
                                        <p:attrNameLst>
                                          <p:attrName>style.visibility</p:attrName>
                                        </p:attrNameLst>
                                      </p:cBhvr>
                                      <p:to>
                                        <p:strVal val="visible"/>
                                      </p:to>
                                    </p:set>
                                    <p:animEffect transition="in" filter="wipe(up)">
                                      <p:cBhvr>
                                        <p:cTn id="35" dur="500"/>
                                        <p:tgtEl>
                                          <p:spTgt spid="764973"/>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764972"/>
                                        </p:tgtEl>
                                        <p:attrNameLst>
                                          <p:attrName>style.visibility</p:attrName>
                                        </p:attrNameLst>
                                      </p:cBhvr>
                                      <p:to>
                                        <p:strVal val="visible"/>
                                      </p:to>
                                    </p:set>
                                    <p:animEffect transition="in" filter="dissolve">
                                      <p:cBhvr>
                                        <p:cTn id="40" dur="500"/>
                                        <p:tgtEl>
                                          <p:spTgt spid="7649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4932" grpId="0" autoUpdateAnimBg="0"/>
      <p:bldP spid="764933" grpId="0" bldLvl="0" animBg="1" autoUpdateAnimBg="0"/>
      <p:bldP spid="764970" grpId="0" autoUpdateAnimBg="0"/>
      <p:bldP spid="764971" grpId="0" bldLvl="0" animBg="1"/>
      <p:bldP spid="764972" grpId="0" bldLvl="0" animBg="1" autoUpdateAnimBg="0"/>
      <p:bldP spid="764973" grpId="0" bldLvl="0" animBg="1"/>
      <p:bldP spid="764974" grpId="0" autoUpdateAnimBg="0"/>
      <p:bldP spid="764976" grpId="0"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99"/>
          <p:cNvGrpSpPr/>
          <p:nvPr/>
        </p:nvGrpSpPr>
        <p:grpSpPr bwMode="auto">
          <a:xfrm>
            <a:off x="5181600" y="4648200"/>
            <a:ext cx="990600" cy="533400"/>
            <a:chOff x="3264" y="2928"/>
            <a:chExt cx="624" cy="336"/>
          </a:xfrm>
        </p:grpSpPr>
        <p:sp>
          <p:nvSpPr>
            <p:cNvPr id="44112" name="Line 13"/>
            <p:cNvSpPr>
              <a:spLocks noChangeShapeType="1"/>
            </p:cNvSpPr>
            <p:nvPr/>
          </p:nvSpPr>
          <p:spPr bwMode="auto">
            <a:xfrm>
              <a:off x="3408" y="3264"/>
              <a:ext cx="480" cy="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113" name="Rectangle 25"/>
            <p:cNvSpPr>
              <a:spLocks noChangeArrowheads="1"/>
            </p:cNvSpPr>
            <p:nvPr/>
          </p:nvSpPr>
          <p:spPr bwMode="auto">
            <a:xfrm>
              <a:off x="3264" y="2928"/>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err="1" smtClean="0">
                  <a:solidFill>
                    <a:srgbClr val="CC3300"/>
                  </a:solidFill>
                  <a:latin typeface="Times New Roman" panose="02020603050405020304" pitchFamily="18" charset="0"/>
                  <a:sym typeface="Symbol" panose="05050102010706020507" pitchFamily="18" charset="2"/>
                </a:rPr>
                <a:t>E</a:t>
              </a:r>
              <a:r>
                <a:rPr kumimoji="1" lang="en-US" altLang="zh-CN" sz="2400" b="1" i="1" baseline="-25000" dirty="0" err="1" smtClean="0">
                  <a:solidFill>
                    <a:srgbClr val="CC3300"/>
                  </a:solidFill>
                  <a:latin typeface="Times New Roman" panose="02020603050405020304" pitchFamily="18" charset="0"/>
                  <a:sym typeface="Symbol" panose="05050102010706020507" pitchFamily="18" charset="2"/>
                </a:rPr>
                <a:t>i</a:t>
              </a:r>
              <a:endParaRPr kumimoji="1" lang="en-US" altLang="zh-CN" sz="2400" b="1" i="1" baseline="-25000" dirty="0">
                <a:solidFill>
                  <a:srgbClr val="CC3300"/>
                </a:solidFill>
                <a:latin typeface="Times New Roman" panose="02020603050405020304" pitchFamily="18" charset="0"/>
                <a:sym typeface="Symbol" panose="05050102010706020507" pitchFamily="18" charset="2"/>
              </a:endParaRPr>
            </a:p>
          </p:txBody>
        </p:sp>
      </p:grpSp>
      <p:grpSp>
        <p:nvGrpSpPr>
          <p:cNvPr id="3" name="Group 102"/>
          <p:cNvGrpSpPr/>
          <p:nvPr/>
        </p:nvGrpSpPr>
        <p:grpSpPr bwMode="auto">
          <a:xfrm>
            <a:off x="7848600" y="4343400"/>
            <a:ext cx="1066800" cy="1143000"/>
            <a:chOff x="4944" y="2736"/>
            <a:chExt cx="672" cy="720"/>
          </a:xfrm>
        </p:grpSpPr>
        <p:sp>
          <p:nvSpPr>
            <p:cNvPr id="44108" name="Line 22"/>
            <p:cNvSpPr>
              <a:spLocks noChangeShapeType="1"/>
            </p:cNvSpPr>
            <p:nvPr/>
          </p:nvSpPr>
          <p:spPr bwMode="auto">
            <a:xfrm>
              <a:off x="4944" y="3456"/>
              <a:ext cx="33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09" name="Line 23"/>
            <p:cNvSpPr>
              <a:spLocks noChangeShapeType="1"/>
            </p:cNvSpPr>
            <p:nvPr/>
          </p:nvSpPr>
          <p:spPr bwMode="auto">
            <a:xfrm>
              <a:off x="4944" y="2736"/>
              <a:ext cx="33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10" name="Line 24"/>
            <p:cNvSpPr>
              <a:spLocks noChangeShapeType="1"/>
            </p:cNvSpPr>
            <p:nvPr/>
          </p:nvSpPr>
          <p:spPr bwMode="auto">
            <a:xfrm>
              <a:off x="5088" y="2736"/>
              <a:ext cx="0" cy="72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111" name="Rectangle 30"/>
            <p:cNvSpPr>
              <a:spLocks noChangeArrowheads="1"/>
            </p:cNvSpPr>
            <p:nvPr/>
          </p:nvSpPr>
          <p:spPr bwMode="auto">
            <a:xfrm>
              <a:off x="5088" y="2928"/>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h</a:t>
              </a:r>
              <a:r>
                <a:rPr kumimoji="1" lang="en-US" altLang="zh-CN" sz="2400" b="1" i="1" baseline="-25000">
                  <a:solidFill>
                    <a:srgbClr val="CC3300"/>
                  </a:solidFill>
                  <a:latin typeface="Times New Roman" panose="02020603050405020304" pitchFamily="18" charset="0"/>
                  <a:sym typeface="Symbol" panose="05050102010706020507" pitchFamily="18" charset="2"/>
                </a:rPr>
                <a:t>i</a:t>
              </a:r>
              <a:r>
                <a:rPr kumimoji="1" lang="en-US" altLang="zh-CN" sz="2400" b="1" baseline="-25000">
                  <a:solidFill>
                    <a:srgbClr val="CC3300"/>
                  </a:solidFill>
                  <a:latin typeface="Times New Roman" panose="02020603050405020304" pitchFamily="18" charset="0"/>
                  <a:sym typeface="Symbol" panose="05050102010706020507" pitchFamily="18" charset="2"/>
                </a:rPr>
                <a:t>+1</a:t>
              </a:r>
              <a:endParaRPr kumimoji="1" lang="en-US" altLang="zh-CN" sz="2400" b="1" i="1" baseline="-25000">
                <a:solidFill>
                  <a:srgbClr val="CC3300"/>
                </a:solidFill>
                <a:latin typeface="Times New Roman" panose="02020603050405020304" pitchFamily="18" charset="0"/>
                <a:sym typeface="Symbol" panose="05050102010706020507" pitchFamily="18" charset="2"/>
              </a:endParaRPr>
            </a:p>
          </p:txBody>
        </p:sp>
      </p:grpSp>
      <p:grpSp>
        <p:nvGrpSpPr>
          <p:cNvPr id="4" name="Group 98"/>
          <p:cNvGrpSpPr/>
          <p:nvPr/>
        </p:nvGrpSpPr>
        <p:grpSpPr bwMode="auto">
          <a:xfrm>
            <a:off x="6172200" y="3505200"/>
            <a:ext cx="1524000" cy="3124200"/>
            <a:chOff x="3888" y="2208"/>
            <a:chExt cx="960" cy="1968"/>
          </a:xfrm>
        </p:grpSpPr>
        <p:grpSp>
          <p:nvGrpSpPr>
            <p:cNvPr id="44093" name="Group 7"/>
            <p:cNvGrpSpPr/>
            <p:nvPr/>
          </p:nvGrpSpPr>
          <p:grpSpPr bwMode="auto">
            <a:xfrm>
              <a:off x="3888" y="2208"/>
              <a:ext cx="528" cy="1584"/>
              <a:chOff x="3744" y="864"/>
              <a:chExt cx="432" cy="1584"/>
            </a:xfrm>
          </p:grpSpPr>
          <p:sp>
            <p:nvSpPr>
              <p:cNvPr id="44104" name="Line 8"/>
              <p:cNvSpPr>
                <a:spLocks noChangeShapeType="1"/>
              </p:cNvSpPr>
              <p:nvPr/>
            </p:nvSpPr>
            <p:spPr bwMode="auto">
              <a:xfrm>
                <a:off x="3744" y="1056"/>
                <a:ext cx="0" cy="1392"/>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05" name="Line 9"/>
              <p:cNvSpPr>
                <a:spLocks noChangeShapeType="1"/>
              </p:cNvSpPr>
              <p:nvPr/>
            </p:nvSpPr>
            <p:spPr bwMode="auto">
              <a:xfrm>
                <a:off x="4176" y="864"/>
                <a:ext cx="0" cy="1248"/>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06" name="Line 10"/>
              <p:cNvSpPr>
                <a:spLocks noChangeShapeType="1"/>
              </p:cNvSpPr>
              <p:nvPr/>
            </p:nvSpPr>
            <p:spPr bwMode="auto">
              <a:xfrm flipV="1">
                <a:off x="3744" y="864"/>
                <a:ext cx="432" cy="192"/>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107" name="Line 11"/>
              <p:cNvSpPr>
                <a:spLocks noChangeShapeType="1"/>
              </p:cNvSpPr>
              <p:nvPr/>
            </p:nvSpPr>
            <p:spPr bwMode="auto">
              <a:xfrm flipV="1">
                <a:off x="3744" y="2112"/>
                <a:ext cx="432" cy="336"/>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4094" name="Line 12"/>
            <p:cNvSpPr>
              <a:spLocks noChangeShapeType="1"/>
            </p:cNvSpPr>
            <p:nvPr/>
          </p:nvSpPr>
          <p:spPr bwMode="auto">
            <a:xfrm>
              <a:off x="4128" y="2736"/>
              <a:ext cx="0" cy="336"/>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95" name="Line 17"/>
            <p:cNvSpPr>
              <a:spLocks noChangeShapeType="1"/>
            </p:cNvSpPr>
            <p:nvPr/>
          </p:nvSpPr>
          <p:spPr bwMode="auto">
            <a:xfrm flipV="1">
              <a:off x="3984" y="3552"/>
              <a:ext cx="384" cy="240"/>
            </a:xfrm>
            <a:prstGeom prst="line">
              <a:avLst/>
            </a:prstGeom>
            <a:noFill/>
            <a:ln w="22225">
              <a:solidFill>
                <a:srgbClr val="0000FF"/>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96" name="Line 18"/>
            <p:cNvSpPr>
              <a:spLocks noChangeShapeType="1"/>
            </p:cNvSpPr>
            <p:nvPr/>
          </p:nvSpPr>
          <p:spPr bwMode="auto">
            <a:xfrm rot="10800000">
              <a:off x="4224" y="3696"/>
              <a:ext cx="192" cy="288"/>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97" name="Line 19"/>
            <p:cNvSpPr>
              <a:spLocks noChangeShapeType="1"/>
            </p:cNvSpPr>
            <p:nvPr/>
          </p:nvSpPr>
          <p:spPr bwMode="auto">
            <a:xfrm flipV="1">
              <a:off x="4416" y="3168"/>
              <a:ext cx="384" cy="2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98" name="Line 20"/>
            <p:cNvSpPr>
              <a:spLocks noChangeShapeType="1"/>
            </p:cNvSpPr>
            <p:nvPr/>
          </p:nvSpPr>
          <p:spPr bwMode="auto">
            <a:xfrm>
              <a:off x="4416" y="3456"/>
              <a:ext cx="43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99" name="Freeform 21"/>
            <p:cNvSpPr/>
            <p:nvPr/>
          </p:nvSpPr>
          <p:spPr bwMode="auto">
            <a:xfrm>
              <a:off x="4508" y="3396"/>
              <a:ext cx="49" cy="56"/>
            </a:xfrm>
            <a:custGeom>
              <a:avLst/>
              <a:gdLst>
                <a:gd name="T0" fmla="*/ 0 w 49"/>
                <a:gd name="T1" fmla="*/ 0 h 56"/>
                <a:gd name="T2" fmla="*/ 40 w 49"/>
                <a:gd name="T3" fmla="*/ 32 h 56"/>
                <a:gd name="T4" fmla="*/ 48 w 49"/>
                <a:gd name="T5" fmla="*/ 56 h 56"/>
                <a:gd name="T6" fmla="*/ 0 60000 65536"/>
                <a:gd name="T7" fmla="*/ 0 60000 65536"/>
                <a:gd name="T8" fmla="*/ 0 60000 65536"/>
                <a:gd name="T9" fmla="*/ 0 w 49"/>
                <a:gd name="T10" fmla="*/ 0 h 56"/>
                <a:gd name="T11" fmla="*/ 49 w 49"/>
                <a:gd name="T12" fmla="*/ 56 h 56"/>
              </a:gdLst>
              <a:ahLst/>
              <a:cxnLst>
                <a:cxn ang="T6">
                  <a:pos x="T0" y="T1"/>
                </a:cxn>
                <a:cxn ang="T7">
                  <a:pos x="T2" y="T3"/>
                </a:cxn>
                <a:cxn ang="T8">
                  <a:pos x="T4" y="T5"/>
                </a:cxn>
              </a:cxnLst>
              <a:rect l="T9" t="T10" r="T11" b="T12"/>
              <a:pathLst>
                <a:path w="49" h="56">
                  <a:moveTo>
                    <a:pt x="0" y="0"/>
                  </a:moveTo>
                  <a:cubicBezTo>
                    <a:pt x="20" y="10"/>
                    <a:pt x="20" y="22"/>
                    <a:pt x="40" y="32"/>
                  </a:cubicBezTo>
                  <a:cubicBezTo>
                    <a:pt x="49" y="50"/>
                    <a:pt x="48" y="42"/>
                    <a:pt x="48" y="56"/>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100" name="Rectangle 27"/>
            <p:cNvSpPr>
              <a:spLocks noChangeArrowheads="1"/>
            </p:cNvSpPr>
            <p:nvPr/>
          </p:nvSpPr>
          <p:spPr bwMode="auto">
            <a:xfrm>
              <a:off x="4320" y="350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T</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baseline="-25000">
                <a:solidFill>
                  <a:srgbClr val="CC3300"/>
                </a:solidFill>
                <a:latin typeface="Times New Roman" panose="02020603050405020304" pitchFamily="18" charset="0"/>
                <a:sym typeface="Symbol" panose="05050102010706020507" pitchFamily="18" charset="2"/>
              </a:endParaRPr>
            </a:p>
          </p:txBody>
        </p:sp>
        <p:sp>
          <p:nvSpPr>
            <p:cNvPr id="44101" name="Rectangle 28"/>
            <p:cNvSpPr>
              <a:spLocks noChangeArrowheads="1"/>
            </p:cNvSpPr>
            <p:nvPr/>
          </p:nvSpPr>
          <p:spPr bwMode="auto">
            <a:xfrm>
              <a:off x="4352" y="3888"/>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N</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a:solidFill>
                  <a:srgbClr val="CC3300"/>
                </a:solidFill>
                <a:latin typeface="Times New Roman" panose="02020603050405020304" pitchFamily="18" charset="0"/>
                <a:sym typeface="Symbol" panose="05050102010706020507" pitchFamily="18" charset="2"/>
              </a:endParaRPr>
            </a:p>
          </p:txBody>
        </p:sp>
        <p:sp>
          <p:nvSpPr>
            <p:cNvPr id="44102" name="Rectangle 29"/>
            <p:cNvSpPr>
              <a:spLocks noChangeArrowheads="1"/>
            </p:cNvSpPr>
            <p:nvPr/>
          </p:nvSpPr>
          <p:spPr bwMode="auto">
            <a:xfrm>
              <a:off x="4512" y="3216"/>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smtClean="0">
                  <a:solidFill>
                    <a:srgbClr val="993300"/>
                  </a:solidFill>
                  <a:latin typeface="Times New Roman" panose="02020603050405020304" pitchFamily="18" charset="0"/>
                  <a:sym typeface="Symbol" panose="05050102010706020507" pitchFamily="18" charset="2"/>
                </a:rPr>
                <a:t></a:t>
              </a:r>
              <a:r>
                <a:rPr kumimoji="1" lang="en-US" altLang="zh-CN" sz="2400" b="1" i="1" baseline="-25000" dirty="0" err="1" smtClean="0">
                  <a:solidFill>
                    <a:srgbClr val="993300"/>
                  </a:solidFill>
                  <a:latin typeface="Times New Roman" panose="02020603050405020304" pitchFamily="18" charset="0"/>
                  <a:sym typeface="Symbol" panose="05050102010706020507" pitchFamily="18" charset="2"/>
                </a:rPr>
                <a:t>i</a:t>
              </a:r>
              <a:endParaRPr kumimoji="1" lang="en-US" altLang="zh-CN" sz="2400" b="1" i="1" baseline="-25000" dirty="0">
                <a:solidFill>
                  <a:srgbClr val="993300"/>
                </a:solidFill>
                <a:latin typeface="Times New Roman" panose="02020603050405020304" pitchFamily="18" charset="0"/>
                <a:sym typeface="Symbol" panose="05050102010706020507" pitchFamily="18" charset="2"/>
              </a:endParaRPr>
            </a:p>
          </p:txBody>
        </p:sp>
        <p:sp>
          <p:nvSpPr>
            <p:cNvPr id="44103" name="Rectangle 31"/>
            <p:cNvSpPr>
              <a:spLocks noChangeArrowheads="1"/>
            </p:cNvSpPr>
            <p:nvPr/>
          </p:nvSpPr>
          <p:spPr bwMode="auto">
            <a:xfrm>
              <a:off x="3984" y="3072"/>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err="1" smtClean="0">
                  <a:solidFill>
                    <a:srgbClr val="CC3300"/>
                  </a:solidFill>
                  <a:latin typeface="Times New Roman" panose="02020603050405020304" pitchFamily="18" charset="0"/>
                  <a:sym typeface="Symbol" panose="05050102010706020507" pitchFamily="18" charset="2"/>
                </a:rPr>
                <a:t>G</a:t>
              </a:r>
              <a:r>
                <a:rPr kumimoji="1" lang="en-US" altLang="zh-CN" sz="2400" b="1" i="1" baseline="-25000" dirty="0" err="1" smtClean="0">
                  <a:solidFill>
                    <a:srgbClr val="CC3300"/>
                  </a:solidFill>
                  <a:latin typeface="Times New Roman" panose="02020603050405020304" pitchFamily="18" charset="0"/>
                  <a:sym typeface="Symbol" panose="05050102010706020507" pitchFamily="18" charset="2"/>
                </a:rPr>
                <a:t>i</a:t>
              </a:r>
              <a:endParaRPr kumimoji="1" lang="en-US" altLang="zh-CN" sz="2400" b="1" i="1" baseline="-25000" dirty="0">
                <a:solidFill>
                  <a:srgbClr val="CC3300"/>
                </a:solidFill>
                <a:latin typeface="Times New Roman" panose="02020603050405020304" pitchFamily="18" charset="0"/>
                <a:sym typeface="Symbol" panose="05050102010706020507" pitchFamily="18" charset="2"/>
              </a:endParaRPr>
            </a:p>
          </p:txBody>
        </p:sp>
      </p:grpSp>
      <p:grpSp>
        <p:nvGrpSpPr>
          <p:cNvPr id="6" name="Group 100"/>
          <p:cNvGrpSpPr/>
          <p:nvPr/>
        </p:nvGrpSpPr>
        <p:grpSpPr bwMode="auto">
          <a:xfrm>
            <a:off x="7086600" y="3962400"/>
            <a:ext cx="1066800" cy="457200"/>
            <a:chOff x="4464" y="2496"/>
            <a:chExt cx="672" cy="288"/>
          </a:xfrm>
        </p:grpSpPr>
        <p:sp>
          <p:nvSpPr>
            <p:cNvPr id="44091" name="Line 15"/>
            <p:cNvSpPr>
              <a:spLocks noChangeShapeType="1"/>
            </p:cNvSpPr>
            <p:nvPr/>
          </p:nvSpPr>
          <p:spPr bwMode="auto">
            <a:xfrm flipH="1">
              <a:off x="4464" y="2736"/>
              <a:ext cx="288" cy="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92" name="Rectangle 32"/>
            <p:cNvSpPr>
              <a:spLocks noChangeArrowheads="1"/>
            </p:cNvSpPr>
            <p:nvPr/>
          </p:nvSpPr>
          <p:spPr bwMode="auto">
            <a:xfrm>
              <a:off x="4656" y="2496"/>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smtClean="0">
                  <a:solidFill>
                    <a:srgbClr val="CC3300"/>
                  </a:solidFill>
                  <a:latin typeface="Times New Roman" panose="02020603050405020304" pitchFamily="18" charset="0"/>
                  <a:sym typeface="Symbol" panose="05050102010706020507" pitchFamily="18" charset="2"/>
                </a:rPr>
                <a:t>E</a:t>
              </a:r>
              <a:r>
                <a:rPr kumimoji="1" lang="en-US" altLang="zh-CN" sz="2400" b="1" i="1" baseline="-25000" dirty="0" smtClean="0">
                  <a:solidFill>
                    <a:srgbClr val="CC3300"/>
                  </a:solidFill>
                  <a:latin typeface="Times New Roman" panose="02020603050405020304" pitchFamily="18" charset="0"/>
                  <a:sym typeface="Symbol" panose="05050102010706020507" pitchFamily="18" charset="2"/>
                </a:rPr>
                <a:t>i</a:t>
              </a:r>
              <a:r>
                <a:rPr kumimoji="1" lang="en-US" altLang="zh-CN" sz="2400" b="1" baseline="-25000" dirty="0" smtClean="0">
                  <a:solidFill>
                    <a:srgbClr val="CC3300"/>
                  </a:solidFill>
                  <a:latin typeface="Times New Roman" panose="02020603050405020304" pitchFamily="18" charset="0"/>
                  <a:sym typeface="Symbol" panose="05050102010706020507" pitchFamily="18" charset="2"/>
                </a:rPr>
                <a:t>+1</a:t>
              </a:r>
              <a:endParaRPr kumimoji="1" lang="en-US" altLang="zh-CN" sz="2400" b="1" baseline="-25000" dirty="0">
                <a:solidFill>
                  <a:srgbClr val="CC3300"/>
                </a:solidFill>
                <a:latin typeface="Times New Roman" panose="02020603050405020304" pitchFamily="18" charset="0"/>
                <a:sym typeface="Symbol" panose="05050102010706020507" pitchFamily="18" charset="2"/>
              </a:endParaRPr>
            </a:p>
          </p:txBody>
        </p:sp>
      </p:grpSp>
      <p:grpSp>
        <p:nvGrpSpPr>
          <p:cNvPr id="7" name="Group 101"/>
          <p:cNvGrpSpPr/>
          <p:nvPr/>
        </p:nvGrpSpPr>
        <p:grpSpPr bwMode="auto">
          <a:xfrm>
            <a:off x="5181600" y="5181600"/>
            <a:ext cx="914400" cy="838200"/>
            <a:chOff x="3264" y="3264"/>
            <a:chExt cx="576" cy="528"/>
          </a:xfrm>
        </p:grpSpPr>
        <p:sp>
          <p:nvSpPr>
            <p:cNvPr id="44088" name="Line 34"/>
            <p:cNvSpPr>
              <a:spLocks noChangeShapeType="1"/>
            </p:cNvSpPr>
            <p:nvPr/>
          </p:nvSpPr>
          <p:spPr bwMode="auto">
            <a:xfrm flipH="1">
              <a:off x="3312" y="3792"/>
              <a:ext cx="52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89" name="Line 35"/>
            <p:cNvSpPr>
              <a:spLocks noChangeShapeType="1"/>
            </p:cNvSpPr>
            <p:nvPr/>
          </p:nvSpPr>
          <p:spPr bwMode="auto">
            <a:xfrm>
              <a:off x="3504" y="3264"/>
              <a:ext cx="0" cy="528"/>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90" name="Rectangle 36"/>
            <p:cNvSpPr>
              <a:spLocks noChangeArrowheads="1"/>
            </p:cNvSpPr>
            <p:nvPr/>
          </p:nvSpPr>
          <p:spPr bwMode="auto">
            <a:xfrm>
              <a:off x="3264" y="3360"/>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h</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baseline="-25000">
                <a:solidFill>
                  <a:srgbClr val="CC3300"/>
                </a:solidFill>
                <a:latin typeface="Times New Roman" panose="02020603050405020304" pitchFamily="18" charset="0"/>
                <a:sym typeface="Symbol" panose="05050102010706020507" pitchFamily="18" charset="2"/>
              </a:endParaRPr>
            </a:p>
          </p:txBody>
        </p:sp>
      </p:grpSp>
      <p:grpSp>
        <p:nvGrpSpPr>
          <p:cNvPr id="44040" name="Group 48"/>
          <p:cNvGrpSpPr/>
          <p:nvPr/>
        </p:nvGrpSpPr>
        <p:grpSpPr bwMode="auto">
          <a:xfrm>
            <a:off x="4876800" y="152400"/>
            <a:ext cx="4267200" cy="3095625"/>
            <a:chOff x="2976" y="117"/>
            <a:chExt cx="2688" cy="1950"/>
          </a:xfrm>
        </p:grpSpPr>
        <p:sp>
          <p:nvSpPr>
            <p:cNvPr id="44050" name="Text Box 49"/>
            <p:cNvSpPr txBox="1">
              <a:spLocks noChangeArrowheads="1"/>
            </p:cNvSpPr>
            <p:nvPr/>
          </p:nvSpPr>
          <p:spPr bwMode="auto">
            <a:xfrm>
              <a:off x="2976" y="1737"/>
              <a:ext cx="41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dirty="0" smtClean="0">
                  <a:solidFill>
                    <a:schemeClr val="tx1"/>
                  </a:solidFill>
                  <a:latin typeface="Times New Roman" panose="02020603050405020304" pitchFamily="18" charset="0"/>
                </a:rPr>
                <a:t>C</a:t>
              </a:r>
              <a:endParaRPr kumimoji="1" lang="en-US" altLang="zh-CN" sz="2800" b="1" dirty="0" smtClean="0">
                <a:solidFill>
                  <a:schemeClr val="tx1"/>
                </a:solidFill>
                <a:latin typeface="Times New Roman" panose="02020603050405020304" pitchFamily="18" charset="0"/>
              </a:endParaRPr>
            </a:p>
          </p:txBody>
        </p:sp>
        <p:grpSp>
          <p:nvGrpSpPr>
            <p:cNvPr id="44051" name="Group 50"/>
            <p:cNvGrpSpPr/>
            <p:nvPr/>
          </p:nvGrpSpPr>
          <p:grpSpPr bwMode="auto">
            <a:xfrm>
              <a:off x="3052" y="117"/>
              <a:ext cx="2612" cy="1921"/>
              <a:chOff x="2633" y="1296"/>
              <a:chExt cx="3079" cy="2016"/>
            </a:xfrm>
          </p:grpSpPr>
          <p:sp>
            <p:nvSpPr>
              <p:cNvPr id="44069" name="Freeform 51"/>
              <p:cNvSpPr/>
              <p:nvPr/>
            </p:nvSpPr>
            <p:spPr bwMode="auto">
              <a:xfrm>
                <a:off x="2633" y="2032"/>
                <a:ext cx="3022" cy="1189"/>
              </a:xfrm>
              <a:custGeom>
                <a:avLst/>
                <a:gdLst>
                  <a:gd name="T0" fmla="*/ 0 w 1785"/>
                  <a:gd name="T1" fmla="*/ 2496 h 763"/>
                  <a:gd name="T2" fmla="*/ 1339 w 1785"/>
                  <a:gd name="T3" fmla="*/ 2506 h 763"/>
                  <a:gd name="T4" fmla="*/ 6647 w 1785"/>
                  <a:gd name="T5" fmla="*/ 0 h 763"/>
                  <a:gd name="T6" fmla="*/ 8661 w 1785"/>
                  <a:gd name="T7" fmla="*/ 0 h 763"/>
                  <a:gd name="T8" fmla="*/ 7920 w 1785"/>
                  <a:gd name="T9" fmla="*/ 0 h 763"/>
                  <a:gd name="T10" fmla="*/ 7652 w 1785"/>
                  <a:gd name="T11" fmla="*/ 597 h 763"/>
                  <a:gd name="T12" fmla="*/ 7254 w 1785"/>
                  <a:gd name="T13" fmla="*/ 1153 h 763"/>
                  <a:gd name="T14" fmla="*/ 6931 w 1785"/>
                  <a:gd name="T15" fmla="*/ 1487 h 763"/>
                  <a:gd name="T16" fmla="*/ 6589 w 1785"/>
                  <a:gd name="T17" fmla="*/ 1797 h 763"/>
                  <a:gd name="T18" fmla="*/ 6091 w 1785"/>
                  <a:gd name="T19" fmla="*/ 2135 h 763"/>
                  <a:gd name="T20" fmla="*/ 5484 w 1785"/>
                  <a:gd name="T21" fmla="*/ 2453 h 763"/>
                  <a:gd name="T22" fmla="*/ 5018 w 1785"/>
                  <a:gd name="T23" fmla="*/ 2615 h 763"/>
                  <a:gd name="T24" fmla="*/ 4425 w 1785"/>
                  <a:gd name="T25" fmla="*/ 2752 h 763"/>
                  <a:gd name="T26" fmla="*/ 3887 w 1785"/>
                  <a:gd name="T27" fmla="*/ 2841 h 763"/>
                  <a:gd name="T28" fmla="*/ 3213 w 1785"/>
                  <a:gd name="T29" fmla="*/ 2888 h 763"/>
                  <a:gd name="T30" fmla="*/ 2760 w 1785"/>
                  <a:gd name="T31" fmla="*/ 2888 h 763"/>
                  <a:gd name="T32" fmla="*/ 2255 w 1785"/>
                  <a:gd name="T33" fmla="*/ 2861 h 763"/>
                  <a:gd name="T34" fmla="*/ 1639 w 1785"/>
                  <a:gd name="T35" fmla="*/ 2771 h 763"/>
                  <a:gd name="T36" fmla="*/ 1150 w 1785"/>
                  <a:gd name="T37" fmla="*/ 2652 h 763"/>
                  <a:gd name="T38" fmla="*/ 733 w 1785"/>
                  <a:gd name="T39" fmla="*/ 2523 h 763"/>
                  <a:gd name="T40" fmla="*/ 650 w 1785"/>
                  <a:gd name="T41" fmla="*/ 2506 h 76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785"/>
                  <a:gd name="T64" fmla="*/ 0 h 763"/>
                  <a:gd name="T65" fmla="*/ 1785 w 1785"/>
                  <a:gd name="T66" fmla="*/ 763 h 76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785" h="763">
                    <a:moveTo>
                      <a:pt x="0" y="660"/>
                    </a:moveTo>
                    <a:lnTo>
                      <a:pt x="276" y="662"/>
                    </a:lnTo>
                    <a:lnTo>
                      <a:pt x="1370" y="0"/>
                    </a:lnTo>
                    <a:lnTo>
                      <a:pt x="1785" y="0"/>
                    </a:lnTo>
                    <a:lnTo>
                      <a:pt x="1632" y="0"/>
                    </a:lnTo>
                    <a:lnTo>
                      <a:pt x="1577" y="158"/>
                    </a:lnTo>
                    <a:lnTo>
                      <a:pt x="1495" y="305"/>
                    </a:lnTo>
                    <a:lnTo>
                      <a:pt x="1428" y="393"/>
                    </a:lnTo>
                    <a:lnTo>
                      <a:pt x="1358" y="475"/>
                    </a:lnTo>
                    <a:lnTo>
                      <a:pt x="1255" y="564"/>
                    </a:lnTo>
                    <a:lnTo>
                      <a:pt x="1130" y="648"/>
                    </a:lnTo>
                    <a:lnTo>
                      <a:pt x="1034" y="691"/>
                    </a:lnTo>
                    <a:lnTo>
                      <a:pt x="912" y="727"/>
                    </a:lnTo>
                    <a:lnTo>
                      <a:pt x="801" y="751"/>
                    </a:lnTo>
                    <a:lnTo>
                      <a:pt x="662" y="763"/>
                    </a:lnTo>
                    <a:lnTo>
                      <a:pt x="569" y="763"/>
                    </a:lnTo>
                    <a:lnTo>
                      <a:pt x="465" y="756"/>
                    </a:lnTo>
                    <a:lnTo>
                      <a:pt x="338" y="732"/>
                    </a:lnTo>
                    <a:lnTo>
                      <a:pt x="237" y="701"/>
                    </a:lnTo>
                    <a:lnTo>
                      <a:pt x="151" y="667"/>
                    </a:lnTo>
                    <a:lnTo>
                      <a:pt x="134" y="662"/>
                    </a:lnTo>
                  </a:path>
                </a:pathLst>
              </a:custGeom>
              <a:solidFill>
                <a:srgbClr val="66FF66">
                  <a:alpha val="50195"/>
                </a:srgbClr>
              </a:solidFill>
              <a:ln w="38100">
                <a:solidFill>
                  <a:srgbClr val="008000"/>
                </a:solidFill>
                <a:round/>
              </a:ln>
            </p:spPr>
            <p:txBody>
              <a:bodyPr/>
              <a:lstStyle/>
              <a:p>
                <a:endParaRPr lang="zh-CN" altLang="en-US"/>
              </a:p>
            </p:txBody>
          </p:sp>
          <p:sp>
            <p:nvSpPr>
              <p:cNvPr id="44070" name="Line 52"/>
              <p:cNvSpPr>
                <a:spLocks noChangeShapeType="1"/>
              </p:cNvSpPr>
              <p:nvPr/>
            </p:nvSpPr>
            <p:spPr bwMode="auto">
              <a:xfrm flipV="1">
                <a:off x="3121" y="3045"/>
                <a:ext cx="0" cy="104"/>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71" name="Line 53"/>
              <p:cNvSpPr>
                <a:spLocks noChangeShapeType="1"/>
              </p:cNvSpPr>
              <p:nvPr/>
            </p:nvSpPr>
            <p:spPr bwMode="auto">
              <a:xfrm flipV="1">
                <a:off x="3327" y="2932"/>
                <a:ext cx="0" cy="26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72" name="Line 54"/>
              <p:cNvSpPr>
                <a:spLocks noChangeShapeType="1"/>
              </p:cNvSpPr>
              <p:nvPr/>
            </p:nvSpPr>
            <p:spPr bwMode="auto">
              <a:xfrm flipV="1">
                <a:off x="3563" y="2826"/>
                <a:ext cx="0" cy="40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73" name="Line 55"/>
              <p:cNvSpPr>
                <a:spLocks noChangeShapeType="1"/>
              </p:cNvSpPr>
              <p:nvPr/>
            </p:nvSpPr>
            <p:spPr bwMode="auto">
              <a:xfrm flipH="1" flipV="1">
                <a:off x="3803" y="2660"/>
                <a:ext cx="0" cy="55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74" name="Line 56"/>
              <p:cNvSpPr>
                <a:spLocks noChangeShapeType="1"/>
              </p:cNvSpPr>
              <p:nvPr/>
            </p:nvSpPr>
            <p:spPr bwMode="auto">
              <a:xfrm flipH="1" flipV="1">
                <a:off x="4035" y="2535"/>
                <a:ext cx="0" cy="656"/>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75" name="Line 57"/>
              <p:cNvSpPr>
                <a:spLocks noChangeShapeType="1"/>
              </p:cNvSpPr>
              <p:nvPr/>
            </p:nvSpPr>
            <p:spPr bwMode="auto">
              <a:xfrm flipV="1">
                <a:off x="4253" y="2409"/>
                <a:ext cx="0" cy="737"/>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76" name="Line 58"/>
              <p:cNvSpPr>
                <a:spLocks noChangeShapeType="1"/>
              </p:cNvSpPr>
              <p:nvPr/>
            </p:nvSpPr>
            <p:spPr bwMode="auto">
              <a:xfrm flipH="1" flipV="1">
                <a:off x="4511" y="2269"/>
                <a:ext cx="0" cy="78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77" name="Line 59"/>
              <p:cNvSpPr>
                <a:spLocks noChangeShapeType="1"/>
              </p:cNvSpPr>
              <p:nvPr/>
            </p:nvSpPr>
            <p:spPr bwMode="auto">
              <a:xfrm flipV="1">
                <a:off x="4740" y="2147"/>
                <a:ext cx="0" cy="766"/>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78" name="Line 60"/>
              <p:cNvSpPr>
                <a:spLocks noChangeShapeType="1"/>
              </p:cNvSpPr>
              <p:nvPr/>
            </p:nvSpPr>
            <p:spPr bwMode="auto">
              <a:xfrm>
                <a:off x="4949" y="2024"/>
                <a:ext cx="0" cy="73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79" name="Line 61"/>
              <p:cNvSpPr>
                <a:spLocks noChangeShapeType="1"/>
              </p:cNvSpPr>
              <p:nvPr/>
            </p:nvSpPr>
            <p:spPr bwMode="auto">
              <a:xfrm>
                <a:off x="5172" y="2032"/>
                <a:ext cx="0" cy="457"/>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80" name="Line 62"/>
              <p:cNvSpPr>
                <a:spLocks noChangeShapeType="1"/>
              </p:cNvSpPr>
              <p:nvPr/>
            </p:nvSpPr>
            <p:spPr bwMode="auto">
              <a:xfrm flipH="1">
                <a:off x="2886" y="1556"/>
                <a:ext cx="787" cy="1496"/>
              </a:xfrm>
              <a:prstGeom prst="line">
                <a:avLst/>
              </a:prstGeom>
              <a:noFill/>
              <a:ln w="38100">
                <a:solidFill>
                  <a:srgbClr val="CC0099"/>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81" name="Line 63"/>
              <p:cNvSpPr>
                <a:spLocks noChangeShapeType="1"/>
              </p:cNvSpPr>
              <p:nvPr/>
            </p:nvSpPr>
            <p:spPr bwMode="auto">
              <a:xfrm>
                <a:off x="3670" y="1553"/>
                <a:ext cx="1734" cy="479"/>
              </a:xfrm>
              <a:prstGeom prst="line">
                <a:avLst/>
              </a:prstGeom>
              <a:noFill/>
              <a:ln w="38100">
                <a:solidFill>
                  <a:srgbClr val="0000CC"/>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82" name="Line 64"/>
              <p:cNvSpPr>
                <a:spLocks noChangeShapeType="1"/>
              </p:cNvSpPr>
              <p:nvPr/>
            </p:nvSpPr>
            <p:spPr bwMode="auto">
              <a:xfrm>
                <a:off x="3678" y="1545"/>
                <a:ext cx="5" cy="1767"/>
              </a:xfrm>
              <a:prstGeom prst="line">
                <a:avLst/>
              </a:prstGeom>
              <a:noFill/>
              <a:ln w="28575">
                <a:solidFill>
                  <a:srgbClr val="CC00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83" name="Line 65"/>
              <p:cNvSpPr>
                <a:spLocks noChangeShapeType="1"/>
              </p:cNvSpPr>
              <p:nvPr/>
            </p:nvSpPr>
            <p:spPr bwMode="auto">
              <a:xfrm>
                <a:off x="3670" y="1541"/>
                <a:ext cx="745" cy="1556"/>
              </a:xfrm>
              <a:prstGeom prst="line">
                <a:avLst/>
              </a:prstGeom>
              <a:noFill/>
              <a:ln w="38100">
                <a:solidFill>
                  <a:srgbClr val="CC00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84" name="Freeform 66"/>
              <p:cNvSpPr/>
              <p:nvPr/>
            </p:nvSpPr>
            <p:spPr bwMode="auto">
              <a:xfrm>
                <a:off x="3673" y="1934"/>
                <a:ext cx="174" cy="37"/>
              </a:xfrm>
              <a:custGeom>
                <a:avLst/>
                <a:gdLst>
                  <a:gd name="T0" fmla="*/ 0 w 103"/>
                  <a:gd name="T1" fmla="*/ 80 h 24"/>
                  <a:gd name="T2" fmla="*/ 162 w 103"/>
                  <a:gd name="T3" fmla="*/ 88 h 24"/>
                  <a:gd name="T4" fmla="*/ 372 w 103"/>
                  <a:gd name="T5" fmla="*/ 62 h 24"/>
                  <a:gd name="T6" fmla="*/ 497 w 103"/>
                  <a:gd name="T7" fmla="*/ 0 h 24"/>
                  <a:gd name="T8" fmla="*/ 0 60000 65536"/>
                  <a:gd name="T9" fmla="*/ 0 60000 65536"/>
                  <a:gd name="T10" fmla="*/ 0 60000 65536"/>
                  <a:gd name="T11" fmla="*/ 0 60000 65536"/>
                  <a:gd name="T12" fmla="*/ 0 w 103"/>
                  <a:gd name="T13" fmla="*/ 0 h 24"/>
                  <a:gd name="T14" fmla="*/ 103 w 103"/>
                  <a:gd name="T15" fmla="*/ 24 h 24"/>
                </a:gdLst>
                <a:ahLst/>
                <a:cxnLst>
                  <a:cxn ang="T8">
                    <a:pos x="T0" y="T1"/>
                  </a:cxn>
                  <a:cxn ang="T9">
                    <a:pos x="T2" y="T3"/>
                  </a:cxn>
                  <a:cxn ang="T10">
                    <a:pos x="T4" y="T5"/>
                  </a:cxn>
                  <a:cxn ang="T11">
                    <a:pos x="T6" y="T7"/>
                  </a:cxn>
                </a:cxnLst>
                <a:rect l="T12" t="T13" r="T14" b="T15"/>
                <a:pathLst>
                  <a:path w="103" h="24">
                    <a:moveTo>
                      <a:pt x="0" y="22"/>
                    </a:moveTo>
                    <a:lnTo>
                      <a:pt x="34" y="24"/>
                    </a:lnTo>
                    <a:lnTo>
                      <a:pt x="77" y="17"/>
                    </a:lnTo>
                    <a:lnTo>
                      <a:pt x="103" y="0"/>
                    </a:lnTo>
                  </a:path>
                </a:pathLst>
              </a:custGeom>
              <a:noFill/>
              <a:ln w="38100">
                <a:solidFill>
                  <a:srgbClr val="CC0099"/>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085" name="Text Box 67"/>
              <p:cNvSpPr txBox="1">
                <a:spLocks noChangeArrowheads="1"/>
              </p:cNvSpPr>
              <p:nvPr/>
            </p:nvSpPr>
            <p:spPr bwMode="auto">
              <a:xfrm>
                <a:off x="3357" y="1296"/>
                <a:ext cx="486"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chemeClr val="tx1"/>
                    </a:solidFill>
                    <a:latin typeface="Times New Roman" panose="02020603050405020304" pitchFamily="18" charset="0"/>
                  </a:rPr>
                  <a:t>O</a:t>
                </a:r>
                <a:endParaRPr kumimoji="1" lang="en-US" altLang="zh-CN" sz="2800" b="1">
                  <a:solidFill>
                    <a:schemeClr val="tx1"/>
                  </a:solidFill>
                  <a:latin typeface="Times New Roman" panose="02020603050405020304" pitchFamily="18" charset="0"/>
                </a:endParaRPr>
              </a:p>
            </p:txBody>
          </p:sp>
          <p:sp>
            <p:nvSpPr>
              <p:cNvPr id="44086" name="Text Box 68"/>
              <p:cNvSpPr txBox="1">
                <a:spLocks noChangeArrowheads="1"/>
              </p:cNvSpPr>
              <p:nvPr/>
            </p:nvSpPr>
            <p:spPr bwMode="auto">
              <a:xfrm>
                <a:off x="4331" y="1350"/>
                <a:ext cx="409"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0000CC"/>
                    </a:solidFill>
                    <a:latin typeface="Times New Roman" panose="02020603050405020304" pitchFamily="18" charset="0"/>
                  </a:rPr>
                  <a:t>R</a:t>
                </a:r>
                <a:endParaRPr kumimoji="1" lang="en-US" altLang="zh-CN" sz="2800" b="1">
                  <a:solidFill>
                    <a:srgbClr val="0000CC"/>
                  </a:solidFill>
                  <a:latin typeface="Times New Roman" panose="02020603050405020304" pitchFamily="18" charset="0"/>
                </a:endParaRPr>
              </a:p>
            </p:txBody>
          </p:sp>
          <p:sp>
            <p:nvSpPr>
              <p:cNvPr id="44087" name="Text Box 69"/>
              <p:cNvSpPr txBox="1">
                <a:spLocks noChangeArrowheads="1"/>
              </p:cNvSpPr>
              <p:nvPr/>
            </p:nvSpPr>
            <p:spPr bwMode="auto">
              <a:xfrm>
                <a:off x="5142" y="1577"/>
                <a:ext cx="570"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dirty="0" smtClean="0">
                    <a:solidFill>
                      <a:schemeClr val="tx1"/>
                    </a:solidFill>
                    <a:latin typeface="Times New Roman" panose="02020603050405020304" pitchFamily="18" charset="0"/>
                  </a:rPr>
                  <a:t>A</a:t>
                </a:r>
                <a:endParaRPr kumimoji="1" lang="en-US" altLang="zh-CN" sz="2800" b="1" dirty="0">
                  <a:solidFill>
                    <a:schemeClr val="tx1"/>
                  </a:solidFill>
                  <a:latin typeface="Times New Roman" panose="02020603050405020304" pitchFamily="18" charset="0"/>
                </a:endParaRPr>
              </a:p>
            </p:txBody>
          </p:sp>
        </p:grpSp>
        <p:sp>
          <p:nvSpPr>
            <p:cNvPr id="44052" name="Text Box 70"/>
            <p:cNvSpPr txBox="1">
              <a:spLocks noChangeArrowheads="1"/>
            </p:cNvSpPr>
            <p:nvPr/>
          </p:nvSpPr>
          <p:spPr bwMode="auto">
            <a:xfrm>
              <a:off x="3888" y="720"/>
              <a:ext cx="40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900" b="1" dirty="0">
                  <a:solidFill>
                    <a:srgbClr val="FF0000"/>
                  </a:solidFill>
                  <a:latin typeface="Times New Roman" panose="02020603050405020304" pitchFamily="18" charset="0"/>
                  <a:sym typeface="Symbol" panose="05050102010706020507" pitchFamily="18" charset="2"/>
                </a:rPr>
                <a:t> </a:t>
              </a:r>
              <a:r>
                <a:rPr kumimoji="1" lang="en-US" altLang="zh-CN" sz="2800" b="1" dirty="0" smtClean="0">
                  <a:solidFill>
                    <a:srgbClr val="FF0000"/>
                  </a:solidFill>
                  <a:latin typeface="Times New Roman" panose="02020603050405020304" pitchFamily="18" charset="0"/>
                  <a:sym typeface="Symbol" panose="05050102010706020507" pitchFamily="18" charset="2"/>
                </a:rPr>
                <a:t></a:t>
              </a:r>
              <a:r>
                <a:rPr kumimoji="1" lang="en-US" altLang="zh-CN" sz="2800" b="1" i="1" baseline="-25000" dirty="0" err="1" smtClean="0">
                  <a:solidFill>
                    <a:srgbClr val="FF0000"/>
                  </a:solidFill>
                  <a:latin typeface="Times New Roman" panose="02020603050405020304" pitchFamily="18" charset="0"/>
                  <a:sym typeface="Symbol" panose="05050102010706020507" pitchFamily="18" charset="2"/>
                </a:rPr>
                <a:t>i</a:t>
              </a:r>
              <a:endParaRPr kumimoji="1" lang="en-US" altLang="zh-CN" sz="2800" b="1" i="1" baseline="-25000" dirty="0">
                <a:solidFill>
                  <a:srgbClr val="FF0000"/>
                </a:solidFill>
                <a:latin typeface="Times New Roman" panose="02020603050405020304" pitchFamily="18" charset="0"/>
              </a:endParaRPr>
            </a:p>
          </p:txBody>
        </p:sp>
        <p:sp>
          <p:nvSpPr>
            <p:cNvPr id="44053" name="Line 71"/>
            <p:cNvSpPr>
              <a:spLocks noChangeShapeType="1"/>
            </p:cNvSpPr>
            <p:nvPr/>
          </p:nvSpPr>
          <p:spPr bwMode="auto">
            <a:xfrm flipV="1">
              <a:off x="4436" y="879"/>
              <a:ext cx="0" cy="313"/>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54" name="Line 72"/>
            <p:cNvSpPr>
              <a:spLocks noChangeShapeType="1"/>
            </p:cNvSpPr>
            <p:nvPr/>
          </p:nvSpPr>
          <p:spPr bwMode="auto">
            <a:xfrm flipV="1">
              <a:off x="4639" y="872"/>
              <a:ext cx="0" cy="183"/>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55" name="Line 73"/>
            <p:cNvSpPr>
              <a:spLocks noChangeShapeType="1"/>
            </p:cNvSpPr>
            <p:nvPr/>
          </p:nvSpPr>
          <p:spPr bwMode="auto">
            <a:xfrm>
              <a:off x="4429" y="956"/>
              <a:ext cx="210" cy="0"/>
            </a:xfrm>
            <a:prstGeom prst="line">
              <a:avLst/>
            </a:prstGeom>
            <a:noFill/>
            <a:ln w="28575">
              <a:solidFill>
                <a:srgbClr val="0000CC"/>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56" name="Text Box 74"/>
            <p:cNvSpPr txBox="1">
              <a:spLocks noChangeArrowheads="1"/>
            </p:cNvSpPr>
            <p:nvPr/>
          </p:nvSpPr>
          <p:spPr bwMode="auto">
            <a:xfrm>
              <a:off x="4442" y="667"/>
              <a:ext cx="24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0000FF"/>
                  </a:solidFill>
                  <a:latin typeface="Times New Roman" panose="02020603050405020304" pitchFamily="18" charset="0"/>
                </a:rPr>
                <a:t>b</a:t>
              </a:r>
              <a:endParaRPr kumimoji="1" lang="en-US" altLang="zh-CN" sz="2800" b="1">
                <a:solidFill>
                  <a:srgbClr val="0000FF"/>
                </a:solidFill>
                <a:latin typeface="Times New Roman" panose="02020603050405020304" pitchFamily="18" charset="0"/>
              </a:endParaRPr>
            </a:p>
          </p:txBody>
        </p:sp>
        <p:sp>
          <p:nvSpPr>
            <p:cNvPr id="44057" name="Text Box 75"/>
            <p:cNvSpPr txBox="1">
              <a:spLocks noChangeArrowheads="1"/>
            </p:cNvSpPr>
            <p:nvPr/>
          </p:nvSpPr>
          <p:spPr bwMode="auto">
            <a:xfrm>
              <a:off x="4752" y="624"/>
              <a:ext cx="2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chemeClr val="tx1"/>
                  </a:solidFill>
                  <a:latin typeface="Times New Roman" panose="02020603050405020304" pitchFamily="18" charset="0"/>
                </a:rPr>
                <a:t>B</a:t>
              </a:r>
              <a:endParaRPr kumimoji="1" lang="en-US" altLang="zh-CN" sz="2800" b="1">
                <a:solidFill>
                  <a:schemeClr val="tx1"/>
                </a:solidFill>
                <a:latin typeface="Times New Roman" panose="02020603050405020304" pitchFamily="18" charset="0"/>
              </a:endParaRPr>
            </a:p>
          </p:txBody>
        </p:sp>
        <p:grpSp>
          <p:nvGrpSpPr>
            <p:cNvPr id="44058" name="Group 76"/>
            <p:cNvGrpSpPr/>
            <p:nvPr/>
          </p:nvGrpSpPr>
          <p:grpSpPr bwMode="auto">
            <a:xfrm>
              <a:off x="3408" y="864"/>
              <a:ext cx="2064" cy="1085"/>
              <a:chOff x="3072" y="2016"/>
              <a:chExt cx="2400" cy="1272"/>
            </a:xfrm>
          </p:grpSpPr>
          <p:sp>
            <p:nvSpPr>
              <p:cNvPr id="44059" name="Text Box 77"/>
              <p:cNvSpPr txBox="1">
                <a:spLocks noChangeArrowheads="1"/>
              </p:cNvSpPr>
              <p:nvPr/>
            </p:nvSpPr>
            <p:spPr bwMode="auto">
              <a:xfrm>
                <a:off x="3072" y="2927"/>
                <a:ext cx="336"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600" b="1">
                    <a:solidFill>
                      <a:srgbClr val="FF6600"/>
                    </a:solidFill>
                    <a:latin typeface="Times New Roman" panose="02020603050405020304" pitchFamily="18" charset="0"/>
                  </a:rPr>
                  <a:t>-2</a:t>
                </a:r>
                <a:endParaRPr kumimoji="1" lang="en-US" altLang="zh-CN" sz="2600" b="1">
                  <a:solidFill>
                    <a:srgbClr val="FF6600"/>
                  </a:solidFill>
                  <a:latin typeface="Times New Roman" panose="02020603050405020304" pitchFamily="18" charset="0"/>
                </a:endParaRPr>
              </a:p>
            </p:txBody>
          </p:sp>
          <p:sp>
            <p:nvSpPr>
              <p:cNvPr id="44060" name="Text Box 78"/>
              <p:cNvSpPr txBox="1">
                <a:spLocks noChangeArrowheads="1"/>
              </p:cNvSpPr>
              <p:nvPr/>
            </p:nvSpPr>
            <p:spPr bwMode="auto">
              <a:xfrm>
                <a:off x="3305" y="2894"/>
                <a:ext cx="334"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FF6600"/>
                    </a:solidFill>
                    <a:latin typeface="Times New Roman" panose="02020603050405020304" pitchFamily="18" charset="0"/>
                  </a:rPr>
                  <a:t>-1</a:t>
                </a:r>
                <a:endParaRPr kumimoji="1" lang="en-US" altLang="zh-CN" sz="2400" b="1">
                  <a:solidFill>
                    <a:srgbClr val="FF6600"/>
                  </a:solidFill>
                  <a:latin typeface="Times New Roman" panose="02020603050405020304" pitchFamily="18" charset="0"/>
                </a:endParaRPr>
              </a:p>
            </p:txBody>
          </p:sp>
          <p:sp>
            <p:nvSpPr>
              <p:cNvPr id="44061" name="Text Box 79"/>
              <p:cNvSpPr txBox="1">
                <a:spLocks noChangeArrowheads="1"/>
              </p:cNvSpPr>
              <p:nvPr/>
            </p:nvSpPr>
            <p:spPr bwMode="auto">
              <a:xfrm>
                <a:off x="3505" y="2880"/>
                <a:ext cx="33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800" b="1">
                    <a:solidFill>
                      <a:srgbClr val="FF6600"/>
                    </a:solidFill>
                    <a:latin typeface="Times New Roman" panose="02020603050405020304" pitchFamily="18" charset="0"/>
                  </a:rPr>
                  <a:t>0</a:t>
                </a:r>
                <a:endParaRPr kumimoji="1" lang="en-US" altLang="zh-CN" sz="2800" b="1">
                  <a:solidFill>
                    <a:srgbClr val="FF6600"/>
                  </a:solidFill>
                  <a:latin typeface="Times New Roman" panose="02020603050405020304" pitchFamily="18" charset="0"/>
                </a:endParaRPr>
              </a:p>
            </p:txBody>
          </p:sp>
          <p:sp>
            <p:nvSpPr>
              <p:cNvPr id="44062" name="Text Box 80"/>
              <p:cNvSpPr txBox="1">
                <a:spLocks noChangeArrowheads="1"/>
              </p:cNvSpPr>
              <p:nvPr/>
            </p:nvSpPr>
            <p:spPr bwMode="auto">
              <a:xfrm>
                <a:off x="3792" y="2832"/>
                <a:ext cx="33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1</a:t>
                </a:r>
                <a:endParaRPr kumimoji="1" lang="en-US" altLang="zh-CN" sz="2800" b="1">
                  <a:solidFill>
                    <a:srgbClr val="FF6600"/>
                  </a:solidFill>
                  <a:latin typeface="Times New Roman" panose="02020603050405020304" pitchFamily="18" charset="0"/>
                </a:endParaRPr>
              </a:p>
            </p:txBody>
          </p:sp>
          <p:sp>
            <p:nvSpPr>
              <p:cNvPr id="44063" name="Text Box 81"/>
              <p:cNvSpPr txBox="1">
                <a:spLocks noChangeArrowheads="1"/>
              </p:cNvSpPr>
              <p:nvPr/>
            </p:nvSpPr>
            <p:spPr bwMode="auto">
              <a:xfrm>
                <a:off x="4032" y="2737"/>
                <a:ext cx="33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2</a:t>
                </a:r>
                <a:endParaRPr kumimoji="1" lang="en-US" altLang="zh-CN" sz="2800" b="1">
                  <a:solidFill>
                    <a:srgbClr val="FF6600"/>
                  </a:solidFill>
                  <a:latin typeface="Times New Roman" panose="02020603050405020304" pitchFamily="18" charset="0"/>
                </a:endParaRPr>
              </a:p>
            </p:txBody>
          </p:sp>
          <p:sp>
            <p:nvSpPr>
              <p:cNvPr id="44064" name="Text Box 82"/>
              <p:cNvSpPr txBox="1">
                <a:spLocks noChangeArrowheads="1"/>
              </p:cNvSpPr>
              <p:nvPr/>
            </p:nvSpPr>
            <p:spPr bwMode="auto">
              <a:xfrm>
                <a:off x="4272" y="2592"/>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3</a:t>
                </a:r>
                <a:endParaRPr kumimoji="1" lang="en-US" altLang="zh-CN" sz="2800" b="1">
                  <a:solidFill>
                    <a:srgbClr val="FF6600"/>
                  </a:solidFill>
                  <a:latin typeface="Times New Roman" panose="02020603050405020304" pitchFamily="18" charset="0"/>
                </a:endParaRPr>
              </a:p>
            </p:txBody>
          </p:sp>
          <p:sp>
            <p:nvSpPr>
              <p:cNvPr id="44065" name="Text Box 83"/>
              <p:cNvSpPr txBox="1">
                <a:spLocks noChangeArrowheads="1"/>
              </p:cNvSpPr>
              <p:nvPr/>
            </p:nvSpPr>
            <p:spPr bwMode="auto">
              <a:xfrm>
                <a:off x="4512" y="2448"/>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4</a:t>
                </a:r>
                <a:endParaRPr kumimoji="1" lang="en-US" altLang="zh-CN" sz="2800" b="1">
                  <a:solidFill>
                    <a:srgbClr val="FF6600"/>
                  </a:solidFill>
                  <a:latin typeface="Times New Roman" panose="02020603050405020304" pitchFamily="18" charset="0"/>
                </a:endParaRPr>
              </a:p>
            </p:txBody>
          </p:sp>
          <p:sp>
            <p:nvSpPr>
              <p:cNvPr id="44066" name="Text Box 84"/>
              <p:cNvSpPr txBox="1">
                <a:spLocks noChangeArrowheads="1"/>
              </p:cNvSpPr>
              <p:nvPr/>
            </p:nvSpPr>
            <p:spPr bwMode="auto">
              <a:xfrm>
                <a:off x="4752" y="2353"/>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5</a:t>
                </a:r>
                <a:endParaRPr kumimoji="1" lang="en-US" altLang="zh-CN" sz="2800" b="1">
                  <a:solidFill>
                    <a:srgbClr val="FF6600"/>
                  </a:solidFill>
                  <a:latin typeface="Times New Roman" panose="02020603050405020304" pitchFamily="18" charset="0"/>
                </a:endParaRPr>
              </a:p>
            </p:txBody>
          </p:sp>
          <p:sp>
            <p:nvSpPr>
              <p:cNvPr id="44067" name="Text Box 85"/>
              <p:cNvSpPr txBox="1">
                <a:spLocks noChangeArrowheads="1"/>
              </p:cNvSpPr>
              <p:nvPr/>
            </p:nvSpPr>
            <p:spPr bwMode="auto">
              <a:xfrm>
                <a:off x="4944" y="2160"/>
                <a:ext cx="33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6</a:t>
                </a:r>
                <a:endParaRPr kumimoji="1" lang="en-US" altLang="zh-CN" sz="2800" b="1">
                  <a:solidFill>
                    <a:srgbClr val="FF6600"/>
                  </a:solidFill>
                  <a:latin typeface="Times New Roman" panose="02020603050405020304" pitchFamily="18" charset="0"/>
                </a:endParaRPr>
              </a:p>
            </p:txBody>
          </p:sp>
          <p:sp>
            <p:nvSpPr>
              <p:cNvPr id="44068" name="Text Box 86"/>
              <p:cNvSpPr txBox="1">
                <a:spLocks noChangeArrowheads="1"/>
              </p:cNvSpPr>
              <p:nvPr/>
            </p:nvSpPr>
            <p:spPr bwMode="auto">
              <a:xfrm>
                <a:off x="5136" y="2016"/>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7</a:t>
                </a:r>
                <a:endParaRPr kumimoji="1" lang="en-US" altLang="zh-CN" sz="2800" b="1">
                  <a:solidFill>
                    <a:srgbClr val="FF6600"/>
                  </a:solidFill>
                  <a:latin typeface="Times New Roman" panose="02020603050405020304" pitchFamily="18" charset="0"/>
                </a:endParaRPr>
              </a:p>
            </p:txBody>
          </p:sp>
        </p:grpSp>
      </p:grpSp>
      <p:sp>
        <p:nvSpPr>
          <p:cNvPr id="766044" name="Text Box 92"/>
          <p:cNvSpPr txBox="1">
            <a:spLocks noChangeArrowheads="1"/>
          </p:cNvSpPr>
          <p:nvPr/>
        </p:nvSpPr>
        <p:spPr bwMode="auto">
          <a:xfrm>
            <a:off x="381000" y="1524000"/>
            <a:ext cx="12954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2800" b="1" dirty="0">
                <a:solidFill>
                  <a:srgbClr val="CC3300"/>
                </a:solidFill>
                <a:ea typeface="隶书" panose="02010509060101010101" pitchFamily="49" charset="-122"/>
              </a:rPr>
              <a:t>极限平衡条件</a:t>
            </a:r>
            <a:endParaRPr lang="zh-CN" altLang="en-US" sz="2800" b="1" dirty="0">
              <a:solidFill>
                <a:srgbClr val="CC3300"/>
              </a:solidFill>
              <a:ea typeface="隶书" panose="02010509060101010101" pitchFamily="49" charset="-122"/>
            </a:endParaRPr>
          </a:p>
        </p:txBody>
      </p:sp>
      <p:sp>
        <p:nvSpPr>
          <p:cNvPr id="766045" name="Text Box 93"/>
          <p:cNvSpPr txBox="1">
            <a:spLocks noChangeArrowheads="1"/>
          </p:cNvSpPr>
          <p:nvPr/>
        </p:nvSpPr>
        <p:spPr bwMode="auto">
          <a:xfrm>
            <a:off x="228600" y="2514600"/>
            <a:ext cx="3810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3200" b="1">
                <a:solidFill>
                  <a:srgbClr val="990033"/>
                </a:solidFill>
                <a:ea typeface="隶书" panose="02010509060101010101" pitchFamily="49" charset="-122"/>
              </a:rPr>
              <a:t>方程组求解，得到：</a:t>
            </a:r>
            <a:endParaRPr lang="zh-CN" altLang="en-US" sz="3200" b="1">
              <a:solidFill>
                <a:srgbClr val="0000FF"/>
              </a:solidFill>
              <a:ea typeface="隶书" panose="02010509060101010101" pitchFamily="49" charset="-122"/>
            </a:endParaRPr>
          </a:p>
        </p:txBody>
      </p:sp>
      <p:sp>
        <p:nvSpPr>
          <p:cNvPr id="766048" name="AutoShape 96"/>
          <p:cNvSpPr/>
          <p:nvPr/>
        </p:nvSpPr>
        <p:spPr bwMode="auto">
          <a:xfrm>
            <a:off x="577892" y="3689964"/>
            <a:ext cx="76200" cy="1224936"/>
          </a:xfrm>
          <a:prstGeom prst="leftBrace">
            <a:avLst>
              <a:gd name="adj1" fmla="val 225000"/>
              <a:gd name="adj2" fmla="val 50000"/>
            </a:avLst>
          </a:prstGeom>
          <a:noFill/>
          <a:ln w="34925">
            <a:solidFill>
              <a:srgbClr val="A50021"/>
            </a:solidFill>
            <a:round/>
          </a:ln>
          <a:extLst>
            <a:ext uri="{909E8E84-426E-40DD-AFC4-6F175D3DCCD1}">
              <a14:hiddenFill xmlns:a14="http://schemas.microsoft.com/office/drawing/2010/main">
                <a:solidFill>
                  <a:srgbClr val="FFFFFF"/>
                </a:solidFill>
              </a14:hiddenFill>
            </a:ext>
          </a:extLst>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a:endParaRPr lang="ja-JP" altLang="ja-JP">
              <a:solidFill>
                <a:srgbClr val="A50021"/>
              </a:solidFill>
            </a:endParaRPr>
          </a:p>
        </p:txBody>
      </p:sp>
      <p:sp>
        <p:nvSpPr>
          <p:cNvPr id="5" name="文本框 4"/>
          <p:cNvSpPr txBox="1"/>
          <p:nvPr/>
        </p:nvSpPr>
        <p:spPr>
          <a:xfrm>
            <a:off x="228600" y="881229"/>
            <a:ext cx="2326833" cy="523220"/>
          </a:xfrm>
          <a:prstGeom prst="rect">
            <a:avLst/>
          </a:prstGeom>
          <a:noFill/>
        </p:spPr>
        <p:txBody>
          <a:bodyPr wrap="square" rtlCol="0">
            <a:spAutoFit/>
          </a:bodyPr>
          <a:lstStyle/>
          <a:p>
            <a:pPr eaLnBrk="1" hangingPunct="1"/>
            <a:r>
              <a:rPr lang="zh-CN" altLang="en-US" b="1" dirty="0" smtClean="0">
                <a:solidFill>
                  <a:srgbClr val="CC3300"/>
                </a:solidFill>
                <a:latin typeface="Arial" panose="020B0604020202020204" pitchFamily="34" charset="0"/>
                <a:ea typeface="隶书" panose="02010509060101010101" pitchFamily="49" charset="-122"/>
              </a:rPr>
              <a:t>竖向力的平衡</a:t>
            </a:r>
            <a:endParaRPr lang="zh-CN" altLang="en-US" b="1" dirty="0">
              <a:solidFill>
                <a:srgbClr val="CC3300"/>
              </a:solidFill>
              <a:latin typeface="Arial" panose="020B0604020202020204" pitchFamily="34" charset="0"/>
              <a:ea typeface="隶书" panose="02010509060101010101" pitchFamily="49" charset="-122"/>
            </a:endParaRPr>
          </a:p>
        </p:txBody>
      </p:sp>
      <mc:AlternateContent xmlns:mc="http://schemas.openxmlformats.org/markup-compatibility/2006">
        <mc:Choice xmlns:a14="http://schemas.microsoft.com/office/drawing/2010/main" Requires="a14">
          <p:sp>
            <p:nvSpPr>
              <p:cNvPr id="8" name="文本框 7"/>
              <p:cNvSpPr txBox="1"/>
              <p:nvPr/>
            </p:nvSpPr>
            <p:spPr>
              <a:xfrm>
                <a:off x="2542928" y="943421"/>
                <a:ext cx="3288721" cy="36933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𝐺</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𝑁</m:t>
                          </m:r>
                        </m:e>
                        <m:sub>
                          <m:r>
                            <a:rPr lang="en-US" altLang="zh-CN" sz="2400" b="0" i="1" smtClean="0">
                              <a:latin typeface="Cambria Math" panose="02040503050406030204" pitchFamily="18" charset="0"/>
                            </a:rPr>
                            <m:t>𝑖</m:t>
                          </m:r>
                        </m:sub>
                      </m:sSub>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cos</m:t>
                          </m:r>
                        </m:fName>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sym typeface="Symbol" panose="05050102010706020507" pitchFamily="18" charset="2"/>
                                </a:rPr>
                                <m:t></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𝑖</m:t>
                              </m:r>
                            </m:sub>
                          </m:sSub>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sin</m:t>
                              </m:r>
                            </m:fName>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sym typeface="Symbol" panose="05050102010706020507" pitchFamily="18" charset="2"/>
                                    </a:rPr>
                                    <m:t></m:t>
                                  </m:r>
                                </m:e>
                                <m:sub>
                                  <m:r>
                                    <a:rPr lang="en-US" altLang="zh-CN" sz="2400" b="0" i="1" smtClean="0">
                                      <a:latin typeface="Cambria Math" panose="02040503050406030204" pitchFamily="18" charset="0"/>
                                    </a:rPr>
                                    <m:t>𝑖</m:t>
                                  </m:r>
                                </m:sub>
                              </m:sSub>
                            </m:e>
                          </m:func>
                        </m:e>
                      </m:func>
                    </m:oMath>
                  </m:oMathPara>
                </a14:m>
                <a:endParaRPr lang="zh-CN" altLang="en-US" sz="2400" dirty="0">
                  <a:latin typeface="Times New Roman" panose="02020603050405020304" pitchFamily="18" charset="0"/>
                  <a:cs typeface="Times New Roman" panose="02020603050405020304" pitchFamily="18" charset="0"/>
                </a:endParaRPr>
              </a:p>
            </p:txBody>
          </p:sp>
        </mc:Choice>
        <mc:Fallback>
          <p:sp>
            <p:nvSpPr>
              <p:cNvPr id="8" name="文本框 7"/>
              <p:cNvSpPr txBox="1">
                <a:spLocks noRot="1" noChangeAspect="1" noMove="1" noResize="1" noEditPoints="1" noAdjustHandles="1" noChangeArrowheads="1" noChangeShapeType="1" noTextEdit="1"/>
              </p:cNvSpPr>
              <p:nvPr/>
            </p:nvSpPr>
            <p:spPr>
              <a:xfrm>
                <a:off x="2542928" y="943421"/>
                <a:ext cx="3288721" cy="369332"/>
              </a:xfrm>
              <a:prstGeom prst="rect">
                <a:avLst/>
              </a:prstGeom>
              <a:blipFill rotWithShape="1">
                <a:blip r:embed="rId1"/>
                <a:stretch>
                  <a:fillRect l="-12" t="-121" r="-566" b="5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1998980" y="1610101"/>
                <a:ext cx="2657074" cy="69884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𝑖</m:t>
                              </m:r>
                            </m:sub>
                          </m:sSub>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𝑙</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𝑁</m:t>
                              </m:r>
                            </m:e>
                            <m:sub>
                              <m:r>
                                <a:rPr lang="en-US" altLang="zh-CN" sz="2400" b="0" i="1" smtClean="0">
                                  <a:latin typeface="Cambria Math" panose="02040503050406030204" pitchFamily="18" charset="0"/>
                                </a:rPr>
                                <m:t>𝑖</m:t>
                              </m:r>
                            </m:sub>
                          </m:sSub>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tan</m:t>
                              </m:r>
                            </m:fName>
                            <m:e>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𝜑</m:t>
                                  </m:r>
                                </m:e>
                                <m:sub>
                                  <m:r>
                                    <a:rPr lang="en-US" altLang="zh-CN" sz="2400" b="0" i="1" smtClean="0">
                                      <a:latin typeface="Cambria Math" panose="02040503050406030204" pitchFamily="18" charset="0"/>
                                    </a:rPr>
                                    <m:t>𝑖</m:t>
                                  </m:r>
                                </m:sub>
                              </m:sSub>
                            </m:e>
                          </m:func>
                        </m:num>
                        <m:den>
                          <m:r>
                            <a:rPr lang="en-US" altLang="zh-CN" sz="2400" b="0" i="1" smtClean="0">
                              <a:latin typeface="Cambria Math" panose="02040503050406030204" pitchFamily="18" charset="0"/>
                            </a:rPr>
                            <m:t>𝐾</m:t>
                          </m:r>
                        </m:den>
                      </m:f>
                    </m:oMath>
                  </m:oMathPara>
                </a14:m>
                <a:endParaRPr lang="zh-CN" altLang="en-US" sz="2400" dirty="0">
                  <a:latin typeface="Times New Roman" panose="02020603050405020304" pitchFamily="18" charset="0"/>
                  <a:cs typeface="Times New Roman" panose="02020603050405020304" pitchFamily="18" charset="0"/>
                </a:endParaRPr>
              </a:p>
            </p:txBody>
          </p:sp>
        </mc:Choice>
        <mc:Fallback>
          <p:sp>
            <p:nvSpPr>
              <p:cNvPr id="9" name="文本框 8"/>
              <p:cNvSpPr txBox="1">
                <a:spLocks noRot="1" noChangeAspect="1" noMove="1" noResize="1" noEditPoints="1" noAdjustHandles="1" noChangeArrowheads="1" noChangeShapeType="1" noTextEdit="1"/>
              </p:cNvSpPr>
              <p:nvPr/>
            </p:nvSpPr>
            <p:spPr>
              <a:xfrm>
                <a:off x="1998980" y="1610101"/>
                <a:ext cx="2657074" cy="698846"/>
              </a:xfrm>
              <a:prstGeom prst="rect">
                <a:avLst/>
              </a:prstGeom>
              <a:blipFill rotWithShape="1">
                <a:blip r:embed="rId2"/>
                <a:stretch>
                  <a:fillRect t="-54" r="-1330" b="1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1021128" y="3157546"/>
                <a:ext cx="2631426" cy="100521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𝑁</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𝐺</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𝑖</m:t>
                                  </m:r>
                                </m:sub>
                              </m:sSub>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𝑙</m:t>
                                  </m:r>
                                </m:e>
                                <m:sub>
                                  <m:r>
                                    <a:rPr lang="en-US" altLang="zh-CN" sz="2400" b="0" i="1" smtClean="0">
                                      <a:latin typeface="Cambria Math" panose="02040503050406030204" pitchFamily="18" charset="0"/>
                                    </a:rPr>
                                    <m:t>𝑖</m:t>
                                  </m:r>
                                </m:sub>
                              </m:sSub>
                            </m:num>
                            <m:den>
                              <m:r>
                                <a:rPr lang="en-US" altLang="zh-CN" sz="2400" b="0" i="1" smtClean="0">
                                  <a:latin typeface="Cambria Math" panose="02040503050406030204" pitchFamily="18" charset="0"/>
                                </a:rPr>
                                <m:t>𝐾</m:t>
                              </m:r>
                            </m:den>
                          </m:f>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sin</m:t>
                              </m:r>
                            </m:fName>
                            <m:e>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𝛼</m:t>
                                  </m:r>
                                </m:e>
                                <m:sub>
                                  <m:r>
                                    <a:rPr lang="en-US" altLang="zh-CN" sz="2400" b="0" i="1" smtClean="0">
                                      <a:latin typeface="Cambria Math" panose="02040503050406030204" pitchFamily="18" charset="0"/>
                                    </a:rPr>
                                    <m:t>𝑖</m:t>
                                  </m:r>
                                </m:sub>
                              </m:sSub>
                            </m:e>
                          </m:func>
                        </m:num>
                        <m:den>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𝑚</m:t>
                              </m:r>
                            </m:e>
                            <m:sub>
                              <m:r>
                                <a:rPr lang="zh-CN" altLang="en-US" sz="2400" b="0" i="1" smtClean="0">
                                  <a:latin typeface="Cambria Math" panose="02040503050406030204" pitchFamily="18" charset="0"/>
                                </a:rPr>
                                <m:t>𝛼</m:t>
                              </m:r>
                              <m:r>
                                <a:rPr lang="en-US" altLang="zh-CN" sz="2400" b="0" i="1" smtClean="0">
                                  <a:latin typeface="Cambria Math" panose="02040503050406030204" pitchFamily="18" charset="0"/>
                                </a:rPr>
                                <m:t>𝑖</m:t>
                              </m:r>
                            </m:sub>
                          </m:sSub>
                        </m:den>
                      </m:f>
                    </m:oMath>
                  </m:oMathPara>
                </a14:m>
                <a:endParaRPr lang="zh-CN" altLang="en-US" sz="2400" dirty="0">
                  <a:latin typeface="Times New Roman" panose="02020603050405020304" pitchFamily="18" charset="0"/>
                  <a:cs typeface="Times New Roman" panose="02020603050405020304" pitchFamily="18" charset="0"/>
                </a:endParaRPr>
              </a:p>
            </p:txBody>
          </p:sp>
        </mc:Choice>
        <mc:Fallback>
          <p:sp>
            <p:nvSpPr>
              <p:cNvPr id="10" name="文本框 9"/>
              <p:cNvSpPr txBox="1">
                <a:spLocks noRot="1" noChangeAspect="1" noMove="1" noResize="1" noEditPoints="1" noAdjustHandles="1" noChangeArrowheads="1" noChangeShapeType="1" noTextEdit="1"/>
              </p:cNvSpPr>
              <p:nvPr/>
            </p:nvSpPr>
            <p:spPr>
              <a:xfrm>
                <a:off x="1021128" y="3157546"/>
                <a:ext cx="2631426" cy="1005212"/>
              </a:xfrm>
              <a:prstGeom prst="rect">
                <a:avLst/>
              </a:prstGeom>
              <a:blipFill rotWithShape="1">
                <a:blip r:embed="rId3"/>
                <a:stretch>
                  <a:fillRect l="-2" t="-32" r="-892" b="3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948083" y="4577736"/>
                <a:ext cx="3890617" cy="76367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1</m:t>
                          </m:r>
                        </m:num>
                        <m:den>
                          <m:r>
                            <a:rPr lang="en-US" altLang="zh-CN" sz="2400" b="0" i="1" smtClean="0">
                              <a:latin typeface="Cambria Math" panose="02040503050406030204" pitchFamily="18" charset="0"/>
                            </a:rPr>
                            <m:t>𝐾</m:t>
                          </m:r>
                        </m:den>
                      </m:f>
                      <m:r>
                        <a:rPr lang="en-US" altLang="zh-CN" sz="2400" b="0" i="1" smtClean="0">
                          <a:latin typeface="Cambria Math" panose="02040503050406030204" pitchFamily="18" charset="0"/>
                          <a:ea typeface="Cambria Math" panose="02040503050406030204" pitchFamily="18" charset="0"/>
                        </a:rPr>
                        <m:t>∙</m:t>
                      </m:r>
                      <m:f>
                        <m:fPr>
                          <m:ctrlPr>
                            <a:rPr lang="en-US" altLang="zh-CN" sz="2400" b="0" i="1" smtClean="0">
                              <a:latin typeface="Cambria Math" panose="02040503050406030204" pitchFamily="18" charset="0"/>
                              <a:ea typeface="Cambria Math" panose="02040503050406030204" pitchFamily="18" charset="0"/>
                            </a:rPr>
                          </m:ctrlPr>
                        </m:fPr>
                        <m:num>
                          <m:sSub>
                            <m:sSubPr>
                              <m:ctrlPr>
                                <a:rPr lang="en-US" altLang="zh-CN" sz="2400" b="0" i="1" smtClean="0">
                                  <a:latin typeface="Cambria Math" panose="02040503050406030204" pitchFamily="18" charset="0"/>
                                  <a:ea typeface="Cambria Math" panose="02040503050406030204" pitchFamily="18" charset="0"/>
                                </a:rPr>
                              </m:ctrlPr>
                            </m:sSubPr>
                            <m:e>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𝑐</m:t>
                                  </m:r>
                                </m:e>
                                <m:sub>
                                  <m:r>
                                    <a:rPr lang="en-US" altLang="zh-CN" sz="2400" b="0" i="1" smtClean="0">
                                      <a:latin typeface="Cambria Math" panose="02040503050406030204" pitchFamily="18" charset="0"/>
                                      <a:ea typeface="Cambria Math" panose="02040503050406030204" pitchFamily="18" charset="0"/>
                                    </a:rPr>
                                    <m:t>𝑖</m:t>
                                  </m:r>
                                </m:sub>
                              </m:sSub>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𝑙</m:t>
                                  </m:r>
                                </m:e>
                                <m:sub>
                                  <m:r>
                                    <a:rPr lang="en-US" altLang="zh-CN" sz="2400" b="0" i="1" smtClean="0">
                                      <a:latin typeface="Cambria Math" panose="02040503050406030204" pitchFamily="18" charset="0"/>
                                      <a:ea typeface="Cambria Math" panose="02040503050406030204" pitchFamily="18" charset="0"/>
                                    </a:rPr>
                                    <m:t>𝑖</m:t>
                                  </m:r>
                                </m:sub>
                              </m:sSub>
                              <m:func>
                                <m:funcPr>
                                  <m:ctrlPr>
                                    <a:rPr lang="en-US" altLang="zh-CN" sz="2400" b="0" i="1" smtClean="0">
                                      <a:latin typeface="Cambria Math" panose="02040503050406030204" pitchFamily="18" charset="0"/>
                                      <a:ea typeface="Cambria Math" panose="02040503050406030204" pitchFamily="18" charset="0"/>
                                    </a:rPr>
                                  </m:ctrlPr>
                                </m:funcPr>
                                <m:fName>
                                  <m:r>
                                    <m:rPr>
                                      <m:sty m:val="p"/>
                                    </m:rPr>
                                    <a:rPr lang="en-US" altLang="zh-CN" sz="2400" b="0" i="0" smtClean="0">
                                      <a:latin typeface="Cambria Math" panose="02040503050406030204" pitchFamily="18" charset="0"/>
                                      <a:ea typeface="Cambria Math" panose="02040503050406030204" pitchFamily="18" charset="0"/>
                                    </a:rPr>
                                    <m:t>cos</m:t>
                                  </m:r>
                                </m:fName>
                                <m:e>
                                  <m:sSub>
                                    <m:sSubPr>
                                      <m:ctrlPr>
                                        <a:rPr lang="en-US" altLang="zh-CN" sz="2400" b="0" i="1" smtClean="0">
                                          <a:latin typeface="Cambria Math" panose="02040503050406030204" pitchFamily="18" charset="0"/>
                                          <a:ea typeface="Cambria Math" panose="02040503050406030204" pitchFamily="18" charset="0"/>
                                        </a:rPr>
                                      </m:ctrlPr>
                                    </m:sSubPr>
                                    <m:e>
                                      <m:r>
                                        <a:rPr lang="zh-CN" altLang="en-US" sz="2400" b="0" i="1" smtClean="0">
                                          <a:latin typeface="Cambria Math" panose="02040503050406030204" pitchFamily="18" charset="0"/>
                                          <a:ea typeface="Cambria Math" panose="02040503050406030204" pitchFamily="18" charset="0"/>
                                        </a:rPr>
                                        <m:t>𝛼</m:t>
                                      </m:r>
                                    </m:e>
                                    <m:sub>
                                      <m:r>
                                        <a:rPr lang="en-US" altLang="zh-CN" sz="2400" b="0" i="1" smtClean="0">
                                          <a:latin typeface="Cambria Math" panose="02040503050406030204" pitchFamily="18" charset="0"/>
                                          <a:ea typeface="Cambria Math" panose="02040503050406030204" pitchFamily="18" charset="0"/>
                                        </a:rPr>
                                        <m:t>𝑖</m:t>
                                      </m:r>
                                    </m:sub>
                                  </m:sSub>
                                  <m:r>
                                    <a:rPr lang="en-US" altLang="zh-CN" sz="2400" b="0" i="1" smtClean="0">
                                      <a:latin typeface="Cambria Math" panose="02040503050406030204" pitchFamily="18" charset="0"/>
                                      <a:ea typeface="Cambria Math" panose="02040503050406030204" pitchFamily="18" charset="0"/>
                                    </a:rPr>
                                    <m:t>+</m:t>
                                  </m:r>
                                </m:e>
                              </m:func>
                              <m:r>
                                <a:rPr lang="en-US" altLang="zh-CN" sz="2400" b="0" i="1" smtClean="0">
                                  <a:latin typeface="Cambria Math" panose="02040503050406030204" pitchFamily="18" charset="0"/>
                                  <a:ea typeface="Cambria Math" panose="02040503050406030204" pitchFamily="18" charset="0"/>
                                </a:rPr>
                                <m:t>𝐺</m:t>
                              </m:r>
                            </m:e>
                            <m:sub>
                              <m:r>
                                <a:rPr lang="en-US" altLang="zh-CN" sz="2400" b="0" i="1" smtClean="0">
                                  <a:latin typeface="Cambria Math" panose="02040503050406030204" pitchFamily="18" charset="0"/>
                                  <a:ea typeface="Cambria Math" panose="02040503050406030204" pitchFamily="18" charset="0"/>
                                </a:rPr>
                                <m:t>𝑖</m:t>
                              </m:r>
                            </m:sub>
                          </m:sSub>
                          <m:func>
                            <m:funcPr>
                              <m:ctrlPr>
                                <a:rPr lang="en-US" altLang="zh-CN" sz="2400" b="0" i="1" smtClean="0">
                                  <a:latin typeface="Cambria Math" panose="02040503050406030204" pitchFamily="18" charset="0"/>
                                  <a:ea typeface="Cambria Math" panose="02040503050406030204" pitchFamily="18" charset="0"/>
                                </a:rPr>
                              </m:ctrlPr>
                            </m:funcPr>
                            <m:fName>
                              <m:r>
                                <m:rPr>
                                  <m:sty m:val="p"/>
                                </m:rPr>
                                <a:rPr lang="en-US" altLang="zh-CN" sz="2400" b="0" i="0" smtClean="0">
                                  <a:latin typeface="Cambria Math" panose="02040503050406030204" pitchFamily="18" charset="0"/>
                                  <a:ea typeface="Cambria Math" panose="02040503050406030204" pitchFamily="18" charset="0"/>
                                </a:rPr>
                                <m:t>tan</m:t>
                              </m:r>
                            </m:fName>
                            <m:e>
                              <m:sSub>
                                <m:sSubPr>
                                  <m:ctrlPr>
                                    <a:rPr lang="en-US" altLang="zh-CN" sz="2400" b="0" i="1" smtClean="0">
                                      <a:latin typeface="Cambria Math" panose="02040503050406030204" pitchFamily="18" charset="0"/>
                                      <a:ea typeface="Cambria Math" panose="02040503050406030204" pitchFamily="18" charset="0"/>
                                    </a:rPr>
                                  </m:ctrlPr>
                                </m:sSubPr>
                                <m:e>
                                  <m:r>
                                    <a:rPr lang="zh-CN" altLang="en-US" sz="2400" b="0" i="1" smtClean="0">
                                      <a:latin typeface="Cambria Math" panose="02040503050406030204" pitchFamily="18" charset="0"/>
                                      <a:ea typeface="Cambria Math" panose="02040503050406030204" pitchFamily="18" charset="0"/>
                                    </a:rPr>
                                    <m:t>𝜑</m:t>
                                  </m:r>
                                </m:e>
                                <m:sub>
                                  <m:r>
                                    <a:rPr lang="en-US" altLang="zh-CN" sz="2400" b="0" i="1" smtClean="0">
                                      <a:latin typeface="Cambria Math" panose="02040503050406030204" pitchFamily="18" charset="0"/>
                                      <a:ea typeface="Cambria Math" panose="02040503050406030204" pitchFamily="18" charset="0"/>
                                    </a:rPr>
                                    <m:t>𝑖</m:t>
                                  </m:r>
                                </m:sub>
                              </m:sSub>
                            </m:e>
                          </m:func>
                        </m:num>
                        <m:den>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𝑚</m:t>
                              </m:r>
                            </m:e>
                            <m:sub>
                              <m:r>
                                <a:rPr lang="zh-CN" altLang="en-US" sz="2400" b="0" i="1" smtClean="0">
                                  <a:latin typeface="Cambria Math" panose="02040503050406030204" pitchFamily="18" charset="0"/>
                                  <a:ea typeface="Cambria Math" panose="02040503050406030204" pitchFamily="18" charset="0"/>
                                </a:rPr>
                                <m:t>𝛼</m:t>
                              </m:r>
                              <m:r>
                                <a:rPr lang="en-US" altLang="zh-CN" sz="2400" b="0" i="1" smtClean="0">
                                  <a:latin typeface="Cambria Math" panose="02040503050406030204" pitchFamily="18" charset="0"/>
                                  <a:ea typeface="Cambria Math" panose="02040503050406030204" pitchFamily="18" charset="0"/>
                                </a:rPr>
                                <m:t>𝑖</m:t>
                              </m:r>
                            </m:sub>
                          </m:sSub>
                        </m:den>
                      </m:f>
                    </m:oMath>
                  </m:oMathPara>
                </a14:m>
                <a:endParaRPr lang="zh-CN" altLang="en-US" sz="2400" dirty="0">
                  <a:latin typeface="Times New Roman" panose="02020603050405020304" pitchFamily="18" charset="0"/>
                  <a:cs typeface="Times New Roman" panose="02020603050405020304" pitchFamily="18" charset="0"/>
                </a:endParaRPr>
              </a:p>
            </p:txBody>
          </p:sp>
        </mc:Choice>
        <mc:Fallback>
          <p:sp>
            <p:nvSpPr>
              <p:cNvPr id="11" name="文本框 10"/>
              <p:cNvSpPr txBox="1">
                <a:spLocks noRot="1" noChangeAspect="1" noMove="1" noResize="1" noEditPoints="1" noAdjustHandles="1" noChangeArrowheads="1" noChangeShapeType="1" noTextEdit="1"/>
              </p:cNvSpPr>
              <p:nvPr/>
            </p:nvSpPr>
            <p:spPr>
              <a:xfrm>
                <a:off x="948083" y="4577736"/>
                <a:ext cx="3890617" cy="763671"/>
              </a:xfrm>
              <a:prstGeom prst="rect">
                <a:avLst/>
              </a:prstGeom>
              <a:blipFill rotWithShape="1">
                <a:blip r:embed="rId4"/>
                <a:stretch>
                  <a:fillRect l="-1" t="-3" b="5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650331" y="5714330"/>
                <a:ext cx="3677353" cy="686470"/>
              </a:xfrm>
              <a:prstGeom prst="rect">
                <a:avLst/>
              </a:prstGeom>
              <a:solidFill>
                <a:srgbClr val="FFFF00"/>
              </a:solid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𝑚</m:t>
                          </m:r>
                        </m:e>
                        <m:sub>
                          <m:r>
                            <a:rPr lang="zh-CN" altLang="en-US" sz="2400" i="1" smtClean="0">
                              <a:latin typeface="Cambria Math" panose="02040503050406030204" pitchFamily="18" charset="0"/>
                            </a:rPr>
                            <m:t>𝛼</m:t>
                          </m:r>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cos</m:t>
                          </m:r>
                        </m:fName>
                        <m:e>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𝛼</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sin</m:t>
                                  </m:r>
                                </m:fName>
                                <m:e>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𝛼</m:t>
                                      </m:r>
                                    </m:e>
                                    <m:sub>
                                      <m:r>
                                        <a:rPr lang="en-US" altLang="zh-CN" sz="2400" b="0" i="1" smtClean="0">
                                          <a:latin typeface="Cambria Math" panose="02040503050406030204" pitchFamily="18" charset="0"/>
                                        </a:rPr>
                                        <m:t>𝑖</m:t>
                                      </m:r>
                                    </m:sub>
                                  </m:sSub>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tan</m:t>
                                      </m:r>
                                    </m:fName>
                                    <m:e>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𝜑</m:t>
                                          </m:r>
                                        </m:e>
                                        <m:sub>
                                          <m:r>
                                            <a:rPr lang="en-US" altLang="zh-CN" sz="2400" b="0" i="1" smtClean="0">
                                              <a:latin typeface="Cambria Math" panose="02040503050406030204" pitchFamily="18" charset="0"/>
                                            </a:rPr>
                                            <m:t>𝑖</m:t>
                                          </m:r>
                                        </m:sub>
                                      </m:sSub>
                                    </m:e>
                                  </m:func>
                                </m:e>
                              </m:func>
                            </m:num>
                            <m:den>
                              <m:r>
                                <a:rPr lang="en-US" altLang="zh-CN" sz="2400" b="0" i="1" smtClean="0">
                                  <a:latin typeface="Cambria Math" panose="02040503050406030204" pitchFamily="18" charset="0"/>
                                </a:rPr>
                                <m:t>𝐾</m:t>
                              </m:r>
                            </m:den>
                          </m:f>
                        </m:e>
                      </m:func>
                    </m:oMath>
                  </m:oMathPara>
                </a14:m>
                <a:endParaRPr lang="zh-CN" altLang="en-US" sz="2400" dirty="0">
                  <a:latin typeface="Times New Roman" panose="02020603050405020304" pitchFamily="18" charset="0"/>
                  <a:cs typeface="Times New Roman" panose="02020603050405020304" pitchFamily="18" charset="0"/>
                </a:endParaRPr>
              </a:p>
            </p:txBody>
          </p:sp>
        </mc:Choice>
        <mc:Fallback>
          <p:sp>
            <p:nvSpPr>
              <p:cNvPr id="12" name="文本框 11"/>
              <p:cNvSpPr txBox="1">
                <a:spLocks noRot="1" noChangeAspect="1" noMove="1" noResize="1" noEditPoints="1" noAdjustHandles="1" noChangeArrowheads="1" noChangeShapeType="1" noTextEdit="1"/>
              </p:cNvSpPr>
              <p:nvPr/>
            </p:nvSpPr>
            <p:spPr>
              <a:xfrm>
                <a:off x="650331" y="5714330"/>
                <a:ext cx="3677353" cy="686470"/>
              </a:xfrm>
              <a:prstGeom prst="rect">
                <a:avLst/>
              </a:prstGeom>
              <a:blipFill rotWithShape="1">
                <a:blip r:embed="rId5"/>
                <a:stretch>
                  <a:fillRect l="-2" t="-87" r="4"/>
                </a:stretch>
              </a:blipFill>
            </p:spPr>
            <p:txBody>
              <a:bodyPr/>
              <a:lstStyle/>
              <a:p>
                <a:r>
                  <a:rPr lang="zh-CN" altLang="en-US">
                    <a:noFill/>
                  </a:rPr>
                  <a:t> </a:t>
                </a:r>
              </a:p>
            </p:txBody>
          </p:sp>
        </mc:Fallback>
      </mc:AlternateContent>
      <p:sp>
        <p:nvSpPr>
          <p:cNvPr id="88" name="Rectangle 6"/>
          <p:cNvSpPr>
            <a:spLocks noChangeArrowheads="1"/>
          </p:cNvSpPr>
          <p:nvPr/>
        </p:nvSpPr>
        <p:spPr bwMode="auto">
          <a:xfrm>
            <a:off x="0" y="-7396"/>
            <a:ext cx="41148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黏性土坡的稳定性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righ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dissolve">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766044"/>
                                        </p:tgtEl>
                                        <p:attrNameLst>
                                          <p:attrName>style.visibility</p:attrName>
                                        </p:attrNameLst>
                                      </p:cBhvr>
                                      <p:to>
                                        <p:strVal val="visible"/>
                                      </p:to>
                                    </p:set>
                                    <p:animEffect transition="in" filter="dissolve">
                                      <p:cBhvr>
                                        <p:cTn id="32" dur="500"/>
                                        <p:tgtEl>
                                          <p:spTgt spid="766044"/>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766045"/>
                                        </p:tgtEl>
                                        <p:attrNameLst>
                                          <p:attrName>style.visibility</p:attrName>
                                        </p:attrNameLst>
                                      </p:cBhvr>
                                      <p:to>
                                        <p:strVal val="visible"/>
                                      </p:to>
                                    </p:set>
                                    <p:animEffect transition="in" filter="dissolve">
                                      <p:cBhvr>
                                        <p:cTn id="37" dur="500"/>
                                        <p:tgtEl>
                                          <p:spTgt spid="766045"/>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766048"/>
                                        </p:tgtEl>
                                        <p:attrNameLst>
                                          <p:attrName>style.visibility</p:attrName>
                                        </p:attrNameLst>
                                      </p:cBhvr>
                                      <p:to>
                                        <p:strVal val="visible"/>
                                      </p:to>
                                    </p:set>
                                    <p:animEffect transition="in" filter="dissolve">
                                      <p:cBhvr>
                                        <p:cTn id="42" dur="500"/>
                                        <p:tgtEl>
                                          <p:spTgt spid="7660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6044" grpId="0" autoUpdateAnimBg="0"/>
      <p:bldP spid="766045" grpId="0" autoUpdateAnimBg="0"/>
      <p:bldP spid="766048" grpId="0" bldLvl="0" animBg="1"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059" name="Group 84"/>
          <p:cNvGrpSpPr/>
          <p:nvPr/>
        </p:nvGrpSpPr>
        <p:grpSpPr bwMode="auto">
          <a:xfrm>
            <a:off x="5334000" y="3505200"/>
            <a:ext cx="3657600" cy="3124200"/>
            <a:chOff x="3360" y="2208"/>
            <a:chExt cx="2304" cy="1968"/>
          </a:xfrm>
        </p:grpSpPr>
        <p:sp>
          <p:nvSpPr>
            <p:cNvPr id="45107" name="Rectangle 23"/>
            <p:cNvSpPr>
              <a:spLocks noChangeArrowheads="1"/>
            </p:cNvSpPr>
            <p:nvPr/>
          </p:nvSpPr>
          <p:spPr bwMode="auto">
            <a:xfrm>
              <a:off x="5136" y="2928"/>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h</a:t>
              </a:r>
              <a:r>
                <a:rPr kumimoji="1" lang="en-US" altLang="zh-CN" sz="2400" b="1" i="1" baseline="-25000">
                  <a:solidFill>
                    <a:srgbClr val="CC3300"/>
                  </a:solidFill>
                  <a:latin typeface="Times New Roman" panose="02020603050405020304" pitchFamily="18" charset="0"/>
                  <a:sym typeface="Symbol" panose="05050102010706020507" pitchFamily="18" charset="2"/>
                </a:rPr>
                <a:t>i</a:t>
              </a:r>
              <a:r>
                <a:rPr kumimoji="1" lang="en-US" altLang="zh-CN" sz="2400" b="1" baseline="-25000">
                  <a:solidFill>
                    <a:srgbClr val="CC3300"/>
                  </a:solidFill>
                  <a:latin typeface="Times New Roman" panose="02020603050405020304" pitchFamily="18" charset="0"/>
                  <a:sym typeface="Symbol" panose="05050102010706020507" pitchFamily="18" charset="2"/>
                </a:rPr>
                <a:t>+1</a:t>
              </a:r>
              <a:endParaRPr kumimoji="1" lang="en-US" altLang="zh-CN" sz="2400" b="1" i="1" baseline="-25000">
                <a:solidFill>
                  <a:srgbClr val="CC3300"/>
                </a:solidFill>
                <a:latin typeface="Times New Roman" panose="02020603050405020304" pitchFamily="18" charset="0"/>
                <a:sym typeface="Symbol" panose="05050102010706020507" pitchFamily="18" charset="2"/>
              </a:endParaRPr>
            </a:p>
          </p:txBody>
        </p:sp>
        <p:grpSp>
          <p:nvGrpSpPr>
            <p:cNvPr id="45108" name="Group 83"/>
            <p:cNvGrpSpPr/>
            <p:nvPr/>
          </p:nvGrpSpPr>
          <p:grpSpPr bwMode="auto">
            <a:xfrm>
              <a:off x="3360" y="2208"/>
              <a:ext cx="2016" cy="1968"/>
              <a:chOff x="3312" y="2208"/>
              <a:chExt cx="2016" cy="1968"/>
            </a:xfrm>
          </p:grpSpPr>
          <p:grpSp>
            <p:nvGrpSpPr>
              <p:cNvPr id="45109" name="Group 3"/>
              <p:cNvGrpSpPr/>
              <p:nvPr/>
            </p:nvGrpSpPr>
            <p:grpSpPr bwMode="auto">
              <a:xfrm>
                <a:off x="3936" y="2208"/>
                <a:ext cx="528" cy="1584"/>
                <a:chOff x="3744" y="864"/>
                <a:chExt cx="432" cy="1584"/>
              </a:xfrm>
            </p:grpSpPr>
            <p:sp>
              <p:nvSpPr>
                <p:cNvPr id="45130" name="Line 4"/>
                <p:cNvSpPr>
                  <a:spLocks noChangeShapeType="1"/>
                </p:cNvSpPr>
                <p:nvPr/>
              </p:nvSpPr>
              <p:spPr bwMode="auto">
                <a:xfrm>
                  <a:off x="3744" y="1056"/>
                  <a:ext cx="0" cy="1392"/>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31" name="Line 5"/>
                <p:cNvSpPr>
                  <a:spLocks noChangeShapeType="1"/>
                </p:cNvSpPr>
                <p:nvPr/>
              </p:nvSpPr>
              <p:spPr bwMode="auto">
                <a:xfrm>
                  <a:off x="4176" y="864"/>
                  <a:ext cx="0" cy="1248"/>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32" name="Line 6"/>
                <p:cNvSpPr>
                  <a:spLocks noChangeShapeType="1"/>
                </p:cNvSpPr>
                <p:nvPr/>
              </p:nvSpPr>
              <p:spPr bwMode="auto">
                <a:xfrm flipV="1">
                  <a:off x="3744" y="864"/>
                  <a:ext cx="432" cy="192"/>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33" name="Line 7"/>
                <p:cNvSpPr>
                  <a:spLocks noChangeShapeType="1"/>
                </p:cNvSpPr>
                <p:nvPr/>
              </p:nvSpPr>
              <p:spPr bwMode="auto">
                <a:xfrm flipV="1">
                  <a:off x="3744" y="2112"/>
                  <a:ext cx="432" cy="336"/>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5110" name="Line 8"/>
              <p:cNvSpPr>
                <a:spLocks noChangeShapeType="1"/>
              </p:cNvSpPr>
              <p:nvPr/>
            </p:nvSpPr>
            <p:spPr bwMode="auto">
              <a:xfrm>
                <a:off x="4176" y="2736"/>
                <a:ext cx="0" cy="336"/>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111" name="Line 9"/>
              <p:cNvSpPr>
                <a:spLocks noChangeShapeType="1"/>
              </p:cNvSpPr>
              <p:nvPr/>
            </p:nvSpPr>
            <p:spPr bwMode="auto">
              <a:xfrm>
                <a:off x="3456" y="3264"/>
                <a:ext cx="480" cy="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112" name="Line 10"/>
              <p:cNvSpPr>
                <a:spLocks noChangeShapeType="1"/>
              </p:cNvSpPr>
              <p:nvPr/>
            </p:nvSpPr>
            <p:spPr bwMode="auto">
              <a:xfrm flipH="1">
                <a:off x="4512" y="2736"/>
                <a:ext cx="288" cy="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113" name="Line 11"/>
              <p:cNvSpPr>
                <a:spLocks noChangeShapeType="1"/>
              </p:cNvSpPr>
              <p:nvPr/>
            </p:nvSpPr>
            <p:spPr bwMode="auto">
              <a:xfrm flipV="1">
                <a:off x="4032" y="3552"/>
                <a:ext cx="384" cy="240"/>
              </a:xfrm>
              <a:prstGeom prst="line">
                <a:avLst/>
              </a:prstGeom>
              <a:noFill/>
              <a:ln w="22225">
                <a:solidFill>
                  <a:srgbClr val="0000FF"/>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114" name="Line 12"/>
              <p:cNvSpPr>
                <a:spLocks noChangeShapeType="1"/>
              </p:cNvSpPr>
              <p:nvPr/>
            </p:nvSpPr>
            <p:spPr bwMode="auto">
              <a:xfrm rot="10800000">
                <a:off x="4272" y="3696"/>
                <a:ext cx="192" cy="288"/>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115" name="Line 13"/>
              <p:cNvSpPr>
                <a:spLocks noChangeShapeType="1"/>
              </p:cNvSpPr>
              <p:nvPr/>
            </p:nvSpPr>
            <p:spPr bwMode="auto">
              <a:xfrm flipV="1">
                <a:off x="4464" y="3168"/>
                <a:ext cx="384" cy="2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16" name="Line 14"/>
              <p:cNvSpPr>
                <a:spLocks noChangeShapeType="1"/>
              </p:cNvSpPr>
              <p:nvPr/>
            </p:nvSpPr>
            <p:spPr bwMode="auto">
              <a:xfrm>
                <a:off x="4464" y="3456"/>
                <a:ext cx="43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17" name="Freeform 15"/>
              <p:cNvSpPr/>
              <p:nvPr/>
            </p:nvSpPr>
            <p:spPr bwMode="auto">
              <a:xfrm>
                <a:off x="4556" y="3396"/>
                <a:ext cx="49" cy="56"/>
              </a:xfrm>
              <a:custGeom>
                <a:avLst/>
                <a:gdLst>
                  <a:gd name="T0" fmla="*/ 0 w 49"/>
                  <a:gd name="T1" fmla="*/ 0 h 56"/>
                  <a:gd name="T2" fmla="*/ 40 w 49"/>
                  <a:gd name="T3" fmla="*/ 32 h 56"/>
                  <a:gd name="T4" fmla="*/ 48 w 49"/>
                  <a:gd name="T5" fmla="*/ 56 h 56"/>
                  <a:gd name="T6" fmla="*/ 0 60000 65536"/>
                  <a:gd name="T7" fmla="*/ 0 60000 65536"/>
                  <a:gd name="T8" fmla="*/ 0 60000 65536"/>
                  <a:gd name="T9" fmla="*/ 0 w 49"/>
                  <a:gd name="T10" fmla="*/ 0 h 56"/>
                  <a:gd name="T11" fmla="*/ 49 w 49"/>
                  <a:gd name="T12" fmla="*/ 56 h 56"/>
                </a:gdLst>
                <a:ahLst/>
                <a:cxnLst>
                  <a:cxn ang="T6">
                    <a:pos x="T0" y="T1"/>
                  </a:cxn>
                  <a:cxn ang="T7">
                    <a:pos x="T2" y="T3"/>
                  </a:cxn>
                  <a:cxn ang="T8">
                    <a:pos x="T4" y="T5"/>
                  </a:cxn>
                </a:cxnLst>
                <a:rect l="T9" t="T10" r="T11" b="T12"/>
                <a:pathLst>
                  <a:path w="49" h="56">
                    <a:moveTo>
                      <a:pt x="0" y="0"/>
                    </a:moveTo>
                    <a:cubicBezTo>
                      <a:pt x="20" y="10"/>
                      <a:pt x="20" y="22"/>
                      <a:pt x="40" y="32"/>
                    </a:cubicBezTo>
                    <a:cubicBezTo>
                      <a:pt x="49" y="50"/>
                      <a:pt x="48" y="42"/>
                      <a:pt x="48" y="56"/>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5118" name="Line 16"/>
              <p:cNvSpPr>
                <a:spLocks noChangeShapeType="1"/>
              </p:cNvSpPr>
              <p:nvPr/>
            </p:nvSpPr>
            <p:spPr bwMode="auto">
              <a:xfrm>
                <a:off x="4992" y="3456"/>
                <a:ext cx="33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19" name="Line 17"/>
              <p:cNvSpPr>
                <a:spLocks noChangeShapeType="1"/>
              </p:cNvSpPr>
              <p:nvPr/>
            </p:nvSpPr>
            <p:spPr bwMode="auto">
              <a:xfrm>
                <a:off x="4992" y="2736"/>
                <a:ext cx="33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20" name="Line 18"/>
              <p:cNvSpPr>
                <a:spLocks noChangeShapeType="1"/>
              </p:cNvSpPr>
              <p:nvPr/>
            </p:nvSpPr>
            <p:spPr bwMode="auto">
              <a:xfrm>
                <a:off x="5136" y="2736"/>
                <a:ext cx="0" cy="72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121" name="Rectangle 19"/>
              <p:cNvSpPr>
                <a:spLocks noChangeArrowheads="1"/>
              </p:cNvSpPr>
              <p:nvPr/>
            </p:nvSpPr>
            <p:spPr bwMode="auto">
              <a:xfrm>
                <a:off x="3312" y="2928"/>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err="1" smtClean="0">
                    <a:solidFill>
                      <a:srgbClr val="CC3300"/>
                    </a:solidFill>
                    <a:latin typeface="Times New Roman" panose="02020603050405020304" pitchFamily="18" charset="0"/>
                    <a:sym typeface="Symbol" panose="05050102010706020507" pitchFamily="18" charset="2"/>
                  </a:rPr>
                  <a:t>E</a:t>
                </a:r>
                <a:r>
                  <a:rPr kumimoji="1" lang="en-US" altLang="zh-CN" sz="2400" b="1" i="1" baseline="-25000" dirty="0" err="1" smtClean="0">
                    <a:solidFill>
                      <a:srgbClr val="CC3300"/>
                    </a:solidFill>
                    <a:latin typeface="Times New Roman" panose="02020603050405020304" pitchFamily="18" charset="0"/>
                    <a:sym typeface="Symbol" panose="05050102010706020507" pitchFamily="18" charset="2"/>
                  </a:rPr>
                  <a:t>i</a:t>
                </a:r>
                <a:endParaRPr kumimoji="1" lang="en-US" altLang="zh-CN" sz="2400" b="1" i="1" baseline="-25000" dirty="0">
                  <a:solidFill>
                    <a:srgbClr val="CC3300"/>
                  </a:solidFill>
                  <a:latin typeface="Times New Roman" panose="02020603050405020304" pitchFamily="18" charset="0"/>
                  <a:sym typeface="Symbol" panose="05050102010706020507" pitchFamily="18" charset="2"/>
                </a:endParaRPr>
              </a:p>
            </p:txBody>
          </p:sp>
          <p:sp>
            <p:nvSpPr>
              <p:cNvPr id="45122" name="Rectangle 20"/>
              <p:cNvSpPr>
                <a:spLocks noChangeArrowheads="1"/>
              </p:cNvSpPr>
              <p:nvPr/>
            </p:nvSpPr>
            <p:spPr bwMode="auto">
              <a:xfrm>
                <a:off x="4368" y="350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T</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baseline="-25000">
                  <a:solidFill>
                    <a:srgbClr val="CC3300"/>
                  </a:solidFill>
                  <a:latin typeface="Times New Roman" panose="02020603050405020304" pitchFamily="18" charset="0"/>
                  <a:sym typeface="Symbol" panose="05050102010706020507" pitchFamily="18" charset="2"/>
                </a:endParaRPr>
              </a:p>
            </p:txBody>
          </p:sp>
          <p:sp>
            <p:nvSpPr>
              <p:cNvPr id="45123" name="Rectangle 21"/>
              <p:cNvSpPr>
                <a:spLocks noChangeArrowheads="1"/>
              </p:cNvSpPr>
              <p:nvPr/>
            </p:nvSpPr>
            <p:spPr bwMode="auto">
              <a:xfrm>
                <a:off x="4400" y="3888"/>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N</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a:solidFill>
                    <a:srgbClr val="CC3300"/>
                  </a:solidFill>
                  <a:latin typeface="Times New Roman" panose="02020603050405020304" pitchFamily="18" charset="0"/>
                  <a:sym typeface="Symbol" panose="05050102010706020507" pitchFamily="18" charset="2"/>
                </a:endParaRPr>
              </a:p>
            </p:txBody>
          </p:sp>
          <p:sp>
            <p:nvSpPr>
              <p:cNvPr id="45124" name="Rectangle 22"/>
              <p:cNvSpPr>
                <a:spLocks noChangeArrowheads="1"/>
              </p:cNvSpPr>
              <p:nvPr/>
            </p:nvSpPr>
            <p:spPr bwMode="auto">
              <a:xfrm>
                <a:off x="4560" y="3216"/>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smtClean="0">
                    <a:solidFill>
                      <a:srgbClr val="993300"/>
                    </a:solidFill>
                    <a:latin typeface="Times New Roman" panose="02020603050405020304" pitchFamily="18" charset="0"/>
                    <a:sym typeface="Symbol" panose="05050102010706020507" pitchFamily="18" charset="2"/>
                  </a:rPr>
                  <a:t></a:t>
                </a:r>
                <a:r>
                  <a:rPr kumimoji="1" lang="en-US" altLang="zh-CN" sz="2400" b="1" i="1" baseline="-25000" dirty="0" err="1" smtClean="0">
                    <a:solidFill>
                      <a:srgbClr val="993300"/>
                    </a:solidFill>
                    <a:latin typeface="Times New Roman" panose="02020603050405020304" pitchFamily="18" charset="0"/>
                    <a:sym typeface="Symbol" panose="05050102010706020507" pitchFamily="18" charset="2"/>
                  </a:rPr>
                  <a:t>i</a:t>
                </a:r>
                <a:endParaRPr kumimoji="1" lang="en-US" altLang="zh-CN" sz="2400" b="1" i="1" baseline="-25000" dirty="0">
                  <a:solidFill>
                    <a:srgbClr val="993300"/>
                  </a:solidFill>
                  <a:latin typeface="Times New Roman" panose="02020603050405020304" pitchFamily="18" charset="0"/>
                  <a:sym typeface="Symbol" panose="05050102010706020507" pitchFamily="18" charset="2"/>
                </a:endParaRPr>
              </a:p>
            </p:txBody>
          </p:sp>
          <p:sp>
            <p:nvSpPr>
              <p:cNvPr id="45125" name="Rectangle 24"/>
              <p:cNvSpPr>
                <a:spLocks noChangeArrowheads="1"/>
              </p:cNvSpPr>
              <p:nvPr/>
            </p:nvSpPr>
            <p:spPr bwMode="auto">
              <a:xfrm>
                <a:off x="4032" y="3072"/>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err="1" smtClean="0">
                    <a:solidFill>
                      <a:srgbClr val="CC3300"/>
                    </a:solidFill>
                    <a:latin typeface="Times New Roman" panose="02020603050405020304" pitchFamily="18" charset="0"/>
                    <a:sym typeface="Symbol" panose="05050102010706020507" pitchFamily="18" charset="2"/>
                  </a:rPr>
                  <a:t>G</a:t>
                </a:r>
                <a:r>
                  <a:rPr kumimoji="1" lang="en-US" altLang="zh-CN" sz="2400" b="1" i="1" baseline="-25000" dirty="0" err="1" smtClean="0">
                    <a:solidFill>
                      <a:srgbClr val="CC3300"/>
                    </a:solidFill>
                    <a:latin typeface="Times New Roman" panose="02020603050405020304" pitchFamily="18" charset="0"/>
                    <a:sym typeface="Symbol" panose="05050102010706020507" pitchFamily="18" charset="2"/>
                  </a:rPr>
                  <a:t>i</a:t>
                </a:r>
                <a:endParaRPr kumimoji="1" lang="en-US" altLang="zh-CN" sz="2400" b="1" i="1" baseline="-25000" dirty="0">
                  <a:solidFill>
                    <a:srgbClr val="CC3300"/>
                  </a:solidFill>
                  <a:latin typeface="Times New Roman" panose="02020603050405020304" pitchFamily="18" charset="0"/>
                  <a:sym typeface="Symbol" panose="05050102010706020507" pitchFamily="18" charset="2"/>
                </a:endParaRPr>
              </a:p>
            </p:txBody>
          </p:sp>
          <p:sp>
            <p:nvSpPr>
              <p:cNvPr id="45126" name="Rectangle 25"/>
              <p:cNvSpPr>
                <a:spLocks noChangeArrowheads="1"/>
              </p:cNvSpPr>
              <p:nvPr/>
            </p:nvSpPr>
            <p:spPr bwMode="auto">
              <a:xfrm>
                <a:off x="4704" y="2496"/>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smtClean="0">
                    <a:solidFill>
                      <a:srgbClr val="CC3300"/>
                    </a:solidFill>
                    <a:latin typeface="Times New Roman" panose="02020603050405020304" pitchFamily="18" charset="0"/>
                    <a:sym typeface="Symbol" panose="05050102010706020507" pitchFamily="18" charset="2"/>
                  </a:rPr>
                  <a:t>E</a:t>
                </a:r>
                <a:r>
                  <a:rPr kumimoji="1" lang="en-US" altLang="zh-CN" sz="2400" b="1" i="1" baseline="-25000" dirty="0" smtClean="0">
                    <a:solidFill>
                      <a:srgbClr val="CC3300"/>
                    </a:solidFill>
                    <a:latin typeface="Times New Roman" panose="02020603050405020304" pitchFamily="18" charset="0"/>
                    <a:sym typeface="Symbol" panose="05050102010706020507" pitchFamily="18" charset="2"/>
                  </a:rPr>
                  <a:t>i</a:t>
                </a:r>
                <a:r>
                  <a:rPr kumimoji="1" lang="en-US" altLang="zh-CN" sz="2400" b="1" baseline="-25000" dirty="0" smtClean="0">
                    <a:solidFill>
                      <a:srgbClr val="CC3300"/>
                    </a:solidFill>
                    <a:latin typeface="Times New Roman" panose="02020603050405020304" pitchFamily="18" charset="0"/>
                    <a:sym typeface="Symbol" panose="05050102010706020507" pitchFamily="18" charset="2"/>
                  </a:rPr>
                  <a:t>+1</a:t>
                </a:r>
                <a:endParaRPr kumimoji="1" lang="en-US" altLang="zh-CN" sz="2400" b="1" baseline="-25000" dirty="0">
                  <a:solidFill>
                    <a:srgbClr val="CC3300"/>
                  </a:solidFill>
                  <a:latin typeface="Times New Roman" panose="02020603050405020304" pitchFamily="18" charset="0"/>
                  <a:sym typeface="Symbol" panose="05050102010706020507" pitchFamily="18" charset="2"/>
                </a:endParaRPr>
              </a:p>
            </p:txBody>
          </p:sp>
          <p:sp>
            <p:nvSpPr>
              <p:cNvPr id="45127" name="Line 26"/>
              <p:cNvSpPr>
                <a:spLocks noChangeShapeType="1"/>
              </p:cNvSpPr>
              <p:nvPr/>
            </p:nvSpPr>
            <p:spPr bwMode="auto">
              <a:xfrm flipH="1">
                <a:off x="3360" y="3792"/>
                <a:ext cx="52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28" name="Line 27"/>
              <p:cNvSpPr>
                <a:spLocks noChangeShapeType="1"/>
              </p:cNvSpPr>
              <p:nvPr/>
            </p:nvSpPr>
            <p:spPr bwMode="auto">
              <a:xfrm>
                <a:off x="3552" y="3264"/>
                <a:ext cx="0" cy="528"/>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129" name="Rectangle 28"/>
              <p:cNvSpPr>
                <a:spLocks noChangeArrowheads="1"/>
              </p:cNvSpPr>
              <p:nvPr/>
            </p:nvSpPr>
            <p:spPr bwMode="auto">
              <a:xfrm>
                <a:off x="3312" y="3360"/>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h</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baseline="-25000">
                  <a:solidFill>
                    <a:srgbClr val="CC3300"/>
                  </a:solidFill>
                  <a:latin typeface="Times New Roman" panose="02020603050405020304" pitchFamily="18" charset="0"/>
                  <a:sym typeface="Symbol" panose="05050102010706020507" pitchFamily="18" charset="2"/>
                </a:endParaRPr>
              </a:p>
            </p:txBody>
          </p:sp>
        </p:grpSp>
      </p:grpSp>
      <p:grpSp>
        <p:nvGrpSpPr>
          <p:cNvPr id="45060" name="Group 29"/>
          <p:cNvGrpSpPr/>
          <p:nvPr/>
        </p:nvGrpSpPr>
        <p:grpSpPr bwMode="auto">
          <a:xfrm>
            <a:off x="4876800" y="152400"/>
            <a:ext cx="4267200" cy="3090863"/>
            <a:chOff x="2976" y="117"/>
            <a:chExt cx="2688" cy="1947"/>
          </a:xfrm>
        </p:grpSpPr>
        <p:sp>
          <p:nvSpPr>
            <p:cNvPr id="45069" name="Text Box 30"/>
            <p:cNvSpPr txBox="1">
              <a:spLocks noChangeArrowheads="1"/>
            </p:cNvSpPr>
            <p:nvPr/>
          </p:nvSpPr>
          <p:spPr bwMode="auto">
            <a:xfrm>
              <a:off x="2976" y="1737"/>
              <a:ext cx="41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dirty="0" smtClean="0">
                  <a:solidFill>
                    <a:schemeClr val="tx1"/>
                  </a:solidFill>
                  <a:latin typeface="Times New Roman" panose="02020603050405020304" pitchFamily="18" charset="0"/>
                </a:rPr>
                <a:t>C</a:t>
              </a:r>
              <a:endParaRPr kumimoji="1" lang="en-US" altLang="zh-CN" sz="2800" b="1" dirty="0">
                <a:solidFill>
                  <a:schemeClr val="tx1"/>
                </a:solidFill>
                <a:latin typeface="Times New Roman" panose="02020603050405020304" pitchFamily="18" charset="0"/>
              </a:endParaRPr>
            </a:p>
          </p:txBody>
        </p:sp>
        <p:grpSp>
          <p:nvGrpSpPr>
            <p:cNvPr id="45070" name="Group 31"/>
            <p:cNvGrpSpPr/>
            <p:nvPr/>
          </p:nvGrpSpPr>
          <p:grpSpPr bwMode="auto">
            <a:xfrm>
              <a:off x="3052" y="117"/>
              <a:ext cx="2612" cy="1921"/>
              <a:chOff x="2633" y="1296"/>
              <a:chExt cx="3079" cy="2016"/>
            </a:xfrm>
          </p:grpSpPr>
          <p:sp>
            <p:nvSpPr>
              <p:cNvPr id="45088" name="Freeform 32"/>
              <p:cNvSpPr/>
              <p:nvPr/>
            </p:nvSpPr>
            <p:spPr bwMode="auto">
              <a:xfrm>
                <a:off x="2633" y="2032"/>
                <a:ext cx="3022" cy="1189"/>
              </a:xfrm>
              <a:custGeom>
                <a:avLst/>
                <a:gdLst>
                  <a:gd name="T0" fmla="*/ 0 w 1785"/>
                  <a:gd name="T1" fmla="*/ 2496 h 763"/>
                  <a:gd name="T2" fmla="*/ 1339 w 1785"/>
                  <a:gd name="T3" fmla="*/ 2506 h 763"/>
                  <a:gd name="T4" fmla="*/ 6647 w 1785"/>
                  <a:gd name="T5" fmla="*/ 0 h 763"/>
                  <a:gd name="T6" fmla="*/ 8661 w 1785"/>
                  <a:gd name="T7" fmla="*/ 0 h 763"/>
                  <a:gd name="T8" fmla="*/ 7920 w 1785"/>
                  <a:gd name="T9" fmla="*/ 0 h 763"/>
                  <a:gd name="T10" fmla="*/ 7652 w 1785"/>
                  <a:gd name="T11" fmla="*/ 597 h 763"/>
                  <a:gd name="T12" fmla="*/ 7254 w 1785"/>
                  <a:gd name="T13" fmla="*/ 1153 h 763"/>
                  <a:gd name="T14" fmla="*/ 6931 w 1785"/>
                  <a:gd name="T15" fmla="*/ 1487 h 763"/>
                  <a:gd name="T16" fmla="*/ 6589 w 1785"/>
                  <a:gd name="T17" fmla="*/ 1797 h 763"/>
                  <a:gd name="T18" fmla="*/ 6091 w 1785"/>
                  <a:gd name="T19" fmla="*/ 2135 h 763"/>
                  <a:gd name="T20" fmla="*/ 5484 w 1785"/>
                  <a:gd name="T21" fmla="*/ 2453 h 763"/>
                  <a:gd name="T22" fmla="*/ 5018 w 1785"/>
                  <a:gd name="T23" fmla="*/ 2615 h 763"/>
                  <a:gd name="T24" fmla="*/ 4425 w 1785"/>
                  <a:gd name="T25" fmla="*/ 2752 h 763"/>
                  <a:gd name="T26" fmla="*/ 3887 w 1785"/>
                  <a:gd name="T27" fmla="*/ 2841 h 763"/>
                  <a:gd name="T28" fmla="*/ 3213 w 1785"/>
                  <a:gd name="T29" fmla="*/ 2888 h 763"/>
                  <a:gd name="T30" fmla="*/ 2760 w 1785"/>
                  <a:gd name="T31" fmla="*/ 2888 h 763"/>
                  <a:gd name="T32" fmla="*/ 2255 w 1785"/>
                  <a:gd name="T33" fmla="*/ 2861 h 763"/>
                  <a:gd name="T34" fmla="*/ 1639 w 1785"/>
                  <a:gd name="T35" fmla="*/ 2771 h 763"/>
                  <a:gd name="T36" fmla="*/ 1150 w 1785"/>
                  <a:gd name="T37" fmla="*/ 2652 h 763"/>
                  <a:gd name="T38" fmla="*/ 733 w 1785"/>
                  <a:gd name="T39" fmla="*/ 2523 h 763"/>
                  <a:gd name="T40" fmla="*/ 650 w 1785"/>
                  <a:gd name="T41" fmla="*/ 2506 h 76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785"/>
                  <a:gd name="T64" fmla="*/ 0 h 763"/>
                  <a:gd name="T65" fmla="*/ 1785 w 1785"/>
                  <a:gd name="T66" fmla="*/ 763 h 76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785" h="763">
                    <a:moveTo>
                      <a:pt x="0" y="660"/>
                    </a:moveTo>
                    <a:lnTo>
                      <a:pt x="276" y="662"/>
                    </a:lnTo>
                    <a:lnTo>
                      <a:pt x="1370" y="0"/>
                    </a:lnTo>
                    <a:lnTo>
                      <a:pt x="1785" y="0"/>
                    </a:lnTo>
                    <a:lnTo>
                      <a:pt x="1632" y="0"/>
                    </a:lnTo>
                    <a:lnTo>
                      <a:pt x="1577" y="158"/>
                    </a:lnTo>
                    <a:lnTo>
                      <a:pt x="1495" y="305"/>
                    </a:lnTo>
                    <a:lnTo>
                      <a:pt x="1428" y="393"/>
                    </a:lnTo>
                    <a:lnTo>
                      <a:pt x="1358" y="475"/>
                    </a:lnTo>
                    <a:lnTo>
                      <a:pt x="1255" y="564"/>
                    </a:lnTo>
                    <a:lnTo>
                      <a:pt x="1130" y="648"/>
                    </a:lnTo>
                    <a:lnTo>
                      <a:pt x="1034" y="691"/>
                    </a:lnTo>
                    <a:lnTo>
                      <a:pt x="912" y="727"/>
                    </a:lnTo>
                    <a:lnTo>
                      <a:pt x="801" y="751"/>
                    </a:lnTo>
                    <a:lnTo>
                      <a:pt x="662" y="763"/>
                    </a:lnTo>
                    <a:lnTo>
                      <a:pt x="569" y="763"/>
                    </a:lnTo>
                    <a:lnTo>
                      <a:pt x="465" y="756"/>
                    </a:lnTo>
                    <a:lnTo>
                      <a:pt x="338" y="732"/>
                    </a:lnTo>
                    <a:lnTo>
                      <a:pt x="237" y="701"/>
                    </a:lnTo>
                    <a:lnTo>
                      <a:pt x="151" y="667"/>
                    </a:lnTo>
                    <a:lnTo>
                      <a:pt x="134" y="662"/>
                    </a:lnTo>
                  </a:path>
                </a:pathLst>
              </a:custGeom>
              <a:solidFill>
                <a:srgbClr val="66FF66">
                  <a:alpha val="50195"/>
                </a:srgbClr>
              </a:solidFill>
              <a:ln w="38100">
                <a:solidFill>
                  <a:srgbClr val="008000"/>
                </a:solidFill>
                <a:round/>
              </a:ln>
            </p:spPr>
            <p:txBody>
              <a:bodyPr/>
              <a:lstStyle/>
              <a:p>
                <a:endParaRPr lang="zh-CN" altLang="en-US"/>
              </a:p>
            </p:txBody>
          </p:sp>
          <p:sp>
            <p:nvSpPr>
              <p:cNvPr id="45089" name="Line 33"/>
              <p:cNvSpPr>
                <a:spLocks noChangeShapeType="1"/>
              </p:cNvSpPr>
              <p:nvPr/>
            </p:nvSpPr>
            <p:spPr bwMode="auto">
              <a:xfrm flipV="1">
                <a:off x="3121" y="3045"/>
                <a:ext cx="0" cy="104"/>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90" name="Line 34"/>
              <p:cNvSpPr>
                <a:spLocks noChangeShapeType="1"/>
              </p:cNvSpPr>
              <p:nvPr/>
            </p:nvSpPr>
            <p:spPr bwMode="auto">
              <a:xfrm flipV="1">
                <a:off x="3327" y="2932"/>
                <a:ext cx="0" cy="26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91" name="Line 35"/>
              <p:cNvSpPr>
                <a:spLocks noChangeShapeType="1"/>
              </p:cNvSpPr>
              <p:nvPr/>
            </p:nvSpPr>
            <p:spPr bwMode="auto">
              <a:xfrm flipV="1">
                <a:off x="3563" y="2826"/>
                <a:ext cx="0" cy="40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92" name="Line 36"/>
              <p:cNvSpPr>
                <a:spLocks noChangeShapeType="1"/>
              </p:cNvSpPr>
              <p:nvPr/>
            </p:nvSpPr>
            <p:spPr bwMode="auto">
              <a:xfrm flipH="1" flipV="1">
                <a:off x="3803" y="2660"/>
                <a:ext cx="0" cy="55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93" name="Line 37"/>
              <p:cNvSpPr>
                <a:spLocks noChangeShapeType="1"/>
              </p:cNvSpPr>
              <p:nvPr/>
            </p:nvSpPr>
            <p:spPr bwMode="auto">
              <a:xfrm flipH="1" flipV="1">
                <a:off x="4035" y="2535"/>
                <a:ext cx="0" cy="656"/>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94" name="Line 38"/>
              <p:cNvSpPr>
                <a:spLocks noChangeShapeType="1"/>
              </p:cNvSpPr>
              <p:nvPr/>
            </p:nvSpPr>
            <p:spPr bwMode="auto">
              <a:xfrm flipV="1">
                <a:off x="4253" y="2409"/>
                <a:ext cx="0" cy="737"/>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95" name="Line 39"/>
              <p:cNvSpPr>
                <a:spLocks noChangeShapeType="1"/>
              </p:cNvSpPr>
              <p:nvPr/>
            </p:nvSpPr>
            <p:spPr bwMode="auto">
              <a:xfrm flipH="1" flipV="1">
                <a:off x="4511" y="2269"/>
                <a:ext cx="0" cy="78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96" name="Line 40"/>
              <p:cNvSpPr>
                <a:spLocks noChangeShapeType="1"/>
              </p:cNvSpPr>
              <p:nvPr/>
            </p:nvSpPr>
            <p:spPr bwMode="auto">
              <a:xfrm flipV="1">
                <a:off x="4740" y="2147"/>
                <a:ext cx="0" cy="766"/>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97" name="Line 41"/>
              <p:cNvSpPr>
                <a:spLocks noChangeShapeType="1"/>
              </p:cNvSpPr>
              <p:nvPr/>
            </p:nvSpPr>
            <p:spPr bwMode="auto">
              <a:xfrm>
                <a:off x="4949" y="2024"/>
                <a:ext cx="0" cy="73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98" name="Line 42"/>
              <p:cNvSpPr>
                <a:spLocks noChangeShapeType="1"/>
              </p:cNvSpPr>
              <p:nvPr/>
            </p:nvSpPr>
            <p:spPr bwMode="auto">
              <a:xfrm>
                <a:off x="5172" y="2032"/>
                <a:ext cx="0" cy="457"/>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99" name="Line 43"/>
              <p:cNvSpPr>
                <a:spLocks noChangeShapeType="1"/>
              </p:cNvSpPr>
              <p:nvPr/>
            </p:nvSpPr>
            <p:spPr bwMode="auto">
              <a:xfrm flipH="1">
                <a:off x="2886" y="1556"/>
                <a:ext cx="787" cy="1496"/>
              </a:xfrm>
              <a:prstGeom prst="line">
                <a:avLst/>
              </a:prstGeom>
              <a:noFill/>
              <a:ln w="38100">
                <a:solidFill>
                  <a:srgbClr val="CC0099"/>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100" name="Line 44"/>
              <p:cNvSpPr>
                <a:spLocks noChangeShapeType="1"/>
              </p:cNvSpPr>
              <p:nvPr/>
            </p:nvSpPr>
            <p:spPr bwMode="auto">
              <a:xfrm>
                <a:off x="3670" y="1553"/>
                <a:ext cx="1734" cy="479"/>
              </a:xfrm>
              <a:prstGeom prst="line">
                <a:avLst/>
              </a:prstGeom>
              <a:noFill/>
              <a:ln w="38100">
                <a:solidFill>
                  <a:srgbClr val="0000CC"/>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101" name="Line 45"/>
              <p:cNvSpPr>
                <a:spLocks noChangeShapeType="1"/>
              </p:cNvSpPr>
              <p:nvPr/>
            </p:nvSpPr>
            <p:spPr bwMode="auto">
              <a:xfrm>
                <a:off x="3678" y="1545"/>
                <a:ext cx="5" cy="1767"/>
              </a:xfrm>
              <a:prstGeom prst="line">
                <a:avLst/>
              </a:prstGeom>
              <a:noFill/>
              <a:ln w="28575">
                <a:solidFill>
                  <a:srgbClr val="CC00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02" name="Line 46"/>
              <p:cNvSpPr>
                <a:spLocks noChangeShapeType="1"/>
              </p:cNvSpPr>
              <p:nvPr/>
            </p:nvSpPr>
            <p:spPr bwMode="auto">
              <a:xfrm>
                <a:off x="3670" y="1541"/>
                <a:ext cx="745" cy="1556"/>
              </a:xfrm>
              <a:prstGeom prst="line">
                <a:avLst/>
              </a:prstGeom>
              <a:noFill/>
              <a:ln w="38100">
                <a:solidFill>
                  <a:srgbClr val="CC00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03" name="Freeform 47"/>
              <p:cNvSpPr/>
              <p:nvPr/>
            </p:nvSpPr>
            <p:spPr bwMode="auto">
              <a:xfrm>
                <a:off x="3673" y="1934"/>
                <a:ext cx="174" cy="37"/>
              </a:xfrm>
              <a:custGeom>
                <a:avLst/>
                <a:gdLst>
                  <a:gd name="T0" fmla="*/ 0 w 103"/>
                  <a:gd name="T1" fmla="*/ 80 h 24"/>
                  <a:gd name="T2" fmla="*/ 162 w 103"/>
                  <a:gd name="T3" fmla="*/ 88 h 24"/>
                  <a:gd name="T4" fmla="*/ 372 w 103"/>
                  <a:gd name="T5" fmla="*/ 62 h 24"/>
                  <a:gd name="T6" fmla="*/ 497 w 103"/>
                  <a:gd name="T7" fmla="*/ 0 h 24"/>
                  <a:gd name="T8" fmla="*/ 0 60000 65536"/>
                  <a:gd name="T9" fmla="*/ 0 60000 65536"/>
                  <a:gd name="T10" fmla="*/ 0 60000 65536"/>
                  <a:gd name="T11" fmla="*/ 0 60000 65536"/>
                  <a:gd name="T12" fmla="*/ 0 w 103"/>
                  <a:gd name="T13" fmla="*/ 0 h 24"/>
                  <a:gd name="T14" fmla="*/ 103 w 103"/>
                  <a:gd name="T15" fmla="*/ 24 h 24"/>
                </a:gdLst>
                <a:ahLst/>
                <a:cxnLst>
                  <a:cxn ang="T8">
                    <a:pos x="T0" y="T1"/>
                  </a:cxn>
                  <a:cxn ang="T9">
                    <a:pos x="T2" y="T3"/>
                  </a:cxn>
                  <a:cxn ang="T10">
                    <a:pos x="T4" y="T5"/>
                  </a:cxn>
                  <a:cxn ang="T11">
                    <a:pos x="T6" y="T7"/>
                  </a:cxn>
                </a:cxnLst>
                <a:rect l="T12" t="T13" r="T14" b="T15"/>
                <a:pathLst>
                  <a:path w="103" h="24">
                    <a:moveTo>
                      <a:pt x="0" y="22"/>
                    </a:moveTo>
                    <a:lnTo>
                      <a:pt x="34" y="24"/>
                    </a:lnTo>
                    <a:lnTo>
                      <a:pt x="77" y="17"/>
                    </a:lnTo>
                    <a:lnTo>
                      <a:pt x="103" y="0"/>
                    </a:lnTo>
                  </a:path>
                </a:pathLst>
              </a:custGeom>
              <a:noFill/>
              <a:ln w="38100">
                <a:solidFill>
                  <a:srgbClr val="CC0099"/>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5104" name="Text Box 48"/>
              <p:cNvSpPr txBox="1">
                <a:spLocks noChangeArrowheads="1"/>
              </p:cNvSpPr>
              <p:nvPr/>
            </p:nvSpPr>
            <p:spPr bwMode="auto">
              <a:xfrm>
                <a:off x="3357" y="1296"/>
                <a:ext cx="486"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chemeClr val="tx1"/>
                    </a:solidFill>
                    <a:latin typeface="Times New Roman" panose="02020603050405020304" pitchFamily="18" charset="0"/>
                  </a:rPr>
                  <a:t>O</a:t>
                </a:r>
                <a:endParaRPr kumimoji="1" lang="en-US" altLang="zh-CN" sz="2800" b="1">
                  <a:solidFill>
                    <a:schemeClr val="tx1"/>
                  </a:solidFill>
                  <a:latin typeface="Times New Roman" panose="02020603050405020304" pitchFamily="18" charset="0"/>
                </a:endParaRPr>
              </a:p>
            </p:txBody>
          </p:sp>
          <p:sp>
            <p:nvSpPr>
              <p:cNvPr id="45105" name="Text Box 49"/>
              <p:cNvSpPr txBox="1">
                <a:spLocks noChangeArrowheads="1"/>
              </p:cNvSpPr>
              <p:nvPr/>
            </p:nvSpPr>
            <p:spPr bwMode="auto">
              <a:xfrm>
                <a:off x="4331" y="1350"/>
                <a:ext cx="409"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0000CC"/>
                    </a:solidFill>
                    <a:latin typeface="Times New Roman" panose="02020603050405020304" pitchFamily="18" charset="0"/>
                  </a:rPr>
                  <a:t>R</a:t>
                </a:r>
                <a:endParaRPr kumimoji="1" lang="en-US" altLang="zh-CN" sz="2800" b="1">
                  <a:solidFill>
                    <a:srgbClr val="0000CC"/>
                  </a:solidFill>
                  <a:latin typeface="Times New Roman" panose="02020603050405020304" pitchFamily="18" charset="0"/>
                </a:endParaRPr>
              </a:p>
            </p:txBody>
          </p:sp>
          <p:sp>
            <p:nvSpPr>
              <p:cNvPr id="45106" name="Text Box 50"/>
              <p:cNvSpPr txBox="1">
                <a:spLocks noChangeArrowheads="1"/>
              </p:cNvSpPr>
              <p:nvPr/>
            </p:nvSpPr>
            <p:spPr bwMode="auto">
              <a:xfrm>
                <a:off x="5142" y="1577"/>
                <a:ext cx="570"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dirty="0" smtClean="0">
                    <a:solidFill>
                      <a:schemeClr val="tx1"/>
                    </a:solidFill>
                    <a:latin typeface="Times New Roman" panose="02020603050405020304" pitchFamily="18" charset="0"/>
                  </a:rPr>
                  <a:t>A</a:t>
                </a:r>
                <a:endParaRPr kumimoji="1" lang="en-US" altLang="zh-CN" sz="2800" b="1" dirty="0">
                  <a:solidFill>
                    <a:schemeClr val="tx1"/>
                  </a:solidFill>
                  <a:latin typeface="Times New Roman" panose="02020603050405020304" pitchFamily="18" charset="0"/>
                </a:endParaRPr>
              </a:p>
            </p:txBody>
          </p:sp>
        </p:grpSp>
        <p:sp>
          <p:nvSpPr>
            <p:cNvPr id="45071" name="Text Box 51"/>
            <p:cNvSpPr txBox="1">
              <a:spLocks noChangeArrowheads="1"/>
            </p:cNvSpPr>
            <p:nvPr/>
          </p:nvSpPr>
          <p:spPr bwMode="auto">
            <a:xfrm>
              <a:off x="3888" y="720"/>
              <a:ext cx="40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900" b="1" dirty="0">
                  <a:solidFill>
                    <a:srgbClr val="FF0000"/>
                  </a:solidFill>
                  <a:latin typeface="Times New Roman" panose="02020603050405020304" pitchFamily="18" charset="0"/>
                  <a:sym typeface="Symbol" panose="05050102010706020507" pitchFamily="18" charset="2"/>
                </a:rPr>
                <a:t> </a:t>
              </a:r>
              <a:r>
                <a:rPr kumimoji="1" lang="en-US" altLang="zh-CN" sz="2800" b="1" dirty="0" smtClean="0">
                  <a:solidFill>
                    <a:srgbClr val="FF0000"/>
                  </a:solidFill>
                  <a:latin typeface="Times New Roman" panose="02020603050405020304" pitchFamily="18" charset="0"/>
                  <a:sym typeface="Symbol" panose="05050102010706020507" pitchFamily="18" charset="2"/>
                </a:rPr>
                <a:t></a:t>
              </a:r>
              <a:r>
                <a:rPr kumimoji="1" lang="en-US" altLang="zh-CN" sz="2800" b="1" i="1" baseline="-25000" dirty="0" err="1" smtClean="0">
                  <a:solidFill>
                    <a:srgbClr val="FF0000"/>
                  </a:solidFill>
                  <a:latin typeface="Times New Roman" panose="02020603050405020304" pitchFamily="18" charset="0"/>
                  <a:sym typeface="Symbol" panose="05050102010706020507" pitchFamily="18" charset="2"/>
                </a:rPr>
                <a:t>i</a:t>
              </a:r>
              <a:endParaRPr kumimoji="1" lang="en-US" altLang="zh-CN" sz="2800" b="1" i="1" baseline="-25000" dirty="0">
                <a:solidFill>
                  <a:srgbClr val="FF0000"/>
                </a:solidFill>
                <a:latin typeface="Times New Roman" panose="02020603050405020304" pitchFamily="18" charset="0"/>
              </a:endParaRPr>
            </a:p>
          </p:txBody>
        </p:sp>
        <p:sp>
          <p:nvSpPr>
            <p:cNvPr id="45072" name="Line 52"/>
            <p:cNvSpPr>
              <a:spLocks noChangeShapeType="1"/>
            </p:cNvSpPr>
            <p:nvPr/>
          </p:nvSpPr>
          <p:spPr bwMode="auto">
            <a:xfrm flipV="1">
              <a:off x="4436" y="879"/>
              <a:ext cx="0" cy="313"/>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73" name="Line 53"/>
            <p:cNvSpPr>
              <a:spLocks noChangeShapeType="1"/>
            </p:cNvSpPr>
            <p:nvPr/>
          </p:nvSpPr>
          <p:spPr bwMode="auto">
            <a:xfrm flipV="1">
              <a:off x="4639" y="872"/>
              <a:ext cx="0" cy="183"/>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74" name="Line 54"/>
            <p:cNvSpPr>
              <a:spLocks noChangeShapeType="1"/>
            </p:cNvSpPr>
            <p:nvPr/>
          </p:nvSpPr>
          <p:spPr bwMode="auto">
            <a:xfrm>
              <a:off x="4429" y="956"/>
              <a:ext cx="210" cy="0"/>
            </a:xfrm>
            <a:prstGeom prst="line">
              <a:avLst/>
            </a:prstGeom>
            <a:noFill/>
            <a:ln w="28575">
              <a:solidFill>
                <a:srgbClr val="0000CC"/>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075" name="Text Box 55"/>
            <p:cNvSpPr txBox="1">
              <a:spLocks noChangeArrowheads="1"/>
            </p:cNvSpPr>
            <p:nvPr/>
          </p:nvSpPr>
          <p:spPr bwMode="auto">
            <a:xfrm>
              <a:off x="4442" y="667"/>
              <a:ext cx="24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0000FF"/>
                  </a:solidFill>
                  <a:latin typeface="Times New Roman" panose="02020603050405020304" pitchFamily="18" charset="0"/>
                </a:rPr>
                <a:t>b</a:t>
              </a:r>
              <a:endParaRPr kumimoji="1" lang="en-US" altLang="zh-CN" sz="2800" b="1">
                <a:solidFill>
                  <a:srgbClr val="0000FF"/>
                </a:solidFill>
                <a:latin typeface="Times New Roman" panose="02020603050405020304" pitchFamily="18" charset="0"/>
              </a:endParaRPr>
            </a:p>
          </p:txBody>
        </p:sp>
        <p:sp>
          <p:nvSpPr>
            <p:cNvPr id="45076" name="Text Box 56"/>
            <p:cNvSpPr txBox="1">
              <a:spLocks noChangeArrowheads="1"/>
            </p:cNvSpPr>
            <p:nvPr/>
          </p:nvSpPr>
          <p:spPr bwMode="auto">
            <a:xfrm>
              <a:off x="4752" y="624"/>
              <a:ext cx="2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chemeClr val="tx1"/>
                  </a:solidFill>
                  <a:latin typeface="Times New Roman" panose="02020603050405020304" pitchFamily="18" charset="0"/>
                </a:rPr>
                <a:t>B</a:t>
              </a:r>
              <a:endParaRPr kumimoji="1" lang="en-US" altLang="zh-CN" sz="2800" b="1">
                <a:solidFill>
                  <a:schemeClr val="tx1"/>
                </a:solidFill>
                <a:latin typeface="Times New Roman" panose="02020603050405020304" pitchFamily="18" charset="0"/>
              </a:endParaRPr>
            </a:p>
          </p:txBody>
        </p:sp>
        <p:grpSp>
          <p:nvGrpSpPr>
            <p:cNvPr id="45077" name="Group 57"/>
            <p:cNvGrpSpPr/>
            <p:nvPr/>
          </p:nvGrpSpPr>
          <p:grpSpPr bwMode="auto">
            <a:xfrm>
              <a:off x="3408" y="864"/>
              <a:ext cx="2064" cy="1085"/>
              <a:chOff x="3072" y="2016"/>
              <a:chExt cx="2400" cy="1272"/>
            </a:xfrm>
          </p:grpSpPr>
          <p:sp>
            <p:nvSpPr>
              <p:cNvPr id="45078" name="Text Box 58"/>
              <p:cNvSpPr txBox="1">
                <a:spLocks noChangeArrowheads="1"/>
              </p:cNvSpPr>
              <p:nvPr/>
            </p:nvSpPr>
            <p:spPr bwMode="auto">
              <a:xfrm>
                <a:off x="3072" y="2927"/>
                <a:ext cx="336"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600" b="1">
                    <a:solidFill>
                      <a:srgbClr val="FF6600"/>
                    </a:solidFill>
                    <a:latin typeface="Times New Roman" panose="02020603050405020304" pitchFamily="18" charset="0"/>
                  </a:rPr>
                  <a:t>-2</a:t>
                </a:r>
                <a:endParaRPr kumimoji="1" lang="en-US" altLang="zh-CN" sz="2600" b="1">
                  <a:solidFill>
                    <a:srgbClr val="FF6600"/>
                  </a:solidFill>
                  <a:latin typeface="Times New Roman" panose="02020603050405020304" pitchFamily="18" charset="0"/>
                </a:endParaRPr>
              </a:p>
            </p:txBody>
          </p:sp>
          <p:sp>
            <p:nvSpPr>
              <p:cNvPr id="45079" name="Text Box 59"/>
              <p:cNvSpPr txBox="1">
                <a:spLocks noChangeArrowheads="1"/>
              </p:cNvSpPr>
              <p:nvPr/>
            </p:nvSpPr>
            <p:spPr bwMode="auto">
              <a:xfrm>
                <a:off x="3305" y="2894"/>
                <a:ext cx="334"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FF6600"/>
                    </a:solidFill>
                    <a:latin typeface="Times New Roman" panose="02020603050405020304" pitchFamily="18" charset="0"/>
                  </a:rPr>
                  <a:t>-1</a:t>
                </a:r>
                <a:endParaRPr kumimoji="1" lang="en-US" altLang="zh-CN" sz="2400" b="1">
                  <a:solidFill>
                    <a:srgbClr val="FF6600"/>
                  </a:solidFill>
                  <a:latin typeface="Times New Roman" panose="02020603050405020304" pitchFamily="18" charset="0"/>
                </a:endParaRPr>
              </a:p>
            </p:txBody>
          </p:sp>
          <p:sp>
            <p:nvSpPr>
              <p:cNvPr id="45080" name="Text Box 60"/>
              <p:cNvSpPr txBox="1">
                <a:spLocks noChangeArrowheads="1"/>
              </p:cNvSpPr>
              <p:nvPr/>
            </p:nvSpPr>
            <p:spPr bwMode="auto">
              <a:xfrm>
                <a:off x="3505" y="2880"/>
                <a:ext cx="33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800" b="1">
                    <a:solidFill>
                      <a:srgbClr val="FF6600"/>
                    </a:solidFill>
                    <a:latin typeface="Times New Roman" panose="02020603050405020304" pitchFamily="18" charset="0"/>
                  </a:rPr>
                  <a:t>0</a:t>
                </a:r>
                <a:endParaRPr kumimoji="1" lang="en-US" altLang="zh-CN" sz="2800" b="1">
                  <a:solidFill>
                    <a:srgbClr val="FF6600"/>
                  </a:solidFill>
                  <a:latin typeface="Times New Roman" panose="02020603050405020304" pitchFamily="18" charset="0"/>
                </a:endParaRPr>
              </a:p>
            </p:txBody>
          </p:sp>
          <p:sp>
            <p:nvSpPr>
              <p:cNvPr id="45081" name="Text Box 61"/>
              <p:cNvSpPr txBox="1">
                <a:spLocks noChangeArrowheads="1"/>
              </p:cNvSpPr>
              <p:nvPr/>
            </p:nvSpPr>
            <p:spPr bwMode="auto">
              <a:xfrm>
                <a:off x="3792" y="2832"/>
                <a:ext cx="33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1</a:t>
                </a:r>
                <a:endParaRPr kumimoji="1" lang="en-US" altLang="zh-CN" sz="2800" b="1">
                  <a:solidFill>
                    <a:srgbClr val="FF6600"/>
                  </a:solidFill>
                  <a:latin typeface="Times New Roman" panose="02020603050405020304" pitchFamily="18" charset="0"/>
                </a:endParaRPr>
              </a:p>
            </p:txBody>
          </p:sp>
          <p:sp>
            <p:nvSpPr>
              <p:cNvPr id="45082" name="Text Box 62"/>
              <p:cNvSpPr txBox="1">
                <a:spLocks noChangeArrowheads="1"/>
              </p:cNvSpPr>
              <p:nvPr/>
            </p:nvSpPr>
            <p:spPr bwMode="auto">
              <a:xfrm>
                <a:off x="4032" y="2737"/>
                <a:ext cx="33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2</a:t>
                </a:r>
                <a:endParaRPr kumimoji="1" lang="en-US" altLang="zh-CN" sz="2800" b="1">
                  <a:solidFill>
                    <a:srgbClr val="FF6600"/>
                  </a:solidFill>
                  <a:latin typeface="Times New Roman" panose="02020603050405020304" pitchFamily="18" charset="0"/>
                </a:endParaRPr>
              </a:p>
            </p:txBody>
          </p:sp>
          <p:sp>
            <p:nvSpPr>
              <p:cNvPr id="45083" name="Text Box 63"/>
              <p:cNvSpPr txBox="1">
                <a:spLocks noChangeArrowheads="1"/>
              </p:cNvSpPr>
              <p:nvPr/>
            </p:nvSpPr>
            <p:spPr bwMode="auto">
              <a:xfrm>
                <a:off x="4272" y="2592"/>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3</a:t>
                </a:r>
                <a:endParaRPr kumimoji="1" lang="en-US" altLang="zh-CN" sz="2800" b="1">
                  <a:solidFill>
                    <a:srgbClr val="FF6600"/>
                  </a:solidFill>
                  <a:latin typeface="Times New Roman" panose="02020603050405020304" pitchFamily="18" charset="0"/>
                </a:endParaRPr>
              </a:p>
            </p:txBody>
          </p:sp>
          <p:sp>
            <p:nvSpPr>
              <p:cNvPr id="45084" name="Text Box 64"/>
              <p:cNvSpPr txBox="1">
                <a:spLocks noChangeArrowheads="1"/>
              </p:cNvSpPr>
              <p:nvPr/>
            </p:nvSpPr>
            <p:spPr bwMode="auto">
              <a:xfrm>
                <a:off x="4512" y="2448"/>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4</a:t>
                </a:r>
                <a:endParaRPr kumimoji="1" lang="en-US" altLang="zh-CN" sz="2800" b="1">
                  <a:solidFill>
                    <a:srgbClr val="FF6600"/>
                  </a:solidFill>
                  <a:latin typeface="Times New Roman" panose="02020603050405020304" pitchFamily="18" charset="0"/>
                </a:endParaRPr>
              </a:p>
            </p:txBody>
          </p:sp>
          <p:sp>
            <p:nvSpPr>
              <p:cNvPr id="45085" name="Text Box 65"/>
              <p:cNvSpPr txBox="1">
                <a:spLocks noChangeArrowheads="1"/>
              </p:cNvSpPr>
              <p:nvPr/>
            </p:nvSpPr>
            <p:spPr bwMode="auto">
              <a:xfrm>
                <a:off x="4752" y="2353"/>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5</a:t>
                </a:r>
                <a:endParaRPr kumimoji="1" lang="en-US" altLang="zh-CN" sz="2800" b="1">
                  <a:solidFill>
                    <a:srgbClr val="FF6600"/>
                  </a:solidFill>
                  <a:latin typeface="Times New Roman" panose="02020603050405020304" pitchFamily="18" charset="0"/>
                </a:endParaRPr>
              </a:p>
            </p:txBody>
          </p:sp>
          <p:sp>
            <p:nvSpPr>
              <p:cNvPr id="45086" name="Text Box 66"/>
              <p:cNvSpPr txBox="1">
                <a:spLocks noChangeArrowheads="1"/>
              </p:cNvSpPr>
              <p:nvPr/>
            </p:nvSpPr>
            <p:spPr bwMode="auto">
              <a:xfrm>
                <a:off x="4944" y="2160"/>
                <a:ext cx="33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6</a:t>
                </a:r>
                <a:endParaRPr kumimoji="1" lang="en-US" altLang="zh-CN" sz="2800" b="1">
                  <a:solidFill>
                    <a:srgbClr val="FF6600"/>
                  </a:solidFill>
                  <a:latin typeface="Times New Roman" panose="02020603050405020304" pitchFamily="18" charset="0"/>
                </a:endParaRPr>
              </a:p>
            </p:txBody>
          </p:sp>
          <p:sp>
            <p:nvSpPr>
              <p:cNvPr id="45087" name="Text Box 67"/>
              <p:cNvSpPr txBox="1">
                <a:spLocks noChangeArrowheads="1"/>
              </p:cNvSpPr>
              <p:nvPr/>
            </p:nvSpPr>
            <p:spPr bwMode="auto">
              <a:xfrm>
                <a:off x="5136" y="2016"/>
                <a:ext cx="33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7</a:t>
                </a:r>
                <a:endParaRPr kumimoji="1" lang="en-US" altLang="zh-CN" sz="2800" b="1">
                  <a:solidFill>
                    <a:srgbClr val="FF6600"/>
                  </a:solidFill>
                  <a:latin typeface="Times New Roman" panose="02020603050405020304" pitchFamily="18" charset="0"/>
                </a:endParaRPr>
              </a:p>
            </p:txBody>
          </p:sp>
        </p:grpSp>
      </p:grpSp>
      <p:sp>
        <p:nvSpPr>
          <p:cNvPr id="767048" name="Text Box 72"/>
          <p:cNvSpPr txBox="1">
            <a:spLocks noChangeArrowheads="1"/>
          </p:cNvSpPr>
          <p:nvPr/>
        </p:nvSpPr>
        <p:spPr bwMode="auto">
          <a:xfrm>
            <a:off x="304800" y="990600"/>
            <a:ext cx="3810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3200" b="1">
                <a:solidFill>
                  <a:srgbClr val="990033"/>
                </a:solidFill>
                <a:ea typeface="隶书" panose="02010509060101010101" pitchFamily="49" charset="-122"/>
              </a:rPr>
              <a:t>整体力矩平衡：</a:t>
            </a:r>
            <a:endParaRPr lang="zh-CN" altLang="en-US" sz="3200" b="1">
              <a:solidFill>
                <a:srgbClr val="0000FF"/>
              </a:solidFill>
              <a:ea typeface="隶书" panose="02010509060101010101" pitchFamily="49" charset="-122"/>
            </a:endParaRPr>
          </a:p>
        </p:txBody>
      </p:sp>
      <p:sp>
        <p:nvSpPr>
          <p:cNvPr id="767054" name="AutoShape 78"/>
          <p:cNvSpPr>
            <a:spLocks noChangeArrowheads="1"/>
          </p:cNvSpPr>
          <p:nvPr/>
        </p:nvSpPr>
        <p:spPr bwMode="auto">
          <a:xfrm>
            <a:off x="3962400" y="1066800"/>
            <a:ext cx="1558924" cy="783193"/>
          </a:xfrm>
          <a:prstGeom prst="wedgeRoundRectCallout">
            <a:avLst>
              <a:gd name="adj1" fmla="val -93920"/>
              <a:gd name="adj2" fmla="val 52340"/>
              <a:gd name="adj3" fmla="val 16667"/>
            </a:avLst>
          </a:prstGeom>
          <a:noFill/>
          <a:ln w="19050" algn="ctr">
            <a:solidFill>
              <a:srgbClr val="FF00FF"/>
            </a:solidFill>
            <a:miter lim="800000"/>
          </a:ln>
          <a:extLst>
            <a:ext uri="{909E8E84-426E-40DD-AFC4-6F175D3DCCD1}">
              <a14:hiddenFill xmlns:a14="http://schemas.microsoft.com/office/drawing/2010/main">
                <a:solidFill>
                  <a:srgbClr val="FFFFFF"/>
                </a:solidFill>
              </a14:hiddenFill>
            </a:ext>
          </a:extLst>
        </p:spPr>
        <p:txBody>
          <a:bodyPr wrap="square" lIns="0" r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000" b="1" i="1" dirty="0">
                <a:solidFill>
                  <a:srgbClr val="0000FF"/>
                </a:solidFill>
                <a:latin typeface="Times New Roman" panose="02020603050405020304" pitchFamily="18" charset="0"/>
                <a:sym typeface="Symbol" panose="05050102010706020507" pitchFamily="18" charset="2"/>
              </a:rPr>
              <a:t>N</a:t>
            </a:r>
            <a:r>
              <a:rPr kumimoji="1" lang="en-US" altLang="zh-CN" sz="2000" b="1" i="1" baseline="-25000" dirty="0">
                <a:solidFill>
                  <a:srgbClr val="0000FF"/>
                </a:solidFill>
                <a:latin typeface="Times New Roman" panose="02020603050405020304" pitchFamily="18" charset="0"/>
                <a:sym typeface="Symbol" panose="05050102010706020507" pitchFamily="18" charset="2"/>
              </a:rPr>
              <a:t>i</a:t>
            </a:r>
            <a:r>
              <a:rPr kumimoji="1" lang="en-US" altLang="zh-CN" sz="2000" b="1" i="1" dirty="0">
                <a:solidFill>
                  <a:srgbClr val="0000FF"/>
                </a:solidFill>
                <a:latin typeface="Times New Roman" panose="02020603050405020304" pitchFamily="18" charset="0"/>
                <a:sym typeface="Symbol" panose="05050102010706020507" pitchFamily="18" charset="2"/>
              </a:rPr>
              <a:t> </a:t>
            </a:r>
            <a:r>
              <a:rPr kumimoji="1" lang="zh-CN" altLang="en-US" sz="2000" b="1" dirty="0">
                <a:solidFill>
                  <a:srgbClr val="0000FF"/>
                </a:solidFill>
                <a:latin typeface="Times New Roman" panose="02020603050405020304" pitchFamily="18" charset="0"/>
                <a:sym typeface="Symbol" panose="05050102010706020507" pitchFamily="18" charset="2"/>
              </a:rPr>
              <a:t>过圆心；</a:t>
            </a:r>
            <a:endParaRPr kumimoji="1" lang="zh-CN" altLang="en-US" sz="2000" b="1" dirty="0">
              <a:solidFill>
                <a:srgbClr val="0000FF"/>
              </a:solidFill>
              <a:latin typeface="Times New Roman" panose="02020603050405020304" pitchFamily="18" charset="0"/>
              <a:sym typeface="Symbol" panose="05050102010706020507" pitchFamily="18" charset="2"/>
            </a:endParaRPr>
          </a:p>
          <a:p>
            <a:pPr algn="l" eaLnBrk="1" hangingPunct="1">
              <a:spcBef>
                <a:spcPct val="0"/>
              </a:spcBef>
            </a:pPr>
            <a:r>
              <a:rPr kumimoji="1" lang="en-US" altLang="zh-CN" sz="2000" b="1" i="1" dirty="0" err="1" smtClean="0">
                <a:solidFill>
                  <a:srgbClr val="0000FF"/>
                </a:solidFill>
                <a:latin typeface="Times New Roman" panose="02020603050405020304" pitchFamily="18" charset="0"/>
                <a:sym typeface="Symbol" panose="05050102010706020507" pitchFamily="18" charset="2"/>
              </a:rPr>
              <a:t>E</a:t>
            </a:r>
            <a:r>
              <a:rPr kumimoji="1" lang="en-US" altLang="zh-CN" sz="2000" b="1" i="1" baseline="-25000" dirty="0" err="1" smtClean="0">
                <a:solidFill>
                  <a:srgbClr val="0000FF"/>
                </a:solidFill>
                <a:latin typeface="Times New Roman" panose="02020603050405020304" pitchFamily="18" charset="0"/>
                <a:sym typeface="Symbol" panose="05050102010706020507" pitchFamily="18" charset="2"/>
              </a:rPr>
              <a:t>i</a:t>
            </a:r>
            <a:r>
              <a:rPr kumimoji="1" lang="en-US" altLang="zh-CN" sz="2000" b="1" i="1" baseline="-25000" dirty="0" smtClean="0">
                <a:solidFill>
                  <a:srgbClr val="0000FF"/>
                </a:solidFill>
                <a:latin typeface="Times New Roman" panose="02020603050405020304" pitchFamily="18" charset="0"/>
                <a:sym typeface="Symbol" panose="05050102010706020507" pitchFamily="18" charset="2"/>
              </a:rPr>
              <a:t> </a:t>
            </a:r>
            <a:r>
              <a:rPr kumimoji="1" lang="zh-CN" altLang="en-US" sz="2000" b="1" dirty="0">
                <a:solidFill>
                  <a:srgbClr val="0000FF"/>
                </a:solidFill>
                <a:latin typeface="Times New Roman" panose="02020603050405020304" pitchFamily="18" charset="0"/>
                <a:sym typeface="Symbol" panose="05050102010706020507" pitchFamily="18" charset="2"/>
              </a:rPr>
              <a:t>互相抵消</a:t>
            </a:r>
            <a:endParaRPr kumimoji="1" lang="zh-CN" altLang="en-US" sz="2000" b="1" dirty="0">
              <a:solidFill>
                <a:srgbClr val="0000FF"/>
              </a:solidFill>
              <a:latin typeface="Times New Roman" panose="02020603050405020304" pitchFamily="18" charset="0"/>
              <a:sym typeface="Symbol" panose="05050102010706020507" pitchFamily="18" charset="2"/>
            </a:endParaRPr>
          </a:p>
        </p:txBody>
      </p:sp>
      <p:sp>
        <p:nvSpPr>
          <p:cNvPr id="767055" name="AutoShape 79"/>
          <p:cNvSpPr>
            <a:spLocks noChangeArrowheads="1"/>
          </p:cNvSpPr>
          <p:nvPr/>
        </p:nvSpPr>
        <p:spPr bwMode="auto">
          <a:xfrm rot="5400000" flipV="1">
            <a:off x="1828800" y="2743200"/>
            <a:ext cx="457200" cy="304800"/>
          </a:xfrm>
          <a:prstGeom prst="rightArrow">
            <a:avLst>
              <a:gd name="adj1" fmla="val 50000"/>
              <a:gd name="adj2" fmla="val 37500"/>
            </a:avLst>
          </a:prstGeom>
          <a:solidFill>
            <a:schemeClr val="folHlink"/>
          </a:solidFill>
          <a:ln w="9525">
            <a:solidFill>
              <a:srgbClr val="CC3300"/>
            </a:solidFill>
            <a:miter lim="800000"/>
          </a:ln>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767057" name="AutoShape 81"/>
          <p:cNvSpPr>
            <a:spLocks noChangeArrowheads="1"/>
          </p:cNvSpPr>
          <p:nvPr/>
        </p:nvSpPr>
        <p:spPr bwMode="auto">
          <a:xfrm>
            <a:off x="3276600" y="2527300"/>
            <a:ext cx="1752600" cy="578882"/>
          </a:xfrm>
          <a:prstGeom prst="wedgeRoundRectCallout">
            <a:avLst>
              <a:gd name="adj1" fmla="val -79347"/>
              <a:gd name="adj2" fmla="val 165644"/>
              <a:gd name="adj3" fmla="val 16667"/>
            </a:avLst>
          </a:prstGeom>
          <a:noFill/>
          <a:ln w="19050" algn="ctr">
            <a:solidFill>
              <a:srgbClr val="FF00FF"/>
            </a:solidFill>
            <a:miter lim="800000"/>
          </a:ln>
          <a:extLst>
            <a:ext uri="{909E8E84-426E-40DD-AFC4-6F175D3DCCD1}">
              <a14:hiddenFill xmlns:a14="http://schemas.microsoft.com/office/drawing/2010/main">
                <a:solidFill>
                  <a:srgbClr val="FFFFFF"/>
                </a:solidFill>
              </a14:hiddenFill>
            </a:ext>
          </a:extLst>
        </p:spPr>
        <p:txBody>
          <a:bodyPr lIns="0" r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800" b="1" i="1" dirty="0" err="1" smtClean="0">
                <a:solidFill>
                  <a:srgbClr val="0000FF"/>
                </a:solidFill>
                <a:latin typeface="Times New Roman" panose="02020603050405020304" pitchFamily="18" charset="0"/>
                <a:sym typeface="Symbol" panose="05050102010706020507" pitchFamily="18" charset="2"/>
              </a:rPr>
              <a:t>l</a:t>
            </a:r>
            <a:r>
              <a:rPr kumimoji="1" lang="en-US" altLang="zh-CN" sz="2800" b="1" i="1" baseline="-25000" dirty="0" err="1" smtClean="0">
                <a:solidFill>
                  <a:srgbClr val="0000FF"/>
                </a:solidFill>
                <a:latin typeface="Times New Roman" panose="02020603050405020304" pitchFamily="18" charset="0"/>
                <a:sym typeface="Symbol" panose="05050102010706020507" pitchFamily="18" charset="2"/>
              </a:rPr>
              <a:t>i</a:t>
            </a:r>
            <a:r>
              <a:rPr kumimoji="1" lang="en-US" altLang="zh-CN" sz="2800" b="1" dirty="0" err="1" smtClean="0">
                <a:solidFill>
                  <a:srgbClr val="0000FF"/>
                </a:solidFill>
                <a:latin typeface="Times New Roman" panose="02020603050405020304" pitchFamily="18" charset="0"/>
                <a:sym typeface="Symbol" panose="05050102010706020507" pitchFamily="18" charset="2"/>
              </a:rPr>
              <a:t>cos</a:t>
            </a:r>
            <a:r>
              <a:rPr kumimoji="1" lang="en-US" altLang="zh-CN" sz="2800" b="1" i="1" dirty="0" err="1" smtClean="0">
                <a:solidFill>
                  <a:srgbClr val="0000FF"/>
                </a:solidFill>
                <a:latin typeface="Times New Roman" panose="02020603050405020304" pitchFamily="18" charset="0"/>
                <a:sym typeface="Symbol" panose="05050102010706020507" pitchFamily="18" charset="2"/>
              </a:rPr>
              <a:t></a:t>
            </a:r>
            <a:r>
              <a:rPr kumimoji="1" lang="en-US" altLang="zh-CN" sz="2800" b="1" i="1" baseline="-25000" dirty="0" err="1" smtClean="0">
                <a:solidFill>
                  <a:srgbClr val="0000FF"/>
                </a:solidFill>
                <a:latin typeface="Times New Roman" panose="02020603050405020304" pitchFamily="18" charset="0"/>
                <a:sym typeface="Symbol" panose="05050102010706020507" pitchFamily="18" charset="2"/>
              </a:rPr>
              <a:t>i</a:t>
            </a:r>
            <a:r>
              <a:rPr kumimoji="1" lang="en-US" altLang="zh-CN" sz="2800" b="1" i="1" baseline="-25000" dirty="0" smtClean="0">
                <a:solidFill>
                  <a:srgbClr val="0000FF"/>
                </a:solidFill>
                <a:latin typeface="Times New Roman" panose="02020603050405020304" pitchFamily="18" charset="0"/>
                <a:sym typeface="Symbol" panose="05050102010706020507" pitchFamily="18" charset="2"/>
              </a:rPr>
              <a:t> </a:t>
            </a:r>
            <a:r>
              <a:rPr kumimoji="1" lang="en-US" altLang="zh-CN" sz="2800" b="1" i="1" dirty="0">
                <a:solidFill>
                  <a:srgbClr val="0000FF"/>
                </a:solidFill>
                <a:latin typeface="Times New Roman" panose="02020603050405020304" pitchFamily="18" charset="0"/>
                <a:sym typeface="Symbol" panose="05050102010706020507" pitchFamily="18" charset="2"/>
              </a:rPr>
              <a:t>= b</a:t>
            </a:r>
            <a:r>
              <a:rPr kumimoji="1" lang="en-US" altLang="zh-CN" sz="2800" b="1" i="1" baseline="-25000" dirty="0">
                <a:solidFill>
                  <a:srgbClr val="0000FF"/>
                </a:solidFill>
                <a:latin typeface="Times New Roman" panose="02020603050405020304" pitchFamily="18" charset="0"/>
                <a:sym typeface="Symbol" panose="05050102010706020507" pitchFamily="18" charset="2"/>
              </a:rPr>
              <a:t>i</a:t>
            </a:r>
            <a:endParaRPr kumimoji="1" lang="en-US" altLang="zh-CN" sz="2800" b="1" i="1" baseline="-25000" dirty="0">
              <a:solidFill>
                <a:srgbClr val="0000FF"/>
              </a:solidFill>
              <a:latin typeface="Times New Roman" panose="02020603050405020304" pitchFamily="18" charset="0"/>
              <a:sym typeface="Symbol" panose="05050102010706020507" pitchFamily="18" charset="2"/>
            </a:endParaRPr>
          </a:p>
        </p:txBody>
      </p:sp>
      <p:sp>
        <p:nvSpPr>
          <p:cNvPr id="767058" name="AutoShape 82"/>
          <p:cNvSpPr>
            <a:spLocks noChangeArrowheads="1"/>
          </p:cNvSpPr>
          <p:nvPr/>
        </p:nvSpPr>
        <p:spPr bwMode="auto">
          <a:xfrm>
            <a:off x="4674704" y="3737035"/>
            <a:ext cx="1219200" cy="619125"/>
          </a:xfrm>
          <a:prstGeom prst="leftArrowCallout">
            <a:avLst>
              <a:gd name="adj1" fmla="val 30583"/>
              <a:gd name="adj2" fmla="val 15292"/>
              <a:gd name="adj3" fmla="val 57846"/>
              <a:gd name="adj4" fmla="val 67681"/>
            </a:avLst>
          </a:prstGeom>
          <a:solidFill>
            <a:schemeClr val="accent1"/>
          </a:solidFill>
          <a:ln w="9525" algn="ctr">
            <a:solidFill>
              <a:srgbClr val="009600"/>
            </a:solidFill>
            <a:miter lim="800000"/>
          </a:ln>
        </p:spPr>
        <p:txBody>
          <a:bodyPr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kumimoji="1" lang="zh-CN" altLang="en-US" sz="2000" b="1" dirty="0">
                <a:solidFill>
                  <a:srgbClr val="CC0000"/>
                </a:solidFill>
                <a:latin typeface="Times New Roman" panose="02020603050405020304" pitchFamily="18" charset="0"/>
                <a:ea typeface="方正姚体" panose="02010601030101010101" pitchFamily="2" charset="-122"/>
              </a:rPr>
              <a:t>隐式</a:t>
            </a:r>
            <a:endParaRPr kumimoji="1" lang="zh-CN" altLang="en-US" sz="2000" b="1" dirty="0">
              <a:solidFill>
                <a:srgbClr val="CC0000"/>
              </a:solidFill>
              <a:latin typeface="Times New Roman" panose="02020603050405020304" pitchFamily="18" charset="0"/>
              <a:ea typeface="方正姚体" panose="02010601030101010101" pitchFamily="2" charset="-122"/>
            </a:endParaRPr>
          </a:p>
          <a:p>
            <a:pPr algn="ctr" eaLnBrk="1" hangingPunct="1">
              <a:spcBef>
                <a:spcPct val="0"/>
              </a:spcBef>
            </a:pPr>
            <a:r>
              <a:rPr kumimoji="1" lang="zh-CN" altLang="en-US" sz="2000" b="1" dirty="0">
                <a:solidFill>
                  <a:srgbClr val="CC0000"/>
                </a:solidFill>
                <a:latin typeface="Times New Roman" panose="02020603050405020304" pitchFamily="18" charset="0"/>
                <a:ea typeface="方正姚体" panose="02010601030101010101" pitchFamily="2" charset="-122"/>
              </a:rPr>
              <a:t>表达</a:t>
            </a:r>
            <a:endParaRPr kumimoji="1" lang="zh-CN" altLang="en-US" sz="2000" b="1" i="1" dirty="0">
              <a:solidFill>
                <a:schemeClr val="hlink"/>
              </a:solidFill>
              <a:latin typeface="Times New Roman" panose="02020603050405020304" pitchFamily="18" charset="0"/>
              <a:ea typeface="方正姚体" panose="02010601030101010101" pitchFamily="2" charset="-122"/>
            </a:endParaRPr>
          </a:p>
        </p:txBody>
      </p:sp>
      <mc:AlternateContent xmlns:mc="http://schemas.openxmlformats.org/markup-compatibility/2006">
        <mc:Choice xmlns:a14="http://schemas.microsoft.com/office/drawing/2010/main" Requires="a14">
          <p:sp>
            <p:nvSpPr>
              <p:cNvPr id="3" name="文本框 2"/>
              <p:cNvSpPr txBox="1"/>
              <p:nvPr/>
            </p:nvSpPr>
            <p:spPr>
              <a:xfrm>
                <a:off x="533916" y="1770063"/>
                <a:ext cx="2708049" cy="369332"/>
              </a:xfrm>
              <a:prstGeom prst="rect">
                <a:avLst/>
              </a:prstGeom>
              <a:noFill/>
            </p:spPr>
            <p:txBody>
              <a:bodyPr wrap="none" lIns="0" tIns="0" rIns="0" bIns="0" rtlCol="0">
                <a:spAutoFit/>
              </a:bodyPr>
              <a:lstStyle/>
              <a:p>
                <a:r>
                  <a:rPr lang="en-US" altLang="zh-CN" sz="2400" dirty="0" smtClean="0">
                    <a:latin typeface="Times New Roman" panose="02020603050405020304" pitchFamily="18" charset="0"/>
                    <a:cs typeface="Times New Roman" panose="02020603050405020304" pitchFamily="18" charset="0"/>
                  </a:rPr>
                  <a:t>R</a:t>
                </a:r>
                <a14:m>
                  <m:oMath xmlns:m="http://schemas.openxmlformats.org/officeDocument/2006/math">
                    <m:nary>
                      <m:naryPr>
                        <m:chr m:val="∑"/>
                        <m:subHide m:val="on"/>
                        <m:supHide m:val="on"/>
                        <m:ctrlPr>
                          <a:rPr lang="en-US" altLang="zh-CN" sz="2400" i="1" smtClean="0">
                            <a:latin typeface="Cambria Math" panose="02040503050406030204" pitchFamily="18" charset="0"/>
                          </a:rPr>
                        </m:ctrlPr>
                      </m:naryPr>
                      <m:sub/>
                      <m:sup/>
                      <m:e>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𝐺</m:t>
                            </m:r>
                          </m:e>
                          <m:sub>
                            <m:r>
                              <a:rPr lang="en-US" altLang="zh-CN" sz="2400" b="0" i="1" smtClean="0">
                                <a:latin typeface="Cambria Math" panose="02040503050406030204" pitchFamily="18" charset="0"/>
                              </a:rPr>
                              <m:t>𝑖</m:t>
                            </m:r>
                          </m:sub>
                        </m:sSub>
                        <m:func>
                          <m:funcPr>
                            <m:ctrlPr>
                              <a:rPr lang="en-US" altLang="zh-CN" sz="2400" i="1" smtClean="0">
                                <a:latin typeface="Cambria Math" panose="02040503050406030204" pitchFamily="18" charset="0"/>
                              </a:rPr>
                            </m:ctrlPr>
                          </m:funcPr>
                          <m:fName>
                            <m:r>
                              <m:rPr>
                                <m:sty m:val="p"/>
                              </m:rPr>
                              <a:rPr lang="en-US" altLang="zh-CN" sz="2400" i="0" smtClean="0">
                                <a:latin typeface="Cambria Math" panose="02040503050406030204" pitchFamily="18" charset="0"/>
                              </a:rPr>
                              <m:t>sin</m:t>
                            </m:r>
                          </m:fName>
                          <m:e>
                            <m:sSub>
                              <m:sSubPr>
                                <m:ctrlPr>
                                  <a:rPr lang="en-US" altLang="zh-CN" sz="2400" i="1" smtClean="0">
                                    <a:latin typeface="Cambria Math" panose="02040503050406030204" pitchFamily="18" charset="0"/>
                                  </a:rPr>
                                </m:ctrlPr>
                              </m:sSubPr>
                              <m:e>
                                <m:r>
                                  <a:rPr lang="zh-CN" altLang="en-US" sz="2400" i="1" smtClean="0">
                                    <a:latin typeface="Cambria Math" panose="02040503050406030204" pitchFamily="18" charset="0"/>
                                  </a:rPr>
                                  <m:t>𝛼</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𝑅</m:t>
                            </m:r>
                            <m:nary>
                              <m:naryPr>
                                <m:chr m:val="∑"/>
                                <m:subHide m:val="on"/>
                                <m:supHide m:val="on"/>
                                <m:ctrlPr>
                                  <a:rPr lang="en-US" altLang="zh-CN" sz="2400" b="0" i="1" smtClean="0">
                                    <a:latin typeface="Cambria Math" panose="02040503050406030204" pitchFamily="18" charset="0"/>
                                  </a:rPr>
                                </m:ctrlPr>
                              </m:naryPr>
                              <m:sub/>
                              <m:sup/>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𝑖</m:t>
                                    </m:r>
                                  </m:sub>
                                </m:sSub>
                              </m:e>
                            </m:nary>
                          </m:e>
                        </m:func>
                      </m:e>
                    </m:nary>
                  </m:oMath>
                </a14:m>
                <a:endParaRPr lang="zh-CN" altLang="en-US" sz="2400" dirty="0"/>
              </a:p>
            </p:txBody>
          </p:sp>
        </mc:Choice>
        <mc:Fallback>
          <p:sp>
            <p:nvSpPr>
              <p:cNvPr id="3" name="文本框 2"/>
              <p:cNvSpPr txBox="1">
                <a:spLocks noRot="1" noChangeAspect="1" noMove="1" noResize="1" noEditPoints="1" noAdjustHandles="1" noChangeArrowheads="1" noChangeShapeType="1" noTextEdit="1"/>
              </p:cNvSpPr>
              <p:nvPr/>
            </p:nvSpPr>
            <p:spPr>
              <a:xfrm>
                <a:off x="533916" y="1770063"/>
                <a:ext cx="2708049" cy="369332"/>
              </a:xfrm>
              <a:prstGeom prst="rect">
                <a:avLst/>
              </a:prstGeom>
              <a:blipFill rotWithShape="1">
                <a:blip r:embed="rId1"/>
                <a:stretch>
                  <a:fillRect l="-19" t="-86" r="-4093" b="2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0" name="文本框 79"/>
              <p:cNvSpPr txBox="1"/>
              <p:nvPr/>
            </p:nvSpPr>
            <p:spPr>
              <a:xfrm>
                <a:off x="427571" y="5524165"/>
                <a:ext cx="3677353" cy="686470"/>
              </a:xfrm>
              <a:prstGeom prst="rect">
                <a:avLst/>
              </a:prstGeom>
              <a:solidFill>
                <a:srgbClr val="FFFF00"/>
              </a:solid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𝑚</m:t>
                          </m:r>
                        </m:e>
                        <m:sub>
                          <m:r>
                            <a:rPr lang="zh-CN" altLang="en-US" sz="2400" i="1" smtClean="0">
                              <a:latin typeface="Cambria Math" panose="02040503050406030204" pitchFamily="18" charset="0"/>
                            </a:rPr>
                            <m:t>𝛼</m:t>
                          </m:r>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cos</m:t>
                          </m:r>
                        </m:fName>
                        <m:e>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𝛼</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sin</m:t>
                                  </m:r>
                                </m:fName>
                                <m:e>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𝛼</m:t>
                                      </m:r>
                                    </m:e>
                                    <m:sub>
                                      <m:r>
                                        <a:rPr lang="en-US" altLang="zh-CN" sz="2400" b="0" i="1" smtClean="0">
                                          <a:latin typeface="Cambria Math" panose="02040503050406030204" pitchFamily="18" charset="0"/>
                                        </a:rPr>
                                        <m:t>𝑖</m:t>
                                      </m:r>
                                    </m:sub>
                                  </m:sSub>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tan</m:t>
                                      </m:r>
                                    </m:fName>
                                    <m:e>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𝜑</m:t>
                                          </m:r>
                                        </m:e>
                                        <m:sub>
                                          <m:r>
                                            <a:rPr lang="en-US" altLang="zh-CN" sz="2400" b="0" i="1" smtClean="0">
                                              <a:latin typeface="Cambria Math" panose="02040503050406030204" pitchFamily="18" charset="0"/>
                                            </a:rPr>
                                            <m:t>𝑖</m:t>
                                          </m:r>
                                        </m:sub>
                                      </m:sSub>
                                    </m:e>
                                  </m:func>
                                </m:e>
                              </m:func>
                            </m:num>
                            <m:den>
                              <m:r>
                                <a:rPr lang="en-US" altLang="zh-CN" sz="2400" b="0" i="1" smtClean="0">
                                  <a:latin typeface="Cambria Math" panose="02040503050406030204" pitchFamily="18" charset="0"/>
                                </a:rPr>
                                <m:t>𝐾</m:t>
                              </m:r>
                            </m:den>
                          </m:f>
                        </m:e>
                      </m:func>
                    </m:oMath>
                  </m:oMathPara>
                </a14:m>
                <a:endParaRPr lang="zh-CN" altLang="en-US" sz="2400" dirty="0">
                  <a:latin typeface="Times New Roman" panose="02020603050405020304" pitchFamily="18" charset="0"/>
                  <a:cs typeface="Times New Roman" panose="02020603050405020304" pitchFamily="18" charset="0"/>
                </a:endParaRPr>
              </a:p>
            </p:txBody>
          </p:sp>
        </mc:Choice>
        <mc:Fallback>
          <p:sp>
            <p:nvSpPr>
              <p:cNvPr id="80" name="文本框 79"/>
              <p:cNvSpPr txBox="1">
                <a:spLocks noRot="1" noChangeAspect="1" noMove="1" noResize="1" noEditPoints="1" noAdjustHandles="1" noChangeArrowheads="1" noChangeShapeType="1" noTextEdit="1"/>
              </p:cNvSpPr>
              <p:nvPr/>
            </p:nvSpPr>
            <p:spPr>
              <a:xfrm>
                <a:off x="427571" y="5524165"/>
                <a:ext cx="3677353" cy="686470"/>
              </a:xfrm>
              <a:prstGeom prst="rect">
                <a:avLst/>
              </a:prstGeom>
              <a:blipFill rotWithShape="1">
                <a:blip r:embed="rId2"/>
                <a:stretch>
                  <a:fillRect l="-6" t="-44" r="8" b="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155711" y="3832376"/>
                <a:ext cx="4518993" cy="1060290"/>
              </a:xfrm>
              <a:prstGeom prst="rect">
                <a:avLst/>
              </a:prstGeom>
              <a:solidFill>
                <a:srgbClr val="FFFF00"/>
              </a:solid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𝐾</m:t>
                      </m:r>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nary>
                            <m:naryPr>
                              <m:chr m:val="∑"/>
                              <m:subHide m:val="on"/>
                              <m:supHide m:val="on"/>
                              <m:ctrlPr>
                                <a:rPr lang="en-US" altLang="zh-CN" sz="2400" b="0" i="1" smtClean="0">
                                  <a:latin typeface="Cambria Math" panose="02040503050406030204" pitchFamily="18" charset="0"/>
                                </a:rPr>
                              </m:ctrlPr>
                            </m:naryPr>
                            <m:sub/>
                            <m:sup/>
                            <m:e>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1</m:t>
                                  </m:r>
                                </m:num>
                                <m:den>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𝑚</m:t>
                                      </m:r>
                                    </m:e>
                                    <m:sub>
                                      <m:r>
                                        <a:rPr lang="zh-CN" altLang="en-US" sz="2400" b="0" i="1" smtClean="0">
                                          <a:latin typeface="Cambria Math" panose="02040503050406030204" pitchFamily="18" charset="0"/>
                                        </a:rPr>
                                        <m:t>𝛼</m:t>
                                      </m:r>
                                      <m:r>
                                        <a:rPr lang="en-US" altLang="zh-CN" sz="2400" b="0" i="1" smtClean="0">
                                          <a:latin typeface="Cambria Math" panose="02040503050406030204" pitchFamily="18" charset="0"/>
                                        </a:rPr>
                                        <m:t>𝑖</m:t>
                                      </m:r>
                                    </m:sub>
                                  </m:sSub>
                                </m:den>
                              </m:f>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𝑖</m:t>
                                  </m:r>
                                </m:sub>
                              </m:sSub>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𝑙</m:t>
                                  </m:r>
                                </m:e>
                                <m:sub>
                                  <m:r>
                                    <a:rPr lang="en-US" altLang="zh-CN" sz="2400" b="0" i="1" smtClean="0">
                                      <a:latin typeface="Cambria Math" panose="02040503050406030204" pitchFamily="18" charset="0"/>
                                    </a:rPr>
                                    <m:t>𝑖</m:t>
                                  </m:r>
                                </m:sub>
                              </m:sSub>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cos</m:t>
                                  </m:r>
                                </m:fName>
                                <m:e>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𝛼</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𝐺</m:t>
                                      </m:r>
                                    </m:e>
                                    <m:sub>
                                      <m:r>
                                        <a:rPr lang="en-US" altLang="zh-CN" sz="2400" b="0" i="1" smtClean="0">
                                          <a:latin typeface="Cambria Math" panose="02040503050406030204" pitchFamily="18" charset="0"/>
                                        </a:rPr>
                                        <m:t>𝑖</m:t>
                                      </m:r>
                                    </m:sub>
                                  </m:sSub>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tan</m:t>
                                      </m:r>
                                    </m:fName>
                                    <m:e>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𝜑</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e>
                                  </m:func>
                                </m:e>
                              </m:func>
                            </m:e>
                          </m:nary>
                        </m:num>
                        <m:den>
                          <m:nary>
                            <m:naryPr>
                              <m:chr m:val="∑"/>
                              <m:subHide m:val="on"/>
                              <m:supHide m:val="on"/>
                              <m:ctrlPr>
                                <a:rPr lang="en-US" altLang="zh-CN" sz="2400" b="0" i="1" smtClean="0">
                                  <a:latin typeface="Cambria Math" panose="02040503050406030204" pitchFamily="18" charset="0"/>
                                </a:rPr>
                              </m:ctrlPr>
                            </m:naryPr>
                            <m:sub/>
                            <m:sup/>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𝐺</m:t>
                                  </m:r>
                                </m:e>
                                <m:sub>
                                  <m:r>
                                    <a:rPr lang="en-US" altLang="zh-CN" sz="2400" b="0" i="1" smtClean="0">
                                      <a:latin typeface="Cambria Math" panose="02040503050406030204" pitchFamily="18" charset="0"/>
                                    </a:rPr>
                                    <m:t>𝑖</m:t>
                                  </m:r>
                                </m:sub>
                              </m:sSub>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sin</m:t>
                                  </m:r>
                                </m:fName>
                                <m:e>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𝛼</m:t>
                                      </m:r>
                                    </m:e>
                                    <m:sub>
                                      <m:r>
                                        <a:rPr lang="en-US" altLang="zh-CN" sz="2400" b="0" i="1" smtClean="0">
                                          <a:latin typeface="Cambria Math" panose="02040503050406030204" pitchFamily="18" charset="0"/>
                                        </a:rPr>
                                        <m:t>𝑖</m:t>
                                      </m:r>
                                    </m:sub>
                                  </m:sSub>
                                </m:e>
                              </m:func>
                            </m:e>
                          </m:nary>
                        </m:den>
                      </m:f>
                    </m:oMath>
                  </m:oMathPara>
                </a14:m>
                <a:endParaRPr lang="zh-CN" altLang="en-US" sz="2400" dirty="0">
                  <a:latin typeface="Times New Roman" panose="02020603050405020304" pitchFamily="18" charset="0"/>
                  <a:cs typeface="Times New Roman" panose="02020603050405020304" pitchFamily="18"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155711" y="3832376"/>
                <a:ext cx="4518993" cy="1060290"/>
              </a:xfrm>
              <a:prstGeom prst="rect">
                <a:avLst/>
              </a:prstGeom>
              <a:blipFill rotWithShape="1">
                <a:blip r:embed="rId3"/>
                <a:stretch>
                  <a:fillRect l="-3" t="-14" r="10" b="-7966"/>
                </a:stretch>
              </a:blipFill>
            </p:spPr>
            <p:txBody>
              <a:bodyPr/>
              <a:lstStyle/>
              <a:p>
                <a:r>
                  <a:rPr lang="zh-CN" altLang="en-US">
                    <a:noFill/>
                  </a:rPr>
                  <a:t> </a:t>
                </a:r>
              </a:p>
            </p:txBody>
          </p:sp>
        </mc:Fallback>
      </mc:AlternateContent>
      <p:sp>
        <p:nvSpPr>
          <p:cNvPr id="82" name="Rectangle 6"/>
          <p:cNvSpPr>
            <a:spLocks noChangeArrowheads="1"/>
          </p:cNvSpPr>
          <p:nvPr/>
        </p:nvSpPr>
        <p:spPr bwMode="auto">
          <a:xfrm>
            <a:off x="0" y="-7396"/>
            <a:ext cx="41148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黏性土坡的稳定性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67048"/>
                                        </p:tgtEl>
                                        <p:attrNameLst>
                                          <p:attrName>style.visibility</p:attrName>
                                        </p:attrNameLst>
                                      </p:cBhvr>
                                      <p:to>
                                        <p:strVal val="visible"/>
                                      </p:to>
                                    </p:set>
                                    <p:animEffect transition="in" filter="dissolve">
                                      <p:cBhvr>
                                        <p:cTn id="7" dur="500"/>
                                        <p:tgtEl>
                                          <p:spTgt spid="767048"/>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7670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767055"/>
                                        </p:tgtEl>
                                        <p:attrNameLst>
                                          <p:attrName>style.visibility</p:attrName>
                                        </p:attrNameLst>
                                      </p:cBhvr>
                                      <p:to>
                                        <p:strVal val="visible"/>
                                      </p:to>
                                    </p:set>
                                    <p:animEffect transition="in" filter="wipe(up)">
                                      <p:cBhvr>
                                        <p:cTn id="15" dur="500"/>
                                        <p:tgtEl>
                                          <p:spTgt spid="767055"/>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76705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767058"/>
                                        </p:tgtEl>
                                        <p:attrNameLst>
                                          <p:attrName>style.visibility</p:attrName>
                                        </p:attrNameLst>
                                      </p:cBhvr>
                                      <p:to>
                                        <p:strVal val="visible"/>
                                      </p:to>
                                    </p:set>
                                    <p:anim calcmode="lin" valueType="num">
                                      <p:cBhvr additive="base">
                                        <p:cTn id="24" dur="500" fill="hold"/>
                                        <p:tgtEl>
                                          <p:spTgt spid="767058"/>
                                        </p:tgtEl>
                                        <p:attrNameLst>
                                          <p:attrName>ppt_x</p:attrName>
                                        </p:attrNameLst>
                                      </p:cBhvr>
                                      <p:tavLst>
                                        <p:tav tm="0">
                                          <p:val>
                                            <p:strVal val="1+#ppt_w/2"/>
                                          </p:val>
                                        </p:tav>
                                        <p:tav tm="100000">
                                          <p:val>
                                            <p:strVal val="#ppt_x"/>
                                          </p:val>
                                        </p:tav>
                                      </p:tavLst>
                                    </p:anim>
                                    <p:anim calcmode="lin" valueType="num">
                                      <p:cBhvr additive="base">
                                        <p:cTn id="25" dur="500" fill="hold"/>
                                        <p:tgtEl>
                                          <p:spTgt spid="76705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7048" grpId="0" autoUpdateAnimBg="0"/>
      <p:bldP spid="767054" grpId="0" bldLvl="0" animBg="1" autoUpdateAnimBg="0"/>
      <p:bldP spid="767055" grpId="0" bldLvl="0" animBg="1"/>
      <p:bldP spid="767057" grpId="0" bldLvl="0" animBg="1" autoUpdateAnimBg="0"/>
      <p:bldP spid="767058" grpId="0" bldLvl="0" animBg="1" autoUpdateAnimBg="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107"/>
          <p:cNvSpPr>
            <a:spLocks noChangeArrowheads="1"/>
          </p:cNvSpPr>
          <p:nvPr/>
        </p:nvSpPr>
        <p:spPr bwMode="auto">
          <a:xfrm>
            <a:off x="2811140" y="465853"/>
            <a:ext cx="2339975" cy="4318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lang="zh-CN" altLang="en-US" sz="2000" b="1" dirty="0">
                <a:solidFill>
                  <a:schemeClr val="tx2"/>
                </a:solidFill>
              </a:rPr>
              <a:t>圆心 </a:t>
            </a:r>
            <a:r>
              <a:rPr lang="en-US" altLang="zh-CN" sz="2000" b="1" dirty="0">
                <a:solidFill>
                  <a:schemeClr val="tx2"/>
                </a:solidFill>
              </a:rPr>
              <a:t>O</a:t>
            </a:r>
            <a:r>
              <a:rPr lang="zh-CN" altLang="en-US" sz="2000" b="1" dirty="0">
                <a:solidFill>
                  <a:schemeClr val="tx2"/>
                </a:solidFill>
              </a:rPr>
              <a:t>，半径 </a:t>
            </a:r>
            <a:r>
              <a:rPr lang="en-US" altLang="zh-CN" sz="2000" b="1" dirty="0">
                <a:solidFill>
                  <a:schemeClr val="tx2"/>
                </a:solidFill>
              </a:rPr>
              <a:t>R</a:t>
            </a:r>
            <a:endParaRPr lang="en-US" altLang="zh-CN" sz="2000" b="1" dirty="0">
              <a:solidFill>
                <a:schemeClr val="tx1"/>
              </a:solidFill>
            </a:endParaRPr>
          </a:p>
        </p:txBody>
      </p:sp>
      <p:sp>
        <p:nvSpPr>
          <p:cNvPr id="46084" name="Rectangle 108"/>
          <p:cNvSpPr>
            <a:spLocks noChangeArrowheads="1"/>
          </p:cNvSpPr>
          <p:nvPr/>
        </p:nvSpPr>
        <p:spPr bwMode="auto">
          <a:xfrm>
            <a:off x="2875341" y="1282765"/>
            <a:ext cx="2339975" cy="4318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lang="zh-CN" altLang="en-US" sz="2000" b="1" dirty="0">
                <a:solidFill>
                  <a:schemeClr val="tx2"/>
                </a:solidFill>
              </a:rPr>
              <a:t>设 </a:t>
            </a:r>
            <a:r>
              <a:rPr lang="en-US" altLang="zh-CN" sz="2000" b="1" dirty="0" smtClean="0">
                <a:solidFill>
                  <a:schemeClr val="tx2"/>
                </a:solidFill>
              </a:rPr>
              <a:t>K</a:t>
            </a:r>
            <a:r>
              <a:rPr lang="en-US" altLang="zh-CN" sz="2400" b="1" dirty="0" smtClean="0">
                <a:solidFill>
                  <a:srgbClr val="0000FF"/>
                </a:solidFill>
                <a:latin typeface="Times New Roman" panose="02020603050405020304" pitchFamily="18" charset="0"/>
              </a:rPr>
              <a:t>=1.0</a:t>
            </a:r>
            <a:endParaRPr lang="en-US" altLang="zh-CN" sz="2400" b="1" dirty="0">
              <a:solidFill>
                <a:srgbClr val="0000FF"/>
              </a:solidFill>
              <a:latin typeface="Times New Roman" panose="02020603050405020304" pitchFamily="18" charset="0"/>
            </a:endParaRPr>
          </a:p>
        </p:txBody>
      </p:sp>
      <p:sp>
        <p:nvSpPr>
          <p:cNvPr id="46085" name="Rectangle 109"/>
          <p:cNvSpPr>
            <a:spLocks noChangeArrowheads="1"/>
          </p:cNvSpPr>
          <p:nvPr/>
        </p:nvSpPr>
        <p:spPr bwMode="auto">
          <a:xfrm>
            <a:off x="3288978" y="2060848"/>
            <a:ext cx="1371600" cy="4318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lang="zh-CN" altLang="en-US" sz="2000" b="1" dirty="0">
                <a:solidFill>
                  <a:schemeClr val="tx2"/>
                </a:solidFill>
              </a:rPr>
              <a:t>计算 </a:t>
            </a:r>
            <a:r>
              <a:rPr lang="en-US" altLang="zh-CN" sz="2000" b="1" i="1" dirty="0" err="1" smtClean="0">
                <a:solidFill>
                  <a:srgbClr val="0000FF"/>
                </a:solidFill>
              </a:rPr>
              <a:t>m</a:t>
            </a:r>
            <a:r>
              <a:rPr lang="en-US" altLang="zh-CN" sz="2000" b="1" i="1" baseline="-25000" dirty="0" err="1" smtClean="0">
                <a:solidFill>
                  <a:srgbClr val="0000FF"/>
                </a:solidFill>
                <a:latin typeface="Symbol" panose="05050102010706020507" pitchFamily="18" charset="2"/>
                <a:sym typeface="Symbol" panose="05050102010706020507" pitchFamily="18" charset="2"/>
              </a:rPr>
              <a:t></a:t>
            </a:r>
            <a:r>
              <a:rPr lang="en-US" altLang="zh-CN" sz="2000" b="1" i="1" baseline="-25000" dirty="0" err="1" smtClean="0">
                <a:solidFill>
                  <a:srgbClr val="0000FF"/>
                </a:solidFill>
              </a:rPr>
              <a:t>i</a:t>
            </a:r>
            <a:endParaRPr lang="en-US" altLang="zh-CN" sz="2000" b="1" i="1" dirty="0">
              <a:solidFill>
                <a:srgbClr val="0000FF"/>
              </a:solidFill>
            </a:endParaRPr>
          </a:p>
        </p:txBody>
      </p:sp>
      <p:sp>
        <p:nvSpPr>
          <p:cNvPr id="46086" name="Rectangle 110"/>
          <p:cNvSpPr>
            <a:spLocks noChangeArrowheads="1"/>
          </p:cNvSpPr>
          <p:nvPr/>
        </p:nvSpPr>
        <p:spPr bwMode="auto">
          <a:xfrm>
            <a:off x="2761928" y="4603576"/>
            <a:ext cx="2590800" cy="4318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lang="zh-CN" altLang="en-US" sz="2000" b="1">
                <a:solidFill>
                  <a:schemeClr val="tx2"/>
                </a:solidFill>
              </a:rPr>
              <a:t>变化圆心 </a:t>
            </a:r>
            <a:r>
              <a:rPr lang="en-US" altLang="zh-CN" sz="2000" b="1">
                <a:solidFill>
                  <a:schemeClr val="tx2"/>
                </a:solidFill>
              </a:rPr>
              <a:t>O </a:t>
            </a:r>
            <a:r>
              <a:rPr lang="zh-CN" altLang="en-US" sz="2000" b="1">
                <a:solidFill>
                  <a:schemeClr val="tx2"/>
                </a:solidFill>
              </a:rPr>
              <a:t>和半径 </a:t>
            </a:r>
            <a:r>
              <a:rPr lang="en-US" altLang="zh-CN" sz="2000" b="1">
                <a:solidFill>
                  <a:schemeClr val="tx2"/>
                </a:solidFill>
              </a:rPr>
              <a:t>R</a:t>
            </a:r>
            <a:r>
              <a:rPr lang="en-US" altLang="zh-CN" sz="2000">
                <a:solidFill>
                  <a:schemeClr val="tx2"/>
                </a:solidFill>
              </a:rPr>
              <a:t> </a:t>
            </a:r>
            <a:endParaRPr lang="en-US" altLang="zh-CN" sz="2000">
              <a:solidFill>
                <a:schemeClr val="tx2"/>
              </a:solidFill>
            </a:endParaRPr>
          </a:p>
        </p:txBody>
      </p:sp>
      <p:sp>
        <p:nvSpPr>
          <p:cNvPr id="46087" name="Rectangle 111"/>
          <p:cNvSpPr>
            <a:spLocks noChangeArrowheads="1"/>
          </p:cNvSpPr>
          <p:nvPr/>
        </p:nvSpPr>
        <p:spPr bwMode="auto">
          <a:xfrm>
            <a:off x="3288978" y="5507557"/>
            <a:ext cx="1447800" cy="4318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lang="en-US" altLang="zh-CN" sz="2400" b="1" i="1" dirty="0" smtClean="0">
                <a:solidFill>
                  <a:srgbClr val="0000FF"/>
                </a:solidFill>
                <a:latin typeface="Times New Roman" panose="02020603050405020304" pitchFamily="18" charset="0"/>
              </a:rPr>
              <a:t>K</a:t>
            </a:r>
            <a:r>
              <a:rPr lang="en-US" altLang="zh-CN" sz="2000" b="1" dirty="0" smtClean="0">
                <a:solidFill>
                  <a:schemeClr val="tx2"/>
                </a:solidFill>
              </a:rPr>
              <a:t> </a:t>
            </a:r>
            <a:r>
              <a:rPr lang="zh-CN" altLang="en-US" sz="2000" b="1" dirty="0">
                <a:solidFill>
                  <a:schemeClr val="tx2"/>
                </a:solidFill>
              </a:rPr>
              <a:t>最小</a:t>
            </a:r>
            <a:endParaRPr lang="zh-CN" altLang="en-US" sz="2000" b="1" dirty="0">
              <a:solidFill>
                <a:schemeClr val="tx2"/>
              </a:solidFill>
            </a:endParaRPr>
          </a:p>
        </p:txBody>
      </p:sp>
      <p:sp>
        <p:nvSpPr>
          <p:cNvPr id="46088" name="Rectangle 112"/>
          <p:cNvSpPr>
            <a:spLocks noChangeArrowheads="1"/>
          </p:cNvSpPr>
          <p:nvPr/>
        </p:nvSpPr>
        <p:spPr bwMode="auto">
          <a:xfrm>
            <a:off x="3295328" y="6381576"/>
            <a:ext cx="1447800" cy="4318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lang="en-US" altLang="zh-CN" sz="2000">
                <a:solidFill>
                  <a:schemeClr val="tx2"/>
                </a:solidFill>
              </a:rPr>
              <a:t>END</a:t>
            </a:r>
            <a:endParaRPr lang="en-US" altLang="zh-CN" sz="2000">
              <a:solidFill>
                <a:schemeClr val="tx2"/>
              </a:solidFill>
            </a:endParaRPr>
          </a:p>
        </p:txBody>
      </p:sp>
      <p:sp>
        <p:nvSpPr>
          <p:cNvPr id="46089" name="AutoShape 113"/>
          <p:cNvSpPr>
            <a:spLocks noChangeArrowheads="1"/>
          </p:cNvSpPr>
          <p:nvPr/>
        </p:nvSpPr>
        <p:spPr bwMode="auto">
          <a:xfrm>
            <a:off x="3833491" y="900852"/>
            <a:ext cx="107950" cy="360363"/>
          </a:xfrm>
          <a:prstGeom prst="downArrow">
            <a:avLst>
              <a:gd name="adj1" fmla="val 50000"/>
              <a:gd name="adj2" fmla="val 83456"/>
            </a:avLst>
          </a:prstGeom>
          <a:solidFill>
            <a:srgbClr val="FF66FF"/>
          </a:solidFill>
          <a:ln w="9525">
            <a:solidFill>
              <a:schemeClr val="tx1"/>
            </a:solidFill>
            <a:miter lim="800000"/>
          </a:ln>
        </p:spPr>
        <p:txBody>
          <a:bodyPr vert="eaVert"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46090" name="AutoShape 115"/>
          <p:cNvSpPr>
            <a:spLocks noChangeArrowheads="1"/>
          </p:cNvSpPr>
          <p:nvPr/>
        </p:nvSpPr>
        <p:spPr bwMode="auto">
          <a:xfrm>
            <a:off x="3851920" y="2525539"/>
            <a:ext cx="99219" cy="373302"/>
          </a:xfrm>
          <a:prstGeom prst="downArrow">
            <a:avLst>
              <a:gd name="adj1" fmla="val 50000"/>
              <a:gd name="adj2" fmla="val 100000"/>
            </a:avLst>
          </a:prstGeom>
          <a:solidFill>
            <a:srgbClr val="FF66FF"/>
          </a:solidFill>
          <a:ln w="9525">
            <a:solidFill>
              <a:schemeClr val="tx1"/>
            </a:solidFill>
            <a:miter lim="800000"/>
          </a:ln>
        </p:spPr>
        <p:txBody>
          <a:bodyPr vert="eaVert"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46091" name="AutoShape 116"/>
          <p:cNvSpPr>
            <a:spLocks noChangeArrowheads="1"/>
          </p:cNvSpPr>
          <p:nvPr/>
        </p:nvSpPr>
        <p:spPr bwMode="auto">
          <a:xfrm>
            <a:off x="3887466" y="3416682"/>
            <a:ext cx="107950" cy="359807"/>
          </a:xfrm>
          <a:prstGeom prst="downArrow">
            <a:avLst>
              <a:gd name="adj1" fmla="val 50000"/>
              <a:gd name="adj2" fmla="val 108456"/>
            </a:avLst>
          </a:prstGeom>
          <a:solidFill>
            <a:srgbClr val="FF66FF"/>
          </a:solidFill>
          <a:ln w="9525">
            <a:solidFill>
              <a:schemeClr val="tx1"/>
            </a:solidFill>
            <a:miter lim="800000"/>
          </a:ln>
        </p:spPr>
        <p:txBody>
          <a:bodyPr vert="eaVert"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46092" name="AutoShape 117"/>
          <p:cNvSpPr>
            <a:spLocks noChangeArrowheads="1"/>
          </p:cNvSpPr>
          <p:nvPr/>
        </p:nvSpPr>
        <p:spPr bwMode="auto">
          <a:xfrm>
            <a:off x="3887466" y="4243214"/>
            <a:ext cx="107950" cy="360362"/>
          </a:xfrm>
          <a:prstGeom prst="downArrow">
            <a:avLst>
              <a:gd name="adj1" fmla="val 50000"/>
              <a:gd name="adj2" fmla="val 83456"/>
            </a:avLst>
          </a:prstGeom>
          <a:solidFill>
            <a:srgbClr val="FF66FF"/>
          </a:solidFill>
          <a:ln w="9525">
            <a:solidFill>
              <a:schemeClr val="tx1"/>
            </a:solidFill>
            <a:miter lim="800000"/>
          </a:ln>
        </p:spPr>
        <p:txBody>
          <a:bodyPr vert="eaVert"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46093" name="AutoShape 118"/>
          <p:cNvSpPr>
            <a:spLocks noChangeArrowheads="1"/>
          </p:cNvSpPr>
          <p:nvPr/>
        </p:nvSpPr>
        <p:spPr bwMode="auto">
          <a:xfrm>
            <a:off x="3904928" y="5122688"/>
            <a:ext cx="90488" cy="319087"/>
          </a:xfrm>
          <a:prstGeom prst="downArrow">
            <a:avLst>
              <a:gd name="adj1" fmla="val 50000"/>
              <a:gd name="adj2" fmla="val 100000"/>
            </a:avLst>
          </a:prstGeom>
          <a:solidFill>
            <a:srgbClr val="FF66FF"/>
          </a:solidFill>
          <a:ln w="9525">
            <a:solidFill>
              <a:schemeClr val="tx1"/>
            </a:solidFill>
            <a:miter lim="800000"/>
          </a:ln>
        </p:spPr>
        <p:txBody>
          <a:bodyPr vert="eaVert"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46094" name="AutoShape 119"/>
          <p:cNvSpPr>
            <a:spLocks noChangeArrowheads="1"/>
          </p:cNvSpPr>
          <p:nvPr/>
        </p:nvSpPr>
        <p:spPr bwMode="auto">
          <a:xfrm>
            <a:off x="3887466" y="5986289"/>
            <a:ext cx="107950" cy="369886"/>
          </a:xfrm>
          <a:prstGeom prst="downArrow">
            <a:avLst>
              <a:gd name="adj1" fmla="val 50000"/>
              <a:gd name="adj2" fmla="val 105882"/>
            </a:avLst>
          </a:prstGeom>
          <a:solidFill>
            <a:srgbClr val="FF66FF"/>
          </a:solidFill>
          <a:ln w="9525">
            <a:solidFill>
              <a:schemeClr val="tx1"/>
            </a:solidFill>
            <a:miter lim="800000"/>
          </a:ln>
        </p:spPr>
        <p:txBody>
          <a:bodyPr vert="eaVert"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46109" name="Rectangle 121"/>
          <p:cNvSpPr>
            <a:spLocks noChangeArrowheads="1"/>
          </p:cNvSpPr>
          <p:nvPr/>
        </p:nvSpPr>
        <p:spPr bwMode="auto">
          <a:xfrm>
            <a:off x="3295328" y="2935909"/>
            <a:ext cx="1371600" cy="4318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en-US" altLang="zh-CN" sz="2000" b="1" dirty="0">
                <a:solidFill>
                  <a:schemeClr val="tx2"/>
                </a:solidFill>
              </a:rPr>
              <a:t>  </a:t>
            </a:r>
            <a:r>
              <a:rPr lang="zh-CN" altLang="en-US" sz="2000" b="1" dirty="0" smtClean="0">
                <a:solidFill>
                  <a:schemeClr val="tx2"/>
                </a:solidFill>
              </a:rPr>
              <a:t>计算 </a:t>
            </a:r>
            <a:r>
              <a:rPr lang="en-US" altLang="zh-CN" sz="2000" b="1" dirty="0" smtClean="0">
                <a:solidFill>
                  <a:schemeClr val="tx2"/>
                </a:solidFill>
              </a:rPr>
              <a:t>K’</a:t>
            </a:r>
            <a:endParaRPr lang="zh-CN" altLang="en-US" sz="2000" b="1" dirty="0">
              <a:solidFill>
                <a:schemeClr val="tx2"/>
              </a:solidFill>
            </a:endParaRPr>
          </a:p>
        </p:txBody>
      </p:sp>
      <p:sp>
        <p:nvSpPr>
          <p:cNvPr id="46098" name="Line 129"/>
          <p:cNvSpPr>
            <a:spLocks noChangeShapeType="1"/>
          </p:cNvSpPr>
          <p:nvPr/>
        </p:nvSpPr>
        <p:spPr bwMode="auto">
          <a:xfrm flipH="1">
            <a:off x="1695128" y="4781376"/>
            <a:ext cx="1066800" cy="0"/>
          </a:xfrm>
          <a:prstGeom prst="line">
            <a:avLst/>
          </a:prstGeom>
          <a:noFill/>
          <a:ln w="44450">
            <a:solidFill>
              <a:schemeClr val="folHlink"/>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099" name="Line 130"/>
          <p:cNvSpPr>
            <a:spLocks noChangeShapeType="1"/>
          </p:cNvSpPr>
          <p:nvPr/>
        </p:nvSpPr>
        <p:spPr bwMode="auto">
          <a:xfrm flipV="1">
            <a:off x="1677666" y="3384376"/>
            <a:ext cx="0" cy="609600"/>
          </a:xfrm>
          <a:prstGeom prst="line">
            <a:avLst/>
          </a:prstGeom>
          <a:noFill/>
          <a:ln w="50800">
            <a:solidFill>
              <a:schemeClr val="folHlink"/>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100" name="Line 131"/>
          <p:cNvSpPr>
            <a:spLocks noChangeShapeType="1"/>
          </p:cNvSpPr>
          <p:nvPr/>
        </p:nvSpPr>
        <p:spPr bwMode="auto">
          <a:xfrm>
            <a:off x="1677666" y="1351926"/>
            <a:ext cx="1143000" cy="0"/>
          </a:xfrm>
          <a:prstGeom prst="line">
            <a:avLst/>
          </a:prstGeom>
          <a:noFill/>
          <a:ln w="44450">
            <a:solidFill>
              <a:schemeClr val="folHlink"/>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101" name="Text Box 133"/>
          <p:cNvSpPr txBox="1">
            <a:spLocks noChangeArrowheads="1"/>
          </p:cNvSpPr>
          <p:nvPr/>
        </p:nvSpPr>
        <p:spPr bwMode="auto">
          <a:xfrm>
            <a:off x="1999928" y="3485976"/>
            <a:ext cx="774700" cy="457200"/>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a:solidFill>
                  <a:schemeClr val="tx1"/>
                </a:solidFill>
                <a:latin typeface="Times New Roman" panose="02020603050405020304" pitchFamily="18" charset="0"/>
              </a:rPr>
              <a:t>No</a:t>
            </a:r>
            <a:endParaRPr kumimoji="1" lang="en-US" altLang="zh-CN" sz="2400">
              <a:solidFill>
                <a:schemeClr val="tx1"/>
              </a:solidFill>
              <a:latin typeface="Times New Roman" panose="02020603050405020304" pitchFamily="18" charset="0"/>
            </a:endParaRPr>
          </a:p>
        </p:txBody>
      </p:sp>
      <p:sp>
        <p:nvSpPr>
          <p:cNvPr id="46102" name="Line 134"/>
          <p:cNvSpPr>
            <a:spLocks noChangeShapeType="1"/>
          </p:cNvSpPr>
          <p:nvPr/>
        </p:nvSpPr>
        <p:spPr bwMode="auto">
          <a:xfrm flipH="1">
            <a:off x="1677666" y="3993976"/>
            <a:ext cx="1143000" cy="0"/>
          </a:xfrm>
          <a:prstGeom prst="line">
            <a:avLst/>
          </a:prstGeom>
          <a:noFill/>
          <a:ln w="44450">
            <a:solidFill>
              <a:schemeClr val="folHlink"/>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103" name="Line 135"/>
          <p:cNvSpPr>
            <a:spLocks noChangeShapeType="1"/>
          </p:cNvSpPr>
          <p:nvPr/>
        </p:nvSpPr>
        <p:spPr bwMode="auto">
          <a:xfrm flipV="1">
            <a:off x="1677666" y="1326976"/>
            <a:ext cx="0" cy="1600200"/>
          </a:xfrm>
          <a:prstGeom prst="line">
            <a:avLst/>
          </a:prstGeom>
          <a:noFill/>
          <a:ln w="50800">
            <a:solidFill>
              <a:schemeClr val="folHlink"/>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104" name="Line 136"/>
          <p:cNvSpPr>
            <a:spLocks noChangeShapeType="1"/>
          </p:cNvSpPr>
          <p:nvPr/>
        </p:nvSpPr>
        <p:spPr bwMode="auto">
          <a:xfrm flipV="1">
            <a:off x="1677666" y="3993976"/>
            <a:ext cx="0" cy="838200"/>
          </a:xfrm>
          <a:prstGeom prst="line">
            <a:avLst/>
          </a:prstGeom>
          <a:noFill/>
          <a:ln w="50800">
            <a:solidFill>
              <a:schemeClr val="folHlink"/>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105" name="Rectangle 138"/>
          <p:cNvSpPr>
            <a:spLocks noChangeArrowheads="1"/>
          </p:cNvSpPr>
          <p:nvPr/>
        </p:nvSpPr>
        <p:spPr bwMode="auto">
          <a:xfrm>
            <a:off x="323528" y="2038176"/>
            <a:ext cx="8382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just" eaLnBrk="1" hangingPunct="1"/>
            <a:r>
              <a:rPr lang="zh-CN" altLang="en-US" sz="3200" b="1">
                <a:solidFill>
                  <a:srgbClr val="993300"/>
                </a:solidFill>
                <a:ea typeface="隶书" panose="02010509060101010101" pitchFamily="49" charset="-122"/>
              </a:rPr>
              <a:t>计</a:t>
            </a:r>
            <a:endParaRPr lang="zh-CN" altLang="en-US" sz="3200" b="1">
              <a:solidFill>
                <a:srgbClr val="993300"/>
              </a:solidFill>
              <a:ea typeface="隶书" panose="02010509060101010101" pitchFamily="49" charset="-122"/>
            </a:endParaRPr>
          </a:p>
          <a:p>
            <a:pPr algn="just" eaLnBrk="1" hangingPunct="1"/>
            <a:r>
              <a:rPr lang="zh-CN" altLang="en-US" sz="3200" b="1">
                <a:solidFill>
                  <a:srgbClr val="993300"/>
                </a:solidFill>
                <a:ea typeface="隶书" panose="02010509060101010101" pitchFamily="49" charset="-122"/>
              </a:rPr>
              <a:t>算</a:t>
            </a:r>
            <a:endParaRPr lang="zh-CN" altLang="en-US" sz="3200" b="1">
              <a:solidFill>
                <a:srgbClr val="993300"/>
              </a:solidFill>
              <a:ea typeface="隶书" panose="02010509060101010101" pitchFamily="49" charset="-122"/>
            </a:endParaRPr>
          </a:p>
          <a:p>
            <a:pPr algn="just" eaLnBrk="1" hangingPunct="1"/>
            <a:r>
              <a:rPr lang="zh-CN" altLang="en-US" sz="3200" b="1">
                <a:solidFill>
                  <a:srgbClr val="993300"/>
                </a:solidFill>
                <a:ea typeface="隶书" panose="02010509060101010101" pitchFamily="49" charset="-122"/>
              </a:rPr>
              <a:t>步</a:t>
            </a:r>
            <a:endParaRPr lang="zh-CN" altLang="en-US" sz="3200" b="1">
              <a:solidFill>
                <a:srgbClr val="993300"/>
              </a:solidFill>
              <a:ea typeface="隶书" panose="02010509060101010101" pitchFamily="49" charset="-122"/>
            </a:endParaRPr>
          </a:p>
          <a:p>
            <a:pPr algn="just" eaLnBrk="1" hangingPunct="1"/>
            <a:r>
              <a:rPr lang="zh-CN" altLang="en-US" sz="3200" b="1">
                <a:solidFill>
                  <a:srgbClr val="993300"/>
                </a:solidFill>
                <a:ea typeface="隶书" panose="02010509060101010101" pitchFamily="49" charset="-122"/>
              </a:rPr>
              <a:t>骤</a:t>
            </a:r>
            <a:endParaRPr lang="zh-CN" altLang="en-US" sz="3200" b="1">
              <a:solidFill>
                <a:srgbClr val="993300"/>
              </a:solidFill>
              <a:ea typeface="隶书" panose="02010509060101010101" pitchFamily="49" charset="-122"/>
            </a:endParaRPr>
          </a:p>
          <a:p>
            <a:pPr algn="just" eaLnBrk="1" hangingPunct="1"/>
            <a:endParaRPr lang="en-US" altLang="zh-CN" sz="3200" b="1">
              <a:solidFill>
                <a:srgbClr val="993300"/>
              </a:solidFill>
              <a:ea typeface="隶书" panose="02010509060101010101" pitchFamily="49" charset="-122"/>
            </a:endParaRPr>
          </a:p>
        </p:txBody>
      </p:sp>
      <p:sp>
        <p:nvSpPr>
          <p:cNvPr id="46106" name="AutoShape 142"/>
          <p:cNvSpPr>
            <a:spLocks noChangeArrowheads="1"/>
          </p:cNvSpPr>
          <p:nvPr/>
        </p:nvSpPr>
        <p:spPr bwMode="auto">
          <a:xfrm>
            <a:off x="3851920" y="1763538"/>
            <a:ext cx="98252" cy="297310"/>
          </a:xfrm>
          <a:prstGeom prst="downArrow">
            <a:avLst>
              <a:gd name="adj1" fmla="val 50000"/>
              <a:gd name="adj2" fmla="val 62500"/>
            </a:avLst>
          </a:prstGeom>
          <a:solidFill>
            <a:srgbClr val="FF66FF"/>
          </a:solidFill>
          <a:ln w="9525">
            <a:solidFill>
              <a:schemeClr val="tx1"/>
            </a:solidFill>
            <a:miter lim="800000"/>
          </a:ln>
        </p:spPr>
        <p:txBody>
          <a:bodyPr vert="eaVert"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mc:AlternateContent xmlns:mc="http://schemas.openxmlformats.org/markup-compatibility/2006">
        <mc:Choice xmlns:a14="http://schemas.microsoft.com/office/drawing/2010/main" Requires="a14">
          <p:sp>
            <p:nvSpPr>
              <p:cNvPr id="2" name="文本框 1"/>
              <p:cNvSpPr txBox="1"/>
              <p:nvPr/>
            </p:nvSpPr>
            <p:spPr>
              <a:xfrm>
                <a:off x="2889743" y="3765376"/>
                <a:ext cx="2453749" cy="369332"/>
              </a:xfrm>
              <a:prstGeom prst="rect">
                <a:avLst/>
              </a:prstGeom>
              <a:noFill/>
              <a:ln>
                <a:solidFill>
                  <a:srgbClr val="003366"/>
                </a:solidFill>
              </a:ln>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zh-CN" altLang="en-US" sz="2400" i="1" smtClean="0">
                          <a:latin typeface="Cambria Math" panose="02040503050406030204" pitchFamily="18" charset="0"/>
                        </a:rPr>
                        <m:t>∆</m:t>
                      </m:r>
                      <m:r>
                        <a:rPr lang="en-US" altLang="zh-CN" sz="2400" b="0" i="1" smtClean="0">
                          <a:latin typeface="Cambria Math" panose="02040503050406030204" pitchFamily="18" charset="0"/>
                        </a:rPr>
                        <m:t>𝐾</m:t>
                      </m:r>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𝐾</m:t>
                          </m:r>
                        </m:e>
                        <m:sup>
                          <m:r>
                            <a:rPr lang="en-US" altLang="zh-CN" sz="2400" b="0" i="1" smtClean="0">
                              <a:latin typeface="Cambria Math" panose="02040503050406030204" pitchFamily="18" charset="0"/>
                            </a:rPr>
                            <m:t>′</m:t>
                          </m:r>
                        </m:sup>
                      </m:s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𝐾</m:t>
                      </m:r>
                      <m:r>
                        <a:rPr lang="en-US" altLang="zh-CN" sz="2400" b="0" i="1" smtClean="0">
                          <a:latin typeface="Cambria Math" panose="02040503050406030204" pitchFamily="18" charset="0"/>
                        </a:rPr>
                        <m:t>&lt;</m:t>
                      </m:r>
                      <m:r>
                        <a:rPr lang="zh-CN" altLang="en-US" sz="2400" b="0" i="1" smtClean="0">
                          <a:latin typeface="Cambria Math" panose="02040503050406030204" pitchFamily="18" charset="0"/>
                        </a:rPr>
                        <m:t>𝛿</m:t>
                      </m:r>
                    </m:oMath>
                  </m:oMathPara>
                </a14:m>
                <a:endParaRPr lang="zh-CN" altLang="en-US" sz="2400" dirty="0"/>
              </a:p>
            </p:txBody>
          </p:sp>
        </mc:Choice>
        <mc:Fallback>
          <p:sp>
            <p:nvSpPr>
              <p:cNvPr id="2" name="文本框 1"/>
              <p:cNvSpPr txBox="1">
                <a:spLocks noRot="1" noChangeAspect="1" noMove="1" noResize="1" noEditPoints="1" noAdjustHandles="1" noChangeArrowheads="1" noChangeShapeType="1" noTextEdit="1"/>
              </p:cNvSpPr>
              <p:nvPr/>
            </p:nvSpPr>
            <p:spPr>
              <a:xfrm>
                <a:off x="2889743" y="3765376"/>
                <a:ext cx="2453749" cy="369332"/>
              </a:xfrm>
              <a:prstGeom prst="rect">
                <a:avLst/>
              </a:prstGeom>
              <a:blipFill rotWithShape="1">
                <a:blip r:embed="rId1"/>
                <a:stretch>
                  <a:fillRect l="-201" t="-1328" r="-1761" b="-1143"/>
                </a:stretch>
              </a:blipFill>
              <a:ln>
                <a:solidFill>
                  <a:srgbClr val="003366"/>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1" name="文本框 70"/>
              <p:cNvSpPr txBox="1"/>
              <p:nvPr/>
            </p:nvSpPr>
            <p:spPr>
              <a:xfrm>
                <a:off x="1137892" y="2971111"/>
                <a:ext cx="1101905" cy="369332"/>
              </a:xfrm>
              <a:prstGeom prst="rect">
                <a:avLst/>
              </a:prstGeom>
              <a:solidFill>
                <a:schemeClr val="tx2">
                  <a:lumMod val="20000"/>
                  <a:lumOff val="80000"/>
                </a:schemeClr>
              </a:solidFill>
              <a:ln>
                <a:solidFill>
                  <a:srgbClr val="003366"/>
                </a:solidFill>
              </a:ln>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𝐾</m:t>
                          </m:r>
                        </m:e>
                        <m:sup>
                          <m:r>
                            <a:rPr lang="en-US" altLang="zh-CN" sz="2400" b="0" i="1" smtClean="0">
                              <a:latin typeface="Cambria Math" panose="02040503050406030204" pitchFamily="18" charset="0"/>
                            </a:rPr>
                            <m:t>′</m:t>
                          </m:r>
                        </m:sup>
                      </m:s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𝐾</m:t>
                      </m:r>
                    </m:oMath>
                  </m:oMathPara>
                </a14:m>
                <a:endParaRPr lang="zh-CN" altLang="en-US" sz="2400" dirty="0"/>
              </a:p>
            </p:txBody>
          </p:sp>
        </mc:Choice>
        <mc:Fallback>
          <p:sp>
            <p:nvSpPr>
              <p:cNvPr id="71" name="文本框 70"/>
              <p:cNvSpPr txBox="1">
                <a:spLocks noRot="1" noChangeAspect="1" noMove="1" noResize="1" noEditPoints="1" noAdjustHandles="1" noChangeArrowheads="1" noChangeShapeType="1" noTextEdit="1"/>
              </p:cNvSpPr>
              <p:nvPr/>
            </p:nvSpPr>
            <p:spPr>
              <a:xfrm>
                <a:off x="1137892" y="2971111"/>
                <a:ext cx="1101905" cy="369332"/>
              </a:xfrm>
              <a:prstGeom prst="rect">
                <a:avLst/>
              </a:prstGeom>
              <a:blipFill rotWithShape="1">
                <a:blip r:embed="rId2"/>
                <a:stretch>
                  <a:fillRect l="-458" t="-1361" r="-5288" b="-1283"/>
                </a:stretch>
              </a:blipFill>
              <a:ln>
                <a:solidFill>
                  <a:srgbClr val="003366"/>
                </a:solidFill>
              </a:ln>
            </p:spPr>
            <p:txBody>
              <a:bodyPr/>
              <a:lstStyle/>
              <a:p>
                <a:r>
                  <a:rPr lang="zh-CN" altLang="en-US">
                    <a:noFill/>
                  </a:rPr>
                  <a:t> </a:t>
                </a:r>
              </a:p>
            </p:txBody>
          </p:sp>
        </mc:Fallback>
      </mc:AlternateContent>
      <p:sp>
        <p:nvSpPr>
          <p:cNvPr id="3" name="矩形 2"/>
          <p:cNvSpPr/>
          <p:nvPr/>
        </p:nvSpPr>
        <p:spPr>
          <a:xfrm>
            <a:off x="6228184" y="1305580"/>
            <a:ext cx="2709396" cy="523220"/>
          </a:xfrm>
          <a:prstGeom prst="rect">
            <a:avLst/>
          </a:prstGeom>
        </p:spPr>
        <p:txBody>
          <a:bodyPr wrap="none">
            <a:spAutoFit/>
          </a:bodyPr>
          <a:lstStyle/>
          <a:p>
            <a:pPr marL="0" indent="0" algn="just" eaLnBrk="1" hangingPunct="1">
              <a:buFontTx/>
              <a:buNone/>
            </a:pPr>
            <a:r>
              <a:rPr lang="zh-CN" altLang="en-US" b="1" dirty="0">
                <a:solidFill>
                  <a:srgbClr val="993300"/>
                </a:solidFill>
                <a:ea typeface="隶书" panose="02010509060101010101" pitchFamily="49" charset="-122"/>
              </a:rPr>
              <a:t>毕肖普法的讨论</a:t>
            </a:r>
            <a:endParaRPr lang="zh-CN" altLang="en-US" b="1" dirty="0">
              <a:solidFill>
                <a:srgbClr val="993300"/>
              </a:solidFill>
              <a:ea typeface="隶书" panose="02010509060101010101" pitchFamily="49" charset="-122"/>
            </a:endParaRPr>
          </a:p>
        </p:txBody>
      </p:sp>
      <p:sp>
        <p:nvSpPr>
          <p:cNvPr id="73" name="Text Box 81"/>
          <p:cNvSpPr txBox="1">
            <a:spLocks noChangeArrowheads="1"/>
          </p:cNvSpPr>
          <p:nvPr/>
        </p:nvSpPr>
        <p:spPr bwMode="auto">
          <a:xfrm>
            <a:off x="5673080" y="2424668"/>
            <a:ext cx="3470920" cy="369332"/>
          </a:xfrm>
          <a:prstGeom prst="rect">
            <a:avLst/>
          </a:prstGeom>
          <a:solidFill>
            <a:schemeClr val="tx2">
              <a:lumMod val="20000"/>
              <a:lumOff val="80000"/>
            </a:schemeClr>
          </a:solidFill>
          <a:ln w="9525" algn="ctr">
            <a:solidFill>
              <a:srgbClr val="0066FF"/>
            </a:solidFill>
            <a:miter lim="800000"/>
          </a:ln>
        </p:spPr>
        <p:txBody>
          <a:bodyPr wrap="square"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lang="en-US" altLang="zh-CN" sz="2400" b="1" dirty="0">
                <a:solidFill>
                  <a:srgbClr val="CC3300"/>
                </a:solidFill>
                <a:ea typeface="隶书" panose="02010509060101010101" pitchFamily="49" charset="-122"/>
              </a:rPr>
              <a:t> </a:t>
            </a:r>
            <a:r>
              <a:rPr lang="zh-CN" altLang="en-US" sz="2400" b="1" dirty="0">
                <a:solidFill>
                  <a:srgbClr val="CC3300"/>
                </a:solidFill>
                <a:ea typeface="隶书" panose="02010509060101010101" pitchFamily="49" charset="-122"/>
              </a:rPr>
              <a:t>未知数</a:t>
            </a:r>
            <a:r>
              <a:rPr lang="en-US" altLang="zh-CN" sz="2400" b="1" dirty="0">
                <a:solidFill>
                  <a:srgbClr val="CC3300"/>
                </a:solidFill>
                <a:ea typeface="隶书" panose="02010509060101010101" pitchFamily="49" charset="-122"/>
              </a:rPr>
              <a:t>: </a:t>
            </a:r>
            <a:r>
              <a:rPr lang="en-US" altLang="zh-CN" sz="2400" b="1" dirty="0">
                <a:solidFill>
                  <a:srgbClr val="0000FF"/>
                </a:solidFill>
                <a:ea typeface="隶书" panose="02010509060101010101" pitchFamily="49" charset="-122"/>
              </a:rPr>
              <a:t>4n-1  </a:t>
            </a:r>
            <a:r>
              <a:rPr lang="zh-CN" altLang="en-US" sz="2400" b="1" dirty="0">
                <a:solidFill>
                  <a:srgbClr val="CC3300"/>
                </a:solidFill>
                <a:ea typeface="隶书" panose="02010509060101010101" pitchFamily="49" charset="-122"/>
              </a:rPr>
              <a:t>方程数</a:t>
            </a:r>
            <a:r>
              <a:rPr lang="en-US" altLang="zh-CN" sz="2400" b="1" dirty="0">
                <a:solidFill>
                  <a:srgbClr val="CC3300"/>
                </a:solidFill>
                <a:ea typeface="隶书" panose="02010509060101010101" pitchFamily="49" charset="-122"/>
              </a:rPr>
              <a:t>: </a:t>
            </a:r>
            <a:r>
              <a:rPr lang="en-US" altLang="zh-CN" sz="2400" b="1" dirty="0">
                <a:solidFill>
                  <a:srgbClr val="0000FF"/>
                </a:solidFill>
                <a:ea typeface="隶书" panose="02010509060101010101" pitchFamily="49" charset="-122"/>
              </a:rPr>
              <a:t>4n </a:t>
            </a:r>
            <a:endParaRPr lang="en-US" altLang="zh-CN" sz="2400" b="1" dirty="0">
              <a:solidFill>
                <a:srgbClr val="0000FF"/>
              </a:solidFill>
              <a:ea typeface="隶书" panose="02010509060101010101" pitchFamily="49" charset="-122"/>
            </a:endParaRPr>
          </a:p>
        </p:txBody>
      </p:sp>
      <p:sp>
        <p:nvSpPr>
          <p:cNvPr id="74" name="Rectangle 86"/>
          <p:cNvSpPr>
            <a:spLocks noChangeArrowheads="1"/>
          </p:cNvSpPr>
          <p:nvPr/>
        </p:nvSpPr>
        <p:spPr bwMode="auto">
          <a:xfrm>
            <a:off x="5914991" y="3384376"/>
            <a:ext cx="3276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a:r>
              <a:rPr kumimoji="1" lang="en-US" altLang="zh-CN" sz="2400" b="1" dirty="0">
                <a:solidFill>
                  <a:srgbClr val="0000FF"/>
                </a:solidFill>
                <a:latin typeface="宋体" panose="02010600030101010101" pitchFamily="2" charset="-122"/>
              </a:rPr>
              <a:t>(1) </a:t>
            </a:r>
            <a:r>
              <a:rPr kumimoji="1" lang="zh-CN" altLang="en-US" sz="2400" b="1" dirty="0">
                <a:solidFill>
                  <a:srgbClr val="0000FF"/>
                </a:solidFill>
                <a:latin typeface="宋体" panose="02010600030101010101" pitchFamily="2" charset="-122"/>
              </a:rPr>
              <a:t>假设圆弧滑裂面</a:t>
            </a:r>
            <a:endParaRPr kumimoji="1" lang="zh-CN" altLang="en-US" sz="2400" b="1" dirty="0">
              <a:solidFill>
                <a:srgbClr val="0000FF"/>
              </a:solidFill>
              <a:latin typeface="宋体" panose="02010600030101010101" pitchFamily="2" charset="-122"/>
            </a:endParaRPr>
          </a:p>
        </p:txBody>
      </p:sp>
      <p:sp>
        <p:nvSpPr>
          <p:cNvPr id="75" name="Rectangle 80"/>
          <p:cNvSpPr>
            <a:spLocks noChangeArrowheads="1"/>
          </p:cNvSpPr>
          <p:nvPr/>
        </p:nvSpPr>
        <p:spPr bwMode="auto">
          <a:xfrm>
            <a:off x="5940152" y="4290219"/>
            <a:ext cx="3124199" cy="111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a:lnSpc>
                <a:spcPct val="150000"/>
              </a:lnSpc>
            </a:pPr>
            <a:r>
              <a:rPr kumimoji="1" lang="en-US" altLang="zh-CN" sz="2400" b="1" dirty="0">
                <a:solidFill>
                  <a:srgbClr val="0000FF"/>
                </a:solidFill>
                <a:latin typeface="宋体" panose="02010600030101010101" pitchFamily="2" charset="-122"/>
              </a:rPr>
              <a:t>(2</a:t>
            </a:r>
            <a:r>
              <a:rPr kumimoji="1" lang="en-US" altLang="zh-CN" sz="2400" b="1" dirty="0" smtClean="0">
                <a:solidFill>
                  <a:srgbClr val="0000FF"/>
                </a:solidFill>
                <a:latin typeface="宋体" panose="02010600030101010101" pitchFamily="2" charset="-122"/>
              </a:rPr>
              <a:t>)</a:t>
            </a:r>
            <a:r>
              <a:rPr kumimoji="1" lang="zh-CN" altLang="en-US" sz="2400" b="1" dirty="0" smtClean="0">
                <a:solidFill>
                  <a:srgbClr val="0000FF"/>
                </a:solidFill>
                <a:latin typeface="宋体" panose="02010600030101010101" pitchFamily="2" charset="-122"/>
              </a:rPr>
              <a:t>多数</a:t>
            </a:r>
            <a:r>
              <a:rPr kumimoji="1" lang="zh-CN" altLang="en-US" sz="2400" b="1" dirty="0">
                <a:solidFill>
                  <a:srgbClr val="0000FF"/>
                </a:solidFill>
                <a:latin typeface="宋体" panose="02010600030101010101" pitchFamily="2" charset="-122"/>
              </a:rPr>
              <a:t>情况</a:t>
            </a:r>
            <a:r>
              <a:rPr kumimoji="1" lang="zh-CN" altLang="en-US" sz="2400" b="1" dirty="0" smtClean="0">
                <a:solidFill>
                  <a:srgbClr val="0000FF"/>
                </a:solidFill>
                <a:latin typeface="宋体" panose="02010600030101010101" pitchFamily="2" charset="-122"/>
              </a:rPr>
              <a:t>下满足精度要求</a:t>
            </a:r>
            <a:endParaRPr kumimoji="1" lang="zh-CN" altLang="en-US" sz="2400" b="1" dirty="0">
              <a:solidFill>
                <a:srgbClr val="0000FF"/>
              </a:solidFill>
              <a:latin typeface="宋体" panose="02010600030101010101" pitchFamily="2" charset="-122"/>
            </a:endParaRPr>
          </a:p>
        </p:txBody>
      </p:sp>
      <p:sp>
        <p:nvSpPr>
          <p:cNvPr id="76" name="Rectangle 6"/>
          <p:cNvSpPr>
            <a:spLocks noChangeArrowheads="1"/>
          </p:cNvSpPr>
          <p:nvPr/>
        </p:nvSpPr>
        <p:spPr bwMode="auto">
          <a:xfrm>
            <a:off x="0" y="-7396"/>
            <a:ext cx="41148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黏性土坡的稳定性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dissolve">
                                      <p:cBhvr>
                                        <p:cTn id="7" dur="500"/>
                                        <p:tgtEl>
                                          <p:spTgt spid="7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4"/>
                                        </p:tgtEl>
                                        <p:attrNameLst>
                                          <p:attrName>style.visibility</p:attrName>
                                        </p:attrNameLst>
                                      </p:cBhvr>
                                      <p:to>
                                        <p:strVal val="visible"/>
                                      </p:to>
                                    </p:set>
                                    <p:animEffect transition="in" filter="wipe(left)">
                                      <p:cBhvr>
                                        <p:cTn id="12" dur="500"/>
                                        <p:tgtEl>
                                          <p:spTgt spid="7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5"/>
                                        </p:tgtEl>
                                        <p:attrNameLst>
                                          <p:attrName>style.visibility</p:attrName>
                                        </p:attrNameLst>
                                      </p:cBhvr>
                                      <p:to>
                                        <p:strVal val="visible"/>
                                      </p:to>
                                    </p:set>
                                    <p:animEffect transition="in" filter="wipe(left)">
                                      <p:cBhvr>
                                        <p:cTn id="17"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bldLvl="0" animBg="1" autoUpdateAnimBg="0"/>
      <p:bldP spid="74" grpId="0" autoUpdateAnimBg="0"/>
      <p:bldP spid="75" grpId="0"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1" name="Rectangle 3"/>
          <p:cNvSpPr>
            <a:spLocks noGrp="1" noChangeArrowheads="1"/>
          </p:cNvSpPr>
          <p:nvPr>
            <p:ph type="body" sz="half" idx="1"/>
          </p:nvPr>
        </p:nvSpPr>
        <p:spPr bwMode="auto">
          <a:xfrm>
            <a:off x="1003853" y="784986"/>
            <a:ext cx="3657600" cy="581025"/>
          </a:xfrm>
          <a:solidFill>
            <a:srgbClr val="FFC000"/>
          </a:solidFill>
        </p:spPr>
        <p:txBody>
          <a:bodyPr vert="horz" wrap="square" lIns="91440" tIns="45720" rIns="91440" bIns="45720" numCol="1" anchor="t" anchorCtr="0" compatLnSpc="1"/>
          <a:lstStyle/>
          <a:p>
            <a:pPr marL="0" indent="0" algn="just" eaLnBrk="1" hangingPunct="1">
              <a:buFontTx/>
              <a:buNone/>
            </a:pPr>
            <a:r>
              <a:rPr lang="zh-CN" altLang="en-US" sz="2800" b="1" dirty="0" smtClean="0">
                <a:latin typeface="+mn-ea"/>
              </a:rPr>
              <a:t>杨布（</a:t>
            </a:r>
            <a:r>
              <a:rPr lang="en-US" altLang="zh-CN" sz="2800" b="1" dirty="0" err="1" smtClean="0">
                <a:latin typeface="+mn-ea"/>
              </a:rPr>
              <a:t>Janbu</a:t>
            </a:r>
            <a:r>
              <a:rPr lang="zh-CN" altLang="en-US" sz="2800" b="1" dirty="0" smtClean="0">
                <a:latin typeface="+mn-ea"/>
              </a:rPr>
              <a:t>）条分法</a:t>
            </a:r>
            <a:endParaRPr lang="zh-CN" altLang="en-US" sz="2800" b="1" dirty="0" smtClean="0">
              <a:latin typeface="+mn-ea"/>
            </a:endParaRPr>
          </a:p>
        </p:txBody>
      </p:sp>
      <p:sp>
        <p:nvSpPr>
          <p:cNvPr id="771076" name="Text Box 4"/>
          <p:cNvSpPr txBox="1">
            <a:spLocks noChangeArrowheads="1"/>
          </p:cNvSpPr>
          <p:nvPr/>
        </p:nvSpPr>
        <p:spPr bwMode="auto">
          <a:xfrm>
            <a:off x="1219200" y="4953000"/>
            <a:ext cx="4648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2400" b="1">
                <a:solidFill>
                  <a:srgbClr val="0000FF"/>
                </a:solidFill>
              </a:rPr>
              <a:t>条块间力的作用点位置：</a:t>
            </a:r>
            <a:r>
              <a:rPr lang="en-US" altLang="zh-CN" sz="2400" b="1">
                <a:solidFill>
                  <a:srgbClr val="0000FF"/>
                </a:solidFill>
              </a:rPr>
              <a:t>n-1</a:t>
            </a:r>
            <a:endParaRPr lang="en-US" altLang="zh-CN" sz="2400" b="1">
              <a:solidFill>
                <a:srgbClr val="0000FF"/>
              </a:solidFill>
            </a:endParaRPr>
          </a:p>
        </p:txBody>
      </p:sp>
      <p:sp>
        <p:nvSpPr>
          <p:cNvPr id="771077" name="Rectangle 5"/>
          <p:cNvSpPr>
            <a:spLocks noChangeArrowheads="1"/>
          </p:cNvSpPr>
          <p:nvPr/>
        </p:nvSpPr>
        <p:spPr bwMode="auto">
          <a:xfrm>
            <a:off x="5486400" y="5181600"/>
            <a:ext cx="811213" cy="457200"/>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a:r>
              <a:rPr lang="en-US" altLang="zh-CN" sz="2400" b="1">
                <a:solidFill>
                  <a:schemeClr val="accent1"/>
                </a:solidFill>
              </a:rPr>
              <a:t>2n-1</a:t>
            </a:r>
            <a:endParaRPr lang="en-US" altLang="zh-CN" sz="2400" b="1">
              <a:solidFill>
                <a:schemeClr val="accent1"/>
              </a:solidFill>
            </a:endParaRPr>
          </a:p>
        </p:txBody>
      </p:sp>
      <p:grpSp>
        <p:nvGrpSpPr>
          <p:cNvPr id="48134" name="Group 6"/>
          <p:cNvGrpSpPr/>
          <p:nvPr/>
        </p:nvGrpSpPr>
        <p:grpSpPr bwMode="auto">
          <a:xfrm>
            <a:off x="4876800" y="838200"/>
            <a:ext cx="3733800" cy="3124200"/>
            <a:chOff x="3024" y="432"/>
            <a:chExt cx="2352" cy="1968"/>
          </a:xfrm>
        </p:grpSpPr>
        <p:grpSp>
          <p:nvGrpSpPr>
            <p:cNvPr id="48157" name="Group 7"/>
            <p:cNvGrpSpPr/>
            <p:nvPr/>
          </p:nvGrpSpPr>
          <p:grpSpPr bwMode="auto">
            <a:xfrm>
              <a:off x="3648" y="432"/>
              <a:ext cx="528" cy="1584"/>
              <a:chOff x="3744" y="864"/>
              <a:chExt cx="432" cy="1584"/>
            </a:xfrm>
          </p:grpSpPr>
          <p:sp>
            <p:nvSpPr>
              <p:cNvPr id="48183" name="Line 8"/>
              <p:cNvSpPr>
                <a:spLocks noChangeShapeType="1"/>
              </p:cNvSpPr>
              <p:nvPr/>
            </p:nvSpPr>
            <p:spPr bwMode="auto">
              <a:xfrm>
                <a:off x="3744" y="1056"/>
                <a:ext cx="0" cy="1392"/>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184" name="Line 9"/>
              <p:cNvSpPr>
                <a:spLocks noChangeShapeType="1"/>
              </p:cNvSpPr>
              <p:nvPr/>
            </p:nvSpPr>
            <p:spPr bwMode="auto">
              <a:xfrm>
                <a:off x="4176" y="864"/>
                <a:ext cx="0" cy="1248"/>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185" name="Line 10"/>
              <p:cNvSpPr>
                <a:spLocks noChangeShapeType="1"/>
              </p:cNvSpPr>
              <p:nvPr/>
            </p:nvSpPr>
            <p:spPr bwMode="auto">
              <a:xfrm flipV="1">
                <a:off x="3744" y="864"/>
                <a:ext cx="432" cy="192"/>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186" name="Line 11"/>
              <p:cNvSpPr>
                <a:spLocks noChangeShapeType="1"/>
              </p:cNvSpPr>
              <p:nvPr/>
            </p:nvSpPr>
            <p:spPr bwMode="auto">
              <a:xfrm flipV="1">
                <a:off x="3744" y="2112"/>
                <a:ext cx="432" cy="336"/>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8158" name="Line 12"/>
            <p:cNvSpPr>
              <a:spLocks noChangeShapeType="1"/>
            </p:cNvSpPr>
            <p:nvPr/>
          </p:nvSpPr>
          <p:spPr bwMode="auto">
            <a:xfrm>
              <a:off x="3888" y="960"/>
              <a:ext cx="0" cy="336"/>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59" name="Line 13"/>
            <p:cNvSpPr>
              <a:spLocks noChangeShapeType="1"/>
            </p:cNvSpPr>
            <p:nvPr/>
          </p:nvSpPr>
          <p:spPr bwMode="auto">
            <a:xfrm>
              <a:off x="3168" y="1488"/>
              <a:ext cx="480" cy="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60" name="Line 14"/>
            <p:cNvSpPr>
              <a:spLocks noChangeShapeType="1"/>
            </p:cNvSpPr>
            <p:nvPr/>
          </p:nvSpPr>
          <p:spPr bwMode="auto">
            <a:xfrm flipV="1">
              <a:off x="3600" y="1536"/>
              <a:ext cx="0" cy="336"/>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61" name="Line 15"/>
            <p:cNvSpPr>
              <a:spLocks noChangeShapeType="1"/>
            </p:cNvSpPr>
            <p:nvPr/>
          </p:nvSpPr>
          <p:spPr bwMode="auto">
            <a:xfrm flipH="1">
              <a:off x="4224" y="960"/>
              <a:ext cx="288" cy="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62" name="Line 16"/>
            <p:cNvSpPr>
              <a:spLocks noChangeShapeType="1"/>
            </p:cNvSpPr>
            <p:nvPr/>
          </p:nvSpPr>
          <p:spPr bwMode="auto">
            <a:xfrm>
              <a:off x="4224" y="624"/>
              <a:ext cx="0" cy="288"/>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63" name="Line 17"/>
            <p:cNvSpPr>
              <a:spLocks noChangeShapeType="1"/>
            </p:cNvSpPr>
            <p:nvPr/>
          </p:nvSpPr>
          <p:spPr bwMode="auto">
            <a:xfrm flipV="1">
              <a:off x="3744" y="1776"/>
              <a:ext cx="384" cy="240"/>
            </a:xfrm>
            <a:prstGeom prst="line">
              <a:avLst/>
            </a:prstGeom>
            <a:noFill/>
            <a:ln w="22225">
              <a:solidFill>
                <a:srgbClr val="0000FF"/>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64" name="Line 18"/>
            <p:cNvSpPr>
              <a:spLocks noChangeShapeType="1"/>
            </p:cNvSpPr>
            <p:nvPr/>
          </p:nvSpPr>
          <p:spPr bwMode="auto">
            <a:xfrm rot="10800000">
              <a:off x="3984" y="1920"/>
              <a:ext cx="192" cy="288"/>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65" name="Line 19"/>
            <p:cNvSpPr>
              <a:spLocks noChangeShapeType="1"/>
            </p:cNvSpPr>
            <p:nvPr/>
          </p:nvSpPr>
          <p:spPr bwMode="auto">
            <a:xfrm flipV="1">
              <a:off x="4176" y="1392"/>
              <a:ext cx="384" cy="2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166" name="Line 20"/>
            <p:cNvSpPr>
              <a:spLocks noChangeShapeType="1"/>
            </p:cNvSpPr>
            <p:nvPr/>
          </p:nvSpPr>
          <p:spPr bwMode="auto">
            <a:xfrm>
              <a:off x="4176" y="1680"/>
              <a:ext cx="43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167" name="Freeform 21"/>
            <p:cNvSpPr/>
            <p:nvPr/>
          </p:nvSpPr>
          <p:spPr bwMode="auto">
            <a:xfrm>
              <a:off x="4268" y="1620"/>
              <a:ext cx="49" cy="56"/>
            </a:xfrm>
            <a:custGeom>
              <a:avLst/>
              <a:gdLst>
                <a:gd name="T0" fmla="*/ 0 w 49"/>
                <a:gd name="T1" fmla="*/ 0 h 56"/>
                <a:gd name="T2" fmla="*/ 40 w 49"/>
                <a:gd name="T3" fmla="*/ 32 h 56"/>
                <a:gd name="T4" fmla="*/ 48 w 49"/>
                <a:gd name="T5" fmla="*/ 56 h 56"/>
                <a:gd name="T6" fmla="*/ 0 60000 65536"/>
                <a:gd name="T7" fmla="*/ 0 60000 65536"/>
                <a:gd name="T8" fmla="*/ 0 60000 65536"/>
                <a:gd name="T9" fmla="*/ 0 w 49"/>
                <a:gd name="T10" fmla="*/ 0 h 56"/>
                <a:gd name="T11" fmla="*/ 49 w 49"/>
                <a:gd name="T12" fmla="*/ 56 h 56"/>
              </a:gdLst>
              <a:ahLst/>
              <a:cxnLst>
                <a:cxn ang="T6">
                  <a:pos x="T0" y="T1"/>
                </a:cxn>
                <a:cxn ang="T7">
                  <a:pos x="T2" y="T3"/>
                </a:cxn>
                <a:cxn ang="T8">
                  <a:pos x="T4" y="T5"/>
                </a:cxn>
              </a:cxnLst>
              <a:rect l="T9" t="T10" r="T11" b="T12"/>
              <a:pathLst>
                <a:path w="49" h="56">
                  <a:moveTo>
                    <a:pt x="0" y="0"/>
                  </a:moveTo>
                  <a:cubicBezTo>
                    <a:pt x="20" y="10"/>
                    <a:pt x="20" y="22"/>
                    <a:pt x="40" y="32"/>
                  </a:cubicBezTo>
                  <a:cubicBezTo>
                    <a:pt x="49" y="50"/>
                    <a:pt x="48" y="42"/>
                    <a:pt x="48" y="56"/>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68" name="Line 22"/>
            <p:cNvSpPr>
              <a:spLocks noChangeShapeType="1"/>
            </p:cNvSpPr>
            <p:nvPr/>
          </p:nvSpPr>
          <p:spPr bwMode="auto">
            <a:xfrm>
              <a:off x="4704" y="1680"/>
              <a:ext cx="33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169" name="Line 23"/>
            <p:cNvSpPr>
              <a:spLocks noChangeShapeType="1"/>
            </p:cNvSpPr>
            <p:nvPr/>
          </p:nvSpPr>
          <p:spPr bwMode="auto">
            <a:xfrm>
              <a:off x="4704" y="960"/>
              <a:ext cx="33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170" name="Line 24"/>
            <p:cNvSpPr>
              <a:spLocks noChangeShapeType="1"/>
            </p:cNvSpPr>
            <p:nvPr/>
          </p:nvSpPr>
          <p:spPr bwMode="auto">
            <a:xfrm>
              <a:off x="4848" y="960"/>
              <a:ext cx="0" cy="72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71" name="Rectangle 25"/>
            <p:cNvSpPr>
              <a:spLocks noChangeArrowheads="1"/>
            </p:cNvSpPr>
            <p:nvPr/>
          </p:nvSpPr>
          <p:spPr bwMode="auto">
            <a:xfrm>
              <a:off x="3024" y="1152"/>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err="1" smtClean="0">
                  <a:solidFill>
                    <a:srgbClr val="CC3300"/>
                  </a:solidFill>
                  <a:latin typeface="Times New Roman" panose="02020603050405020304" pitchFamily="18" charset="0"/>
                  <a:sym typeface="Symbol" panose="05050102010706020507" pitchFamily="18" charset="2"/>
                </a:rPr>
                <a:t>E</a:t>
              </a:r>
              <a:r>
                <a:rPr kumimoji="1" lang="en-US" altLang="zh-CN" sz="2400" b="1" i="1" baseline="-25000" dirty="0" err="1" smtClean="0">
                  <a:solidFill>
                    <a:srgbClr val="CC3300"/>
                  </a:solidFill>
                  <a:latin typeface="Times New Roman" panose="02020603050405020304" pitchFamily="18" charset="0"/>
                  <a:sym typeface="Symbol" panose="05050102010706020507" pitchFamily="18" charset="2"/>
                </a:rPr>
                <a:t>i</a:t>
              </a:r>
              <a:endParaRPr kumimoji="1" lang="en-US" altLang="zh-CN" sz="2400" b="1" i="1" baseline="-25000" dirty="0">
                <a:solidFill>
                  <a:srgbClr val="CC3300"/>
                </a:solidFill>
                <a:latin typeface="Times New Roman" panose="02020603050405020304" pitchFamily="18" charset="0"/>
                <a:sym typeface="Symbol" panose="05050102010706020507" pitchFamily="18" charset="2"/>
              </a:endParaRPr>
            </a:p>
          </p:txBody>
        </p:sp>
        <p:sp>
          <p:nvSpPr>
            <p:cNvPr id="48172" name="Rectangle 26"/>
            <p:cNvSpPr>
              <a:spLocks noChangeArrowheads="1"/>
            </p:cNvSpPr>
            <p:nvPr/>
          </p:nvSpPr>
          <p:spPr bwMode="auto">
            <a:xfrm>
              <a:off x="3312" y="168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smtClean="0">
                  <a:solidFill>
                    <a:srgbClr val="CC3300"/>
                  </a:solidFill>
                  <a:latin typeface="Times New Roman" panose="02020603050405020304" pitchFamily="18" charset="0"/>
                  <a:sym typeface="Symbol" panose="05050102010706020507" pitchFamily="18" charset="2"/>
                </a:rPr>
                <a:t>X</a:t>
              </a:r>
              <a:r>
                <a:rPr kumimoji="1" lang="en-US" altLang="zh-CN" sz="2400" b="1" i="1" baseline="-25000" dirty="0" smtClean="0">
                  <a:solidFill>
                    <a:srgbClr val="CC3300"/>
                  </a:solidFill>
                  <a:latin typeface="Times New Roman" panose="02020603050405020304" pitchFamily="18" charset="0"/>
                  <a:sym typeface="Symbol" panose="05050102010706020507" pitchFamily="18" charset="2"/>
                </a:rPr>
                <a:t>i</a:t>
              </a:r>
              <a:endParaRPr kumimoji="1" lang="en-US" altLang="zh-CN" sz="2400" b="1" i="1" baseline="-25000" dirty="0">
                <a:solidFill>
                  <a:srgbClr val="CC3300"/>
                </a:solidFill>
                <a:latin typeface="Times New Roman" panose="02020603050405020304" pitchFamily="18" charset="0"/>
                <a:sym typeface="Symbol" panose="05050102010706020507" pitchFamily="18" charset="2"/>
              </a:endParaRPr>
            </a:p>
          </p:txBody>
        </p:sp>
        <p:sp>
          <p:nvSpPr>
            <p:cNvPr id="48173" name="Rectangle 27"/>
            <p:cNvSpPr>
              <a:spLocks noChangeArrowheads="1"/>
            </p:cNvSpPr>
            <p:nvPr/>
          </p:nvSpPr>
          <p:spPr bwMode="auto">
            <a:xfrm>
              <a:off x="4080" y="1728"/>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T</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baseline="-25000">
                <a:solidFill>
                  <a:srgbClr val="CC3300"/>
                </a:solidFill>
                <a:latin typeface="Times New Roman" panose="02020603050405020304" pitchFamily="18" charset="0"/>
                <a:sym typeface="Symbol" panose="05050102010706020507" pitchFamily="18" charset="2"/>
              </a:endParaRPr>
            </a:p>
          </p:txBody>
        </p:sp>
        <p:sp>
          <p:nvSpPr>
            <p:cNvPr id="48174" name="Rectangle 28"/>
            <p:cNvSpPr>
              <a:spLocks noChangeArrowheads="1"/>
            </p:cNvSpPr>
            <p:nvPr/>
          </p:nvSpPr>
          <p:spPr bwMode="auto">
            <a:xfrm>
              <a:off x="4112" y="211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N</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a:solidFill>
                  <a:srgbClr val="CC3300"/>
                </a:solidFill>
                <a:latin typeface="Times New Roman" panose="02020603050405020304" pitchFamily="18" charset="0"/>
                <a:sym typeface="Symbol" panose="05050102010706020507" pitchFamily="18" charset="2"/>
              </a:endParaRPr>
            </a:p>
          </p:txBody>
        </p:sp>
        <p:sp>
          <p:nvSpPr>
            <p:cNvPr id="48175" name="Rectangle 29"/>
            <p:cNvSpPr>
              <a:spLocks noChangeArrowheads="1"/>
            </p:cNvSpPr>
            <p:nvPr/>
          </p:nvSpPr>
          <p:spPr bwMode="auto">
            <a:xfrm>
              <a:off x="4272" y="144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smtClean="0">
                  <a:solidFill>
                    <a:srgbClr val="993300"/>
                  </a:solidFill>
                  <a:latin typeface="Times New Roman" panose="02020603050405020304" pitchFamily="18" charset="0"/>
                  <a:sym typeface="Symbol" panose="05050102010706020507" pitchFamily="18" charset="2"/>
                </a:rPr>
                <a:t></a:t>
              </a:r>
              <a:r>
                <a:rPr kumimoji="1" lang="en-US" altLang="zh-CN" sz="2400" b="1" i="1" baseline="-25000" dirty="0" err="1" smtClean="0">
                  <a:solidFill>
                    <a:srgbClr val="993300"/>
                  </a:solidFill>
                  <a:latin typeface="Times New Roman" panose="02020603050405020304" pitchFamily="18" charset="0"/>
                  <a:sym typeface="Symbol" panose="05050102010706020507" pitchFamily="18" charset="2"/>
                </a:rPr>
                <a:t>i</a:t>
              </a:r>
              <a:endParaRPr kumimoji="1" lang="en-US" altLang="zh-CN" sz="2400" b="1" i="1" baseline="-25000" dirty="0">
                <a:solidFill>
                  <a:srgbClr val="993300"/>
                </a:solidFill>
                <a:latin typeface="Times New Roman" panose="02020603050405020304" pitchFamily="18" charset="0"/>
                <a:sym typeface="Symbol" panose="05050102010706020507" pitchFamily="18" charset="2"/>
              </a:endParaRPr>
            </a:p>
          </p:txBody>
        </p:sp>
        <p:sp>
          <p:nvSpPr>
            <p:cNvPr id="48176" name="Rectangle 30"/>
            <p:cNvSpPr>
              <a:spLocks noChangeArrowheads="1"/>
            </p:cNvSpPr>
            <p:nvPr/>
          </p:nvSpPr>
          <p:spPr bwMode="auto">
            <a:xfrm>
              <a:off x="4848" y="1152"/>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h</a:t>
              </a:r>
              <a:r>
                <a:rPr kumimoji="1" lang="en-US" altLang="zh-CN" sz="2400" b="1" i="1" baseline="-25000">
                  <a:solidFill>
                    <a:srgbClr val="CC3300"/>
                  </a:solidFill>
                  <a:latin typeface="Times New Roman" panose="02020603050405020304" pitchFamily="18" charset="0"/>
                  <a:sym typeface="Symbol" panose="05050102010706020507" pitchFamily="18" charset="2"/>
                </a:rPr>
                <a:t>i</a:t>
              </a:r>
              <a:r>
                <a:rPr kumimoji="1" lang="en-US" altLang="zh-CN" sz="2400" b="1" baseline="-25000">
                  <a:solidFill>
                    <a:srgbClr val="CC3300"/>
                  </a:solidFill>
                  <a:latin typeface="Times New Roman" panose="02020603050405020304" pitchFamily="18" charset="0"/>
                  <a:sym typeface="Symbol" panose="05050102010706020507" pitchFamily="18" charset="2"/>
                </a:rPr>
                <a:t>+1</a:t>
              </a:r>
              <a:endParaRPr kumimoji="1" lang="en-US" altLang="zh-CN" sz="2400" b="1" i="1" baseline="-25000">
                <a:solidFill>
                  <a:srgbClr val="CC3300"/>
                </a:solidFill>
                <a:latin typeface="Times New Roman" panose="02020603050405020304" pitchFamily="18" charset="0"/>
                <a:sym typeface="Symbol" panose="05050102010706020507" pitchFamily="18" charset="2"/>
              </a:endParaRPr>
            </a:p>
          </p:txBody>
        </p:sp>
        <p:sp>
          <p:nvSpPr>
            <p:cNvPr id="48177" name="Rectangle 31"/>
            <p:cNvSpPr>
              <a:spLocks noChangeArrowheads="1"/>
            </p:cNvSpPr>
            <p:nvPr/>
          </p:nvSpPr>
          <p:spPr bwMode="auto">
            <a:xfrm>
              <a:off x="3744" y="1296"/>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err="1" smtClean="0">
                  <a:solidFill>
                    <a:srgbClr val="CC3300"/>
                  </a:solidFill>
                  <a:latin typeface="Times New Roman" panose="02020603050405020304" pitchFamily="18" charset="0"/>
                  <a:sym typeface="Symbol" panose="05050102010706020507" pitchFamily="18" charset="2"/>
                </a:rPr>
                <a:t>G</a:t>
              </a:r>
              <a:r>
                <a:rPr kumimoji="1" lang="en-US" altLang="zh-CN" sz="2400" b="1" i="1" baseline="-25000" dirty="0" err="1" smtClean="0">
                  <a:solidFill>
                    <a:srgbClr val="CC3300"/>
                  </a:solidFill>
                  <a:latin typeface="Times New Roman" panose="02020603050405020304" pitchFamily="18" charset="0"/>
                  <a:sym typeface="Symbol" panose="05050102010706020507" pitchFamily="18" charset="2"/>
                </a:rPr>
                <a:t>i</a:t>
              </a:r>
              <a:endParaRPr kumimoji="1" lang="en-US" altLang="zh-CN" sz="2400" b="1" i="1" baseline="-25000" dirty="0">
                <a:solidFill>
                  <a:srgbClr val="CC3300"/>
                </a:solidFill>
                <a:latin typeface="Times New Roman" panose="02020603050405020304" pitchFamily="18" charset="0"/>
                <a:sym typeface="Symbol" panose="05050102010706020507" pitchFamily="18" charset="2"/>
              </a:endParaRPr>
            </a:p>
          </p:txBody>
        </p:sp>
        <p:sp>
          <p:nvSpPr>
            <p:cNvPr id="48178" name="Rectangle 32"/>
            <p:cNvSpPr>
              <a:spLocks noChangeArrowheads="1"/>
            </p:cNvSpPr>
            <p:nvPr/>
          </p:nvSpPr>
          <p:spPr bwMode="auto">
            <a:xfrm>
              <a:off x="4416" y="72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smtClean="0">
                  <a:solidFill>
                    <a:srgbClr val="CC3300"/>
                  </a:solidFill>
                  <a:latin typeface="Times New Roman" panose="02020603050405020304" pitchFamily="18" charset="0"/>
                  <a:sym typeface="Symbol" panose="05050102010706020507" pitchFamily="18" charset="2"/>
                </a:rPr>
                <a:t>E</a:t>
              </a:r>
              <a:r>
                <a:rPr kumimoji="1" lang="en-US" altLang="zh-CN" sz="2400" b="1" i="1" baseline="-25000" dirty="0" smtClean="0">
                  <a:solidFill>
                    <a:srgbClr val="CC3300"/>
                  </a:solidFill>
                  <a:latin typeface="Times New Roman" panose="02020603050405020304" pitchFamily="18" charset="0"/>
                  <a:sym typeface="Symbol" panose="05050102010706020507" pitchFamily="18" charset="2"/>
                </a:rPr>
                <a:t>i</a:t>
              </a:r>
              <a:r>
                <a:rPr kumimoji="1" lang="en-US" altLang="zh-CN" sz="2400" b="1" baseline="-25000" dirty="0" smtClean="0">
                  <a:solidFill>
                    <a:srgbClr val="CC3300"/>
                  </a:solidFill>
                  <a:latin typeface="Times New Roman" panose="02020603050405020304" pitchFamily="18" charset="0"/>
                  <a:sym typeface="Symbol" panose="05050102010706020507" pitchFamily="18" charset="2"/>
                </a:rPr>
                <a:t>+1</a:t>
              </a:r>
              <a:endParaRPr kumimoji="1" lang="en-US" altLang="zh-CN" sz="2400" b="1" baseline="-25000" dirty="0">
                <a:solidFill>
                  <a:srgbClr val="CC3300"/>
                </a:solidFill>
                <a:latin typeface="Times New Roman" panose="02020603050405020304" pitchFamily="18" charset="0"/>
                <a:sym typeface="Symbol" panose="05050102010706020507" pitchFamily="18" charset="2"/>
              </a:endParaRPr>
            </a:p>
          </p:txBody>
        </p:sp>
        <p:sp>
          <p:nvSpPr>
            <p:cNvPr id="48179" name="Rectangle 33"/>
            <p:cNvSpPr>
              <a:spLocks noChangeArrowheads="1"/>
            </p:cNvSpPr>
            <p:nvPr/>
          </p:nvSpPr>
          <p:spPr bwMode="auto">
            <a:xfrm>
              <a:off x="4176" y="432"/>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smtClean="0">
                  <a:solidFill>
                    <a:srgbClr val="CC3300"/>
                  </a:solidFill>
                  <a:latin typeface="Times New Roman" panose="02020603050405020304" pitchFamily="18" charset="0"/>
                  <a:sym typeface="Symbol" panose="05050102010706020507" pitchFamily="18" charset="2"/>
                </a:rPr>
                <a:t>X</a:t>
              </a:r>
              <a:r>
                <a:rPr kumimoji="1" lang="en-US" altLang="zh-CN" sz="2400" b="1" i="1" baseline="-25000" dirty="0" smtClean="0">
                  <a:solidFill>
                    <a:srgbClr val="CC3300"/>
                  </a:solidFill>
                  <a:latin typeface="Times New Roman" panose="02020603050405020304" pitchFamily="18" charset="0"/>
                  <a:sym typeface="Symbol" panose="05050102010706020507" pitchFamily="18" charset="2"/>
                </a:rPr>
                <a:t>i</a:t>
              </a:r>
              <a:r>
                <a:rPr kumimoji="1" lang="en-US" altLang="zh-CN" sz="2400" b="1" baseline="-25000" dirty="0" smtClean="0">
                  <a:solidFill>
                    <a:srgbClr val="CC3300"/>
                  </a:solidFill>
                  <a:latin typeface="Times New Roman" panose="02020603050405020304" pitchFamily="18" charset="0"/>
                  <a:sym typeface="Symbol" panose="05050102010706020507" pitchFamily="18" charset="2"/>
                </a:rPr>
                <a:t>+1</a:t>
              </a:r>
              <a:endParaRPr kumimoji="1" lang="en-US" altLang="zh-CN" sz="2400" b="1" baseline="-25000" dirty="0">
                <a:solidFill>
                  <a:srgbClr val="CC3300"/>
                </a:solidFill>
                <a:latin typeface="Times New Roman" panose="02020603050405020304" pitchFamily="18" charset="0"/>
                <a:sym typeface="Symbol" panose="05050102010706020507" pitchFamily="18" charset="2"/>
              </a:endParaRPr>
            </a:p>
          </p:txBody>
        </p:sp>
        <p:sp>
          <p:nvSpPr>
            <p:cNvPr id="48180" name="Line 34"/>
            <p:cNvSpPr>
              <a:spLocks noChangeShapeType="1"/>
            </p:cNvSpPr>
            <p:nvPr/>
          </p:nvSpPr>
          <p:spPr bwMode="auto">
            <a:xfrm flipH="1">
              <a:off x="3072" y="2016"/>
              <a:ext cx="52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181" name="Line 35"/>
            <p:cNvSpPr>
              <a:spLocks noChangeShapeType="1"/>
            </p:cNvSpPr>
            <p:nvPr/>
          </p:nvSpPr>
          <p:spPr bwMode="auto">
            <a:xfrm>
              <a:off x="3264" y="1488"/>
              <a:ext cx="0" cy="528"/>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82" name="Rectangle 36"/>
            <p:cNvSpPr>
              <a:spLocks noChangeArrowheads="1"/>
            </p:cNvSpPr>
            <p:nvPr/>
          </p:nvSpPr>
          <p:spPr bwMode="auto">
            <a:xfrm>
              <a:off x="3024" y="1584"/>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h</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baseline="-25000">
                <a:solidFill>
                  <a:srgbClr val="CC3300"/>
                </a:solidFill>
                <a:latin typeface="Times New Roman" panose="02020603050405020304" pitchFamily="18" charset="0"/>
                <a:sym typeface="Symbol" panose="05050102010706020507" pitchFamily="18" charset="2"/>
              </a:endParaRPr>
            </a:p>
          </p:txBody>
        </p:sp>
      </p:grpSp>
      <p:sp>
        <p:nvSpPr>
          <p:cNvPr id="771114" name="Text Box 42"/>
          <p:cNvSpPr txBox="1">
            <a:spLocks noChangeArrowheads="1"/>
          </p:cNvSpPr>
          <p:nvPr/>
        </p:nvSpPr>
        <p:spPr bwMode="auto">
          <a:xfrm>
            <a:off x="1182757" y="5384386"/>
            <a:ext cx="655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2400" b="1">
                <a:solidFill>
                  <a:srgbClr val="0000FF"/>
                </a:solidFill>
              </a:rPr>
              <a:t>假定滑动面上作用点位置：</a:t>
            </a:r>
            <a:r>
              <a:rPr lang="en-US" altLang="zh-CN" sz="2400" b="1">
                <a:solidFill>
                  <a:srgbClr val="0000FF"/>
                </a:solidFill>
              </a:rPr>
              <a:t>n</a:t>
            </a:r>
            <a:endParaRPr lang="en-US" altLang="zh-CN" sz="2400" b="1">
              <a:solidFill>
                <a:srgbClr val="0000FF"/>
              </a:solidFill>
            </a:endParaRPr>
          </a:p>
        </p:txBody>
      </p:sp>
      <p:sp>
        <p:nvSpPr>
          <p:cNvPr id="771115" name="AutoShape 43"/>
          <p:cNvSpPr/>
          <p:nvPr/>
        </p:nvSpPr>
        <p:spPr bwMode="auto">
          <a:xfrm>
            <a:off x="5257800" y="5029200"/>
            <a:ext cx="76200" cy="762000"/>
          </a:xfrm>
          <a:prstGeom prst="rightBrace">
            <a:avLst>
              <a:gd name="adj1" fmla="val 83333"/>
              <a:gd name="adj2" fmla="val 50000"/>
            </a:avLst>
          </a:prstGeom>
          <a:noFill/>
          <a:ln w="34925">
            <a:solidFill>
              <a:srgbClr val="CC3300"/>
            </a:solidFill>
            <a:round/>
          </a:ln>
          <a:extLst>
            <a:ext uri="{909E8E84-426E-40DD-AFC4-6F175D3DCCD1}">
              <a14:hiddenFill xmlns:a14="http://schemas.microsoft.com/office/drawing/2010/main">
                <a:solidFill>
                  <a:srgbClr val="FFFFFF"/>
                </a:solidFill>
              </a14:hiddenFill>
            </a:ext>
          </a:extLst>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771116" name="Text Box 44"/>
          <p:cNvSpPr txBox="1">
            <a:spLocks noChangeArrowheads="1"/>
          </p:cNvSpPr>
          <p:nvPr/>
        </p:nvSpPr>
        <p:spPr bwMode="auto">
          <a:xfrm>
            <a:off x="1066800" y="6019800"/>
            <a:ext cx="4876800" cy="496888"/>
          </a:xfrm>
          <a:prstGeom prst="rect">
            <a:avLst/>
          </a:prstGeom>
          <a:solidFill>
            <a:schemeClr val="accent1"/>
          </a:solidFill>
          <a:ln w="9525" algn="ctr">
            <a:solidFill>
              <a:srgbClr val="0066FF"/>
            </a:solidFill>
            <a:miter lim="800000"/>
          </a:ln>
        </p:spPr>
        <p:txBody>
          <a:bodyPr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lang="en-US" altLang="zh-CN" sz="3200" b="1">
                <a:solidFill>
                  <a:srgbClr val="CC3300"/>
                </a:solidFill>
                <a:ea typeface="隶书" panose="02010509060101010101" pitchFamily="49" charset="-122"/>
              </a:rPr>
              <a:t> </a:t>
            </a:r>
            <a:r>
              <a:rPr lang="zh-CN" altLang="en-US" sz="3200" b="1">
                <a:solidFill>
                  <a:srgbClr val="CC3300"/>
                </a:solidFill>
                <a:ea typeface="隶书" panose="02010509060101010101" pitchFamily="49" charset="-122"/>
              </a:rPr>
              <a:t>未知数</a:t>
            </a:r>
            <a:r>
              <a:rPr lang="en-US" altLang="zh-CN" sz="3200" b="1">
                <a:solidFill>
                  <a:srgbClr val="CC3300"/>
                </a:solidFill>
                <a:ea typeface="隶书" panose="02010509060101010101" pitchFamily="49" charset="-122"/>
              </a:rPr>
              <a:t>: </a:t>
            </a:r>
            <a:r>
              <a:rPr lang="en-US" altLang="zh-CN" sz="3200" b="1">
                <a:solidFill>
                  <a:srgbClr val="0000FF"/>
                </a:solidFill>
                <a:ea typeface="隶书" panose="02010509060101010101" pitchFamily="49" charset="-122"/>
              </a:rPr>
              <a:t>4n-1  </a:t>
            </a:r>
            <a:r>
              <a:rPr lang="zh-CN" altLang="en-US" sz="3200" b="1">
                <a:solidFill>
                  <a:srgbClr val="CC3300"/>
                </a:solidFill>
                <a:ea typeface="隶书" panose="02010509060101010101" pitchFamily="49" charset="-122"/>
              </a:rPr>
              <a:t>方程数</a:t>
            </a:r>
            <a:r>
              <a:rPr lang="en-US" altLang="zh-CN" sz="3200" b="1">
                <a:solidFill>
                  <a:srgbClr val="CC3300"/>
                </a:solidFill>
                <a:ea typeface="隶书" panose="02010509060101010101" pitchFamily="49" charset="-122"/>
              </a:rPr>
              <a:t>: </a:t>
            </a:r>
            <a:r>
              <a:rPr lang="en-US" altLang="zh-CN" sz="3200" b="1">
                <a:solidFill>
                  <a:srgbClr val="0000FF"/>
                </a:solidFill>
                <a:ea typeface="隶书" panose="02010509060101010101" pitchFamily="49" charset="-122"/>
              </a:rPr>
              <a:t>4n </a:t>
            </a:r>
            <a:endParaRPr lang="en-US" altLang="zh-CN" sz="3200" b="1">
              <a:solidFill>
                <a:srgbClr val="0000FF"/>
              </a:solidFill>
              <a:ea typeface="隶书" panose="02010509060101010101" pitchFamily="49" charset="-122"/>
            </a:endParaRPr>
          </a:p>
        </p:txBody>
      </p:sp>
      <p:sp>
        <p:nvSpPr>
          <p:cNvPr id="771117" name="AutoShape 45"/>
          <p:cNvSpPr>
            <a:spLocks noChangeArrowheads="1"/>
          </p:cNvSpPr>
          <p:nvPr/>
        </p:nvSpPr>
        <p:spPr bwMode="auto">
          <a:xfrm>
            <a:off x="685800" y="5334000"/>
            <a:ext cx="304800" cy="914400"/>
          </a:xfrm>
          <a:prstGeom prst="curvedRightArrow">
            <a:avLst>
              <a:gd name="adj1" fmla="val 60000"/>
              <a:gd name="adj2" fmla="val 120000"/>
              <a:gd name="adj3" fmla="val 33333"/>
            </a:avLst>
          </a:prstGeom>
          <a:solidFill>
            <a:srgbClr val="99FF99"/>
          </a:solidFill>
          <a:ln w="9525">
            <a:solidFill>
              <a:srgbClr val="CC3300"/>
            </a:solidFill>
            <a:miter lim="800000"/>
          </a:ln>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grpSp>
        <p:nvGrpSpPr>
          <p:cNvPr id="48139" name="Group 77"/>
          <p:cNvGrpSpPr/>
          <p:nvPr/>
        </p:nvGrpSpPr>
        <p:grpSpPr bwMode="auto">
          <a:xfrm>
            <a:off x="304800" y="762000"/>
            <a:ext cx="4191000" cy="3656013"/>
            <a:chOff x="192" y="480"/>
            <a:chExt cx="2640" cy="2303"/>
          </a:xfrm>
        </p:grpSpPr>
        <p:sp>
          <p:nvSpPr>
            <p:cNvPr id="48150" name="Arc 49"/>
            <p:cNvSpPr/>
            <p:nvPr/>
          </p:nvSpPr>
          <p:spPr bwMode="auto">
            <a:xfrm rot="2376148" flipV="1">
              <a:off x="720" y="480"/>
              <a:ext cx="1321" cy="2256"/>
            </a:xfrm>
            <a:custGeom>
              <a:avLst/>
              <a:gdLst>
                <a:gd name="T0" fmla="*/ 0 w 21600"/>
                <a:gd name="T1" fmla="*/ 0 h 24398"/>
                <a:gd name="T2" fmla="*/ 0 w 21600"/>
                <a:gd name="T3" fmla="*/ 2 h 24398"/>
                <a:gd name="T4" fmla="*/ 0 w 21600"/>
                <a:gd name="T5" fmla="*/ 2 h 24398"/>
                <a:gd name="T6" fmla="*/ 0 60000 65536"/>
                <a:gd name="T7" fmla="*/ 0 60000 65536"/>
                <a:gd name="T8" fmla="*/ 0 60000 65536"/>
                <a:gd name="T9" fmla="*/ 0 w 21600"/>
                <a:gd name="T10" fmla="*/ 0 h 24398"/>
                <a:gd name="T11" fmla="*/ 21600 w 21600"/>
                <a:gd name="T12" fmla="*/ 24398 h 24398"/>
              </a:gdLst>
              <a:ahLst/>
              <a:cxnLst>
                <a:cxn ang="T6">
                  <a:pos x="T0" y="T1"/>
                </a:cxn>
                <a:cxn ang="T7">
                  <a:pos x="T2" y="T3"/>
                </a:cxn>
                <a:cxn ang="T8">
                  <a:pos x="T4" y="T5"/>
                </a:cxn>
              </a:cxnLst>
              <a:rect l="T9" t="T10" r="T11" b="T12"/>
              <a:pathLst>
                <a:path w="21600" h="24398" fill="none" extrusionOk="0">
                  <a:moveTo>
                    <a:pt x="4741" y="-1"/>
                  </a:moveTo>
                  <a:cubicBezTo>
                    <a:pt x="14597" y="2217"/>
                    <a:pt x="21600" y="10970"/>
                    <a:pt x="21600" y="21073"/>
                  </a:cubicBezTo>
                  <a:cubicBezTo>
                    <a:pt x="21600" y="22186"/>
                    <a:pt x="21513" y="23297"/>
                    <a:pt x="21342" y="24397"/>
                  </a:cubicBezTo>
                </a:path>
                <a:path w="21600" h="24398" stroke="0" extrusionOk="0">
                  <a:moveTo>
                    <a:pt x="4741" y="-1"/>
                  </a:moveTo>
                  <a:cubicBezTo>
                    <a:pt x="14597" y="2217"/>
                    <a:pt x="21600" y="10970"/>
                    <a:pt x="21600" y="21073"/>
                  </a:cubicBezTo>
                  <a:cubicBezTo>
                    <a:pt x="21600" y="22186"/>
                    <a:pt x="21513" y="23297"/>
                    <a:pt x="21342" y="24397"/>
                  </a:cubicBezTo>
                  <a:lnTo>
                    <a:pt x="0" y="21073"/>
                  </a:lnTo>
                  <a:lnTo>
                    <a:pt x="4741" y="-1"/>
                  </a:lnTo>
                  <a:close/>
                </a:path>
              </a:pathLst>
            </a:custGeom>
            <a:noFill/>
            <a:ln w="47625">
              <a:solidFill>
                <a:srgbClr val="CC33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48151" name="Group 76"/>
            <p:cNvGrpSpPr/>
            <p:nvPr/>
          </p:nvGrpSpPr>
          <p:grpSpPr bwMode="auto">
            <a:xfrm>
              <a:off x="192" y="817"/>
              <a:ext cx="2640" cy="1966"/>
              <a:chOff x="192" y="817"/>
              <a:chExt cx="2640" cy="1966"/>
            </a:xfrm>
          </p:grpSpPr>
          <p:sp>
            <p:nvSpPr>
              <p:cNvPr id="48152" name="Arc 51"/>
              <p:cNvSpPr/>
              <p:nvPr/>
            </p:nvSpPr>
            <p:spPr bwMode="auto">
              <a:xfrm rot="782077" flipH="1">
                <a:off x="480" y="912"/>
                <a:ext cx="2352" cy="1871"/>
              </a:xfrm>
              <a:custGeom>
                <a:avLst/>
                <a:gdLst>
                  <a:gd name="T0" fmla="*/ 0 w 21600"/>
                  <a:gd name="T1" fmla="*/ 0 h 21600"/>
                  <a:gd name="T2" fmla="*/ 3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47625">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8153" name="Line 52"/>
              <p:cNvSpPr>
                <a:spLocks noChangeShapeType="1"/>
              </p:cNvSpPr>
              <p:nvPr/>
            </p:nvSpPr>
            <p:spPr bwMode="auto">
              <a:xfrm>
                <a:off x="1152" y="1393"/>
                <a:ext cx="0" cy="864"/>
              </a:xfrm>
              <a:prstGeom prst="line">
                <a:avLst/>
              </a:prstGeom>
              <a:noFill/>
              <a:ln w="476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154" name="Line 53"/>
              <p:cNvSpPr>
                <a:spLocks noChangeShapeType="1"/>
              </p:cNvSpPr>
              <p:nvPr/>
            </p:nvSpPr>
            <p:spPr bwMode="auto">
              <a:xfrm>
                <a:off x="1488" y="1297"/>
                <a:ext cx="0" cy="864"/>
              </a:xfrm>
              <a:prstGeom prst="line">
                <a:avLst/>
              </a:prstGeom>
              <a:noFill/>
              <a:ln w="476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155" name="Rectangle 62"/>
              <p:cNvSpPr>
                <a:spLocks noChangeArrowheads="1"/>
              </p:cNvSpPr>
              <p:nvPr/>
            </p:nvSpPr>
            <p:spPr bwMode="auto">
              <a:xfrm>
                <a:off x="2544" y="817"/>
                <a:ext cx="2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800" b="1" i="1">
                    <a:solidFill>
                      <a:srgbClr val="CC3300"/>
                    </a:solidFill>
                    <a:latin typeface="Times New Roman" panose="02020603050405020304" pitchFamily="18" charset="0"/>
                    <a:sym typeface="Symbol" panose="05050102010706020507" pitchFamily="18" charset="2"/>
                  </a:rPr>
                  <a:t>a</a:t>
                </a:r>
                <a:endParaRPr kumimoji="1" lang="en-US" altLang="zh-CN" sz="2800" b="1" i="1" baseline="-25000">
                  <a:solidFill>
                    <a:srgbClr val="CC3300"/>
                  </a:solidFill>
                  <a:latin typeface="Times New Roman" panose="02020603050405020304" pitchFamily="18" charset="0"/>
                  <a:sym typeface="Symbol" panose="05050102010706020507" pitchFamily="18" charset="2"/>
                </a:endParaRPr>
              </a:p>
            </p:txBody>
          </p:sp>
          <p:sp>
            <p:nvSpPr>
              <p:cNvPr id="48156" name="Rectangle 63"/>
              <p:cNvSpPr>
                <a:spLocks noChangeArrowheads="1"/>
              </p:cNvSpPr>
              <p:nvPr/>
            </p:nvSpPr>
            <p:spPr bwMode="auto">
              <a:xfrm>
                <a:off x="192" y="1969"/>
                <a:ext cx="2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800" b="1" i="1">
                    <a:solidFill>
                      <a:srgbClr val="CC3300"/>
                    </a:solidFill>
                    <a:latin typeface="Times New Roman" panose="02020603050405020304" pitchFamily="18" charset="0"/>
                    <a:sym typeface="Symbol" panose="05050102010706020507" pitchFamily="18" charset="2"/>
                  </a:rPr>
                  <a:t>b</a:t>
                </a:r>
                <a:endParaRPr kumimoji="1" lang="en-US" altLang="zh-CN" sz="2800" b="1" i="1" baseline="-25000">
                  <a:solidFill>
                    <a:srgbClr val="CC3300"/>
                  </a:solidFill>
                  <a:latin typeface="Times New Roman" panose="02020603050405020304" pitchFamily="18" charset="0"/>
                  <a:sym typeface="Symbol" panose="05050102010706020507" pitchFamily="18" charset="2"/>
                </a:endParaRPr>
              </a:p>
            </p:txBody>
          </p:sp>
        </p:grpSp>
      </p:grpSp>
      <p:sp>
        <p:nvSpPr>
          <p:cNvPr id="771136" name="Freeform 64"/>
          <p:cNvSpPr/>
          <p:nvPr/>
        </p:nvSpPr>
        <p:spPr bwMode="auto">
          <a:xfrm>
            <a:off x="609600" y="1817688"/>
            <a:ext cx="3505200" cy="1752600"/>
          </a:xfrm>
          <a:custGeom>
            <a:avLst/>
            <a:gdLst>
              <a:gd name="T0" fmla="*/ 2147483646 w 2208"/>
              <a:gd name="T1" fmla="*/ 0 h 1104"/>
              <a:gd name="T2" fmla="*/ 2147483646 w 2208"/>
              <a:gd name="T3" fmla="*/ 2147483646 h 1104"/>
              <a:gd name="T4" fmla="*/ 2147483646 w 2208"/>
              <a:gd name="T5" fmla="*/ 2147483646 h 1104"/>
              <a:gd name="T6" fmla="*/ 2147483646 w 2208"/>
              <a:gd name="T7" fmla="*/ 2147483646 h 1104"/>
              <a:gd name="T8" fmla="*/ 2147483646 w 2208"/>
              <a:gd name="T9" fmla="*/ 2147483646 h 1104"/>
              <a:gd name="T10" fmla="*/ 2147483646 w 2208"/>
              <a:gd name="T11" fmla="*/ 2147483646 h 1104"/>
              <a:gd name="T12" fmla="*/ 2147483646 w 2208"/>
              <a:gd name="T13" fmla="*/ 2147483646 h 1104"/>
              <a:gd name="T14" fmla="*/ 2147483646 w 2208"/>
              <a:gd name="T15" fmla="*/ 2147483646 h 1104"/>
              <a:gd name="T16" fmla="*/ 2147483646 w 2208"/>
              <a:gd name="T17" fmla="*/ 2147483646 h 1104"/>
              <a:gd name="T18" fmla="*/ 2147483646 w 2208"/>
              <a:gd name="T19" fmla="*/ 2147483646 h 1104"/>
              <a:gd name="T20" fmla="*/ 2147483646 w 2208"/>
              <a:gd name="T21" fmla="*/ 2147483646 h 1104"/>
              <a:gd name="T22" fmla="*/ 2147483646 w 2208"/>
              <a:gd name="T23" fmla="*/ 2147483646 h 1104"/>
              <a:gd name="T24" fmla="*/ 2147483646 w 2208"/>
              <a:gd name="T25" fmla="*/ 2147483646 h 1104"/>
              <a:gd name="T26" fmla="*/ 2147483646 w 2208"/>
              <a:gd name="T27" fmla="*/ 2147483646 h 1104"/>
              <a:gd name="T28" fmla="*/ 2147483646 w 2208"/>
              <a:gd name="T29" fmla="*/ 2147483646 h 1104"/>
              <a:gd name="T30" fmla="*/ 2147483646 w 2208"/>
              <a:gd name="T31" fmla="*/ 2147483646 h 1104"/>
              <a:gd name="T32" fmla="*/ 2147483646 w 2208"/>
              <a:gd name="T33" fmla="*/ 2147483646 h 1104"/>
              <a:gd name="T34" fmla="*/ 2147483646 w 2208"/>
              <a:gd name="T35" fmla="*/ 2147483646 h 1104"/>
              <a:gd name="T36" fmla="*/ 2147483646 w 2208"/>
              <a:gd name="T37" fmla="*/ 2147483646 h 1104"/>
              <a:gd name="T38" fmla="*/ 2147483646 w 2208"/>
              <a:gd name="T39" fmla="*/ 2147483646 h 1104"/>
              <a:gd name="T40" fmla="*/ 2147483646 w 2208"/>
              <a:gd name="T41" fmla="*/ 2147483646 h 1104"/>
              <a:gd name="T42" fmla="*/ 2147483646 w 2208"/>
              <a:gd name="T43" fmla="*/ 2147483646 h 1104"/>
              <a:gd name="T44" fmla="*/ 0 w 2208"/>
              <a:gd name="T45" fmla="*/ 2147483646 h 110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208"/>
              <a:gd name="T70" fmla="*/ 0 h 1104"/>
              <a:gd name="T71" fmla="*/ 2208 w 2208"/>
              <a:gd name="T72" fmla="*/ 1104 h 110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208" h="1104">
                <a:moveTo>
                  <a:pt x="2208" y="0"/>
                </a:moveTo>
                <a:cubicBezTo>
                  <a:pt x="2189" y="6"/>
                  <a:pt x="2147" y="18"/>
                  <a:pt x="2128" y="32"/>
                </a:cubicBezTo>
                <a:cubicBezTo>
                  <a:pt x="2116" y="41"/>
                  <a:pt x="2109" y="56"/>
                  <a:pt x="2096" y="64"/>
                </a:cubicBezTo>
                <a:cubicBezTo>
                  <a:pt x="1997" y="130"/>
                  <a:pt x="2066" y="63"/>
                  <a:pt x="1984" y="128"/>
                </a:cubicBezTo>
                <a:cubicBezTo>
                  <a:pt x="1917" y="182"/>
                  <a:pt x="1987" y="143"/>
                  <a:pt x="1920" y="176"/>
                </a:cubicBezTo>
                <a:cubicBezTo>
                  <a:pt x="1915" y="187"/>
                  <a:pt x="1912" y="200"/>
                  <a:pt x="1904" y="208"/>
                </a:cubicBezTo>
                <a:cubicBezTo>
                  <a:pt x="1896" y="216"/>
                  <a:pt x="1882" y="217"/>
                  <a:pt x="1872" y="224"/>
                </a:cubicBezTo>
                <a:cubicBezTo>
                  <a:pt x="1823" y="261"/>
                  <a:pt x="1788" y="300"/>
                  <a:pt x="1728" y="320"/>
                </a:cubicBezTo>
                <a:cubicBezTo>
                  <a:pt x="1689" y="359"/>
                  <a:pt x="1624" y="402"/>
                  <a:pt x="1568" y="416"/>
                </a:cubicBezTo>
                <a:cubicBezTo>
                  <a:pt x="1547" y="421"/>
                  <a:pt x="1525" y="424"/>
                  <a:pt x="1504" y="432"/>
                </a:cubicBezTo>
                <a:cubicBezTo>
                  <a:pt x="1482" y="440"/>
                  <a:pt x="1440" y="464"/>
                  <a:pt x="1440" y="464"/>
                </a:cubicBezTo>
                <a:cubicBezTo>
                  <a:pt x="1397" y="549"/>
                  <a:pt x="1456" y="448"/>
                  <a:pt x="1392" y="512"/>
                </a:cubicBezTo>
                <a:cubicBezTo>
                  <a:pt x="1384" y="520"/>
                  <a:pt x="1385" y="537"/>
                  <a:pt x="1376" y="544"/>
                </a:cubicBezTo>
                <a:cubicBezTo>
                  <a:pt x="1376" y="544"/>
                  <a:pt x="1296" y="584"/>
                  <a:pt x="1280" y="592"/>
                </a:cubicBezTo>
                <a:cubicBezTo>
                  <a:pt x="1254" y="605"/>
                  <a:pt x="1209" y="655"/>
                  <a:pt x="1184" y="672"/>
                </a:cubicBezTo>
                <a:cubicBezTo>
                  <a:pt x="1121" y="714"/>
                  <a:pt x="1043" y="735"/>
                  <a:pt x="976" y="768"/>
                </a:cubicBezTo>
                <a:cubicBezTo>
                  <a:pt x="955" y="779"/>
                  <a:pt x="933" y="789"/>
                  <a:pt x="912" y="800"/>
                </a:cubicBezTo>
                <a:cubicBezTo>
                  <a:pt x="899" y="807"/>
                  <a:pt x="893" y="825"/>
                  <a:pt x="880" y="832"/>
                </a:cubicBezTo>
                <a:cubicBezTo>
                  <a:pt x="860" y="842"/>
                  <a:pt x="837" y="840"/>
                  <a:pt x="816" y="848"/>
                </a:cubicBezTo>
                <a:cubicBezTo>
                  <a:pt x="744" y="875"/>
                  <a:pt x="681" y="920"/>
                  <a:pt x="608" y="944"/>
                </a:cubicBezTo>
                <a:cubicBezTo>
                  <a:pt x="505" y="978"/>
                  <a:pt x="387" y="959"/>
                  <a:pt x="288" y="1008"/>
                </a:cubicBezTo>
                <a:cubicBezTo>
                  <a:pt x="242" y="1031"/>
                  <a:pt x="191" y="1036"/>
                  <a:pt x="144" y="1056"/>
                </a:cubicBezTo>
                <a:cubicBezTo>
                  <a:pt x="91" y="1079"/>
                  <a:pt x="59" y="1104"/>
                  <a:pt x="0" y="1104"/>
                </a:cubicBezTo>
              </a:path>
            </a:pathLst>
          </a:custGeom>
          <a:noFill/>
          <a:ln w="34925">
            <a:solidFill>
              <a:srgbClr val="FF9933"/>
            </a:soli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6" name="Group 65"/>
          <p:cNvGrpSpPr/>
          <p:nvPr/>
        </p:nvGrpSpPr>
        <p:grpSpPr bwMode="auto">
          <a:xfrm>
            <a:off x="2362200" y="2973388"/>
            <a:ext cx="838200" cy="533400"/>
            <a:chOff x="1536" y="1969"/>
            <a:chExt cx="528" cy="336"/>
          </a:xfrm>
        </p:grpSpPr>
        <p:sp>
          <p:nvSpPr>
            <p:cNvPr id="48146" name="Line 66"/>
            <p:cNvSpPr>
              <a:spLocks noChangeShapeType="1"/>
            </p:cNvSpPr>
            <p:nvPr/>
          </p:nvSpPr>
          <p:spPr bwMode="auto">
            <a:xfrm>
              <a:off x="1536" y="1969"/>
              <a:ext cx="33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147" name="Line 67"/>
            <p:cNvSpPr>
              <a:spLocks noChangeShapeType="1"/>
            </p:cNvSpPr>
            <p:nvPr/>
          </p:nvSpPr>
          <p:spPr bwMode="auto">
            <a:xfrm>
              <a:off x="1536" y="2257"/>
              <a:ext cx="33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148" name="Line 68"/>
            <p:cNvSpPr>
              <a:spLocks noChangeShapeType="1"/>
            </p:cNvSpPr>
            <p:nvPr/>
          </p:nvSpPr>
          <p:spPr bwMode="auto">
            <a:xfrm>
              <a:off x="1728" y="1969"/>
              <a:ext cx="0" cy="288"/>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49" name="Rectangle 69"/>
            <p:cNvSpPr>
              <a:spLocks noChangeArrowheads="1"/>
            </p:cNvSpPr>
            <p:nvPr/>
          </p:nvSpPr>
          <p:spPr bwMode="auto">
            <a:xfrm>
              <a:off x="1776" y="2017"/>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h</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baseline="-25000">
                <a:solidFill>
                  <a:srgbClr val="CC3300"/>
                </a:solidFill>
                <a:latin typeface="Times New Roman" panose="02020603050405020304" pitchFamily="18" charset="0"/>
                <a:sym typeface="Symbol" panose="05050102010706020507" pitchFamily="18" charset="2"/>
              </a:endParaRPr>
            </a:p>
          </p:txBody>
        </p:sp>
      </p:grpSp>
      <p:sp>
        <p:nvSpPr>
          <p:cNvPr id="771142" name="AutoShape 70"/>
          <p:cNvSpPr>
            <a:spLocks noChangeArrowheads="1"/>
          </p:cNvSpPr>
          <p:nvPr/>
        </p:nvSpPr>
        <p:spPr bwMode="auto">
          <a:xfrm>
            <a:off x="228600" y="1906588"/>
            <a:ext cx="990600" cy="441325"/>
          </a:xfrm>
          <a:prstGeom prst="wedgeRoundRectCallout">
            <a:avLst>
              <a:gd name="adj1" fmla="val 95194"/>
              <a:gd name="adj2" fmla="val 254676"/>
              <a:gd name="adj3" fmla="val 16667"/>
            </a:avLst>
          </a:prstGeom>
          <a:noFill/>
          <a:ln w="19050" algn="ctr">
            <a:solidFill>
              <a:srgbClr val="3333FF"/>
            </a:solidFill>
            <a:miter lim="800000"/>
          </a:ln>
          <a:extLst>
            <a:ext uri="{909E8E84-426E-40DD-AFC4-6F175D3DCCD1}">
              <a14:hiddenFill xmlns:a14="http://schemas.microsoft.com/office/drawing/2010/main">
                <a:solidFill>
                  <a:srgbClr val="FFFFFF"/>
                </a:solidFill>
              </a14:hiddenFill>
            </a:ext>
          </a:extLst>
        </p:spPr>
        <p:txBody>
          <a:bodyPr lIns="0" r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lang="zh-CN" altLang="en-US" sz="2000" b="1">
                <a:solidFill>
                  <a:srgbClr val="990033"/>
                </a:solidFill>
              </a:rPr>
              <a:t>推力线</a:t>
            </a:r>
            <a:endParaRPr lang="zh-CN" altLang="en-US" sz="2000" b="1">
              <a:solidFill>
                <a:srgbClr val="990033"/>
              </a:solidFill>
            </a:endParaRPr>
          </a:p>
        </p:txBody>
      </p:sp>
      <p:sp>
        <p:nvSpPr>
          <p:cNvPr id="771143" name="Text Box 71"/>
          <p:cNvSpPr txBox="1">
            <a:spLocks noChangeArrowheads="1"/>
          </p:cNvSpPr>
          <p:nvPr/>
        </p:nvSpPr>
        <p:spPr bwMode="auto">
          <a:xfrm>
            <a:off x="228600" y="3886200"/>
            <a:ext cx="1223963"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3200" b="1">
                <a:solidFill>
                  <a:srgbClr val="990033"/>
                </a:solidFill>
                <a:ea typeface="隶书" panose="02010509060101010101" pitchFamily="49" charset="-122"/>
              </a:rPr>
              <a:t>假定：</a:t>
            </a:r>
            <a:endParaRPr lang="zh-CN" altLang="en-US" sz="3200" b="1">
              <a:solidFill>
                <a:srgbClr val="0000FF"/>
              </a:solidFill>
              <a:ea typeface="隶书" panose="02010509060101010101" pitchFamily="49" charset="-122"/>
            </a:endParaRPr>
          </a:p>
        </p:txBody>
      </p:sp>
      <p:sp>
        <p:nvSpPr>
          <p:cNvPr id="771144" name="Text Box 72"/>
          <p:cNvSpPr txBox="1">
            <a:spLocks noChangeArrowheads="1"/>
          </p:cNvSpPr>
          <p:nvPr/>
        </p:nvSpPr>
        <p:spPr bwMode="auto">
          <a:xfrm>
            <a:off x="1371600" y="4038600"/>
            <a:ext cx="7162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2000" b="1">
                <a:solidFill>
                  <a:schemeClr val="tx2"/>
                </a:solidFill>
              </a:rPr>
              <a:t>假定各土条间推力作用点连线为光滑连续曲线 </a:t>
            </a:r>
            <a:r>
              <a:rPr lang="zh-CN" altLang="en-US" sz="2000" b="1">
                <a:solidFill>
                  <a:srgbClr val="CC3300"/>
                </a:solidFill>
                <a:latin typeface="Times New Roman" panose="02020603050405020304" pitchFamily="18" charset="0"/>
                <a:sym typeface="Symbol" panose="05050102010706020507" pitchFamily="18" charset="2"/>
              </a:rPr>
              <a:t> </a:t>
            </a:r>
            <a:r>
              <a:rPr lang="zh-CN" altLang="en-US" sz="2000" b="1">
                <a:solidFill>
                  <a:srgbClr val="3333FF"/>
                </a:solidFill>
                <a:latin typeface="Times New Roman" panose="02020603050405020304" pitchFamily="18" charset="0"/>
                <a:sym typeface="Symbol" panose="05050102010706020507" pitchFamily="18" charset="2"/>
              </a:rPr>
              <a:t>“推力作用线”</a:t>
            </a:r>
            <a:endParaRPr lang="zh-CN" altLang="en-US" sz="2000" b="1">
              <a:solidFill>
                <a:srgbClr val="3333FF"/>
              </a:solidFill>
              <a:latin typeface="Times New Roman" panose="02020603050405020304" pitchFamily="18" charset="0"/>
            </a:endParaRPr>
          </a:p>
        </p:txBody>
      </p:sp>
      <p:sp>
        <p:nvSpPr>
          <p:cNvPr id="771145" name="Text Box 73"/>
          <p:cNvSpPr txBox="1">
            <a:spLocks noChangeArrowheads="1"/>
          </p:cNvSpPr>
          <p:nvPr/>
        </p:nvSpPr>
        <p:spPr bwMode="auto">
          <a:xfrm>
            <a:off x="1371600" y="4419600"/>
            <a:ext cx="3733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2000" b="1">
                <a:solidFill>
                  <a:srgbClr val="FF0066"/>
                </a:solidFill>
              </a:rPr>
              <a:t>即假定了条块间力的作用点位置</a:t>
            </a:r>
            <a:endParaRPr lang="zh-CN" altLang="en-US" sz="2000" b="1">
              <a:solidFill>
                <a:srgbClr val="FF0066"/>
              </a:solidFill>
              <a:latin typeface="Times New Roman" panose="02020603050405020304" pitchFamily="18" charset="0"/>
            </a:endParaRPr>
          </a:p>
        </p:txBody>
      </p:sp>
      <p:sp>
        <p:nvSpPr>
          <p:cNvPr id="59" name="Rectangle 6"/>
          <p:cNvSpPr>
            <a:spLocks noChangeArrowheads="1"/>
          </p:cNvSpPr>
          <p:nvPr/>
        </p:nvSpPr>
        <p:spPr bwMode="auto">
          <a:xfrm>
            <a:off x="0" y="-7396"/>
            <a:ext cx="41148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黏性土坡的稳定性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71143"/>
                                        </p:tgtEl>
                                        <p:attrNameLst>
                                          <p:attrName>style.visibility</p:attrName>
                                        </p:attrNameLst>
                                      </p:cBhvr>
                                      <p:to>
                                        <p:strVal val="visible"/>
                                      </p:to>
                                    </p:set>
                                    <p:animEffect transition="in" filter="dissolve">
                                      <p:cBhvr>
                                        <p:cTn id="7" dur="500"/>
                                        <p:tgtEl>
                                          <p:spTgt spid="77114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71144"/>
                                        </p:tgtEl>
                                        <p:attrNameLst>
                                          <p:attrName>style.visibility</p:attrName>
                                        </p:attrNameLst>
                                      </p:cBhvr>
                                      <p:to>
                                        <p:strVal val="visible"/>
                                      </p:to>
                                    </p:set>
                                    <p:animEffect transition="in" filter="dissolve">
                                      <p:cBhvr>
                                        <p:cTn id="12" dur="500"/>
                                        <p:tgtEl>
                                          <p:spTgt spid="77114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71136"/>
                                        </p:tgtEl>
                                        <p:attrNameLst>
                                          <p:attrName>style.visibility</p:attrName>
                                        </p:attrNameLst>
                                      </p:cBhvr>
                                      <p:to>
                                        <p:strVal val="visible"/>
                                      </p:to>
                                    </p:set>
                                    <p:animEffect transition="in" filter="wipe(up)">
                                      <p:cBhvr>
                                        <p:cTn id="17" dur="500"/>
                                        <p:tgtEl>
                                          <p:spTgt spid="771136"/>
                                        </p:tgtEl>
                                      </p:cBhvr>
                                    </p:animEffect>
                                  </p:childTnLst>
                                </p:cTn>
                              </p:par>
                            </p:childTnLst>
                          </p:cTn>
                        </p:par>
                        <p:par>
                          <p:cTn id="18" fill="hold">
                            <p:stCondLst>
                              <p:cond delay="500"/>
                            </p:stCondLst>
                            <p:childTnLst>
                              <p:par>
                                <p:cTn id="19" presetID="1" presetClass="entr" presetSubtype="0" fill="hold" grpId="0" nodeType="afterEffect">
                                  <p:stCondLst>
                                    <p:cond delay="0"/>
                                  </p:stCondLst>
                                  <p:iterate type="lt">
                                    <p:tmAbs val="75"/>
                                  </p:iterate>
                                  <p:childTnLst>
                                    <p:set>
                                      <p:cBhvr>
                                        <p:cTn id="20" dur="1" fill="hold">
                                          <p:stCondLst>
                                            <p:cond delay="74"/>
                                          </p:stCondLst>
                                        </p:cTn>
                                        <p:tgtEl>
                                          <p:spTgt spid="77114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771145"/>
                                        </p:tgtEl>
                                        <p:attrNameLst>
                                          <p:attrName>style.visibility</p:attrName>
                                        </p:attrNameLst>
                                      </p:cBhvr>
                                      <p:to>
                                        <p:strVal val="visible"/>
                                      </p:to>
                                    </p:set>
                                    <p:animEffect transition="in" filter="dissolve">
                                      <p:cBhvr>
                                        <p:cTn id="25" dur="500"/>
                                        <p:tgtEl>
                                          <p:spTgt spid="771145"/>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dissolve">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771076"/>
                                        </p:tgtEl>
                                        <p:attrNameLst>
                                          <p:attrName>style.visibility</p:attrName>
                                        </p:attrNameLst>
                                      </p:cBhvr>
                                      <p:to>
                                        <p:strVal val="visible"/>
                                      </p:to>
                                    </p:set>
                                    <p:animEffect transition="in" filter="dissolve">
                                      <p:cBhvr>
                                        <p:cTn id="35" dur="500"/>
                                        <p:tgtEl>
                                          <p:spTgt spid="771076"/>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771114"/>
                                        </p:tgtEl>
                                        <p:attrNameLst>
                                          <p:attrName>style.visibility</p:attrName>
                                        </p:attrNameLst>
                                      </p:cBhvr>
                                      <p:to>
                                        <p:strVal val="visible"/>
                                      </p:to>
                                    </p:set>
                                    <p:animEffect transition="in" filter="dissolve">
                                      <p:cBhvr>
                                        <p:cTn id="40" dur="500"/>
                                        <p:tgtEl>
                                          <p:spTgt spid="771114"/>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771115"/>
                                        </p:tgtEl>
                                        <p:attrNameLst>
                                          <p:attrName>style.visibility</p:attrName>
                                        </p:attrNameLst>
                                      </p:cBhvr>
                                      <p:to>
                                        <p:strVal val="visible"/>
                                      </p:to>
                                    </p:set>
                                    <p:animEffect transition="in" filter="dissolve">
                                      <p:cBhvr>
                                        <p:cTn id="45" dur="500"/>
                                        <p:tgtEl>
                                          <p:spTgt spid="771115"/>
                                        </p:tgtEl>
                                      </p:cBhvr>
                                    </p:animEffect>
                                  </p:childTnLst>
                                </p:cTn>
                              </p:par>
                            </p:childTnLst>
                          </p:cTn>
                        </p:par>
                        <p:par>
                          <p:cTn id="46" fill="hold">
                            <p:stCondLst>
                              <p:cond delay="500"/>
                            </p:stCondLst>
                            <p:childTnLst>
                              <p:par>
                                <p:cTn id="47" presetID="9" presetClass="entr" presetSubtype="0" fill="hold" grpId="0" nodeType="afterEffect">
                                  <p:stCondLst>
                                    <p:cond delay="0"/>
                                  </p:stCondLst>
                                  <p:childTnLst>
                                    <p:set>
                                      <p:cBhvr>
                                        <p:cTn id="48" dur="1" fill="hold">
                                          <p:stCondLst>
                                            <p:cond delay="0"/>
                                          </p:stCondLst>
                                        </p:cTn>
                                        <p:tgtEl>
                                          <p:spTgt spid="771077"/>
                                        </p:tgtEl>
                                        <p:attrNameLst>
                                          <p:attrName>style.visibility</p:attrName>
                                        </p:attrNameLst>
                                      </p:cBhvr>
                                      <p:to>
                                        <p:strVal val="visible"/>
                                      </p:to>
                                    </p:set>
                                    <p:animEffect transition="in" filter="dissolve">
                                      <p:cBhvr>
                                        <p:cTn id="49" dur="500"/>
                                        <p:tgtEl>
                                          <p:spTgt spid="771077"/>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771117"/>
                                        </p:tgtEl>
                                        <p:attrNameLst>
                                          <p:attrName>style.visibility</p:attrName>
                                        </p:attrNameLst>
                                      </p:cBhvr>
                                      <p:to>
                                        <p:strVal val="visible"/>
                                      </p:to>
                                    </p:set>
                                    <p:animEffect transition="in" filter="wipe(up)">
                                      <p:cBhvr>
                                        <p:cTn id="54" dur="500"/>
                                        <p:tgtEl>
                                          <p:spTgt spid="771117"/>
                                        </p:tgtEl>
                                      </p:cBhvr>
                                    </p:animEffect>
                                  </p:childTnLst>
                                </p:cTn>
                              </p:par>
                            </p:childTnLst>
                          </p:cTn>
                        </p:par>
                        <p:par>
                          <p:cTn id="55" fill="hold">
                            <p:stCondLst>
                              <p:cond delay="500"/>
                            </p:stCondLst>
                            <p:childTnLst>
                              <p:par>
                                <p:cTn id="56" presetID="9" presetClass="entr" presetSubtype="0" fill="hold" grpId="0" nodeType="afterEffect">
                                  <p:stCondLst>
                                    <p:cond delay="0"/>
                                  </p:stCondLst>
                                  <p:childTnLst>
                                    <p:set>
                                      <p:cBhvr>
                                        <p:cTn id="57" dur="1" fill="hold">
                                          <p:stCondLst>
                                            <p:cond delay="0"/>
                                          </p:stCondLst>
                                        </p:cTn>
                                        <p:tgtEl>
                                          <p:spTgt spid="771116"/>
                                        </p:tgtEl>
                                        <p:attrNameLst>
                                          <p:attrName>style.visibility</p:attrName>
                                        </p:attrNameLst>
                                      </p:cBhvr>
                                      <p:to>
                                        <p:strVal val="visible"/>
                                      </p:to>
                                    </p:set>
                                    <p:animEffect transition="in" filter="dissolve">
                                      <p:cBhvr>
                                        <p:cTn id="58" dur="500"/>
                                        <p:tgtEl>
                                          <p:spTgt spid="771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1076" grpId="0" autoUpdateAnimBg="0"/>
      <p:bldP spid="771077" grpId="0" bldLvl="0" animBg="1" autoUpdateAnimBg="0"/>
      <p:bldP spid="771114" grpId="0" autoUpdateAnimBg="0"/>
      <p:bldP spid="771115" grpId="0" bldLvl="0" animBg="1"/>
      <p:bldP spid="771116" grpId="0" bldLvl="0" animBg="1" autoUpdateAnimBg="0"/>
      <p:bldP spid="771117" grpId="0" bldLvl="0" animBg="1"/>
      <p:bldP spid="771142" grpId="0" bldLvl="0" animBg="1" autoUpdateAnimBg="0"/>
      <p:bldP spid="771143" grpId="0" autoUpdateAnimBg="0"/>
      <p:bldP spid="771144" grpId="0" autoUpdateAnimBg="0"/>
      <p:bldP spid="771145" grpId="0"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2156" name="Text Box 60"/>
          <p:cNvSpPr txBox="1">
            <a:spLocks noChangeArrowheads="1"/>
          </p:cNvSpPr>
          <p:nvPr/>
        </p:nvSpPr>
        <p:spPr bwMode="auto">
          <a:xfrm>
            <a:off x="335022" y="2158961"/>
            <a:ext cx="23146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2800" b="1" dirty="0">
                <a:solidFill>
                  <a:srgbClr val="CC3300"/>
                </a:solidFill>
                <a:ea typeface="隶书" panose="02010509060101010101" pitchFamily="49" charset="-122"/>
              </a:rPr>
              <a:t>极限平衡条件</a:t>
            </a:r>
            <a:endParaRPr lang="zh-CN" altLang="en-US" sz="2800" b="1" dirty="0">
              <a:solidFill>
                <a:srgbClr val="CC3300"/>
              </a:solidFill>
              <a:ea typeface="隶书" panose="02010509060101010101" pitchFamily="49" charset="-122"/>
            </a:endParaRPr>
          </a:p>
        </p:txBody>
      </p:sp>
      <p:sp>
        <p:nvSpPr>
          <p:cNvPr id="772163" name="AutoShape 67"/>
          <p:cNvSpPr>
            <a:spLocks noChangeArrowheads="1"/>
          </p:cNvSpPr>
          <p:nvPr/>
        </p:nvSpPr>
        <p:spPr bwMode="auto">
          <a:xfrm>
            <a:off x="3231439" y="2902736"/>
            <a:ext cx="228600" cy="457200"/>
          </a:xfrm>
          <a:prstGeom prst="downArrow">
            <a:avLst>
              <a:gd name="adj1" fmla="val 50000"/>
              <a:gd name="adj2" fmla="val 50000"/>
            </a:avLst>
          </a:prstGeom>
          <a:solidFill>
            <a:srgbClr val="66FF33"/>
          </a:solidFill>
          <a:ln w="9525">
            <a:solidFill>
              <a:srgbClr val="FF0066"/>
            </a:solidFill>
            <a:miter lim="800000"/>
          </a:ln>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grpSp>
        <p:nvGrpSpPr>
          <p:cNvPr id="4" name="Group 68"/>
          <p:cNvGrpSpPr/>
          <p:nvPr/>
        </p:nvGrpSpPr>
        <p:grpSpPr bwMode="auto">
          <a:xfrm>
            <a:off x="3505200" y="3810000"/>
            <a:ext cx="6008688" cy="2500313"/>
            <a:chOff x="55" y="2064"/>
            <a:chExt cx="3785" cy="1575"/>
          </a:xfrm>
        </p:grpSpPr>
        <p:sp>
          <p:nvSpPr>
            <p:cNvPr id="49169" name="Freeform 69"/>
            <p:cNvSpPr/>
            <p:nvPr/>
          </p:nvSpPr>
          <p:spPr bwMode="auto">
            <a:xfrm>
              <a:off x="233" y="2405"/>
              <a:ext cx="3022" cy="1189"/>
            </a:xfrm>
            <a:custGeom>
              <a:avLst/>
              <a:gdLst>
                <a:gd name="T0" fmla="*/ 0 w 1785"/>
                <a:gd name="T1" fmla="*/ 2496 h 763"/>
                <a:gd name="T2" fmla="*/ 1339 w 1785"/>
                <a:gd name="T3" fmla="*/ 2506 h 763"/>
                <a:gd name="T4" fmla="*/ 6647 w 1785"/>
                <a:gd name="T5" fmla="*/ 0 h 763"/>
                <a:gd name="T6" fmla="*/ 8661 w 1785"/>
                <a:gd name="T7" fmla="*/ 0 h 763"/>
                <a:gd name="T8" fmla="*/ 7920 w 1785"/>
                <a:gd name="T9" fmla="*/ 0 h 763"/>
                <a:gd name="T10" fmla="*/ 7652 w 1785"/>
                <a:gd name="T11" fmla="*/ 597 h 763"/>
                <a:gd name="T12" fmla="*/ 7254 w 1785"/>
                <a:gd name="T13" fmla="*/ 1153 h 763"/>
                <a:gd name="T14" fmla="*/ 6931 w 1785"/>
                <a:gd name="T15" fmla="*/ 1487 h 763"/>
                <a:gd name="T16" fmla="*/ 6589 w 1785"/>
                <a:gd name="T17" fmla="*/ 1797 h 763"/>
                <a:gd name="T18" fmla="*/ 6091 w 1785"/>
                <a:gd name="T19" fmla="*/ 2135 h 763"/>
                <a:gd name="T20" fmla="*/ 5484 w 1785"/>
                <a:gd name="T21" fmla="*/ 2453 h 763"/>
                <a:gd name="T22" fmla="*/ 5018 w 1785"/>
                <a:gd name="T23" fmla="*/ 2615 h 763"/>
                <a:gd name="T24" fmla="*/ 4425 w 1785"/>
                <a:gd name="T25" fmla="*/ 2752 h 763"/>
                <a:gd name="T26" fmla="*/ 3887 w 1785"/>
                <a:gd name="T27" fmla="*/ 2841 h 763"/>
                <a:gd name="T28" fmla="*/ 3213 w 1785"/>
                <a:gd name="T29" fmla="*/ 2888 h 763"/>
                <a:gd name="T30" fmla="*/ 2760 w 1785"/>
                <a:gd name="T31" fmla="*/ 2888 h 763"/>
                <a:gd name="T32" fmla="*/ 2255 w 1785"/>
                <a:gd name="T33" fmla="*/ 2861 h 763"/>
                <a:gd name="T34" fmla="*/ 1639 w 1785"/>
                <a:gd name="T35" fmla="*/ 2771 h 763"/>
                <a:gd name="T36" fmla="*/ 1150 w 1785"/>
                <a:gd name="T37" fmla="*/ 2652 h 763"/>
                <a:gd name="T38" fmla="*/ 733 w 1785"/>
                <a:gd name="T39" fmla="*/ 2523 h 763"/>
                <a:gd name="T40" fmla="*/ 650 w 1785"/>
                <a:gd name="T41" fmla="*/ 2506 h 76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785"/>
                <a:gd name="T64" fmla="*/ 0 h 763"/>
                <a:gd name="T65" fmla="*/ 1785 w 1785"/>
                <a:gd name="T66" fmla="*/ 763 h 76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785" h="763">
                  <a:moveTo>
                    <a:pt x="0" y="660"/>
                  </a:moveTo>
                  <a:lnTo>
                    <a:pt x="276" y="662"/>
                  </a:lnTo>
                  <a:lnTo>
                    <a:pt x="1370" y="0"/>
                  </a:lnTo>
                  <a:lnTo>
                    <a:pt x="1785" y="0"/>
                  </a:lnTo>
                  <a:lnTo>
                    <a:pt x="1632" y="0"/>
                  </a:lnTo>
                  <a:lnTo>
                    <a:pt x="1577" y="158"/>
                  </a:lnTo>
                  <a:lnTo>
                    <a:pt x="1495" y="305"/>
                  </a:lnTo>
                  <a:lnTo>
                    <a:pt x="1428" y="393"/>
                  </a:lnTo>
                  <a:lnTo>
                    <a:pt x="1358" y="475"/>
                  </a:lnTo>
                  <a:lnTo>
                    <a:pt x="1255" y="564"/>
                  </a:lnTo>
                  <a:lnTo>
                    <a:pt x="1130" y="648"/>
                  </a:lnTo>
                  <a:lnTo>
                    <a:pt x="1034" y="691"/>
                  </a:lnTo>
                  <a:lnTo>
                    <a:pt x="912" y="727"/>
                  </a:lnTo>
                  <a:lnTo>
                    <a:pt x="801" y="751"/>
                  </a:lnTo>
                  <a:lnTo>
                    <a:pt x="662" y="763"/>
                  </a:lnTo>
                  <a:lnTo>
                    <a:pt x="569" y="763"/>
                  </a:lnTo>
                  <a:lnTo>
                    <a:pt x="465" y="756"/>
                  </a:lnTo>
                  <a:lnTo>
                    <a:pt x="338" y="732"/>
                  </a:lnTo>
                  <a:lnTo>
                    <a:pt x="237" y="701"/>
                  </a:lnTo>
                  <a:lnTo>
                    <a:pt x="151" y="667"/>
                  </a:lnTo>
                  <a:lnTo>
                    <a:pt x="134" y="662"/>
                  </a:lnTo>
                </a:path>
              </a:pathLst>
            </a:custGeom>
            <a:solidFill>
              <a:srgbClr val="66FF66">
                <a:alpha val="50195"/>
              </a:srgbClr>
            </a:solidFill>
            <a:ln w="38100">
              <a:solidFill>
                <a:srgbClr val="008000"/>
              </a:solidFill>
              <a:round/>
            </a:ln>
          </p:spPr>
          <p:txBody>
            <a:bodyPr/>
            <a:lstStyle/>
            <a:p>
              <a:endParaRPr lang="zh-CN" altLang="en-US"/>
            </a:p>
          </p:txBody>
        </p:sp>
        <p:sp>
          <p:nvSpPr>
            <p:cNvPr id="49170" name="Line 70"/>
            <p:cNvSpPr>
              <a:spLocks noChangeShapeType="1"/>
            </p:cNvSpPr>
            <p:nvPr/>
          </p:nvSpPr>
          <p:spPr bwMode="auto">
            <a:xfrm flipV="1">
              <a:off x="721" y="3418"/>
              <a:ext cx="0" cy="104"/>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71" name="Line 71"/>
            <p:cNvSpPr>
              <a:spLocks noChangeShapeType="1"/>
            </p:cNvSpPr>
            <p:nvPr/>
          </p:nvSpPr>
          <p:spPr bwMode="auto">
            <a:xfrm flipV="1">
              <a:off x="927" y="3305"/>
              <a:ext cx="0" cy="26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72" name="Line 72"/>
            <p:cNvSpPr>
              <a:spLocks noChangeShapeType="1"/>
            </p:cNvSpPr>
            <p:nvPr/>
          </p:nvSpPr>
          <p:spPr bwMode="auto">
            <a:xfrm flipV="1">
              <a:off x="1163" y="3199"/>
              <a:ext cx="0" cy="40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73" name="Line 73"/>
            <p:cNvSpPr>
              <a:spLocks noChangeShapeType="1"/>
            </p:cNvSpPr>
            <p:nvPr/>
          </p:nvSpPr>
          <p:spPr bwMode="auto">
            <a:xfrm flipH="1" flipV="1">
              <a:off x="1403" y="3033"/>
              <a:ext cx="0" cy="55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74" name="Line 74"/>
            <p:cNvSpPr>
              <a:spLocks noChangeShapeType="1"/>
            </p:cNvSpPr>
            <p:nvPr/>
          </p:nvSpPr>
          <p:spPr bwMode="auto">
            <a:xfrm flipH="1" flipV="1">
              <a:off x="1635" y="2908"/>
              <a:ext cx="0" cy="656"/>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75" name="Line 75"/>
            <p:cNvSpPr>
              <a:spLocks noChangeShapeType="1"/>
            </p:cNvSpPr>
            <p:nvPr/>
          </p:nvSpPr>
          <p:spPr bwMode="auto">
            <a:xfrm flipV="1">
              <a:off x="1853" y="2782"/>
              <a:ext cx="0" cy="737"/>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76" name="Line 76"/>
            <p:cNvSpPr>
              <a:spLocks noChangeShapeType="1"/>
            </p:cNvSpPr>
            <p:nvPr/>
          </p:nvSpPr>
          <p:spPr bwMode="auto">
            <a:xfrm flipH="1" flipV="1">
              <a:off x="2111" y="2642"/>
              <a:ext cx="0" cy="78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77" name="Line 77"/>
            <p:cNvSpPr>
              <a:spLocks noChangeShapeType="1"/>
            </p:cNvSpPr>
            <p:nvPr/>
          </p:nvSpPr>
          <p:spPr bwMode="auto">
            <a:xfrm flipV="1">
              <a:off x="2340" y="2520"/>
              <a:ext cx="0" cy="766"/>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78" name="Line 78"/>
            <p:cNvSpPr>
              <a:spLocks noChangeShapeType="1"/>
            </p:cNvSpPr>
            <p:nvPr/>
          </p:nvSpPr>
          <p:spPr bwMode="auto">
            <a:xfrm>
              <a:off x="2549" y="2397"/>
              <a:ext cx="0" cy="73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79" name="Line 79"/>
            <p:cNvSpPr>
              <a:spLocks noChangeShapeType="1"/>
            </p:cNvSpPr>
            <p:nvPr/>
          </p:nvSpPr>
          <p:spPr bwMode="auto">
            <a:xfrm>
              <a:off x="2772" y="2405"/>
              <a:ext cx="0" cy="457"/>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80" name="Text Box 80"/>
            <p:cNvSpPr txBox="1">
              <a:spLocks noChangeArrowheads="1"/>
            </p:cNvSpPr>
            <p:nvPr/>
          </p:nvSpPr>
          <p:spPr bwMode="auto">
            <a:xfrm>
              <a:off x="672" y="3312"/>
              <a:ext cx="3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2</a:t>
              </a:r>
              <a:endParaRPr kumimoji="1" lang="en-US" altLang="zh-CN" sz="2800" b="1">
                <a:solidFill>
                  <a:srgbClr val="FF6600"/>
                </a:solidFill>
                <a:latin typeface="Times New Roman" panose="02020603050405020304" pitchFamily="18" charset="0"/>
              </a:endParaRPr>
            </a:p>
          </p:txBody>
        </p:sp>
        <p:sp>
          <p:nvSpPr>
            <p:cNvPr id="49181" name="Text Box 81"/>
            <p:cNvSpPr txBox="1">
              <a:spLocks noChangeArrowheads="1"/>
            </p:cNvSpPr>
            <p:nvPr/>
          </p:nvSpPr>
          <p:spPr bwMode="auto">
            <a:xfrm>
              <a:off x="904" y="3280"/>
              <a:ext cx="3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3</a:t>
              </a:r>
              <a:endParaRPr kumimoji="1" lang="en-US" altLang="zh-CN" sz="2800" b="1">
                <a:solidFill>
                  <a:srgbClr val="FF6600"/>
                </a:solidFill>
                <a:latin typeface="Times New Roman" panose="02020603050405020304" pitchFamily="18" charset="0"/>
              </a:endParaRPr>
            </a:p>
          </p:txBody>
        </p:sp>
        <p:sp>
          <p:nvSpPr>
            <p:cNvPr id="49182" name="Text Box 82"/>
            <p:cNvSpPr txBox="1">
              <a:spLocks noChangeArrowheads="1"/>
            </p:cNvSpPr>
            <p:nvPr/>
          </p:nvSpPr>
          <p:spPr bwMode="auto">
            <a:xfrm>
              <a:off x="1104" y="3264"/>
              <a:ext cx="3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800" b="1">
                  <a:solidFill>
                    <a:srgbClr val="FF6600"/>
                  </a:solidFill>
                  <a:latin typeface="Times New Roman" panose="02020603050405020304" pitchFamily="18" charset="0"/>
                </a:rPr>
                <a:t>4</a:t>
              </a:r>
              <a:endParaRPr kumimoji="1" lang="en-US" altLang="zh-CN" sz="2800" b="1">
                <a:solidFill>
                  <a:srgbClr val="FF6600"/>
                </a:solidFill>
                <a:latin typeface="Times New Roman" panose="02020603050405020304" pitchFamily="18" charset="0"/>
              </a:endParaRPr>
            </a:p>
          </p:txBody>
        </p:sp>
        <p:sp>
          <p:nvSpPr>
            <p:cNvPr id="49183" name="Text Box 83"/>
            <p:cNvSpPr txBox="1">
              <a:spLocks noChangeArrowheads="1"/>
            </p:cNvSpPr>
            <p:nvPr/>
          </p:nvSpPr>
          <p:spPr bwMode="auto">
            <a:xfrm>
              <a:off x="1392" y="3216"/>
              <a:ext cx="3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5</a:t>
              </a:r>
              <a:endParaRPr kumimoji="1" lang="en-US" altLang="zh-CN" sz="2800" b="1">
                <a:solidFill>
                  <a:srgbClr val="FF6600"/>
                </a:solidFill>
                <a:latin typeface="Times New Roman" panose="02020603050405020304" pitchFamily="18" charset="0"/>
              </a:endParaRPr>
            </a:p>
          </p:txBody>
        </p:sp>
        <p:sp>
          <p:nvSpPr>
            <p:cNvPr id="49184" name="Text Box 84"/>
            <p:cNvSpPr txBox="1">
              <a:spLocks noChangeArrowheads="1"/>
            </p:cNvSpPr>
            <p:nvPr/>
          </p:nvSpPr>
          <p:spPr bwMode="auto">
            <a:xfrm>
              <a:off x="1632" y="3120"/>
              <a:ext cx="3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6</a:t>
              </a:r>
              <a:endParaRPr kumimoji="1" lang="en-US" altLang="zh-CN" sz="2800" b="1">
                <a:solidFill>
                  <a:srgbClr val="FF6600"/>
                </a:solidFill>
                <a:latin typeface="Times New Roman" panose="02020603050405020304" pitchFamily="18" charset="0"/>
              </a:endParaRPr>
            </a:p>
          </p:txBody>
        </p:sp>
        <p:sp>
          <p:nvSpPr>
            <p:cNvPr id="49185" name="Text Box 85"/>
            <p:cNvSpPr txBox="1">
              <a:spLocks noChangeArrowheads="1"/>
            </p:cNvSpPr>
            <p:nvPr/>
          </p:nvSpPr>
          <p:spPr bwMode="auto">
            <a:xfrm>
              <a:off x="1872" y="2976"/>
              <a:ext cx="3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7</a:t>
              </a:r>
              <a:endParaRPr kumimoji="1" lang="en-US" altLang="zh-CN" sz="2800" b="1">
                <a:solidFill>
                  <a:srgbClr val="FF6600"/>
                </a:solidFill>
                <a:latin typeface="Times New Roman" panose="02020603050405020304" pitchFamily="18" charset="0"/>
              </a:endParaRPr>
            </a:p>
          </p:txBody>
        </p:sp>
        <p:sp>
          <p:nvSpPr>
            <p:cNvPr id="49186" name="Text Box 86"/>
            <p:cNvSpPr txBox="1">
              <a:spLocks noChangeArrowheads="1"/>
            </p:cNvSpPr>
            <p:nvPr/>
          </p:nvSpPr>
          <p:spPr bwMode="auto">
            <a:xfrm>
              <a:off x="2112" y="2832"/>
              <a:ext cx="3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8</a:t>
              </a:r>
              <a:endParaRPr kumimoji="1" lang="en-US" altLang="zh-CN" sz="2800" b="1">
                <a:solidFill>
                  <a:srgbClr val="FF6600"/>
                </a:solidFill>
                <a:latin typeface="Times New Roman" panose="02020603050405020304" pitchFamily="18" charset="0"/>
              </a:endParaRPr>
            </a:p>
          </p:txBody>
        </p:sp>
        <p:sp>
          <p:nvSpPr>
            <p:cNvPr id="49187" name="Text Box 87"/>
            <p:cNvSpPr txBox="1">
              <a:spLocks noChangeArrowheads="1"/>
            </p:cNvSpPr>
            <p:nvPr/>
          </p:nvSpPr>
          <p:spPr bwMode="auto">
            <a:xfrm>
              <a:off x="2352" y="2736"/>
              <a:ext cx="3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9</a:t>
              </a:r>
              <a:endParaRPr kumimoji="1" lang="en-US" altLang="zh-CN" sz="2800" b="1">
                <a:solidFill>
                  <a:srgbClr val="FF6600"/>
                </a:solidFill>
                <a:latin typeface="Times New Roman" panose="02020603050405020304" pitchFamily="18" charset="0"/>
              </a:endParaRPr>
            </a:p>
          </p:txBody>
        </p:sp>
        <p:sp>
          <p:nvSpPr>
            <p:cNvPr id="49188" name="Text Box 88"/>
            <p:cNvSpPr txBox="1">
              <a:spLocks noChangeArrowheads="1"/>
            </p:cNvSpPr>
            <p:nvPr/>
          </p:nvSpPr>
          <p:spPr bwMode="auto">
            <a:xfrm>
              <a:off x="2496" y="254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FF6600"/>
                  </a:solidFill>
                  <a:latin typeface="Times New Roman" panose="02020603050405020304" pitchFamily="18" charset="0"/>
                </a:rPr>
                <a:t>10</a:t>
              </a:r>
              <a:endParaRPr kumimoji="1" lang="en-US" altLang="zh-CN" sz="2400" b="1">
                <a:solidFill>
                  <a:srgbClr val="FF6600"/>
                </a:solidFill>
                <a:latin typeface="Times New Roman" panose="02020603050405020304" pitchFamily="18" charset="0"/>
              </a:endParaRPr>
            </a:p>
          </p:txBody>
        </p:sp>
        <p:sp>
          <p:nvSpPr>
            <p:cNvPr id="49189" name="Text Box 89"/>
            <p:cNvSpPr txBox="1">
              <a:spLocks noChangeArrowheads="1"/>
            </p:cNvSpPr>
            <p:nvPr/>
          </p:nvSpPr>
          <p:spPr bwMode="auto">
            <a:xfrm>
              <a:off x="2706" y="2361"/>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FF6600"/>
                  </a:solidFill>
                  <a:latin typeface="Times New Roman" panose="02020603050405020304" pitchFamily="18" charset="0"/>
                </a:rPr>
                <a:t>11</a:t>
              </a:r>
              <a:endParaRPr kumimoji="1" lang="en-US" altLang="zh-CN" sz="2400" b="1">
                <a:solidFill>
                  <a:srgbClr val="FF6600"/>
                </a:solidFill>
                <a:latin typeface="Times New Roman" panose="02020603050405020304" pitchFamily="18" charset="0"/>
              </a:endParaRPr>
            </a:p>
          </p:txBody>
        </p:sp>
        <p:sp>
          <p:nvSpPr>
            <p:cNvPr id="49190" name="Text Box 90"/>
            <p:cNvSpPr txBox="1">
              <a:spLocks noChangeArrowheads="1"/>
            </p:cNvSpPr>
            <p:nvPr/>
          </p:nvSpPr>
          <p:spPr bwMode="auto">
            <a:xfrm>
              <a:off x="480" y="3303"/>
              <a:ext cx="3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1</a:t>
              </a:r>
              <a:endParaRPr kumimoji="1" lang="en-US" altLang="zh-CN" sz="2800" b="1">
                <a:solidFill>
                  <a:srgbClr val="FF6600"/>
                </a:solidFill>
                <a:latin typeface="Times New Roman" panose="02020603050405020304" pitchFamily="18" charset="0"/>
              </a:endParaRPr>
            </a:p>
          </p:txBody>
        </p:sp>
        <p:sp>
          <p:nvSpPr>
            <p:cNvPr id="49191" name="Line 91"/>
            <p:cNvSpPr>
              <a:spLocks noChangeShapeType="1"/>
            </p:cNvSpPr>
            <p:nvPr/>
          </p:nvSpPr>
          <p:spPr bwMode="auto">
            <a:xfrm>
              <a:off x="210" y="3438"/>
              <a:ext cx="229" cy="0"/>
            </a:xfrm>
            <a:prstGeom prst="line">
              <a:avLst/>
            </a:prstGeom>
            <a:noFill/>
            <a:ln w="38100">
              <a:solidFill>
                <a:srgbClr val="FF33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92" name="Line 92"/>
            <p:cNvSpPr>
              <a:spLocks noChangeShapeType="1"/>
            </p:cNvSpPr>
            <p:nvPr/>
          </p:nvSpPr>
          <p:spPr bwMode="auto">
            <a:xfrm flipH="1">
              <a:off x="2990" y="2395"/>
              <a:ext cx="283" cy="9"/>
            </a:xfrm>
            <a:prstGeom prst="line">
              <a:avLst/>
            </a:prstGeom>
            <a:noFill/>
            <a:ln w="38100">
              <a:solidFill>
                <a:srgbClr val="FF33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93" name="Text Box 93"/>
            <p:cNvSpPr txBox="1">
              <a:spLocks noChangeArrowheads="1"/>
            </p:cNvSpPr>
            <p:nvPr/>
          </p:nvSpPr>
          <p:spPr bwMode="auto">
            <a:xfrm>
              <a:off x="55" y="3017"/>
              <a:ext cx="76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i="1" dirty="0" smtClean="0">
                  <a:solidFill>
                    <a:srgbClr val="FF3300"/>
                  </a:solidFill>
                  <a:latin typeface="Times New Roman" panose="02020603050405020304" pitchFamily="18" charset="0"/>
                </a:rPr>
                <a:t>E</a:t>
              </a:r>
              <a:r>
                <a:rPr kumimoji="1" lang="en-US" altLang="zh-CN" sz="2800" b="1" i="1" baseline="-25000" dirty="0" smtClean="0">
                  <a:solidFill>
                    <a:srgbClr val="FF3300"/>
                  </a:solidFill>
                  <a:latin typeface="Times New Roman" panose="02020603050405020304" pitchFamily="18" charset="0"/>
                </a:rPr>
                <a:t>0</a:t>
              </a:r>
              <a:r>
                <a:rPr kumimoji="1" lang="en-US" altLang="zh-CN" sz="2800" b="1" i="1" dirty="0" smtClean="0">
                  <a:solidFill>
                    <a:srgbClr val="FF3300"/>
                  </a:solidFill>
                  <a:latin typeface="Times New Roman" panose="02020603050405020304" pitchFamily="18" charset="0"/>
                </a:rPr>
                <a:t>=0</a:t>
              </a:r>
              <a:endParaRPr kumimoji="1" lang="en-US" altLang="zh-CN" sz="2800" b="1" i="1" baseline="-25000" dirty="0">
                <a:solidFill>
                  <a:srgbClr val="FF3300"/>
                </a:solidFill>
                <a:latin typeface="Times New Roman" panose="02020603050405020304" pitchFamily="18" charset="0"/>
              </a:endParaRPr>
            </a:p>
          </p:txBody>
        </p:sp>
        <p:sp>
          <p:nvSpPr>
            <p:cNvPr id="49194" name="Text Box 94"/>
            <p:cNvSpPr txBox="1">
              <a:spLocks noChangeArrowheads="1"/>
            </p:cNvSpPr>
            <p:nvPr/>
          </p:nvSpPr>
          <p:spPr bwMode="auto">
            <a:xfrm>
              <a:off x="3022" y="2064"/>
              <a:ext cx="81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i="1" dirty="0" err="1" smtClean="0">
                  <a:solidFill>
                    <a:srgbClr val="FF3300"/>
                  </a:solidFill>
                  <a:latin typeface="Times New Roman" panose="02020603050405020304" pitchFamily="18" charset="0"/>
                </a:rPr>
                <a:t>E</a:t>
              </a:r>
              <a:r>
                <a:rPr kumimoji="1" lang="en-US" altLang="zh-CN" sz="2800" b="1" i="1" baseline="-25000" dirty="0" err="1" smtClean="0">
                  <a:solidFill>
                    <a:srgbClr val="FF3300"/>
                  </a:solidFill>
                  <a:latin typeface="Times New Roman" panose="02020603050405020304" pitchFamily="18" charset="0"/>
                </a:rPr>
                <a:t>n</a:t>
              </a:r>
              <a:r>
                <a:rPr kumimoji="1" lang="en-US" altLang="zh-CN" sz="2800" b="1" i="1" dirty="0" smtClean="0">
                  <a:solidFill>
                    <a:srgbClr val="FF3300"/>
                  </a:solidFill>
                  <a:latin typeface="Times New Roman" panose="02020603050405020304" pitchFamily="18" charset="0"/>
                </a:rPr>
                <a:t>=0</a:t>
              </a:r>
              <a:endParaRPr kumimoji="1" lang="en-US" altLang="zh-CN" sz="2800" b="1" i="1" baseline="-25000" dirty="0">
                <a:solidFill>
                  <a:srgbClr val="FF3300"/>
                </a:solidFill>
                <a:latin typeface="Times New Roman" panose="02020603050405020304" pitchFamily="18" charset="0"/>
              </a:endParaRPr>
            </a:p>
          </p:txBody>
        </p:sp>
      </p:grpSp>
      <p:sp>
        <p:nvSpPr>
          <p:cNvPr id="772191" name="Text Box 95"/>
          <p:cNvSpPr txBox="1">
            <a:spLocks noChangeArrowheads="1"/>
          </p:cNvSpPr>
          <p:nvPr/>
        </p:nvSpPr>
        <p:spPr bwMode="auto">
          <a:xfrm>
            <a:off x="1447800" y="3505200"/>
            <a:ext cx="1600200" cy="492443"/>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en-US" altLang="zh-CN" sz="3200" b="1" dirty="0">
                <a:solidFill>
                  <a:schemeClr val="accent1"/>
                </a:solidFill>
                <a:ea typeface="隶书" panose="02010509060101010101" pitchFamily="49" charset="-122"/>
              </a:rPr>
              <a:t>  </a:t>
            </a:r>
            <a:r>
              <a:rPr lang="en-US" altLang="zh-CN" sz="2400" b="1" i="1" dirty="0">
                <a:solidFill>
                  <a:schemeClr val="accent1"/>
                </a:solidFill>
                <a:latin typeface="Times New Roman" panose="02020603050405020304" pitchFamily="18" charset="0"/>
                <a:ea typeface="隶书" panose="02010509060101010101" pitchFamily="49" charset="-122"/>
              </a:rPr>
              <a:t>N</a:t>
            </a:r>
            <a:r>
              <a:rPr lang="en-US" altLang="zh-CN" sz="2400" b="1" i="1" baseline="-25000" dirty="0">
                <a:solidFill>
                  <a:schemeClr val="accent1"/>
                </a:solidFill>
                <a:latin typeface="Times New Roman" panose="02020603050405020304" pitchFamily="18" charset="0"/>
              </a:rPr>
              <a:t>i</a:t>
            </a:r>
            <a:r>
              <a:rPr lang="en-US" altLang="zh-CN" sz="2400" b="1" i="1" dirty="0">
                <a:solidFill>
                  <a:schemeClr val="accent1"/>
                </a:solidFill>
                <a:latin typeface="Times New Roman" panose="02020603050405020304" pitchFamily="18" charset="0"/>
              </a:rPr>
              <a:t>  </a:t>
            </a:r>
            <a:r>
              <a:rPr lang="en-US" altLang="zh-CN" sz="2400" b="1" i="1" dirty="0" err="1">
                <a:solidFill>
                  <a:schemeClr val="accent1"/>
                </a:solidFill>
                <a:latin typeface="Times New Roman" panose="02020603050405020304" pitchFamily="18" charset="0"/>
              </a:rPr>
              <a:t>T</a:t>
            </a:r>
            <a:r>
              <a:rPr lang="en-US" altLang="zh-CN" sz="2400" b="1" i="1" baseline="-25000" dirty="0" err="1">
                <a:solidFill>
                  <a:schemeClr val="accent1"/>
                </a:solidFill>
                <a:latin typeface="Times New Roman" panose="02020603050405020304" pitchFamily="18" charset="0"/>
              </a:rPr>
              <a:t>i</a:t>
            </a:r>
            <a:r>
              <a:rPr lang="en-US" altLang="zh-CN" sz="2400" b="1" i="1" dirty="0">
                <a:solidFill>
                  <a:schemeClr val="accent1"/>
                </a:solidFill>
                <a:latin typeface="Times New Roman" panose="02020603050405020304" pitchFamily="18" charset="0"/>
              </a:rPr>
              <a:t>  </a:t>
            </a:r>
            <a:r>
              <a:rPr lang="en-US" altLang="zh-CN" sz="2400" b="1" i="1" dirty="0" smtClean="0">
                <a:solidFill>
                  <a:schemeClr val="accent1"/>
                </a:solidFill>
                <a:latin typeface="Times New Roman" panose="02020603050405020304" pitchFamily="18" charset="0"/>
                <a:sym typeface="Symbol" panose="05050102010706020507" pitchFamily="18" charset="2"/>
              </a:rPr>
              <a:t></a:t>
            </a:r>
            <a:r>
              <a:rPr lang="en-US" altLang="zh-CN" sz="2400" b="1" i="1" dirty="0" err="1" smtClean="0">
                <a:solidFill>
                  <a:schemeClr val="accent1"/>
                </a:solidFill>
                <a:latin typeface="Times New Roman" panose="02020603050405020304" pitchFamily="18" charset="0"/>
                <a:sym typeface="Symbol" panose="05050102010706020507" pitchFamily="18" charset="2"/>
              </a:rPr>
              <a:t>E</a:t>
            </a:r>
            <a:r>
              <a:rPr lang="en-US" altLang="zh-CN" sz="2400" b="1" i="1" baseline="-25000" dirty="0" err="1" smtClean="0">
                <a:solidFill>
                  <a:schemeClr val="accent1"/>
                </a:solidFill>
                <a:latin typeface="Times New Roman" panose="02020603050405020304" pitchFamily="18" charset="0"/>
              </a:rPr>
              <a:t>i</a:t>
            </a:r>
            <a:endParaRPr lang="en-US" altLang="zh-CN" sz="2400" b="1" i="1" baseline="-25000" dirty="0">
              <a:solidFill>
                <a:schemeClr val="accent1"/>
              </a:solidFill>
              <a:latin typeface="Times New Roman" panose="02020603050405020304" pitchFamily="18" charset="0"/>
            </a:endParaRPr>
          </a:p>
        </p:txBody>
      </p:sp>
      <p:sp>
        <p:nvSpPr>
          <p:cNvPr id="772192" name="Text Box 96"/>
          <p:cNvSpPr txBox="1">
            <a:spLocks noChangeArrowheads="1"/>
          </p:cNvSpPr>
          <p:nvPr/>
        </p:nvSpPr>
        <p:spPr bwMode="auto">
          <a:xfrm>
            <a:off x="539552" y="2948773"/>
            <a:ext cx="1600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2400" b="1" dirty="0">
                <a:solidFill>
                  <a:srgbClr val="993300"/>
                </a:solidFill>
              </a:rPr>
              <a:t>方程组求解</a:t>
            </a:r>
            <a:endParaRPr lang="zh-CN" altLang="en-US" sz="2400" b="1" i="1" baseline="-25000" dirty="0">
              <a:solidFill>
                <a:srgbClr val="993300"/>
              </a:solidFill>
              <a:latin typeface="Times New Roman" panose="02020603050405020304" pitchFamily="18" charset="0"/>
            </a:endParaRPr>
          </a:p>
        </p:txBody>
      </p:sp>
      <p:sp>
        <p:nvSpPr>
          <p:cNvPr id="772193" name="Text Box 97"/>
          <p:cNvSpPr txBox="1">
            <a:spLocks noChangeArrowheads="1"/>
          </p:cNvSpPr>
          <p:nvPr/>
        </p:nvSpPr>
        <p:spPr bwMode="auto">
          <a:xfrm>
            <a:off x="384442" y="4254468"/>
            <a:ext cx="48768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r>
              <a:rPr kumimoji="1" lang="en-US" altLang="zh-CN" sz="2800" b="1" i="1" dirty="0" smtClean="0">
                <a:solidFill>
                  <a:srgbClr val="0000FF"/>
                </a:solidFill>
                <a:latin typeface="Times New Roman" panose="02020603050405020304" pitchFamily="18" charset="0"/>
              </a:rPr>
              <a:t>E</a:t>
            </a:r>
            <a:r>
              <a:rPr kumimoji="1" lang="en-US" altLang="zh-CN" sz="2800" b="1" baseline="-25000" dirty="0" smtClean="0">
                <a:solidFill>
                  <a:srgbClr val="0000FF"/>
                </a:solidFill>
                <a:latin typeface="Times New Roman" panose="02020603050405020304" pitchFamily="18" charset="0"/>
              </a:rPr>
              <a:t>1</a:t>
            </a:r>
            <a:r>
              <a:rPr kumimoji="1" lang="en-US" altLang="zh-CN" sz="2800" b="1" dirty="0" smtClean="0">
                <a:solidFill>
                  <a:srgbClr val="0000FF"/>
                </a:solidFill>
                <a:latin typeface="Times New Roman" panose="02020603050405020304" pitchFamily="18" charset="0"/>
              </a:rPr>
              <a:t> </a:t>
            </a:r>
            <a:r>
              <a:rPr kumimoji="1" lang="en-US" altLang="zh-CN" sz="2800" b="1" dirty="0">
                <a:solidFill>
                  <a:srgbClr val="0000FF"/>
                </a:solidFill>
                <a:latin typeface="Times New Roman" panose="02020603050405020304" pitchFamily="18" charset="0"/>
              </a:rPr>
              <a:t>= </a:t>
            </a:r>
            <a:r>
              <a:rPr kumimoji="1" lang="en-US" altLang="zh-CN" sz="2800" b="1" dirty="0" smtClean="0">
                <a:solidFill>
                  <a:srgbClr val="0000FF"/>
                </a:solidFill>
                <a:latin typeface="Times New Roman" panose="02020603050405020304" pitchFamily="18" charset="0"/>
                <a:sym typeface="Symbol" panose="05050102010706020507" pitchFamily="18" charset="2"/>
              </a:rPr>
              <a:t></a:t>
            </a:r>
            <a:r>
              <a:rPr kumimoji="1" lang="en-US" altLang="zh-CN" sz="2800" b="1" i="1" dirty="0" smtClean="0">
                <a:solidFill>
                  <a:srgbClr val="0000FF"/>
                </a:solidFill>
                <a:latin typeface="Times New Roman" panose="02020603050405020304" pitchFamily="18" charset="0"/>
              </a:rPr>
              <a:t>E</a:t>
            </a:r>
            <a:r>
              <a:rPr kumimoji="1" lang="en-US" altLang="zh-CN" sz="2800" b="1" baseline="-25000" dirty="0" smtClean="0">
                <a:solidFill>
                  <a:srgbClr val="0000FF"/>
                </a:solidFill>
                <a:latin typeface="Times New Roman" panose="02020603050405020304" pitchFamily="18" charset="0"/>
              </a:rPr>
              <a:t>1</a:t>
            </a:r>
            <a:endParaRPr kumimoji="1" lang="en-US" altLang="zh-CN" sz="2800" b="1" baseline="-25000" dirty="0">
              <a:solidFill>
                <a:srgbClr val="0000FF"/>
              </a:solidFill>
              <a:latin typeface="Times New Roman" panose="02020603050405020304" pitchFamily="18" charset="0"/>
            </a:endParaRPr>
          </a:p>
          <a:p>
            <a:pPr algn="l" eaLnBrk="1" hangingPunct="1"/>
            <a:r>
              <a:rPr kumimoji="1" lang="en-US" altLang="zh-CN" sz="2800" b="1" i="1" dirty="0" smtClean="0">
                <a:solidFill>
                  <a:srgbClr val="0000FF"/>
                </a:solidFill>
                <a:latin typeface="Times New Roman" panose="02020603050405020304" pitchFamily="18" charset="0"/>
              </a:rPr>
              <a:t>E</a:t>
            </a:r>
            <a:r>
              <a:rPr kumimoji="1" lang="en-US" altLang="zh-CN" sz="2800" b="1" baseline="-25000" dirty="0" smtClean="0">
                <a:solidFill>
                  <a:srgbClr val="0000FF"/>
                </a:solidFill>
                <a:latin typeface="Times New Roman" panose="02020603050405020304" pitchFamily="18" charset="0"/>
              </a:rPr>
              <a:t>2</a:t>
            </a:r>
            <a:r>
              <a:rPr kumimoji="1" lang="en-US" altLang="zh-CN" sz="2800" b="1" dirty="0" smtClean="0">
                <a:solidFill>
                  <a:srgbClr val="0000FF"/>
                </a:solidFill>
                <a:latin typeface="Times New Roman" panose="02020603050405020304" pitchFamily="18" charset="0"/>
              </a:rPr>
              <a:t> </a:t>
            </a:r>
            <a:r>
              <a:rPr kumimoji="1" lang="en-US" altLang="zh-CN" sz="2800" b="1" dirty="0">
                <a:solidFill>
                  <a:srgbClr val="0000FF"/>
                </a:solidFill>
                <a:latin typeface="Times New Roman" panose="02020603050405020304" pitchFamily="18" charset="0"/>
              </a:rPr>
              <a:t>= </a:t>
            </a:r>
            <a:r>
              <a:rPr kumimoji="1" lang="en-US" altLang="zh-CN" sz="2800" b="1" i="1" dirty="0" smtClean="0">
                <a:solidFill>
                  <a:srgbClr val="0000FF"/>
                </a:solidFill>
                <a:latin typeface="Times New Roman" panose="02020603050405020304" pitchFamily="18" charset="0"/>
              </a:rPr>
              <a:t>E</a:t>
            </a:r>
            <a:r>
              <a:rPr kumimoji="1" lang="en-US" altLang="zh-CN" sz="2800" b="1" baseline="-25000" dirty="0" smtClean="0">
                <a:solidFill>
                  <a:srgbClr val="0000FF"/>
                </a:solidFill>
                <a:latin typeface="Times New Roman" panose="02020603050405020304" pitchFamily="18" charset="0"/>
              </a:rPr>
              <a:t>1</a:t>
            </a:r>
            <a:r>
              <a:rPr kumimoji="1" lang="en-US" altLang="zh-CN" sz="2800" b="1" dirty="0" smtClean="0">
                <a:solidFill>
                  <a:srgbClr val="0000FF"/>
                </a:solidFill>
                <a:latin typeface="Times New Roman" panose="02020603050405020304" pitchFamily="18" charset="0"/>
              </a:rPr>
              <a:t> </a:t>
            </a:r>
            <a:r>
              <a:rPr kumimoji="1" lang="en-US" altLang="zh-CN" sz="2800" b="1" dirty="0">
                <a:solidFill>
                  <a:srgbClr val="0000FF"/>
                </a:solidFill>
                <a:latin typeface="Times New Roman" panose="02020603050405020304" pitchFamily="18" charset="0"/>
              </a:rPr>
              <a:t>+ </a:t>
            </a:r>
            <a:r>
              <a:rPr kumimoji="1" lang="en-US" altLang="zh-CN" sz="2800" b="1" dirty="0" smtClean="0">
                <a:solidFill>
                  <a:srgbClr val="0000FF"/>
                </a:solidFill>
                <a:latin typeface="Times New Roman" panose="02020603050405020304" pitchFamily="18" charset="0"/>
                <a:sym typeface="Symbol" panose="05050102010706020507" pitchFamily="18" charset="2"/>
              </a:rPr>
              <a:t></a:t>
            </a:r>
            <a:r>
              <a:rPr kumimoji="1" lang="en-US" altLang="zh-CN" sz="2800" b="1" i="1" dirty="0" smtClean="0">
                <a:solidFill>
                  <a:srgbClr val="0000FF"/>
                </a:solidFill>
                <a:latin typeface="Times New Roman" panose="02020603050405020304" pitchFamily="18" charset="0"/>
              </a:rPr>
              <a:t>E</a:t>
            </a:r>
            <a:r>
              <a:rPr kumimoji="1" lang="en-US" altLang="zh-CN" sz="2800" b="1" baseline="-25000" dirty="0" smtClean="0">
                <a:solidFill>
                  <a:srgbClr val="0000FF"/>
                </a:solidFill>
                <a:latin typeface="Times New Roman" panose="02020603050405020304" pitchFamily="18" charset="0"/>
              </a:rPr>
              <a:t>2</a:t>
            </a:r>
            <a:r>
              <a:rPr kumimoji="1" lang="en-US" altLang="zh-CN" sz="2800" b="1" i="1" baseline="-25000" dirty="0" smtClean="0">
                <a:solidFill>
                  <a:srgbClr val="0000FF"/>
                </a:solidFill>
                <a:latin typeface="Times New Roman" panose="02020603050405020304" pitchFamily="18" charset="0"/>
              </a:rPr>
              <a:t> </a:t>
            </a:r>
            <a:r>
              <a:rPr kumimoji="1" lang="en-US" altLang="zh-CN" sz="2800" b="1" dirty="0">
                <a:solidFill>
                  <a:srgbClr val="0000FF"/>
                </a:solidFill>
                <a:latin typeface="Times New Roman" panose="02020603050405020304" pitchFamily="18" charset="0"/>
              </a:rPr>
              <a:t>= </a:t>
            </a:r>
            <a:r>
              <a:rPr kumimoji="1" lang="en-US" altLang="zh-CN" sz="2800" b="1" dirty="0" smtClean="0">
                <a:solidFill>
                  <a:srgbClr val="0000FF"/>
                </a:solidFill>
                <a:latin typeface="Times New Roman" panose="02020603050405020304" pitchFamily="18" charset="0"/>
                <a:sym typeface="Symbol" panose="05050102010706020507" pitchFamily="18" charset="2"/>
              </a:rPr>
              <a:t></a:t>
            </a:r>
            <a:r>
              <a:rPr kumimoji="1" lang="en-US" altLang="zh-CN" sz="2800" b="1" i="1" dirty="0" smtClean="0">
                <a:solidFill>
                  <a:srgbClr val="0000FF"/>
                </a:solidFill>
                <a:latin typeface="Times New Roman" panose="02020603050405020304" pitchFamily="18" charset="0"/>
              </a:rPr>
              <a:t>E</a:t>
            </a:r>
            <a:r>
              <a:rPr kumimoji="1" lang="en-US" altLang="zh-CN" sz="2800" b="1" baseline="-25000" dirty="0" smtClean="0">
                <a:solidFill>
                  <a:srgbClr val="0000FF"/>
                </a:solidFill>
                <a:latin typeface="Times New Roman" panose="02020603050405020304" pitchFamily="18" charset="0"/>
              </a:rPr>
              <a:t>1</a:t>
            </a:r>
            <a:r>
              <a:rPr kumimoji="1" lang="en-US" altLang="zh-CN" sz="2800" b="1" i="1" baseline="-25000" dirty="0" smtClean="0">
                <a:solidFill>
                  <a:srgbClr val="0000FF"/>
                </a:solidFill>
                <a:latin typeface="Times New Roman" panose="02020603050405020304" pitchFamily="18" charset="0"/>
              </a:rPr>
              <a:t> </a:t>
            </a:r>
            <a:r>
              <a:rPr kumimoji="1" lang="en-US" altLang="zh-CN" sz="2800" b="1" dirty="0">
                <a:solidFill>
                  <a:srgbClr val="0000FF"/>
                </a:solidFill>
                <a:latin typeface="Times New Roman" panose="02020603050405020304" pitchFamily="18" charset="0"/>
              </a:rPr>
              <a:t>+ </a:t>
            </a:r>
            <a:r>
              <a:rPr kumimoji="1" lang="en-US" altLang="zh-CN" sz="2800" b="1" dirty="0" smtClean="0">
                <a:solidFill>
                  <a:srgbClr val="0000FF"/>
                </a:solidFill>
                <a:latin typeface="Times New Roman" panose="02020603050405020304" pitchFamily="18" charset="0"/>
                <a:sym typeface="Symbol" panose="05050102010706020507" pitchFamily="18" charset="2"/>
              </a:rPr>
              <a:t></a:t>
            </a:r>
            <a:r>
              <a:rPr kumimoji="1" lang="en-US" altLang="zh-CN" sz="2800" b="1" i="1" dirty="0" smtClean="0">
                <a:solidFill>
                  <a:srgbClr val="0000FF"/>
                </a:solidFill>
                <a:latin typeface="Times New Roman" panose="02020603050405020304" pitchFamily="18" charset="0"/>
              </a:rPr>
              <a:t>E</a:t>
            </a:r>
            <a:r>
              <a:rPr kumimoji="1" lang="en-US" altLang="zh-CN" sz="2800" b="1" baseline="-25000" dirty="0" smtClean="0">
                <a:solidFill>
                  <a:srgbClr val="0000FF"/>
                </a:solidFill>
                <a:latin typeface="Times New Roman" panose="02020603050405020304" pitchFamily="18" charset="0"/>
              </a:rPr>
              <a:t>2</a:t>
            </a:r>
            <a:r>
              <a:rPr kumimoji="1" lang="en-US" altLang="zh-CN" sz="2800" b="1" i="1" baseline="-25000" dirty="0" smtClean="0">
                <a:solidFill>
                  <a:srgbClr val="0000FF"/>
                </a:solidFill>
                <a:latin typeface="Times New Roman" panose="02020603050405020304" pitchFamily="18" charset="0"/>
              </a:rPr>
              <a:t> </a:t>
            </a:r>
            <a:endParaRPr kumimoji="1" lang="en-US" altLang="zh-CN" sz="2800" b="1" i="1" baseline="-25000" dirty="0">
              <a:solidFill>
                <a:srgbClr val="0000FF"/>
              </a:solidFill>
              <a:latin typeface="Times New Roman" panose="02020603050405020304" pitchFamily="18" charset="0"/>
            </a:endParaRPr>
          </a:p>
          <a:p>
            <a:pPr algn="l" eaLnBrk="1" hangingPunct="1"/>
            <a:r>
              <a:rPr kumimoji="1" lang="en-US" altLang="zh-CN" sz="2800" b="1" i="1" dirty="0" err="1" smtClean="0">
                <a:solidFill>
                  <a:srgbClr val="0000FF"/>
                </a:solidFill>
                <a:latin typeface="Times New Roman" panose="02020603050405020304" pitchFamily="18" charset="0"/>
              </a:rPr>
              <a:t>E</a:t>
            </a:r>
            <a:r>
              <a:rPr kumimoji="1" lang="en-US" altLang="zh-CN" sz="2800" b="1" i="1" baseline="-25000" dirty="0" err="1" smtClean="0">
                <a:solidFill>
                  <a:srgbClr val="0000FF"/>
                </a:solidFill>
                <a:latin typeface="Times New Roman" panose="02020603050405020304" pitchFamily="18" charset="0"/>
              </a:rPr>
              <a:t>j</a:t>
            </a:r>
            <a:r>
              <a:rPr kumimoji="1" lang="en-US" altLang="zh-CN" sz="2800" b="1" i="1" baseline="-25000" dirty="0" smtClean="0">
                <a:solidFill>
                  <a:srgbClr val="0000FF"/>
                </a:solidFill>
                <a:latin typeface="Times New Roman" panose="02020603050405020304" pitchFamily="18" charset="0"/>
              </a:rPr>
              <a:t> </a:t>
            </a:r>
            <a:r>
              <a:rPr kumimoji="1" lang="en-US" altLang="zh-CN" sz="2800" b="1" i="1" dirty="0">
                <a:solidFill>
                  <a:srgbClr val="0000FF"/>
                </a:solidFill>
                <a:latin typeface="Times New Roman" panose="02020603050405020304" pitchFamily="18" charset="0"/>
              </a:rPr>
              <a:t>=</a:t>
            </a:r>
            <a:r>
              <a:rPr kumimoji="1" lang="en-US" altLang="zh-CN" sz="2800" b="1" i="1" dirty="0">
                <a:solidFill>
                  <a:srgbClr val="0000FF"/>
                </a:solidFill>
                <a:latin typeface="Times New Roman" panose="02020603050405020304" pitchFamily="18" charset="0"/>
                <a:sym typeface="Symbol" panose="05050102010706020507" pitchFamily="18" charset="2"/>
              </a:rPr>
              <a:t> </a:t>
            </a:r>
            <a:r>
              <a:rPr kumimoji="1" lang="en-US" altLang="zh-CN" sz="2800" b="1" dirty="0" smtClean="0">
                <a:solidFill>
                  <a:srgbClr val="0000FF"/>
                </a:solidFill>
                <a:latin typeface="Times New Roman" panose="02020603050405020304" pitchFamily="18" charset="0"/>
                <a:sym typeface="Symbol" panose="05050102010706020507" pitchFamily="18" charset="2"/>
              </a:rPr>
              <a:t></a:t>
            </a:r>
            <a:r>
              <a:rPr kumimoji="1" lang="en-US" altLang="zh-CN" sz="2800" b="1" i="1" dirty="0" err="1" smtClean="0">
                <a:solidFill>
                  <a:srgbClr val="0000FF"/>
                </a:solidFill>
                <a:latin typeface="Times New Roman" panose="02020603050405020304" pitchFamily="18" charset="0"/>
              </a:rPr>
              <a:t>E</a:t>
            </a:r>
            <a:r>
              <a:rPr kumimoji="1" lang="en-US" altLang="zh-CN" sz="2800" b="1" i="1" baseline="-25000" dirty="0" err="1" smtClean="0">
                <a:solidFill>
                  <a:srgbClr val="0000FF"/>
                </a:solidFill>
                <a:latin typeface="Times New Roman" panose="02020603050405020304" pitchFamily="18" charset="0"/>
              </a:rPr>
              <a:t>i</a:t>
            </a:r>
            <a:r>
              <a:rPr kumimoji="1" lang="en-US" altLang="zh-CN" sz="2800" b="1" i="1" dirty="0" smtClean="0">
                <a:solidFill>
                  <a:srgbClr val="0000FF"/>
                </a:solidFill>
                <a:latin typeface="Times New Roman" panose="02020603050405020304" pitchFamily="18" charset="0"/>
              </a:rPr>
              <a:t>  </a:t>
            </a:r>
            <a:r>
              <a:rPr kumimoji="1" lang="en-US" altLang="zh-CN" sz="2400" b="1" dirty="0">
                <a:solidFill>
                  <a:schemeClr val="folHlink"/>
                </a:solidFill>
                <a:latin typeface="Times New Roman" panose="02020603050405020304" pitchFamily="18" charset="0"/>
              </a:rPr>
              <a:t>( </a:t>
            </a:r>
            <a:r>
              <a:rPr kumimoji="1" lang="en-US" altLang="zh-CN" sz="2400" b="1" i="1" dirty="0" err="1">
                <a:solidFill>
                  <a:schemeClr val="folHlink"/>
                </a:solidFill>
                <a:latin typeface="Times New Roman" panose="02020603050405020304" pitchFamily="18" charset="0"/>
              </a:rPr>
              <a:t>i</a:t>
            </a:r>
            <a:r>
              <a:rPr kumimoji="1" lang="en-US" altLang="zh-CN" sz="2400" b="1" i="1" dirty="0">
                <a:solidFill>
                  <a:schemeClr val="folHlink"/>
                </a:solidFill>
                <a:latin typeface="Times New Roman" panose="02020603050405020304" pitchFamily="18" charset="0"/>
              </a:rPr>
              <a:t>=</a:t>
            </a:r>
            <a:r>
              <a:rPr kumimoji="1" lang="en-US" altLang="zh-CN" sz="2400" b="1" dirty="0">
                <a:solidFill>
                  <a:schemeClr val="folHlink"/>
                </a:solidFill>
                <a:latin typeface="Times New Roman" panose="02020603050405020304" pitchFamily="18" charset="0"/>
              </a:rPr>
              <a:t>1</a:t>
            </a:r>
            <a:r>
              <a:rPr kumimoji="1" lang="en-US" altLang="zh-CN" sz="2400" b="1" i="1" dirty="0">
                <a:solidFill>
                  <a:schemeClr val="folHlink"/>
                </a:solidFill>
                <a:latin typeface="Times New Roman" panose="02020603050405020304" pitchFamily="18" charset="0"/>
              </a:rPr>
              <a:t>, j </a:t>
            </a:r>
            <a:r>
              <a:rPr kumimoji="1" lang="en-US" altLang="zh-CN" sz="2400" b="1" dirty="0">
                <a:solidFill>
                  <a:schemeClr val="folHlink"/>
                </a:solidFill>
                <a:latin typeface="Times New Roman" panose="02020603050405020304" pitchFamily="18" charset="0"/>
              </a:rPr>
              <a:t>)</a:t>
            </a:r>
            <a:endParaRPr kumimoji="1" lang="en-US" altLang="zh-CN" sz="2400" b="1" baseline="-25000" dirty="0">
              <a:solidFill>
                <a:schemeClr val="folHlink"/>
              </a:solidFill>
              <a:latin typeface="Times New Roman" panose="02020603050405020304" pitchFamily="18" charset="0"/>
            </a:endParaRPr>
          </a:p>
          <a:p>
            <a:pPr algn="l" eaLnBrk="1" hangingPunct="1"/>
            <a:r>
              <a:rPr kumimoji="1" lang="en-US" altLang="zh-CN" sz="2800" b="1" i="1" dirty="0" err="1" smtClean="0">
                <a:solidFill>
                  <a:srgbClr val="0000FF"/>
                </a:solidFill>
                <a:latin typeface="Times New Roman" panose="02020603050405020304" pitchFamily="18" charset="0"/>
              </a:rPr>
              <a:t>E</a:t>
            </a:r>
            <a:r>
              <a:rPr kumimoji="1" lang="en-US" altLang="zh-CN" sz="2800" b="1" i="1" baseline="-25000" dirty="0" err="1" smtClean="0">
                <a:solidFill>
                  <a:srgbClr val="0000FF"/>
                </a:solidFill>
                <a:latin typeface="Times New Roman" panose="02020603050405020304" pitchFamily="18" charset="0"/>
              </a:rPr>
              <a:t>n</a:t>
            </a:r>
            <a:r>
              <a:rPr kumimoji="1" lang="en-US" altLang="zh-CN" sz="2800" b="1" i="1" baseline="-25000" dirty="0" smtClean="0">
                <a:solidFill>
                  <a:srgbClr val="0000FF"/>
                </a:solidFill>
                <a:latin typeface="Times New Roman" panose="02020603050405020304" pitchFamily="18" charset="0"/>
              </a:rPr>
              <a:t> </a:t>
            </a:r>
            <a:r>
              <a:rPr kumimoji="1" lang="en-US" altLang="zh-CN" sz="2800" b="1" i="1" dirty="0">
                <a:solidFill>
                  <a:srgbClr val="0000FF"/>
                </a:solidFill>
                <a:latin typeface="Times New Roman" panose="02020603050405020304" pitchFamily="18" charset="0"/>
              </a:rPr>
              <a:t>=</a:t>
            </a:r>
            <a:r>
              <a:rPr kumimoji="1" lang="en-US" altLang="zh-CN" sz="2800" b="1" i="1" dirty="0">
                <a:solidFill>
                  <a:srgbClr val="0000FF"/>
                </a:solidFill>
                <a:latin typeface="Times New Roman" panose="02020603050405020304" pitchFamily="18" charset="0"/>
                <a:sym typeface="Symbol" panose="05050102010706020507" pitchFamily="18" charset="2"/>
              </a:rPr>
              <a:t> </a:t>
            </a:r>
            <a:r>
              <a:rPr kumimoji="1" lang="en-US" altLang="zh-CN" sz="2800" b="1" dirty="0" smtClean="0">
                <a:solidFill>
                  <a:srgbClr val="0000FF"/>
                </a:solidFill>
                <a:latin typeface="Times New Roman" panose="02020603050405020304" pitchFamily="18" charset="0"/>
                <a:sym typeface="Symbol" panose="05050102010706020507" pitchFamily="18" charset="2"/>
              </a:rPr>
              <a:t></a:t>
            </a:r>
            <a:r>
              <a:rPr kumimoji="1" lang="en-US" altLang="zh-CN" sz="2800" b="1" i="1" dirty="0" err="1" smtClean="0">
                <a:solidFill>
                  <a:srgbClr val="0000FF"/>
                </a:solidFill>
                <a:latin typeface="Times New Roman" panose="02020603050405020304" pitchFamily="18" charset="0"/>
              </a:rPr>
              <a:t>E</a:t>
            </a:r>
            <a:r>
              <a:rPr kumimoji="1" lang="en-US" altLang="zh-CN" sz="2800" b="1" i="1" baseline="-25000" dirty="0" err="1" smtClean="0">
                <a:solidFill>
                  <a:srgbClr val="0000FF"/>
                </a:solidFill>
                <a:latin typeface="Times New Roman" panose="02020603050405020304" pitchFamily="18" charset="0"/>
              </a:rPr>
              <a:t>i</a:t>
            </a:r>
            <a:r>
              <a:rPr kumimoji="1" lang="en-US" altLang="zh-CN" sz="2800" b="1" i="1" baseline="-25000" dirty="0" smtClean="0">
                <a:solidFill>
                  <a:srgbClr val="0000FF"/>
                </a:solidFill>
                <a:latin typeface="Times New Roman" panose="02020603050405020304" pitchFamily="18" charset="0"/>
              </a:rPr>
              <a:t> </a:t>
            </a:r>
            <a:r>
              <a:rPr kumimoji="1" lang="en-US" altLang="zh-CN" sz="2800" b="1" i="1" dirty="0">
                <a:solidFill>
                  <a:srgbClr val="0000FF"/>
                </a:solidFill>
                <a:latin typeface="Times New Roman" panose="02020603050405020304" pitchFamily="18" charset="0"/>
              </a:rPr>
              <a:t>= </a:t>
            </a:r>
            <a:r>
              <a:rPr kumimoji="1" lang="en-US" altLang="zh-CN" sz="2800" b="1" dirty="0">
                <a:solidFill>
                  <a:srgbClr val="0000FF"/>
                </a:solidFill>
                <a:latin typeface="Times New Roman" panose="02020603050405020304" pitchFamily="18" charset="0"/>
              </a:rPr>
              <a:t>0</a:t>
            </a:r>
            <a:r>
              <a:rPr kumimoji="1" lang="en-US" altLang="zh-CN" sz="2800" b="1" i="1" baseline="-25000" dirty="0">
                <a:solidFill>
                  <a:srgbClr val="0000FF"/>
                </a:solidFill>
                <a:latin typeface="Times New Roman" panose="02020603050405020304" pitchFamily="18" charset="0"/>
              </a:rPr>
              <a:t>    </a:t>
            </a:r>
            <a:r>
              <a:rPr kumimoji="1" lang="en-US" altLang="zh-CN" sz="2400" b="1" dirty="0">
                <a:solidFill>
                  <a:schemeClr val="folHlink"/>
                </a:solidFill>
                <a:latin typeface="Times New Roman" panose="02020603050405020304" pitchFamily="18" charset="0"/>
              </a:rPr>
              <a:t>( </a:t>
            </a:r>
            <a:r>
              <a:rPr kumimoji="1" lang="en-US" altLang="zh-CN" sz="2400" b="1" i="1" dirty="0" err="1">
                <a:solidFill>
                  <a:schemeClr val="folHlink"/>
                </a:solidFill>
                <a:latin typeface="Times New Roman" panose="02020603050405020304" pitchFamily="18" charset="0"/>
              </a:rPr>
              <a:t>i</a:t>
            </a:r>
            <a:r>
              <a:rPr kumimoji="1" lang="en-US" altLang="zh-CN" sz="2400" b="1" i="1" dirty="0">
                <a:solidFill>
                  <a:schemeClr val="folHlink"/>
                </a:solidFill>
                <a:latin typeface="Times New Roman" panose="02020603050405020304" pitchFamily="18" charset="0"/>
              </a:rPr>
              <a:t>=</a:t>
            </a:r>
            <a:r>
              <a:rPr kumimoji="1" lang="en-US" altLang="zh-CN" sz="2400" b="1" dirty="0">
                <a:solidFill>
                  <a:schemeClr val="folHlink"/>
                </a:solidFill>
                <a:latin typeface="Times New Roman" panose="02020603050405020304" pitchFamily="18" charset="0"/>
              </a:rPr>
              <a:t>1</a:t>
            </a:r>
            <a:r>
              <a:rPr kumimoji="1" lang="en-US" altLang="zh-CN" sz="2400" b="1" i="1" dirty="0">
                <a:solidFill>
                  <a:schemeClr val="folHlink"/>
                </a:solidFill>
                <a:latin typeface="Times New Roman" panose="02020603050405020304" pitchFamily="18" charset="0"/>
              </a:rPr>
              <a:t>, n </a:t>
            </a:r>
            <a:r>
              <a:rPr kumimoji="1" lang="en-US" altLang="zh-CN" sz="2400" b="1" dirty="0">
                <a:solidFill>
                  <a:schemeClr val="folHlink"/>
                </a:solidFill>
                <a:latin typeface="Times New Roman" panose="02020603050405020304" pitchFamily="18" charset="0"/>
              </a:rPr>
              <a:t>)</a:t>
            </a:r>
            <a:endParaRPr kumimoji="1" lang="en-US" altLang="zh-CN" sz="2400" b="1" dirty="0">
              <a:solidFill>
                <a:schemeClr val="folHlink"/>
              </a:solidFill>
              <a:latin typeface="Times New Roman" panose="02020603050405020304" pitchFamily="18" charset="0"/>
            </a:endParaRPr>
          </a:p>
        </p:txBody>
      </p:sp>
      <p:sp>
        <p:nvSpPr>
          <p:cNvPr id="772194" name="Rectangle 98"/>
          <p:cNvSpPr>
            <a:spLocks noChangeArrowheads="1"/>
          </p:cNvSpPr>
          <p:nvPr/>
        </p:nvSpPr>
        <p:spPr bwMode="auto">
          <a:xfrm>
            <a:off x="234951" y="5885776"/>
            <a:ext cx="3581400" cy="457200"/>
          </a:xfrm>
          <a:prstGeom prst="rect">
            <a:avLst/>
          </a:prstGeom>
          <a:solidFill>
            <a:srgbClr val="66FF99">
              <a:alpha val="50195"/>
            </a:srgbClr>
          </a:solidFill>
          <a:ln w="9525">
            <a:solidFill>
              <a:srgbClr val="FF66CC"/>
            </a:solidFill>
            <a:miter lim="800000"/>
          </a:ln>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772195" name="AutoShape 99"/>
          <p:cNvSpPr>
            <a:spLocks noChangeArrowheads="1"/>
          </p:cNvSpPr>
          <p:nvPr/>
        </p:nvSpPr>
        <p:spPr bwMode="auto">
          <a:xfrm>
            <a:off x="3947527" y="3113325"/>
            <a:ext cx="2590800" cy="1123712"/>
          </a:xfrm>
          <a:prstGeom prst="wedgeRoundRectCallout">
            <a:avLst>
              <a:gd name="adj1" fmla="val -85714"/>
              <a:gd name="adj2" fmla="val 2597"/>
              <a:gd name="adj3" fmla="val 16667"/>
            </a:avLst>
          </a:prstGeom>
          <a:noFill/>
          <a:ln w="19050" algn="ctr">
            <a:solidFill>
              <a:srgbClr val="FF00FF"/>
            </a:solidFill>
            <a:miter lim="800000"/>
          </a:ln>
          <a:extLst>
            <a:ext uri="{909E8E84-426E-40DD-AFC4-6F175D3DCCD1}">
              <a14:hiddenFill xmlns:a14="http://schemas.microsoft.com/office/drawing/2010/main">
                <a:solidFill>
                  <a:srgbClr val="FFFFFF"/>
                </a:solidFill>
              </a14:hiddenFill>
            </a:ext>
          </a:extLst>
        </p:spPr>
        <p:txBody>
          <a:bodyPr lIns="0" r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zh-CN" altLang="en-US" sz="2000" b="1" dirty="0">
                <a:solidFill>
                  <a:schemeClr val="tx1"/>
                </a:solidFill>
                <a:latin typeface="Times New Roman" panose="02020603050405020304" pitchFamily="18" charset="0"/>
                <a:sym typeface="Symbol" panose="05050102010706020507" pitchFamily="18" charset="2"/>
              </a:rPr>
              <a:t>与</a:t>
            </a:r>
            <a:r>
              <a:rPr kumimoji="1" lang="zh-CN" altLang="en-US" sz="2000" b="1" i="1" dirty="0">
                <a:solidFill>
                  <a:schemeClr val="tx1"/>
                </a:solidFill>
                <a:latin typeface="Times New Roman" panose="02020603050405020304" pitchFamily="18" charset="0"/>
                <a:sym typeface="Symbol" panose="05050102010706020507" pitchFamily="18" charset="2"/>
              </a:rPr>
              <a:t> </a:t>
            </a:r>
            <a:r>
              <a:rPr kumimoji="1" lang="en-US" altLang="zh-CN" sz="2000" b="1" i="1" dirty="0" smtClean="0">
                <a:solidFill>
                  <a:srgbClr val="0000FF"/>
                </a:solidFill>
                <a:latin typeface="Times New Roman" panose="02020603050405020304" pitchFamily="18" charset="0"/>
                <a:sym typeface="Symbol" panose="05050102010706020507" pitchFamily="18" charset="2"/>
              </a:rPr>
              <a:t>X</a:t>
            </a:r>
            <a:r>
              <a:rPr kumimoji="1" lang="en-US" altLang="zh-CN" sz="2000" b="1" i="1" baseline="-25000" dirty="0" smtClean="0">
                <a:solidFill>
                  <a:srgbClr val="0000FF"/>
                </a:solidFill>
                <a:latin typeface="Times New Roman" panose="02020603050405020304" pitchFamily="18" charset="0"/>
                <a:sym typeface="Symbol" panose="05050102010706020507" pitchFamily="18" charset="2"/>
              </a:rPr>
              <a:t>i</a:t>
            </a:r>
            <a:r>
              <a:rPr kumimoji="1" lang="en-US" altLang="zh-CN" sz="2000" b="1" i="1" dirty="0" smtClean="0">
                <a:solidFill>
                  <a:schemeClr val="tx1"/>
                </a:solidFill>
                <a:latin typeface="Times New Roman" panose="02020603050405020304" pitchFamily="18" charset="0"/>
                <a:sym typeface="Symbol" panose="05050102010706020507" pitchFamily="18" charset="2"/>
              </a:rPr>
              <a:t> </a:t>
            </a:r>
            <a:r>
              <a:rPr kumimoji="1" lang="zh-CN" altLang="en-US" sz="2000" b="1" dirty="0">
                <a:solidFill>
                  <a:schemeClr val="tx1"/>
                </a:solidFill>
                <a:latin typeface="Times New Roman" panose="02020603050405020304" pitchFamily="18" charset="0"/>
                <a:sym typeface="Symbol" panose="05050102010706020507" pitchFamily="18" charset="2"/>
              </a:rPr>
              <a:t>有关，但 </a:t>
            </a:r>
            <a:r>
              <a:rPr kumimoji="1" lang="en-US" altLang="zh-CN" sz="2000" b="1" i="1" dirty="0" smtClean="0">
                <a:solidFill>
                  <a:srgbClr val="0000FF"/>
                </a:solidFill>
                <a:latin typeface="Times New Roman" panose="02020603050405020304" pitchFamily="18" charset="0"/>
                <a:sym typeface="Symbol" panose="05050102010706020507" pitchFamily="18" charset="2"/>
              </a:rPr>
              <a:t>X</a:t>
            </a:r>
            <a:r>
              <a:rPr kumimoji="1" lang="en-US" altLang="zh-CN" sz="2000" b="1" i="1" baseline="-25000" dirty="0" smtClean="0">
                <a:solidFill>
                  <a:srgbClr val="0000FF"/>
                </a:solidFill>
                <a:latin typeface="Times New Roman" panose="02020603050405020304" pitchFamily="18" charset="0"/>
                <a:sym typeface="Symbol" panose="05050102010706020507" pitchFamily="18" charset="2"/>
              </a:rPr>
              <a:t>i</a:t>
            </a:r>
            <a:r>
              <a:rPr kumimoji="1" lang="en-US" altLang="zh-CN" sz="2000" b="1" i="1" dirty="0" smtClean="0">
                <a:solidFill>
                  <a:schemeClr val="tx1"/>
                </a:solidFill>
                <a:latin typeface="Times New Roman" panose="02020603050405020304" pitchFamily="18" charset="0"/>
                <a:sym typeface="Symbol" panose="05050102010706020507" pitchFamily="18" charset="2"/>
              </a:rPr>
              <a:t> </a:t>
            </a:r>
            <a:r>
              <a:rPr kumimoji="1" lang="zh-CN" altLang="en-US" sz="2000" b="1" dirty="0">
                <a:solidFill>
                  <a:schemeClr val="tx1"/>
                </a:solidFill>
                <a:latin typeface="Times New Roman" panose="02020603050405020304" pitchFamily="18" charset="0"/>
                <a:sym typeface="Symbol" panose="05050102010706020507" pitchFamily="18" charset="2"/>
              </a:rPr>
              <a:t>可以通过每个土条的力矩平衡由 </a:t>
            </a:r>
            <a:r>
              <a:rPr kumimoji="1" lang="en-US" altLang="zh-CN" sz="2000" b="1" i="1" dirty="0">
                <a:solidFill>
                  <a:srgbClr val="0000FF"/>
                </a:solidFill>
                <a:latin typeface="Times New Roman" panose="02020603050405020304" pitchFamily="18" charset="0"/>
                <a:sym typeface="Symbol" panose="05050102010706020507" pitchFamily="18" charset="2"/>
              </a:rPr>
              <a:t>h</a:t>
            </a:r>
            <a:r>
              <a:rPr kumimoji="1" lang="en-US" altLang="zh-CN" sz="2000" b="1" i="1" baseline="-25000" dirty="0">
                <a:solidFill>
                  <a:srgbClr val="0000FF"/>
                </a:solidFill>
                <a:latin typeface="Times New Roman" panose="02020603050405020304" pitchFamily="18" charset="0"/>
                <a:sym typeface="Symbol" panose="05050102010706020507" pitchFamily="18" charset="2"/>
              </a:rPr>
              <a:t>i</a:t>
            </a:r>
            <a:r>
              <a:rPr kumimoji="1" lang="en-US" altLang="zh-CN" sz="2000" b="1" i="1" baseline="-25000" dirty="0">
                <a:solidFill>
                  <a:schemeClr val="tx1"/>
                </a:solidFill>
                <a:latin typeface="Times New Roman" panose="02020603050405020304" pitchFamily="18" charset="0"/>
                <a:sym typeface="Symbol" panose="05050102010706020507" pitchFamily="18" charset="2"/>
              </a:rPr>
              <a:t>  </a:t>
            </a:r>
            <a:r>
              <a:rPr kumimoji="1" lang="zh-CN" altLang="en-US" sz="2000" b="1" dirty="0">
                <a:solidFill>
                  <a:schemeClr val="tx1"/>
                </a:solidFill>
                <a:latin typeface="Times New Roman" panose="02020603050405020304" pitchFamily="18" charset="0"/>
                <a:sym typeface="Symbol" panose="05050102010706020507" pitchFamily="18" charset="2"/>
              </a:rPr>
              <a:t>得到</a:t>
            </a:r>
            <a:endParaRPr kumimoji="1" lang="zh-CN" altLang="en-US" sz="2000" b="1" dirty="0">
              <a:solidFill>
                <a:schemeClr val="tx1"/>
              </a:solidFill>
              <a:latin typeface="Times New Roman" panose="02020603050405020304" pitchFamily="18" charset="0"/>
              <a:sym typeface="Symbol" panose="05050102010706020507" pitchFamily="18" charset="2"/>
            </a:endParaRPr>
          </a:p>
        </p:txBody>
      </p:sp>
      <mc:AlternateContent xmlns:mc="http://schemas.openxmlformats.org/markup-compatibility/2006">
        <mc:Choice xmlns:a14="http://schemas.microsoft.com/office/drawing/2010/main" Requires="a14">
          <p:sp>
            <p:nvSpPr>
              <p:cNvPr id="2" name="文本框 1"/>
              <p:cNvSpPr txBox="1"/>
              <p:nvPr/>
            </p:nvSpPr>
            <p:spPr>
              <a:xfrm>
                <a:off x="2594887" y="889913"/>
                <a:ext cx="4102533" cy="36933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𝐺</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𝑋</m:t>
                          </m:r>
                        </m:e>
                        <m:sub>
                          <m:r>
                            <a:rPr lang="en-US" altLang="zh-CN" sz="2400" b="0" i="1" smtClean="0">
                              <a:latin typeface="Cambria Math" panose="02040503050406030204" pitchFamily="18" charset="0"/>
                              <a:ea typeface="Cambria Math" panose="02040503050406030204" pitchFamily="18" charset="0"/>
                            </a:rPr>
                            <m:t>𝑖</m:t>
                          </m:r>
                        </m:sub>
                      </m:sSub>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𝑁</m:t>
                          </m:r>
                        </m:e>
                        <m:sub>
                          <m:r>
                            <a:rPr lang="en-US" altLang="zh-CN" sz="2400" b="0" i="1" smtClean="0">
                              <a:latin typeface="Cambria Math" panose="02040503050406030204" pitchFamily="18" charset="0"/>
                              <a:ea typeface="Cambria Math" panose="02040503050406030204" pitchFamily="18" charset="0"/>
                            </a:rPr>
                            <m:t>𝑖</m:t>
                          </m:r>
                        </m:sub>
                      </m:sSub>
                      <m:func>
                        <m:funcPr>
                          <m:ctrlPr>
                            <a:rPr lang="en-US" altLang="zh-CN" sz="2400" b="0" i="1" smtClean="0">
                              <a:latin typeface="Cambria Math" panose="02040503050406030204" pitchFamily="18" charset="0"/>
                              <a:ea typeface="Cambria Math" panose="02040503050406030204" pitchFamily="18" charset="0"/>
                            </a:rPr>
                          </m:ctrlPr>
                        </m:funcPr>
                        <m:fName>
                          <m:r>
                            <m:rPr>
                              <m:sty m:val="p"/>
                            </m:rPr>
                            <a:rPr lang="en-US" altLang="zh-CN" sz="2400" b="0" i="0" smtClean="0">
                              <a:latin typeface="Cambria Math" panose="02040503050406030204" pitchFamily="18" charset="0"/>
                              <a:ea typeface="Cambria Math" panose="02040503050406030204" pitchFamily="18" charset="0"/>
                            </a:rPr>
                            <m:t>cos</m:t>
                          </m:r>
                        </m:fName>
                        <m:e>
                          <m:sSub>
                            <m:sSubPr>
                              <m:ctrlPr>
                                <a:rPr lang="en-US" altLang="zh-CN" sz="2400" b="0" i="1" smtClean="0">
                                  <a:latin typeface="Cambria Math" panose="02040503050406030204" pitchFamily="18" charset="0"/>
                                  <a:ea typeface="Cambria Math" panose="02040503050406030204" pitchFamily="18" charset="0"/>
                                </a:rPr>
                              </m:ctrlPr>
                            </m:sSubPr>
                            <m:e>
                              <m:r>
                                <a:rPr lang="zh-CN" altLang="en-US" sz="2400" b="0" i="1" smtClean="0">
                                  <a:latin typeface="Cambria Math" panose="02040503050406030204" pitchFamily="18" charset="0"/>
                                  <a:ea typeface="Cambria Math" panose="02040503050406030204" pitchFamily="18" charset="0"/>
                                </a:rPr>
                                <m:t>𝛼</m:t>
                              </m:r>
                            </m:e>
                            <m:sub>
                              <m:r>
                                <a:rPr lang="en-US" altLang="zh-CN" sz="2400" b="0" i="1" smtClean="0">
                                  <a:latin typeface="Cambria Math" panose="02040503050406030204" pitchFamily="18" charset="0"/>
                                  <a:ea typeface="Cambria Math" panose="02040503050406030204" pitchFamily="18" charset="0"/>
                                </a:rPr>
                                <m:t>𝑖</m:t>
                              </m:r>
                            </m:sub>
                          </m:sSub>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𝑇</m:t>
                              </m:r>
                            </m:e>
                            <m:sub>
                              <m:r>
                                <a:rPr lang="en-US" altLang="zh-CN" sz="2400" b="0" i="1" smtClean="0">
                                  <a:latin typeface="Cambria Math" panose="02040503050406030204" pitchFamily="18" charset="0"/>
                                  <a:ea typeface="Cambria Math" panose="02040503050406030204" pitchFamily="18" charset="0"/>
                                </a:rPr>
                                <m:t>𝑖</m:t>
                              </m:r>
                            </m:sub>
                          </m:sSub>
                          <m:func>
                            <m:funcPr>
                              <m:ctrlPr>
                                <a:rPr lang="en-US" altLang="zh-CN" sz="2400" b="0" i="1" smtClean="0">
                                  <a:latin typeface="Cambria Math" panose="02040503050406030204" pitchFamily="18" charset="0"/>
                                  <a:ea typeface="Cambria Math" panose="02040503050406030204" pitchFamily="18" charset="0"/>
                                </a:rPr>
                              </m:ctrlPr>
                            </m:funcPr>
                            <m:fName>
                              <m:r>
                                <m:rPr>
                                  <m:sty m:val="p"/>
                                </m:rPr>
                                <a:rPr lang="en-US" altLang="zh-CN" sz="2400" b="0" i="0" smtClean="0">
                                  <a:latin typeface="Cambria Math" panose="02040503050406030204" pitchFamily="18" charset="0"/>
                                  <a:ea typeface="Cambria Math" panose="02040503050406030204" pitchFamily="18" charset="0"/>
                                </a:rPr>
                                <m:t>sin</m:t>
                              </m:r>
                            </m:fName>
                            <m:e>
                              <m:sSub>
                                <m:sSubPr>
                                  <m:ctrlPr>
                                    <a:rPr lang="en-US" altLang="zh-CN" sz="2400" b="0" i="1" smtClean="0">
                                      <a:latin typeface="Cambria Math" panose="02040503050406030204" pitchFamily="18" charset="0"/>
                                      <a:ea typeface="Cambria Math" panose="02040503050406030204" pitchFamily="18" charset="0"/>
                                    </a:rPr>
                                  </m:ctrlPr>
                                </m:sSubPr>
                                <m:e>
                                  <m:r>
                                    <a:rPr lang="zh-CN" altLang="en-US" sz="2400" b="0" i="1" smtClean="0">
                                      <a:latin typeface="Cambria Math" panose="02040503050406030204" pitchFamily="18" charset="0"/>
                                      <a:ea typeface="Cambria Math" panose="02040503050406030204" pitchFamily="18" charset="0"/>
                                    </a:rPr>
                                    <m:t>𝛼</m:t>
                                  </m:r>
                                </m:e>
                                <m:sub>
                                  <m:r>
                                    <a:rPr lang="en-US" altLang="zh-CN" sz="2400" b="0" i="1" smtClean="0">
                                      <a:latin typeface="Cambria Math" panose="02040503050406030204" pitchFamily="18" charset="0"/>
                                      <a:ea typeface="Cambria Math" panose="02040503050406030204" pitchFamily="18" charset="0"/>
                                    </a:rPr>
                                    <m:t>𝑖</m:t>
                                  </m:r>
                                </m:sub>
                              </m:sSub>
                            </m:e>
                          </m:func>
                        </m:e>
                      </m:func>
                    </m:oMath>
                  </m:oMathPara>
                </a14:m>
                <a:endParaRPr lang="zh-CN" altLang="en-US" sz="2400" dirty="0">
                  <a:latin typeface="Times New Roman" panose="02020603050405020304" pitchFamily="18" charset="0"/>
                  <a:cs typeface="Times New Roman" panose="02020603050405020304" pitchFamily="18"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2594887" y="889913"/>
                <a:ext cx="4102533" cy="369332"/>
              </a:xfrm>
              <a:prstGeom prst="rect">
                <a:avLst/>
              </a:prstGeom>
              <a:blipFill rotWithShape="1">
                <a:blip r:embed="rId1"/>
                <a:stretch>
                  <a:fillRect l="-7" t="-75" r="-463" b="1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3231439" y="1522461"/>
                <a:ext cx="3443122" cy="36933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zh-CN" altLang="en-US" sz="2400" i="1" smtClean="0">
                          <a:latin typeface="Cambria Math" panose="02040503050406030204" pitchFamily="18" charset="0"/>
                        </a:rPr>
                        <m:t>∆</m:t>
                      </m:r>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𝐸</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𝑖</m:t>
                          </m:r>
                        </m:sub>
                      </m:sSub>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cos</m:t>
                          </m:r>
                        </m:fName>
                        <m:e>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𝛼</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𝑁</m:t>
                              </m:r>
                            </m:e>
                            <m:sub>
                              <m:r>
                                <a:rPr lang="en-US" altLang="zh-CN" sz="2400" b="0" i="1" smtClean="0">
                                  <a:latin typeface="Cambria Math" panose="02040503050406030204" pitchFamily="18" charset="0"/>
                                </a:rPr>
                                <m:t>𝑖</m:t>
                              </m:r>
                            </m:sub>
                          </m:sSub>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sin</m:t>
                              </m:r>
                            </m:fName>
                            <m:e>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𝛼</m:t>
                                  </m:r>
                                </m:e>
                                <m:sub>
                                  <m:r>
                                    <a:rPr lang="en-US" altLang="zh-CN" sz="2400" b="0" i="1" smtClean="0">
                                      <a:latin typeface="Cambria Math" panose="02040503050406030204" pitchFamily="18" charset="0"/>
                                    </a:rPr>
                                    <m:t>𝑖</m:t>
                                  </m:r>
                                </m:sub>
                              </m:sSub>
                            </m:e>
                          </m:func>
                        </m:e>
                      </m:func>
                    </m:oMath>
                  </m:oMathPara>
                </a14:m>
                <a:endParaRPr lang="zh-CN" altLang="en-US" sz="2400" dirty="0">
                  <a:latin typeface="Times New Roman" panose="02020603050405020304" pitchFamily="18" charset="0"/>
                  <a:cs typeface="Times New Roman" panose="02020603050405020304" pitchFamily="18"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3231439" y="1522461"/>
                <a:ext cx="3443122" cy="369332"/>
              </a:xfrm>
              <a:prstGeom prst="rect">
                <a:avLst/>
              </a:prstGeom>
              <a:blipFill rotWithShape="1">
                <a:blip r:embed="rId2"/>
                <a:stretch>
                  <a:fillRect l="-16" t="-99" r="-643" b="35"/>
                </a:stretch>
              </a:blipFill>
            </p:spPr>
            <p:txBody>
              <a:bodyPr/>
              <a:lstStyle/>
              <a:p>
                <a:r>
                  <a:rPr lang="zh-CN" altLang="en-US">
                    <a:noFill/>
                  </a:rPr>
                  <a:t> </a:t>
                </a:r>
              </a:p>
            </p:txBody>
          </p:sp>
        </mc:Fallback>
      </mc:AlternateContent>
      <p:sp>
        <p:nvSpPr>
          <p:cNvPr id="75" name="文本框 74"/>
          <p:cNvSpPr txBox="1"/>
          <p:nvPr/>
        </p:nvSpPr>
        <p:spPr>
          <a:xfrm>
            <a:off x="268054" y="784609"/>
            <a:ext cx="2326833" cy="523220"/>
          </a:xfrm>
          <a:prstGeom prst="rect">
            <a:avLst/>
          </a:prstGeom>
          <a:noFill/>
        </p:spPr>
        <p:txBody>
          <a:bodyPr wrap="square" rtlCol="0">
            <a:spAutoFit/>
          </a:bodyPr>
          <a:lstStyle/>
          <a:p>
            <a:pPr eaLnBrk="1" hangingPunct="1"/>
            <a:r>
              <a:rPr lang="zh-CN" altLang="en-US" b="1" dirty="0" smtClean="0">
                <a:solidFill>
                  <a:srgbClr val="CC3300"/>
                </a:solidFill>
                <a:latin typeface="Arial" panose="020B0604020202020204" pitchFamily="34" charset="0"/>
                <a:ea typeface="隶书" panose="02010509060101010101" pitchFamily="49" charset="-122"/>
              </a:rPr>
              <a:t>竖向力的平衡</a:t>
            </a:r>
            <a:endParaRPr lang="zh-CN" altLang="en-US" b="1" dirty="0">
              <a:solidFill>
                <a:srgbClr val="CC3300"/>
              </a:solidFill>
              <a:latin typeface="Arial" panose="020B0604020202020204" pitchFamily="34" charset="0"/>
              <a:ea typeface="隶书" panose="02010509060101010101" pitchFamily="49" charset="-122"/>
            </a:endParaRPr>
          </a:p>
        </p:txBody>
      </p:sp>
      <p:sp>
        <p:nvSpPr>
          <p:cNvPr id="76" name="文本框 75"/>
          <p:cNvSpPr txBox="1"/>
          <p:nvPr/>
        </p:nvSpPr>
        <p:spPr>
          <a:xfrm>
            <a:off x="268054" y="1401556"/>
            <a:ext cx="2720943" cy="523220"/>
          </a:xfrm>
          <a:prstGeom prst="rect">
            <a:avLst/>
          </a:prstGeom>
          <a:noFill/>
        </p:spPr>
        <p:txBody>
          <a:bodyPr wrap="square" rtlCol="0">
            <a:spAutoFit/>
          </a:bodyPr>
          <a:lstStyle/>
          <a:p>
            <a:pPr eaLnBrk="1" hangingPunct="1"/>
            <a:r>
              <a:rPr lang="zh-CN" altLang="en-US" b="1" dirty="0" smtClean="0">
                <a:solidFill>
                  <a:srgbClr val="CC3300"/>
                </a:solidFill>
                <a:latin typeface="Arial" panose="020B0604020202020204" pitchFamily="34" charset="0"/>
                <a:ea typeface="隶书" panose="02010509060101010101" pitchFamily="49" charset="-122"/>
              </a:rPr>
              <a:t>水平向力的平衡</a:t>
            </a:r>
            <a:endParaRPr lang="zh-CN" altLang="en-US" b="1" dirty="0">
              <a:solidFill>
                <a:srgbClr val="CC3300"/>
              </a:solidFill>
              <a:latin typeface="Arial" panose="020B0604020202020204" pitchFamily="34" charset="0"/>
              <a:ea typeface="隶书" panose="02010509060101010101" pitchFamily="49" charset="-122"/>
            </a:endParaRPr>
          </a:p>
        </p:txBody>
      </p:sp>
      <mc:AlternateContent xmlns:mc="http://schemas.openxmlformats.org/markup-compatibility/2006">
        <mc:Choice xmlns:a14="http://schemas.microsoft.com/office/drawing/2010/main" Requires="a14">
          <p:sp>
            <p:nvSpPr>
              <p:cNvPr id="5" name="文本框 4"/>
              <p:cNvSpPr txBox="1"/>
              <p:nvPr/>
            </p:nvSpPr>
            <p:spPr>
              <a:xfrm>
                <a:off x="2851351" y="2075251"/>
                <a:ext cx="2657074" cy="69884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𝑖</m:t>
                              </m:r>
                            </m:sub>
                          </m:sSub>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𝑙</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𝑁</m:t>
                              </m:r>
                            </m:e>
                            <m:sub>
                              <m:r>
                                <a:rPr lang="en-US" altLang="zh-CN" sz="2400" b="0" i="1" smtClean="0">
                                  <a:latin typeface="Cambria Math" panose="02040503050406030204" pitchFamily="18" charset="0"/>
                                </a:rPr>
                                <m:t>𝑖</m:t>
                              </m:r>
                            </m:sub>
                          </m:sSub>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tan</m:t>
                              </m:r>
                            </m:fName>
                            <m:e>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𝜑</m:t>
                                  </m:r>
                                </m:e>
                                <m:sub>
                                  <m:r>
                                    <a:rPr lang="en-US" altLang="zh-CN" sz="2400" b="0" i="1" smtClean="0">
                                      <a:latin typeface="Cambria Math" panose="02040503050406030204" pitchFamily="18" charset="0"/>
                                    </a:rPr>
                                    <m:t>𝑖</m:t>
                                  </m:r>
                                </m:sub>
                              </m:sSub>
                            </m:e>
                          </m:func>
                        </m:num>
                        <m:den>
                          <m:r>
                            <a:rPr lang="en-US" altLang="zh-CN" sz="2400" b="0" i="1" smtClean="0">
                              <a:latin typeface="Cambria Math" panose="02040503050406030204" pitchFamily="18" charset="0"/>
                            </a:rPr>
                            <m:t>𝐾</m:t>
                          </m:r>
                        </m:den>
                      </m:f>
                    </m:oMath>
                  </m:oMathPara>
                </a14:m>
                <a:endParaRPr lang="zh-CN" altLang="en-US" sz="2400" dirty="0">
                  <a:latin typeface="Times New Roman" panose="02020603050405020304" pitchFamily="18" charset="0"/>
                  <a:cs typeface="Times New Roman" panose="020206030504050203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2851351" y="2075251"/>
                <a:ext cx="2657074" cy="698846"/>
              </a:xfrm>
              <a:prstGeom prst="rect">
                <a:avLst/>
              </a:prstGeom>
              <a:blipFill rotWithShape="1">
                <a:blip r:embed="rId3"/>
                <a:stretch>
                  <a:fillRect l="-8" t="-10" r="-1322" b="60"/>
                </a:stretch>
              </a:blipFill>
            </p:spPr>
            <p:txBody>
              <a:bodyPr/>
              <a:lstStyle/>
              <a:p>
                <a:r>
                  <a:rPr lang="zh-CN" altLang="en-US">
                    <a:noFill/>
                  </a:rPr>
                  <a:t> </a:t>
                </a:r>
              </a:p>
            </p:txBody>
          </p:sp>
        </mc:Fallback>
      </mc:AlternateContent>
      <p:sp>
        <p:nvSpPr>
          <p:cNvPr id="78" name="Rectangle 6"/>
          <p:cNvSpPr>
            <a:spLocks noChangeArrowheads="1"/>
          </p:cNvSpPr>
          <p:nvPr/>
        </p:nvSpPr>
        <p:spPr bwMode="auto">
          <a:xfrm>
            <a:off x="0" y="-7396"/>
            <a:ext cx="41148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黏性土坡的稳定性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72156"/>
                                        </p:tgtEl>
                                        <p:attrNameLst>
                                          <p:attrName>style.visibility</p:attrName>
                                        </p:attrNameLst>
                                      </p:cBhvr>
                                      <p:to>
                                        <p:strVal val="visible"/>
                                      </p:to>
                                    </p:set>
                                    <p:animEffect transition="in" filter="dissolve">
                                      <p:cBhvr>
                                        <p:cTn id="7" dur="500"/>
                                        <p:tgtEl>
                                          <p:spTgt spid="77215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72192"/>
                                        </p:tgtEl>
                                        <p:attrNameLst>
                                          <p:attrName>style.visibility</p:attrName>
                                        </p:attrNameLst>
                                      </p:cBhvr>
                                      <p:to>
                                        <p:strVal val="visible"/>
                                      </p:to>
                                    </p:set>
                                    <p:animEffect transition="in" filter="dissolve">
                                      <p:cBhvr>
                                        <p:cTn id="12" dur="500"/>
                                        <p:tgtEl>
                                          <p:spTgt spid="772192"/>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772163"/>
                                        </p:tgtEl>
                                        <p:attrNameLst>
                                          <p:attrName>style.visibility</p:attrName>
                                        </p:attrNameLst>
                                      </p:cBhvr>
                                      <p:to>
                                        <p:strVal val="visible"/>
                                      </p:to>
                                    </p:set>
                                    <p:animEffect transition="in" filter="slide(fromTop)">
                                      <p:cBhvr>
                                        <p:cTn id="17" dur="500"/>
                                        <p:tgtEl>
                                          <p:spTgt spid="772163"/>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772191"/>
                                        </p:tgtEl>
                                        <p:attrNameLst>
                                          <p:attrName>style.visibility</p:attrName>
                                        </p:attrNameLst>
                                      </p:cBhvr>
                                      <p:to>
                                        <p:strVal val="visible"/>
                                      </p:to>
                                    </p:set>
                                    <p:animEffect transition="in" filter="dissolve">
                                      <p:cBhvr>
                                        <p:cTn id="21" dur="500"/>
                                        <p:tgtEl>
                                          <p:spTgt spid="772191"/>
                                        </p:tgtEl>
                                      </p:cBhvr>
                                    </p:animEffect>
                                  </p:childTnLst>
                                </p:cTn>
                              </p:par>
                            </p:childTnLst>
                          </p:cTn>
                        </p:par>
                        <p:par>
                          <p:cTn id="22" fill="hold">
                            <p:stCondLst>
                              <p:cond delay="1000"/>
                            </p:stCondLst>
                            <p:childTnLst>
                              <p:par>
                                <p:cTn id="23" presetID="1" presetClass="entr" presetSubtype="0" fill="hold" grpId="0" nodeType="afterEffect">
                                  <p:stCondLst>
                                    <p:cond delay="0"/>
                                  </p:stCondLst>
                                  <p:childTnLst>
                                    <p:set>
                                      <p:cBhvr>
                                        <p:cTn id="24" dur="1" fill="hold">
                                          <p:stCondLst>
                                            <p:cond delay="499"/>
                                          </p:stCondLst>
                                        </p:cTn>
                                        <p:tgtEl>
                                          <p:spTgt spid="77219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dissolve">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772193">
                                            <p:txEl>
                                              <p:pRg st="0" end="0"/>
                                            </p:txEl>
                                          </p:spTgt>
                                        </p:tgtEl>
                                        <p:attrNameLst>
                                          <p:attrName>style.visibility</p:attrName>
                                        </p:attrNameLst>
                                      </p:cBhvr>
                                      <p:to>
                                        <p:strVal val="visible"/>
                                      </p:to>
                                    </p:set>
                                    <p:animEffect transition="in" filter="wipe(left)">
                                      <p:cBhvr>
                                        <p:cTn id="34" dur="500"/>
                                        <p:tgtEl>
                                          <p:spTgt spid="772193">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772193">
                                            <p:txEl>
                                              <p:pRg st="1" end="1"/>
                                            </p:txEl>
                                          </p:spTgt>
                                        </p:tgtEl>
                                        <p:attrNameLst>
                                          <p:attrName>style.visibility</p:attrName>
                                        </p:attrNameLst>
                                      </p:cBhvr>
                                      <p:to>
                                        <p:strVal val="visible"/>
                                      </p:to>
                                    </p:set>
                                    <p:animEffect transition="in" filter="wipe(left)">
                                      <p:cBhvr>
                                        <p:cTn id="39" dur="500"/>
                                        <p:tgtEl>
                                          <p:spTgt spid="772193">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772193">
                                            <p:txEl>
                                              <p:pRg st="2" end="2"/>
                                            </p:txEl>
                                          </p:spTgt>
                                        </p:tgtEl>
                                        <p:attrNameLst>
                                          <p:attrName>style.visibility</p:attrName>
                                        </p:attrNameLst>
                                      </p:cBhvr>
                                      <p:to>
                                        <p:strVal val="visible"/>
                                      </p:to>
                                    </p:set>
                                    <p:animEffect transition="in" filter="wipe(left)">
                                      <p:cBhvr>
                                        <p:cTn id="44" dur="500"/>
                                        <p:tgtEl>
                                          <p:spTgt spid="772193">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772193">
                                            <p:txEl>
                                              <p:pRg st="3" end="3"/>
                                            </p:txEl>
                                          </p:spTgt>
                                        </p:tgtEl>
                                        <p:attrNameLst>
                                          <p:attrName>style.visibility</p:attrName>
                                        </p:attrNameLst>
                                      </p:cBhvr>
                                      <p:to>
                                        <p:strVal val="visible"/>
                                      </p:to>
                                    </p:set>
                                    <p:animEffect transition="in" filter="wipe(left)">
                                      <p:cBhvr>
                                        <p:cTn id="49" dur="500"/>
                                        <p:tgtEl>
                                          <p:spTgt spid="772193">
                                            <p:txEl>
                                              <p:pRg st="3" end="3"/>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772194"/>
                                        </p:tgtEl>
                                        <p:attrNameLst>
                                          <p:attrName>style.visibility</p:attrName>
                                        </p:attrNameLst>
                                      </p:cBhvr>
                                      <p:to>
                                        <p:strVal val="visible"/>
                                      </p:to>
                                    </p:set>
                                    <p:animEffect transition="in" filter="wipe(up)">
                                      <p:cBhvr>
                                        <p:cTn id="54" dur="500"/>
                                        <p:tgtEl>
                                          <p:spTgt spid="772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2156" grpId="0" autoUpdateAnimBg="0"/>
      <p:bldP spid="772163" grpId="0" bldLvl="0" animBg="1"/>
      <p:bldP spid="772191" grpId="0" bldLvl="0" animBg="1" autoUpdateAnimBg="0"/>
      <p:bldP spid="772192" grpId="0" autoUpdateAnimBg="0"/>
      <p:bldP spid="772193" grpId="0" autoUpdateAnimBg="0" build="p"/>
      <p:bldP spid="772194" grpId="0" bldLvl="0" animBg="1"/>
      <p:bldP spid="772195" grpId="0" bldLvl="0" animBg="1"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50179" name="Group 3"/>
          <p:cNvGrpSpPr/>
          <p:nvPr/>
        </p:nvGrpSpPr>
        <p:grpSpPr bwMode="auto">
          <a:xfrm>
            <a:off x="5029200" y="838200"/>
            <a:ext cx="3733800" cy="3124200"/>
            <a:chOff x="3024" y="432"/>
            <a:chExt cx="2352" cy="1968"/>
          </a:xfrm>
        </p:grpSpPr>
        <p:grpSp>
          <p:nvGrpSpPr>
            <p:cNvPr id="50211" name="Group 4"/>
            <p:cNvGrpSpPr/>
            <p:nvPr/>
          </p:nvGrpSpPr>
          <p:grpSpPr bwMode="auto">
            <a:xfrm>
              <a:off x="3648" y="432"/>
              <a:ext cx="528" cy="1584"/>
              <a:chOff x="3744" y="864"/>
              <a:chExt cx="432" cy="1584"/>
            </a:xfrm>
          </p:grpSpPr>
          <p:sp>
            <p:nvSpPr>
              <p:cNvPr id="50237" name="Line 5"/>
              <p:cNvSpPr>
                <a:spLocks noChangeShapeType="1"/>
              </p:cNvSpPr>
              <p:nvPr/>
            </p:nvSpPr>
            <p:spPr bwMode="auto">
              <a:xfrm>
                <a:off x="3744" y="1056"/>
                <a:ext cx="0" cy="1392"/>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238" name="Line 6"/>
              <p:cNvSpPr>
                <a:spLocks noChangeShapeType="1"/>
              </p:cNvSpPr>
              <p:nvPr/>
            </p:nvSpPr>
            <p:spPr bwMode="auto">
              <a:xfrm>
                <a:off x="4176" y="864"/>
                <a:ext cx="0" cy="1248"/>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239" name="Line 7"/>
              <p:cNvSpPr>
                <a:spLocks noChangeShapeType="1"/>
              </p:cNvSpPr>
              <p:nvPr/>
            </p:nvSpPr>
            <p:spPr bwMode="auto">
              <a:xfrm flipV="1">
                <a:off x="3744" y="864"/>
                <a:ext cx="432" cy="192"/>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240" name="Line 8"/>
              <p:cNvSpPr>
                <a:spLocks noChangeShapeType="1"/>
              </p:cNvSpPr>
              <p:nvPr/>
            </p:nvSpPr>
            <p:spPr bwMode="auto">
              <a:xfrm flipV="1">
                <a:off x="3744" y="2112"/>
                <a:ext cx="432" cy="336"/>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0212" name="Line 9"/>
            <p:cNvSpPr>
              <a:spLocks noChangeShapeType="1"/>
            </p:cNvSpPr>
            <p:nvPr/>
          </p:nvSpPr>
          <p:spPr bwMode="auto">
            <a:xfrm>
              <a:off x="3888" y="960"/>
              <a:ext cx="0" cy="336"/>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13" name="Line 10"/>
            <p:cNvSpPr>
              <a:spLocks noChangeShapeType="1"/>
            </p:cNvSpPr>
            <p:nvPr/>
          </p:nvSpPr>
          <p:spPr bwMode="auto">
            <a:xfrm>
              <a:off x="3168" y="1488"/>
              <a:ext cx="480" cy="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14" name="Line 11"/>
            <p:cNvSpPr>
              <a:spLocks noChangeShapeType="1"/>
            </p:cNvSpPr>
            <p:nvPr/>
          </p:nvSpPr>
          <p:spPr bwMode="auto">
            <a:xfrm flipV="1">
              <a:off x="3600" y="1536"/>
              <a:ext cx="0" cy="336"/>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15" name="Line 12"/>
            <p:cNvSpPr>
              <a:spLocks noChangeShapeType="1"/>
            </p:cNvSpPr>
            <p:nvPr/>
          </p:nvSpPr>
          <p:spPr bwMode="auto">
            <a:xfrm flipH="1">
              <a:off x="4224" y="960"/>
              <a:ext cx="288" cy="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16" name="Line 13"/>
            <p:cNvSpPr>
              <a:spLocks noChangeShapeType="1"/>
            </p:cNvSpPr>
            <p:nvPr/>
          </p:nvSpPr>
          <p:spPr bwMode="auto">
            <a:xfrm>
              <a:off x="4224" y="624"/>
              <a:ext cx="0" cy="288"/>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17" name="Line 14"/>
            <p:cNvSpPr>
              <a:spLocks noChangeShapeType="1"/>
            </p:cNvSpPr>
            <p:nvPr/>
          </p:nvSpPr>
          <p:spPr bwMode="auto">
            <a:xfrm flipV="1">
              <a:off x="3744" y="1776"/>
              <a:ext cx="384" cy="240"/>
            </a:xfrm>
            <a:prstGeom prst="line">
              <a:avLst/>
            </a:prstGeom>
            <a:noFill/>
            <a:ln w="22225">
              <a:solidFill>
                <a:srgbClr val="0000FF"/>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18" name="Line 15"/>
            <p:cNvSpPr>
              <a:spLocks noChangeShapeType="1"/>
            </p:cNvSpPr>
            <p:nvPr/>
          </p:nvSpPr>
          <p:spPr bwMode="auto">
            <a:xfrm rot="10800000">
              <a:off x="3984" y="1920"/>
              <a:ext cx="192" cy="288"/>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19" name="Line 16"/>
            <p:cNvSpPr>
              <a:spLocks noChangeShapeType="1"/>
            </p:cNvSpPr>
            <p:nvPr/>
          </p:nvSpPr>
          <p:spPr bwMode="auto">
            <a:xfrm flipV="1">
              <a:off x="4176" y="1392"/>
              <a:ext cx="384" cy="2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220" name="Line 17"/>
            <p:cNvSpPr>
              <a:spLocks noChangeShapeType="1"/>
            </p:cNvSpPr>
            <p:nvPr/>
          </p:nvSpPr>
          <p:spPr bwMode="auto">
            <a:xfrm>
              <a:off x="4176" y="1680"/>
              <a:ext cx="43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221" name="Freeform 18"/>
            <p:cNvSpPr/>
            <p:nvPr/>
          </p:nvSpPr>
          <p:spPr bwMode="auto">
            <a:xfrm>
              <a:off x="4268" y="1620"/>
              <a:ext cx="49" cy="56"/>
            </a:xfrm>
            <a:custGeom>
              <a:avLst/>
              <a:gdLst>
                <a:gd name="T0" fmla="*/ 0 w 49"/>
                <a:gd name="T1" fmla="*/ 0 h 56"/>
                <a:gd name="T2" fmla="*/ 40 w 49"/>
                <a:gd name="T3" fmla="*/ 32 h 56"/>
                <a:gd name="T4" fmla="*/ 48 w 49"/>
                <a:gd name="T5" fmla="*/ 56 h 56"/>
                <a:gd name="T6" fmla="*/ 0 60000 65536"/>
                <a:gd name="T7" fmla="*/ 0 60000 65536"/>
                <a:gd name="T8" fmla="*/ 0 60000 65536"/>
                <a:gd name="T9" fmla="*/ 0 w 49"/>
                <a:gd name="T10" fmla="*/ 0 h 56"/>
                <a:gd name="T11" fmla="*/ 49 w 49"/>
                <a:gd name="T12" fmla="*/ 56 h 56"/>
              </a:gdLst>
              <a:ahLst/>
              <a:cxnLst>
                <a:cxn ang="T6">
                  <a:pos x="T0" y="T1"/>
                </a:cxn>
                <a:cxn ang="T7">
                  <a:pos x="T2" y="T3"/>
                </a:cxn>
                <a:cxn ang="T8">
                  <a:pos x="T4" y="T5"/>
                </a:cxn>
              </a:cxnLst>
              <a:rect l="T9" t="T10" r="T11" b="T12"/>
              <a:pathLst>
                <a:path w="49" h="56">
                  <a:moveTo>
                    <a:pt x="0" y="0"/>
                  </a:moveTo>
                  <a:cubicBezTo>
                    <a:pt x="20" y="10"/>
                    <a:pt x="20" y="22"/>
                    <a:pt x="40" y="32"/>
                  </a:cubicBezTo>
                  <a:cubicBezTo>
                    <a:pt x="49" y="50"/>
                    <a:pt x="48" y="42"/>
                    <a:pt x="48" y="56"/>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0222" name="Line 19"/>
            <p:cNvSpPr>
              <a:spLocks noChangeShapeType="1"/>
            </p:cNvSpPr>
            <p:nvPr/>
          </p:nvSpPr>
          <p:spPr bwMode="auto">
            <a:xfrm>
              <a:off x="4704" y="1680"/>
              <a:ext cx="33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223" name="Line 20"/>
            <p:cNvSpPr>
              <a:spLocks noChangeShapeType="1"/>
            </p:cNvSpPr>
            <p:nvPr/>
          </p:nvSpPr>
          <p:spPr bwMode="auto">
            <a:xfrm>
              <a:off x="4704" y="960"/>
              <a:ext cx="33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224" name="Line 21"/>
            <p:cNvSpPr>
              <a:spLocks noChangeShapeType="1"/>
            </p:cNvSpPr>
            <p:nvPr/>
          </p:nvSpPr>
          <p:spPr bwMode="auto">
            <a:xfrm>
              <a:off x="4848" y="960"/>
              <a:ext cx="0" cy="72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25" name="Rectangle 22"/>
            <p:cNvSpPr>
              <a:spLocks noChangeArrowheads="1"/>
            </p:cNvSpPr>
            <p:nvPr/>
          </p:nvSpPr>
          <p:spPr bwMode="auto">
            <a:xfrm>
              <a:off x="3024" y="1152"/>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err="1" smtClean="0">
                  <a:solidFill>
                    <a:srgbClr val="CC3300"/>
                  </a:solidFill>
                  <a:latin typeface="Times New Roman" panose="02020603050405020304" pitchFamily="18" charset="0"/>
                  <a:sym typeface="Symbol" panose="05050102010706020507" pitchFamily="18" charset="2"/>
                </a:rPr>
                <a:t>E</a:t>
              </a:r>
              <a:r>
                <a:rPr kumimoji="1" lang="en-US" altLang="zh-CN" sz="2400" b="1" i="1" baseline="-25000" dirty="0" err="1" smtClean="0">
                  <a:solidFill>
                    <a:srgbClr val="CC3300"/>
                  </a:solidFill>
                  <a:latin typeface="Times New Roman" panose="02020603050405020304" pitchFamily="18" charset="0"/>
                  <a:sym typeface="Symbol" panose="05050102010706020507" pitchFamily="18" charset="2"/>
                </a:rPr>
                <a:t>i</a:t>
              </a:r>
              <a:endParaRPr kumimoji="1" lang="en-US" altLang="zh-CN" sz="2400" b="1" i="1" baseline="-25000" dirty="0">
                <a:solidFill>
                  <a:srgbClr val="CC3300"/>
                </a:solidFill>
                <a:latin typeface="Times New Roman" panose="02020603050405020304" pitchFamily="18" charset="0"/>
                <a:sym typeface="Symbol" panose="05050102010706020507" pitchFamily="18" charset="2"/>
              </a:endParaRPr>
            </a:p>
          </p:txBody>
        </p:sp>
        <p:sp>
          <p:nvSpPr>
            <p:cNvPr id="50226" name="Rectangle 23"/>
            <p:cNvSpPr>
              <a:spLocks noChangeArrowheads="1"/>
            </p:cNvSpPr>
            <p:nvPr/>
          </p:nvSpPr>
          <p:spPr bwMode="auto">
            <a:xfrm>
              <a:off x="3312" y="168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smtClean="0">
                  <a:solidFill>
                    <a:srgbClr val="CC3300"/>
                  </a:solidFill>
                  <a:latin typeface="Times New Roman" panose="02020603050405020304" pitchFamily="18" charset="0"/>
                  <a:sym typeface="Symbol" panose="05050102010706020507" pitchFamily="18" charset="2"/>
                </a:rPr>
                <a:t>X</a:t>
              </a:r>
              <a:r>
                <a:rPr kumimoji="1" lang="en-US" altLang="zh-CN" sz="2400" b="1" i="1" baseline="-25000" dirty="0" smtClean="0">
                  <a:solidFill>
                    <a:srgbClr val="CC3300"/>
                  </a:solidFill>
                  <a:latin typeface="Times New Roman" panose="02020603050405020304" pitchFamily="18" charset="0"/>
                  <a:sym typeface="Symbol" panose="05050102010706020507" pitchFamily="18" charset="2"/>
                </a:rPr>
                <a:t>i</a:t>
              </a:r>
              <a:endParaRPr kumimoji="1" lang="en-US" altLang="zh-CN" sz="2400" b="1" i="1" baseline="-25000" dirty="0">
                <a:solidFill>
                  <a:srgbClr val="CC3300"/>
                </a:solidFill>
                <a:latin typeface="Times New Roman" panose="02020603050405020304" pitchFamily="18" charset="0"/>
                <a:sym typeface="Symbol" panose="05050102010706020507" pitchFamily="18" charset="2"/>
              </a:endParaRPr>
            </a:p>
          </p:txBody>
        </p:sp>
        <p:sp>
          <p:nvSpPr>
            <p:cNvPr id="50227" name="Rectangle 24"/>
            <p:cNvSpPr>
              <a:spLocks noChangeArrowheads="1"/>
            </p:cNvSpPr>
            <p:nvPr/>
          </p:nvSpPr>
          <p:spPr bwMode="auto">
            <a:xfrm>
              <a:off x="4080" y="1728"/>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T</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baseline="-25000">
                <a:solidFill>
                  <a:srgbClr val="CC3300"/>
                </a:solidFill>
                <a:latin typeface="Times New Roman" panose="02020603050405020304" pitchFamily="18" charset="0"/>
                <a:sym typeface="Symbol" panose="05050102010706020507" pitchFamily="18" charset="2"/>
              </a:endParaRPr>
            </a:p>
          </p:txBody>
        </p:sp>
        <p:sp>
          <p:nvSpPr>
            <p:cNvPr id="50228" name="Rectangle 25"/>
            <p:cNvSpPr>
              <a:spLocks noChangeArrowheads="1"/>
            </p:cNvSpPr>
            <p:nvPr/>
          </p:nvSpPr>
          <p:spPr bwMode="auto">
            <a:xfrm>
              <a:off x="4112" y="211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N</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a:solidFill>
                  <a:srgbClr val="CC3300"/>
                </a:solidFill>
                <a:latin typeface="Times New Roman" panose="02020603050405020304" pitchFamily="18" charset="0"/>
                <a:sym typeface="Symbol" panose="05050102010706020507" pitchFamily="18" charset="2"/>
              </a:endParaRPr>
            </a:p>
          </p:txBody>
        </p:sp>
        <p:sp>
          <p:nvSpPr>
            <p:cNvPr id="50229" name="Rectangle 26"/>
            <p:cNvSpPr>
              <a:spLocks noChangeArrowheads="1"/>
            </p:cNvSpPr>
            <p:nvPr/>
          </p:nvSpPr>
          <p:spPr bwMode="auto">
            <a:xfrm>
              <a:off x="4272" y="144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smtClean="0">
                  <a:solidFill>
                    <a:srgbClr val="993300"/>
                  </a:solidFill>
                  <a:latin typeface="Times New Roman" panose="02020603050405020304" pitchFamily="18" charset="0"/>
                  <a:sym typeface="Symbol" panose="05050102010706020507" pitchFamily="18" charset="2"/>
                </a:rPr>
                <a:t></a:t>
              </a:r>
              <a:r>
                <a:rPr kumimoji="1" lang="en-US" altLang="zh-CN" sz="2400" b="1" i="1" baseline="-25000" dirty="0" err="1" smtClean="0">
                  <a:solidFill>
                    <a:srgbClr val="993300"/>
                  </a:solidFill>
                  <a:latin typeface="Times New Roman" panose="02020603050405020304" pitchFamily="18" charset="0"/>
                  <a:sym typeface="Symbol" panose="05050102010706020507" pitchFamily="18" charset="2"/>
                </a:rPr>
                <a:t>i</a:t>
              </a:r>
              <a:endParaRPr kumimoji="1" lang="en-US" altLang="zh-CN" sz="2400" b="1" i="1" baseline="-25000" dirty="0">
                <a:solidFill>
                  <a:srgbClr val="993300"/>
                </a:solidFill>
                <a:latin typeface="Times New Roman" panose="02020603050405020304" pitchFamily="18" charset="0"/>
                <a:sym typeface="Symbol" panose="05050102010706020507" pitchFamily="18" charset="2"/>
              </a:endParaRPr>
            </a:p>
          </p:txBody>
        </p:sp>
        <p:sp>
          <p:nvSpPr>
            <p:cNvPr id="50230" name="Rectangle 27"/>
            <p:cNvSpPr>
              <a:spLocks noChangeArrowheads="1"/>
            </p:cNvSpPr>
            <p:nvPr/>
          </p:nvSpPr>
          <p:spPr bwMode="auto">
            <a:xfrm>
              <a:off x="4848" y="1152"/>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h</a:t>
              </a:r>
              <a:r>
                <a:rPr kumimoji="1" lang="en-US" altLang="zh-CN" sz="2400" b="1" i="1" baseline="-25000">
                  <a:solidFill>
                    <a:srgbClr val="CC3300"/>
                  </a:solidFill>
                  <a:latin typeface="Times New Roman" panose="02020603050405020304" pitchFamily="18" charset="0"/>
                  <a:sym typeface="Symbol" panose="05050102010706020507" pitchFamily="18" charset="2"/>
                </a:rPr>
                <a:t>i</a:t>
              </a:r>
              <a:r>
                <a:rPr kumimoji="1" lang="en-US" altLang="zh-CN" sz="2400" b="1" baseline="-25000">
                  <a:solidFill>
                    <a:srgbClr val="CC3300"/>
                  </a:solidFill>
                  <a:latin typeface="Times New Roman" panose="02020603050405020304" pitchFamily="18" charset="0"/>
                  <a:sym typeface="Symbol" panose="05050102010706020507" pitchFamily="18" charset="2"/>
                </a:rPr>
                <a:t>+1</a:t>
              </a:r>
              <a:endParaRPr kumimoji="1" lang="en-US" altLang="zh-CN" sz="2400" b="1" i="1" baseline="-25000">
                <a:solidFill>
                  <a:srgbClr val="CC3300"/>
                </a:solidFill>
                <a:latin typeface="Times New Roman" panose="02020603050405020304" pitchFamily="18" charset="0"/>
                <a:sym typeface="Symbol" panose="05050102010706020507" pitchFamily="18" charset="2"/>
              </a:endParaRPr>
            </a:p>
          </p:txBody>
        </p:sp>
        <p:sp>
          <p:nvSpPr>
            <p:cNvPr id="50231" name="Rectangle 28"/>
            <p:cNvSpPr>
              <a:spLocks noChangeArrowheads="1"/>
            </p:cNvSpPr>
            <p:nvPr/>
          </p:nvSpPr>
          <p:spPr bwMode="auto">
            <a:xfrm>
              <a:off x="3744" y="1296"/>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err="1" smtClean="0">
                  <a:solidFill>
                    <a:srgbClr val="CC3300"/>
                  </a:solidFill>
                  <a:latin typeface="Times New Roman" panose="02020603050405020304" pitchFamily="18" charset="0"/>
                  <a:sym typeface="Symbol" panose="05050102010706020507" pitchFamily="18" charset="2"/>
                </a:rPr>
                <a:t>G</a:t>
              </a:r>
              <a:r>
                <a:rPr kumimoji="1" lang="en-US" altLang="zh-CN" sz="2400" b="1" i="1" baseline="-25000" dirty="0" err="1" smtClean="0">
                  <a:solidFill>
                    <a:srgbClr val="CC3300"/>
                  </a:solidFill>
                  <a:latin typeface="Times New Roman" panose="02020603050405020304" pitchFamily="18" charset="0"/>
                  <a:sym typeface="Symbol" panose="05050102010706020507" pitchFamily="18" charset="2"/>
                </a:rPr>
                <a:t>i</a:t>
              </a:r>
              <a:endParaRPr kumimoji="1" lang="en-US" altLang="zh-CN" sz="2400" b="1" i="1" baseline="-25000" dirty="0">
                <a:solidFill>
                  <a:srgbClr val="CC3300"/>
                </a:solidFill>
                <a:latin typeface="Times New Roman" panose="02020603050405020304" pitchFamily="18" charset="0"/>
                <a:sym typeface="Symbol" panose="05050102010706020507" pitchFamily="18" charset="2"/>
              </a:endParaRPr>
            </a:p>
          </p:txBody>
        </p:sp>
        <p:sp>
          <p:nvSpPr>
            <p:cNvPr id="50232" name="Rectangle 29"/>
            <p:cNvSpPr>
              <a:spLocks noChangeArrowheads="1"/>
            </p:cNvSpPr>
            <p:nvPr/>
          </p:nvSpPr>
          <p:spPr bwMode="auto">
            <a:xfrm>
              <a:off x="4416" y="72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smtClean="0">
                  <a:solidFill>
                    <a:srgbClr val="CC3300"/>
                  </a:solidFill>
                  <a:latin typeface="Times New Roman" panose="02020603050405020304" pitchFamily="18" charset="0"/>
                  <a:sym typeface="Symbol" panose="05050102010706020507" pitchFamily="18" charset="2"/>
                </a:rPr>
                <a:t>E</a:t>
              </a:r>
              <a:r>
                <a:rPr kumimoji="1" lang="en-US" altLang="zh-CN" sz="2400" b="1" i="1" baseline="-25000" dirty="0" smtClean="0">
                  <a:solidFill>
                    <a:srgbClr val="CC3300"/>
                  </a:solidFill>
                  <a:latin typeface="Times New Roman" panose="02020603050405020304" pitchFamily="18" charset="0"/>
                  <a:sym typeface="Symbol" panose="05050102010706020507" pitchFamily="18" charset="2"/>
                </a:rPr>
                <a:t>i</a:t>
              </a:r>
              <a:r>
                <a:rPr kumimoji="1" lang="en-US" altLang="zh-CN" sz="2400" b="1" baseline="-25000" dirty="0" smtClean="0">
                  <a:solidFill>
                    <a:srgbClr val="CC3300"/>
                  </a:solidFill>
                  <a:latin typeface="Times New Roman" panose="02020603050405020304" pitchFamily="18" charset="0"/>
                  <a:sym typeface="Symbol" panose="05050102010706020507" pitchFamily="18" charset="2"/>
                </a:rPr>
                <a:t>+1</a:t>
              </a:r>
              <a:endParaRPr kumimoji="1" lang="en-US" altLang="zh-CN" sz="2400" b="1" baseline="-25000" dirty="0">
                <a:solidFill>
                  <a:srgbClr val="CC3300"/>
                </a:solidFill>
                <a:latin typeface="Times New Roman" panose="02020603050405020304" pitchFamily="18" charset="0"/>
                <a:sym typeface="Symbol" panose="05050102010706020507" pitchFamily="18" charset="2"/>
              </a:endParaRPr>
            </a:p>
          </p:txBody>
        </p:sp>
        <p:sp>
          <p:nvSpPr>
            <p:cNvPr id="50233" name="Rectangle 30"/>
            <p:cNvSpPr>
              <a:spLocks noChangeArrowheads="1"/>
            </p:cNvSpPr>
            <p:nvPr/>
          </p:nvSpPr>
          <p:spPr bwMode="auto">
            <a:xfrm>
              <a:off x="4176" y="432"/>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smtClean="0">
                  <a:solidFill>
                    <a:srgbClr val="CC3300"/>
                  </a:solidFill>
                  <a:latin typeface="Times New Roman" panose="02020603050405020304" pitchFamily="18" charset="0"/>
                  <a:sym typeface="Symbol" panose="05050102010706020507" pitchFamily="18" charset="2"/>
                </a:rPr>
                <a:t>X</a:t>
              </a:r>
              <a:r>
                <a:rPr kumimoji="1" lang="en-US" altLang="zh-CN" sz="2400" b="1" i="1" baseline="-25000" dirty="0" smtClean="0">
                  <a:solidFill>
                    <a:srgbClr val="CC3300"/>
                  </a:solidFill>
                  <a:latin typeface="Times New Roman" panose="02020603050405020304" pitchFamily="18" charset="0"/>
                  <a:sym typeface="Symbol" panose="05050102010706020507" pitchFamily="18" charset="2"/>
                </a:rPr>
                <a:t>i</a:t>
              </a:r>
              <a:r>
                <a:rPr kumimoji="1" lang="en-US" altLang="zh-CN" sz="2400" b="1" baseline="-25000" dirty="0" smtClean="0">
                  <a:solidFill>
                    <a:srgbClr val="CC3300"/>
                  </a:solidFill>
                  <a:latin typeface="Times New Roman" panose="02020603050405020304" pitchFamily="18" charset="0"/>
                  <a:sym typeface="Symbol" panose="05050102010706020507" pitchFamily="18" charset="2"/>
                </a:rPr>
                <a:t>+1</a:t>
              </a:r>
              <a:endParaRPr kumimoji="1" lang="en-US" altLang="zh-CN" sz="2400" b="1" baseline="-25000" dirty="0">
                <a:solidFill>
                  <a:srgbClr val="CC3300"/>
                </a:solidFill>
                <a:latin typeface="Times New Roman" panose="02020603050405020304" pitchFamily="18" charset="0"/>
                <a:sym typeface="Symbol" panose="05050102010706020507" pitchFamily="18" charset="2"/>
              </a:endParaRPr>
            </a:p>
          </p:txBody>
        </p:sp>
        <p:sp>
          <p:nvSpPr>
            <p:cNvPr id="50234" name="Line 31"/>
            <p:cNvSpPr>
              <a:spLocks noChangeShapeType="1"/>
            </p:cNvSpPr>
            <p:nvPr/>
          </p:nvSpPr>
          <p:spPr bwMode="auto">
            <a:xfrm flipH="1">
              <a:off x="3072" y="2016"/>
              <a:ext cx="52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235" name="Line 32"/>
            <p:cNvSpPr>
              <a:spLocks noChangeShapeType="1"/>
            </p:cNvSpPr>
            <p:nvPr/>
          </p:nvSpPr>
          <p:spPr bwMode="auto">
            <a:xfrm>
              <a:off x="3264" y="1488"/>
              <a:ext cx="0" cy="528"/>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36" name="Rectangle 33"/>
            <p:cNvSpPr>
              <a:spLocks noChangeArrowheads="1"/>
            </p:cNvSpPr>
            <p:nvPr/>
          </p:nvSpPr>
          <p:spPr bwMode="auto">
            <a:xfrm>
              <a:off x="3024" y="1584"/>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h</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baseline="-25000">
                <a:solidFill>
                  <a:srgbClr val="CC3300"/>
                </a:solidFill>
                <a:latin typeface="Times New Roman" panose="02020603050405020304" pitchFamily="18" charset="0"/>
                <a:sym typeface="Symbol" panose="05050102010706020507" pitchFamily="18" charset="2"/>
              </a:endParaRPr>
            </a:p>
          </p:txBody>
        </p:sp>
      </p:grpSp>
      <p:grpSp>
        <p:nvGrpSpPr>
          <p:cNvPr id="50180" name="Group 41"/>
          <p:cNvGrpSpPr/>
          <p:nvPr/>
        </p:nvGrpSpPr>
        <p:grpSpPr bwMode="auto">
          <a:xfrm>
            <a:off x="3505200" y="3810000"/>
            <a:ext cx="6008688" cy="2500313"/>
            <a:chOff x="55" y="2064"/>
            <a:chExt cx="3785" cy="1575"/>
          </a:xfrm>
        </p:grpSpPr>
        <p:sp>
          <p:nvSpPr>
            <p:cNvPr id="50185" name="Freeform 42"/>
            <p:cNvSpPr/>
            <p:nvPr/>
          </p:nvSpPr>
          <p:spPr bwMode="auto">
            <a:xfrm>
              <a:off x="233" y="2405"/>
              <a:ext cx="3022" cy="1189"/>
            </a:xfrm>
            <a:custGeom>
              <a:avLst/>
              <a:gdLst>
                <a:gd name="T0" fmla="*/ 0 w 1785"/>
                <a:gd name="T1" fmla="*/ 2496 h 763"/>
                <a:gd name="T2" fmla="*/ 1339 w 1785"/>
                <a:gd name="T3" fmla="*/ 2506 h 763"/>
                <a:gd name="T4" fmla="*/ 6647 w 1785"/>
                <a:gd name="T5" fmla="*/ 0 h 763"/>
                <a:gd name="T6" fmla="*/ 8661 w 1785"/>
                <a:gd name="T7" fmla="*/ 0 h 763"/>
                <a:gd name="T8" fmla="*/ 7920 w 1785"/>
                <a:gd name="T9" fmla="*/ 0 h 763"/>
                <a:gd name="T10" fmla="*/ 7652 w 1785"/>
                <a:gd name="T11" fmla="*/ 597 h 763"/>
                <a:gd name="T12" fmla="*/ 7254 w 1785"/>
                <a:gd name="T13" fmla="*/ 1153 h 763"/>
                <a:gd name="T14" fmla="*/ 6931 w 1785"/>
                <a:gd name="T15" fmla="*/ 1487 h 763"/>
                <a:gd name="T16" fmla="*/ 6589 w 1785"/>
                <a:gd name="T17" fmla="*/ 1797 h 763"/>
                <a:gd name="T18" fmla="*/ 6091 w 1785"/>
                <a:gd name="T19" fmla="*/ 2135 h 763"/>
                <a:gd name="T20" fmla="*/ 5484 w 1785"/>
                <a:gd name="T21" fmla="*/ 2453 h 763"/>
                <a:gd name="T22" fmla="*/ 5018 w 1785"/>
                <a:gd name="T23" fmla="*/ 2615 h 763"/>
                <a:gd name="T24" fmla="*/ 4425 w 1785"/>
                <a:gd name="T25" fmla="*/ 2752 h 763"/>
                <a:gd name="T26" fmla="*/ 3887 w 1785"/>
                <a:gd name="T27" fmla="*/ 2841 h 763"/>
                <a:gd name="T28" fmla="*/ 3213 w 1785"/>
                <a:gd name="T29" fmla="*/ 2888 h 763"/>
                <a:gd name="T30" fmla="*/ 2760 w 1785"/>
                <a:gd name="T31" fmla="*/ 2888 h 763"/>
                <a:gd name="T32" fmla="*/ 2255 w 1785"/>
                <a:gd name="T33" fmla="*/ 2861 h 763"/>
                <a:gd name="T34" fmla="*/ 1639 w 1785"/>
                <a:gd name="T35" fmla="*/ 2771 h 763"/>
                <a:gd name="T36" fmla="*/ 1150 w 1785"/>
                <a:gd name="T37" fmla="*/ 2652 h 763"/>
                <a:gd name="T38" fmla="*/ 733 w 1785"/>
                <a:gd name="T39" fmla="*/ 2523 h 763"/>
                <a:gd name="T40" fmla="*/ 650 w 1785"/>
                <a:gd name="T41" fmla="*/ 2506 h 76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785"/>
                <a:gd name="T64" fmla="*/ 0 h 763"/>
                <a:gd name="T65" fmla="*/ 1785 w 1785"/>
                <a:gd name="T66" fmla="*/ 763 h 76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785" h="763">
                  <a:moveTo>
                    <a:pt x="0" y="660"/>
                  </a:moveTo>
                  <a:lnTo>
                    <a:pt x="276" y="662"/>
                  </a:lnTo>
                  <a:lnTo>
                    <a:pt x="1370" y="0"/>
                  </a:lnTo>
                  <a:lnTo>
                    <a:pt x="1785" y="0"/>
                  </a:lnTo>
                  <a:lnTo>
                    <a:pt x="1632" y="0"/>
                  </a:lnTo>
                  <a:lnTo>
                    <a:pt x="1577" y="158"/>
                  </a:lnTo>
                  <a:lnTo>
                    <a:pt x="1495" y="305"/>
                  </a:lnTo>
                  <a:lnTo>
                    <a:pt x="1428" y="393"/>
                  </a:lnTo>
                  <a:lnTo>
                    <a:pt x="1358" y="475"/>
                  </a:lnTo>
                  <a:lnTo>
                    <a:pt x="1255" y="564"/>
                  </a:lnTo>
                  <a:lnTo>
                    <a:pt x="1130" y="648"/>
                  </a:lnTo>
                  <a:lnTo>
                    <a:pt x="1034" y="691"/>
                  </a:lnTo>
                  <a:lnTo>
                    <a:pt x="912" y="727"/>
                  </a:lnTo>
                  <a:lnTo>
                    <a:pt x="801" y="751"/>
                  </a:lnTo>
                  <a:lnTo>
                    <a:pt x="662" y="763"/>
                  </a:lnTo>
                  <a:lnTo>
                    <a:pt x="569" y="763"/>
                  </a:lnTo>
                  <a:lnTo>
                    <a:pt x="465" y="756"/>
                  </a:lnTo>
                  <a:lnTo>
                    <a:pt x="338" y="732"/>
                  </a:lnTo>
                  <a:lnTo>
                    <a:pt x="237" y="701"/>
                  </a:lnTo>
                  <a:lnTo>
                    <a:pt x="151" y="667"/>
                  </a:lnTo>
                  <a:lnTo>
                    <a:pt x="134" y="662"/>
                  </a:lnTo>
                </a:path>
              </a:pathLst>
            </a:custGeom>
            <a:solidFill>
              <a:srgbClr val="66FF66">
                <a:alpha val="50195"/>
              </a:srgbClr>
            </a:solidFill>
            <a:ln w="38100">
              <a:solidFill>
                <a:srgbClr val="008000"/>
              </a:solidFill>
              <a:round/>
            </a:ln>
          </p:spPr>
          <p:txBody>
            <a:bodyPr/>
            <a:lstStyle/>
            <a:p>
              <a:endParaRPr lang="zh-CN" altLang="en-US"/>
            </a:p>
          </p:txBody>
        </p:sp>
        <p:sp>
          <p:nvSpPr>
            <p:cNvPr id="50186" name="Line 43"/>
            <p:cNvSpPr>
              <a:spLocks noChangeShapeType="1"/>
            </p:cNvSpPr>
            <p:nvPr/>
          </p:nvSpPr>
          <p:spPr bwMode="auto">
            <a:xfrm flipV="1">
              <a:off x="721" y="3418"/>
              <a:ext cx="0" cy="104"/>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187" name="Line 44"/>
            <p:cNvSpPr>
              <a:spLocks noChangeShapeType="1"/>
            </p:cNvSpPr>
            <p:nvPr/>
          </p:nvSpPr>
          <p:spPr bwMode="auto">
            <a:xfrm flipV="1">
              <a:off x="927" y="3305"/>
              <a:ext cx="0" cy="26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188" name="Line 45"/>
            <p:cNvSpPr>
              <a:spLocks noChangeShapeType="1"/>
            </p:cNvSpPr>
            <p:nvPr/>
          </p:nvSpPr>
          <p:spPr bwMode="auto">
            <a:xfrm flipV="1">
              <a:off x="1163" y="3199"/>
              <a:ext cx="0" cy="40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189" name="Line 46"/>
            <p:cNvSpPr>
              <a:spLocks noChangeShapeType="1"/>
            </p:cNvSpPr>
            <p:nvPr/>
          </p:nvSpPr>
          <p:spPr bwMode="auto">
            <a:xfrm flipH="1" flipV="1">
              <a:off x="1403" y="3033"/>
              <a:ext cx="0" cy="55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190" name="Line 47"/>
            <p:cNvSpPr>
              <a:spLocks noChangeShapeType="1"/>
            </p:cNvSpPr>
            <p:nvPr/>
          </p:nvSpPr>
          <p:spPr bwMode="auto">
            <a:xfrm flipH="1" flipV="1">
              <a:off x="1635" y="2908"/>
              <a:ext cx="0" cy="656"/>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191" name="Line 48"/>
            <p:cNvSpPr>
              <a:spLocks noChangeShapeType="1"/>
            </p:cNvSpPr>
            <p:nvPr/>
          </p:nvSpPr>
          <p:spPr bwMode="auto">
            <a:xfrm flipV="1">
              <a:off x="1853" y="2782"/>
              <a:ext cx="0" cy="737"/>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192" name="Line 49"/>
            <p:cNvSpPr>
              <a:spLocks noChangeShapeType="1"/>
            </p:cNvSpPr>
            <p:nvPr/>
          </p:nvSpPr>
          <p:spPr bwMode="auto">
            <a:xfrm flipH="1" flipV="1">
              <a:off x="2111" y="2642"/>
              <a:ext cx="0" cy="78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193" name="Line 50"/>
            <p:cNvSpPr>
              <a:spLocks noChangeShapeType="1"/>
            </p:cNvSpPr>
            <p:nvPr/>
          </p:nvSpPr>
          <p:spPr bwMode="auto">
            <a:xfrm flipV="1">
              <a:off x="2340" y="2520"/>
              <a:ext cx="0" cy="766"/>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194" name="Line 51"/>
            <p:cNvSpPr>
              <a:spLocks noChangeShapeType="1"/>
            </p:cNvSpPr>
            <p:nvPr/>
          </p:nvSpPr>
          <p:spPr bwMode="auto">
            <a:xfrm>
              <a:off x="2549" y="2397"/>
              <a:ext cx="0" cy="733"/>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195" name="Line 52"/>
            <p:cNvSpPr>
              <a:spLocks noChangeShapeType="1"/>
            </p:cNvSpPr>
            <p:nvPr/>
          </p:nvSpPr>
          <p:spPr bwMode="auto">
            <a:xfrm>
              <a:off x="2772" y="2405"/>
              <a:ext cx="0" cy="457"/>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196" name="Text Box 53"/>
            <p:cNvSpPr txBox="1">
              <a:spLocks noChangeArrowheads="1"/>
            </p:cNvSpPr>
            <p:nvPr/>
          </p:nvSpPr>
          <p:spPr bwMode="auto">
            <a:xfrm>
              <a:off x="672" y="3312"/>
              <a:ext cx="3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2</a:t>
              </a:r>
              <a:endParaRPr kumimoji="1" lang="en-US" altLang="zh-CN" sz="2800" b="1">
                <a:solidFill>
                  <a:srgbClr val="FF6600"/>
                </a:solidFill>
                <a:latin typeface="Times New Roman" panose="02020603050405020304" pitchFamily="18" charset="0"/>
              </a:endParaRPr>
            </a:p>
          </p:txBody>
        </p:sp>
        <p:sp>
          <p:nvSpPr>
            <p:cNvPr id="50197" name="Text Box 54"/>
            <p:cNvSpPr txBox="1">
              <a:spLocks noChangeArrowheads="1"/>
            </p:cNvSpPr>
            <p:nvPr/>
          </p:nvSpPr>
          <p:spPr bwMode="auto">
            <a:xfrm>
              <a:off x="904" y="3280"/>
              <a:ext cx="3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3</a:t>
              </a:r>
              <a:endParaRPr kumimoji="1" lang="en-US" altLang="zh-CN" sz="2800" b="1">
                <a:solidFill>
                  <a:srgbClr val="FF6600"/>
                </a:solidFill>
                <a:latin typeface="Times New Roman" panose="02020603050405020304" pitchFamily="18" charset="0"/>
              </a:endParaRPr>
            </a:p>
          </p:txBody>
        </p:sp>
        <p:sp>
          <p:nvSpPr>
            <p:cNvPr id="50198" name="Text Box 55"/>
            <p:cNvSpPr txBox="1">
              <a:spLocks noChangeArrowheads="1"/>
            </p:cNvSpPr>
            <p:nvPr/>
          </p:nvSpPr>
          <p:spPr bwMode="auto">
            <a:xfrm>
              <a:off x="1104" y="3264"/>
              <a:ext cx="3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800" b="1">
                  <a:solidFill>
                    <a:srgbClr val="FF6600"/>
                  </a:solidFill>
                  <a:latin typeface="Times New Roman" panose="02020603050405020304" pitchFamily="18" charset="0"/>
                </a:rPr>
                <a:t>4</a:t>
              </a:r>
              <a:endParaRPr kumimoji="1" lang="en-US" altLang="zh-CN" sz="2800" b="1">
                <a:solidFill>
                  <a:srgbClr val="FF6600"/>
                </a:solidFill>
                <a:latin typeface="Times New Roman" panose="02020603050405020304" pitchFamily="18" charset="0"/>
              </a:endParaRPr>
            </a:p>
          </p:txBody>
        </p:sp>
        <p:sp>
          <p:nvSpPr>
            <p:cNvPr id="50199" name="Text Box 56"/>
            <p:cNvSpPr txBox="1">
              <a:spLocks noChangeArrowheads="1"/>
            </p:cNvSpPr>
            <p:nvPr/>
          </p:nvSpPr>
          <p:spPr bwMode="auto">
            <a:xfrm>
              <a:off x="1392" y="3216"/>
              <a:ext cx="3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5</a:t>
              </a:r>
              <a:endParaRPr kumimoji="1" lang="en-US" altLang="zh-CN" sz="2800" b="1">
                <a:solidFill>
                  <a:srgbClr val="FF6600"/>
                </a:solidFill>
                <a:latin typeface="Times New Roman" panose="02020603050405020304" pitchFamily="18" charset="0"/>
              </a:endParaRPr>
            </a:p>
          </p:txBody>
        </p:sp>
        <p:sp>
          <p:nvSpPr>
            <p:cNvPr id="50200" name="Text Box 57"/>
            <p:cNvSpPr txBox="1">
              <a:spLocks noChangeArrowheads="1"/>
            </p:cNvSpPr>
            <p:nvPr/>
          </p:nvSpPr>
          <p:spPr bwMode="auto">
            <a:xfrm>
              <a:off x="1632" y="3120"/>
              <a:ext cx="3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6</a:t>
              </a:r>
              <a:endParaRPr kumimoji="1" lang="en-US" altLang="zh-CN" sz="2800" b="1">
                <a:solidFill>
                  <a:srgbClr val="FF6600"/>
                </a:solidFill>
                <a:latin typeface="Times New Roman" panose="02020603050405020304" pitchFamily="18" charset="0"/>
              </a:endParaRPr>
            </a:p>
          </p:txBody>
        </p:sp>
        <p:sp>
          <p:nvSpPr>
            <p:cNvPr id="50201" name="Text Box 58"/>
            <p:cNvSpPr txBox="1">
              <a:spLocks noChangeArrowheads="1"/>
            </p:cNvSpPr>
            <p:nvPr/>
          </p:nvSpPr>
          <p:spPr bwMode="auto">
            <a:xfrm>
              <a:off x="1872" y="2976"/>
              <a:ext cx="3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7</a:t>
              </a:r>
              <a:endParaRPr kumimoji="1" lang="en-US" altLang="zh-CN" sz="2800" b="1">
                <a:solidFill>
                  <a:srgbClr val="FF6600"/>
                </a:solidFill>
                <a:latin typeface="Times New Roman" panose="02020603050405020304" pitchFamily="18" charset="0"/>
              </a:endParaRPr>
            </a:p>
          </p:txBody>
        </p:sp>
        <p:sp>
          <p:nvSpPr>
            <p:cNvPr id="50202" name="Text Box 59"/>
            <p:cNvSpPr txBox="1">
              <a:spLocks noChangeArrowheads="1"/>
            </p:cNvSpPr>
            <p:nvPr/>
          </p:nvSpPr>
          <p:spPr bwMode="auto">
            <a:xfrm>
              <a:off x="2112" y="2832"/>
              <a:ext cx="3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8</a:t>
              </a:r>
              <a:endParaRPr kumimoji="1" lang="en-US" altLang="zh-CN" sz="2800" b="1">
                <a:solidFill>
                  <a:srgbClr val="FF6600"/>
                </a:solidFill>
                <a:latin typeface="Times New Roman" panose="02020603050405020304" pitchFamily="18" charset="0"/>
              </a:endParaRPr>
            </a:p>
          </p:txBody>
        </p:sp>
        <p:sp>
          <p:nvSpPr>
            <p:cNvPr id="50203" name="Text Box 60"/>
            <p:cNvSpPr txBox="1">
              <a:spLocks noChangeArrowheads="1"/>
            </p:cNvSpPr>
            <p:nvPr/>
          </p:nvSpPr>
          <p:spPr bwMode="auto">
            <a:xfrm>
              <a:off x="2352" y="2736"/>
              <a:ext cx="3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9</a:t>
              </a:r>
              <a:endParaRPr kumimoji="1" lang="en-US" altLang="zh-CN" sz="2800" b="1">
                <a:solidFill>
                  <a:srgbClr val="FF6600"/>
                </a:solidFill>
                <a:latin typeface="Times New Roman" panose="02020603050405020304" pitchFamily="18" charset="0"/>
              </a:endParaRPr>
            </a:p>
          </p:txBody>
        </p:sp>
        <p:sp>
          <p:nvSpPr>
            <p:cNvPr id="50204" name="Text Box 61"/>
            <p:cNvSpPr txBox="1">
              <a:spLocks noChangeArrowheads="1"/>
            </p:cNvSpPr>
            <p:nvPr/>
          </p:nvSpPr>
          <p:spPr bwMode="auto">
            <a:xfrm>
              <a:off x="2496" y="254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FF6600"/>
                  </a:solidFill>
                  <a:latin typeface="Times New Roman" panose="02020603050405020304" pitchFamily="18" charset="0"/>
                </a:rPr>
                <a:t>10</a:t>
              </a:r>
              <a:endParaRPr kumimoji="1" lang="en-US" altLang="zh-CN" sz="2400" b="1">
                <a:solidFill>
                  <a:srgbClr val="FF6600"/>
                </a:solidFill>
                <a:latin typeface="Times New Roman" panose="02020603050405020304" pitchFamily="18" charset="0"/>
              </a:endParaRPr>
            </a:p>
          </p:txBody>
        </p:sp>
        <p:sp>
          <p:nvSpPr>
            <p:cNvPr id="50205" name="Text Box 62"/>
            <p:cNvSpPr txBox="1">
              <a:spLocks noChangeArrowheads="1"/>
            </p:cNvSpPr>
            <p:nvPr/>
          </p:nvSpPr>
          <p:spPr bwMode="auto">
            <a:xfrm>
              <a:off x="2706" y="2361"/>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FF6600"/>
                  </a:solidFill>
                  <a:latin typeface="Times New Roman" panose="02020603050405020304" pitchFamily="18" charset="0"/>
                </a:rPr>
                <a:t>11</a:t>
              </a:r>
              <a:endParaRPr kumimoji="1" lang="en-US" altLang="zh-CN" sz="2400" b="1">
                <a:solidFill>
                  <a:srgbClr val="FF6600"/>
                </a:solidFill>
                <a:latin typeface="Times New Roman" panose="02020603050405020304" pitchFamily="18" charset="0"/>
              </a:endParaRPr>
            </a:p>
          </p:txBody>
        </p:sp>
        <p:sp>
          <p:nvSpPr>
            <p:cNvPr id="50206" name="Text Box 63"/>
            <p:cNvSpPr txBox="1">
              <a:spLocks noChangeArrowheads="1"/>
            </p:cNvSpPr>
            <p:nvPr/>
          </p:nvSpPr>
          <p:spPr bwMode="auto">
            <a:xfrm>
              <a:off x="480" y="3303"/>
              <a:ext cx="3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a:solidFill>
                    <a:srgbClr val="FF6600"/>
                  </a:solidFill>
                  <a:latin typeface="Times New Roman" panose="02020603050405020304" pitchFamily="18" charset="0"/>
                </a:rPr>
                <a:t>1</a:t>
              </a:r>
              <a:endParaRPr kumimoji="1" lang="en-US" altLang="zh-CN" sz="2800" b="1">
                <a:solidFill>
                  <a:srgbClr val="FF6600"/>
                </a:solidFill>
                <a:latin typeface="Times New Roman" panose="02020603050405020304" pitchFamily="18" charset="0"/>
              </a:endParaRPr>
            </a:p>
          </p:txBody>
        </p:sp>
        <p:sp>
          <p:nvSpPr>
            <p:cNvPr id="50207" name="Line 64"/>
            <p:cNvSpPr>
              <a:spLocks noChangeShapeType="1"/>
            </p:cNvSpPr>
            <p:nvPr/>
          </p:nvSpPr>
          <p:spPr bwMode="auto">
            <a:xfrm>
              <a:off x="210" y="3438"/>
              <a:ext cx="229" cy="0"/>
            </a:xfrm>
            <a:prstGeom prst="line">
              <a:avLst/>
            </a:prstGeom>
            <a:noFill/>
            <a:ln w="38100">
              <a:solidFill>
                <a:srgbClr val="FF33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08" name="Line 65"/>
            <p:cNvSpPr>
              <a:spLocks noChangeShapeType="1"/>
            </p:cNvSpPr>
            <p:nvPr/>
          </p:nvSpPr>
          <p:spPr bwMode="auto">
            <a:xfrm flipH="1">
              <a:off x="2990" y="2395"/>
              <a:ext cx="283" cy="9"/>
            </a:xfrm>
            <a:prstGeom prst="line">
              <a:avLst/>
            </a:prstGeom>
            <a:noFill/>
            <a:ln w="38100">
              <a:solidFill>
                <a:srgbClr val="FF33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09" name="Text Box 66"/>
            <p:cNvSpPr txBox="1">
              <a:spLocks noChangeArrowheads="1"/>
            </p:cNvSpPr>
            <p:nvPr/>
          </p:nvSpPr>
          <p:spPr bwMode="auto">
            <a:xfrm>
              <a:off x="55" y="3017"/>
              <a:ext cx="76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i="1" dirty="0" smtClean="0">
                  <a:solidFill>
                    <a:srgbClr val="FF3300"/>
                  </a:solidFill>
                  <a:latin typeface="Times New Roman" panose="02020603050405020304" pitchFamily="18" charset="0"/>
                </a:rPr>
                <a:t>E</a:t>
              </a:r>
              <a:r>
                <a:rPr kumimoji="1" lang="en-US" altLang="zh-CN" sz="2800" b="1" i="1" baseline="-25000" dirty="0" smtClean="0">
                  <a:solidFill>
                    <a:srgbClr val="FF3300"/>
                  </a:solidFill>
                  <a:latin typeface="Times New Roman" panose="02020603050405020304" pitchFamily="18" charset="0"/>
                </a:rPr>
                <a:t>0</a:t>
              </a:r>
              <a:r>
                <a:rPr kumimoji="1" lang="en-US" altLang="zh-CN" sz="2800" b="1" i="1" dirty="0" smtClean="0">
                  <a:solidFill>
                    <a:srgbClr val="FF3300"/>
                  </a:solidFill>
                  <a:latin typeface="Times New Roman" panose="02020603050405020304" pitchFamily="18" charset="0"/>
                </a:rPr>
                <a:t>=0</a:t>
              </a:r>
              <a:endParaRPr kumimoji="1" lang="en-US" altLang="zh-CN" sz="2800" b="1" i="1" baseline="-25000" dirty="0">
                <a:solidFill>
                  <a:srgbClr val="FF3300"/>
                </a:solidFill>
                <a:latin typeface="Times New Roman" panose="02020603050405020304" pitchFamily="18" charset="0"/>
              </a:endParaRPr>
            </a:p>
          </p:txBody>
        </p:sp>
        <p:sp>
          <p:nvSpPr>
            <p:cNvPr id="50210" name="Text Box 67"/>
            <p:cNvSpPr txBox="1">
              <a:spLocks noChangeArrowheads="1"/>
            </p:cNvSpPr>
            <p:nvPr/>
          </p:nvSpPr>
          <p:spPr bwMode="auto">
            <a:xfrm>
              <a:off x="3022" y="2064"/>
              <a:ext cx="81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800" b="1" i="1" dirty="0" err="1" smtClean="0">
                  <a:solidFill>
                    <a:srgbClr val="FF3300"/>
                  </a:solidFill>
                  <a:latin typeface="Times New Roman" panose="02020603050405020304" pitchFamily="18" charset="0"/>
                </a:rPr>
                <a:t>E</a:t>
              </a:r>
              <a:r>
                <a:rPr kumimoji="1" lang="en-US" altLang="zh-CN" sz="2800" b="1" i="1" baseline="-25000" dirty="0" err="1" smtClean="0">
                  <a:solidFill>
                    <a:srgbClr val="FF3300"/>
                  </a:solidFill>
                  <a:latin typeface="Times New Roman" panose="02020603050405020304" pitchFamily="18" charset="0"/>
                </a:rPr>
                <a:t>n</a:t>
              </a:r>
              <a:r>
                <a:rPr kumimoji="1" lang="en-US" altLang="zh-CN" sz="2800" b="1" i="1" dirty="0" smtClean="0">
                  <a:solidFill>
                    <a:srgbClr val="FF3300"/>
                  </a:solidFill>
                  <a:latin typeface="Times New Roman" panose="02020603050405020304" pitchFamily="18" charset="0"/>
                </a:rPr>
                <a:t>=0</a:t>
              </a:r>
              <a:endParaRPr kumimoji="1" lang="en-US" altLang="zh-CN" sz="2800" b="1" i="1" baseline="-25000" dirty="0">
                <a:solidFill>
                  <a:srgbClr val="FF3300"/>
                </a:solidFill>
                <a:latin typeface="Times New Roman" panose="02020603050405020304" pitchFamily="18" charset="0"/>
              </a:endParaRPr>
            </a:p>
          </p:txBody>
        </p:sp>
      </p:grpSp>
      <p:sp>
        <p:nvSpPr>
          <p:cNvPr id="50181" name="Rectangle 73"/>
          <p:cNvSpPr>
            <a:spLocks noGrp="1" noChangeArrowheads="1"/>
          </p:cNvSpPr>
          <p:nvPr>
            <p:ph type="body" sz="half" idx="1"/>
          </p:nvPr>
        </p:nvSpPr>
        <p:spPr bwMode="auto">
          <a:xfrm>
            <a:off x="943879" y="685800"/>
            <a:ext cx="2534816"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indent="0" algn="just" eaLnBrk="1" hangingPunct="1">
              <a:buFontTx/>
              <a:buNone/>
            </a:pPr>
            <a:r>
              <a:rPr lang="zh-CN" altLang="en-US" b="1" dirty="0" smtClean="0">
                <a:solidFill>
                  <a:srgbClr val="993300"/>
                </a:solidFill>
                <a:ea typeface="隶书" panose="02010509060101010101" pitchFamily="49" charset="-122"/>
              </a:rPr>
              <a:t>杨布法的讨论</a:t>
            </a:r>
            <a:endParaRPr lang="zh-CN" altLang="en-US" b="1" dirty="0" smtClean="0">
              <a:solidFill>
                <a:srgbClr val="993300"/>
              </a:solidFill>
              <a:ea typeface="隶书" panose="02010509060101010101" pitchFamily="49" charset="-122"/>
            </a:endParaRPr>
          </a:p>
        </p:txBody>
      </p:sp>
      <p:sp>
        <p:nvSpPr>
          <p:cNvPr id="773194" name="Rectangle 74"/>
          <p:cNvSpPr>
            <a:spLocks noChangeArrowheads="1"/>
          </p:cNvSpPr>
          <p:nvPr/>
        </p:nvSpPr>
        <p:spPr bwMode="auto">
          <a:xfrm>
            <a:off x="381000" y="2438400"/>
            <a:ext cx="4267200" cy="111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a:lnSpc>
                <a:spcPct val="150000"/>
              </a:lnSpc>
            </a:pPr>
            <a:r>
              <a:rPr kumimoji="1" lang="en-US" altLang="zh-CN" sz="2400" b="1" dirty="0">
                <a:solidFill>
                  <a:srgbClr val="0000FF"/>
                </a:solidFill>
                <a:latin typeface="宋体" panose="02010600030101010101" pitchFamily="2" charset="-122"/>
              </a:rPr>
              <a:t>(1) </a:t>
            </a:r>
            <a:r>
              <a:rPr kumimoji="1" lang="zh-CN" altLang="en-US" sz="2400" b="1" dirty="0">
                <a:solidFill>
                  <a:srgbClr val="0000FF"/>
                </a:solidFill>
                <a:latin typeface="宋体" panose="02010600030101010101" pitchFamily="2" charset="-122"/>
              </a:rPr>
              <a:t>任意形状滑裂面，不一定是圆弧</a:t>
            </a:r>
            <a:endParaRPr kumimoji="1" lang="zh-CN" altLang="en-US" sz="2400" b="1" dirty="0">
              <a:solidFill>
                <a:srgbClr val="0000FF"/>
              </a:solidFill>
              <a:latin typeface="宋体" panose="02010600030101010101" pitchFamily="2" charset="-122"/>
            </a:endParaRPr>
          </a:p>
        </p:txBody>
      </p:sp>
      <p:sp>
        <p:nvSpPr>
          <p:cNvPr id="773195" name="Text Box 75"/>
          <p:cNvSpPr txBox="1">
            <a:spLocks noChangeArrowheads="1"/>
          </p:cNvSpPr>
          <p:nvPr/>
        </p:nvSpPr>
        <p:spPr bwMode="auto">
          <a:xfrm>
            <a:off x="381000" y="1447800"/>
            <a:ext cx="4876800" cy="496888"/>
          </a:xfrm>
          <a:prstGeom prst="rect">
            <a:avLst/>
          </a:prstGeom>
          <a:solidFill>
            <a:schemeClr val="tx2">
              <a:lumMod val="20000"/>
              <a:lumOff val="80000"/>
            </a:schemeClr>
          </a:solidFill>
          <a:ln w="9525" algn="ctr">
            <a:solidFill>
              <a:srgbClr val="0066FF"/>
            </a:solidFill>
            <a:miter lim="800000"/>
          </a:ln>
        </p:spPr>
        <p:txBody>
          <a:bodyPr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lang="en-US" altLang="zh-CN" sz="3200" b="1" dirty="0">
                <a:solidFill>
                  <a:srgbClr val="CC3300"/>
                </a:solidFill>
                <a:ea typeface="隶书" panose="02010509060101010101" pitchFamily="49" charset="-122"/>
              </a:rPr>
              <a:t> </a:t>
            </a:r>
            <a:r>
              <a:rPr lang="zh-CN" altLang="en-US" sz="3200" b="1" dirty="0">
                <a:solidFill>
                  <a:srgbClr val="CC3300"/>
                </a:solidFill>
                <a:ea typeface="隶书" panose="02010509060101010101" pitchFamily="49" charset="-122"/>
              </a:rPr>
              <a:t>未知数</a:t>
            </a:r>
            <a:r>
              <a:rPr lang="en-US" altLang="zh-CN" sz="3200" b="1" dirty="0">
                <a:solidFill>
                  <a:srgbClr val="CC3300"/>
                </a:solidFill>
                <a:ea typeface="隶书" panose="02010509060101010101" pitchFamily="49" charset="-122"/>
              </a:rPr>
              <a:t>: </a:t>
            </a:r>
            <a:r>
              <a:rPr lang="en-US" altLang="zh-CN" sz="3200" b="1" dirty="0">
                <a:solidFill>
                  <a:srgbClr val="0000FF"/>
                </a:solidFill>
                <a:ea typeface="隶书" panose="02010509060101010101" pitchFamily="49" charset="-122"/>
              </a:rPr>
              <a:t>4n-1  </a:t>
            </a:r>
            <a:r>
              <a:rPr lang="zh-CN" altLang="en-US" sz="3200" b="1" dirty="0">
                <a:solidFill>
                  <a:srgbClr val="CC3300"/>
                </a:solidFill>
                <a:ea typeface="隶书" panose="02010509060101010101" pitchFamily="49" charset="-122"/>
              </a:rPr>
              <a:t>方程数</a:t>
            </a:r>
            <a:r>
              <a:rPr lang="en-US" altLang="zh-CN" sz="3200" b="1" dirty="0">
                <a:solidFill>
                  <a:srgbClr val="CC3300"/>
                </a:solidFill>
                <a:ea typeface="隶书" panose="02010509060101010101" pitchFamily="49" charset="-122"/>
              </a:rPr>
              <a:t>: </a:t>
            </a:r>
            <a:r>
              <a:rPr lang="en-US" altLang="zh-CN" sz="3200" b="1" dirty="0">
                <a:solidFill>
                  <a:srgbClr val="0000FF"/>
                </a:solidFill>
                <a:ea typeface="隶书" panose="02010509060101010101" pitchFamily="49" charset="-122"/>
              </a:rPr>
              <a:t>4n </a:t>
            </a:r>
            <a:endParaRPr lang="en-US" altLang="zh-CN" sz="3200" b="1" dirty="0">
              <a:solidFill>
                <a:srgbClr val="0000FF"/>
              </a:solidFill>
              <a:ea typeface="隶书" panose="02010509060101010101" pitchFamily="49" charset="-122"/>
            </a:endParaRPr>
          </a:p>
        </p:txBody>
      </p:sp>
      <p:sp>
        <p:nvSpPr>
          <p:cNvPr id="773196" name="Rectangle 76"/>
          <p:cNvSpPr>
            <a:spLocks noChangeArrowheads="1"/>
          </p:cNvSpPr>
          <p:nvPr/>
        </p:nvSpPr>
        <p:spPr bwMode="auto">
          <a:xfrm>
            <a:off x="381000" y="3927268"/>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a:r>
              <a:rPr kumimoji="1" lang="en-US" altLang="zh-CN" sz="2400" b="1" dirty="0">
                <a:solidFill>
                  <a:srgbClr val="0000FF"/>
                </a:solidFill>
                <a:latin typeface="宋体" panose="02010600030101010101" pitchFamily="2" charset="-122"/>
              </a:rPr>
              <a:t>(2) </a:t>
            </a:r>
            <a:r>
              <a:rPr kumimoji="1" lang="zh-CN" altLang="en-US" sz="2400" b="1" dirty="0">
                <a:solidFill>
                  <a:srgbClr val="0000FF"/>
                </a:solidFill>
                <a:latin typeface="宋体" panose="02010600030101010101" pitchFamily="2" charset="-122"/>
              </a:rPr>
              <a:t>计算较复杂</a:t>
            </a:r>
            <a:endParaRPr kumimoji="1" lang="zh-CN" altLang="en-US" sz="2400" b="1" dirty="0">
              <a:solidFill>
                <a:srgbClr val="0000FF"/>
              </a:solidFill>
              <a:latin typeface="宋体" panose="02010600030101010101" pitchFamily="2" charset="-122"/>
            </a:endParaRPr>
          </a:p>
        </p:txBody>
      </p:sp>
      <p:sp>
        <p:nvSpPr>
          <p:cNvPr id="65" name="Rectangle 6"/>
          <p:cNvSpPr>
            <a:spLocks noChangeArrowheads="1"/>
          </p:cNvSpPr>
          <p:nvPr/>
        </p:nvSpPr>
        <p:spPr bwMode="auto">
          <a:xfrm>
            <a:off x="0" y="-7396"/>
            <a:ext cx="41148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黏性土坡的稳定性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73195"/>
                                        </p:tgtEl>
                                        <p:attrNameLst>
                                          <p:attrName>style.visibility</p:attrName>
                                        </p:attrNameLst>
                                      </p:cBhvr>
                                      <p:to>
                                        <p:strVal val="visible"/>
                                      </p:to>
                                    </p:set>
                                    <p:animEffect transition="in" filter="dissolve">
                                      <p:cBhvr>
                                        <p:cTn id="7" dur="500"/>
                                        <p:tgtEl>
                                          <p:spTgt spid="77319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73194"/>
                                        </p:tgtEl>
                                        <p:attrNameLst>
                                          <p:attrName>style.visibility</p:attrName>
                                        </p:attrNameLst>
                                      </p:cBhvr>
                                      <p:to>
                                        <p:strVal val="visible"/>
                                      </p:to>
                                    </p:set>
                                    <p:animEffect transition="in" filter="wipe(left)">
                                      <p:cBhvr>
                                        <p:cTn id="12" dur="500"/>
                                        <p:tgtEl>
                                          <p:spTgt spid="77319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773196"/>
                                        </p:tgtEl>
                                        <p:attrNameLst>
                                          <p:attrName>style.visibility</p:attrName>
                                        </p:attrNameLst>
                                      </p:cBhvr>
                                      <p:to>
                                        <p:strVal val="visible"/>
                                      </p:to>
                                    </p:set>
                                    <p:anim calcmode="lin" valueType="num">
                                      <p:cBhvr additive="base">
                                        <p:cTn id="17" dur="500" fill="hold"/>
                                        <p:tgtEl>
                                          <p:spTgt spid="773196"/>
                                        </p:tgtEl>
                                        <p:attrNameLst>
                                          <p:attrName>ppt_x</p:attrName>
                                        </p:attrNameLst>
                                      </p:cBhvr>
                                      <p:tavLst>
                                        <p:tav tm="0">
                                          <p:val>
                                            <p:strVal val="0-#ppt_w/2"/>
                                          </p:val>
                                        </p:tav>
                                        <p:tav tm="100000">
                                          <p:val>
                                            <p:strVal val="#ppt_x"/>
                                          </p:val>
                                        </p:tav>
                                      </p:tavLst>
                                    </p:anim>
                                    <p:anim calcmode="lin" valueType="num">
                                      <p:cBhvr additive="base">
                                        <p:cTn id="18" dur="500" fill="hold"/>
                                        <p:tgtEl>
                                          <p:spTgt spid="7731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3194" grpId="0" autoUpdateAnimBg="0"/>
      <p:bldP spid="773195" grpId="0" bldLvl="0" animBg="1" autoUpdateAnimBg="0"/>
      <p:bldP spid="773196" grpId="0" autoUpdateAnimBg="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61"/>
          <p:cNvSpPr>
            <a:spLocks noGrp="1" noChangeArrowheads="1"/>
          </p:cNvSpPr>
          <p:nvPr>
            <p:ph type="body" sz="half" idx="1"/>
          </p:nvPr>
        </p:nvSpPr>
        <p:spPr bwMode="auto">
          <a:xfrm>
            <a:off x="723820" y="759443"/>
            <a:ext cx="2768060" cy="488861"/>
          </a:xfrm>
          <a:solidFill>
            <a:srgbClr val="FFC000"/>
          </a:solidFill>
        </p:spPr>
        <p:txBody>
          <a:bodyPr vert="horz" wrap="square" lIns="91440" tIns="45720" rIns="91440" bIns="45720" numCol="1" anchor="t" anchorCtr="0" compatLnSpc="1"/>
          <a:lstStyle/>
          <a:p>
            <a:pPr marL="0" indent="0" algn="just" eaLnBrk="1" hangingPunct="1">
              <a:buFontTx/>
              <a:buNone/>
            </a:pPr>
            <a:r>
              <a:rPr lang="zh-CN" altLang="en-US" sz="2800" b="1" dirty="0" smtClean="0">
                <a:latin typeface="+mn-ea"/>
              </a:rPr>
              <a:t>几种方法的比较</a:t>
            </a:r>
            <a:endParaRPr lang="zh-CN" altLang="en-US" sz="2800" b="1" dirty="0" smtClean="0">
              <a:latin typeface="+mn-ea"/>
            </a:endParaRPr>
          </a:p>
        </p:txBody>
      </p:sp>
      <p:graphicFrame>
        <p:nvGraphicFramePr>
          <p:cNvPr id="48211" name="Group 83"/>
          <p:cNvGraphicFramePr>
            <a:graphicFrameLocks noGrp="1"/>
          </p:cNvGraphicFramePr>
          <p:nvPr/>
        </p:nvGraphicFramePr>
        <p:xfrm>
          <a:off x="152400" y="1600200"/>
          <a:ext cx="8686800" cy="4827687"/>
        </p:xfrm>
        <a:graphic>
          <a:graphicData uri="http://schemas.openxmlformats.org/drawingml/2006/table">
            <a:tbl>
              <a:tblPr/>
              <a:tblGrid>
                <a:gridCol w="650875"/>
                <a:gridCol w="1558925"/>
                <a:gridCol w="1524000"/>
                <a:gridCol w="1479550"/>
                <a:gridCol w="1797050"/>
                <a:gridCol w="1676400"/>
              </a:tblGrid>
              <a:tr h="476219">
                <a:tc gridSpan="2">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990000"/>
                          </a:solidFill>
                          <a:effectLst/>
                          <a:latin typeface="Arial" panose="020B0604020202020204" pitchFamily="34" charset="0"/>
                          <a:ea typeface="宋体" panose="02010600030101010101" pitchFamily="2" charset="-122"/>
                        </a:rPr>
                        <a:t>方法</a:t>
                      </a:r>
                      <a:endParaRPr kumimoji="0" lang="zh-CN" altLang="en-US" sz="2000" b="1" i="0" u="none" strike="noStrike" cap="none" normalizeH="0" baseline="0">
                        <a:ln>
                          <a:noFill/>
                        </a:ln>
                        <a:solidFill>
                          <a:srgbClr val="990000"/>
                        </a:solidFill>
                        <a:effectLst/>
                        <a:latin typeface="Arial" panose="020B0604020202020204" pitchFamily="34" charset="0"/>
                        <a:ea typeface="宋体" panose="02010600030101010101" pitchFamily="2" charset="-122"/>
                      </a:endParaRP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990000"/>
                          </a:solidFill>
                          <a:effectLst/>
                          <a:latin typeface="Arial" panose="020B0604020202020204" pitchFamily="34" charset="0"/>
                          <a:ea typeface="宋体" panose="02010600030101010101" pitchFamily="2" charset="-122"/>
                        </a:rPr>
                        <a:t>整体圆弧法</a:t>
                      </a:r>
                      <a:endParaRPr kumimoji="0" lang="zh-CN" altLang="en-US" sz="2000" b="1" i="0" u="none" strike="noStrike" cap="none" normalizeH="0" baseline="0">
                        <a:ln>
                          <a:noFill/>
                        </a:ln>
                        <a:solidFill>
                          <a:srgbClr val="990000"/>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990000"/>
                          </a:solidFill>
                          <a:effectLst/>
                          <a:latin typeface="Arial" panose="020B0604020202020204" pitchFamily="34" charset="0"/>
                          <a:ea typeface="宋体" panose="02010600030101010101" pitchFamily="2" charset="-122"/>
                        </a:rPr>
                        <a:t>简单条分法</a:t>
                      </a:r>
                      <a:endParaRPr kumimoji="0" lang="zh-CN" altLang="en-US" sz="2000" b="1" i="0" u="none" strike="noStrike" cap="none" normalizeH="0" baseline="0">
                        <a:ln>
                          <a:noFill/>
                        </a:ln>
                        <a:solidFill>
                          <a:srgbClr val="990000"/>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990000"/>
                          </a:solidFill>
                          <a:effectLst/>
                          <a:latin typeface="Arial" panose="020B0604020202020204" pitchFamily="34" charset="0"/>
                          <a:ea typeface="宋体" panose="02010600030101010101" pitchFamily="2" charset="-122"/>
                        </a:rPr>
                        <a:t>毕肖普法</a:t>
                      </a:r>
                      <a:endParaRPr kumimoji="0" lang="zh-CN" altLang="en-US" sz="2000" b="1" i="0" u="none" strike="noStrike" cap="none" normalizeH="0" baseline="0">
                        <a:ln>
                          <a:noFill/>
                        </a:ln>
                        <a:solidFill>
                          <a:srgbClr val="990000"/>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dirty="0" smtClean="0">
                          <a:ln>
                            <a:noFill/>
                          </a:ln>
                          <a:solidFill>
                            <a:srgbClr val="990000"/>
                          </a:solidFill>
                          <a:effectLst/>
                          <a:latin typeface="Arial" panose="020B0604020202020204" pitchFamily="34" charset="0"/>
                          <a:ea typeface="宋体" panose="02010600030101010101" pitchFamily="2" charset="-122"/>
                        </a:rPr>
                        <a:t>杨布法</a:t>
                      </a:r>
                      <a:endParaRPr kumimoji="0" lang="zh-CN" altLang="en-US" sz="2000" b="1" i="0" u="none" strike="noStrike" cap="none" normalizeH="0" baseline="0" dirty="0">
                        <a:ln>
                          <a:noFill/>
                        </a:ln>
                        <a:solidFill>
                          <a:srgbClr val="990000"/>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1296">
                <a:tc gridSpan="2">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滑裂面形状</a:t>
                      </a:r>
                      <a:endParaRPr kumimoji="0" lang="zh-CN" altLang="en-US" sz="2000" b="1" i="0"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圆弧</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圆弧</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圆弧</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任意</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05774">
                <a:tc gridSpan="2">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假设</a:t>
                      </a:r>
                      <a:endParaRPr kumimoji="0" lang="zh-CN" altLang="en-US" sz="2000" b="1" i="0"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刚性滑动体滑动面上极限平衡</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忽略全部条简力</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忽略条间切向力</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条间力作用点位置</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0994">
                <a:tc gridSpan="2">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适用性</a:t>
                      </a:r>
                      <a:endParaRPr kumimoji="0" lang="zh-CN" altLang="en-US" sz="2000" b="1" i="0"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饱和</a:t>
                      </a:r>
                      <a:r>
                        <a:rPr kumimoji="0" lang="zh-CN" altLang="en-US"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软黏土</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1" lang="zh-CN" altLang="en-US" sz="2000" b="1" i="0" u="none" strike="noStrike" cap="none" normalizeH="0" baseline="0" dirty="0">
                          <a:ln>
                            <a:noFill/>
                          </a:ln>
                          <a:solidFill>
                            <a:srgbClr val="CC3300"/>
                          </a:solidFill>
                          <a:effectLst/>
                          <a:latin typeface="Times New Roman" panose="02020603050405020304" pitchFamily="18" charset="0"/>
                          <a:ea typeface="宋体" panose="02010600030101010101" pitchFamily="2" charset="-122"/>
                          <a:sym typeface="Symbol" panose="05050102010706020507" pitchFamily="18" charset="2"/>
                        </a:rPr>
                        <a:t></a:t>
                      </a:r>
                      <a:r>
                        <a:rPr kumimoji="1" lang="en-US" altLang="zh-CN" sz="2000" b="1" i="0" u="none" strike="noStrike" cap="none" normalizeH="0" baseline="0" dirty="0">
                          <a:ln>
                            <a:noFill/>
                          </a:ln>
                          <a:solidFill>
                            <a:srgbClr val="CC3300"/>
                          </a:solidFill>
                          <a:effectLst/>
                          <a:latin typeface="Times New Roman" panose="02020603050405020304" pitchFamily="18" charset="0"/>
                          <a:ea typeface="宋体" panose="02010600030101010101" pitchFamily="2" charset="-122"/>
                          <a:sym typeface="Symbol" panose="05050102010706020507" pitchFamily="18" charset="2"/>
                        </a:rPr>
                        <a:t>=0</a:t>
                      </a:r>
                      <a:endParaRPr kumimoji="1" lang="en-US" altLang="zh-CN" sz="2000" b="1" i="0" u="none" strike="noStrike" cap="none" normalizeH="0" baseline="0" dirty="0">
                        <a:ln>
                          <a:noFill/>
                        </a:ln>
                        <a:solidFill>
                          <a:srgbClr val="CC3300"/>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一般均质土</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一般均质土</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任意</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9072">
                <a:tc gridSpan="2">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精度</a:t>
                      </a:r>
                      <a:endParaRPr kumimoji="0" lang="zh-CN" altLang="en-US" sz="2000" b="1" i="0"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偏小</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误差</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2~7%</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难以确定</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1296">
                <a:tc rowSpan="4">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800" b="1"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平衡条件</a:t>
                      </a:r>
                      <a:endParaRPr kumimoji="0" lang="zh-CN" altLang="en-US" sz="2000" b="1"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整体力矩</a:t>
                      </a:r>
                      <a:endParaRPr kumimoji="0" lang="zh-CN" altLang="en-US" sz="2000" b="1" i="0"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0820">
                <a:tc vMerge="1">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dirty="0">
                          <a:ln>
                            <a:noFill/>
                          </a:ln>
                          <a:solidFill>
                            <a:srgbClr val="0000FF"/>
                          </a:solidFill>
                          <a:effectLst/>
                          <a:latin typeface="Arial" panose="020B0604020202020204" pitchFamily="34" charset="0"/>
                          <a:ea typeface="宋体" panose="02010600030101010101" pitchFamily="2" charset="-122"/>
                        </a:rPr>
                        <a:t>各条力矩</a:t>
                      </a:r>
                      <a:endParaRPr kumimoji="0" lang="zh-CN" altLang="en-US" sz="2000" b="1" i="0" u="none" strike="noStrike" cap="none" normalizeH="0" baseline="0" dirty="0">
                        <a:ln>
                          <a:noFill/>
                        </a:ln>
                        <a:solidFill>
                          <a:srgbClr val="0000FF"/>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1296">
                <a:tc vMerge="1">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dirty="0">
                          <a:ln>
                            <a:noFill/>
                          </a:ln>
                          <a:solidFill>
                            <a:srgbClr val="0000FF"/>
                          </a:solidFill>
                          <a:effectLst/>
                          <a:latin typeface="Arial" panose="020B0604020202020204" pitchFamily="34" charset="0"/>
                          <a:ea typeface="宋体" panose="02010600030101010101" pitchFamily="2" charset="-122"/>
                        </a:rPr>
                        <a:t>各</a:t>
                      </a:r>
                      <a:r>
                        <a:rPr kumimoji="0" lang="zh-CN" altLang="en-US" sz="2000" b="1" i="0" u="none" strike="noStrike" cap="none" normalizeH="0" baseline="0" dirty="0" smtClean="0">
                          <a:ln>
                            <a:noFill/>
                          </a:ln>
                          <a:solidFill>
                            <a:srgbClr val="0000FF"/>
                          </a:solidFill>
                          <a:effectLst/>
                          <a:latin typeface="Arial" panose="020B0604020202020204" pitchFamily="34" charset="0"/>
                          <a:ea typeface="宋体" panose="02010600030101010101" pitchFamily="2" charset="-122"/>
                        </a:rPr>
                        <a:t>条竖向</a:t>
                      </a:r>
                      <a:r>
                        <a:rPr kumimoji="0" lang="zh-CN" altLang="en-US" sz="2000" b="1" i="0" u="none" strike="noStrike" cap="none" normalizeH="0" baseline="0" dirty="0">
                          <a:ln>
                            <a:noFill/>
                          </a:ln>
                          <a:solidFill>
                            <a:srgbClr val="0000FF"/>
                          </a:solidFill>
                          <a:effectLst/>
                          <a:latin typeface="Arial" panose="020B0604020202020204" pitchFamily="34" charset="0"/>
                          <a:ea typeface="宋体" panose="02010600030101010101" pitchFamily="2" charset="-122"/>
                        </a:rPr>
                        <a:t>力</a:t>
                      </a:r>
                      <a:endParaRPr kumimoji="0" lang="zh-CN" altLang="en-US" sz="2000" b="1" i="0" u="none" strike="noStrike" cap="none" normalizeH="0" baseline="0" dirty="0">
                        <a:ln>
                          <a:noFill/>
                        </a:ln>
                        <a:solidFill>
                          <a:srgbClr val="0000FF"/>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0820">
                <a:tc vMerge="1">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dirty="0">
                          <a:ln>
                            <a:noFill/>
                          </a:ln>
                          <a:solidFill>
                            <a:srgbClr val="0000FF"/>
                          </a:solidFill>
                          <a:effectLst/>
                          <a:latin typeface="Arial" panose="020B0604020202020204" pitchFamily="34" charset="0"/>
                          <a:ea typeface="宋体" panose="02010600030101010101" pitchFamily="2" charset="-122"/>
                        </a:rPr>
                        <a:t>各条水平力</a:t>
                      </a:r>
                      <a:endParaRPr kumimoji="0" lang="zh-CN" altLang="en-US" sz="2000" b="1" i="0" u="none" strike="noStrike" cap="none" normalizeH="0" baseline="0" dirty="0">
                        <a:ln>
                          <a:noFill/>
                        </a:ln>
                        <a:solidFill>
                          <a:srgbClr val="0000FF"/>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pSp>
        <p:nvGrpSpPr>
          <p:cNvPr id="51268" name="Group 238"/>
          <p:cNvGrpSpPr/>
          <p:nvPr/>
        </p:nvGrpSpPr>
        <p:grpSpPr bwMode="auto">
          <a:xfrm>
            <a:off x="6934200" y="152400"/>
            <a:ext cx="1339850" cy="1447800"/>
            <a:chOff x="4416" y="96"/>
            <a:chExt cx="700" cy="864"/>
          </a:xfrm>
        </p:grpSpPr>
        <p:grpSp>
          <p:nvGrpSpPr>
            <p:cNvPr id="51269" name="Group 206"/>
            <p:cNvGrpSpPr/>
            <p:nvPr/>
          </p:nvGrpSpPr>
          <p:grpSpPr bwMode="auto">
            <a:xfrm>
              <a:off x="4634" y="96"/>
              <a:ext cx="243" cy="770"/>
              <a:chOff x="3744" y="864"/>
              <a:chExt cx="432" cy="1584"/>
            </a:xfrm>
          </p:grpSpPr>
          <p:sp>
            <p:nvSpPr>
              <p:cNvPr id="51277" name="Line 207"/>
              <p:cNvSpPr>
                <a:spLocks noChangeShapeType="1"/>
              </p:cNvSpPr>
              <p:nvPr/>
            </p:nvSpPr>
            <p:spPr bwMode="auto">
              <a:xfrm>
                <a:off x="3744" y="1056"/>
                <a:ext cx="0" cy="1392"/>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78" name="Line 208"/>
              <p:cNvSpPr>
                <a:spLocks noChangeShapeType="1"/>
              </p:cNvSpPr>
              <p:nvPr/>
            </p:nvSpPr>
            <p:spPr bwMode="auto">
              <a:xfrm>
                <a:off x="4176" y="864"/>
                <a:ext cx="0" cy="1248"/>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79" name="Line 209"/>
              <p:cNvSpPr>
                <a:spLocks noChangeShapeType="1"/>
              </p:cNvSpPr>
              <p:nvPr/>
            </p:nvSpPr>
            <p:spPr bwMode="auto">
              <a:xfrm flipV="1">
                <a:off x="3744" y="864"/>
                <a:ext cx="432" cy="192"/>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80" name="Line 210"/>
              <p:cNvSpPr>
                <a:spLocks noChangeShapeType="1"/>
              </p:cNvSpPr>
              <p:nvPr/>
            </p:nvSpPr>
            <p:spPr bwMode="auto">
              <a:xfrm flipV="1">
                <a:off x="3744" y="2112"/>
                <a:ext cx="432" cy="336"/>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1270" name="Line 211"/>
            <p:cNvSpPr>
              <a:spLocks noChangeShapeType="1"/>
            </p:cNvSpPr>
            <p:nvPr/>
          </p:nvSpPr>
          <p:spPr bwMode="auto">
            <a:xfrm flipH="1">
              <a:off x="4752" y="384"/>
              <a:ext cx="5" cy="228"/>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71" name="Line 212"/>
            <p:cNvSpPr>
              <a:spLocks noChangeShapeType="1"/>
            </p:cNvSpPr>
            <p:nvPr/>
          </p:nvSpPr>
          <p:spPr bwMode="auto">
            <a:xfrm>
              <a:off x="4416" y="610"/>
              <a:ext cx="220" cy="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72" name="Line 213"/>
            <p:cNvSpPr>
              <a:spLocks noChangeShapeType="1"/>
            </p:cNvSpPr>
            <p:nvPr/>
          </p:nvSpPr>
          <p:spPr bwMode="auto">
            <a:xfrm flipV="1">
              <a:off x="4608" y="633"/>
              <a:ext cx="6" cy="183"/>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73" name="Line 215"/>
            <p:cNvSpPr>
              <a:spLocks noChangeShapeType="1"/>
            </p:cNvSpPr>
            <p:nvPr/>
          </p:nvSpPr>
          <p:spPr bwMode="auto">
            <a:xfrm>
              <a:off x="4896" y="144"/>
              <a:ext cx="5" cy="186"/>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74" name="Line 216"/>
            <p:cNvSpPr>
              <a:spLocks noChangeShapeType="1"/>
            </p:cNvSpPr>
            <p:nvPr/>
          </p:nvSpPr>
          <p:spPr bwMode="auto">
            <a:xfrm flipV="1">
              <a:off x="4680" y="750"/>
              <a:ext cx="177" cy="116"/>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75" name="Line 217"/>
            <p:cNvSpPr>
              <a:spLocks noChangeShapeType="1"/>
            </p:cNvSpPr>
            <p:nvPr/>
          </p:nvSpPr>
          <p:spPr bwMode="auto">
            <a:xfrm rot="10800000">
              <a:off x="4790" y="820"/>
              <a:ext cx="89" cy="14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76" name="Line 237"/>
            <p:cNvSpPr>
              <a:spLocks noChangeShapeType="1"/>
            </p:cNvSpPr>
            <p:nvPr/>
          </p:nvSpPr>
          <p:spPr bwMode="auto">
            <a:xfrm rot="10800000">
              <a:off x="4896" y="336"/>
              <a:ext cx="220" cy="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8" name="Rectangle 6"/>
          <p:cNvSpPr>
            <a:spLocks noChangeArrowheads="1"/>
          </p:cNvSpPr>
          <p:nvPr/>
        </p:nvSpPr>
        <p:spPr bwMode="auto">
          <a:xfrm>
            <a:off x="0" y="-7396"/>
            <a:ext cx="4114800"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§6.3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黏性土坡的稳定性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7" name="Rectangle 3"/>
          <p:cNvSpPr>
            <a:spLocks noGrp="1" noChangeArrowheads="1"/>
          </p:cNvSpPr>
          <p:nvPr>
            <p:ph type="body" idx="1"/>
          </p:nvPr>
        </p:nvSpPr>
        <p:spPr bwMode="auto">
          <a:xfrm>
            <a:off x="1471613" y="1676400"/>
            <a:ext cx="6629400" cy="3429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buClr>
                <a:schemeClr val="folHlink"/>
              </a:buClr>
              <a:buFontTx/>
              <a:buNone/>
            </a:pPr>
            <a:r>
              <a:rPr lang="en-US" altLang="zh-CN" sz="3600" b="1" dirty="0" smtClean="0">
                <a:solidFill>
                  <a:schemeClr val="bg1">
                    <a:lumMod val="95000"/>
                  </a:schemeClr>
                </a:solidFill>
                <a:latin typeface="Times New Roman" panose="02020603050405020304" pitchFamily="18" charset="0"/>
                <a:cs typeface="Times New Roman" panose="02020603050405020304" pitchFamily="18" charset="0"/>
              </a:rPr>
              <a:t>§6.1 </a:t>
            </a:r>
            <a:r>
              <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rPr>
              <a:t>概述</a:t>
            </a:r>
            <a:endPar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endParaRPr>
          </a:p>
          <a:p>
            <a:pPr eaLnBrk="1" hangingPunct="1">
              <a:buClr>
                <a:schemeClr val="folHlink"/>
              </a:buClr>
              <a:buFontTx/>
              <a:buNone/>
            </a:pPr>
            <a:r>
              <a:rPr lang="en-US" altLang="zh-CN" sz="3600" b="1" dirty="0" smtClean="0">
                <a:solidFill>
                  <a:schemeClr val="bg1">
                    <a:lumMod val="95000"/>
                  </a:schemeClr>
                </a:solidFill>
                <a:latin typeface="Times New Roman" panose="02020603050405020304" pitchFamily="18" charset="0"/>
                <a:cs typeface="Times New Roman" panose="02020603050405020304" pitchFamily="18" charset="0"/>
              </a:rPr>
              <a:t>§6.2 </a:t>
            </a:r>
            <a:r>
              <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rPr>
              <a:t>无黏性土坡的稳定性</a:t>
            </a:r>
            <a:endPar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endParaRPr>
          </a:p>
          <a:p>
            <a:pPr eaLnBrk="1" hangingPunct="1">
              <a:buClr>
                <a:schemeClr val="folHlink"/>
              </a:buClr>
              <a:buFontTx/>
              <a:buNone/>
            </a:pPr>
            <a:r>
              <a:rPr lang="en-US" altLang="zh-CN" sz="3600" b="1" dirty="0" smtClean="0">
                <a:solidFill>
                  <a:schemeClr val="bg1">
                    <a:lumMod val="95000"/>
                  </a:schemeClr>
                </a:solidFill>
                <a:latin typeface="Times New Roman" panose="02020603050405020304" pitchFamily="18" charset="0"/>
                <a:cs typeface="Times New Roman" panose="02020603050405020304" pitchFamily="18" charset="0"/>
              </a:rPr>
              <a:t>§6.3 </a:t>
            </a:r>
            <a:r>
              <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rPr>
              <a:t>黏性土坡的稳定性</a:t>
            </a:r>
            <a:endPar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endParaRPr>
          </a:p>
          <a:p>
            <a:pPr eaLnBrk="1" hangingPunct="1">
              <a:buClr>
                <a:schemeClr val="folHlink"/>
              </a:buClr>
              <a:buFontTx/>
              <a:buNone/>
            </a:pPr>
            <a:r>
              <a:rPr lang="en-US" altLang="zh-CN" sz="3600" b="1" dirty="0" smtClean="0">
                <a:latin typeface="Times New Roman" panose="02020603050405020304" pitchFamily="18" charset="0"/>
                <a:cs typeface="Times New Roman" panose="02020603050405020304" pitchFamily="18" charset="0"/>
              </a:rPr>
              <a:t>§6.4 </a:t>
            </a:r>
            <a:r>
              <a:rPr lang="zh-CN" altLang="en-US" sz="3600" b="1" dirty="0" smtClean="0">
                <a:latin typeface="Times New Roman" panose="02020603050405020304" pitchFamily="18" charset="0"/>
                <a:cs typeface="Times New Roman" panose="02020603050405020304" pitchFamily="18" charset="0"/>
              </a:rPr>
              <a:t>土坡稳定性的影响因素</a:t>
            </a:r>
            <a:endParaRPr lang="zh-CN" altLang="en-US" sz="3600" b="1" dirty="0" smtClean="0">
              <a:latin typeface="Times New Roman" panose="02020603050405020304" pitchFamily="18" charset="0"/>
              <a:cs typeface="Times New Roman" panose="02020603050405020304" pitchFamily="18" charset="0"/>
            </a:endParaRPr>
          </a:p>
          <a:p>
            <a:pPr eaLnBrk="1" hangingPunct="1">
              <a:buClr>
                <a:schemeClr val="folHlink"/>
              </a:buClr>
              <a:buFontTx/>
              <a:buNone/>
            </a:pPr>
            <a:r>
              <a:rPr lang="en-US" altLang="zh-CN" sz="3600" b="1" dirty="0" smtClean="0">
                <a:solidFill>
                  <a:schemeClr val="bg1">
                    <a:lumMod val="95000"/>
                  </a:schemeClr>
                </a:solidFill>
                <a:latin typeface="Times New Roman" panose="02020603050405020304" pitchFamily="18" charset="0"/>
                <a:cs typeface="Times New Roman" panose="02020603050405020304" pitchFamily="18" charset="0"/>
              </a:rPr>
              <a:t>§6.5 </a:t>
            </a:r>
            <a:r>
              <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rPr>
              <a:t>地基的稳定性</a:t>
            </a:r>
            <a:r>
              <a:rPr lang="en-US" altLang="zh-CN" sz="3600" b="1" dirty="0" smtClean="0">
                <a:solidFill>
                  <a:schemeClr val="bg1">
                    <a:lumMod val="95000"/>
                  </a:schemeClr>
                </a:solidFill>
                <a:latin typeface="Times New Roman" panose="02020603050405020304" pitchFamily="18" charset="0"/>
                <a:cs typeface="Times New Roman" panose="02020603050405020304" pitchFamily="18" charset="0"/>
              </a:rPr>
              <a:t> </a:t>
            </a:r>
            <a:endPar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endParaRPr>
          </a:p>
        </p:txBody>
      </p:sp>
      <p:sp>
        <p:nvSpPr>
          <p:cNvPr id="3075" name="Rectangle 52"/>
          <p:cNvSpPr>
            <a:spLocks noChangeArrowheads="1"/>
          </p:cNvSpPr>
          <p:nvPr/>
        </p:nvSpPr>
        <p:spPr bwMode="auto">
          <a:xfrm>
            <a:off x="1071563" y="762000"/>
            <a:ext cx="74295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lang="zh-CN" altLang="en-US" b="1" dirty="0" smtClean="0">
                <a:solidFill>
                  <a:srgbClr val="FF0000"/>
                </a:solidFill>
                <a:latin typeface="+mj-ea"/>
                <a:ea typeface="+mj-ea"/>
              </a:rPr>
              <a:t>第六章 </a:t>
            </a:r>
            <a:r>
              <a:rPr lang="zh-CN" altLang="en-US" b="1" dirty="0">
                <a:solidFill>
                  <a:srgbClr val="FF0000"/>
                </a:solidFill>
                <a:latin typeface="+mj-ea"/>
                <a:ea typeface="+mj-ea"/>
              </a:rPr>
              <a:t>土坡和地基的稳定性</a:t>
            </a:r>
            <a:endParaRPr lang="zh-CN" altLang="en-US" b="1" dirty="0">
              <a:solidFill>
                <a:srgbClr val="FF0000"/>
              </a:solidFill>
              <a:latin typeface="+mj-ea"/>
              <a:ea typeface="+mj-ea"/>
            </a:endParaRPr>
          </a:p>
        </p:txBody>
      </p:sp>
      <p:sp>
        <p:nvSpPr>
          <p:cNvPr id="2" name="文本框 1"/>
          <p:cNvSpPr txBox="1"/>
          <p:nvPr/>
        </p:nvSpPr>
        <p:spPr>
          <a:xfrm>
            <a:off x="2915816" y="4509120"/>
            <a:ext cx="6120680" cy="1667764"/>
          </a:xfrm>
          <a:prstGeom prst="rect">
            <a:avLst/>
          </a:prstGeom>
          <a:noFill/>
        </p:spPr>
        <p:txBody>
          <a:bodyPr wrap="square" rtlCol="0">
            <a:spAutoFit/>
          </a:bodyPr>
          <a:lstStyle/>
          <a:p>
            <a:pPr>
              <a:lnSpc>
                <a:spcPct val="150000"/>
              </a:lnSpc>
            </a:pPr>
            <a:r>
              <a:rPr lang="en-US" altLang="zh-CN" sz="2400" b="1" dirty="0" smtClean="0">
                <a:latin typeface="+mn-ea"/>
                <a:ea typeface="+mn-ea"/>
              </a:rPr>
              <a:t>1.</a:t>
            </a:r>
            <a:r>
              <a:rPr lang="zh-CN" altLang="en-US" sz="2400" b="1" dirty="0" smtClean="0">
                <a:latin typeface="+mn-ea"/>
                <a:ea typeface="+mn-ea"/>
              </a:rPr>
              <a:t>土体抗剪强度指标及稳定安全系数的选择</a:t>
            </a:r>
            <a:endParaRPr lang="en-US" altLang="zh-CN" sz="2400" b="1" dirty="0" smtClean="0">
              <a:latin typeface="+mn-ea"/>
              <a:ea typeface="+mn-ea"/>
            </a:endParaRPr>
          </a:p>
          <a:p>
            <a:pPr>
              <a:lnSpc>
                <a:spcPct val="150000"/>
              </a:lnSpc>
            </a:pPr>
            <a:r>
              <a:rPr lang="en-US" altLang="zh-CN" sz="2400" b="1" dirty="0" smtClean="0">
                <a:latin typeface="+mn-ea"/>
                <a:ea typeface="+mn-ea"/>
              </a:rPr>
              <a:t>2.</a:t>
            </a:r>
            <a:r>
              <a:rPr lang="zh-CN" altLang="en-US" sz="2400" b="1" dirty="0" smtClean="0">
                <a:latin typeface="+mn-ea"/>
                <a:ea typeface="+mn-ea"/>
              </a:rPr>
              <a:t>坡顶开裂时的土坡稳定性</a:t>
            </a:r>
            <a:endParaRPr lang="en-US" altLang="zh-CN" sz="2400" b="1" dirty="0" smtClean="0">
              <a:latin typeface="+mn-ea"/>
              <a:ea typeface="+mn-ea"/>
            </a:endParaRPr>
          </a:p>
          <a:p>
            <a:pPr>
              <a:lnSpc>
                <a:spcPct val="150000"/>
              </a:lnSpc>
            </a:pPr>
            <a:r>
              <a:rPr lang="en-US" altLang="zh-CN" sz="2400" b="1" dirty="0" smtClean="0">
                <a:latin typeface="+mn-ea"/>
                <a:ea typeface="+mn-ea"/>
              </a:rPr>
              <a:t>3.</a:t>
            </a:r>
            <a:r>
              <a:rPr lang="zh-CN" altLang="en-US" sz="2400" b="1" dirty="0" smtClean="0">
                <a:latin typeface="+mn-ea"/>
                <a:ea typeface="+mn-ea"/>
              </a:rPr>
              <a:t>土中水渗流时的土坡稳定分析</a:t>
            </a:r>
            <a:endParaRPr lang="zh-CN" altLang="en-US" sz="2400" b="1" dirty="0">
              <a:latin typeface="+mn-ea"/>
              <a:ea typeface="+mn-ea"/>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6627"/>
                                        </p:tgtEl>
                                        <p:attrNameLst>
                                          <p:attrName>style.visibility</p:attrName>
                                        </p:attrNameLst>
                                      </p:cBhvr>
                                      <p:to>
                                        <p:strVal val="visible"/>
                                      </p:to>
                                    </p:set>
                                    <p:animEffect transition="in" filter="barn(outVertical)">
                                      <p:cBhvr>
                                        <p:cTn id="7" dur="500"/>
                                        <p:tgtEl>
                                          <p:spTgt spid="26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autoUpdateAnimBg="0"/>
    </p:bldLst>
  </p:timing>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Rectangle 2"/>
          <p:cNvSpPr>
            <a:spLocks noGrp="1" noRot="1" noChangeArrowheads="1"/>
          </p:cNvSpPr>
          <p:nvPr>
            <p:ph type="title"/>
          </p:nvPr>
        </p:nvSpPr>
        <p:spPr bwMode="auto">
          <a:xfrm>
            <a:off x="1475656" y="581819"/>
            <a:ext cx="2376264" cy="667544"/>
          </a:xfrm>
          <a:solidFill>
            <a:srgbClr val="FFC000"/>
          </a:solidFill>
        </p:spPr>
        <p:txBody>
          <a:bodyPr vert="horz" wrap="square" lIns="91440" tIns="45720" rIns="91440" bIns="45720" numCol="1" anchor="ctr" anchorCtr="0" compatLnSpc="1"/>
          <a:lstStyle/>
          <a:p>
            <a:pPr eaLnBrk="1" hangingPunct="1"/>
            <a:r>
              <a:rPr lang="zh-CN" altLang="en-US" sz="2800" b="1" dirty="0" smtClean="0">
                <a:solidFill>
                  <a:schemeClr val="tx1"/>
                </a:solidFill>
                <a:latin typeface="+mn-ea"/>
                <a:ea typeface="+mn-ea"/>
              </a:rPr>
              <a:t>抗剪强度指标</a:t>
            </a:r>
            <a:endParaRPr lang="zh-CN" altLang="en-US" sz="2800" b="1" dirty="0" smtClean="0">
              <a:solidFill>
                <a:schemeClr val="tx1"/>
              </a:solidFill>
              <a:latin typeface="+mn-ea"/>
              <a:ea typeface="+mn-ea"/>
            </a:endParaRPr>
          </a:p>
        </p:txBody>
      </p:sp>
      <p:sp>
        <p:nvSpPr>
          <p:cNvPr id="775171" name="Text Box 3"/>
          <p:cNvSpPr txBox="1">
            <a:spLocks noChangeArrowheads="1"/>
          </p:cNvSpPr>
          <p:nvPr/>
        </p:nvSpPr>
        <p:spPr bwMode="auto">
          <a:xfrm>
            <a:off x="457200" y="1295400"/>
            <a:ext cx="31242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3200" b="1">
                <a:solidFill>
                  <a:srgbClr val="990033"/>
                </a:solidFill>
                <a:ea typeface="隶书" panose="02010509060101010101" pitchFamily="49" charset="-122"/>
              </a:rPr>
              <a:t>两种分析方法：</a:t>
            </a:r>
            <a:endParaRPr lang="zh-CN" altLang="en-US" sz="3200" b="1">
              <a:solidFill>
                <a:srgbClr val="990033"/>
              </a:solidFill>
              <a:ea typeface="隶书" panose="02010509060101010101" pitchFamily="49" charset="-122"/>
            </a:endParaRPr>
          </a:p>
        </p:txBody>
      </p:sp>
      <p:sp>
        <p:nvSpPr>
          <p:cNvPr id="775200" name="Rectangle 32"/>
          <p:cNvSpPr>
            <a:spLocks noGrp="1" noChangeArrowheads="1"/>
          </p:cNvSpPr>
          <p:nvPr>
            <p:ph type="body" sz="half" idx="1"/>
          </p:nvPr>
        </p:nvSpPr>
        <p:spPr bwMode="auto">
          <a:xfrm>
            <a:off x="685800" y="1828800"/>
            <a:ext cx="7924800" cy="1524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indent="0" algn="just" eaLnBrk="1" hangingPunct="1">
              <a:lnSpc>
                <a:spcPct val="150000"/>
              </a:lnSpc>
            </a:pPr>
            <a:r>
              <a:rPr lang="zh-CN" altLang="en-US" sz="2800" b="1" smtClean="0">
                <a:solidFill>
                  <a:srgbClr val="0000FF"/>
                </a:solidFill>
                <a:ea typeface="楷体_GB2312" pitchFamily="49" charset="-122"/>
              </a:rPr>
              <a:t>有效应力法</a:t>
            </a:r>
            <a:r>
              <a:rPr lang="zh-CN" altLang="en-US" sz="2800" b="1" smtClean="0">
                <a:solidFill>
                  <a:srgbClr val="0000FF"/>
                </a:solidFill>
              </a:rPr>
              <a:t>：</a:t>
            </a:r>
            <a:r>
              <a:rPr lang="zh-CN" altLang="en-US" sz="2400" b="1" smtClean="0"/>
              <a:t>使用有效应力强度指标 </a:t>
            </a:r>
            <a:r>
              <a:rPr lang="en-US" altLang="zh-CN" sz="2400" b="1" smtClean="0"/>
              <a:t>c</a:t>
            </a:r>
            <a:r>
              <a:rPr lang="en-US" altLang="zh-CN" sz="2400" b="1" smtClean="0">
                <a:sym typeface="Symbol" panose="05050102010706020507" pitchFamily="18" charset="2"/>
              </a:rPr>
              <a:t></a:t>
            </a:r>
            <a:r>
              <a:rPr lang="zh-CN" altLang="en-US" sz="2400" b="1" smtClean="0">
                <a:sym typeface="Symbol" panose="05050102010706020507" pitchFamily="18" charset="2"/>
              </a:rPr>
              <a:t>、 </a:t>
            </a:r>
            <a:endParaRPr lang="zh-CN" altLang="en-US" sz="2400" b="1" smtClean="0"/>
          </a:p>
          <a:p>
            <a:pPr marL="0" indent="0" algn="just" eaLnBrk="1" hangingPunct="1">
              <a:lnSpc>
                <a:spcPct val="150000"/>
              </a:lnSpc>
              <a:spcAft>
                <a:spcPct val="30000"/>
              </a:spcAft>
            </a:pPr>
            <a:r>
              <a:rPr lang="zh-CN" altLang="en-US" sz="2800" b="1" smtClean="0">
                <a:solidFill>
                  <a:srgbClr val="0000FF"/>
                </a:solidFill>
                <a:ea typeface="楷体_GB2312" pitchFamily="49" charset="-122"/>
              </a:rPr>
              <a:t>总应力法</a:t>
            </a:r>
            <a:r>
              <a:rPr lang="zh-CN" altLang="en-US" sz="2800" b="1" smtClean="0">
                <a:solidFill>
                  <a:srgbClr val="0000FF"/>
                </a:solidFill>
              </a:rPr>
              <a:t>：</a:t>
            </a:r>
            <a:r>
              <a:rPr lang="zh-CN" altLang="en-US" sz="2400" b="1" smtClean="0"/>
              <a:t>使用总应力强度指标 </a:t>
            </a:r>
            <a:r>
              <a:rPr lang="en-US" altLang="zh-CN" sz="2400" b="1" smtClean="0"/>
              <a:t>c</a:t>
            </a:r>
            <a:r>
              <a:rPr lang="en-US" altLang="zh-CN" sz="2400" b="1" baseline="-25000" smtClean="0"/>
              <a:t>u </a:t>
            </a:r>
            <a:r>
              <a:rPr lang="zh-CN" altLang="en-US" sz="2000" b="1" smtClean="0"/>
              <a:t>、 </a:t>
            </a:r>
            <a:r>
              <a:rPr lang="zh-CN" altLang="en-US" sz="2400" b="1" smtClean="0">
                <a:sym typeface="Symbol" panose="05050102010706020507" pitchFamily="18" charset="2"/>
              </a:rPr>
              <a:t></a:t>
            </a:r>
            <a:r>
              <a:rPr lang="en-US" altLang="zh-CN" sz="2000" b="1" baseline="-25000" smtClean="0"/>
              <a:t>u</a:t>
            </a:r>
            <a:r>
              <a:rPr lang="zh-CN" altLang="en-US" sz="2400" b="1" smtClean="0"/>
              <a:t>或 </a:t>
            </a:r>
            <a:r>
              <a:rPr lang="en-US" altLang="zh-CN" sz="2400" b="1" smtClean="0"/>
              <a:t>c</a:t>
            </a:r>
            <a:r>
              <a:rPr lang="en-US" altLang="zh-CN" sz="2400" b="1" baseline="-25000" smtClean="0"/>
              <a:t>cu</a:t>
            </a:r>
            <a:r>
              <a:rPr lang="zh-CN" altLang="en-US" sz="2400" b="1" smtClean="0"/>
              <a:t>、</a:t>
            </a:r>
            <a:r>
              <a:rPr lang="zh-CN" altLang="en-US" sz="2400" b="1" smtClean="0">
                <a:sym typeface="Symbol" panose="05050102010706020507" pitchFamily="18" charset="2"/>
              </a:rPr>
              <a:t></a:t>
            </a:r>
            <a:r>
              <a:rPr lang="en-US" altLang="zh-CN" sz="2400" b="1" baseline="-25000" smtClean="0"/>
              <a:t>cu</a:t>
            </a:r>
            <a:endParaRPr lang="en-US" altLang="zh-CN" sz="2400" b="1" baseline="-25000" smtClean="0"/>
          </a:p>
        </p:txBody>
      </p:sp>
      <p:graphicFrame>
        <p:nvGraphicFramePr>
          <p:cNvPr id="775257" name="Group 89"/>
          <p:cNvGraphicFramePr>
            <a:graphicFrameLocks noGrp="1"/>
          </p:cNvGraphicFramePr>
          <p:nvPr/>
        </p:nvGraphicFramePr>
        <p:xfrm>
          <a:off x="1259632" y="3573016"/>
          <a:ext cx="6477000" cy="2547938"/>
        </p:xfrm>
        <a:graphic>
          <a:graphicData uri="http://schemas.openxmlformats.org/drawingml/2006/table">
            <a:tbl>
              <a:tblPr/>
              <a:tblGrid>
                <a:gridCol w="2590800"/>
                <a:gridCol w="1905000"/>
                <a:gridCol w="1981200"/>
              </a:tblGrid>
              <a:tr h="457257">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ja-JP" altLang="ja-JP"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a:ln>
                            <a:noFill/>
                          </a:ln>
                          <a:solidFill>
                            <a:srgbClr val="990000"/>
                          </a:solidFill>
                          <a:effectLst/>
                          <a:latin typeface="Arial" panose="020B0604020202020204" pitchFamily="34" charset="0"/>
                          <a:ea typeface="宋体" panose="02010600030101010101" pitchFamily="2" charset="-122"/>
                        </a:rPr>
                        <a:t>   </a:t>
                      </a:r>
                      <a:r>
                        <a:rPr kumimoji="0" lang="zh-CN" altLang="en-US" sz="2400" b="1" i="0" u="none" strike="noStrike" cap="none" normalizeH="0" baseline="0">
                          <a:ln>
                            <a:noFill/>
                          </a:ln>
                          <a:solidFill>
                            <a:srgbClr val="990000"/>
                          </a:solidFill>
                          <a:effectLst/>
                          <a:latin typeface="Arial" panose="020B0604020202020204" pitchFamily="34" charset="0"/>
                          <a:ea typeface="宋体" panose="02010600030101010101" pitchFamily="2" charset="-122"/>
                        </a:rPr>
                        <a:t>总应力法</a:t>
                      </a:r>
                      <a:endParaRPr kumimoji="0" lang="zh-CN" altLang="en-US" sz="2400" b="1" i="0" u="none" strike="noStrike" cap="none" normalizeH="0" baseline="0">
                        <a:ln>
                          <a:noFill/>
                        </a:ln>
                        <a:solidFill>
                          <a:srgbClr val="990000"/>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a:ln>
                            <a:noFill/>
                          </a:ln>
                          <a:solidFill>
                            <a:srgbClr val="990000"/>
                          </a:solidFill>
                          <a:effectLst/>
                          <a:latin typeface="Arial" panose="020B0604020202020204" pitchFamily="34" charset="0"/>
                          <a:ea typeface="宋体" panose="02010600030101010101" pitchFamily="2" charset="-122"/>
                        </a:rPr>
                        <a:t>   </a:t>
                      </a:r>
                      <a:r>
                        <a:rPr kumimoji="0" lang="zh-CN" altLang="en-US" sz="2400" b="1" i="0" u="none" strike="noStrike" cap="none" normalizeH="0" baseline="0">
                          <a:ln>
                            <a:noFill/>
                          </a:ln>
                          <a:solidFill>
                            <a:srgbClr val="990000"/>
                          </a:solidFill>
                          <a:effectLst/>
                          <a:latin typeface="Arial" panose="020B0604020202020204" pitchFamily="34" charset="0"/>
                          <a:ea typeface="宋体" panose="02010600030101010101" pitchFamily="2" charset="-122"/>
                        </a:rPr>
                        <a:t>有效应力法</a:t>
                      </a:r>
                      <a:endParaRPr kumimoji="0" lang="zh-CN" altLang="en-US" sz="2400" b="1" i="0" u="none" strike="noStrike" cap="none" normalizeH="0" baseline="0">
                        <a:ln>
                          <a:noFill/>
                        </a:ln>
                        <a:solidFill>
                          <a:srgbClr val="990000"/>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7424">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rPr>
                        <a:t>无黏性</a:t>
                      </a:r>
                      <a:r>
                        <a:rPr kumimoji="0" lang="zh-CN" altLang="en-US" sz="24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土</a:t>
                      </a:r>
                      <a:endParaRPr kumimoji="0" lang="zh-CN" altLang="en-US" sz="24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ja-JP" altLang="ja-JP"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224">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a:ln>
                            <a:noFill/>
                          </a:ln>
                          <a:solidFill>
                            <a:srgbClr val="FF0000"/>
                          </a:solidFill>
                          <a:effectLst/>
                          <a:latin typeface="Arial" panose="020B0604020202020204" pitchFamily="34" charset="0"/>
                          <a:ea typeface="宋体" panose="02010600030101010101" pitchFamily="2" charset="-122"/>
                        </a:rPr>
                        <a:t>土坝施工期</a:t>
                      </a:r>
                      <a:endParaRPr kumimoji="0" lang="zh-CN" altLang="en-US" sz="2400" b="1"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    c</a:t>
                      </a:r>
                      <a:r>
                        <a:rPr kumimoji="0" lang="en-US" altLang="zh-CN" sz="2400" b="1" i="0" u="none" strike="noStrike" cap="none" normalizeH="0" baseline="-25000">
                          <a:ln>
                            <a:noFill/>
                          </a:ln>
                          <a:solidFill>
                            <a:schemeClr val="tx1"/>
                          </a:solidFill>
                          <a:effectLst/>
                          <a:latin typeface="Arial" panose="020B0604020202020204" pitchFamily="34" charset="0"/>
                          <a:ea typeface="宋体" panose="02010600030101010101" pitchFamily="2" charset="-122"/>
                        </a:rPr>
                        <a:t>u</a:t>
                      </a: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r>
                        <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2400" b="1" i="0" u="none" strike="noStrike" cap="none" normalizeH="0" baseline="-25000">
                          <a:ln>
                            <a:noFill/>
                          </a:ln>
                          <a:solidFill>
                            <a:schemeClr val="tx1"/>
                          </a:solidFill>
                          <a:effectLst/>
                          <a:latin typeface="Arial" panose="020B0604020202020204" pitchFamily="34" charset="0"/>
                          <a:ea typeface="宋体" panose="02010600030101010101" pitchFamily="2" charset="-122"/>
                        </a:rPr>
                        <a:t>u</a:t>
                      </a:r>
                      <a:endParaRPr kumimoji="0" lang="en-US" altLang="zh-CN" sz="2400" b="1" i="0" u="none" strike="noStrike" cap="none" normalizeH="0" baseline="-2500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6809">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a:ln>
                            <a:noFill/>
                          </a:ln>
                          <a:solidFill>
                            <a:srgbClr val="FF0000"/>
                          </a:solidFill>
                          <a:effectLst/>
                          <a:latin typeface="Arial" panose="020B0604020202020204" pitchFamily="34" charset="0"/>
                          <a:ea typeface="宋体" panose="02010600030101010101" pitchFamily="2" charset="-122"/>
                        </a:rPr>
                        <a:t>土坝渗流稳定期</a:t>
                      </a:r>
                      <a:endParaRPr kumimoji="0" lang="zh-CN" altLang="en-US" sz="2400" b="1"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ja-JP" altLang="ja-JP"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224">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a:ln>
                            <a:noFill/>
                          </a:ln>
                          <a:solidFill>
                            <a:srgbClr val="FF0000"/>
                          </a:solidFill>
                          <a:effectLst/>
                          <a:latin typeface="Arial" panose="020B0604020202020204" pitchFamily="34" charset="0"/>
                          <a:ea typeface="宋体" panose="02010600030101010101" pitchFamily="2" charset="-122"/>
                        </a:rPr>
                        <a:t>土坝地震时</a:t>
                      </a:r>
                      <a:endParaRPr kumimoji="0" lang="zh-CN" altLang="en-US" sz="2400" b="1"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    c</a:t>
                      </a:r>
                      <a:r>
                        <a:rPr kumimoji="0" lang="en-US" altLang="zh-CN" sz="2400" b="1" i="0" u="none" strike="noStrike" cap="none" normalizeH="0" baseline="-25000">
                          <a:ln>
                            <a:noFill/>
                          </a:ln>
                          <a:solidFill>
                            <a:schemeClr val="tx1"/>
                          </a:solidFill>
                          <a:effectLst/>
                          <a:latin typeface="Arial" panose="020B0604020202020204" pitchFamily="34" charset="0"/>
                          <a:ea typeface="宋体" panose="02010600030101010101" pitchFamily="2" charset="-122"/>
                        </a:rPr>
                        <a:t>cu</a:t>
                      </a: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r>
                        <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2400" b="1" i="0" u="none" strike="noStrike" cap="none" normalizeH="0" baseline="-25000">
                          <a:ln>
                            <a:noFill/>
                          </a:ln>
                          <a:solidFill>
                            <a:schemeClr val="tx1"/>
                          </a:solidFill>
                          <a:effectLst/>
                          <a:latin typeface="Arial" panose="020B0604020202020204" pitchFamily="34" charset="0"/>
                          <a:ea typeface="宋体" panose="02010600030101010101" pitchFamily="2" charset="-122"/>
                        </a:rPr>
                        <a:t>cu</a:t>
                      </a:r>
                      <a:endParaRPr kumimoji="0" lang="en-US" altLang="zh-CN" sz="2400" b="1" i="0" u="none" strike="noStrike" cap="none" normalizeH="0" baseline="-2500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marL="742950" indent="-285750" algn="l">
                        <a:defRPr sz="2400">
                          <a:solidFill>
                            <a:schemeClr val="tx1"/>
                          </a:solidFill>
                          <a:latin typeface="Arial" panose="020B0604020202020204" pitchFamily="34" charset="0"/>
                          <a:ea typeface="宋体" panose="02010600030101010101" pitchFamily="2" charset="-122"/>
                        </a:defRPr>
                      </a:lvl2pPr>
                      <a:lvl3pPr marL="1143000" indent="-228600" algn="l">
                        <a:defRPr sz="2000">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ja-JP" altLang="ja-JP"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 name="Rectangle 6"/>
          <p:cNvSpPr>
            <a:spLocks noChangeArrowheads="1"/>
          </p:cNvSpPr>
          <p:nvPr/>
        </p:nvSpPr>
        <p:spPr bwMode="auto">
          <a:xfrm>
            <a:off x="0" y="-7396"/>
            <a:ext cx="4788024"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§6.4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土坡稳定性的影响因素</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75171"/>
                                        </p:tgtEl>
                                        <p:attrNameLst>
                                          <p:attrName>style.visibility</p:attrName>
                                        </p:attrNameLst>
                                      </p:cBhvr>
                                      <p:to>
                                        <p:strVal val="visible"/>
                                      </p:to>
                                    </p:set>
                                    <p:animEffect transition="in" filter="dissolve">
                                      <p:cBhvr>
                                        <p:cTn id="7" dur="500"/>
                                        <p:tgtEl>
                                          <p:spTgt spid="77517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75200">
                                            <p:txEl>
                                              <p:pRg st="0" end="0"/>
                                            </p:txEl>
                                          </p:spTgt>
                                        </p:tgtEl>
                                        <p:attrNameLst>
                                          <p:attrName>style.visibility</p:attrName>
                                        </p:attrNameLst>
                                      </p:cBhvr>
                                      <p:to>
                                        <p:strVal val="visible"/>
                                      </p:to>
                                    </p:set>
                                    <p:animEffect transition="in" filter="wipe(left)">
                                      <p:cBhvr>
                                        <p:cTn id="12" dur="500"/>
                                        <p:tgtEl>
                                          <p:spTgt spid="77520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75200">
                                            <p:txEl>
                                              <p:pRg st="1" end="1"/>
                                            </p:txEl>
                                          </p:spTgt>
                                        </p:tgtEl>
                                        <p:attrNameLst>
                                          <p:attrName>style.visibility</p:attrName>
                                        </p:attrNameLst>
                                      </p:cBhvr>
                                      <p:to>
                                        <p:strVal val="visible"/>
                                      </p:to>
                                    </p:set>
                                    <p:animEffect transition="in" filter="wipe(left)">
                                      <p:cBhvr>
                                        <p:cTn id="17" dur="500"/>
                                        <p:tgtEl>
                                          <p:spTgt spid="77520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775257"/>
                                        </p:tgtEl>
                                        <p:attrNameLst>
                                          <p:attrName>style.visibility</p:attrName>
                                        </p:attrNameLst>
                                      </p:cBhvr>
                                      <p:to>
                                        <p:strVal val="visible"/>
                                      </p:to>
                                    </p:set>
                                    <p:animEffect transition="in" filter="dissolve">
                                      <p:cBhvr>
                                        <p:cTn id="22" dur="500"/>
                                        <p:tgtEl>
                                          <p:spTgt spid="7752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5171" grpId="0" autoUpdateAnimBg="0"/>
      <p:bldP spid="775200" grpId="0" autoUpdateAnimBg="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79712" y="826562"/>
            <a:ext cx="4176464" cy="432048"/>
          </a:xfrm>
          <a:solidFill>
            <a:srgbClr val="FFC000"/>
          </a:solidFill>
        </p:spPr>
        <p:txBody>
          <a:bodyPr/>
          <a:lstStyle/>
          <a:p>
            <a:r>
              <a:rPr lang="zh-CN" altLang="en-US" sz="2800" b="1" dirty="0">
                <a:solidFill>
                  <a:schemeClr val="tx1"/>
                </a:solidFill>
                <a:latin typeface="+mn-ea"/>
              </a:rPr>
              <a:t>坡顶开裂时的土坡稳定性</a:t>
            </a:r>
            <a:endParaRPr lang="zh-CN" altLang="en-US" sz="2800" dirty="0">
              <a:solidFill>
                <a:schemeClr val="tx1"/>
              </a:solidFill>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395536" y="1513404"/>
                <a:ext cx="4248472" cy="4133056"/>
              </a:xfrm>
            </p:spPr>
            <p:txBody>
              <a:bodyPr/>
              <a:lstStyle/>
              <a:p>
                <a:pPr>
                  <a:lnSpc>
                    <a:spcPct val="150000"/>
                  </a:lnSpc>
                  <a:buFont typeface="Wingdings" panose="05000000000000000000" pitchFamily="2" charset="2"/>
                  <a:buChar char="Ø"/>
                </a:pPr>
                <a:r>
                  <a:rPr lang="zh-CN" altLang="en-US" sz="2400" b="1" dirty="0" smtClean="0">
                    <a:solidFill>
                      <a:srgbClr val="FF0000"/>
                    </a:solidFill>
                    <a:latin typeface="+mn-ea"/>
                  </a:rPr>
                  <a:t>静水压力</a:t>
                </a:r>
                <a:endParaRPr lang="en-US" altLang="zh-CN" sz="2400" b="1" dirty="0" smtClean="0">
                  <a:solidFill>
                    <a:srgbClr val="FF0000"/>
                  </a:solidFill>
                  <a:latin typeface="+mn-ea"/>
                </a:endParaRP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n-US" altLang="zh-CN" sz="2400" b="1" i="1" smtClean="0">
                              <a:latin typeface="+mn-ea"/>
                            </a:rPr>
                          </m:ctrlPr>
                        </m:sSubPr>
                        <m:e>
                          <m:r>
                            <a:rPr lang="en-US" altLang="zh-CN" sz="2400" b="1" i="1" smtClean="0">
                              <a:latin typeface="+mn-ea"/>
                            </a:rPr>
                            <m:t>𝑷</m:t>
                          </m:r>
                        </m:e>
                        <m:sub>
                          <m:r>
                            <a:rPr lang="en-US" altLang="zh-CN" sz="2400" b="1" i="1" smtClean="0">
                              <a:latin typeface="+mn-ea"/>
                            </a:rPr>
                            <m:t>𝒘</m:t>
                          </m:r>
                        </m:sub>
                      </m:sSub>
                      <m:r>
                        <a:rPr lang="en-US" altLang="zh-CN" sz="2400" b="1" i="1" smtClean="0">
                          <a:latin typeface="+mn-ea"/>
                        </a:rPr>
                        <m:t>=</m:t>
                      </m:r>
                      <m:f>
                        <m:fPr>
                          <m:ctrlPr>
                            <a:rPr lang="en-US" altLang="zh-CN" sz="2400" b="1" i="1" smtClean="0">
                              <a:latin typeface="+mn-ea"/>
                            </a:rPr>
                          </m:ctrlPr>
                        </m:fPr>
                        <m:num>
                          <m:r>
                            <a:rPr lang="en-US" altLang="zh-CN" sz="2400" b="1" i="1" smtClean="0">
                              <a:latin typeface="+mn-ea"/>
                            </a:rPr>
                            <m:t>𝟏</m:t>
                          </m:r>
                        </m:num>
                        <m:den>
                          <m:r>
                            <a:rPr lang="en-US" altLang="zh-CN" sz="2400" b="1" i="1" smtClean="0">
                              <a:latin typeface="+mn-ea"/>
                            </a:rPr>
                            <m:t>𝟐</m:t>
                          </m:r>
                        </m:den>
                      </m:f>
                      <m:sSub>
                        <m:sSubPr>
                          <m:ctrlPr>
                            <a:rPr lang="en-US" altLang="zh-CN" sz="2400" b="1" i="1" smtClean="0">
                              <a:latin typeface="+mn-ea"/>
                            </a:rPr>
                          </m:ctrlPr>
                        </m:sSubPr>
                        <m:e>
                          <m:r>
                            <a:rPr lang="zh-CN" altLang="en-US" sz="2400" b="1" i="1" smtClean="0">
                              <a:latin typeface="+mn-ea"/>
                            </a:rPr>
                            <m:t>𝜸</m:t>
                          </m:r>
                        </m:e>
                        <m:sub>
                          <m:r>
                            <a:rPr lang="en-US" altLang="zh-CN" sz="2400" b="1" i="1" smtClean="0">
                              <a:latin typeface="+mn-ea"/>
                            </a:rPr>
                            <m:t>𝒘</m:t>
                          </m:r>
                        </m:sub>
                      </m:sSub>
                      <m:sSubSup>
                        <m:sSubSupPr>
                          <m:ctrlPr>
                            <a:rPr lang="en-US" altLang="zh-CN" sz="2400" b="1" i="1" smtClean="0">
                              <a:latin typeface="+mn-ea"/>
                            </a:rPr>
                          </m:ctrlPr>
                        </m:sSubSupPr>
                        <m:e>
                          <m:r>
                            <a:rPr lang="en-US" altLang="zh-CN" sz="2400" b="1" i="1" smtClean="0">
                              <a:latin typeface="+mn-ea"/>
                            </a:rPr>
                            <m:t>𝒉</m:t>
                          </m:r>
                        </m:e>
                        <m:sub>
                          <m:r>
                            <a:rPr lang="en-US" altLang="zh-CN" sz="2400" b="1" i="1" smtClean="0">
                              <a:latin typeface="+mn-ea"/>
                            </a:rPr>
                            <m:t>𝟎</m:t>
                          </m:r>
                        </m:sub>
                        <m:sup>
                          <m:r>
                            <a:rPr lang="en-US" altLang="zh-CN" sz="2400" b="1" i="1" smtClean="0">
                              <a:latin typeface="+mn-ea"/>
                            </a:rPr>
                            <m:t>𝟐</m:t>
                          </m:r>
                        </m:sup>
                      </m:sSubSup>
                    </m:oMath>
                  </m:oMathPara>
                </a14:m>
                <a:endParaRPr lang="en-US" altLang="zh-CN" sz="2400" b="1" dirty="0" smtClean="0">
                  <a:latin typeface="+mn-ea"/>
                  <a:cs typeface="Times New Roman" panose="02020603050405020304" pitchFamily="18" charset="0"/>
                </a:endParaRPr>
              </a:p>
              <a:p>
                <a:pPr>
                  <a:lnSpc>
                    <a:spcPct val="150000"/>
                  </a:lnSpc>
                  <a:buFont typeface="Wingdings" panose="05000000000000000000" pitchFamily="2" charset="2"/>
                  <a:buChar char="Ø"/>
                </a:pPr>
                <a:r>
                  <a:rPr lang="zh-CN" altLang="en-US" sz="2400" b="1" dirty="0" smtClean="0">
                    <a:latin typeface="+mn-ea"/>
                    <a:cs typeface="Times New Roman" panose="02020603050405020304" pitchFamily="18" charset="0"/>
                  </a:rPr>
                  <a:t>稳定计算时：滑动力矩中还应计入静水压力的影响，滑动弧长也需相应缩短，即抗滑力矩也有所减小。</a:t>
                </a:r>
                <a:endParaRPr lang="zh-CN" altLang="en-US" sz="2400" b="1" dirty="0">
                  <a:latin typeface="+mn-ea"/>
                  <a:cs typeface="Times New Roman" panose="02020603050405020304" pitchFamily="18"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395536" y="1513404"/>
                <a:ext cx="4248472" cy="4133056"/>
              </a:xfrm>
              <a:blipFill rotWithShape="1">
                <a:blip r:embed="rId1"/>
                <a:stretch>
                  <a:fillRect l="-13" t="-5" r="6" b="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93A7F3C-2558-4387-BD53-CADCA4D14A82}" type="slidenum">
              <a:rPr lang="zh-CN" altLang="en-US" smtClean="0"/>
            </a:fld>
            <a:endParaRPr lang="en-US" altLang="zh-CN"/>
          </a:p>
        </p:txBody>
      </p:sp>
      <p:pic>
        <p:nvPicPr>
          <p:cNvPr id="5" name="图片 4"/>
          <p:cNvPicPr>
            <a:picLocks noChangeAspect="1"/>
          </p:cNvPicPr>
          <p:nvPr/>
        </p:nvPicPr>
        <p:blipFill>
          <a:blip r:embed="rId2"/>
          <a:stretch>
            <a:fillRect/>
          </a:stretch>
        </p:blipFill>
        <p:spPr>
          <a:xfrm>
            <a:off x="4644008" y="2348880"/>
            <a:ext cx="4392819" cy="2462105"/>
          </a:xfrm>
          <a:prstGeom prst="rect">
            <a:avLst/>
          </a:prstGeom>
        </p:spPr>
      </p:pic>
      <p:sp>
        <p:nvSpPr>
          <p:cNvPr id="6" name="Rectangle 6"/>
          <p:cNvSpPr>
            <a:spLocks noChangeArrowheads="1"/>
          </p:cNvSpPr>
          <p:nvPr/>
        </p:nvSpPr>
        <p:spPr bwMode="auto">
          <a:xfrm>
            <a:off x="0" y="-7396"/>
            <a:ext cx="4788024"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§6.4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土坡稳定性的影响因素</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6195" name="Text Box 3"/>
          <p:cNvSpPr txBox="1">
            <a:spLocks noChangeArrowheads="1"/>
          </p:cNvSpPr>
          <p:nvPr/>
        </p:nvSpPr>
        <p:spPr bwMode="auto">
          <a:xfrm>
            <a:off x="1053548" y="851356"/>
            <a:ext cx="4495800" cy="430887"/>
          </a:xfrm>
          <a:prstGeom prst="rect">
            <a:avLst/>
          </a:prstGeom>
          <a:solidFill>
            <a:srgbClr val="FFC000"/>
          </a:solidFill>
          <a:ln>
            <a:noFill/>
          </a:ln>
        </p:spPr>
        <p:txBody>
          <a:bodyPr wrap="square"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2800" b="1" dirty="0" smtClean="0">
                <a:solidFill>
                  <a:schemeClr val="tx1"/>
                </a:solidFill>
                <a:latin typeface="+mn-ea"/>
                <a:ea typeface="+mn-ea"/>
              </a:rPr>
              <a:t>施工期</a:t>
            </a:r>
            <a:r>
              <a:rPr lang="zh-CN" altLang="en-US" sz="2800" b="1" dirty="0">
                <a:solidFill>
                  <a:schemeClr val="tx1"/>
                </a:solidFill>
                <a:latin typeface="+mn-ea"/>
                <a:ea typeface="+mn-ea"/>
              </a:rPr>
              <a:t>土坝的边坡稳定分析</a:t>
            </a:r>
            <a:endParaRPr lang="zh-CN" altLang="en-US" sz="2800" b="1" dirty="0">
              <a:solidFill>
                <a:schemeClr val="tx1"/>
              </a:solidFill>
              <a:latin typeface="+mn-ea"/>
              <a:ea typeface="+mn-ea"/>
            </a:endParaRPr>
          </a:p>
        </p:txBody>
      </p:sp>
      <p:sp>
        <p:nvSpPr>
          <p:cNvPr id="776227" name="Rectangle 35"/>
          <p:cNvSpPr>
            <a:spLocks noChangeArrowheads="1"/>
          </p:cNvSpPr>
          <p:nvPr/>
        </p:nvSpPr>
        <p:spPr bwMode="auto">
          <a:xfrm>
            <a:off x="838200" y="3048000"/>
            <a:ext cx="571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a:r>
              <a:rPr kumimoji="1" lang="en-US" altLang="zh-CN" sz="2400" b="1">
                <a:solidFill>
                  <a:srgbClr val="0000FF"/>
                </a:solidFill>
                <a:latin typeface="宋体" panose="02010600030101010101" pitchFamily="2" charset="-122"/>
              </a:rPr>
              <a:t>(1) </a:t>
            </a:r>
            <a:r>
              <a:rPr kumimoji="1" lang="zh-CN" altLang="en-US" sz="2400" b="1">
                <a:solidFill>
                  <a:srgbClr val="0000FF"/>
                </a:solidFill>
                <a:latin typeface="宋体" panose="02010600030101010101" pitchFamily="2" charset="-122"/>
              </a:rPr>
              <a:t>确定土坝中超静孔隙水压力</a:t>
            </a:r>
            <a:endParaRPr kumimoji="1" lang="zh-CN" altLang="en-US" sz="2400" b="1">
              <a:solidFill>
                <a:srgbClr val="0000FF"/>
              </a:solidFill>
              <a:latin typeface="宋体" panose="02010600030101010101" pitchFamily="2" charset="-122"/>
            </a:endParaRPr>
          </a:p>
        </p:txBody>
      </p:sp>
      <p:sp>
        <p:nvSpPr>
          <p:cNvPr id="776228" name="Rectangle 36"/>
          <p:cNvSpPr>
            <a:spLocks noGrp="1" noChangeArrowheads="1"/>
          </p:cNvSpPr>
          <p:nvPr>
            <p:ph type="body" sz="half" idx="1"/>
          </p:nvPr>
        </p:nvSpPr>
        <p:spPr bwMode="auto">
          <a:xfrm>
            <a:off x="381000" y="1676400"/>
            <a:ext cx="27432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indent="0" eaLnBrk="1" hangingPunct="1">
              <a:buFontTx/>
              <a:buNone/>
            </a:pPr>
            <a:r>
              <a:rPr lang="zh-CN" altLang="en-US" b="1" smtClean="0">
                <a:solidFill>
                  <a:srgbClr val="FF0000"/>
                </a:solidFill>
                <a:ea typeface="隶书" panose="02010509060101010101" pitchFamily="49" charset="-122"/>
              </a:rPr>
              <a:t>总应力法：</a:t>
            </a:r>
            <a:endParaRPr lang="zh-CN" altLang="en-US" b="1" smtClean="0">
              <a:solidFill>
                <a:srgbClr val="FF0000"/>
              </a:solidFill>
              <a:ea typeface="隶书" panose="02010509060101010101" pitchFamily="49" charset="-122"/>
            </a:endParaRPr>
          </a:p>
        </p:txBody>
      </p:sp>
      <p:sp>
        <p:nvSpPr>
          <p:cNvPr id="776229" name="Rectangle 37"/>
          <p:cNvSpPr>
            <a:spLocks noChangeArrowheads="1"/>
          </p:cNvSpPr>
          <p:nvPr/>
        </p:nvSpPr>
        <p:spPr bwMode="auto">
          <a:xfrm>
            <a:off x="2438400" y="1752600"/>
            <a:ext cx="480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a:r>
              <a:rPr lang="zh-CN" altLang="en-US" sz="2400" b="1">
                <a:solidFill>
                  <a:schemeClr val="tx1"/>
                </a:solidFill>
              </a:rPr>
              <a:t>使用总应力强度指标 </a:t>
            </a:r>
            <a:r>
              <a:rPr lang="en-US" altLang="zh-CN" sz="2400" b="1">
                <a:solidFill>
                  <a:schemeClr val="tx1"/>
                </a:solidFill>
              </a:rPr>
              <a:t>c</a:t>
            </a:r>
            <a:r>
              <a:rPr lang="en-US" altLang="zh-CN" sz="2400" b="1" baseline="-25000">
                <a:solidFill>
                  <a:schemeClr val="tx1"/>
                </a:solidFill>
              </a:rPr>
              <a:t>u </a:t>
            </a:r>
            <a:r>
              <a:rPr lang="zh-CN" altLang="en-US" sz="2000" b="1">
                <a:solidFill>
                  <a:schemeClr val="tx1"/>
                </a:solidFill>
              </a:rPr>
              <a:t>、 </a:t>
            </a:r>
            <a:r>
              <a:rPr lang="zh-CN" altLang="en-US" sz="2400" b="1">
                <a:solidFill>
                  <a:schemeClr val="tx1"/>
                </a:solidFill>
                <a:sym typeface="Symbol" panose="05050102010706020507" pitchFamily="18" charset="2"/>
              </a:rPr>
              <a:t></a:t>
            </a:r>
            <a:r>
              <a:rPr lang="en-US" altLang="zh-CN" sz="2000" b="1" baseline="-25000">
                <a:solidFill>
                  <a:schemeClr val="tx1"/>
                </a:solidFill>
              </a:rPr>
              <a:t>u</a:t>
            </a:r>
            <a:endParaRPr lang="en-US" altLang="zh-CN" sz="2000" b="1" baseline="-25000">
              <a:solidFill>
                <a:schemeClr val="tx1"/>
              </a:solidFill>
            </a:endParaRPr>
          </a:p>
        </p:txBody>
      </p:sp>
      <p:sp>
        <p:nvSpPr>
          <p:cNvPr id="776230" name="Rectangle 38"/>
          <p:cNvSpPr>
            <a:spLocks noChangeArrowheads="1"/>
          </p:cNvSpPr>
          <p:nvPr/>
        </p:nvSpPr>
        <p:spPr bwMode="auto">
          <a:xfrm>
            <a:off x="381000" y="2362200"/>
            <a:ext cx="27432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r>
              <a:rPr lang="zh-CN" altLang="en-US" sz="3200" b="1">
                <a:solidFill>
                  <a:srgbClr val="FF0000"/>
                </a:solidFill>
                <a:ea typeface="隶书" panose="02010509060101010101" pitchFamily="49" charset="-122"/>
              </a:rPr>
              <a:t>有效应力法：</a:t>
            </a:r>
            <a:endParaRPr lang="zh-CN" altLang="en-US" sz="3200" b="1">
              <a:solidFill>
                <a:srgbClr val="FF0000"/>
              </a:solidFill>
              <a:ea typeface="隶书" panose="02010509060101010101" pitchFamily="49" charset="-122"/>
            </a:endParaRPr>
          </a:p>
        </p:txBody>
      </p:sp>
      <p:graphicFrame>
        <p:nvGraphicFramePr>
          <p:cNvPr id="801792" name="Object 0"/>
          <p:cNvGraphicFramePr>
            <a:graphicFrameLocks noChangeAspect="1"/>
          </p:cNvGraphicFramePr>
          <p:nvPr/>
        </p:nvGraphicFramePr>
        <p:xfrm>
          <a:off x="1295400" y="3657600"/>
          <a:ext cx="3505200" cy="479425"/>
        </p:xfrm>
        <a:graphic>
          <a:graphicData uri="http://schemas.openxmlformats.org/presentationml/2006/ole">
            <mc:AlternateContent xmlns:mc="http://schemas.openxmlformats.org/markup-compatibility/2006">
              <mc:Choice xmlns:v="urn:schemas-microsoft-com:vml" Requires="v">
                <p:oleObj spid="_x0000_s18522" name="Equation" r:id="rId1" imgW="1816100" imgH="228600" progId="Equation.3">
                  <p:embed/>
                </p:oleObj>
              </mc:Choice>
              <mc:Fallback>
                <p:oleObj name="Equation" r:id="rId1" imgW="1816100" imgH="228600" progId="Equation.3">
                  <p:embed/>
                  <p:pic>
                    <p:nvPicPr>
                      <p:cNvPr id="0" name="Object 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3657600"/>
                        <a:ext cx="3505200"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1793" name="Object 1"/>
          <p:cNvGraphicFramePr>
            <a:graphicFrameLocks noChangeAspect="1"/>
          </p:cNvGraphicFramePr>
          <p:nvPr/>
        </p:nvGraphicFramePr>
        <p:xfrm>
          <a:off x="1676400" y="4114800"/>
          <a:ext cx="3733800" cy="1762125"/>
        </p:xfrm>
        <a:graphic>
          <a:graphicData uri="http://schemas.openxmlformats.org/presentationml/2006/ole">
            <mc:AlternateContent xmlns:mc="http://schemas.openxmlformats.org/markup-compatibility/2006">
              <mc:Choice xmlns:v="urn:schemas-microsoft-com:vml" Requires="v">
                <p:oleObj spid="_x0000_s18523" name="Equation" r:id="rId3" imgW="2044700" imgH="889000" progId="Equation.3">
                  <p:embed/>
                </p:oleObj>
              </mc:Choice>
              <mc:Fallback>
                <p:oleObj name="Equation" r:id="rId3" imgW="2044700" imgH="8890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4114800"/>
                        <a:ext cx="3733800" cy="176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1794" name="Object 2"/>
          <p:cNvGraphicFramePr>
            <a:graphicFrameLocks noChangeAspect="1"/>
          </p:cNvGraphicFramePr>
          <p:nvPr/>
        </p:nvGraphicFramePr>
        <p:xfrm>
          <a:off x="1066800" y="5791200"/>
          <a:ext cx="2620963" cy="855663"/>
        </p:xfrm>
        <a:graphic>
          <a:graphicData uri="http://schemas.openxmlformats.org/presentationml/2006/ole">
            <mc:AlternateContent xmlns:mc="http://schemas.openxmlformats.org/markup-compatibility/2006">
              <mc:Choice xmlns:v="urn:schemas-microsoft-com:vml" Requires="v">
                <p:oleObj spid="_x0000_s18524" name="Equation" r:id="rId5" imgW="1435100" imgH="431800" progId="Equation.3">
                  <p:embed/>
                </p:oleObj>
              </mc:Choice>
              <mc:Fallback>
                <p:oleObj name="Equation" r:id="rId5" imgW="1435100" imgH="4318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800" y="5791200"/>
                        <a:ext cx="2620963" cy="855663"/>
                      </a:xfrm>
                      <a:prstGeom prst="rect">
                        <a:avLst/>
                      </a:prstGeom>
                      <a:solidFill>
                        <a:srgbClr val="99FF99"/>
                      </a:solidFill>
                      <a:ln>
                        <a:noFill/>
                      </a:ln>
                      <a:effectLst/>
                      <a:extLst>
                        <a:ext uri="{91240B29-F687-4F45-9708-019B960494DF}">
                          <a14:hiddenLine xmlns:a14="http://schemas.microsoft.com/office/drawing/2010/main" w="9525">
                            <a:solidFill>
                              <a:srgbClr val="99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6235" name="AutoShape 43"/>
          <p:cNvSpPr>
            <a:spLocks noChangeArrowheads="1"/>
          </p:cNvSpPr>
          <p:nvPr/>
        </p:nvSpPr>
        <p:spPr bwMode="auto">
          <a:xfrm>
            <a:off x="3886200" y="6096000"/>
            <a:ext cx="304800" cy="228600"/>
          </a:xfrm>
          <a:prstGeom prst="leftRightArrow">
            <a:avLst>
              <a:gd name="adj1" fmla="val 50000"/>
              <a:gd name="adj2" fmla="val 26667"/>
            </a:avLst>
          </a:prstGeom>
          <a:solidFill>
            <a:srgbClr val="FF0000"/>
          </a:solidFill>
          <a:ln w="9525">
            <a:solidFill>
              <a:schemeClr val="accent2"/>
            </a:solidFill>
            <a:miter lim="800000"/>
          </a:ln>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776236" name="Rectangle 44"/>
          <p:cNvSpPr>
            <a:spLocks noChangeArrowheads="1"/>
          </p:cNvSpPr>
          <p:nvPr/>
        </p:nvSpPr>
        <p:spPr bwMode="auto">
          <a:xfrm>
            <a:off x="4343400" y="5943600"/>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a:r>
              <a:rPr kumimoji="1" lang="zh-CN" altLang="en-US" sz="2400" b="1">
                <a:solidFill>
                  <a:srgbClr val="0000FF"/>
                </a:solidFill>
                <a:latin typeface="宋体" panose="02010600030101010101" pitchFamily="2" charset="-122"/>
              </a:rPr>
              <a:t>土坝中</a:t>
            </a:r>
            <a:endParaRPr kumimoji="1" lang="zh-CN" altLang="en-US" sz="2400" b="1">
              <a:solidFill>
                <a:srgbClr val="0000FF"/>
              </a:solidFill>
              <a:latin typeface="宋体" panose="02010600030101010101" pitchFamily="2" charset="-122"/>
            </a:endParaRPr>
          </a:p>
        </p:txBody>
      </p:sp>
      <p:graphicFrame>
        <p:nvGraphicFramePr>
          <p:cNvPr id="801795" name="Object 3"/>
          <p:cNvGraphicFramePr>
            <a:graphicFrameLocks noChangeAspect="1"/>
          </p:cNvGraphicFramePr>
          <p:nvPr/>
        </p:nvGraphicFramePr>
        <p:xfrm>
          <a:off x="5486400" y="5715000"/>
          <a:ext cx="1530350" cy="855663"/>
        </p:xfrm>
        <a:graphic>
          <a:graphicData uri="http://schemas.openxmlformats.org/presentationml/2006/ole">
            <mc:AlternateContent xmlns:mc="http://schemas.openxmlformats.org/markup-compatibility/2006">
              <mc:Choice xmlns:v="urn:schemas-microsoft-com:vml" Requires="v">
                <p:oleObj spid="_x0000_s18525" name="Equation" r:id="rId7" imgW="837565" imgH="431800" progId="Equation.3">
                  <p:embed/>
                </p:oleObj>
              </mc:Choice>
              <mc:Fallback>
                <p:oleObj name="Equation" r:id="rId7" imgW="837565" imgH="431800"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86400" y="5715000"/>
                        <a:ext cx="1530350" cy="855663"/>
                      </a:xfrm>
                      <a:prstGeom prst="rect">
                        <a:avLst/>
                      </a:prstGeom>
                      <a:solidFill>
                        <a:srgbClr val="99FF99"/>
                      </a:solidFill>
                      <a:ln>
                        <a:noFill/>
                      </a:ln>
                      <a:effectLst/>
                      <a:extLst>
                        <a:ext uri="{91240B29-F687-4F45-9708-019B960494DF}">
                          <a14:hiddenLine xmlns:a14="http://schemas.microsoft.com/office/drawing/2010/main" w="9525">
                            <a:solidFill>
                              <a:srgbClr val="99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Rectangle 6"/>
          <p:cNvSpPr>
            <a:spLocks noChangeArrowheads="1"/>
          </p:cNvSpPr>
          <p:nvPr/>
        </p:nvSpPr>
        <p:spPr bwMode="auto">
          <a:xfrm>
            <a:off x="0" y="-7396"/>
            <a:ext cx="4788024"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§6.4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土坡稳定性的影响因素</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776195"/>
                                        </p:tgtEl>
                                        <p:attrNameLst>
                                          <p:attrName>style.visibility</p:attrName>
                                        </p:attrNameLst>
                                      </p:cBhvr>
                                      <p:to>
                                        <p:strVal val="visible"/>
                                      </p:to>
                                    </p:set>
                                    <p:animEffect transition="in" filter="dissolve">
                                      <p:cBhvr>
                                        <p:cTn id="7" dur="500"/>
                                        <p:tgtEl>
                                          <p:spTgt spid="77619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76228">
                                            <p:txEl>
                                              <p:pRg st="0" end="0"/>
                                            </p:txEl>
                                          </p:spTgt>
                                        </p:tgtEl>
                                        <p:attrNameLst>
                                          <p:attrName>style.visibility</p:attrName>
                                        </p:attrNameLst>
                                      </p:cBhvr>
                                      <p:to>
                                        <p:strVal val="visible"/>
                                      </p:to>
                                    </p:set>
                                    <p:animEffect transition="in" filter="wipe(left)">
                                      <p:cBhvr>
                                        <p:cTn id="12" dur="500"/>
                                        <p:tgtEl>
                                          <p:spTgt spid="77622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76229"/>
                                        </p:tgtEl>
                                        <p:attrNameLst>
                                          <p:attrName>style.visibility</p:attrName>
                                        </p:attrNameLst>
                                      </p:cBhvr>
                                      <p:to>
                                        <p:strVal val="visible"/>
                                      </p:to>
                                    </p:set>
                                    <p:animEffect transition="in" filter="dissolve">
                                      <p:cBhvr>
                                        <p:cTn id="17" dur="500"/>
                                        <p:tgtEl>
                                          <p:spTgt spid="77622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76230"/>
                                        </p:tgtEl>
                                        <p:attrNameLst>
                                          <p:attrName>style.visibility</p:attrName>
                                        </p:attrNameLst>
                                      </p:cBhvr>
                                      <p:to>
                                        <p:strVal val="visible"/>
                                      </p:to>
                                    </p:set>
                                    <p:animEffect transition="in" filter="dissolve">
                                      <p:cBhvr>
                                        <p:cTn id="22" dur="500"/>
                                        <p:tgtEl>
                                          <p:spTgt spid="77623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776227"/>
                                        </p:tgtEl>
                                        <p:attrNameLst>
                                          <p:attrName>style.visibility</p:attrName>
                                        </p:attrNameLst>
                                      </p:cBhvr>
                                      <p:to>
                                        <p:strVal val="visible"/>
                                      </p:to>
                                    </p:set>
                                    <p:animEffect transition="in" filter="wipe(up)">
                                      <p:cBhvr>
                                        <p:cTn id="27" dur="500"/>
                                        <p:tgtEl>
                                          <p:spTgt spid="77622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01792"/>
                                        </p:tgtEl>
                                        <p:attrNameLst>
                                          <p:attrName>style.visibility</p:attrName>
                                        </p:attrNameLst>
                                      </p:cBhvr>
                                      <p:to>
                                        <p:strVal val="visible"/>
                                      </p:to>
                                    </p:set>
                                    <p:animEffect transition="in" filter="wipe(left)">
                                      <p:cBhvr>
                                        <p:cTn id="32" dur="500"/>
                                        <p:tgtEl>
                                          <p:spTgt spid="80179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801793"/>
                                        </p:tgtEl>
                                        <p:attrNameLst>
                                          <p:attrName>style.visibility</p:attrName>
                                        </p:attrNameLst>
                                      </p:cBhvr>
                                      <p:to>
                                        <p:strVal val="visible"/>
                                      </p:to>
                                    </p:set>
                                    <p:animEffect transition="in" filter="wipe(left)">
                                      <p:cBhvr>
                                        <p:cTn id="37" dur="500"/>
                                        <p:tgtEl>
                                          <p:spTgt spid="80179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801794"/>
                                        </p:tgtEl>
                                        <p:attrNameLst>
                                          <p:attrName>style.visibility</p:attrName>
                                        </p:attrNameLst>
                                      </p:cBhvr>
                                      <p:to>
                                        <p:strVal val="visible"/>
                                      </p:to>
                                    </p:set>
                                    <p:animEffect transition="in" filter="wipe(left)">
                                      <p:cBhvr>
                                        <p:cTn id="42" dur="500"/>
                                        <p:tgtEl>
                                          <p:spTgt spid="801794"/>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776235"/>
                                        </p:tgtEl>
                                        <p:attrNameLst>
                                          <p:attrName>style.visibility</p:attrName>
                                        </p:attrNameLst>
                                      </p:cBhvr>
                                      <p:to>
                                        <p:strVal val="visible"/>
                                      </p:to>
                                    </p:set>
                                    <p:animEffect transition="in" filter="dissolve">
                                      <p:cBhvr>
                                        <p:cTn id="47" dur="500"/>
                                        <p:tgtEl>
                                          <p:spTgt spid="776235"/>
                                        </p:tgtEl>
                                      </p:cBhvr>
                                    </p:animEffect>
                                  </p:childTnLst>
                                </p:cTn>
                              </p:par>
                            </p:childTnLst>
                          </p:cTn>
                        </p:par>
                        <p:par>
                          <p:cTn id="48" fill="hold">
                            <p:stCondLst>
                              <p:cond delay="500"/>
                            </p:stCondLst>
                            <p:childTnLst>
                              <p:par>
                                <p:cTn id="49" presetID="22" presetClass="entr" presetSubtype="8" fill="hold" grpId="0" nodeType="afterEffect">
                                  <p:stCondLst>
                                    <p:cond delay="0"/>
                                  </p:stCondLst>
                                  <p:childTnLst>
                                    <p:set>
                                      <p:cBhvr>
                                        <p:cTn id="50" dur="1" fill="hold">
                                          <p:stCondLst>
                                            <p:cond delay="0"/>
                                          </p:stCondLst>
                                        </p:cTn>
                                        <p:tgtEl>
                                          <p:spTgt spid="776236"/>
                                        </p:tgtEl>
                                        <p:attrNameLst>
                                          <p:attrName>style.visibility</p:attrName>
                                        </p:attrNameLst>
                                      </p:cBhvr>
                                      <p:to>
                                        <p:strVal val="visible"/>
                                      </p:to>
                                    </p:set>
                                    <p:animEffect transition="in" filter="wipe(left)">
                                      <p:cBhvr>
                                        <p:cTn id="51" dur="500"/>
                                        <p:tgtEl>
                                          <p:spTgt spid="776236"/>
                                        </p:tgtEl>
                                      </p:cBhvr>
                                    </p:animEffect>
                                  </p:childTnLst>
                                </p:cTn>
                              </p:par>
                            </p:childTnLst>
                          </p:cTn>
                        </p:par>
                        <p:par>
                          <p:cTn id="52" fill="hold">
                            <p:stCondLst>
                              <p:cond delay="1000"/>
                            </p:stCondLst>
                            <p:childTnLst>
                              <p:par>
                                <p:cTn id="53" presetID="22" presetClass="entr" presetSubtype="8" fill="hold" nodeType="afterEffect">
                                  <p:stCondLst>
                                    <p:cond delay="0"/>
                                  </p:stCondLst>
                                  <p:childTnLst>
                                    <p:set>
                                      <p:cBhvr>
                                        <p:cTn id="54" dur="1" fill="hold">
                                          <p:stCondLst>
                                            <p:cond delay="0"/>
                                          </p:stCondLst>
                                        </p:cTn>
                                        <p:tgtEl>
                                          <p:spTgt spid="801795"/>
                                        </p:tgtEl>
                                        <p:attrNameLst>
                                          <p:attrName>style.visibility</p:attrName>
                                        </p:attrNameLst>
                                      </p:cBhvr>
                                      <p:to>
                                        <p:strVal val="visible"/>
                                      </p:to>
                                    </p:set>
                                    <p:animEffect transition="in" filter="wipe(left)">
                                      <p:cBhvr>
                                        <p:cTn id="55" dur="500"/>
                                        <p:tgtEl>
                                          <p:spTgt spid="801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6195" grpId="0" bldLvl="0" animBg="1" autoUpdateAnimBg="0"/>
      <p:bldP spid="776227" grpId="0" autoUpdateAnimBg="0"/>
      <p:bldP spid="776228" grpId="0" autoUpdateAnimBg="0" build="p"/>
      <p:bldP spid="776229" grpId="0" autoUpdateAnimBg="0"/>
      <p:bldP spid="776230" grpId="0" autoUpdateAnimBg="0"/>
      <p:bldP spid="776235" grpId="0" bldLvl="0" animBg="1"/>
      <p:bldP spid="776236" grpId="0"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4"/>
          <p:cNvSpPr>
            <a:spLocks noChangeArrowheads="1"/>
          </p:cNvSpPr>
          <p:nvPr/>
        </p:nvSpPr>
        <p:spPr bwMode="auto">
          <a:xfrm>
            <a:off x="304800" y="685800"/>
            <a:ext cx="373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a:r>
              <a:rPr kumimoji="1" lang="en-US" altLang="zh-CN" sz="2400" b="1" dirty="0">
                <a:solidFill>
                  <a:srgbClr val="0000FF"/>
                </a:solidFill>
                <a:latin typeface="宋体" panose="02010600030101010101" pitchFamily="2" charset="-122"/>
              </a:rPr>
              <a:t>(2) </a:t>
            </a:r>
            <a:r>
              <a:rPr kumimoji="1" lang="zh-CN" altLang="en-US" sz="2400" b="1" dirty="0" smtClean="0">
                <a:solidFill>
                  <a:srgbClr val="0000FF"/>
                </a:solidFill>
                <a:latin typeface="宋体" panose="02010600030101010101" pitchFamily="2" charset="-122"/>
              </a:rPr>
              <a:t>绘制孔压等值线图</a:t>
            </a:r>
            <a:endParaRPr kumimoji="1" lang="zh-CN" altLang="en-US" sz="2400" b="1" dirty="0">
              <a:solidFill>
                <a:srgbClr val="0000FF"/>
              </a:solidFill>
              <a:latin typeface="宋体" panose="02010600030101010101" pitchFamily="2" charset="-122"/>
            </a:endParaRPr>
          </a:p>
        </p:txBody>
      </p:sp>
      <p:pic>
        <p:nvPicPr>
          <p:cNvPr id="777226" name="Picture 10" descr="32"/>
          <p:cNvPicPr>
            <a:picLocks noChangeAspect="1" noChangeArrowheads="1"/>
          </p:cNvPicPr>
          <p:nvPr/>
        </p:nvPicPr>
        <p:blipFill rotWithShape="1">
          <a:blip r:embed="rId1">
            <a:extLst>
              <a:ext uri="{28A0092B-C50C-407E-A947-70E740481C1C}">
                <a14:useLocalDpi xmlns:a14="http://schemas.microsoft.com/office/drawing/2010/main" val="0"/>
              </a:ext>
            </a:extLst>
          </a:blip>
          <a:srcRect l="1176" t="7898" r="5113" b="23201"/>
          <a:stretch>
            <a:fillRect/>
          </a:stretch>
        </p:blipFill>
        <p:spPr bwMode="auto">
          <a:xfrm>
            <a:off x="304800" y="1246634"/>
            <a:ext cx="8568952" cy="2353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7232" name="Rectangle 16"/>
          <p:cNvSpPr>
            <a:spLocks noChangeArrowheads="1"/>
          </p:cNvSpPr>
          <p:nvPr/>
        </p:nvSpPr>
        <p:spPr bwMode="auto">
          <a:xfrm>
            <a:off x="381000" y="4572000"/>
            <a:ext cx="449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a:r>
              <a:rPr kumimoji="1" lang="en-US" altLang="zh-CN" sz="2400" b="1">
                <a:solidFill>
                  <a:srgbClr val="0000FF"/>
                </a:solidFill>
                <a:latin typeface="宋体" panose="02010600030101010101" pitchFamily="2" charset="-122"/>
              </a:rPr>
              <a:t>(3) </a:t>
            </a:r>
            <a:r>
              <a:rPr kumimoji="1" lang="zh-CN" altLang="en-US" sz="2400" b="1">
                <a:solidFill>
                  <a:srgbClr val="0000FF"/>
                </a:solidFill>
                <a:latin typeface="宋体" panose="02010600030101010101" pitchFamily="2" charset="-122"/>
              </a:rPr>
              <a:t>计算抗滑稳定安全系数</a:t>
            </a:r>
            <a:endParaRPr kumimoji="1" lang="zh-CN" altLang="en-US" sz="2400" b="1">
              <a:solidFill>
                <a:srgbClr val="0000FF"/>
              </a:solidFill>
              <a:latin typeface="宋体" panose="02010600030101010101" pitchFamily="2" charset="-122"/>
            </a:endParaRPr>
          </a:p>
        </p:txBody>
      </p:sp>
      <p:sp>
        <p:nvSpPr>
          <p:cNvPr id="777236" name="AutoShape 20"/>
          <p:cNvSpPr>
            <a:spLocks noChangeArrowheads="1"/>
          </p:cNvSpPr>
          <p:nvPr/>
        </p:nvSpPr>
        <p:spPr bwMode="auto">
          <a:xfrm>
            <a:off x="4876800" y="4584286"/>
            <a:ext cx="1143000" cy="508000"/>
          </a:xfrm>
          <a:prstGeom prst="wedgeRoundRectCallout">
            <a:avLst>
              <a:gd name="adj1" fmla="val -105000"/>
              <a:gd name="adj2" fmla="val 125625"/>
              <a:gd name="adj3" fmla="val 16667"/>
            </a:avLst>
          </a:prstGeom>
          <a:noFill/>
          <a:ln w="19050" algn="ctr">
            <a:solidFill>
              <a:srgbClr val="FF00FF"/>
            </a:solidFill>
            <a:miter lim="800000"/>
          </a:ln>
          <a:extLst>
            <a:ext uri="{909E8E84-426E-40DD-AFC4-6F175D3DCCD1}">
              <a14:hiddenFill xmlns:a14="http://schemas.microsoft.com/office/drawing/2010/main">
                <a:solidFill>
                  <a:srgbClr val="FFFFFF"/>
                </a:solidFill>
              </a14:hiddenFill>
            </a:ext>
          </a:extLst>
        </p:spPr>
        <p:txBody>
          <a:bodyPr lIns="0" r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lang="zh-CN" altLang="en-US" sz="2400" b="1" dirty="0">
                <a:solidFill>
                  <a:srgbClr val="009900"/>
                </a:solidFill>
              </a:rPr>
              <a:t>孔压项</a:t>
            </a:r>
            <a:endParaRPr lang="zh-CN" altLang="en-US" sz="2400" b="1" dirty="0">
              <a:solidFill>
                <a:srgbClr val="FF00FF"/>
              </a:solidFill>
            </a:endParaRPr>
          </a:p>
        </p:txBody>
      </p:sp>
      <p:grpSp>
        <p:nvGrpSpPr>
          <p:cNvPr id="2" name="Group 39"/>
          <p:cNvGrpSpPr/>
          <p:nvPr/>
        </p:nvGrpSpPr>
        <p:grpSpPr bwMode="auto">
          <a:xfrm>
            <a:off x="7162800" y="3352800"/>
            <a:ext cx="1524000" cy="2971800"/>
            <a:chOff x="4512" y="2112"/>
            <a:chExt cx="960" cy="1872"/>
          </a:xfrm>
        </p:grpSpPr>
        <p:grpSp>
          <p:nvGrpSpPr>
            <p:cNvPr id="57357" name="Group 22"/>
            <p:cNvGrpSpPr/>
            <p:nvPr/>
          </p:nvGrpSpPr>
          <p:grpSpPr bwMode="auto">
            <a:xfrm>
              <a:off x="4512" y="2112"/>
              <a:ext cx="528" cy="1584"/>
              <a:chOff x="3744" y="864"/>
              <a:chExt cx="432" cy="1584"/>
            </a:xfrm>
          </p:grpSpPr>
          <p:sp>
            <p:nvSpPr>
              <p:cNvPr id="57368" name="Line 23"/>
              <p:cNvSpPr>
                <a:spLocks noChangeShapeType="1"/>
              </p:cNvSpPr>
              <p:nvPr/>
            </p:nvSpPr>
            <p:spPr bwMode="auto">
              <a:xfrm>
                <a:off x="3744" y="1056"/>
                <a:ext cx="0" cy="1392"/>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7369" name="Line 24"/>
              <p:cNvSpPr>
                <a:spLocks noChangeShapeType="1"/>
              </p:cNvSpPr>
              <p:nvPr/>
            </p:nvSpPr>
            <p:spPr bwMode="auto">
              <a:xfrm>
                <a:off x="4176" y="864"/>
                <a:ext cx="0" cy="1248"/>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7370" name="Line 25"/>
              <p:cNvSpPr>
                <a:spLocks noChangeShapeType="1"/>
              </p:cNvSpPr>
              <p:nvPr/>
            </p:nvSpPr>
            <p:spPr bwMode="auto">
              <a:xfrm flipV="1">
                <a:off x="3744" y="864"/>
                <a:ext cx="432" cy="192"/>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7371" name="Line 26"/>
              <p:cNvSpPr>
                <a:spLocks noChangeShapeType="1"/>
              </p:cNvSpPr>
              <p:nvPr/>
            </p:nvSpPr>
            <p:spPr bwMode="auto">
              <a:xfrm flipV="1">
                <a:off x="3744" y="2112"/>
                <a:ext cx="432" cy="336"/>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7358" name="Line 27"/>
            <p:cNvSpPr>
              <a:spLocks noChangeShapeType="1"/>
            </p:cNvSpPr>
            <p:nvPr/>
          </p:nvSpPr>
          <p:spPr bwMode="auto">
            <a:xfrm>
              <a:off x="4752" y="2640"/>
              <a:ext cx="0" cy="336"/>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59" name="Line 28"/>
            <p:cNvSpPr>
              <a:spLocks noChangeShapeType="1"/>
            </p:cNvSpPr>
            <p:nvPr/>
          </p:nvSpPr>
          <p:spPr bwMode="auto">
            <a:xfrm flipV="1">
              <a:off x="4608" y="3456"/>
              <a:ext cx="384" cy="240"/>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60" name="Line 29"/>
            <p:cNvSpPr>
              <a:spLocks noChangeShapeType="1"/>
            </p:cNvSpPr>
            <p:nvPr/>
          </p:nvSpPr>
          <p:spPr bwMode="auto">
            <a:xfrm rot="10800000">
              <a:off x="4848" y="3600"/>
              <a:ext cx="192" cy="288"/>
            </a:xfrm>
            <a:prstGeom prst="line">
              <a:avLst/>
            </a:prstGeom>
            <a:noFill/>
            <a:ln w="222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61" name="Line 30"/>
            <p:cNvSpPr>
              <a:spLocks noChangeShapeType="1"/>
            </p:cNvSpPr>
            <p:nvPr/>
          </p:nvSpPr>
          <p:spPr bwMode="auto">
            <a:xfrm flipV="1">
              <a:off x="5040" y="3072"/>
              <a:ext cx="384" cy="2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7362" name="Line 31"/>
            <p:cNvSpPr>
              <a:spLocks noChangeShapeType="1"/>
            </p:cNvSpPr>
            <p:nvPr/>
          </p:nvSpPr>
          <p:spPr bwMode="auto">
            <a:xfrm>
              <a:off x="5040" y="3360"/>
              <a:ext cx="43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7363" name="Freeform 32"/>
            <p:cNvSpPr/>
            <p:nvPr/>
          </p:nvSpPr>
          <p:spPr bwMode="auto">
            <a:xfrm>
              <a:off x="5132" y="3300"/>
              <a:ext cx="49" cy="56"/>
            </a:xfrm>
            <a:custGeom>
              <a:avLst/>
              <a:gdLst>
                <a:gd name="T0" fmla="*/ 0 w 49"/>
                <a:gd name="T1" fmla="*/ 0 h 56"/>
                <a:gd name="T2" fmla="*/ 40 w 49"/>
                <a:gd name="T3" fmla="*/ 32 h 56"/>
                <a:gd name="T4" fmla="*/ 48 w 49"/>
                <a:gd name="T5" fmla="*/ 56 h 56"/>
                <a:gd name="T6" fmla="*/ 0 60000 65536"/>
                <a:gd name="T7" fmla="*/ 0 60000 65536"/>
                <a:gd name="T8" fmla="*/ 0 60000 65536"/>
                <a:gd name="T9" fmla="*/ 0 w 49"/>
                <a:gd name="T10" fmla="*/ 0 h 56"/>
                <a:gd name="T11" fmla="*/ 49 w 49"/>
                <a:gd name="T12" fmla="*/ 56 h 56"/>
              </a:gdLst>
              <a:ahLst/>
              <a:cxnLst>
                <a:cxn ang="T6">
                  <a:pos x="T0" y="T1"/>
                </a:cxn>
                <a:cxn ang="T7">
                  <a:pos x="T2" y="T3"/>
                </a:cxn>
                <a:cxn ang="T8">
                  <a:pos x="T4" y="T5"/>
                </a:cxn>
              </a:cxnLst>
              <a:rect l="T9" t="T10" r="T11" b="T12"/>
              <a:pathLst>
                <a:path w="49" h="56">
                  <a:moveTo>
                    <a:pt x="0" y="0"/>
                  </a:moveTo>
                  <a:cubicBezTo>
                    <a:pt x="20" y="10"/>
                    <a:pt x="20" y="22"/>
                    <a:pt x="40" y="32"/>
                  </a:cubicBezTo>
                  <a:cubicBezTo>
                    <a:pt x="49" y="50"/>
                    <a:pt x="48" y="42"/>
                    <a:pt x="48" y="56"/>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364" name="Rectangle 33"/>
            <p:cNvSpPr>
              <a:spLocks noChangeArrowheads="1"/>
            </p:cNvSpPr>
            <p:nvPr/>
          </p:nvSpPr>
          <p:spPr bwMode="auto">
            <a:xfrm>
              <a:off x="4944" y="3408"/>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T</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baseline="-25000">
                <a:solidFill>
                  <a:srgbClr val="CC3300"/>
                </a:solidFill>
                <a:latin typeface="Times New Roman" panose="02020603050405020304" pitchFamily="18" charset="0"/>
                <a:sym typeface="Symbol" panose="05050102010706020507" pitchFamily="18" charset="2"/>
              </a:endParaRPr>
            </a:p>
          </p:txBody>
        </p:sp>
        <p:sp>
          <p:nvSpPr>
            <p:cNvPr id="57365" name="Rectangle 34"/>
            <p:cNvSpPr>
              <a:spLocks noChangeArrowheads="1"/>
            </p:cNvSpPr>
            <p:nvPr/>
          </p:nvSpPr>
          <p:spPr bwMode="auto">
            <a:xfrm>
              <a:off x="4704" y="3696"/>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CC3300"/>
                  </a:solidFill>
                  <a:latin typeface="Times New Roman" panose="02020603050405020304" pitchFamily="18" charset="0"/>
                  <a:sym typeface="Symbol" panose="05050102010706020507" pitchFamily="18" charset="2"/>
                </a:rPr>
                <a:t>N</a:t>
              </a:r>
              <a:r>
                <a:rPr kumimoji="1" lang="en-US" altLang="zh-CN" sz="2400" b="1" i="1" baseline="-25000">
                  <a:solidFill>
                    <a:srgbClr val="CC3300"/>
                  </a:solidFill>
                  <a:latin typeface="Times New Roman" panose="02020603050405020304" pitchFamily="18" charset="0"/>
                  <a:sym typeface="Symbol" panose="05050102010706020507" pitchFamily="18" charset="2"/>
                </a:rPr>
                <a:t>i</a:t>
              </a:r>
              <a:endParaRPr kumimoji="1" lang="en-US" altLang="zh-CN" sz="2400" b="1" i="1">
                <a:solidFill>
                  <a:srgbClr val="CC3300"/>
                </a:solidFill>
                <a:latin typeface="Times New Roman" panose="02020603050405020304" pitchFamily="18" charset="0"/>
                <a:sym typeface="Symbol" panose="05050102010706020507" pitchFamily="18" charset="2"/>
              </a:endParaRPr>
            </a:p>
          </p:txBody>
        </p:sp>
        <p:sp>
          <p:nvSpPr>
            <p:cNvPr id="57366" name="Rectangle 35"/>
            <p:cNvSpPr>
              <a:spLocks noChangeArrowheads="1"/>
            </p:cNvSpPr>
            <p:nvPr/>
          </p:nvSpPr>
          <p:spPr bwMode="auto">
            <a:xfrm>
              <a:off x="5136" y="312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993300"/>
                  </a:solidFill>
                  <a:latin typeface="Times New Roman" panose="02020603050405020304" pitchFamily="18" charset="0"/>
                  <a:sym typeface="Symbol" panose="05050102010706020507" pitchFamily="18" charset="2"/>
                </a:rPr>
                <a:t></a:t>
              </a:r>
              <a:r>
                <a:rPr kumimoji="1" lang="en-US" altLang="zh-CN" sz="2400" b="1" i="1" baseline="-25000">
                  <a:solidFill>
                    <a:srgbClr val="993300"/>
                  </a:solidFill>
                  <a:latin typeface="Times New Roman" panose="02020603050405020304" pitchFamily="18" charset="0"/>
                  <a:sym typeface="Symbol" panose="05050102010706020507" pitchFamily="18" charset="2"/>
                </a:rPr>
                <a:t>i</a:t>
              </a:r>
              <a:endParaRPr kumimoji="1" lang="en-US" altLang="zh-CN" sz="2400" b="1" i="1" baseline="-25000">
                <a:solidFill>
                  <a:srgbClr val="993300"/>
                </a:solidFill>
                <a:latin typeface="Times New Roman" panose="02020603050405020304" pitchFamily="18" charset="0"/>
                <a:sym typeface="Symbol" panose="05050102010706020507" pitchFamily="18" charset="2"/>
              </a:endParaRPr>
            </a:p>
          </p:txBody>
        </p:sp>
        <p:sp>
          <p:nvSpPr>
            <p:cNvPr id="57367" name="Rectangle 36"/>
            <p:cNvSpPr>
              <a:spLocks noChangeArrowheads="1"/>
            </p:cNvSpPr>
            <p:nvPr/>
          </p:nvSpPr>
          <p:spPr bwMode="auto">
            <a:xfrm>
              <a:off x="4608" y="2976"/>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dirty="0" err="1" smtClean="0">
                  <a:solidFill>
                    <a:srgbClr val="CC3300"/>
                  </a:solidFill>
                  <a:latin typeface="Times New Roman" panose="02020603050405020304" pitchFamily="18" charset="0"/>
                  <a:sym typeface="Symbol" panose="05050102010706020507" pitchFamily="18" charset="2"/>
                </a:rPr>
                <a:t>G</a:t>
              </a:r>
              <a:r>
                <a:rPr kumimoji="1" lang="en-US" altLang="zh-CN" sz="2400" b="1" i="1" baseline="-25000" dirty="0" err="1" smtClean="0">
                  <a:solidFill>
                    <a:srgbClr val="CC3300"/>
                  </a:solidFill>
                  <a:latin typeface="Times New Roman" panose="02020603050405020304" pitchFamily="18" charset="0"/>
                  <a:sym typeface="Symbol" panose="05050102010706020507" pitchFamily="18" charset="2"/>
                </a:rPr>
                <a:t>i</a:t>
              </a:r>
              <a:endParaRPr kumimoji="1" lang="en-US" altLang="zh-CN" sz="2400" b="1" i="1" baseline="-25000" dirty="0">
                <a:solidFill>
                  <a:srgbClr val="CC3300"/>
                </a:solidFill>
                <a:latin typeface="Times New Roman" panose="02020603050405020304" pitchFamily="18" charset="0"/>
                <a:sym typeface="Symbol" panose="05050102010706020507" pitchFamily="18" charset="2"/>
              </a:endParaRPr>
            </a:p>
          </p:txBody>
        </p:sp>
      </p:grpSp>
      <p:grpSp>
        <p:nvGrpSpPr>
          <p:cNvPr id="4" name="Group 40"/>
          <p:cNvGrpSpPr/>
          <p:nvPr/>
        </p:nvGrpSpPr>
        <p:grpSpPr bwMode="auto">
          <a:xfrm>
            <a:off x="8001000" y="6096000"/>
            <a:ext cx="685800" cy="457200"/>
            <a:chOff x="5040" y="3840"/>
            <a:chExt cx="432" cy="288"/>
          </a:xfrm>
        </p:grpSpPr>
        <p:sp>
          <p:nvSpPr>
            <p:cNvPr id="57355" name="Line 37"/>
            <p:cNvSpPr>
              <a:spLocks noChangeShapeType="1"/>
            </p:cNvSpPr>
            <p:nvPr/>
          </p:nvSpPr>
          <p:spPr bwMode="auto">
            <a:xfrm rot="10800000">
              <a:off x="5040" y="3888"/>
              <a:ext cx="144" cy="240"/>
            </a:xfrm>
            <a:prstGeom prst="line">
              <a:avLst/>
            </a:prstGeom>
            <a:noFill/>
            <a:ln w="22225">
              <a:solidFill>
                <a:srgbClr val="9933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56" name="Rectangle 38"/>
            <p:cNvSpPr>
              <a:spLocks noChangeArrowheads="1"/>
            </p:cNvSpPr>
            <p:nvPr/>
          </p:nvSpPr>
          <p:spPr bwMode="auto">
            <a:xfrm>
              <a:off x="5136" y="384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kumimoji="1" lang="en-US" altLang="zh-CN" sz="2400" b="1" i="1">
                  <a:solidFill>
                    <a:srgbClr val="0000FF"/>
                  </a:solidFill>
                  <a:latin typeface="Times New Roman" panose="02020603050405020304" pitchFamily="18" charset="0"/>
                  <a:sym typeface="Symbol" panose="05050102010706020507" pitchFamily="18" charset="2"/>
                </a:rPr>
                <a:t>u</a:t>
              </a:r>
              <a:r>
                <a:rPr kumimoji="1" lang="en-US" altLang="zh-CN" sz="2400" b="1" i="1" baseline="-25000">
                  <a:solidFill>
                    <a:srgbClr val="0000FF"/>
                  </a:solidFill>
                  <a:latin typeface="Times New Roman" panose="02020603050405020304" pitchFamily="18" charset="0"/>
                  <a:sym typeface="Symbol" panose="05050102010706020507" pitchFamily="18" charset="2"/>
                </a:rPr>
                <a:t>i</a:t>
              </a:r>
              <a:endParaRPr kumimoji="1" lang="en-US" altLang="zh-CN" sz="2400" b="1" i="1">
                <a:solidFill>
                  <a:srgbClr val="0000FF"/>
                </a:solidFill>
                <a:latin typeface="Times New Roman" panose="02020603050405020304" pitchFamily="18" charset="0"/>
                <a:sym typeface="Symbol" panose="05050102010706020507" pitchFamily="18" charset="2"/>
              </a:endParaRPr>
            </a:p>
          </p:txBody>
        </p:sp>
      </p:grpSp>
      <mc:AlternateContent xmlns:mc="http://schemas.openxmlformats.org/markup-compatibility/2006">
        <mc:Choice xmlns:a14="http://schemas.microsoft.com/office/drawing/2010/main" Requires="a14">
          <p:sp>
            <p:nvSpPr>
              <p:cNvPr id="3" name="文本框 2"/>
              <p:cNvSpPr txBox="1"/>
              <p:nvPr/>
            </p:nvSpPr>
            <p:spPr>
              <a:xfrm>
                <a:off x="449098" y="5534512"/>
                <a:ext cx="4961102" cy="790088"/>
              </a:xfrm>
              <a:prstGeom prst="rect">
                <a:avLst/>
              </a:prstGeom>
              <a:solidFill>
                <a:srgbClr val="FFFF00"/>
              </a:solid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𝐾</m:t>
                      </m:r>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nary>
                            <m:naryPr>
                              <m:chr m:val="∑"/>
                              <m:subHide m:val="on"/>
                              <m:supHide m:val="on"/>
                              <m:ctrlPr>
                                <a:rPr lang="en-US" altLang="zh-CN" sz="2400" b="0" i="1" smtClean="0">
                                  <a:latin typeface="Cambria Math" panose="02040503050406030204" pitchFamily="18" charset="0"/>
                                </a:rPr>
                              </m:ctrlPr>
                            </m:naryPr>
                            <m:sub/>
                            <m:sup/>
                            <m:e>
                              <m:r>
                                <a:rPr lang="en-US" altLang="zh-CN" sz="2400" b="0" i="1" smtClean="0">
                                  <a:latin typeface="Cambria Math" panose="02040503050406030204" pitchFamily="18" charset="0"/>
                                </a:rPr>
                                <m:t>[</m:t>
                              </m:r>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𝑖</m:t>
                                  </m:r>
                                </m:sub>
                                <m:sup>
                                  <m:r>
                                    <a:rPr lang="en-US" altLang="zh-CN" sz="2400" b="0" i="1" smtClean="0">
                                      <a:latin typeface="Cambria Math" panose="02040503050406030204" pitchFamily="18" charset="0"/>
                                    </a:rPr>
                                    <m:t>′</m:t>
                                  </m:r>
                                </m:sup>
                              </m:sSubSup>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𝑙</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𝐺</m:t>
                                  </m:r>
                                </m:e>
                                <m:sub>
                                  <m:r>
                                    <a:rPr lang="en-US" altLang="zh-CN" sz="2400" b="0" i="1" smtClean="0">
                                      <a:latin typeface="Cambria Math" panose="02040503050406030204" pitchFamily="18" charset="0"/>
                                    </a:rPr>
                                    <m:t>𝑖</m:t>
                                  </m:r>
                                </m:sub>
                              </m:sSub>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cos</m:t>
                                  </m:r>
                                </m:fName>
                                <m:e>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𝜃</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𝑢</m:t>
                                      </m:r>
                                    </m:e>
                                    <m:sub>
                                      <m:r>
                                        <a:rPr lang="en-US" altLang="zh-CN" sz="2400" b="0" i="1" smtClean="0">
                                          <a:latin typeface="Cambria Math" panose="02040503050406030204" pitchFamily="18" charset="0"/>
                                        </a:rPr>
                                        <m:t>𝑖</m:t>
                                      </m:r>
                                    </m:sub>
                                  </m:sSub>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𝑙</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tan</m:t>
                                      </m:r>
                                    </m:fName>
                                    <m:e>
                                      <m:sSubSup>
                                        <m:sSubSupPr>
                                          <m:ctrlPr>
                                            <a:rPr lang="en-US" altLang="zh-CN" sz="2400" b="0" i="1" smtClean="0">
                                              <a:latin typeface="Cambria Math" panose="02040503050406030204" pitchFamily="18" charset="0"/>
                                            </a:rPr>
                                          </m:ctrlPr>
                                        </m:sSubSupPr>
                                        <m:e>
                                          <m:r>
                                            <a:rPr lang="zh-CN" altLang="en-US" sz="2400" b="0" i="1" smtClean="0">
                                              <a:latin typeface="Cambria Math" panose="02040503050406030204" pitchFamily="18" charset="0"/>
                                            </a:rPr>
                                            <m:t>𝜑</m:t>
                                          </m:r>
                                        </m:e>
                                        <m:sub>
                                          <m:r>
                                            <a:rPr lang="en-US" altLang="zh-CN" sz="2400" b="0" i="1" smtClean="0">
                                              <a:latin typeface="Cambria Math" panose="02040503050406030204" pitchFamily="18" charset="0"/>
                                            </a:rPr>
                                            <m:t>𝑖</m:t>
                                          </m:r>
                                        </m:sub>
                                        <m:sup>
                                          <m:r>
                                            <a:rPr lang="en-US" altLang="zh-CN" sz="2400" b="0" i="1" smtClean="0">
                                              <a:latin typeface="Cambria Math" panose="02040503050406030204" pitchFamily="18" charset="0"/>
                                            </a:rPr>
                                            <m:t>′</m:t>
                                          </m:r>
                                        </m:sup>
                                      </m:sSubSup>
                                      <m:r>
                                        <a:rPr lang="en-US" altLang="zh-CN" sz="2400" b="0" i="1" smtClean="0">
                                          <a:latin typeface="Cambria Math" panose="02040503050406030204" pitchFamily="18" charset="0"/>
                                        </a:rPr>
                                        <m:t>]</m:t>
                                      </m:r>
                                    </m:e>
                                  </m:func>
                                </m:e>
                              </m:func>
                            </m:e>
                          </m:nary>
                        </m:num>
                        <m:den>
                          <m:nary>
                            <m:naryPr>
                              <m:chr m:val="∑"/>
                              <m:subHide m:val="on"/>
                              <m:supHide m:val="on"/>
                              <m:ctrlPr>
                                <a:rPr lang="en-US" altLang="zh-CN" sz="2400" b="0" i="1" smtClean="0">
                                  <a:latin typeface="Cambria Math" panose="02040503050406030204" pitchFamily="18" charset="0"/>
                                </a:rPr>
                              </m:ctrlPr>
                            </m:naryPr>
                            <m:sub/>
                            <m:sup/>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𝐺</m:t>
                                  </m:r>
                                </m:e>
                                <m:sub>
                                  <m:r>
                                    <a:rPr lang="en-US" altLang="zh-CN" sz="2400" b="0" i="1" smtClean="0">
                                      <a:latin typeface="Cambria Math" panose="02040503050406030204" pitchFamily="18" charset="0"/>
                                    </a:rPr>
                                    <m:t>𝑖</m:t>
                                  </m:r>
                                </m:sub>
                              </m:sSub>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sin</m:t>
                                  </m:r>
                                </m:fName>
                                <m:e>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𝜃</m:t>
                                      </m:r>
                                    </m:e>
                                    <m:sub>
                                      <m:r>
                                        <a:rPr lang="en-US" altLang="zh-CN" sz="2400" b="0" i="1" smtClean="0">
                                          <a:latin typeface="Cambria Math" panose="02040503050406030204" pitchFamily="18" charset="0"/>
                                        </a:rPr>
                                        <m:t>𝑖</m:t>
                                      </m:r>
                                    </m:sub>
                                  </m:sSub>
                                </m:e>
                              </m:func>
                            </m:e>
                          </m:nary>
                        </m:den>
                      </m:f>
                    </m:oMath>
                  </m:oMathPara>
                </a14:m>
                <a:endParaRPr lang="zh-CN" altLang="en-US" sz="2400" dirty="0">
                  <a:latin typeface="Times New Roman" panose="02020603050405020304" pitchFamily="18" charset="0"/>
                  <a:cs typeface="Times New Roman" panose="02020603050405020304" pitchFamily="18"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449098" y="5534512"/>
                <a:ext cx="4961102" cy="790088"/>
              </a:xfrm>
              <a:prstGeom prst="rect">
                <a:avLst/>
              </a:prstGeom>
              <a:blipFill rotWithShape="1">
                <a:blip r:embed="rId2"/>
                <a:stretch>
                  <a:fillRect l="-3" t="-62"/>
                </a:stretch>
              </a:blipFill>
            </p:spPr>
            <p:txBody>
              <a:bodyPr/>
              <a:lstStyle/>
              <a:p>
                <a:r>
                  <a:rPr lang="zh-CN" altLang="en-US">
                    <a:noFill/>
                  </a:rPr>
                  <a:t> </a:t>
                </a:r>
              </a:p>
            </p:txBody>
          </p:sp>
        </mc:Fallback>
      </mc:AlternateContent>
      <p:sp>
        <p:nvSpPr>
          <p:cNvPr id="5" name="矩形 4"/>
          <p:cNvSpPr/>
          <p:nvPr/>
        </p:nvSpPr>
        <p:spPr>
          <a:xfrm>
            <a:off x="1018433" y="5029200"/>
            <a:ext cx="2042547" cy="461665"/>
          </a:xfrm>
          <a:prstGeom prst="rect">
            <a:avLst/>
          </a:prstGeom>
        </p:spPr>
        <p:txBody>
          <a:bodyPr wrap="none">
            <a:spAutoFit/>
          </a:bodyPr>
          <a:lstStyle/>
          <a:p>
            <a:pPr eaLnBrk="1" hangingPunct="1"/>
            <a:r>
              <a:rPr lang="en-US" altLang="zh-CN" sz="2400" b="1" dirty="0" smtClean="0">
                <a:solidFill>
                  <a:srgbClr val="CC0000"/>
                </a:solidFill>
                <a:latin typeface="+mn-ea"/>
                <a:ea typeface="+mn-ea"/>
              </a:rPr>
              <a:t>(</a:t>
            </a:r>
            <a:r>
              <a:rPr lang="zh-CN" altLang="en-US" sz="2400" b="1" dirty="0" smtClean="0">
                <a:solidFill>
                  <a:srgbClr val="CC0000"/>
                </a:solidFill>
                <a:latin typeface="+mn-ea"/>
                <a:ea typeface="+mn-ea"/>
              </a:rPr>
              <a:t>瑞典</a:t>
            </a:r>
            <a:r>
              <a:rPr lang="zh-CN" altLang="en-US" sz="2400" b="1" dirty="0">
                <a:solidFill>
                  <a:srgbClr val="CC0000"/>
                </a:solidFill>
                <a:latin typeface="+mn-ea"/>
                <a:ea typeface="+mn-ea"/>
              </a:rPr>
              <a:t>条分</a:t>
            </a:r>
            <a:r>
              <a:rPr lang="zh-CN" altLang="en-US" sz="2400" b="1" dirty="0" smtClean="0">
                <a:solidFill>
                  <a:srgbClr val="CC0000"/>
                </a:solidFill>
                <a:latin typeface="+mn-ea"/>
                <a:ea typeface="+mn-ea"/>
              </a:rPr>
              <a:t>法</a:t>
            </a:r>
            <a:r>
              <a:rPr lang="en-US" altLang="zh-CN" sz="2400" b="1" dirty="0" smtClean="0">
                <a:solidFill>
                  <a:srgbClr val="CC0000"/>
                </a:solidFill>
                <a:latin typeface="+mn-ea"/>
                <a:ea typeface="+mn-ea"/>
              </a:rPr>
              <a:t>)</a:t>
            </a:r>
            <a:endParaRPr lang="zh-CN" altLang="en-US" sz="2400" b="1" i="1" dirty="0">
              <a:solidFill>
                <a:schemeClr val="hlink"/>
              </a:solidFill>
              <a:latin typeface="+mn-ea"/>
              <a:ea typeface="+mn-ea"/>
            </a:endParaRPr>
          </a:p>
        </p:txBody>
      </p:sp>
      <p:sp>
        <p:nvSpPr>
          <p:cNvPr id="27" name="Rectangle 6"/>
          <p:cNvSpPr>
            <a:spLocks noChangeArrowheads="1"/>
          </p:cNvSpPr>
          <p:nvPr/>
        </p:nvSpPr>
        <p:spPr bwMode="auto">
          <a:xfrm>
            <a:off x="0" y="-7396"/>
            <a:ext cx="4788024"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§6.4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土坡稳定性的影响因素</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77226"/>
                                        </p:tgtEl>
                                        <p:attrNameLst>
                                          <p:attrName>style.visibility</p:attrName>
                                        </p:attrNameLst>
                                      </p:cBhvr>
                                      <p:to>
                                        <p:strVal val="visible"/>
                                      </p:to>
                                    </p:set>
                                    <p:animEffect transition="in" filter="dissolve">
                                      <p:cBhvr>
                                        <p:cTn id="7" dur="500"/>
                                        <p:tgtEl>
                                          <p:spTgt spid="7772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77232"/>
                                        </p:tgtEl>
                                        <p:attrNameLst>
                                          <p:attrName>style.visibility</p:attrName>
                                        </p:attrNameLst>
                                      </p:cBhvr>
                                      <p:to>
                                        <p:strVal val="visible"/>
                                      </p:to>
                                    </p:set>
                                    <p:animEffect transition="in" filter="wipe(left)">
                                      <p:cBhvr>
                                        <p:cTn id="12" dur="500"/>
                                        <p:tgtEl>
                                          <p:spTgt spid="77723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down)">
                                      <p:cBhvr>
                                        <p:cTn id="22" dur="500"/>
                                        <p:tgtEl>
                                          <p:spTgt spid="4"/>
                                        </p:tgtEl>
                                      </p:cBhvr>
                                    </p:animEffect>
                                  </p:childTnLst>
                                </p:cTn>
                              </p:par>
                            </p:childTnLst>
                          </p:cTn>
                        </p:par>
                        <p:par>
                          <p:cTn id="23" fill="hold">
                            <p:stCondLst>
                              <p:cond delay="500"/>
                            </p:stCondLst>
                            <p:childTnLst>
                              <p:par>
                                <p:cTn id="24" presetID="1" presetClass="entr" presetSubtype="0" fill="hold" grpId="0" nodeType="afterEffect">
                                  <p:stCondLst>
                                    <p:cond delay="0"/>
                                  </p:stCondLst>
                                  <p:childTnLst>
                                    <p:set>
                                      <p:cBhvr>
                                        <p:cTn id="25" dur="1" fill="hold">
                                          <p:stCondLst>
                                            <p:cond delay="499"/>
                                          </p:stCondLst>
                                        </p:cTn>
                                        <p:tgtEl>
                                          <p:spTgt spid="7772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7232" grpId="0" autoUpdateAnimBg="0"/>
      <p:bldP spid="777236" grpId="0" bldLvl="0" animBg="1"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p:cNvSpPr txBox="1">
            <a:spLocks noChangeArrowheads="1"/>
          </p:cNvSpPr>
          <p:nvPr/>
        </p:nvSpPr>
        <p:spPr bwMode="auto">
          <a:xfrm>
            <a:off x="1403647" y="927557"/>
            <a:ext cx="5089917" cy="430887"/>
          </a:xfrm>
          <a:prstGeom prst="rect">
            <a:avLst/>
          </a:prstGeom>
          <a:solidFill>
            <a:srgbClr val="FFC000"/>
          </a:solidFill>
          <a:ln>
            <a:noFill/>
          </a:ln>
        </p:spPr>
        <p:txBody>
          <a:bodyPr wrap="square"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2800" b="1" dirty="0" smtClean="0">
                <a:solidFill>
                  <a:schemeClr val="tx1"/>
                </a:solidFill>
                <a:latin typeface="+mn-ea"/>
                <a:ea typeface="+mn-ea"/>
              </a:rPr>
              <a:t>稳定渗流</a:t>
            </a:r>
            <a:r>
              <a:rPr lang="zh-CN" altLang="en-US" sz="2800" b="1" dirty="0">
                <a:solidFill>
                  <a:schemeClr val="tx1"/>
                </a:solidFill>
                <a:latin typeface="+mn-ea"/>
                <a:ea typeface="+mn-ea"/>
              </a:rPr>
              <a:t>期土坝的边坡稳定分析</a:t>
            </a:r>
            <a:endParaRPr lang="zh-CN" altLang="en-US" sz="2800" b="1" dirty="0">
              <a:solidFill>
                <a:schemeClr val="tx1"/>
              </a:solidFill>
              <a:latin typeface="+mn-ea"/>
              <a:ea typeface="+mn-ea"/>
            </a:endParaRPr>
          </a:p>
        </p:txBody>
      </p:sp>
      <p:sp>
        <p:nvSpPr>
          <p:cNvPr id="778244" name="Rectangle 4"/>
          <p:cNvSpPr>
            <a:spLocks noChangeArrowheads="1"/>
          </p:cNvSpPr>
          <p:nvPr/>
        </p:nvSpPr>
        <p:spPr bwMode="auto">
          <a:xfrm>
            <a:off x="533400" y="2362200"/>
            <a:ext cx="5715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a:r>
              <a:rPr kumimoji="1" lang="zh-CN" altLang="en-US" sz="3600" b="1">
                <a:solidFill>
                  <a:srgbClr val="993300"/>
                </a:solidFill>
                <a:latin typeface="华文新魏" panose="02010800040101010101" pitchFamily="2" charset="-122"/>
                <a:ea typeface="华文新魏" panose="02010800040101010101" pitchFamily="2" charset="-122"/>
              </a:rPr>
              <a:t>方法</a:t>
            </a:r>
            <a:r>
              <a:rPr kumimoji="1" lang="en-US" altLang="zh-CN" sz="3600" b="1">
                <a:solidFill>
                  <a:srgbClr val="993300"/>
                </a:solidFill>
                <a:latin typeface="华文新魏" panose="02010800040101010101" pitchFamily="2" charset="-122"/>
                <a:ea typeface="华文新魏" panose="02010800040101010101" pitchFamily="2" charset="-122"/>
              </a:rPr>
              <a:t>1</a:t>
            </a:r>
            <a:r>
              <a:rPr kumimoji="1" lang="zh-CN" altLang="en-US" sz="3600" b="1">
                <a:solidFill>
                  <a:srgbClr val="993300"/>
                </a:solidFill>
                <a:latin typeface="华文新魏" panose="02010800040101010101" pitchFamily="2" charset="-122"/>
                <a:ea typeface="华文新魏" panose="02010800040101010101" pitchFamily="2" charset="-122"/>
              </a:rPr>
              <a:t>：</a:t>
            </a:r>
            <a:r>
              <a:rPr kumimoji="1" lang="zh-CN" altLang="en-US" sz="2400" b="1">
                <a:solidFill>
                  <a:srgbClr val="993300"/>
                </a:solidFill>
                <a:latin typeface="宋体" panose="02010600030101010101" pitchFamily="2" charset="-122"/>
              </a:rPr>
              <a:t>取土骨架作为隔离体</a:t>
            </a:r>
            <a:endParaRPr kumimoji="1" lang="zh-CN" altLang="en-US" sz="2400" b="1">
              <a:solidFill>
                <a:srgbClr val="993300"/>
              </a:solidFill>
              <a:latin typeface="宋体" panose="02010600030101010101" pitchFamily="2" charset="-122"/>
            </a:endParaRPr>
          </a:p>
        </p:txBody>
      </p:sp>
      <p:sp>
        <p:nvSpPr>
          <p:cNvPr id="778247" name="Rectangle 7"/>
          <p:cNvSpPr>
            <a:spLocks noChangeArrowheads="1"/>
          </p:cNvSpPr>
          <p:nvPr/>
        </p:nvSpPr>
        <p:spPr bwMode="auto">
          <a:xfrm>
            <a:off x="533400" y="1600200"/>
            <a:ext cx="1524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r>
              <a:rPr lang="zh-CN" altLang="en-US" sz="3200" b="1">
                <a:solidFill>
                  <a:srgbClr val="FF0000"/>
                </a:solidFill>
                <a:ea typeface="隶书" panose="02010509060101010101" pitchFamily="49" charset="-122"/>
              </a:rPr>
              <a:t>特点：</a:t>
            </a:r>
            <a:endParaRPr lang="zh-CN" altLang="en-US" sz="3200" b="1">
              <a:solidFill>
                <a:srgbClr val="FF0000"/>
              </a:solidFill>
              <a:ea typeface="隶书" panose="02010509060101010101" pitchFamily="49" charset="-122"/>
            </a:endParaRPr>
          </a:p>
        </p:txBody>
      </p:sp>
      <p:sp>
        <p:nvSpPr>
          <p:cNvPr id="778255" name="Rectangle 15"/>
          <p:cNvSpPr>
            <a:spLocks noChangeArrowheads="1"/>
          </p:cNvSpPr>
          <p:nvPr/>
        </p:nvSpPr>
        <p:spPr bwMode="auto">
          <a:xfrm>
            <a:off x="1752600" y="1676400"/>
            <a:ext cx="571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a:r>
              <a:rPr kumimoji="1" lang="zh-CN" altLang="en-US" sz="2400" b="1">
                <a:solidFill>
                  <a:srgbClr val="0000FF"/>
                </a:solidFill>
                <a:latin typeface="宋体" panose="02010600030101010101" pitchFamily="2" charset="-122"/>
              </a:rPr>
              <a:t>已形成稳定渗流，流网可唯一确定</a:t>
            </a:r>
            <a:endParaRPr kumimoji="1" lang="zh-CN" altLang="en-US" sz="2400" b="1">
              <a:solidFill>
                <a:srgbClr val="0000FF"/>
              </a:solidFill>
              <a:latin typeface="宋体" panose="02010600030101010101" pitchFamily="2" charset="-122"/>
            </a:endParaRPr>
          </a:p>
        </p:txBody>
      </p:sp>
      <p:grpSp>
        <p:nvGrpSpPr>
          <p:cNvPr id="2" name="Group 62"/>
          <p:cNvGrpSpPr/>
          <p:nvPr/>
        </p:nvGrpSpPr>
        <p:grpSpPr bwMode="auto">
          <a:xfrm>
            <a:off x="304800" y="3267075"/>
            <a:ext cx="8305800" cy="2066925"/>
            <a:chOff x="192" y="2058"/>
            <a:chExt cx="5232" cy="1302"/>
          </a:xfrm>
        </p:grpSpPr>
        <p:sp>
          <p:nvSpPr>
            <p:cNvPr id="58392" name="AutoShape 16"/>
            <p:cNvSpPr>
              <a:spLocks noChangeArrowheads="1"/>
            </p:cNvSpPr>
            <p:nvPr/>
          </p:nvSpPr>
          <p:spPr bwMode="auto">
            <a:xfrm flipV="1">
              <a:off x="816" y="2160"/>
              <a:ext cx="4080" cy="1200"/>
            </a:xfrm>
            <a:custGeom>
              <a:avLst/>
              <a:gdLst>
                <a:gd name="T0" fmla="*/ 21 w 21600"/>
                <a:gd name="T1" fmla="*/ 0 h 21600"/>
                <a:gd name="T2" fmla="*/ 14 w 21600"/>
                <a:gd name="T3" fmla="*/ 0 h 21600"/>
                <a:gd name="T4" fmla="*/ 6 w 21600"/>
                <a:gd name="T5" fmla="*/ 0 h 21600"/>
                <a:gd name="T6" fmla="*/ 14 w 21600"/>
                <a:gd name="T7" fmla="*/ 0 h 21600"/>
                <a:gd name="T8" fmla="*/ 0 60000 65536"/>
                <a:gd name="T9" fmla="*/ 0 60000 65536"/>
                <a:gd name="T10" fmla="*/ 0 60000 65536"/>
                <a:gd name="T11" fmla="*/ 0 60000 65536"/>
                <a:gd name="T12" fmla="*/ 6713 w 21600"/>
                <a:gd name="T13" fmla="*/ 6714 h 21600"/>
                <a:gd name="T14" fmla="*/ 14887 w 21600"/>
                <a:gd name="T15" fmla="*/ 14886 h 21600"/>
              </a:gdLst>
              <a:ahLst/>
              <a:cxnLst>
                <a:cxn ang="T8">
                  <a:pos x="T0" y="T1"/>
                </a:cxn>
                <a:cxn ang="T9">
                  <a:pos x="T2" y="T3"/>
                </a:cxn>
                <a:cxn ang="T10">
                  <a:pos x="T4" y="T5"/>
                </a:cxn>
                <a:cxn ang="T11">
                  <a:pos x="T6" y="T7"/>
                </a:cxn>
              </a:cxnLst>
              <a:rect l="T12" t="T13" r="T14" b="T15"/>
              <a:pathLst>
                <a:path w="21600" h="21600">
                  <a:moveTo>
                    <a:pt x="0" y="0"/>
                  </a:moveTo>
                  <a:lnTo>
                    <a:pt x="9830" y="21600"/>
                  </a:lnTo>
                  <a:lnTo>
                    <a:pt x="11770" y="21600"/>
                  </a:lnTo>
                  <a:lnTo>
                    <a:pt x="21600" y="0"/>
                  </a:lnTo>
                  <a:lnTo>
                    <a:pt x="0" y="0"/>
                  </a:lnTo>
                  <a:close/>
                </a:path>
              </a:pathLst>
            </a:cu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393" name="Line 17"/>
            <p:cNvSpPr>
              <a:spLocks noChangeShapeType="1"/>
            </p:cNvSpPr>
            <p:nvPr/>
          </p:nvSpPr>
          <p:spPr bwMode="auto">
            <a:xfrm>
              <a:off x="3120" y="2208"/>
              <a:ext cx="2304" cy="0"/>
            </a:xfrm>
            <a:prstGeom prst="line">
              <a:avLst/>
            </a:prstGeom>
            <a:noFill/>
            <a:ln w="22225">
              <a:solidFill>
                <a:srgbClr val="00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394" name="Line 18"/>
            <p:cNvSpPr>
              <a:spLocks noChangeShapeType="1"/>
            </p:cNvSpPr>
            <p:nvPr/>
          </p:nvSpPr>
          <p:spPr bwMode="auto">
            <a:xfrm>
              <a:off x="3696" y="2256"/>
              <a:ext cx="672" cy="0"/>
            </a:xfrm>
            <a:prstGeom prst="line">
              <a:avLst/>
            </a:prstGeom>
            <a:noFill/>
            <a:ln w="22225">
              <a:solidFill>
                <a:srgbClr val="00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395" name="Line 19"/>
            <p:cNvSpPr>
              <a:spLocks noChangeShapeType="1"/>
            </p:cNvSpPr>
            <p:nvPr/>
          </p:nvSpPr>
          <p:spPr bwMode="auto">
            <a:xfrm>
              <a:off x="3792" y="2316"/>
              <a:ext cx="432" cy="0"/>
            </a:xfrm>
            <a:prstGeom prst="line">
              <a:avLst/>
            </a:prstGeom>
            <a:noFill/>
            <a:ln w="22225">
              <a:solidFill>
                <a:srgbClr val="00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396" name="AutoShape 20"/>
            <p:cNvSpPr>
              <a:spLocks noChangeArrowheads="1"/>
            </p:cNvSpPr>
            <p:nvPr/>
          </p:nvSpPr>
          <p:spPr bwMode="auto">
            <a:xfrm flipV="1">
              <a:off x="3936" y="2058"/>
              <a:ext cx="144" cy="144"/>
            </a:xfrm>
            <a:prstGeom prst="triangle">
              <a:avLst>
                <a:gd name="adj" fmla="val 50000"/>
              </a:avLst>
            </a:prstGeom>
            <a:noFill/>
            <a:ln w="22225">
              <a:solidFill>
                <a:srgbClr val="0000FF"/>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58397" name="Freeform 21"/>
            <p:cNvSpPr/>
            <p:nvPr/>
          </p:nvSpPr>
          <p:spPr bwMode="auto">
            <a:xfrm>
              <a:off x="1488" y="2208"/>
              <a:ext cx="1632" cy="720"/>
            </a:xfrm>
            <a:custGeom>
              <a:avLst/>
              <a:gdLst>
                <a:gd name="T0" fmla="*/ 1632 w 1632"/>
                <a:gd name="T1" fmla="*/ 0 h 720"/>
                <a:gd name="T2" fmla="*/ 1536 w 1632"/>
                <a:gd name="T3" fmla="*/ 103 h 720"/>
                <a:gd name="T4" fmla="*/ 1303 w 1632"/>
                <a:gd name="T5" fmla="*/ 181 h 720"/>
                <a:gd name="T6" fmla="*/ 960 w 1632"/>
                <a:gd name="T7" fmla="*/ 309 h 720"/>
                <a:gd name="T8" fmla="*/ 624 w 1632"/>
                <a:gd name="T9" fmla="*/ 463 h 720"/>
                <a:gd name="T10" fmla="*/ 0 w 1632"/>
                <a:gd name="T11" fmla="*/ 720 h 720"/>
                <a:gd name="T12" fmla="*/ 0 60000 65536"/>
                <a:gd name="T13" fmla="*/ 0 60000 65536"/>
                <a:gd name="T14" fmla="*/ 0 60000 65536"/>
                <a:gd name="T15" fmla="*/ 0 60000 65536"/>
                <a:gd name="T16" fmla="*/ 0 60000 65536"/>
                <a:gd name="T17" fmla="*/ 0 60000 65536"/>
                <a:gd name="T18" fmla="*/ 0 w 1632"/>
                <a:gd name="T19" fmla="*/ 0 h 720"/>
                <a:gd name="T20" fmla="*/ 1632 w 1632"/>
                <a:gd name="T21" fmla="*/ 720 h 720"/>
              </a:gdLst>
              <a:ahLst/>
              <a:cxnLst>
                <a:cxn ang="T12">
                  <a:pos x="T0" y="T1"/>
                </a:cxn>
                <a:cxn ang="T13">
                  <a:pos x="T2" y="T3"/>
                </a:cxn>
                <a:cxn ang="T14">
                  <a:pos x="T4" y="T5"/>
                </a:cxn>
                <a:cxn ang="T15">
                  <a:pos x="T6" y="T7"/>
                </a:cxn>
                <a:cxn ang="T16">
                  <a:pos x="T8" y="T9"/>
                </a:cxn>
                <a:cxn ang="T17">
                  <a:pos x="T10" y="T11"/>
                </a:cxn>
              </a:cxnLst>
              <a:rect l="T18" t="T19" r="T20" b="T21"/>
              <a:pathLst>
                <a:path w="1632" h="720">
                  <a:moveTo>
                    <a:pt x="1632" y="0"/>
                  </a:moveTo>
                  <a:cubicBezTo>
                    <a:pt x="1612" y="30"/>
                    <a:pt x="1591" y="73"/>
                    <a:pt x="1536" y="103"/>
                  </a:cubicBezTo>
                  <a:cubicBezTo>
                    <a:pt x="1481" y="133"/>
                    <a:pt x="1399" y="147"/>
                    <a:pt x="1303" y="181"/>
                  </a:cubicBezTo>
                  <a:cubicBezTo>
                    <a:pt x="1207" y="215"/>
                    <a:pt x="1073" y="262"/>
                    <a:pt x="960" y="309"/>
                  </a:cubicBezTo>
                  <a:cubicBezTo>
                    <a:pt x="847" y="356"/>
                    <a:pt x="784" y="394"/>
                    <a:pt x="624" y="463"/>
                  </a:cubicBezTo>
                  <a:cubicBezTo>
                    <a:pt x="464" y="531"/>
                    <a:pt x="232" y="626"/>
                    <a:pt x="0" y="720"/>
                  </a:cubicBezTo>
                </a:path>
              </a:pathLst>
            </a:custGeom>
            <a:noFill/>
            <a:ln w="28575">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398" name="AutoShape 30"/>
            <p:cNvSpPr>
              <a:spLocks noChangeArrowheads="1"/>
            </p:cNvSpPr>
            <p:nvPr/>
          </p:nvSpPr>
          <p:spPr bwMode="auto">
            <a:xfrm flipV="1">
              <a:off x="472" y="2832"/>
              <a:ext cx="160" cy="192"/>
            </a:xfrm>
            <a:prstGeom prst="triangle">
              <a:avLst>
                <a:gd name="adj" fmla="val 50000"/>
              </a:avLst>
            </a:prstGeom>
            <a:noFill/>
            <a:ln w="22225">
              <a:solidFill>
                <a:srgbClr val="0000FF"/>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58399" name="Line 36"/>
            <p:cNvSpPr>
              <a:spLocks noChangeShapeType="1"/>
            </p:cNvSpPr>
            <p:nvPr/>
          </p:nvSpPr>
          <p:spPr bwMode="auto">
            <a:xfrm>
              <a:off x="432" y="3072"/>
              <a:ext cx="240" cy="0"/>
            </a:xfrm>
            <a:prstGeom prst="line">
              <a:avLst/>
            </a:prstGeom>
            <a:noFill/>
            <a:ln w="22225">
              <a:solidFill>
                <a:srgbClr val="00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400" name="Line 37"/>
            <p:cNvSpPr>
              <a:spLocks noChangeShapeType="1"/>
            </p:cNvSpPr>
            <p:nvPr/>
          </p:nvSpPr>
          <p:spPr bwMode="auto">
            <a:xfrm>
              <a:off x="480" y="3120"/>
              <a:ext cx="120" cy="0"/>
            </a:xfrm>
            <a:prstGeom prst="line">
              <a:avLst/>
            </a:prstGeom>
            <a:noFill/>
            <a:ln w="22225">
              <a:solidFill>
                <a:srgbClr val="00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401" name="Line 38"/>
            <p:cNvSpPr>
              <a:spLocks noChangeShapeType="1"/>
            </p:cNvSpPr>
            <p:nvPr/>
          </p:nvSpPr>
          <p:spPr bwMode="auto">
            <a:xfrm>
              <a:off x="192" y="3024"/>
              <a:ext cx="1152" cy="0"/>
            </a:xfrm>
            <a:prstGeom prst="line">
              <a:avLst/>
            </a:prstGeom>
            <a:noFill/>
            <a:ln w="22225">
              <a:solidFill>
                <a:srgbClr val="00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402" name="Arc 40"/>
            <p:cNvSpPr/>
            <p:nvPr/>
          </p:nvSpPr>
          <p:spPr bwMode="auto">
            <a:xfrm rot="10800000" flipH="1">
              <a:off x="1056" y="2160"/>
              <a:ext cx="1872" cy="1056"/>
            </a:xfrm>
            <a:custGeom>
              <a:avLst/>
              <a:gdLst>
                <a:gd name="T0" fmla="*/ 0 w 21600"/>
                <a:gd name="T1" fmla="*/ 0 h 21600"/>
                <a:gd name="T2" fmla="*/ 1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2225">
              <a:solidFill>
                <a:srgbClr val="99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3" name="Group 46"/>
          <p:cNvGrpSpPr/>
          <p:nvPr/>
        </p:nvGrpSpPr>
        <p:grpSpPr bwMode="auto">
          <a:xfrm>
            <a:off x="3124200" y="3962400"/>
            <a:ext cx="304800" cy="914400"/>
            <a:chOff x="2112" y="2496"/>
            <a:chExt cx="192" cy="576"/>
          </a:xfrm>
        </p:grpSpPr>
        <p:sp>
          <p:nvSpPr>
            <p:cNvPr id="58388" name="Line 42"/>
            <p:cNvSpPr>
              <a:spLocks noChangeShapeType="1"/>
            </p:cNvSpPr>
            <p:nvPr/>
          </p:nvSpPr>
          <p:spPr bwMode="auto">
            <a:xfrm>
              <a:off x="2112" y="2640"/>
              <a:ext cx="0" cy="432"/>
            </a:xfrm>
            <a:prstGeom prst="line">
              <a:avLst/>
            </a:prstGeom>
            <a:noFill/>
            <a:ln w="22225">
              <a:solidFill>
                <a:srgbClr val="6699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389" name="Line 43"/>
            <p:cNvSpPr>
              <a:spLocks noChangeShapeType="1"/>
            </p:cNvSpPr>
            <p:nvPr/>
          </p:nvSpPr>
          <p:spPr bwMode="auto">
            <a:xfrm>
              <a:off x="2304" y="2496"/>
              <a:ext cx="0" cy="528"/>
            </a:xfrm>
            <a:prstGeom prst="line">
              <a:avLst/>
            </a:prstGeom>
            <a:noFill/>
            <a:ln w="22225">
              <a:solidFill>
                <a:srgbClr val="6699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390" name="Line 44"/>
            <p:cNvSpPr>
              <a:spLocks noChangeShapeType="1"/>
            </p:cNvSpPr>
            <p:nvPr/>
          </p:nvSpPr>
          <p:spPr bwMode="auto">
            <a:xfrm flipH="1">
              <a:off x="2112" y="2496"/>
              <a:ext cx="192" cy="144"/>
            </a:xfrm>
            <a:prstGeom prst="line">
              <a:avLst/>
            </a:prstGeom>
            <a:noFill/>
            <a:ln w="22225">
              <a:solidFill>
                <a:srgbClr val="6699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391" name="Line 45"/>
            <p:cNvSpPr>
              <a:spLocks noChangeShapeType="1"/>
            </p:cNvSpPr>
            <p:nvPr/>
          </p:nvSpPr>
          <p:spPr bwMode="auto">
            <a:xfrm flipH="1">
              <a:off x="2112" y="3024"/>
              <a:ext cx="192" cy="48"/>
            </a:xfrm>
            <a:prstGeom prst="line">
              <a:avLst/>
            </a:prstGeom>
            <a:noFill/>
            <a:ln w="22225">
              <a:solidFill>
                <a:srgbClr val="6699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61"/>
          <p:cNvGrpSpPr/>
          <p:nvPr/>
        </p:nvGrpSpPr>
        <p:grpSpPr bwMode="auto">
          <a:xfrm>
            <a:off x="2514600" y="4495800"/>
            <a:ext cx="762000" cy="457200"/>
            <a:chOff x="1584" y="2832"/>
            <a:chExt cx="480" cy="288"/>
          </a:xfrm>
        </p:grpSpPr>
        <p:sp>
          <p:nvSpPr>
            <p:cNvPr id="58386" name="Line 47"/>
            <p:cNvSpPr>
              <a:spLocks noChangeShapeType="1"/>
            </p:cNvSpPr>
            <p:nvPr/>
          </p:nvSpPr>
          <p:spPr bwMode="auto">
            <a:xfrm flipH="1">
              <a:off x="1728" y="2880"/>
              <a:ext cx="336" cy="153"/>
            </a:xfrm>
            <a:prstGeom prst="line">
              <a:avLst/>
            </a:prstGeom>
            <a:noFill/>
            <a:ln w="34925">
              <a:solidFill>
                <a:srgbClr val="80008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387" name="Text Box 48"/>
            <p:cNvSpPr txBox="1">
              <a:spLocks noChangeArrowheads="1"/>
            </p:cNvSpPr>
            <p:nvPr/>
          </p:nvSpPr>
          <p:spPr bwMode="auto">
            <a:xfrm>
              <a:off x="1584" y="2832"/>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50000"/>
                </a:spcBef>
              </a:pPr>
              <a:r>
                <a:rPr kumimoji="1" lang="en-US" altLang="zh-CN" sz="2400" b="1">
                  <a:solidFill>
                    <a:srgbClr val="800080"/>
                  </a:solidFill>
                  <a:latin typeface="Times New Roman" panose="02020603050405020304" pitchFamily="18" charset="0"/>
                </a:rPr>
                <a:t>J</a:t>
              </a:r>
              <a:endParaRPr kumimoji="1" lang="en-US" altLang="zh-CN" sz="2400" b="1">
                <a:solidFill>
                  <a:srgbClr val="800080"/>
                </a:solidFill>
                <a:latin typeface="Times New Roman" panose="02020603050405020304" pitchFamily="18" charset="0"/>
              </a:endParaRPr>
            </a:p>
          </p:txBody>
        </p:sp>
      </p:grpSp>
      <p:grpSp>
        <p:nvGrpSpPr>
          <p:cNvPr id="5" name="Group 59"/>
          <p:cNvGrpSpPr/>
          <p:nvPr/>
        </p:nvGrpSpPr>
        <p:grpSpPr bwMode="auto">
          <a:xfrm>
            <a:off x="3124200" y="4267200"/>
            <a:ext cx="304800" cy="609600"/>
            <a:chOff x="2112" y="2688"/>
            <a:chExt cx="192" cy="384"/>
          </a:xfrm>
        </p:grpSpPr>
        <p:sp>
          <p:nvSpPr>
            <p:cNvPr id="58380" name="Line 49"/>
            <p:cNvSpPr>
              <a:spLocks noChangeShapeType="1"/>
            </p:cNvSpPr>
            <p:nvPr/>
          </p:nvSpPr>
          <p:spPr bwMode="auto">
            <a:xfrm flipH="1">
              <a:off x="2112" y="2688"/>
              <a:ext cx="48" cy="96"/>
            </a:xfrm>
            <a:prstGeom prst="line">
              <a:avLst/>
            </a:prstGeom>
            <a:noFill/>
            <a:ln w="9525">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381" name="Line 50"/>
            <p:cNvSpPr>
              <a:spLocks noChangeShapeType="1"/>
            </p:cNvSpPr>
            <p:nvPr/>
          </p:nvSpPr>
          <p:spPr bwMode="auto">
            <a:xfrm flipH="1">
              <a:off x="2112" y="2688"/>
              <a:ext cx="96" cy="192"/>
            </a:xfrm>
            <a:prstGeom prst="line">
              <a:avLst/>
            </a:prstGeom>
            <a:noFill/>
            <a:ln w="9525">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382" name="Line 51"/>
            <p:cNvSpPr>
              <a:spLocks noChangeShapeType="1"/>
            </p:cNvSpPr>
            <p:nvPr/>
          </p:nvSpPr>
          <p:spPr bwMode="auto">
            <a:xfrm flipH="1">
              <a:off x="2112" y="2688"/>
              <a:ext cx="144" cy="288"/>
            </a:xfrm>
            <a:prstGeom prst="line">
              <a:avLst/>
            </a:prstGeom>
            <a:noFill/>
            <a:ln w="9525">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383" name="Line 54"/>
            <p:cNvSpPr>
              <a:spLocks noChangeShapeType="1"/>
            </p:cNvSpPr>
            <p:nvPr/>
          </p:nvSpPr>
          <p:spPr bwMode="auto">
            <a:xfrm flipH="1">
              <a:off x="2112" y="2688"/>
              <a:ext cx="192" cy="384"/>
            </a:xfrm>
            <a:prstGeom prst="line">
              <a:avLst/>
            </a:prstGeom>
            <a:noFill/>
            <a:ln w="9525">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384" name="Line 56"/>
            <p:cNvSpPr>
              <a:spLocks noChangeShapeType="1"/>
            </p:cNvSpPr>
            <p:nvPr/>
          </p:nvSpPr>
          <p:spPr bwMode="auto">
            <a:xfrm flipH="1">
              <a:off x="2160" y="2784"/>
              <a:ext cx="144" cy="288"/>
            </a:xfrm>
            <a:prstGeom prst="line">
              <a:avLst/>
            </a:prstGeom>
            <a:noFill/>
            <a:ln w="9525">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385" name="Line 57"/>
            <p:cNvSpPr>
              <a:spLocks noChangeShapeType="1"/>
            </p:cNvSpPr>
            <p:nvPr/>
          </p:nvSpPr>
          <p:spPr bwMode="auto">
            <a:xfrm flipH="1">
              <a:off x="2208" y="2880"/>
              <a:ext cx="96" cy="192"/>
            </a:xfrm>
            <a:prstGeom prst="line">
              <a:avLst/>
            </a:prstGeom>
            <a:noFill/>
            <a:ln w="9525">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78300" name="AutoShape 60"/>
          <p:cNvSpPr>
            <a:spLocks noChangeArrowheads="1"/>
          </p:cNvSpPr>
          <p:nvPr/>
        </p:nvSpPr>
        <p:spPr bwMode="auto">
          <a:xfrm>
            <a:off x="2895600" y="5715000"/>
            <a:ext cx="2362200" cy="511175"/>
          </a:xfrm>
          <a:prstGeom prst="roundRect">
            <a:avLst>
              <a:gd name="adj" fmla="val 16667"/>
            </a:avLst>
          </a:prstGeom>
          <a:solidFill>
            <a:schemeClr val="accent1"/>
          </a:solidFill>
          <a:ln w="12700">
            <a:solidFill>
              <a:srgbClr val="00CC99"/>
            </a:solidFill>
            <a:round/>
            <a:tailEnd type="none" w="sm" len="med"/>
          </a:ln>
        </p:spPr>
        <p:txBody>
          <a:bodyPr lIns="90000" tIns="46800" rIns="90000" bIns="4680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30000"/>
              </a:spcBef>
              <a:buFont typeface="Wingdings" panose="05000000000000000000" pitchFamily="2" charset="2"/>
              <a:buNone/>
            </a:pPr>
            <a:r>
              <a:rPr kumimoji="1" lang="zh-CN" altLang="en-US" sz="2400" b="1">
                <a:solidFill>
                  <a:srgbClr val="993300"/>
                </a:solidFill>
                <a:latin typeface="Times New Roman" panose="02020603050405020304" pitchFamily="18" charset="0"/>
                <a:sym typeface="Symbol" panose="05050102010706020507" pitchFamily="18" charset="2"/>
              </a:rPr>
              <a:t>计算比较繁琐</a:t>
            </a:r>
            <a:endParaRPr kumimoji="1" lang="zh-CN" altLang="en-US" sz="2400" b="1">
              <a:solidFill>
                <a:srgbClr val="993300"/>
              </a:solidFill>
              <a:latin typeface="Times New Roman" panose="02020603050405020304" pitchFamily="18" charset="0"/>
              <a:sym typeface="Symbol" panose="05050102010706020507" pitchFamily="18" charset="2"/>
            </a:endParaRPr>
          </a:p>
        </p:txBody>
      </p:sp>
      <p:sp>
        <p:nvSpPr>
          <p:cNvPr id="34" name="Rectangle 6"/>
          <p:cNvSpPr>
            <a:spLocks noChangeArrowheads="1"/>
          </p:cNvSpPr>
          <p:nvPr/>
        </p:nvSpPr>
        <p:spPr bwMode="auto">
          <a:xfrm>
            <a:off x="0" y="-7396"/>
            <a:ext cx="4788024"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§6.4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土坡稳定性的影响因素</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78247"/>
                                        </p:tgtEl>
                                        <p:attrNameLst>
                                          <p:attrName>style.visibility</p:attrName>
                                        </p:attrNameLst>
                                      </p:cBhvr>
                                      <p:to>
                                        <p:strVal val="visible"/>
                                      </p:to>
                                    </p:set>
                                    <p:animEffect transition="in" filter="wipe(left)">
                                      <p:cBhvr>
                                        <p:cTn id="7" dur="500"/>
                                        <p:tgtEl>
                                          <p:spTgt spid="7782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78255"/>
                                        </p:tgtEl>
                                        <p:attrNameLst>
                                          <p:attrName>style.visibility</p:attrName>
                                        </p:attrNameLst>
                                      </p:cBhvr>
                                      <p:to>
                                        <p:strVal val="visible"/>
                                      </p:to>
                                    </p:set>
                                    <p:animEffect transition="in" filter="wipe(left)">
                                      <p:cBhvr>
                                        <p:cTn id="12" dur="500"/>
                                        <p:tgtEl>
                                          <p:spTgt spid="7782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78244"/>
                                        </p:tgtEl>
                                        <p:attrNameLst>
                                          <p:attrName>style.visibility</p:attrName>
                                        </p:attrNameLst>
                                      </p:cBhvr>
                                      <p:to>
                                        <p:strVal val="visible"/>
                                      </p:to>
                                    </p:set>
                                    <p:animEffect transition="in" filter="wipe(up)">
                                      <p:cBhvr>
                                        <p:cTn id="17" dur="500"/>
                                        <p:tgtEl>
                                          <p:spTgt spid="77824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dissolv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up)">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right)">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up)">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7" presetClass="entr" presetSubtype="4" fill="hold" grpId="0" nodeType="clickEffect">
                                  <p:stCondLst>
                                    <p:cond delay="0"/>
                                  </p:stCondLst>
                                  <p:childTnLst>
                                    <p:set>
                                      <p:cBhvr>
                                        <p:cTn id="41" dur="1" fill="hold">
                                          <p:stCondLst>
                                            <p:cond delay="0"/>
                                          </p:stCondLst>
                                        </p:cTn>
                                        <p:tgtEl>
                                          <p:spTgt spid="778300"/>
                                        </p:tgtEl>
                                        <p:attrNameLst>
                                          <p:attrName>style.visibility</p:attrName>
                                        </p:attrNameLst>
                                      </p:cBhvr>
                                      <p:to>
                                        <p:strVal val="visible"/>
                                      </p:to>
                                    </p:set>
                                    <p:anim calcmode="lin" valueType="num">
                                      <p:cBhvr additive="base">
                                        <p:cTn id="42" dur="5000" fill="hold"/>
                                        <p:tgtEl>
                                          <p:spTgt spid="778300"/>
                                        </p:tgtEl>
                                        <p:attrNameLst>
                                          <p:attrName>ppt_x</p:attrName>
                                        </p:attrNameLst>
                                      </p:cBhvr>
                                      <p:tavLst>
                                        <p:tav tm="0">
                                          <p:val>
                                            <p:strVal val="#ppt_x"/>
                                          </p:val>
                                        </p:tav>
                                        <p:tav tm="100000">
                                          <p:val>
                                            <p:strVal val="#ppt_x"/>
                                          </p:val>
                                        </p:tav>
                                      </p:tavLst>
                                    </p:anim>
                                    <p:anim calcmode="lin" valueType="num">
                                      <p:cBhvr additive="base">
                                        <p:cTn id="43" dur="5000" fill="hold"/>
                                        <p:tgtEl>
                                          <p:spTgt spid="7783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44" grpId="0" autoUpdateAnimBg="0"/>
      <p:bldP spid="778247" grpId="0" autoUpdateAnimBg="0"/>
      <p:bldP spid="778255" grpId="0" autoUpdateAnimBg="0"/>
      <p:bldP spid="778300" grpId="0" bldLvl="0" animBg="1"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4"/>
          <p:cNvSpPr>
            <a:spLocks noChangeArrowheads="1"/>
          </p:cNvSpPr>
          <p:nvPr/>
        </p:nvSpPr>
        <p:spPr bwMode="auto">
          <a:xfrm>
            <a:off x="228600" y="762000"/>
            <a:ext cx="5257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a:r>
              <a:rPr kumimoji="1" lang="zh-CN" altLang="en-US" sz="3600" b="1">
                <a:solidFill>
                  <a:srgbClr val="993300"/>
                </a:solidFill>
                <a:latin typeface="华文新魏" panose="02010800040101010101" pitchFamily="2" charset="-122"/>
                <a:ea typeface="华文新魏" panose="02010800040101010101" pitchFamily="2" charset="-122"/>
              </a:rPr>
              <a:t>方法</a:t>
            </a:r>
            <a:r>
              <a:rPr kumimoji="1" lang="en-US" altLang="zh-CN" sz="3600" b="1">
                <a:solidFill>
                  <a:srgbClr val="993300"/>
                </a:solidFill>
                <a:latin typeface="华文新魏" panose="02010800040101010101" pitchFamily="2" charset="-122"/>
                <a:ea typeface="华文新魏" panose="02010800040101010101" pitchFamily="2" charset="-122"/>
              </a:rPr>
              <a:t>2</a:t>
            </a:r>
            <a:r>
              <a:rPr kumimoji="1" lang="zh-CN" altLang="en-US" sz="3600" b="1">
                <a:solidFill>
                  <a:srgbClr val="993300"/>
                </a:solidFill>
                <a:latin typeface="华文新魏" panose="02010800040101010101" pitchFamily="2" charset="-122"/>
                <a:ea typeface="华文新魏" panose="02010800040101010101" pitchFamily="2" charset="-122"/>
              </a:rPr>
              <a:t>：</a:t>
            </a:r>
            <a:r>
              <a:rPr kumimoji="1" lang="zh-CN" altLang="en-US" sz="2400" b="1">
                <a:solidFill>
                  <a:srgbClr val="993300"/>
                </a:solidFill>
                <a:latin typeface="宋体" panose="02010600030101010101" pitchFamily="2" charset="-122"/>
              </a:rPr>
              <a:t>将土水整体作为隔离体</a:t>
            </a:r>
            <a:endParaRPr kumimoji="1" lang="zh-CN" altLang="en-US" sz="2400" b="1">
              <a:solidFill>
                <a:srgbClr val="993300"/>
              </a:solidFill>
              <a:latin typeface="宋体" panose="02010600030101010101" pitchFamily="2" charset="-122"/>
            </a:endParaRPr>
          </a:p>
        </p:txBody>
      </p:sp>
      <p:grpSp>
        <p:nvGrpSpPr>
          <p:cNvPr id="2" name="Group 43"/>
          <p:cNvGrpSpPr/>
          <p:nvPr/>
        </p:nvGrpSpPr>
        <p:grpSpPr bwMode="auto">
          <a:xfrm>
            <a:off x="3657600" y="4876800"/>
            <a:ext cx="304800" cy="1066800"/>
            <a:chOff x="2352" y="2256"/>
            <a:chExt cx="192" cy="672"/>
          </a:xfrm>
        </p:grpSpPr>
        <p:sp>
          <p:nvSpPr>
            <p:cNvPr id="59436" name="Line 36"/>
            <p:cNvSpPr>
              <a:spLocks noChangeShapeType="1"/>
            </p:cNvSpPr>
            <p:nvPr/>
          </p:nvSpPr>
          <p:spPr bwMode="auto">
            <a:xfrm>
              <a:off x="2352" y="2352"/>
              <a:ext cx="0" cy="576"/>
            </a:xfrm>
            <a:prstGeom prst="line">
              <a:avLst/>
            </a:prstGeom>
            <a:noFill/>
            <a:ln w="22225">
              <a:solidFill>
                <a:srgbClr val="6699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9437" name="Line 37"/>
            <p:cNvSpPr>
              <a:spLocks noChangeShapeType="1"/>
            </p:cNvSpPr>
            <p:nvPr/>
          </p:nvSpPr>
          <p:spPr bwMode="auto">
            <a:xfrm>
              <a:off x="2544" y="2256"/>
              <a:ext cx="0" cy="576"/>
            </a:xfrm>
            <a:prstGeom prst="line">
              <a:avLst/>
            </a:prstGeom>
            <a:noFill/>
            <a:ln w="22225">
              <a:solidFill>
                <a:srgbClr val="6699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9438" name="Line 38"/>
            <p:cNvSpPr>
              <a:spLocks noChangeShapeType="1"/>
            </p:cNvSpPr>
            <p:nvPr/>
          </p:nvSpPr>
          <p:spPr bwMode="auto">
            <a:xfrm flipH="1">
              <a:off x="2352" y="2256"/>
              <a:ext cx="192" cy="96"/>
            </a:xfrm>
            <a:prstGeom prst="line">
              <a:avLst/>
            </a:prstGeom>
            <a:noFill/>
            <a:ln w="22225">
              <a:solidFill>
                <a:srgbClr val="6699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9439" name="Line 39"/>
            <p:cNvSpPr>
              <a:spLocks noChangeShapeType="1"/>
            </p:cNvSpPr>
            <p:nvPr/>
          </p:nvSpPr>
          <p:spPr bwMode="auto">
            <a:xfrm flipH="1">
              <a:off x="2352" y="2784"/>
              <a:ext cx="192" cy="144"/>
            </a:xfrm>
            <a:prstGeom prst="line">
              <a:avLst/>
            </a:prstGeom>
            <a:noFill/>
            <a:ln w="22225">
              <a:solidFill>
                <a:srgbClr val="6699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76"/>
          <p:cNvGrpSpPr/>
          <p:nvPr/>
        </p:nvGrpSpPr>
        <p:grpSpPr bwMode="auto">
          <a:xfrm>
            <a:off x="228600" y="4562475"/>
            <a:ext cx="8305800" cy="2066925"/>
            <a:chOff x="144" y="2874"/>
            <a:chExt cx="5232" cy="1302"/>
          </a:xfrm>
        </p:grpSpPr>
        <p:sp>
          <p:nvSpPr>
            <p:cNvPr id="59424" name="AutoShape 7"/>
            <p:cNvSpPr>
              <a:spLocks noChangeArrowheads="1"/>
            </p:cNvSpPr>
            <p:nvPr/>
          </p:nvSpPr>
          <p:spPr bwMode="auto">
            <a:xfrm flipV="1">
              <a:off x="768" y="2976"/>
              <a:ext cx="4080" cy="1200"/>
            </a:xfrm>
            <a:custGeom>
              <a:avLst/>
              <a:gdLst>
                <a:gd name="T0" fmla="*/ 21 w 21600"/>
                <a:gd name="T1" fmla="*/ 0 h 21600"/>
                <a:gd name="T2" fmla="*/ 14 w 21600"/>
                <a:gd name="T3" fmla="*/ 0 h 21600"/>
                <a:gd name="T4" fmla="*/ 6 w 21600"/>
                <a:gd name="T5" fmla="*/ 0 h 21600"/>
                <a:gd name="T6" fmla="*/ 14 w 21600"/>
                <a:gd name="T7" fmla="*/ 0 h 21600"/>
                <a:gd name="T8" fmla="*/ 0 60000 65536"/>
                <a:gd name="T9" fmla="*/ 0 60000 65536"/>
                <a:gd name="T10" fmla="*/ 0 60000 65536"/>
                <a:gd name="T11" fmla="*/ 0 60000 65536"/>
                <a:gd name="T12" fmla="*/ 6713 w 21600"/>
                <a:gd name="T13" fmla="*/ 6714 h 21600"/>
                <a:gd name="T14" fmla="*/ 14887 w 21600"/>
                <a:gd name="T15" fmla="*/ 14886 h 21600"/>
              </a:gdLst>
              <a:ahLst/>
              <a:cxnLst>
                <a:cxn ang="T8">
                  <a:pos x="T0" y="T1"/>
                </a:cxn>
                <a:cxn ang="T9">
                  <a:pos x="T2" y="T3"/>
                </a:cxn>
                <a:cxn ang="T10">
                  <a:pos x="T4" y="T5"/>
                </a:cxn>
                <a:cxn ang="T11">
                  <a:pos x="T6" y="T7"/>
                </a:cxn>
              </a:cxnLst>
              <a:rect l="T12" t="T13" r="T14" b="T15"/>
              <a:pathLst>
                <a:path w="21600" h="21600">
                  <a:moveTo>
                    <a:pt x="0" y="0"/>
                  </a:moveTo>
                  <a:lnTo>
                    <a:pt x="9830" y="21600"/>
                  </a:lnTo>
                  <a:lnTo>
                    <a:pt x="11770" y="21600"/>
                  </a:lnTo>
                  <a:lnTo>
                    <a:pt x="21600" y="0"/>
                  </a:lnTo>
                  <a:lnTo>
                    <a:pt x="0" y="0"/>
                  </a:lnTo>
                  <a:close/>
                </a:path>
              </a:pathLst>
            </a:cu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9425" name="Line 8"/>
            <p:cNvSpPr>
              <a:spLocks noChangeShapeType="1"/>
            </p:cNvSpPr>
            <p:nvPr/>
          </p:nvSpPr>
          <p:spPr bwMode="auto">
            <a:xfrm>
              <a:off x="3072" y="3024"/>
              <a:ext cx="2304" cy="0"/>
            </a:xfrm>
            <a:prstGeom prst="line">
              <a:avLst/>
            </a:prstGeom>
            <a:noFill/>
            <a:ln w="22225">
              <a:solidFill>
                <a:srgbClr val="00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26" name="Line 9"/>
            <p:cNvSpPr>
              <a:spLocks noChangeShapeType="1"/>
            </p:cNvSpPr>
            <p:nvPr/>
          </p:nvSpPr>
          <p:spPr bwMode="auto">
            <a:xfrm>
              <a:off x="3648" y="3072"/>
              <a:ext cx="672" cy="0"/>
            </a:xfrm>
            <a:prstGeom prst="line">
              <a:avLst/>
            </a:prstGeom>
            <a:noFill/>
            <a:ln w="22225">
              <a:solidFill>
                <a:srgbClr val="00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27" name="Line 10"/>
            <p:cNvSpPr>
              <a:spLocks noChangeShapeType="1"/>
            </p:cNvSpPr>
            <p:nvPr/>
          </p:nvSpPr>
          <p:spPr bwMode="auto">
            <a:xfrm>
              <a:off x="3744" y="3132"/>
              <a:ext cx="432" cy="0"/>
            </a:xfrm>
            <a:prstGeom prst="line">
              <a:avLst/>
            </a:prstGeom>
            <a:noFill/>
            <a:ln w="22225">
              <a:solidFill>
                <a:srgbClr val="00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28" name="AutoShape 11"/>
            <p:cNvSpPr>
              <a:spLocks noChangeArrowheads="1"/>
            </p:cNvSpPr>
            <p:nvPr/>
          </p:nvSpPr>
          <p:spPr bwMode="auto">
            <a:xfrm flipV="1">
              <a:off x="3888" y="2874"/>
              <a:ext cx="144" cy="144"/>
            </a:xfrm>
            <a:prstGeom prst="triangle">
              <a:avLst>
                <a:gd name="adj" fmla="val 50000"/>
              </a:avLst>
            </a:prstGeom>
            <a:noFill/>
            <a:ln w="22225">
              <a:solidFill>
                <a:srgbClr val="0000FF"/>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59429" name="Freeform 12"/>
            <p:cNvSpPr/>
            <p:nvPr/>
          </p:nvSpPr>
          <p:spPr bwMode="auto">
            <a:xfrm>
              <a:off x="1440" y="3024"/>
              <a:ext cx="1632" cy="720"/>
            </a:xfrm>
            <a:custGeom>
              <a:avLst/>
              <a:gdLst>
                <a:gd name="T0" fmla="*/ 1632 w 1632"/>
                <a:gd name="T1" fmla="*/ 0 h 720"/>
                <a:gd name="T2" fmla="*/ 1536 w 1632"/>
                <a:gd name="T3" fmla="*/ 103 h 720"/>
                <a:gd name="T4" fmla="*/ 1303 w 1632"/>
                <a:gd name="T5" fmla="*/ 181 h 720"/>
                <a:gd name="T6" fmla="*/ 960 w 1632"/>
                <a:gd name="T7" fmla="*/ 309 h 720"/>
                <a:gd name="T8" fmla="*/ 624 w 1632"/>
                <a:gd name="T9" fmla="*/ 463 h 720"/>
                <a:gd name="T10" fmla="*/ 0 w 1632"/>
                <a:gd name="T11" fmla="*/ 720 h 720"/>
                <a:gd name="T12" fmla="*/ 0 60000 65536"/>
                <a:gd name="T13" fmla="*/ 0 60000 65536"/>
                <a:gd name="T14" fmla="*/ 0 60000 65536"/>
                <a:gd name="T15" fmla="*/ 0 60000 65536"/>
                <a:gd name="T16" fmla="*/ 0 60000 65536"/>
                <a:gd name="T17" fmla="*/ 0 60000 65536"/>
                <a:gd name="T18" fmla="*/ 0 w 1632"/>
                <a:gd name="T19" fmla="*/ 0 h 720"/>
                <a:gd name="T20" fmla="*/ 1632 w 1632"/>
                <a:gd name="T21" fmla="*/ 720 h 720"/>
              </a:gdLst>
              <a:ahLst/>
              <a:cxnLst>
                <a:cxn ang="T12">
                  <a:pos x="T0" y="T1"/>
                </a:cxn>
                <a:cxn ang="T13">
                  <a:pos x="T2" y="T3"/>
                </a:cxn>
                <a:cxn ang="T14">
                  <a:pos x="T4" y="T5"/>
                </a:cxn>
                <a:cxn ang="T15">
                  <a:pos x="T6" y="T7"/>
                </a:cxn>
                <a:cxn ang="T16">
                  <a:pos x="T8" y="T9"/>
                </a:cxn>
                <a:cxn ang="T17">
                  <a:pos x="T10" y="T11"/>
                </a:cxn>
              </a:cxnLst>
              <a:rect l="T18" t="T19" r="T20" b="T21"/>
              <a:pathLst>
                <a:path w="1632" h="720">
                  <a:moveTo>
                    <a:pt x="1632" y="0"/>
                  </a:moveTo>
                  <a:cubicBezTo>
                    <a:pt x="1612" y="30"/>
                    <a:pt x="1591" y="73"/>
                    <a:pt x="1536" y="103"/>
                  </a:cubicBezTo>
                  <a:cubicBezTo>
                    <a:pt x="1481" y="133"/>
                    <a:pt x="1399" y="147"/>
                    <a:pt x="1303" y="181"/>
                  </a:cubicBezTo>
                  <a:cubicBezTo>
                    <a:pt x="1207" y="215"/>
                    <a:pt x="1073" y="262"/>
                    <a:pt x="960" y="309"/>
                  </a:cubicBezTo>
                  <a:cubicBezTo>
                    <a:pt x="847" y="356"/>
                    <a:pt x="784" y="394"/>
                    <a:pt x="624" y="463"/>
                  </a:cubicBezTo>
                  <a:cubicBezTo>
                    <a:pt x="464" y="531"/>
                    <a:pt x="232" y="626"/>
                    <a:pt x="0" y="720"/>
                  </a:cubicBezTo>
                </a:path>
              </a:pathLst>
            </a:custGeom>
            <a:noFill/>
            <a:ln w="28575">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9430" name="AutoShape 14"/>
            <p:cNvSpPr>
              <a:spLocks noChangeArrowheads="1"/>
            </p:cNvSpPr>
            <p:nvPr/>
          </p:nvSpPr>
          <p:spPr bwMode="auto">
            <a:xfrm flipV="1">
              <a:off x="424" y="3648"/>
              <a:ext cx="160" cy="192"/>
            </a:xfrm>
            <a:prstGeom prst="triangle">
              <a:avLst>
                <a:gd name="adj" fmla="val 50000"/>
              </a:avLst>
            </a:prstGeom>
            <a:noFill/>
            <a:ln w="22225">
              <a:solidFill>
                <a:srgbClr val="0000FF"/>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59431" name="Line 15"/>
            <p:cNvSpPr>
              <a:spLocks noChangeShapeType="1"/>
            </p:cNvSpPr>
            <p:nvPr/>
          </p:nvSpPr>
          <p:spPr bwMode="auto">
            <a:xfrm>
              <a:off x="384" y="3888"/>
              <a:ext cx="240" cy="0"/>
            </a:xfrm>
            <a:prstGeom prst="line">
              <a:avLst/>
            </a:prstGeom>
            <a:noFill/>
            <a:ln w="22225">
              <a:solidFill>
                <a:srgbClr val="00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2" name="Line 16"/>
            <p:cNvSpPr>
              <a:spLocks noChangeShapeType="1"/>
            </p:cNvSpPr>
            <p:nvPr/>
          </p:nvSpPr>
          <p:spPr bwMode="auto">
            <a:xfrm>
              <a:off x="432" y="3936"/>
              <a:ext cx="120" cy="0"/>
            </a:xfrm>
            <a:prstGeom prst="line">
              <a:avLst/>
            </a:prstGeom>
            <a:noFill/>
            <a:ln w="22225">
              <a:solidFill>
                <a:srgbClr val="00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3" name="Line 17"/>
            <p:cNvSpPr>
              <a:spLocks noChangeShapeType="1"/>
            </p:cNvSpPr>
            <p:nvPr/>
          </p:nvSpPr>
          <p:spPr bwMode="auto">
            <a:xfrm>
              <a:off x="144" y="3840"/>
              <a:ext cx="1152" cy="0"/>
            </a:xfrm>
            <a:prstGeom prst="line">
              <a:avLst/>
            </a:prstGeom>
            <a:noFill/>
            <a:ln w="22225">
              <a:solidFill>
                <a:srgbClr val="00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4" name="Arc 18"/>
            <p:cNvSpPr/>
            <p:nvPr/>
          </p:nvSpPr>
          <p:spPr bwMode="auto">
            <a:xfrm rot="10800000" flipH="1">
              <a:off x="1008" y="2976"/>
              <a:ext cx="1872" cy="1056"/>
            </a:xfrm>
            <a:custGeom>
              <a:avLst/>
              <a:gdLst>
                <a:gd name="T0" fmla="*/ 0 w 21600"/>
                <a:gd name="T1" fmla="*/ 0 h 21600"/>
                <a:gd name="T2" fmla="*/ 1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2225">
              <a:solidFill>
                <a:srgbClr val="99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9435" name="Line 40"/>
            <p:cNvSpPr>
              <a:spLocks noChangeShapeType="1"/>
            </p:cNvSpPr>
            <p:nvPr/>
          </p:nvSpPr>
          <p:spPr bwMode="auto">
            <a:xfrm>
              <a:off x="1296" y="3840"/>
              <a:ext cx="1680" cy="0"/>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sp>
        <p:nvSpPr>
          <p:cNvPr id="779323" name="AutoShape 59"/>
          <p:cNvSpPr/>
          <p:nvPr/>
        </p:nvSpPr>
        <p:spPr bwMode="auto">
          <a:xfrm>
            <a:off x="4648200" y="1752600"/>
            <a:ext cx="1106488" cy="460375"/>
          </a:xfrm>
          <a:prstGeom prst="borderCallout1">
            <a:avLst>
              <a:gd name="adj1" fmla="val 24829"/>
              <a:gd name="adj2" fmla="val 106889"/>
              <a:gd name="adj3" fmla="val 193792"/>
              <a:gd name="adj4" fmla="val 161981"/>
            </a:avLst>
          </a:prstGeom>
          <a:gradFill rotWithShape="0">
            <a:gsLst>
              <a:gs pos="0">
                <a:srgbClr val="FFFF99"/>
              </a:gs>
              <a:gs pos="100000">
                <a:srgbClr val="FFFFFF"/>
              </a:gs>
            </a:gsLst>
            <a:lin ang="0" scaled="1"/>
          </a:gradFill>
          <a:ln w="3175">
            <a:solidFill>
              <a:srgbClr val="993300"/>
            </a:solidFill>
            <a:miter lim="800000"/>
          </a:ln>
        </p:spPr>
        <p:txBody>
          <a:bodyPr wrap="none"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rgbClr val="0000FF"/>
                </a:solidFill>
                <a:latin typeface="Times New Roman" panose="02020603050405020304" pitchFamily="18" charset="0"/>
                <a:ea typeface="楷体_GB2312" pitchFamily="49" charset="-122"/>
              </a:rPr>
              <a:t>等势线</a:t>
            </a:r>
            <a:endParaRPr kumimoji="1" lang="zh-CN" altLang="en-US" sz="2400" b="1">
              <a:solidFill>
                <a:srgbClr val="0000FF"/>
              </a:solidFill>
              <a:latin typeface="Times New Roman" panose="02020603050405020304" pitchFamily="18" charset="0"/>
            </a:endParaRPr>
          </a:p>
        </p:txBody>
      </p:sp>
      <p:sp>
        <p:nvSpPr>
          <p:cNvPr id="779324" name="AutoShape 60"/>
          <p:cNvSpPr/>
          <p:nvPr/>
        </p:nvSpPr>
        <p:spPr bwMode="auto">
          <a:xfrm>
            <a:off x="7696200" y="685800"/>
            <a:ext cx="1112838" cy="466725"/>
          </a:xfrm>
          <a:prstGeom prst="borderCallout1">
            <a:avLst>
              <a:gd name="adj1" fmla="val 24491"/>
              <a:gd name="adj2" fmla="val -6847"/>
              <a:gd name="adj3" fmla="val 240477"/>
              <a:gd name="adj4" fmla="val -79028"/>
            </a:avLst>
          </a:prstGeom>
          <a:gradFill rotWithShape="0">
            <a:gsLst>
              <a:gs pos="0">
                <a:srgbClr val="FFFF99"/>
              </a:gs>
              <a:gs pos="100000">
                <a:srgbClr val="FFFFFF"/>
              </a:gs>
            </a:gsLst>
            <a:lin ang="0" scaled="1"/>
          </a:gradFill>
          <a:ln w="9525">
            <a:solidFill>
              <a:srgbClr val="0000CC"/>
            </a:solidFill>
            <a:miter lim="800000"/>
          </a:ln>
        </p:spPr>
        <p:txBody>
          <a:bodyPr wrap="none"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rgbClr val="0000FF"/>
                </a:solidFill>
                <a:latin typeface="Times New Roman" panose="02020603050405020304" pitchFamily="18" charset="0"/>
                <a:ea typeface="楷体_GB2312" pitchFamily="49" charset="-122"/>
              </a:rPr>
              <a:t>浸润线</a:t>
            </a:r>
            <a:endParaRPr kumimoji="1" lang="zh-CN" altLang="en-US" sz="2400" b="1">
              <a:solidFill>
                <a:srgbClr val="0000FF"/>
              </a:solidFill>
              <a:latin typeface="Times New Roman" panose="02020603050405020304" pitchFamily="18" charset="0"/>
            </a:endParaRPr>
          </a:p>
        </p:txBody>
      </p:sp>
      <p:grpSp>
        <p:nvGrpSpPr>
          <p:cNvPr id="4" name="Group 78"/>
          <p:cNvGrpSpPr/>
          <p:nvPr/>
        </p:nvGrpSpPr>
        <p:grpSpPr bwMode="auto">
          <a:xfrm>
            <a:off x="5715000" y="723900"/>
            <a:ext cx="2971800" cy="3594100"/>
            <a:chOff x="3600" y="456"/>
            <a:chExt cx="1872" cy="2264"/>
          </a:xfrm>
        </p:grpSpPr>
        <p:sp>
          <p:nvSpPr>
            <p:cNvPr id="59405" name="Line 44"/>
            <p:cNvSpPr>
              <a:spLocks noChangeShapeType="1"/>
            </p:cNvSpPr>
            <p:nvPr/>
          </p:nvSpPr>
          <p:spPr bwMode="auto">
            <a:xfrm>
              <a:off x="3696" y="840"/>
              <a:ext cx="0" cy="164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6" name="Line 45"/>
            <p:cNvSpPr>
              <a:spLocks noChangeShapeType="1"/>
            </p:cNvSpPr>
            <p:nvPr/>
          </p:nvSpPr>
          <p:spPr bwMode="auto">
            <a:xfrm flipV="1">
              <a:off x="3696" y="456"/>
              <a:ext cx="960" cy="38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7" name="Line 46"/>
            <p:cNvSpPr>
              <a:spLocks noChangeShapeType="1"/>
            </p:cNvSpPr>
            <p:nvPr/>
          </p:nvSpPr>
          <p:spPr bwMode="auto">
            <a:xfrm>
              <a:off x="4656" y="456"/>
              <a:ext cx="0" cy="177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8" name="Freeform 49"/>
            <p:cNvSpPr/>
            <p:nvPr/>
          </p:nvSpPr>
          <p:spPr bwMode="auto">
            <a:xfrm>
              <a:off x="3920" y="1384"/>
              <a:ext cx="256" cy="1040"/>
            </a:xfrm>
            <a:custGeom>
              <a:avLst/>
              <a:gdLst>
                <a:gd name="T0" fmla="*/ 90 w 432"/>
                <a:gd name="T1" fmla="*/ 3391 h 576"/>
                <a:gd name="T2" fmla="*/ 60 w 432"/>
                <a:gd name="T3" fmla="*/ 1132 h 576"/>
                <a:gd name="T4" fmla="*/ 0 w 432"/>
                <a:gd name="T5" fmla="*/ 0 h 576"/>
                <a:gd name="T6" fmla="*/ 0 60000 65536"/>
                <a:gd name="T7" fmla="*/ 0 60000 65536"/>
                <a:gd name="T8" fmla="*/ 0 60000 65536"/>
                <a:gd name="T9" fmla="*/ 0 w 432"/>
                <a:gd name="T10" fmla="*/ 0 h 576"/>
                <a:gd name="T11" fmla="*/ 432 w 432"/>
                <a:gd name="T12" fmla="*/ 576 h 576"/>
              </a:gdLst>
              <a:ahLst/>
              <a:cxnLst>
                <a:cxn ang="T6">
                  <a:pos x="T0" y="T1"/>
                </a:cxn>
                <a:cxn ang="T7">
                  <a:pos x="T2" y="T3"/>
                </a:cxn>
                <a:cxn ang="T8">
                  <a:pos x="T4" y="T5"/>
                </a:cxn>
              </a:cxnLst>
              <a:rect l="T9" t="T10" r="T11" b="T12"/>
              <a:pathLst>
                <a:path w="432" h="576">
                  <a:moveTo>
                    <a:pt x="432" y="576"/>
                  </a:moveTo>
                  <a:cubicBezTo>
                    <a:pt x="396" y="432"/>
                    <a:pt x="360" y="288"/>
                    <a:pt x="288" y="192"/>
                  </a:cubicBezTo>
                  <a:cubicBezTo>
                    <a:pt x="216" y="96"/>
                    <a:pt x="108" y="48"/>
                    <a:pt x="0" y="0"/>
                  </a:cubicBezTo>
                </a:path>
              </a:pathLst>
            </a:custGeom>
            <a:noFill/>
            <a:ln w="28575">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9409" name="Freeform 50"/>
            <p:cNvSpPr/>
            <p:nvPr/>
          </p:nvSpPr>
          <p:spPr bwMode="auto">
            <a:xfrm>
              <a:off x="3696" y="1032"/>
              <a:ext cx="960" cy="480"/>
            </a:xfrm>
            <a:custGeom>
              <a:avLst/>
              <a:gdLst>
                <a:gd name="T0" fmla="*/ 667 w 1152"/>
                <a:gd name="T1" fmla="*/ 0 h 624"/>
                <a:gd name="T2" fmla="*/ 361 w 1152"/>
                <a:gd name="T3" fmla="*/ 88 h 624"/>
                <a:gd name="T4" fmla="*/ 111 w 1152"/>
                <a:gd name="T5" fmla="*/ 218 h 624"/>
                <a:gd name="T6" fmla="*/ 0 w 1152"/>
                <a:gd name="T7" fmla="*/ 284 h 624"/>
                <a:gd name="T8" fmla="*/ 0 60000 65536"/>
                <a:gd name="T9" fmla="*/ 0 60000 65536"/>
                <a:gd name="T10" fmla="*/ 0 60000 65536"/>
                <a:gd name="T11" fmla="*/ 0 60000 65536"/>
                <a:gd name="T12" fmla="*/ 0 w 1152"/>
                <a:gd name="T13" fmla="*/ 0 h 624"/>
                <a:gd name="T14" fmla="*/ 1152 w 1152"/>
                <a:gd name="T15" fmla="*/ 624 h 624"/>
              </a:gdLst>
              <a:ahLst/>
              <a:cxnLst>
                <a:cxn ang="T8">
                  <a:pos x="T0" y="T1"/>
                </a:cxn>
                <a:cxn ang="T9">
                  <a:pos x="T2" y="T3"/>
                </a:cxn>
                <a:cxn ang="T10">
                  <a:pos x="T4" y="T5"/>
                </a:cxn>
                <a:cxn ang="T11">
                  <a:pos x="T6" y="T7"/>
                </a:cxn>
              </a:cxnLst>
              <a:rect l="T12" t="T13" r="T14" b="T15"/>
              <a:pathLst>
                <a:path w="1152" h="624">
                  <a:moveTo>
                    <a:pt x="1152" y="0"/>
                  </a:moveTo>
                  <a:cubicBezTo>
                    <a:pt x="968" y="56"/>
                    <a:pt x="784" y="112"/>
                    <a:pt x="624" y="192"/>
                  </a:cubicBezTo>
                  <a:cubicBezTo>
                    <a:pt x="464" y="272"/>
                    <a:pt x="296" y="408"/>
                    <a:pt x="192" y="480"/>
                  </a:cubicBezTo>
                  <a:cubicBezTo>
                    <a:pt x="88" y="552"/>
                    <a:pt x="16" y="608"/>
                    <a:pt x="0" y="624"/>
                  </a:cubicBezTo>
                </a:path>
              </a:pathLst>
            </a:custGeom>
            <a:noFill/>
            <a:ln w="28575">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9410" name="Text Box 51"/>
            <p:cNvSpPr txBox="1">
              <a:spLocks noChangeArrowheads="1"/>
            </p:cNvSpPr>
            <p:nvPr/>
          </p:nvSpPr>
          <p:spPr bwMode="auto">
            <a:xfrm>
              <a:off x="4176" y="1488"/>
              <a:ext cx="384"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lnSpc>
                  <a:spcPct val="125000"/>
                </a:lnSpc>
                <a:spcBef>
                  <a:spcPct val="0"/>
                </a:spcBef>
              </a:pPr>
              <a:r>
                <a:rPr kumimoji="1" lang="en-US" altLang="zh-CN" sz="2800" b="1" i="1">
                  <a:solidFill>
                    <a:srgbClr val="CC3300"/>
                  </a:solidFill>
                  <a:latin typeface="Times New Roman" panose="02020603050405020304" pitchFamily="18" charset="0"/>
                </a:rPr>
                <a:t>h</a:t>
              </a:r>
              <a:r>
                <a:rPr kumimoji="1" lang="en-US" altLang="zh-CN" sz="2800" b="1" baseline="-25000">
                  <a:solidFill>
                    <a:srgbClr val="CC3300"/>
                  </a:solidFill>
                  <a:latin typeface="Times New Roman" panose="02020603050405020304" pitchFamily="18" charset="0"/>
                </a:rPr>
                <a:t>2</a:t>
              </a:r>
              <a:r>
                <a:rPr kumimoji="1" lang="en-US" altLang="zh-CN" sz="2800" b="1" i="1" baseline="-25000">
                  <a:solidFill>
                    <a:srgbClr val="CC3300"/>
                  </a:solidFill>
                  <a:latin typeface="Times New Roman" panose="02020603050405020304" pitchFamily="18" charset="0"/>
                </a:rPr>
                <a:t>i</a:t>
              </a:r>
              <a:endParaRPr kumimoji="1" lang="en-US" altLang="zh-CN" sz="2800" b="1" baseline="-25000">
                <a:solidFill>
                  <a:srgbClr val="CC3300"/>
                </a:solidFill>
                <a:latin typeface="Times New Roman" panose="02020603050405020304" pitchFamily="18" charset="0"/>
              </a:endParaRPr>
            </a:p>
          </p:txBody>
        </p:sp>
        <p:sp>
          <p:nvSpPr>
            <p:cNvPr id="779316" name="AutoShape 52"/>
            <p:cNvSpPr/>
            <p:nvPr/>
          </p:nvSpPr>
          <p:spPr bwMode="auto">
            <a:xfrm>
              <a:off x="3600" y="768"/>
              <a:ext cx="816" cy="327"/>
            </a:xfrm>
            <a:prstGeom prst="callout2">
              <a:avLst>
                <a:gd name="adj1" fmla="val 22019"/>
                <a:gd name="adj2" fmla="val 105884"/>
                <a:gd name="adj3" fmla="val 22019"/>
                <a:gd name="adj4" fmla="val 121199"/>
                <a:gd name="adj5" fmla="val 159023"/>
                <a:gd name="adj6" fmla="val 139949"/>
              </a:avLst>
            </a:prstGeom>
            <a:noFill/>
            <a:ln w="9525">
              <a:noFill/>
              <a:miter lim="800000"/>
            </a:ln>
            <a:effectLst/>
          </p:spPr>
          <p:txBody>
            <a:bodyPr anchor="ctr">
              <a:spAutoFit/>
            </a:bodyPr>
            <a:lstStyle/>
            <a:p>
              <a:pPr algn="ctr" eaLnBrk="1" hangingPunct="1">
                <a:spcBef>
                  <a:spcPct val="20000"/>
                </a:spcBef>
                <a:defRPr/>
              </a:pPr>
              <a:r>
                <a:rPr kumimoji="1" lang="en-US" altLang="zh-CN" sz="2800" b="1" i="1">
                  <a:solidFill>
                    <a:schemeClr val="tx1"/>
                  </a:solidFill>
                  <a:latin typeface="Times New Roman" panose="02020603050405020304" pitchFamily="18" charset="0"/>
                </a:rPr>
                <a:t>h</a:t>
              </a:r>
              <a:r>
                <a:rPr kumimoji="1" lang="en-US" altLang="zh-CN" sz="2800" b="1" baseline="-25000">
                  <a:solidFill>
                    <a:schemeClr val="tx1"/>
                  </a:solidFill>
                  <a:latin typeface="Times New Roman" panose="02020603050405020304" pitchFamily="18" charset="0"/>
                </a:rPr>
                <a:t>1</a:t>
              </a:r>
              <a:r>
                <a:rPr kumimoji="1" lang="en-US" altLang="zh-CN" sz="2800" b="1" i="1" baseline="-25000">
                  <a:solidFill>
                    <a:schemeClr val="tx1"/>
                  </a:solidFill>
                  <a:latin typeface="Times New Roman" panose="02020603050405020304" pitchFamily="18" charset="0"/>
                </a:rPr>
                <a:t>i</a:t>
              </a:r>
              <a:r>
                <a:rPr kumimoji="1" lang="en-US" altLang="zh-CN" sz="2800" b="1" i="1">
                  <a:solidFill>
                    <a:srgbClr val="E7F9F5"/>
                  </a:solidFill>
                  <a:effectDag name="">
                    <a:cont type="tree" name="">
                      <a:effect ref="fillLine"/>
                      <a:outerShdw dist="38100" dir="13500000" algn="br">
                        <a:srgbClr val="F3FFFD"/>
                      </a:outerShdw>
                    </a:cont>
                    <a:cont type="tree" name="">
                      <a:effect ref="fillLine"/>
                      <a:outerShdw dist="38100" dir="2700000" algn="tl">
                        <a:srgbClr val="8A9592"/>
                      </a:outerShdw>
                    </a:cont>
                    <a:effect ref="fillLine"/>
                  </a:effectDag>
                  <a:latin typeface="Times New Roman" panose="02020603050405020304" pitchFamily="18" charset="0"/>
                </a:rPr>
                <a:t> </a:t>
              </a:r>
              <a:endParaRPr kumimoji="1" lang="en-US" altLang="zh-CN" sz="2800" b="1" i="1">
                <a:solidFill>
                  <a:srgbClr val="E7F9F5"/>
                </a:solidFill>
                <a:effectDag name="">
                  <a:cont type="tree" name="">
                    <a:effect ref="fillLine"/>
                    <a:outerShdw dist="38100" dir="13500000" algn="br">
                      <a:srgbClr val="F3FFFD"/>
                    </a:outerShdw>
                  </a:cont>
                  <a:cont type="tree" name="">
                    <a:effect ref="fillLine"/>
                    <a:outerShdw dist="38100" dir="2700000" algn="tl">
                      <a:srgbClr val="8A9592"/>
                    </a:outerShdw>
                  </a:cont>
                  <a:effect ref="fillLine"/>
                </a:effectDag>
                <a:latin typeface="Times New Roman" panose="02020603050405020304" pitchFamily="18" charset="0"/>
              </a:endParaRPr>
            </a:p>
          </p:txBody>
        </p:sp>
        <p:sp>
          <p:nvSpPr>
            <p:cNvPr id="59412" name="Line 55"/>
            <p:cNvSpPr>
              <a:spLocks noChangeShapeType="1"/>
            </p:cNvSpPr>
            <p:nvPr/>
          </p:nvSpPr>
          <p:spPr bwMode="auto">
            <a:xfrm>
              <a:off x="4944" y="1368"/>
              <a:ext cx="0" cy="1056"/>
            </a:xfrm>
            <a:prstGeom prst="line">
              <a:avLst/>
            </a:prstGeom>
            <a:noFill/>
            <a:ln w="38100">
              <a:solidFill>
                <a:srgbClr val="0000CC"/>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3" name="Text Box 56"/>
            <p:cNvSpPr txBox="1">
              <a:spLocks noChangeArrowheads="1"/>
            </p:cNvSpPr>
            <p:nvPr/>
          </p:nvSpPr>
          <p:spPr bwMode="auto">
            <a:xfrm>
              <a:off x="4992" y="1608"/>
              <a:ext cx="384"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lnSpc>
                  <a:spcPct val="125000"/>
                </a:lnSpc>
                <a:spcBef>
                  <a:spcPct val="0"/>
                </a:spcBef>
              </a:pPr>
              <a:r>
                <a:rPr kumimoji="1" lang="en-US" altLang="zh-CN" sz="2800" b="1" i="1">
                  <a:solidFill>
                    <a:srgbClr val="0000CC"/>
                  </a:solidFill>
                  <a:latin typeface="Times New Roman" panose="02020603050405020304" pitchFamily="18" charset="0"/>
                </a:rPr>
                <a:t>h</a:t>
              </a:r>
              <a:r>
                <a:rPr kumimoji="1" lang="en-US" altLang="zh-CN" sz="2800" b="1" i="1" baseline="-25000">
                  <a:solidFill>
                    <a:srgbClr val="0000CC"/>
                  </a:solidFill>
                  <a:latin typeface="Times New Roman" panose="02020603050405020304" pitchFamily="18" charset="0"/>
                </a:rPr>
                <a:t>ti</a:t>
              </a:r>
              <a:endParaRPr kumimoji="1" lang="en-US" altLang="zh-CN" sz="2800" b="1" i="1" baseline="-25000">
                <a:solidFill>
                  <a:srgbClr val="0000CC"/>
                </a:solidFill>
                <a:latin typeface="Times New Roman" panose="02020603050405020304" pitchFamily="18" charset="0"/>
              </a:endParaRPr>
            </a:p>
          </p:txBody>
        </p:sp>
        <p:sp>
          <p:nvSpPr>
            <p:cNvPr id="59414" name="Line 61"/>
            <p:cNvSpPr>
              <a:spLocks noChangeShapeType="1"/>
            </p:cNvSpPr>
            <p:nvPr/>
          </p:nvSpPr>
          <p:spPr bwMode="auto">
            <a:xfrm flipH="1" flipV="1">
              <a:off x="3696" y="2424"/>
              <a:ext cx="16" cy="296"/>
            </a:xfrm>
            <a:prstGeom prst="line">
              <a:avLst/>
            </a:prstGeom>
            <a:noFill/>
            <a:ln w="28575">
              <a:solidFill>
                <a:srgbClr val="660066"/>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5" name="Line 62"/>
            <p:cNvSpPr>
              <a:spLocks noChangeShapeType="1"/>
            </p:cNvSpPr>
            <p:nvPr/>
          </p:nvSpPr>
          <p:spPr bwMode="auto">
            <a:xfrm flipH="1" flipV="1">
              <a:off x="3936" y="2472"/>
              <a:ext cx="32" cy="208"/>
            </a:xfrm>
            <a:prstGeom prst="line">
              <a:avLst/>
            </a:prstGeom>
            <a:noFill/>
            <a:ln w="28575">
              <a:solidFill>
                <a:srgbClr val="660066"/>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6" name="Line 63"/>
            <p:cNvSpPr>
              <a:spLocks noChangeShapeType="1"/>
            </p:cNvSpPr>
            <p:nvPr/>
          </p:nvSpPr>
          <p:spPr bwMode="auto">
            <a:xfrm flipH="1" flipV="1">
              <a:off x="4224" y="2424"/>
              <a:ext cx="48" cy="240"/>
            </a:xfrm>
            <a:prstGeom prst="line">
              <a:avLst/>
            </a:prstGeom>
            <a:noFill/>
            <a:ln w="28575">
              <a:solidFill>
                <a:srgbClr val="660066"/>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7" name="Line 64"/>
            <p:cNvSpPr>
              <a:spLocks noChangeShapeType="1"/>
            </p:cNvSpPr>
            <p:nvPr/>
          </p:nvSpPr>
          <p:spPr bwMode="auto">
            <a:xfrm flipH="1" flipV="1">
              <a:off x="4440" y="2352"/>
              <a:ext cx="80" cy="240"/>
            </a:xfrm>
            <a:prstGeom prst="line">
              <a:avLst/>
            </a:prstGeom>
            <a:noFill/>
            <a:ln w="28575">
              <a:solidFill>
                <a:srgbClr val="660066"/>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8" name="Line 65"/>
            <p:cNvSpPr>
              <a:spLocks noChangeShapeType="1"/>
            </p:cNvSpPr>
            <p:nvPr/>
          </p:nvSpPr>
          <p:spPr bwMode="auto">
            <a:xfrm flipH="1" flipV="1">
              <a:off x="4656" y="2280"/>
              <a:ext cx="96" cy="240"/>
            </a:xfrm>
            <a:prstGeom prst="line">
              <a:avLst/>
            </a:prstGeom>
            <a:noFill/>
            <a:ln w="28575">
              <a:solidFill>
                <a:srgbClr val="660066"/>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9" name="Freeform 66"/>
            <p:cNvSpPr/>
            <p:nvPr/>
          </p:nvSpPr>
          <p:spPr bwMode="auto">
            <a:xfrm>
              <a:off x="3696" y="2232"/>
              <a:ext cx="960" cy="240"/>
            </a:xfrm>
            <a:custGeom>
              <a:avLst/>
              <a:gdLst>
                <a:gd name="T0" fmla="*/ 0 w 960"/>
                <a:gd name="T1" fmla="*/ 240 h 240"/>
                <a:gd name="T2" fmla="*/ 528 w 960"/>
                <a:gd name="T3" fmla="*/ 192 h 240"/>
                <a:gd name="T4" fmla="*/ 960 w 960"/>
                <a:gd name="T5" fmla="*/ 0 h 240"/>
                <a:gd name="T6" fmla="*/ 0 60000 65536"/>
                <a:gd name="T7" fmla="*/ 0 60000 65536"/>
                <a:gd name="T8" fmla="*/ 0 60000 65536"/>
                <a:gd name="T9" fmla="*/ 0 w 960"/>
                <a:gd name="T10" fmla="*/ 0 h 240"/>
                <a:gd name="T11" fmla="*/ 960 w 960"/>
                <a:gd name="T12" fmla="*/ 240 h 240"/>
              </a:gdLst>
              <a:ahLst/>
              <a:cxnLst>
                <a:cxn ang="T6">
                  <a:pos x="T0" y="T1"/>
                </a:cxn>
                <a:cxn ang="T7">
                  <a:pos x="T2" y="T3"/>
                </a:cxn>
                <a:cxn ang="T8">
                  <a:pos x="T4" y="T5"/>
                </a:cxn>
              </a:cxnLst>
              <a:rect l="T9" t="T10" r="T11" b="T12"/>
              <a:pathLst>
                <a:path w="960" h="240">
                  <a:moveTo>
                    <a:pt x="0" y="240"/>
                  </a:moveTo>
                  <a:cubicBezTo>
                    <a:pt x="184" y="236"/>
                    <a:pt x="368" y="232"/>
                    <a:pt x="528" y="192"/>
                  </a:cubicBezTo>
                  <a:cubicBezTo>
                    <a:pt x="688" y="152"/>
                    <a:pt x="824" y="76"/>
                    <a:pt x="960" y="0"/>
                  </a:cubicBezTo>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9420" name="Line 69"/>
            <p:cNvSpPr>
              <a:spLocks noChangeShapeType="1"/>
            </p:cNvSpPr>
            <p:nvPr/>
          </p:nvSpPr>
          <p:spPr bwMode="auto">
            <a:xfrm>
              <a:off x="4176" y="1176"/>
              <a:ext cx="0" cy="1248"/>
            </a:xfrm>
            <a:prstGeom prst="line">
              <a:avLst/>
            </a:prstGeom>
            <a:noFill/>
            <a:ln w="22225">
              <a:solidFill>
                <a:srgbClr val="FF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9421" name="Line 70"/>
            <p:cNvSpPr>
              <a:spLocks noChangeShapeType="1"/>
            </p:cNvSpPr>
            <p:nvPr/>
          </p:nvSpPr>
          <p:spPr bwMode="auto">
            <a:xfrm>
              <a:off x="4176" y="648"/>
              <a:ext cx="0" cy="528"/>
            </a:xfrm>
            <a:prstGeom prst="line">
              <a:avLst/>
            </a:prstGeom>
            <a:noFill/>
            <a:ln w="349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9422" name="Line 71"/>
            <p:cNvSpPr>
              <a:spLocks noChangeShapeType="1"/>
            </p:cNvSpPr>
            <p:nvPr/>
          </p:nvSpPr>
          <p:spPr bwMode="auto">
            <a:xfrm>
              <a:off x="4176" y="2424"/>
              <a:ext cx="105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9423" name="Line 72"/>
            <p:cNvSpPr>
              <a:spLocks noChangeShapeType="1"/>
            </p:cNvSpPr>
            <p:nvPr/>
          </p:nvSpPr>
          <p:spPr bwMode="auto">
            <a:xfrm>
              <a:off x="3936" y="1368"/>
              <a:ext cx="153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79338" name="Rectangle 74"/>
          <p:cNvSpPr>
            <a:spLocks noChangeArrowheads="1"/>
          </p:cNvSpPr>
          <p:nvPr/>
        </p:nvSpPr>
        <p:spPr bwMode="auto">
          <a:xfrm>
            <a:off x="381000" y="1676400"/>
            <a:ext cx="449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a:r>
              <a:rPr kumimoji="1" lang="en-US" altLang="zh-CN" sz="2400" b="1">
                <a:solidFill>
                  <a:srgbClr val="0000FF"/>
                </a:solidFill>
                <a:latin typeface="宋体" panose="02010600030101010101" pitchFamily="2" charset="-122"/>
              </a:rPr>
              <a:t>(1) </a:t>
            </a:r>
            <a:r>
              <a:rPr kumimoji="1" lang="zh-CN" altLang="en-US" sz="2400" b="1">
                <a:solidFill>
                  <a:srgbClr val="0000FF"/>
                </a:solidFill>
                <a:latin typeface="宋体" panose="02010600030101010101" pitchFamily="2" charset="-122"/>
              </a:rPr>
              <a:t>土条在下游水位以上时</a:t>
            </a:r>
            <a:endParaRPr kumimoji="1" lang="zh-CN" altLang="en-US" sz="2400" b="1">
              <a:solidFill>
                <a:srgbClr val="0000FF"/>
              </a:solidFill>
              <a:latin typeface="宋体" panose="02010600030101010101" pitchFamily="2" charset="-122"/>
            </a:endParaRPr>
          </a:p>
        </p:txBody>
      </p:sp>
      <p:graphicFrame>
        <p:nvGraphicFramePr>
          <p:cNvPr id="802817" name="Object 1"/>
          <p:cNvGraphicFramePr>
            <a:graphicFrameLocks noChangeAspect="1"/>
          </p:cNvGraphicFramePr>
          <p:nvPr/>
        </p:nvGraphicFramePr>
        <p:xfrm>
          <a:off x="7239000" y="4000500"/>
          <a:ext cx="1371600" cy="536575"/>
        </p:xfrm>
        <a:graphic>
          <a:graphicData uri="http://schemas.openxmlformats.org/presentationml/2006/ole">
            <mc:AlternateContent xmlns:mc="http://schemas.openxmlformats.org/markup-compatibility/2006">
              <mc:Choice xmlns:v="urn:schemas-microsoft-com:vml" Requires="v">
                <p:oleObj spid="_x0000_s20542" name="Equation" r:id="rId1" imgW="584200" imgH="228600" progId="Equation.3">
                  <p:embed/>
                </p:oleObj>
              </mc:Choice>
              <mc:Fallback>
                <p:oleObj name="Equation" r:id="rId1" imgW="584200" imgH="228600" progId="Equation.3">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4000500"/>
                        <a:ext cx="1371600" cy="536575"/>
                      </a:xfrm>
                      <a:prstGeom prst="rect">
                        <a:avLst/>
                      </a:prstGeom>
                      <a:solidFill>
                        <a:srgbClr val="99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mc:Choice xmlns:a14="http://schemas.microsoft.com/office/drawing/2010/main" Requires="a14">
          <p:sp>
            <p:nvSpPr>
              <p:cNvPr id="5" name="文本框 4"/>
              <p:cNvSpPr txBox="1"/>
              <p:nvPr/>
            </p:nvSpPr>
            <p:spPr>
              <a:xfrm>
                <a:off x="210609" y="2517775"/>
                <a:ext cx="5360827" cy="790088"/>
              </a:xfrm>
              <a:prstGeom prst="rect">
                <a:avLst/>
              </a:prstGeom>
              <a:solidFill>
                <a:srgbClr val="FFFF00"/>
              </a:solid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m:rPr>
                          <m:sty m:val="p"/>
                        </m:rPr>
                        <a:rPr lang="en-US" altLang="zh-CN" sz="2400" b="0" i="0" smtClean="0">
                          <a:latin typeface="Cambria Math" panose="02040503050406030204" pitchFamily="18" charset="0"/>
                        </a:rPr>
                        <m:t>K</m:t>
                      </m:r>
                      <m:r>
                        <a:rPr lang="en-US" altLang="zh-CN" sz="2400" b="0" i="0" smtClean="0">
                          <a:latin typeface="Cambria Math" panose="02040503050406030204" pitchFamily="18" charset="0"/>
                        </a:rPr>
                        <m:t>=</m:t>
                      </m:r>
                      <m:f>
                        <m:fPr>
                          <m:ctrlPr>
                            <a:rPr lang="en-US" altLang="zh-CN" sz="2400" b="0" i="1" smtClean="0">
                              <a:latin typeface="Cambria Math" panose="02040503050406030204" pitchFamily="18" charset="0"/>
                            </a:rPr>
                          </m:ctrlPr>
                        </m:fPr>
                        <m:num>
                          <m:nary>
                            <m:naryPr>
                              <m:chr m:val="∑"/>
                              <m:subHide m:val="on"/>
                              <m:supHide m:val="on"/>
                              <m:ctrlPr>
                                <a:rPr lang="en-US" altLang="zh-CN" sz="2400" b="0" i="1" smtClean="0">
                                  <a:latin typeface="Cambria Math" panose="02040503050406030204" pitchFamily="18" charset="0"/>
                                </a:rPr>
                              </m:ctrlPr>
                            </m:naryPr>
                            <m:sub/>
                            <m:sup/>
                            <m:e>
                              <m:r>
                                <a:rPr lang="en-US" altLang="zh-CN" sz="2400" b="0" i="1" smtClean="0">
                                  <a:latin typeface="Cambria Math" panose="02040503050406030204" pitchFamily="18" charset="0"/>
                                </a:rPr>
                                <m:t>[</m:t>
                              </m:r>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𝑖</m:t>
                                  </m:r>
                                </m:sub>
                                <m:sup>
                                  <m:r>
                                    <a:rPr lang="en-US" altLang="zh-CN" sz="2400" b="0" i="1" smtClean="0">
                                      <a:latin typeface="Cambria Math" panose="02040503050406030204" pitchFamily="18" charset="0"/>
                                    </a:rPr>
                                    <m:t>′</m:t>
                                  </m:r>
                                </m:sup>
                              </m:sSubSup>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𝑙</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𝐺</m:t>
                                  </m:r>
                                </m:e>
                                <m:sub>
                                  <m:r>
                                    <a:rPr lang="en-US" altLang="zh-CN" sz="2400" b="0" i="1" smtClean="0">
                                      <a:latin typeface="Cambria Math" panose="02040503050406030204" pitchFamily="18" charset="0"/>
                                    </a:rPr>
                                    <m:t>𝑖</m:t>
                                  </m:r>
                                </m:sub>
                              </m:sSub>
                              <m:func>
                                <m:funcPr>
                                  <m:ctrlPr>
                                    <a:rPr lang="en-US" altLang="zh-CN" sz="2400" i="1" smtClean="0">
                                      <a:latin typeface="Cambria Math" panose="02040503050406030204" pitchFamily="18" charset="0"/>
                                    </a:rPr>
                                  </m:ctrlPr>
                                </m:funcPr>
                                <m:fName>
                                  <m:r>
                                    <m:rPr>
                                      <m:sty m:val="p"/>
                                    </m:rPr>
                                    <a:rPr lang="en-US" altLang="zh-CN" sz="2400" i="0" smtClean="0">
                                      <a:latin typeface="Cambria Math" panose="02040503050406030204" pitchFamily="18" charset="0"/>
                                    </a:rPr>
                                    <m:t>cos</m:t>
                                  </m:r>
                                </m:fName>
                                <m:e>
                                  <m:sSub>
                                    <m:sSubPr>
                                      <m:ctrlPr>
                                        <a:rPr lang="en-US" altLang="zh-CN" sz="2400" i="1" smtClean="0">
                                          <a:latin typeface="Cambria Math" panose="02040503050406030204" pitchFamily="18" charset="0"/>
                                        </a:rPr>
                                      </m:ctrlPr>
                                    </m:sSubPr>
                                    <m:e>
                                      <m:r>
                                        <a:rPr lang="zh-CN" altLang="en-US" sz="2400" i="1" smtClean="0">
                                          <a:latin typeface="Cambria Math" panose="02040503050406030204" pitchFamily="18" charset="0"/>
                                        </a:rPr>
                                        <m:t>𝜃</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𝛾</m:t>
                                      </m:r>
                                    </m:e>
                                    <m:sub>
                                      <m:r>
                                        <a:rPr lang="en-US" altLang="zh-CN" sz="2400" b="0" i="1" smtClean="0">
                                          <a:latin typeface="Cambria Math" panose="02040503050406030204" pitchFamily="18" charset="0"/>
                                        </a:rPr>
                                        <m:t>𝑤</m:t>
                                      </m:r>
                                    </m:sub>
                                  </m:sSub>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ℎ</m:t>
                                      </m:r>
                                    </m:e>
                                    <m:sub>
                                      <m:r>
                                        <a:rPr lang="en-US" altLang="zh-CN" sz="2400" b="0" i="1" smtClean="0">
                                          <a:latin typeface="Cambria Math" panose="02040503050406030204" pitchFamily="18" charset="0"/>
                                        </a:rPr>
                                        <m:t>𝑡𝑖</m:t>
                                      </m:r>
                                    </m:sub>
                                  </m:sSub>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𝑙</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tan</m:t>
                                      </m:r>
                                    </m:fName>
                                    <m:e>
                                      <m:sSubSup>
                                        <m:sSubSupPr>
                                          <m:ctrlPr>
                                            <a:rPr lang="en-US" altLang="zh-CN" sz="2400" b="0" i="1" smtClean="0">
                                              <a:latin typeface="Cambria Math" panose="02040503050406030204" pitchFamily="18" charset="0"/>
                                            </a:rPr>
                                          </m:ctrlPr>
                                        </m:sSubSupPr>
                                        <m:e>
                                          <m:r>
                                            <a:rPr lang="zh-CN" altLang="en-US" sz="2400" b="0" i="1" smtClean="0">
                                              <a:latin typeface="Cambria Math" panose="02040503050406030204" pitchFamily="18" charset="0"/>
                                            </a:rPr>
                                            <m:t>𝜑</m:t>
                                          </m:r>
                                        </m:e>
                                        <m:sub>
                                          <m:r>
                                            <a:rPr lang="en-US" altLang="zh-CN" sz="2400" b="0" i="1" smtClean="0">
                                              <a:latin typeface="Cambria Math" panose="02040503050406030204" pitchFamily="18" charset="0"/>
                                            </a:rPr>
                                            <m:t>𝑖</m:t>
                                          </m:r>
                                        </m:sub>
                                        <m:sup>
                                          <m:r>
                                            <a:rPr lang="en-US" altLang="zh-CN" sz="2400" b="0" i="1" smtClean="0">
                                              <a:latin typeface="Cambria Math" panose="02040503050406030204" pitchFamily="18" charset="0"/>
                                            </a:rPr>
                                            <m:t>′</m:t>
                                          </m:r>
                                        </m:sup>
                                      </m:sSubSup>
                                      <m:r>
                                        <a:rPr lang="en-US" altLang="zh-CN" sz="2400" b="0" i="1" smtClean="0">
                                          <a:latin typeface="Cambria Math" panose="02040503050406030204" pitchFamily="18" charset="0"/>
                                        </a:rPr>
                                        <m:t>]</m:t>
                                      </m:r>
                                    </m:e>
                                  </m:func>
                                </m:e>
                              </m:func>
                            </m:e>
                          </m:nary>
                        </m:num>
                        <m:den>
                          <m:nary>
                            <m:naryPr>
                              <m:chr m:val="∑"/>
                              <m:subHide m:val="on"/>
                              <m:supHide m:val="on"/>
                              <m:ctrlPr>
                                <a:rPr lang="en-US" altLang="zh-CN" sz="2400" b="0" i="1" smtClean="0">
                                  <a:latin typeface="Cambria Math" panose="02040503050406030204" pitchFamily="18" charset="0"/>
                                </a:rPr>
                              </m:ctrlPr>
                            </m:naryPr>
                            <m:sub/>
                            <m:sup/>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𝐺</m:t>
                                  </m:r>
                                </m:e>
                                <m:sub>
                                  <m:r>
                                    <a:rPr lang="en-US" altLang="zh-CN" sz="2400" b="0" i="1" smtClean="0">
                                      <a:latin typeface="Cambria Math" panose="02040503050406030204" pitchFamily="18" charset="0"/>
                                    </a:rPr>
                                    <m:t>𝑖</m:t>
                                  </m:r>
                                </m:sub>
                              </m:sSub>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sin</m:t>
                                  </m:r>
                                </m:fName>
                                <m:e>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𝜃</m:t>
                                      </m:r>
                                    </m:e>
                                    <m:sub>
                                      <m:r>
                                        <a:rPr lang="en-US" altLang="zh-CN" sz="2400" b="0" i="1" smtClean="0">
                                          <a:latin typeface="Cambria Math" panose="02040503050406030204" pitchFamily="18" charset="0"/>
                                        </a:rPr>
                                        <m:t>𝑖</m:t>
                                      </m:r>
                                    </m:sub>
                                  </m:sSub>
                                </m:e>
                              </m:func>
                            </m:e>
                          </m:nary>
                        </m:den>
                      </m:f>
                    </m:oMath>
                  </m:oMathPara>
                </a14:m>
                <a:endParaRPr lang="zh-CN" altLang="en-US" sz="2400" dirty="0">
                  <a:latin typeface="Times New Roman" panose="02020603050405020304" pitchFamily="18" charset="0"/>
                  <a:cs typeface="Times New Roman" panose="020206030504050203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210609" y="2517775"/>
                <a:ext cx="5360827" cy="790088"/>
              </a:xfrm>
              <a:prstGeom prst="rect">
                <a:avLst/>
              </a:prstGeom>
              <a:blipFill rotWithShape="1">
                <a:blip r:embed="rId3"/>
                <a:stretch>
                  <a:fillRect l="-8" r="11" b="1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966564" y="3833158"/>
                <a:ext cx="3123291" cy="369332"/>
              </a:xfrm>
              <a:prstGeom prst="rect">
                <a:avLst/>
              </a:prstGeom>
              <a:solidFill>
                <a:schemeClr val="tx2">
                  <a:lumMod val="20000"/>
                  <a:lumOff val="80000"/>
                </a:schemeClr>
              </a:solid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𝐺</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𝛾</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ℎ</m:t>
                          </m:r>
                        </m:e>
                        <m:sub>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𝛾</m:t>
                          </m:r>
                        </m:e>
                        <m:sub>
                          <m:r>
                            <a:rPr lang="en-US" altLang="zh-CN" sz="2400" b="0" i="1" smtClean="0">
                              <a:latin typeface="Cambria Math" panose="02040503050406030204" pitchFamily="18" charset="0"/>
                            </a:rPr>
                            <m:t>𝑠𝑎𝑡</m:t>
                          </m:r>
                        </m:sub>
                      </m:sSub>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ℎ</m:t>
                          </m:r>
                        </m:e>
                        <m:sub>
                          <m:r>
                            <a:rPr lang="en-US" altLang="zh-CN" sz="2400" b="0" i="1" smtClean="0">
                              <a:latin typeface="Cambria Math" panose="02040503050406030204" pitchFamily="18" charset="0"/>
                            </a:rPr>
                            <m:t>2</m:t>
                          </m:r>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𝑏</m:t>
                          </m:r>
                        </m:e>
                        <m:sub>
                          <m:r>
                            <a:rPr lang="en-US" altLang="zh-CN" sz="2400" b="0" i="1" smtClean="0">
                              <a:latin typeface="Cambria Math" panose="02040503050406030204" pitchFamily="18" charset="0"/>
                            </a:rPr>
                            <m:t>𝑖</m:t>
                          </m:r>
                        </m:sub>
                      </m:sSub>
                    </m:oMath>
                  </m:oMathPara>
                </a14:m>
                <a:endParaRPr lang="zh-CN" altLang="en-US" sz="2400" dirty="0">
                  <a:latin typeface="Times New Roman" panose="02020603050405020304" pitchFamily="18" charset="0"/>
                  <a:cs typeface="Times New Roman" panose="02020603050405020304" pitchFamily="18"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966564" y="3833158"/>
                <a:ext cx="3123291" cy="369332"/>
              </a:xfrm>
              <a:prstGeom prst="rect">
                <a:avLst/>
              </a:prstGeom>
              <a:blipFill rotWithShape="1">
                <a:blip r:embed="rId4"/>
                <a:stretch>
                  <a:fillRect l="-3" t="-81" r="-799" b="16"/>
                </a:stretch>
              </a:blipFill>
            </p:spPr>
            <p:txBody>
              <a:bodyPr/>
              <a:lstStyle/>
              <a:p>
                <a:r>
                  <a:rPr lang="zh-CN" altLang="en-US">
                    <a:noFill/>
                  </a:rPr>
                  <a:t> </a:t>
                </a:r>
              </a:p>
            </p:txBody>
          </p:sp>
        </mc:Fallback>
      </mc:AlternateContent>
      <p:sp>
        <p:nvSpPr>
          <p:cNvPr id="49" name="Rectangle 6"/>
          <p:cNvSpPr>
            <a:spLocks noChangeArrowheads="1"/>
          </p:cNvSpPr>
          <p:nvPr/>
        </p:nvSpPr>
        <p:spPr bwMode="auto">
          <a:xfrm>
            <a:off x="0" y="-7396"/>
            <a:ext cx="4788024"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§6.4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土坡稳定性的影响因素</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79338"/>
                                        </p:tgtEl>
                                        <p:attrNameLst>
                                          <p:attrName>style.visibility</p:attrName>
                                        </p:attrNameLst>
                                      </p:cBhvr>
                                      <p:to>
                                        <p:strVal val="visible"/>
                                      </p:to>
                                    </p:set>
                                    <p:anim calcmode="lin" valueType="num">
                                      <p:cBhvr additive="base">
                                        <p:cTn id="7" dur="500" fill="hold"/>
                                        <p:tgtEl>
                                          <p:spTgt spid="779338"/>
                                        </p:tgtEl>
                                        <p:attrNameLst>
                                          <p:attrName>ppt_x</p:attrName>
                                        </p:attrNameLst>
                                      </p:cBhvr>
                                      <p:tavLst>
                                        <p:tav tm="0">
                                          <p:val>
                                            <p:strVal val="0-#ppt_w/2"/>
                                          </p:val>
                                        </p:tav>
                                        <p:tav tm="100000">
                                          <p:val>
                                            <p:strVal val="#ppt_x"/>
                                          </p:val>
                                        </p:tav>
                                      </p:tavLst>
                                    </p:anim>
                                    <p:anim calcmode="lin" valueType="num">
                                      <p:cBhvr additive="base">
                                        <p:cTn id="8" dur="500" fill="hold"/>
                                        <p:tgtEl>
                                          <p:spTgt spid="77933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dissolve">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up)">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dissolve">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802817"/>
                                        </p:tgtEl>
                                        <p:attrNameLst>
                                          <p:attrName>style.visibility</p:attrName>
                                        </p:attrNameLst>
                                      </p:cBhvr>
                                      <p:to>
                                        <p:strVal val="visible"/>
                                      </p:to>
                                    </p:set>
                                    <p:animEffect transition="in" filter="dissolve">
                                      <p:cBhvr>
                                        <p:cTn id="28" dur="500"/>
                                        <p:tgtEl>
                                          <p:spTgt spid="802817"/>
                                        </p:tgtEl>
                                      </p:cBhvr>
                                    </p:animEffect>
                                  </p:childTnLst>
                                </p:cTn>
                              </p:par>
                            </p:childTnLst>
                          </p:cTn>
                        </p:par>
                      </p:childTnLst>
                    </p:cTn>
                  </p:par>
                  <p:par>
                    <p:cTn id="29" fill="hold">
                      <p:stCondLst>
                        <p:cond delay="indefinite"/>
                      </p:stCondLst>
                      <p:childTnLst>
                        <p:par>
                          <p:cTn id="30" fill="hold">
                            <p:stCondLst>
                              <p:cond delay="0"/>
                            </p:stCondLst>
                            <p:childTnLst>
                              <p:par>
                                <p:cTn id="31" presetID="17" presetClass="entr" presetSubtype="1" fill="hold" grpId="0" nodeType="clickEffect">
                                  <p:stCondLst>
                                    <p:cond delay="0"/>
                                  </p:stCondLst>
                                  <p:childTnLst>
                                    <p:set>
                                      <p:cBhvr>
                                        <p:cTn id="32" dur="1" fill="hold">
                                          <p:stCondLst>
                                            <p:cond delay="0"/>
                                          </p:stCondLst>
                                        </p:cTn>
                                        <p:tgtEl>
                                          <p:spTgt spid="779324"/>
                                        </p:tgtEl>
                                        <p:attrNameLst>
                                          <p:attrName>style.visibility</p:attrName>
                                        </p:attrNameLst>
                                      </p:cBhvr>
                                      <p:to>
                                        <p:strVal val="visible"/>
                                      </p:to>
                                    </p:set>
                                    <p:anim calcmode="lin" valueType="num">
                                      <p:cBhvr>
                                        <p:cTn id="33" dur="500" fill="hold"/>
                                        <p:tgtEl>
                                          <p:spTgt spid="779324"/>
                                        </p:tgtEl>
                                        <p:attrNameLst>
                                          <p:attrName>ppt_x</p:attrName>
                                        </p:attrNameLst>
                                      </p:cBhvr>
                                      <p:tavLst>
                                        <p:tav tm="0">
                                          <p:val>
                                            <p:strVal val="#ppt_x"/>
                                          </p:val>
                                        </p:tav>
                                        <p:tav tm="100000">
                                          <p:val>
                                            <p:strVal val="#ppt_x"/>
                                          </p:val>
                                        </p:tav>
                                      </p:tavLst>
                                    </p:anim>
                                    <p:anim calcmode="lin" valueType="num">
                                      <p:cBhvr>
                                        <p:cTn id="34" dur="500" fill="hold"/>
                                        <p:tgtEl>
                                          <p:spTgt spid="779324"/>
                                        </p:tgtEl>
                                        <p:attrNameLst>
                                          <p:attrName>ppt_y</p:attrName>
                                        </p:attrNameLst>
                                      </p:cBhvr>
                                      <p:tavLst>
                                        <p:tav tm="0">
                                          <p:val>
                                            <p:strVal val="#ppt_y-#ppt_h/2"/>
                                          </p:val>
                                        </p:tav>
                                        <p:tav tm="100000">
                                          <p:val>
                                            <p:strVal val="#ppt_y"/>
                                          </p:val>
                                        </p:tav>
                                      </p:tavLst>
                                    </p:anim>
                                    <p:anim calcmode="lin" valueType="num">
                                      <p:cBhvr>
                                        <p:cTn id="35" dur="500" fill="hold"/>
                                        <p:tgtEl>
                                          <p:spTgt spid="779324"/>
                                        </p:tgtEl>
                                        <p:attrNameLst>
                                          <p:attrName>ppt_w</p:attrName>
                                        </p:attrNameLst>
                                      </p:cBhvr>
                                      <p:tavLst>
                                        <p:tav tm="0">
                                          <p:val>
                                            <p:strVal val="#ppt_w"/>
                                          </p:val>
                                        </p:tav>
                                        <p:tav tm="100000">
                                          <p:val>
                                            <p:strVal val="#ppt_w"/>
                                          </p:val>
                                        </p:tav>
                                      </p:tavLst>
                                    </p:anim>
                                    <p:anim calcmode="lin" valueType="num">
                                      <p:cBhvr>
                                        <p:cTn id="36" dur="500" fill="hold"/>
                                        <p:tgtEl>
                                          <p:spTgt spid="779324"/>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17" presetClass="entr" presetSubtype="1" fill="hold" grpId="0" nodeType="clickEffect">
                                  <p:stCondLst>
                                    <p:cond delay="0"/>
                                  </p:stCondLst>
                                  <p:childTnLst>
                                    <p:set>
                                      <p:cBhvr>
                                        <p:cTn id="40" dur="1" fill="hold">
                                          <p:stCondLst>
                                            <p:cond delay="0"/>
                                          </p:stCondLst>
                                        </p:cTn>
                                        <p:tgtEl>
                                          <p:spTgt spid="779323"/>
                                        </p:tgtEl>
                                        <p:attrNameLst>
                                          <p:attrName>style.visibility</p:attrName>
                                        </p:attrNameLst>
                                      </p:cBhvr>
                                      <p:to>
                                        <p:strVal val="visible"/>
                                      </p:to>
                                    </p:set>
                                    <p:anim calcmode="lin" valueType="num">
                                      <p:cBhvr>
                                        <p:cTn id="41" dur="500" fill="hold"/>
                                        <p:tgtEl>
                                          <p:spTgt spid="779323"/>
                                        </p:tgtEl>
                                        <p:attrNameLst>
                                          <p:attrName>ppt_x</p:attrName>
                                        </p:attrNameLst>
                                      </p:cBhvr>
                                      <p:tavLst>
                                        <p:tav tm="0">
                                          <p:val>
                                            <p:strVal val="#ppt_x"/>
                                          </p:val>
                                        </p:tav>
                                        <p:tav tm="100000">
                                          <p:val>
                                            <p:strVal val="#ppt_x"/>
                                          </p:val>
                                        </p:tav>
                                      </p:tavLst>
                                    </p:anim>
                                    <p:anim calcmode="lin" valueType="num">
                                      <p:cBhvr>
                                        <p:cTn id="42" dur="500" fill="hold"/>
                                        <p:tgtEl>
                                          <p:spTgt spid="779323"/>
                                        </p:tgtEl>
                                        <p:attrNameLst>
                                          <p:attrName>ppt_y</p:attrName>
                                        </p:attrNameLst>
                                      </p:cBhvr>
                                      <p:tavLst>
                                        <p:tav tm="0">
                                          <p:val>
                                            <p:strVal val="#ppt_y-#ppt_h/2"/>
                                          </p:val>
                                        </p:tav>
                                        <p:tav tm="100000">
                                          <p:val>
                                            <p:strVal val="#ppt_y"/>
                                          </p:val>
                                        </p:tav>
                                      </p:tavLst>
                                    </p:anim>
                                    <p:anim calcmode="lin" valueType="num">
                                      <p:cBhvr>
                                        <p:cTn id="43" dur="500" fill="hold"/>
                                        <p:tgtEl>
                                          <p:spTgt spid="779323"/>
                                        </p:tgtEl>
                                        <p:attrNameLst>
                                          <p:attrName>ppt_w</p:attrName>
                                        </p:attrNameLst>
                                      </p:cBhvr>
                                      <p:tavLst>
                                        <p:tav tm="0">
                                          <p:val>
                                            <p:strVal val="#ppt_w"/>
                                          </p:val>
                                        </p:tav>
                                        <p:tav tm="100000">
                                          <p:val>
                                            <p:strVal val="#ppt_w"/>
                                          </p:val>
                                        </p:tav>
                                      </p:tavLst>
                                    </p:anim>
                                    <p:anim calcmode="lin" valueType="num">
                                      <p:cBhvr>
                                        <p:cTn id="44" dur="500" fill="hold"/>
                                        <p:tgtEl>
                                          <p:spTgt spid="77932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9323" grpId="0" bldLvl="0" animBg="1" autoUpdateAnimBg="0"/>
      <p:bldP spid="779324" grpId="0" bldLvl="0" animBg="1" autoUpdateAnimBg="0"/>
      <p:bldP spid="779338" grpId="0" autoUpdateAnimBg="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419" name="Group 9"/>
          <p:cNvGrpSpPr/>
          <p:nvPr/>
        </p:nvGrpSpPr>
        <p:grpSpPr bwMode="auto">
          <a:xfrm>
            <a:off x="228600" y="4562475"/>
            <a:ext cx="8305800" cy="2066925"/>
            <a:chOff x="144" y="2874"/>
            <a:chExt cx="5232" cy="1302"/>
          </a:xfrm>
        </p:grpSpPr>
        <p:sp>
          <p:nvSpPr>
            <p:cNvPr id="60475" name="AutoShape 10"/>
            <p:cNvSpPr>
              <a:spLocks noChangeArrowheads="1"/>
            </p:cNvSpPr>
            <p:nvPr/>
          </p:nvSpPr>
          <p:spPr bwMode="auto">
            <a:xfrm flipV="1">
              <a:off x="768" y="2976"/>
              <a:ext cx="4080" cy="1200"/>
            </a:xfrm>
            <a:custGeom>
              <a:avLst/>
              <a:gdLst>
                <a:gd name="T0" fmla="*/ 21 w 21600"/>
                <a:gd name="T1" fmla="*/ 0 h 21600"/>
                <a:gd name="T2" fmla="*/ 14 w 21600"/>
                <a:gd name="T3" fmla="*/ 0 h 21600"/>
                <a:gd name="T4" fmla="*/ 6 w 21600"/>
                <a:gd name="T5" fmla="*/ 0 h 21600"/>
                <a:gd name="T6" fmla="*/ 14 w 21600"/>
                <a:gd name="T7" fmla="*/ 0 h 21600"/>
                <a:gd name="T8" fmla="*/ 0 60000 65536"/>
                <a:gd name="T9" fmla="*/ 0 60000 65536"/>
                <a:gd name="T10" fmla="*/ 0 60000 65536"/>
                <a:gd name="T11" fmla="*/ 0 60000 65536"/>
                <a:gd name="T12" fmla="*/ 6713 w 21600"/>
                <a:gd name="T13" fmla="*/ 6714 h 21600"/>
                <a:gd name="T14" fmla="*/ 14887 w 21600"/>
                <a:gd name="T15" fmla="*/ 14886 h 21600"/>
              </a:gdLst>
              <a:ahLst/>
              <a:cxnLst>
                <a:cxn ang="T8">
                  <a:pos x="T0" y="T1"/>
                </a:cxn>
                <a:cxn ang="T9">
                  <a:pos x="T2" y="T3"/>
                </a:cxn>
                <a:cxn ang="T10">
                  <a:pos x="T4" y="T5"/>
                </a:cxn>
                <a:cxn ang="T11">
                  <a:pos x="T6" y="T7"/>
                </a:cxn>
              </a:cxnLst>
              <a:rect l="T12" t="T13" r="T14" b="T15"/>
              <a:pathLst>
                <a:path w="21600" h="21600">
                  <a:moveTo>
                    <a:pt x="0" y="0"/>
                  </a:moveTo>
                  <a:lnTo>
                    <a:pt x="9830" y="21600"/>
                  </a:lnTo>
                  <a:lnTo>
                    <a:pt x="11770" y="21600"/>
                  </a:lnTo>
                  <a:lnTo>
                    <a:pt x="21600" y="0"/>
                  </a:lnTo>
                  <a:lnTo>
                    <a:pt x="0" y="0"/>
                  </a:lnTo>
                  <a:close/>
                </a:path>
              </a:pathLst>
            </a:cu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0476" name="Line 11"/>
            <p:cNvSpPr>
              <a:spLocks noChangeShapeType="1"/>
            </p:cNvSpPr>
            <p:nvPr/>
          </p:nvSpPr>
          <p:spPr bwMode="auto">
            <a:xfrm>
              <a:off x="3072" y="3024"/>
              <a:ext cx="2304" cy="0"/>
            </a:xfrm>
            <a:prstGeom prst="line">
              <a:avLst/>
            </a:prstGeom>
            <a:noFill/>
            <a:ln w="22225">
              <a:solidFill>
                <a:srgbClr val="00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77" name="Line 12"/>
            <p:cNvSpPr>
              <a:spLocks noChangeShapeType="1"/>
            </p:cNvSpPr>
            <p:nvPr/>
          </p:nvSpPr>
          <p:spPr bwMode="auto">
            <a:xfrm>
              <a:off x="3648" y="3072"/>
              <a:ext cx="672" cy="0"/>
            </a:xfrm>
            <a:prstGeom prst="line">
              <a:avLst/>
            </a:prstGeom>
            <a:noFill/>
            <a:ln w="22225">
              <a:solidFill>
                <a:srgbClr val="00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78" name="Line 13"/>
            <p:cNvSpPr>
              <a:spLocks noChangeShapeType="1"/>
            </p:cNvSpPr>
            <p:nvPr/>
          </p:nvSpPr>
          <p:spPr bwMode="auto">
            <a:xfrm>
              <a:off x="3744" y="3132"/>
              <a:ext cx="432" cy="0"/>
            </a:xfrm>
            <a:prstGeom prst="line">
              <a:avLst/>
            </a:prstGeom>
            <a:noFill/>
            <a:ln w="22225">
              <a:solidFill>
                <a:srgbClr val="00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79" name="AutoShape 14"/>
            <p:cNvSpPr>
              <a:spLocks noChangeArrowheads="1"/>
            </p:cNvSpPr>
            <p:nvPr/>
          </p:nvSpPr>
          <p:spPr bwMode="auto">
            <a:xfrm flipV="1">
              <a:off x="3888" y="2874"/>
              <a:ext cx="144" cy="144"/>
            </a:xfrm>
            <a:prstGeom prst="triangle">
              <a:avLst>
                <a:gd name="adj" fmla="val 50000"/>
              </a:avLst>
            </a:prstGeom>
            <a:noFill/>
            <a:ln w="22225">
              <a:solidFill>
                <a:srgbClr val="0000FF"/>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60480" name="Freeform 15"/>
            <p:cNvSpPr/>
            <p:nvPr/>
          </p:nvSpPr>
          <p:spPr bwMode="auto">
            <a:xfrm>
              <a:off x="1440" y="3024"/>
              <a:ext cx="1632" cy="720"/>
            </a:xfrm>
            <a:custGeom>
              <a:avLst/>
              <a:gdLst>
                <a:gd name="T0" fmla="*/ 1632 w 1632"/>
                <a:gd name="T1" fmla="*/ 0 h 720"/>
                <a:gd name="T2" fmla="*/ 1536 w 1632"/>
                <a:gd name="T3" fmla="*/ 103 h 720"/>
                <a:gd name="T4" fmla="*/ 1303 w 1632"/>
                <a:gd name="T5" fmla="*/ 181 h 720"/>
                <a:gd name="T6" fmla="*/ 960 w 1632"/>
                <a:gd name="T7" fmla="*/ 309 h 720"/>
                <a:gd name="T8" fmla="*/ 624 w 1632"/>
                <a:gd name="T9" fmla="*/ 463 h 720"/>
                <a:gd name="T10" fmla="*/ 0 w 1632"/>
                <a:gd name="T11" fmla="*/ 720 h 720"/>
                <a:gd name="T12" fmla="*/ 0 60000 65536"/>
                <a:gd name="T13" fmla="*/ 0 60000 65536"/>
                <a:gd name="T14" fmla="*/ 0 60000 65536"/>
                <a:gd name="T15" fmla="*/ 0 60000 65536"/>
                <a:gd name="T16" fmla="*/ 0 60000 65536"/>
                <a:gd name="T17" fmla="*/ 0 60000 65536"/>
                <a:gd name="T18" fmla="*/ 0 w 1632"/>
                <a:gd name="T19" fmla="*/ 0 h 720"/>
                <a:gd name="T20" fmla="*/ 1632 w 1632"/>
                <a:gd name="T21" fmla="*/ 720 h 720"/>
              </a:gdLst>
              <a:ahLst/>
              <a:cxnLst>
                <a:cxn ang="T12">
                  <a:pos x="T0" y="T1"/>
                </a:cxn>
                <a:cxn ang="T13">
                  <a:pos x="T2" y="T3"/>
                </a:cxn>
                <a:cxn ang="T14">
                  <a:pos x="T4" y="T5"/>
                </a:cxn>
                <a:cxn ang="T15">
                  <a:pos x="T6" y="T7"/>
                </a:cxn>
                <a:cxn ang="T16">
                  <a:pos x="T8" y="T9"/>
                </a:cxn>
                <a:cxn ang="T17">
                  <a:pos x="T10" y="T11"/>
                </a:cxn>
              </a:cxnLst>
              <a:rect l="T18" t="T19" r="T20" b="T21"/>
              <a:pathLst>
                <a:path w="1632" h="720">
                  <a:moveTo>
                    <a:pt x="1632" y="0"/>
                  </a:moveTo>
                  <a:cubicBezTo>
                    <a:pt x="1612" y="30"/>
                    <a:pt x="1591" y="73"/>
                    <a:pt x="1536" y="103"/>
                  </a:cubicBezTo>
                  <a:cubicBezTo>
                    <a:pt x="1481" y="133"/>
                    <a:pt x="1399" y="147"/>
                    <a:pt x="1303" y="181"/>
                  </a:cubicBezTo>
                  <a:cubicBezTo>
                    <a:pt x="1207" y="215"/>
                    <a:pt x="1073" y="262"/>
                    <a:pt x="960" y="309"/>
                  </a:cubicBezTo>
                  <a:cubicBezTo>
                    <a:pt x="847" y="356"/>
                    <a:pt x="784" y="394"/>
                    <a:pt x="624" y="463"/>
                  </a:cubicBezTo>
                  <a:cubicBezTo>
                    <a:pt x="464" y="531"/>
                    <a:pt x="232" y="626"/>
                    <a:pt x="0" y="720"/>
                  </a:cubicBezTo>
                </a:path>
              </a:pathLst>
            </a:custGeom>
            <a:noFill/>
            <a:ln w="28575">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0481" name="AutoShape 16"/>
            <p:cNvSpPr>
              <a:spLocks noChangeArrowheads="1"/>
            </p:cNvSpPr>
            <p:nvPr/>
          </p:nvSpPr>
          <p:spPr bwMode="auto">
            <a:xfrm flipV="1">
              <a:off x="424" y="3648"/>
              <a:ext cx="160" cy="192"/>
            </a:xfrm>
            <a:prstGeom prst="triangle">
              <a:avLst>
                <a:gd name="adj" fmla="val 50000"/>
              </a:avLst>
            </a:prstGeom>
            <a:noFill/>
            <a:ln w="22225">
              <a:solidFill>
                <a:srgbClr val="0000FF"/>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60482" name="Line 17"/>
            <p:cNvSpPr>
              <a:spLocks noChangeShapeType="1"/>
            </p:cNvSpPr>
            <p:nvPr/>
          </p:nvSpPr>
          <p:spPr bwMode="auto">
            <a:xfrm>
              <a:off x="384" y="3888"/>
              <a:ext cx="240" cy="0"/>
            </a:xfrm>
            <a:prstGeom prst="line">
              <a:avLst/>
            </a:prstGeom>
            <a:noFill/>
            <a:ln w="22225">
              <a:solidFill>
                <a:srgbClr val="00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83" name="Line 18"/>
            <p:cNvSpPr>
              <a:spLocks noChangeShapeType="1"/>
            </p:cNvSpPr>
            <p:nvPr/>
          </p:nvSpPr>
          <p:spPr bwMode="auto">
            <a:xfrm>
              <a:off x="432" y="3936"/>
              <a:ext cx="120" cy="0"/>
            </a:xfrm>
            <a:prstGeom prst="line">
              <a:avLst/>
            </a:prstGeom>
            <a:noFill/>
            <a:ln w="22225">
              <a:solidFill>
                <a:srgbClr val="00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84" name="Line 19"/>
            <p:cNvSpPr>
              <a:spLocks noChangeShapeType="1"/>
            </p:cNvSpPr>
            <p:nvPr/>
          </p:nvSpPr>
          <p:spPr bwMode="auto">
            <a:xfrm>
              <a:off x="144" y="3840"/>
              <a:ext cx="1152" cy="0"/>
            </a:xfrm>
            <a:prstGeom prst="line">
              <a:avLst/>
            </a:prstGeom>
            <a:noFill/>
            <a:ln w="22225">
              <a:solidFill>
                <a:srgbClr val="00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85" name="Arc 20"/>
            <p:cNvSpPr/>
            <p:nvPr/>
          </p:nvSpPr>
          <p:spPr bwMode="auto">
            <a:xfrm rot="10800000" flipH="1">
              <a:off x="1008" y="2976"/>
              <a:ext cx="1872" cy="1056"/>
            </a:xfrm>
            <a:custGeom>
              <a:avLst/>
              <a:gdLst>
                <a:gd name="T0" fmla="*/ 0 w 21600"/>
                <a:gd name="T1" fmla="*/ 0 h 21600"/>
                <a:gd name="T2" fmla="*/ 1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2225">
              <a:solidFill>
                <a:srgbClr val="99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0486" name="Line 21"/>
            <p:cNvSpPr>
              <a:spLocks noChangeShapeType="1"/>
            </p:cNvSpPr>
            <p:nvPr/>
          </p:nvSpPr>
          <p:spPr bwMode="auto">
            <a:xfrm>
              <a:off x="1296" y="3840"/>
              <a:ext cx="1680" cy="0"/>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sp>
        <p:nvSpPr>
          <p:cNvPr id="780319" name="AutoShape 31"/>
          <p:cNvSpPr/>
          <p:nvPr/>
        </p:nvSpPr>
        <p:spPr bwMode="auto">
          <a:xfrm>
            <a:off x="4648200" y="1600200"/>
            <a:ext cx="1106488" cy="460375"/>
          </a:xfrm>
          <a:prstGeom prst="borderCallout1">
            <a:avLst>
              <a:gd name="adj1" fmla="val 24829"/>
              <a:gd name="adj2" fmla="val 106889"/>
              <a:gd name="adj3" fmla="val 222412"/>
              <a:gd name="adj4" fmla="val 158968"/>
            </a:avLst>
          </a:prstGeom>
          <a:gradFill rotWithShape="0">
            <a:gsLst>
              <a:gs pos="0">
                <a:srgbClr val="FFFF99"/>
              </a:gs>
              <a:gs pos="100000">
                <a:srgbClr val="FFFFFF"/>
              </a:gs>
            </a:gsLst>
            <a:lin ang="0" scaled="1"/>
          </a:gradFill>
          <a:ln w="3175">
            <a:solidFill>
              <a:srgbClr val="993300"/>
            </a:solidFill>
            <a:miter lim="800000"/>
          </a:ln>
        </p:spPr>
        <p:txBody>
          <a:bodyPr wrap="none"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rgbClr val="0000FF"/>
                </a:solidFill>
                <a:latin typeface="Times New Roman" panose="02020603050405020304" pitchFamily="18" charset="0"/>
                <a:ea typeface="楷体_GB2312" pitchFamily="49" charset="-122"/>
              </a:rPr>
              <a:t>等势线</a:t>
            </a:r>
            <a:endParaRPr kumimoji="1" lang="zh-CN" altLang="en-US" sz="2400" b="1">
              <a:solidFill>
                <a:srgbClr val="0000FF"/>
              </a:solidFill>
              <a:latin typeface="Times New Roman" panose="02020603050405020304" pitchFamily="18" charset="0"/>
            </a:endParaRPr>
          </a:p>
        </p:txBody>
      </p:sp>
      <p:sp>
        <p:nvSpPr>
          <p:cNvPr id="780320" name="AutoShape 32"/>
          <p:cNvSpPr/>
          <p:nvPr/>
        </p:nvSpPr>
        <p:spPr bwMode="auto">
          <a:xfrm>
            <a:off x="7696200" y="685800"/>
            <a:ext cx="1112838" cy="466725"/>
          </a:xfrm>
          <a:prstGeom prst="borderCallout1">
            <a:avLst>
              <a:gd name="adj1" fmla="val 24491"/>
              <a:gd name="adj2" fmla="val -6847"/>
              <a:gd name="adj3" fmla="val 240477"/>
              <a:gd name="adj4" fmla="val -79028"/>
            </a:avLst>
          </a:prstGeom>
          <a:gradFill rotWithShape="0">
            <a:gsLst>
              <a:gs pos="0">
                <a:srgbClr val="FFFF99"/>
              </a:gs>
              <a:gs pos="100000">
                <a:srgbClr val="FFFFFF"/>
              </a:gs>
            </a:gsLst>
            <a:lin ang="0" scaled="1"/>
          </a:gradFill>
          <a:ln w="9525">
            <a:solidFill>
              <a:srgbClr val="0000CC"/>
            </a:solidFill>
            <a:miter lim="800000"/>
          </a:ln>
        </p:spPr>
        <p:txBody>
          <a:bodyPr wrap="none"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rgbClr val="0000FF"/>
                </a:solidFill>
                <a:latin typeface="Times New Roman" panose="02020603050405020304" pitchFamily="18" charset="0"/>
                <a:ea typeface="楷体_GB2312" pitchFamily="49" charset="-122"/>
              </a:rPr>
              <a:t>浸润线</a:t>
            </a:r>
            <a:endParaRPr kumimoji="1" lang="zh-CN" altLang="en-US" sz="2400" b="1">
              <a:solidFill>
                <a:srgbClr val="0000FF"/>
              </a:solidFill>
              <a:latin typeface="Times New Roman" panose="02020603050405020304" pitchFamily="18" charset="0"/>
            </a:endParaRPr>
          </a:p>
        </p:txBody>
      </p:sp>
      <p:sp>
        <p:nvSpPr>
          <p:cNvPr id="60422" name="Rectangle 44"/>
          <p:cNvSpPr>
            <a:spLocks noChangeArrowheads="1"/>
          </p:cNvSpPr>
          <p:nvPr/>
        </p:nvSpPr>
        <p:spPr bwMode="auto">
          <a:xfrm>
            <a:off x="381000" y="1066800"/>
            <a:ext cx="480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a:r>
              <a:rPr kumimoji="1" lang="en-US" altLang="zh-CN" sz="2400" b="1">
                <a:solidFill>
                  <a:srgbClr val="0000FF"/>
                </a:solidFill>
                <a:latin typeface="宋体" panose="02010600030101010101" pitchFamily="2" charset="-122"/>
              </a:rPr>
              <a:t>(2) </a:t>
            </a:r>
            <a:r>
              <a:rPr kumimoji="1" lang="zh-CN" altLang="en-US" sz="2400" b="1">
                <a:solidFill>
                  <a:srgbClr val="0000FF"/>
                </a:solidFill>
                <a:latin typeface="宋体" panose="02010600030101010101" pitchFamily="2" charset="-122"/>
              </a:rPr>
              <a:t>部分在下游水位以下时</a:t>
            </a:r>
            <a:endParaRPr kumimoji="1" lang="zh-CN" altLang="en-US" sz="2400" b="1">
              <a:solidFill>
                <a:srgbClr val="0000FF"/>
              </a:solidFill>
              <a:latin typeface="宋体" panose="02010600030101010101" pitchFamily="2" charset="-122"/>
            </a:endParaRPr>
          </a:p>
        </p:txBody>
      </p:sp>
      <p:graphicFrame>
        <p:nvGraphicFramePr>
          <p:cNvPr id="780333" name="Object 45"/>
          <p:cNvGraphicFramePr>
            <a:graphicFrameLocks noChangeAspect="1"/>
          </p:cNvGraphicFramePr>
          <p:nvPr/>
        </p:nvGraphicFramePr>
        <p:xfrm>
          <a:off x="7239000" y="4000500"/>
          <a:ext cx="1371600" cy="536575"/>
        </p:xfrm>
        <a:graphic>
          <a:graphicData uri="http://schemas.openxmlformats.org/presentationml/2006/ole">
            <mc:AlternateContent xmlns:mc="http://schemas.openxmlformats.org/markup-compatibility/2006">
              <mc:Choice xmlns:v="urn:schemas-microsoft-com:vml" Requires="v">
                <p:oleObj spid="_x0000_s21564" name="Equation" r:id="rId1" imgW="584200" imgH="228600" progId="Equation.3">
                  <p:embed/>
                </p:oleObj>
              </mc:Choice>
              <mc:Fallback>
                <p:oleObj name="Equation" r:id="rId1" imgW="584200" imgH="228600" progId="Equation.3">
                  <p:embed/>
                  <p:pic>
                    <p:nvPicPr>
                      <p:cNvPr id="0" name="Object 4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4000500"/>
                        <a:ext cx="1371600" cy="536575"/>
                      </a:xfrm>
                      <a:prstGeom prst="rect">
                        <a:avLst/>
                      </a:prstGeom>
                      <a:solidFill>
                        <a:srgbClr val="99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47"/>
          <p:cNvGrpSpPr/>
          <p:nvPr/>
        </p:nvGrpSpPr>
        <p:grpSpPr bwMode="auto">
          <a:xfrm>
            <a:off x="2514600" y="5562600"/>
            <a:ext cx="304800" cy="762000"/>
            <a:chOff x="2112" y="2496"/>
            <a:chExt cx="192" cy="576"/>
          </a:xfrm>
        </p:grpSpPr>
        <p:sp>
          <p:nvSpPr>
            <p:cNvPr id="60471" name="Line 48"/>
            <p:cNvSpPr>
              <a:spLocks noChangeShapeType="1"/>
            </p:cNvSpPr>
            <p:nvPr/>
          </p:nvSpPr>
          <p:spPr bwMode="auto">
            <a:xfrm>
              <a:off x="2112" y="2640"/>
              <a:ext cx="0" cy="432"/>
            </a:xfrm>
            <a:prstGeom prst="line">
              <a:avLst/>
            </a:prstGeom>
            <a:noFill/>
            <a:ln w="22225">
              <a:solidFill>
                <a:srgbClr val="6699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0472" name="Line 49"/>
            <p:cNvSpPr>
              <a:spLocks noChangeShapeType="1"/>
            </p:cNvSpPr>
            <p:nvPr/>
          </p:nvSpPr>
          <p:spPr bwMode="auto">
            <a:xfrm>
              <a:off x="2304" y="2496"/>
              <a:ext cx="0" cy="528"/>
            </a:xfrm>
            <a:prstGeom prst="line">
              <a:avLst/>
            </a:prstGeom>
            <a:noFill/>
            <a:ln w="22225">
              <a:solidFill>
                <a:srgbClr val="6699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0473" name="Line 50"/>
            <p:cNvSpPr>
              <a:spLocks noChangeShapeType="1"/>
            </p:cNvSpPr>
            <p:nvPr/>
          </p:nvSpPr>
          <p:spPr bwMode="auto">
            <a:xfrm flipH="1">
              <a:off x="2112" y="2496"/>
              <a:ext cx="192" cy="144"/>
            </a:xfrm>
            <a:prstGeom prst="line">
              <a:avLst/>
            </a:prstGeom>
            <a:noFill/>
            <a:ln w="22225">
              <a:solidFill>
                <a:srgbClr val="6699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0474" name="Line 51"/>
            <p:cNvSpPr>
              <a:spLocks noChangeShapeType="1"/>
            </p:cNvSpPr>
            <p:nvPr/>
          </p:nvSpPr>
          <p:spPr bwMode="auto">
            <a:xfrm flipH="1">
              <a:off x="2112" y="3024"/>
              <a:ext cx="192" cy="48"/>
            </a:xfrm>
            <a:prstGeom prst="line">
              <a:avLst/>
            </a:prstGeom>
            <a:noFill/>
            <a:ln w="22225">
              <a:solidFill>
                <a:srgbClr val="6699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80349" name="Freeform 61"/>
          <p:cNvSpPr/>
          <p:nvPr/>
        </p:nvSpPr>
        <p:spPr bwMode="auto">
          <a:xfrm>
            <a:off x="1066800" y="6096000"/>
            <a:ext cx="533400" cy="304800"/>
          </a:xfrm>
          <a:custGeom>
            <a:avLst/>
            <a:gdLst>
              <a:gd name="T0" fmla="*/ 2147483646 w 310"/>
              <a:gd name="T1" fmla="*/ 2147483646 h 155"/>
              <a:gd name="T2" fmla="*/ 2147483646 w 310"/>
              <a:gd name="T3" fmla="*/ 2147483646 h 155"/>
              <a:gd name="T4" fmla="*/ 2147483646 w 310"/>
              <a:gd name="T5" fmla="*/ 2147483646 h 155"/>
              <a:gd name="T6" fmla="*/ 0 w 310"/>
              <a:gd name="T7" fmla="*/ 0 h 155"/>
              <a:gd name="T8" fmla="*/ 0 60000 65536"/>
              <a:gd name="T9" fmla="*/ 0 60000 65536"/>
              <a:gd name="T10" fmla="*/ 0 60000 65536"/>
              <a:gd name="T11" fmla="*/ 0 60000 65536"/>
              <a:gd name="T12" fmla="*/ 0 w 310"/>
              <a:gd name="T13" fmla="*/ 0 h 155"/>
              <a:gd name="T14" fmla="*/ 310 w 310"/>
              <a:gd name="T15" fmla="*/ 155 h 155"/>
            </a:gdLst>
            <a:ahLst/>
            <a:cxnLst>
              <a:cxn ang="T8">
                <a:pos x="T0" y="T1"/>
              </a:cxn>
              <a:cxn ang="T9">
                <a:pos x="T2" y="T3"/>
              </a:cxn>
              <a:cxn ang="T10">
                <a:pos x="T4" y="T5"/>
              </a:cxn>
              <a:cxn ang="T11">
                <a:pos x="T6" y="T7"/>
              </a:cxn>
            </a:cxnLst>
            <a:rect l="T12" t="T13" r="T14" b="T15"/>
            <a:pathLst>
              <a:path w="310" h="155">
                <a:moveTo>
                  <a:pt x="310" y="155"/>
                </a:moveTo>
                <a:cubicBezTo>
                  <a:pt x="234" y="136"/>
                  <a:pt x="173" y="103"/>
                  <a:pt x="104" y="69"/>
                </a:cubicBezTo>
                <a:cubicBezTo>
                  <a:pt x="13" y="24"/>
                  <a:pt x="125" y="80"/>
                  <a:pt x="35" y="35"/>
                </a:cubicBezTo>
                <a:cubicBezTo>
                  <a:pt x="20" y="28"/>
                  <a:pt x="0" y="0"/>
                  <a:pt x="0" y="0"/>
                </a:cubicBezTo>
              </a:path>
            </a:pathLst>
          </a:custGeom>
          <a:noFill/>
          <a:ln w="34925">
            <a:solidFill>
              <a:schemeClr val="folHlink"/>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4" name="Group 79"/>
          <p:cNvGrpSpPr/>
          <p:nvPr/>
        </p:nvGrpSpPr>
        <p:grpSpPr bwMode="auto">
          <a:xfrm>
            <a:off x="3657600" y="723900"/>
            <a:ext cx="5029200" cy="3594100"/>
            <a:chOff x="2304" y="456"/>
            <a:chExt cx="3168" cy="2264"/>
          </a:xfrm>
        </p:grpSpPr>
        <p:sp>
          <p:nvSpPr>
            <p:cNvPr id="60444" name="Line 22"/>
            <p:cNvSpPr>
              <a:spLocks noChangeShapeType="1"/>
            </p:cNvSpPr>
            <p:nvPr/>
          </p:nvSpPr>
          <p:spPr bwMode="auto">
            <a:xfrm>
              <a:off x="3696" y="840"/>
              <a:ext cx="0" cy="164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45" name="Line 23"/>
            <p:cNvSpPr>
              <a:spLocks noChangeShapeType="1"/>
            </p:cNvSpPr>
            <p:nvPr/>
          </p:nvSpPr>
          <p:spPr bwMode="auto">
            <a:xfrm flipV="1">
              <a:off x="3696" y="456"/>
              <a:ext cx="960" cy="38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46" name="Line 24"/>
            <p:cNvSpPr>
              <a:spLocks noChangeShapeType="1"/>
            </p:cNvSpPr>
            <p:nvPr/>
          </p:nvSpPr>
          <p:spPr bwMode="auto">
            <a:xfrm>
              <a:off x="4656" y="456"/>
              <a:ext cx="0" cy="177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47" name="Freeform 25"/>
            <p:cNvSpPr/>
            <p:nvPr/>
          </p:nvSpPr>
          <p:spPr bwMode="auto">
            <a:xfrm>
              <a:off x="3920" y="1384"/>
              <a:ext cx="256" cy="1040"/>
            </a:xfrm>
            <a:custGeom>
              <a:avLst/>
              <a:gdLst>
                <a:gd name="T0" fmla="*/ 90 w 432"/>
                <a:gd name="T1" fmla="*/ 3391 h 576"/>
                <a:gd name="T2" fmla="*/ 60 w 432"/>
                <a:gd name="T3" fmla="*/ 1132 h 576"/>
                <a:gd name="T4" fmla="*/ 0 w 432"/>
                <a:gd name="T5" fmla="*/ 0 h 576"/>
                <a:gd name="T6" fmla="*/ 0 60000 65536"/>
                <a:gd name="T7" fmla="*/ 0 60000 65536"/>
                <a:gd name="T8" fmla="*/ 0 60000 65536"/>
                <a:gd name="T9" fmla="*/ 0 w 432"/>
                <a:gd name="T10" fmla="*/ 0 h 576"/>
                <a:gd name="T11" fmla="*/ 432 w 432"/>
                <a:gd name="T12" fmla="*/ 576 h 576"/>
              </a:gdLst>
              <a:ahLst/>
              <a:cxnLst>
                <a:cxn ang="T6">
                  <a:pos x="T0" y="T1"/>
                </a:cxn>
                <a:cxn ang="T7">
                  <a:pos x="T2" y="T3"/>
                </a:cxn>
                <a:cxn ang="T8">
                  <a:pos x="T4" y="T5"/>
                </a:cxn>
              </a:cxnLst>
              <a:rect l="T9" t="T10" r="T11" b="T12"/>
              <a:pathLst>
                <a:path w="432" h="576">
                  <a:moveTo>
                    <a:pt x="432" y="576"/>
                  </a:moveTo>
                  <a:cubicBezTo>
                    <a:pt x="396" y="432"/>
                    <a:pt x="360" y="288"/>
                    <a:pt x="288" y="192"/>
                  </a:cubicBezTo>
                  <a:cubicBezTo>
                    <a:pt x="216" y="96"/>
                    <a:pt x="108" y="48"/>
                    <a:pt x="0" y="0"/>
                  </a:cubicBezTo>
                </a:path>
              </a:pathLst>
            </a:custGeom>
            <a:noFill/>
            <a:ln w="28575">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0448" name="Freeform 26"/>
            <p:cNvSpPr/>
            <p:nvPr/>
          </p:nvSpPr>
          <p:spPr bwMode="auto">
            <a:xfrm>
              <a:off x="3696" y="1032"/>
              <a:ext cx="960" cy="480"/>
            </a:xfrm>
            <a:custGeom>
              <a:avLst/>
              <a:gdLst>
                <a:gd name="T0" fmla="*/ 667 w 1152"/>
                <a:gd name="T1" fmla="*/ 0 h 624"/>
                <a:gd name="T2" fmla="*/ 361 w 1152"/>
                <a:gd name="T3" fmla="*/ 88 h 624"/>
                <a:gd name="T4" fmla="*/ 111 w 1152"/>
                <a:gd name="T5" fmla="*/ 218 h 624"/>
                <a:gd name="T6" fmla="*/ 0 w 1152"/>
                <a:gd name="T7" fmla="*/ 284 h 624"/>
                <a:gd name="T8" fmla="*/ 0 60000 65536"/>
                <a:gd name="T9" fmla="*/ 0 60000 65536"/>
                <a:gd name="T10" fmla="*/ 0 60000 65536"/>
                <a:gd name="T11" fmla="*/ 0 60000 65536"/>
                <a:gd name="T12" fmla="*/ 0 w 1152"/>
                <a:gd name="T13" fmla="*/ 0 h 624"/>
                <a:gd name="T14" fmla="*/ 1152 w 1152"/>
                <a:gd name="T15" fmla="*/ 624 h 624"/>
              </a:gdLst>
              <a:ahLst/>
              <a:cxnLst>
                <a:cxn ang="T8">
                  <a:pos x="T0" y="T1"/>
                </a:cxn>
                <a:cxn ang="T9">
                  <a:pos x="T2" y="T3"/>
                </a:cxn>
                <a:cxn ang="T10">
                  <a:pos x="T4" y="T5"/>
                </a:cxn>
                <a:cxn ang="T11">
                  <a:pos x="T6" y="T7"/>
                </a:cxn>
              </a:cxnLst>
              <a:rect l="T12" t="T13" r="T14" b="T15"/>
              <a:pathLst>
                <a:path w="1152" h="624">
                  <a:moveTo>
                    <a:pt x="1152" y="0"/>
                  </a:moveTo>
                  <a:cubicBezTo>
                    <a:pt x="968" y="56"/>
                    <a:pt x="784" y="112"/>
                    <a:pt x="624" y="192"/>
                  </a:cubicBezTo>
                  <a:cubicBezTo>
                    <a:pt x="464" y="272"/>
                    <a:pt x="296" y="408"/>
                    <a:pt x="192" y="480"/>
                  </a:cubicBezTo>
                  <a:cubicBezTo>
                    <a:pt x="88" y="552"/>
                    <a:pt x="16" y="608"/>
                    <a:pt x="0" y="624"/>
                  </a:cubicBezTo>
                </a:path>
              </a:pathLst>
            </a:custGeom>
            <a:noFill/>
            <a:ln w="28575">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0449" name="Text Box 27"/>
            <p:cNvSpPr txBox="1">
              <a:spLocks noChangeArrowheads="1"/>
            </p:cNvSpPr>
            <p:nvPr/>
          </p:nvSpPr>
          <p:spPr bwMode="auto">
            <a:xfrm>
              <a:off x="4176" y="1488"/>
              <a:ext cx="384"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lnSpc>
                  <a:spcPct val="125000"/>
                </a:lnSpc>
                <a:spcBef>
                  <a:spcPct val="0"/>
                </a:spcBef>
              </a:pPr>
              <a:r>
                <a:rPr kumimoji="1" lang="en-US" altLang="zh-CN" sz="2800" b="1" i="1">
                  <a:solidFill>
                    <a:srgbClr val="CC3300"/>
                  </a:solidFill>
                  <a:latin typeface="Times New Roman" panose="02020603050405020304" pitchFamily="18" charset="0"/>
                </a:rPr>
                <a:t>h</a:t>
              </a:r>
              <a:r>
                <a:rPr kumimoji="1" lang="en-US" altLang="zh-CN" sz="2800" b="1" baseline="-25000">
                  <a:solidFill>
                    <a:srgbClr val="CC3300"/>
                  </a:solidFill>
                  <a:latin typeface="Times New Roman" panose="02020603050405020304" pitchFamily="18" charset="0"/>
                </a:rPr>
                <a:t>2</a:t>
              </a:r>
              <a:r>
                <a:rPr kumimoji="1" lang="en-US" altLang="zh-CN" sz="2800" b="1" i="1" baseline="-25000">
                  <a:solidFill>
                    <a:srgbClr val="CC3300"/>
                  </a:solidFill>
                  <a:latin typeface="Times New Roman" panose="02020603050405020304" pitchFamily="18" charset="0"/>
                </a:rPr>
                <a:t>i</a:t>
              </a:r>
              <a:endParaRPr kumimoji="1" lang="en-US" altLang="zh-CN" sz="2800" b="1" baseline="-25000">
                <a:solidFill>
                  <a:srgbClr val="CC3300"/>
                </a:solidFill>
                <a:latin typeface="Times New Roman" panose="02020603050405020304" pitchFamily="18" charset="0"/>
              </a:endParaRPr>
            </a:p>
          </p:txBody>
        </p:sp>
        <p:sp>
          <p:nvSpPr>
            <p:cNvPr id="780316" name="AutoShape 28"/>
            <p:cNvSpPr/>
            <p:nvPr/>
          </p:nvSpPr>
          <p:spPr bwMode="auto">
            <a:xfrm>
              <a:off x="3600" y="768"/>
              <a:ext cx="816" cy="327"/>
            </a:xfrm>
            <a:prstGeom prst="callout2">
              <a:avLst>
                <a:gd name="adj1" fmla="val 22019"/>
                <a:gd name="adj2" fmla="val 105884"/>
                <a:gd name="adj3" fmla="val 22019"/>
                <a:gd name="adj4" fmla="val 121199"/>
                <a:gd name="adj5" fmla="val 159023"/>
                <a:gd name="adj6" fmla="val 139949"/>
              </a:avLst>
            </a:prstGeom>
            <a:noFill/>
            <a:ln w="9525">
              <a:noFill/>
              <a:miter lim="800000"/>
            </a:ln>
            <a:effectLst/>
          </p:spPr>
          <p:txBody>
            <a:bodyPr anchor="ctr">
              <a:spAutoFit/>
            </a:bodyPr>
            <a:lstStyle/>
            <a:p>
              <a:pPr algn="ctr" eaLnBrk="1" hangingPunct="1">
                <a:spcBef>
                  <a:spcPct val="20000"/>
                </a:spcBef>
                <a:defRPr/>
              </a:pPr>
              <a:r>
                <a:rPr kumimoji="1" lang="en-US" altLang="zh-CN" sz="2800" b="1" i="1">
                  <a:solidFill>
                    <a:schemeClr val="tx1"/>
                  </a:solidFill>
                  <a:latin typeface="Times New Roman" panose="02020603050405020304" pitchFamily="18" charset="0"/>
                </a:rPr>
                <a:t>h</a:t>
              </a:r>
              <a:r>
                <a:rPr kumimoji="1" lang="en-US" altLang="zh-CN" sz="2800" b="1" baseline="-25000">
                  <a:solidFill>
                    <a:schemeClr val="tx1"/>
                  </a:solidFill>
                  <a:latin typeface="Times New Roman" panose="02020603050405020304" pitchFamily="18" charset="0"/>
                </a:rPr>
                <a:t>1</a:t>
              </a:r>
              <a:r>
                <a:rPr kumimoji="1" lang="en-US" altLang="zh-CN" sz="2800" b="1" i="1" baseline="-25000">
                  <a:solidFill>
                    <a:schemeClr val="tx1"/>
                  </a:solidFill>
                  <a:latin typeface="Times New Roman" panose="02020603050405020304" pitchFamily="18" charset="0"/>
                </a:rPr>
                <a:t>i</a:t>
              </a:r>
              <a:r>
                <a:rPr kumimoji="1" lang="en-US" altLang="zh-CN" sz="2800" b="1" i="1">
                  <a:solidFill>
                    <a:srgbClr val="E7F9F5"/>
                  </a:solidFill>
                  <a:effectDag name="">
                    <a:cont type="tree" name="">
                      <a:effect ref="fillLine"/>
                      <a:outerShdw dist="38100" dir="13500000" algn="br">
                        <a:srgbClr val="F3FFFD"/>
                      </a:outerShdw>
                    </a:cont>
                    <a:cont type="tree" name="">
                      <a:effect ref="fillLine"/>
                      <a:outerShdw dist="38100" dir="2700000" algn="tl">
                        <a:srgbClr val="8A9592"/>
                      </a:outerShdw>
                    </a:cont>
                    <a:effect ref="fillLine"/>
                  </a:effectDag>
                  <a:latin typeface="Times New Roman" panose="02020603050405020304" pitchFamily="18" charset="0"/>
                </a:rPr>
                <a:t> </a:t>
              </a:r>
              <a:endParaRPr kumimoji="1" lang="en-US" altLang="zh-CN" sz="2800" b="1" i="1">
                <a:solidFill>
                  <a:srgbClr val="E7F9F5"/>
                </a:solidFill>
                <a:effectDag name="">
                  <a:cont type="tree" name="">
                    <a:effect ref="fillLine"/>
                    <a:outerShdw dist="38100" dir="13500000" algn="br">
                      <a:srgbClr val="F3FFFD"/>
                    </a:outerShdw>
                  </a:cont>
                  <a:cont type="tree" name="">
                    <a:effect ref="fillLine"/>
                    <a:outerShdw dist="38100" dir="2700000" algn="tl">
                      <a:srgbClr val="8A9592"/>
                    </a:outerShdw>
                  </a:cont>
                  <a:effect ref="fillLine"/>
                </a:effectDag>
                <a:latin typeface="Times New Roman" panose="02020603050405020304" pitchFamily="18" charset="0"/>
              </a:endParaRPr>
            </a:p>
          </p:txBody>
        </p:sp>
        <p:sp>
          <p:nvSpPr>
            <p:cNvPr id="60451" name="Line 29"/>
            <p:cNvSpPr>
              <a:spLocks noChangeShapeType="1"/>
            </p:cNvSpPr>
            <p:nvPr/>
          </p:nvSpPr>
          <p:spPr bwMode="auto">
            <a:xfrm>
              <a:off x="4944" y="1368"/>
              <a:ext cx="0" cy="744"/>
            </a:xfrm>
            <a:prstGeom prst="line">
              <a:avLst/>
            </a:prstGeom>
            <a:noFill/>
            <a:ln w="38100">
              <a:solidFill>
                <a:srgbClr val="0000CC"/>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52" name="Text Box 30"/>
            <p:cNvSpPr txBox="1">
              <a:spLocks noChangeArrowheads="1"/>
            </p:cNvSpPr>
            <p:nvPr/>
          </p:nvSpPr>
          <p:spPr bwMode="auto">
            <a:xfrm>
              <a:off x="4992" y="1536"/>
              <a:ext cx="384"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lnSpc>
                  <a:spcPct val="125000"/>
                </a:lnSpc>
                <a:spcBef>
                  <a:spcPct val="0"/>
                </a:spcBef>
              </a:pPr>
              <a:r>
                <a:rPr kumimoji="1" lang="en-US" altLang="zh-CN" sz="2800" b="1" i="1">
                  <a:solidFill>
                    <a:srgbClr val="0000CC"/>
                  </a:solidFill>
                  <a:latin typeface="Times New Roman" panose="02020603050405020304" pitchFamily="18" charset="0"/>
                </a:rPr>
                <a:t>h</a:t>
              </a:r>
              <a:r>
                <a:rPr kumimoji="1" lang="en-US" altLang="zh-CN" sz="2800" b="1" i="1" baseline="-25000">
                  <a:solidFill>
                    <a:srgbClr val="0000CC"/>
                  </a:solidFill>
                  <a:latin typeface="Times New Roman" panose="02020603050405020304" pitchFamily="18" charset="0"/>
                </a:rPr>
                <a:t>ti</a:t>
              </a:r>
              <a:endParaRPr kumimoji="1" lang="en-US" altLang="zh-CN" sz="2800" b="1" i="1" baseline="-25000">
                <a:solidFill>
                  <a:srgbClr val="0000CC"/>
                </a:solidFill>
                <a:latin typeface="Times New Roman" panose="02020603050405020304" pitchFamily="18" charset="0"/>
              </a:endParaRPr>
            </a:p>
          </p:txBody>
        </p:sp>
        <p:sp>
          <p:nvSpPr>
            <p:cNvPr id="60453" name="Line 33"/>
            <p:cNvSpPr>
              <a:spLocks noChangeShapeType="1"/>
            </p:cNvSpPr>
            <p:nvPr/>
          </p:nvSpPr>
          <p:spPr bwMode="auto">
            <a:xfrm flipH="1" flipV="1">
              <a:off x="3696" y="2424"/>
              <a:ext cx="16" cy="296"/>
            </a:xfrm>
            <a:prstGeom prst="line">
              <a:avLst/>
            </a:prstGeom>
            <a:noFill/>
            <a:ln w="28575">
              <a:solidFill>
                <a:srgbClr val="660066"/>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54" name="Line 34"/>
            <p:cNvSpPr>
              <a:spLocks noChangeShapeType="1"/>
            </p:cNvSpPr>
            <p:nvPr/>
          </p:nvSpPr>
          <p:spPr bwMode="auto">
            <a:xfrm flipH="1" flipV="1">
              <a:off x="3936" y="2472"/>
              <a:ext cx="32" cy="208"/>
            </a:xfrm>
            <a:prstGeom prst="line">
              <a:avLst/>
            </a:prstGeom>
            <a:noFill/>
            <a:ln w="28575">
              <a:solidFill>
                <a:srgbClr val="660066"/>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55" name="Line 35"/>
            <p:cNvSpPr>
              <a:spLocks noChangeShapeType="1"/>
            </p:cNvSpPr>
            <p:nvPr/>
          </p:nvSpPr>
          <p:spPr bwMode="auto">
            <a:xfrm flipH="1" flipV="1">
              <a:off x="4224" y="2424"/>
              <a:ext cx="48" cy="240"/>
            </a:xfrm>
            <a:prstGeom prst="line">
              <a:avLst/>
            </a:prstGeom>
            <a:noFill/>
            <a:ln w="28575">
              <a:solidFill>
                <a:srgbClr val="660066"/>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56" name="Line 36"/>
            <p:cNvSpPr>
              <a:spLocks noChangeShapeType="1"/>
            </p:cNvSpPr>
            <p:nvPr/>
          </p:nvSpPr>
          <p:spPr bwMode="auto">
            <a:xfrm flipH="1" flipV="1">
              <a:off x="4440" y="2352"/>
              <a:ext cx="80" cy="240"/>
            </a:xfrm>
            <a:prstGeom prst="line">
              <a:avLst/>
            </a:prstGeom>
            <a:noFill/>
            <a:ln w="28575">
              <a:solidFill>
                <a:srgbClr val="660066"/>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57" name="Line 37"/>
            <p:cNvSpPr>
              <a:spLocks noChangeShapeType="1"/>
            </p:cNvSpPr>
            <p:nvPr/>
          </p:nvSpPr>
          <p:spPr bwMode="auto">
            <a:xfrm flipH="1" flipV="1">
              <a:off x="4656" y="2280"/>
              <a:ext cx="96" cy="240"/>
            </a:xfrm>
            <a:prstGeom prst="line">
              <a:avLst/>
            </a:prstGeom>
            <a:noFill/>
            <a:ln w="28575">
              <a:solidFill>
                <a:srgbClr val="660066"/>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58" name="Freeform 38"/>
            <p:cNvSpPr/>
            <p:nvPr/>
          </p:nvSpPr>
          <p:spPr bwMode="auto">
            <a:xfrm>
              <a:off x="3696" y="2232"/>
              <a:ext cx="960" cy="240"/>
            </a:xfrm>
            <a:custGeom>
              <a:avLst/>
              <a:gdLst>
                <a:gd name="T0" fmla="*/ 0 w 960"/>
                <a:gd name="T1" fmla="*/ 240 h 240"/>
                <a:gd name="T2" fmla="*/ 528 w 960"/>
                <a:gd name="T3" fmla="*/ 192 h 240"/>
                <a:gd name="T4" fmla="*/ 960 w 960"/>
                <a:gd name="T5" fmla="*/ 0 h 240"/>
                <a:gd name="T6" fmla="*/ 0 60000 65536"/>
                <a:gd name="T7" fmla="*/ 0 60000 65536"/>
                <a:gd name="T8" fmla="*/ 0 60000 65536"/>
                <a:gd name="T9" fmla="*/ 0 w 960"/>
                <a:gd name="T10" fmla="*/ 0 h 240"/>
                <a:gd name="T11" fmla="*/ 960 w 960"/>
                <a:gd name="T12" fmla="*/ 240 h 240"/>
              </a:gdLst>
              <a:ahLst/>
              <a:cxnLst>
                <a:cxn ang="T6">
                  <a:pos x="T0" y="T1"/>
                </a:cxn>
                <a:cxn ang="T7">
                  <a:pos x="T2" y="T3"/>
                </a:cxn>
                <a:cxn ang="T8">
                  <a:pos x="T4" y="T5"/>
                </a:cxn>
              </a:cxnLst>
              <a:rect l="T9" t="T10" r="T11" b="T12"/>
              <a:pathLst>
                <a:path w="960" h="240">
                  <a:moveTo>
                    <a:pt x="0" y="240"/>
                  </a:moveTo>
                  <a:cubicBezTo>
                    <a:pt x="184" y="236"/>
                    <a:pt x="368" y="232"/>
                    <a:pt x="528" y="192"/>
                  </a:cubicBezTo>
                  <a:cubicBezTo>
                    <a:pt x="688" y="152"/>
                    <a:pt x="824" y="76"/>
                    <a:pt x="960" y="0"/>
                  </a:cubicBezTo>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0459" name="Line 39"/>
            <p:cNvSpPr>
              <a:spLocks noChangeShapeType="1"/>
            </p:cNvSpPr>
            <p:nvPr/>
          </p:nvSpPr>
          <p:spPr bwMode="auto">
            <a:xfrm>
              <a:off x="4176" y="1176"/>
              <a:ext cx="0" cy="936"/>
            </a:xfrm>
            <a:prstGeom prst="line">
              <a:avLst/>
            </a:prstGeom>
            <a:noFill/>
            <a:ln w="34925">
              <a:solidFill>
                <a:srgbClr val="FF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60460" name="Line 40"/>
            <p:cNvSpPr>
              <a:spLocks noChangeShapeType="1"/>
            </p:cNvSpPr>
            <p:nvPr/>
          </p:nvSpPr>
          <p:spPr bwMode="auto">
            <a:xfrm>
              <a:off x="4176" y="648"/>
              <a:ext cx="0" cy="528"/>
            </a:xfrm>
            <a:prstGeom prst="line">
              <a:avLst/>
            </a:prstGeom>
            <a:noFill/>
            <a:ln w="349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60461" name="Line 41"/>
            <p:cNvSpPr>
              <a:spLocks noChangeShapeType="1"/>
            </p:cNvSpPr>
            <p:nvPr/>
          </p:nvSpPr>
          <p:spPr bwMode="auto">
            <a:xfrm>
              <a:off x="4176" y="2424"/>
              <a:ext cx="105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0462" name="Line 42"/>
            <p:cNvSpPr>
              <a:spLocks noChangeShapeType="1"/>
            </p:cNvSpPr>
            <p:nvPr/>
          </p:nvSpPr>
          <p:spPr bwMode="auto">
            <a:xfrm>
              <a:off x="3936" y="1368"/>
              <a:ext cx="153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60463" name="Group 59"/>
            <p:cNvGrpSpPr/>
            <p:nvPr/>
          </p:nvGrpSpPr>
          <p:grpSpPr bwMode="auto">
            <a:xfrm>
              <a:off x="2304" y="1776"/>
              <a:ext cx="2976" cy="432"/>
              <a:chOff x="2304" y="1776"/>
              <a:chExt cx="2976" cy="432"/>
            </a:xfrm>
          </p:grpSpPr>
          <p:sp>
            <p:nvSpPr>
              <p:cNvPr id="60466" name="Line 52"/>
              <p:cNvSpPr>
                <a:spLocks noChangeShapeType="1"/>
              </p:cNvSpPr>
              <p:nvPr/>
            </p:nvSpPr>
            <p:spPr bwMode="auto">
              <a:xfrm>
                <a:off x="2304" y="2112"/>
                <a:ext cx="2976" cy="0"/>
              </a:xfrm>
              <a:prstGeom prst="line">
                <a:avLst/>
              </a:prstGeom>
              <a:noFill/>
              <a:ln w="38100">
                <a:solidFill>
                  <a:srgbClr val="00CC00"/>
                </a:solidFill>
                <a:prstDash val="lg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67" name="Text Box 53"/>
              <p:cNvSpPr txBox="1">
                <a:spLocks noChangeArrowheads="1"/>
              </p:cNvSpPr>
              <p:nvPr/>
            </p:nvSpPr>
            <p:spPr bwMode="auto">
              <a:xfrm>
                <a:off x="2736" y="1776"/>
                <a:ext cx="912"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lnSpc>
                    <a:spcPct val="125000"/>
                  </a:lnSpc>
                  <a:spcBef>
                    <a:spcPct val="0"/>
                  </a:spcBef>
                </a:pPr>
                <a:r>
                  <a:rPr kumimoji="1" lang="zh-CN" altLang="en-US" sz="2400" b="1">
                    <a:solidFill>
                      <a:srgbClr val="33CC33"/>
                    </a:solidFill>
                    <a:latin typeface="Times New Roman" panose="02020603050405020304" pitchFamily="18" charset="0"/>
                    <a:ea typeface="华文新魏" panose="02010800040101010101" pitchFamily="2" charset="-122"/>
                  </a:rPr>
                  <a:t>下游水位</a:t>
                </a:r>
                <a:endParaRPr kumimoji="1" lang="zh-CN" altLang="en-US" sz="2400" b="1" baseline="-25000">
                  <a:solidFill>
                    <a:srgbClr val="33CC33"/>
                  </a:solidFill>
                  <a:latin typeface="Times New Roman" panose="02020603050405020304" pitchFamily="18" charset="0"/>
                  <a:ea typeface="华文新魏" panose="02010800040101010101" pitchFamily="2" charset="-122"/>
                </a:endParaRPr>
              </a:p>
            </p:txBody>
          </p:sp>
          <p:sp>
            <p:nvSpPr>
              <p:cNvPr id="60468" name="AutoShape 54"/>
              <p:cNvSpPr>
                <a:spLocks noChangeArrowheads="1"/>
              </p:cNvSpPr>
              <p:nvPr/>
            </p:nvSpPr>
            <p:spPr bwMode="auto">
              <a:xfrm flipV="1">
                <a:off x="2592" y="1968"/>
                <a:ext cx="192" cy="144"/>
              </a:xfrm>
              <a:prstGeom prst="triangle">
                <a:avLst>
                  <a:gd name="adj" fmla="val 50000"/>
                </a:avLst>
              </a:prstGeom>
              <a:noFill/>
              <a:ln w="22225">
                <a:solidFill>
                  <a:schemeClr val="folHlink"/>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60469" name="Line 55"/>
              <p:cNvSpPr>
                <a:spLocks noChangeShapeType="1"/>
              </p:cNvSpPr>
              <p:nvPr/>
            </p:nvSpPr>
            <p:spPr bwMode="auto">
              <a:xfrm>
                <a:off x="2592" y="2160"/>
                <a:ext cx="240" cy="0"/>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70" name="Line 56"/>
              <p:cNvSpPr>
                <a:spLocks noChangeShapeType="1"/>
              </p:cNvSpPr>
              <p:nvPr/>
            </p:nvSpPr>
            <p:spPr bwMode="auto">
              <a:xfrm>
                <a:off x="2640" y="2208"/>
                <a:ext cx="120" cy="0"/>
              </a:xfrm>
              <a:prstGeom prst="line">
                <a:avLst/>
              </a:prstGeom>
              <a:noFill/>
              <a:ln w="22225">
                <a:solidFill>
                  <a:schemeClr val="folHlink"/>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60464" name="Line 62"/>
            <p:cNvSpPr>
              <a:spLocks noChangeShapeType="1"/>
            </p:cNvSpPr>
            <p:nvPr/>
          </p:nvSpPr>
          <p:spPr bwMode="auto">
            <a:xfrm>
              <a:off x="4944" y="2112"/>
              <a:ext cx="0" cy="336"/>
            </a:xfrm>
            <a:prstGeom prst="line">
              <a:avLst/>
            </a:prstGeom>
            <a:noFill/>
            <a:ln w="34925">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60465" name="Text Box 63"/>
            <p:cNvSpPr txBox="1">
              <a:spLocks noChangeArrowheads="1"/>
            </p:cNvSpPr>
            <p:nvPr/>
          </p:nvSpPr>
          <p:spPr bwMode="auto">
            <a:xfrm>
              <a:off x="4944" y="2016"/>
              <a:ext cx="432"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lnSpc>
                  <a:spcPct val="125000"/>
                </a:lnSpc>
                <a:spcBef>
                  <a:spcPct val="0"/>
                </a:spcBef>
              </a:pPr>
              <a:r>
                <a:rPr kumimoji="1" lang="en-US" altLang="zh-CN" sz="2800" b="1" i="1">
                  <a:solidFill>
                    <a:schemeClr val="folHlink"/>
                  </a:solidFill>
                  <a:latin typeface="Times New Roman" panose="02020603050405020304" pitchFamily="18" charset="0"/>
                </a:rPr>
                <a:t>h</a:t>
              </a:r>
              <a:r>
                <a:rPr kumimoji="1" lang="en-US" altLang="zh-CN" sz="2800" b="1" baseline="-25000">
                  <a:solidFill>
                    <a:schemeClr val="folHlink"/>
                  </a:solidFill>
                  <a:latin typeface="Times New Roman" panose="02020603050405020304" pitchFamily="18" charset="0"/>
                </a:rPr>
                <a:t>3</a:t>
              </a:r>
              <a:r>
                <a:rPr kumimoji="1" lang="en-US" altLang="zh-CN" sz="2800" b="1" i="1" baseline="-25000">
                  <a:solidFill>
                    <a:schemeClr val="folHlink"/>
                  </a:solidFill>
                  <a:latin typeface="Times New Roman" panose="02020603050405020304" pitchFamily="18" charset="0"/>
                </a:rPr>
                <a:t>i</a:t>
              </a:r>
              <a:endParaRPr kumimoji="1" lang="en-US" altLang="zh-CN" sz="2800" b="1" baseline="-25000">
                <a:solidFill>
                  <a:schemeClr val="folHlink"/>
                </a:solidFill>
                <a:latin typeface="Times New Roman" panose="02020603050405020304" pitchFamily="18" charset="0"/>
              </a:endParaRPr>
            </a:p>
          </p:txBody>
        </p:sp>
      </p:grpSp>
      <p:grpSp>
        <p:nvGrpSpPr>
          <p:cNvPr id="6" name="Group 78"/>
          <p:cNvGrpSpPr/>
          <p:nvPr/>
        </p:nvGrpSpPr>
        <p:grpSpPr bwMode="auto">
          <a:xfrm>
            <a:off x="1143000" y="6096000"/>
            <a:ext cx="1981200" cy="304800"/>
            <a:chOff x="720" y="3840"/>
            <a:chExt cx="1248" cy="192"/>
          </a:xfrm>
        </p:grpSpPr>
        <p:sp>
          <p:nvSpPr>
            <p:cNvPr id="60430" name="Line 64"/>
            <p:cNvSpPr>
              <a:spLocks noChangeShapeType="1"/>
            </p:cNvSpPr>
            <p:nvPr/>
          </p:nvSpPr>
          <p:spPr bwMode="auto">
            <a:xfrm flipH="1">
              <a:off x="768" y="3840"/>
              <a:ext cx="48" cy="48"/>
            </a:xfrm>
            <a:prstGeom prst="line">
              <a:avLst/>
            </a:prstGeom>
            <a:noFill/>
            <a:ln w="22225">
              <a:solidFill>
                <a:srgbClr val="9966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60431" name="Line 65"/>
            <p:cNvSpPr>
              <a:spLocks noChangeShapeType="1"/>
            </p:cNvSpPr>
            <p:nvPr/>
          </p:nvSpPr>
          <p:spPr bwMode="auto">
            <a:xfrm flipH="1">
              <a:off x="816" y="3840"/>
              <a:ext cx="96" cy="96"/>
            </a:xfrm>
            <a:prstGeom prst="line">
              <a:avLst/>
            </a:prstGeom>
            <a:noFill/>
            <a:ln w="22225">
              <a:solidFill>
                <a:srgbClr val="9966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60432" name="Line 66"/>
            <p:cNvSpPr>
              <a:spLocks noChangeShapeType="1"/>
            </p:cNvSpPr>
            <p:nvPr/>
          </p:nvSpPr>
          <p:spPr bwMode="auto">
            <a:xfrm flipH="1">
              <a:off x="864" y="3840"/>
              <a:ext cx="144" cy="144"/>
            </a:xfrm>
            <a:prstGeom prst="line">
              <a:avLst/>
            </a:prstGeom>
            <a:noFill/>
            <a:ln w="22225">
              <a:solidFill>
                <a:srgbClr val="9966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60433" name="Line 67"/>
            <p:cNvSpPr>
              <a:spLocks noChangeShapeType="1"/>
            </p:cNvSpPr>
            <p:nvPr/>
          </p:nvSpPr>
          <p:spPr bwMode="auto">
            <a:xfrm flipH="1">
              <a:off x="960" y="3840"/>
              <a:ext cx="144" cy="144"/>
            </a:xfrm>
            <a:prstGeom prst="line">
              <a:avLst/>
            </a:prstGeom>
            <a:noFill/>
            <a:ln w="22225">
              <a:solidFill>
                <a:srgbClr val="9966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60434" name="Line 68"/>
            <p:cNvSpPr>
              <a:spLocks noChangeShapeType="1"/>
            </p:cNvSpPr>
            <p:nvPr/>
          </p:nvSpPr>
          <p:spPr bwMode="auto">
            <a:xfrm flipH="1">
              <a:off x="1008" y="3840"/>
              <a:ext cx="192" cy="192"/>
            </a:xfrm>
            <a:prstGeom prst="line">
              <a:avLst/>
            </a:prstGeom>
            <a:noFill/>
            <a:ln w="22225">
              <a:solidFill>
                <a:srgbClr val="9966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60435" name="Line 69"/>
            <p:cNvSpPr>
              <a:spLocks noChangeShapeType="1"/>
            </p:cNvSpPr>
            <p:nvPr/>
          </p:nvSpPr>
          <p:spPr bwMode="auto">
            <a:xfrm flipH="1">
              <a:off x="1104" y="3840"/>
              <a:ext cx="192" cy="192"/>
            </a:xfrm>
            <a:prstGeom prst="line">
              <a:avLst/>
            </a:prstGeom>
            <a:noFill/>
            <a:ln w="22225">
              <a:solidFill>
                <a:srgbClr val="9966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60436" name="Line 70"/>
            <p:cNvSpPr>
              <a:spLocks noChangeShapeType="1"/>
            </p:cNvSpPr>
            <p:nvPr/>
          </p:nvSpPr>
          <p:spPr bwMode="auto">
            <a:xfrm flipH="1">
              <a:off x="1200" y="3840"/>
              <a:ext cx="192" cy="192"/>
            </a:xfrm>
            <a:prstGeom prst="line">
              <a:avLst/>
            </a:prstGeom>
            <a:noFill/>
            <a:ln w="22225">
              <a:solidFill>
                <a:srgbClr val="9966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60437" name="Line 71"/>
            <p:cNvSpPr>
              <a:spLocks noChangeShapeType="1"/>
            </p:cNvSpPr>
            <p:nvPr/>
          </p:nvSpPr>
          <p:spPr bwMode="auto">
            <a:xfrm flipH="1">
              <a:off x="1296" y="3840"/>
              <a:ext cx="192" cy="192"/>
            </a:xfrm>
            <a:prstGeom prst="line">
              <a:avLst/>
            </a:prstGeom>
            <a:noFill/>
            <a:ln w="22225">
              <a:solidFill>
                <a:srgbClr val="9966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60438" name="Line 72"/>
            <p:cNvSpPr>
              <a:spLocks noChangeShapeType="1"/>
            </p:cNvSpPr>
            <p:nvPr/>
          </p:nvSpPr>
          <p:spPr bwMode="auto">
            <a:xfrm flipH="1">
              <a:off x="1392" y="3840"/>
              <a:ext cx="192" cy="192"/>
            </a:xfrm>
            <a:prstGeom prst="line">
              <a:avLst/>
            </a:prstGeom>
            <a:noFill/>
            <a:ln w="22225">
              <a:solidFill>
                <a:srgbClr val="9966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60439" name="Line 73"/>
            <p:cNvSpPr>
              <a:spLocks noChangeShapeType="1"/>
            </p:cNvSpPr>
            <p:nvPr/>
          </p:nvSpPr>
          <p:spPr bwMode="auto">
            <a:xfrm flipH="1">
              <a:off x="1536" y="3840"/>
              <a:ext cx="144" cy="144"/>
            </a:xfrm>
            <a:prstGeom prst="line">
              <a:avLst/>
            </a:prstGeom>
            <a:noFill/>
            <a:ln w="22225">
              <a:solidFill>
                <a:srgbClr val="9966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60440" name="Line 74"/>
            <p:cNvSpPr>
              <a:spLocks noChangeShapeType="1"/>
            </p:cNvSpPr>
            <p:nvPr/>
          </p:nvSpPr>
          <p:spPr bwMode="auto">
            <a:xfrm flipH="1">
              <a:off x="1632" y="3840"/>
              <a:ext cx="144" cy="144"/>
            </a:xfrm>
            <a:prstGeom prst="line">
              <a:avLst/>
            </a:prstGeom>
            <a:noFill/>
            <a:ln w="22225">
              <a:solidFill>
                <a:srgbClr val="9966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60441" name="Line 75"/>
            <p:cNvSpPr>
              <a:spLocks noChangeShapeType="1"/>
            </p:cNvSpPr>
            <p:nvPr/>
          </p:nvSpPr>
          <p:spPr bwMode="auto">
            <a:xfrm flipH="1">
              <a:off x="1776" y="3840"/>
              <a:ext cx="96" cy="96"/>
            </a:xfrm>
            <a:prstGeom prst="line">
              <a:avLst/>
            </a:prstGeom>
            <a:noFill/>
            <a:ln w="22225">
              <a:solidFill>
                <a:srgbClr val="9966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60442" name="Line 76"/>
            <p:cNvSpPr>
              <a:spLocks noChangeShapeType="1"/>
            </p:cNvSpPr>
            <p:nvPr/>
          </p:nvSpPr>
          <p:spPr bwMode="auto">
            <a:xfrm flipH="1">
              <a:off x="1920" y="3840"/>
              <a:ext cx="48" cy="48"/>
            </a:xfrm>
            <a:prstGeom prst="line">
              <a:avLst/>
            </a:prstGeom>
            <a:noFill/>
            <a:ln w="22225">
              <a:solidFill>
                <a:srgbClr val="9966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60443" name="Line 77"/>
            <p:cNvSpPr>
              <a:spLocks noChangeShapeType="1"/>
            </p:cNvSpPr>
            <p:nvPr/>
          </p:nvSpPr>
          <p:spPr bwMode="auto">
            <a:xfrm flipH="1">
              <a:off x="720" y="3840"/>
              <a:ext cx="48" cy="48"/>
            </a:xfrm>
            <a:prstGeom prst="line">
              <a:avLst/>
            </a:prstGeom>
            <a:noFill/>
            <a:ln w="22225">
              <a:solidFill>
                <a:srgbClr val="996633"/>
              </a:solidFill>
              <a:round/>
            </a:ln>
            <a:extLst>
              <a:ext uri="{909E8E84-426E-40DD-AFC4-6F175D3DCCD1}">
                <a14:hiddenFill xmlns:a14="http://schemas.microsoft.com/office/drawing/2010/main">
                  <a:noFill/>
                </a14:hiddenFill>
              </a:ext>
            </a:extLst>
          </p:spPr>
          <p:txBody>
            <a:bodyPr/>
            <a:lstStyle/>
            <a:p>
              <a:endParaRPr lang="zh-CN" altLang="en-US"/>
            </a:p>
          </p:txBody>
        </p:sp>
      </p:grpSp>
      <mc:AlternateContent xmlns:mc="http://schemas.openxmlformats.org/markup-compatibility/2006">
        <mc:Choice xmlns:a14="http://schemas.microsoft.com/office/drawing/2010/main" Requires="a14">
          <p:sp>
            <p:nvSpPr>
              <p:cNvPr id="70" name="文本框 69"/>
              <p:cNvSpPr txBox="1"/>
              <p:nvPr/>
            </p:nvSpPr>
            <p:spPr>
              <a:xfrm>
                <a:off x="261730" y="2181711"/>
                <a:ext cx="5360827" cy="790088"/>
              </a:xfrm>
              <a:prstGeom prst="rect">
                <a:avLst/>
              </a:prstGeom>
              <a:solidFill>
                <a:srgbClr val="FFFF00"/>
              </a:solid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m:rPr>
                          <m:sty m:val="p"/>
                        </m:rPr>
                        <a:rPr lang="en-US" altLang="zh-CN" sz="2400" b="0" i="0" smtClean="0">
                          <a:latin typeface="Cambria Math" panose="02040503050406030204" pitchFamily="18" charset="0"/>
                        </a:rPr>
                        <m:t>K</m:t>
                      </m:r>
                      <m:r>
                        <a:rPr lang="en-US" altLang="zh-CN" sz="2400" b="0" i="0" smtClean="0">
                          <a:latin typeface="Cambria Math" panose="02040503050406030204" pitchFamily="18" charset="0"/>
                        </a:rPr>
                        <m:t>=</m:t>
                      </m:r>
                      <m:f>
                        <m:fPr>
                          <m:ctrlPr>
                            <a:rPr lang="en-US" altLang="zh-CN" sz="2400" b="0" i="1" smtClean="0">
                              <a:latin typeface="Cambria Math" panose="02040503050406030204" pitchFamily="18" charset="0"/>
                            </a:rPr>
                          </m:ctrlPr>
                        </m:fPr>
                        <m:num>
                          <m:nary>
                            <m:naryPr>
                              <m:chr m:val="∑"/>
                              <m:subHide m:val="on"/>
                              <m:supHide m:val="on"/>
                              <m:ctrlPr>
                                <a:rPr lang="en-US" altLang="zh-CN" sz="2400" b="0" i="1" smtClean="0">
                                  <a:latin typeface="Cambria Math" panose="02040503050406030204" pitchFamily="18" charset="0"/>
                                </a:rPr>
                              </m:ctrlPr>
                            </m:naryPr>
                            <m:sub/>
                            <m:sup/>
                            <m:e>
                              <m:r>
                                <a:rPr lang="en-US" altLang="zh-CN" sz="2400" b="0" i="1" smtClean="0">
                                  <a:latin typeface="Cambria Math" panose="02040503050406030204" pitchFamily="18" charset="0"/>
                                </a:rPr>
                                <m:t>[</m:t>
                              </m:r>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𝑖</m:t>
                                  </m:r>
                                </m:sub>
                                <m:sup>
                                  <m:r>
                                    <a:rPr lang="en-US" altLang="zh-CN" sz="2400" b="0" i="1" smtClean="0">
                                      <a:latin typeface="Cambria Math" panose="02040503050406030204" pitchFamily="18" charset="0"/>
                                    </a:rPr>
                                    <m:t>′</m:t>
                                  </m:r>
                                </m:sup>
                              </m:sSubSup>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𝑙</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𝐺</m:t>
                                  </m:r>
                                </m:e>
                                <m:sub>
                                  <m:r>
                                    <a:rPr lang="en-US" altLang="zh-CN" sz="2400" b="0" i="1" smtClean="0">
                                      <a:latin typeface="Cambria Math" panose="02040503050406030204" pitchFamily="18" charset="0"/>
                                    </a:rPr>
                                    <m:t>𝑖</m:t>
                                  </m:r>
                                </m:sub>
                              </m:sSub>
                              <m:func>
                                <m:funcPr>
                                  <m:ctrlPr>
                                    <a:rPr lang="en-US" altLang="zh-CN" sz="2400" i="1" smtClean="0">
                                      <a:latin typeface="Cambria Math" panose="02040503050406030204" pitchFamily="18" charset="0"/>
                                    </a:rPr>
                                  </m:ctrlPr>
                                </m:funcPr>
                                <m:fName>
                                  <m:r>
                                    <m:rPr>
                                      <m:sty m:val="p"/>
                                    </m:rPr>
                                    <a:rPr lang="en-US" altLang="zh-CN" sz="2400" i="0" smtClean="0">
                                      <a:latin typeface="Cambria Math" panose="02040503050406030204" pitchFamily="18" charset="0"/>
                                    </a:rPr>
                                    <m:t>cos</m:t>
                                  </m:r>
                                </m:fName>
                                <m:e>
                                  <m:sSub>
                                    <m:sSubPr>
                                      <m:ctrlPr>
                                        <a:rPr lang="en-US" altLang="zh-CN" sz="2400" i="1" smtClean="0">
                                          <a:latin typeface="Cambria Math" panose="02040503050406030204" pitchFamily="18" charset="0"/>
                                        </a:rPr>
                                      </m:ctrlPr>
                                    </m:sSubPr>
                                    <m:e>
                                      <m:r>
                                        <a:rPr lang="zh-CN" altLang="en-US" sz="2400" i="1" smtClean="0">
                                          <a:latin typeface="Cambria Math" panose="02040503050406030204" pitchFamily="18" charset="0"/>
                                        </a:rPr>
                                        <m:t>𝜃</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𝛾</m:t>
                                      </m:r>
                                    </m:e>
                                    <m:sub>
                                      <m:r>
                                        <a:rPr lang="en-US" altLang="zh-CN" sz="2400" b="0" i="1" smtClean="0">
                                          <a:latin typeface="Cambria Math" panose="02040503050406030204" pitchFamily="18" charset="0"/>
                                        </a:rPr>
                                        <m:t>𝑤</m:t>
                                      </m:r>
                                    </m:sub>
                                  </m:sSub>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ℎ</m:t>
                                      </m:r>
                                    </m:e>
                                    <m:sub>
                                      <m:r>
                                        <a:rPr lang="en-US" altLang="zh-CN" sz="2400" b="0" i="1" smtClean="0">
                                          <a:latin typeface="Cambria Math" panose="02040503050406030204" pitchFamily="18" charset="0"/>
                                        </a:rPr>
                                        <m:t>𝑡𝑖</m:t>
                                      </m:r>
                                    </m:sub>
                                  </m:sSub>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𝑙</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tan</m:t>
                                      </m:r>
                                    </m:fName>
                                    <m:e>
                                      <m:sSubSup>
                                        <m:sSubSupPr>
                                          <m:ctrlPr>
                                            <a:rPr lang="en-US" altLang="zh-CN" sz="2400" b="0" i="1" smtClean="0">
                                              <a:latin typeface="Cambria Math" panose="02040503050406030204" pitchFamily="18" charset="0"/>
                                            </a:rPr>
                                          </m:ctrlPr>
                                        </m:sSubSupPr>
                                        <m:e>
                                          <m:r>
                                            <a:rPr lang="zh-CN" altLang="en-US" sz="2400" b="0" i="1" smtClean="0">
                                              <a:latin typeface="Cambria Math" panose="02040503050406030204" pitchFamily="18" charset="0"/>
                                            </a:rPr>
                                            <m:t>𝜑</m:t>
                                          </m:r>
                                        </m:e>
                                        <m:sub>
                                          <m:r>
                                            <a:rPr lang="en-US" altLang="zh-CN" sz="2400" b="0" i="1" smtClean="0">
                                              <a:latin typeface="Cambria Math" panose="02040503050406030204" pitchFamily="18" charset="0"/>
                                            </a:rPr>
                                            <m:t>𝑖</m:t>
                                          </m:r>
                                        </m:sub>
                                        <m:sup>
                                          <m:r>
                                            <a:rPr lang="en-US" altLang="zh-CN" sz="2400" b="0" i="1" smtClean="0">
                                              <a:latin typeface="Cambria Math" panose="02040503050406030204" pitchFamily="18" charset="0"/>
                                            </a:rPr>
                                            <m:t>′</m:t>
                                          </m:r>
                                        </m:sup>
                                      </m:sSubSup>
                                      <m:r>
                                        <a:rPr lang="en-US" altLang="zh-CN" sz="2400" b="0" i="1" smtClean="0">
                                          <a:latin typeface="Cambria Math" panose="02040503050406030204" pitchFamily="18" charset="0"/>
                                        </a:rPr>
                                        <m:t>]</m:t>
                                      </m:r>
                                    </m:e>
                                  </m:func>
                                </m:e>
                              </m:func>
                            </m:e>
                          </m:nary>
                        </m:num>
                        <m:den>
                          <m:nary>
                            <m:naryPr>
                              <m:chr m:val="∑"/>
                              <m:subHide m:val="on"/>
                              <m:supHide m:val="on"/>
                              <m:ctrlPr>
                                <a:rPr lang="en-US" altLang="zh-CN" sz="2400" b="0" i="1" smtClean="0">
                                  <a:latin typeface="Cambria Math" panose="02040503050406030204" pitchFamily="18" charset="0"/>
                                </a:rPr>
                              </m:ctrlPr>
                            </m:naryPr>
                            <m:sub/>
                            <m:sup/>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𝐺</m:t>
                                  </m:r>
                                </m:e>
                                <m:sub>
                                  <m:r>
                                    <a:rPr lang="en-US" altLang="zh-CN" sz="2400" b="0" i="1" smtClean="0">
                                      <a:latin typeface="Cambria Math" panose="02040503050406030204" pitchFamily="18" charset="0"/>
                                    </a:rPr>
                                    <m:t>𝑖</m:t>
                                  </m:r>
                                </m:sub>
                              </m:sSub>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sin</m:t>
                                  </m:r>
                                </m:fName>
                                <m:e>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𝜃</m:t>
                                      </m:r>
                                    </m:e>
                                    <m:sub>
                                      <m:r>
                                        <a:rPr lang="en-US" altLang="zh-CN" sz="2400" b="0" i="1" smtClean="0">
                                          <a:latin typeface="Cambria Math" panose="02040503050406030204" pitchFamily="18" charset="0"/>
                                        </a:rPr>
                                        <m:t>𝑖</m:t>
                                      </m:r>
                                    </m:sub>
                                  </m:sSub>
                                </m:e>
                              </m:func>
                            </m:e>
                          </m:nary>
                        </m:den>
                      </m:f>
                    </m:oMath>
                  </m:oMathPara>
                </a14:m>
                <a:endParaRPr lang="zh-CN" altLang="en-US" sz="2400" dirty="0">
                  <a:latin typeface="Times New Roman" panose="02020603050405020304" pitchFamily="18" charset="0"/>
                  <a:cs typeface="Times New Roman" panose="02020603050405020304" pitchFamily="18" charset="0"/>
                </a:endParaRPr>
              </a:p>
            </p:txBody>
          </p:sp>
        </mc:Choice>
        <mc:Fallback>
          <p:sp>
            <p:nvSpPr>
              <p:cNvPr id="70" name="文本框 69"/>
              <p:cNvSpPr txBox="1">
                <a:spLocks noRot="1" noChangeAspect="1" noMove="1" noResize="1" noEditPoints="1" noAdjustHandles="1" noChangeArrowheads="1" noChangeShapeType="1" noTextEdit="1"/>
              </p:cNvSpPr>
              <p:nvPr/>
            </p:nvSpPr>
            <p:spPr>
              <a:xfrm>
                <a:off x="261730" y="2181711"/>
                <a:ext cx="5360827" cy="790088"/>
              </a:xfrm>
              <a:prstGeom prst="rect">
                <a:avLst/>
              </a:prstGeom>
              <a:blipFill rotWithShape="1">
                <a:blip r:embed="rId3"/>
                <a:stretch>
                  <a:fillRect l="-2" t="-62" r="5" b="8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1" name="文本框 70"/>
              <p:cNvSpPr txBox="1"/>
              <p:nvPr/>
            </p:nvSpPr>
            <p:spPr>
              <a:xfrm>
                <a:off x="556197" y="3835401"/>
                <a:ext cx="4162550" cy="369332"/>
              </a:xfrm>
              <a:prstGeom prst="rect">
                <a:avLst/>
              </a:prstGeom>
              <a:solidFill>
                <a:schemeClr val="tx2">
                  <a:lumMod val="20000"/>
                  <a:lumOff val="80000"/>
                </a:schemeClr>
              </a:solid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𝐺</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𝛾</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ℎ</m:t>
                          </m:r>
                        </m:e>
                        <m:sub>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𝛾</m:t>
                          </m:r>
                        </m:e>
                        <m:sub>
                          <m:r>
                            <a:rPr lang="en-US" altLang="zh-CN" sz="2400" b="0" i="1" smtClean="0">
                              <a:latin typeface="Cambria Math" panose="02040503050406030204" pitchFamily="18" charset="0"/>
                            </a:rPr>
                            <m:t>𝑠𝑎𝑡</m:t>
                          </m:r>
                        </m:sub>
                      </m:sSub>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ℎ</m:t>
                          </m:r>
                        </m:e>
                        <m:sub>
                          <m:r>
                            <a:rPr lang="en-US" altLang="zh-CN" sz="2400" b="0" i="1" smtClean="0">
                              <a:latin typeface="Cambria Math" panose="02040503050406030204" pitchFamily="18" charset="0"/>
                            </a:rPr>
                            <m:t>2</m:t>
                          </m:r>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zh-CN" altLang="en-US" sz="2400" b="0" i="1" smtClean="0">
                              <a:latin typeface="Cambria Math" panose="02040503050406030204" pitchFamily="18" charset="0"/>
                            </a:rPr>
                            <m:t>𝛾</m:t>
                          </m:r>
                        </m:e>
                        <m:sup>
                          <m:r>
                            <a:rPr lang="en-US" altLang="zh-CN" sz="2400" b="0" i="1" smtClean="0">
                              <a:latin typeface="Cambria Math" panose="02040503050406030204" pitchFamily="18" charset="0"/>
                            </a:rPr>
                            <m:t>′</m:t>
                          </m:r>
                        </m:sup>
                      </m:sSup>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ℎ</m:t>
                          </m:r>
                        </m:e>
                        <m:sub>
                          <m:r>
                            <a:rPr lang="en-US" altLang="zh-CN" sz="2400" b="0" i="1" smtClean="0">
                              <a:latin typeface="Cambria Math" panose="02040503050406030204" pitchFamily="18" charset="0"/>
                            </a:rPr>
                            <m:t>3</m:t>
                          </m:r>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𝑏</m:t>
                          </m:r>
                        </m:e>
                        <m:sub>
                          <m:r>
                            <a:rPr lang="en-US" altLang="zh-CN" sz="2400" b="0" i="1" smtClean="0">
                              <a:latin typeface="Cambria Math" panose="02040503050406030204" pitchFamily="18" charset="0"/>
                            </a:rPr>
                            <m:t>𝑖</m:t>
                          </m:r>
                        </m:sub>
                      </m:sSub>
                    </m:oMath>
                  </m:oMathPara>
                </a14:m>
                <a:endParaRPr lang="zh-CN" altLang="en-US" sz="2400" dirty="0">
                  <a:latin typeface="Times New Roman" panose="02020603050405020304" pitchFamily="18" charset="0"/>
                  <a:cs typeface="Times New Roman" panose="02020603050405020304" pitchFamily="18" charset="0"/>
                </a:endParaRPr>
              </a:p>
            </p:txBody>
          </p:sp>
        </mc:Choice>
        <mc:Fallback>
          <p:sp>
            <p:nvSpPr>
              <p:cNvPr id="71" name="文本框 70"/>
              <p:cNvSpPr txBox="1">
                <a:spLocks noRot="1" noChangeAspect="1" noMove="1" noResize="1" noEditPoints="1" noAdjustHandles="1" noChangeArrowheads="1" noChangeShapeType="1" noTextEdit="1"/>
              </p:cNvSpPr>
              <p:nvPr/>
            </p:nvSpPr>
            <p:spPr>
              <a:xfrm>
                <a:off x="556197" y="3835401"/>
                <a:ext cx="4162550" cy="369332"/>
              </a:xfrm>
              <a:prstGeom prst="rect">
                <a:avLst/>
              </a:prstGeom>
              <a:blipFill rotWithShape="1">
                <a:blip r:embed="rId4"/>
                <a:stretch>
                  <a:fillRect l="-14" r="-166" b="108"/>
                </a:stretch>
              </a:blipFill>
            </p:spPr>
            <p:txBody>
              <a:bodyPr/>
              <a:lstStyle/>
              <a:p>
                <a:r>
                  <a:rPr lang="zh-CN" altLang="en-US">
                    <a:noFill/>
                  </a:rPr>
                  <a:t> </a:t>
                </a:r>
              </a:p>
            </p:txBody>
          </p:sp>
        </mc:Fallback>
      </mc:AlternateContent>
      <p:sp>
        <p:nvSpPr>
          <p:cNvPr id="72" name="Rectangle 6"/>
          <p:cNvSpPr>
            <a:spLocks noChangeArrowheads="1"/>
          </p:cNvSpPr>
          <p:nvPr/>
        </p:nvSpPr>
        <p:spPr bwMode="auto">
          <a:xfrm>
            <a:off x="0" y="-7396"/>
            <a:ext cx="4788024"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§6.4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土坡稳定性的影响因素</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780349"/>
                                        </p:tgtEl>
                                        <p:attrNameLst>
                                          <p:attrName>style.visibility</p:attrName>
                                        </p:attrNameLst>
                                      </p:cBhvr>
                                      <p:to>
                                        <p:strVal val="visible"/>
                                      </p:to>
                                    </p:set>
                                    <p:animEffect transition="in" filter="wipe(right)">
                                      <p:cBhvr>
                                        <p:cTn id="12" dur="500"/>
                                        <p:tgtEl>
                                          <p:spTgt spid="78034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dissolv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780333"/>
                                        </p:tgtEl>
                                        <p:attrNameLst>
                                          <p:attrName>style.visibility</p:attrName>
                                        </p:attrNameLst>
                                      </p:cBhvr>
                                      <p:to>
                                        <p:strVal val="visible"/>
                                      </p:to>
                                    </p:set>
                                    <p:animEffect transition="in" filter="dissolve">
                                      <p:cBhvr>
                                        <p:cTn id="27" dur="500"/>
                                        <p:tgtEl>
                                          <p:spTgt spid="780333"/>
                                        </p:tgtEl>
                                      </p:cBhvr>
                                    </p:animEffect>
                                  </p:childTnLst>
                                </p:cTn>
                              </p:par>
                            </p:childTnLst>
                          </p:cTn>
                        </p:par>
                      </p:childTnLst>
                    </p:cTn>
                  </p:par>
                  <p:par>
                    <p:cTn id="28" fill="hold">
                      <p:stCondLst>
                        <p:cond delay="indefinite"/>
                      </p:stCondLst>
                      <p:childTnLst>
                        <p:par>
                          <p:cTn id="29" fill="hold">
                            <p:stCondLst>
                              <p:cond delay="0"/>
                            </p:stCondLst>
                            <p:childTnLst>
                              <p:par>
                                <p:cTn id="30" presetID="17" presetClass="entr" presetSubtype="1" fill="hold" grpId="0" nodeType="clickEffect">
                                  <p:stCondLst>
                                    <p:cond delay="0"/>
                                  </p:stCondLst>
                                  <p:childTnLst>
                                    <p:set>
                                      <p:cBhvr>
                                        <p:cTn id="31" dur="1" fill="hold">
                                          <p:stCondLst>
                                            <p:cond delay="0"/>
                                          </p:stCondLst>
                                        </p:cTn>
                                        <p:tgtEl>
                                          <p:spTgt spid="780320"/>
                                        </p:tgtEl>
                                        <p:attrNameLst>
                                          <p:attrName>style.visibility</p:attrName>
                                        </p:attrNameLst>
                                      </p:cBhvr>
                                      <p:to>
                                        <p:strVal val="visible"/>
                                      </p:to>
                                    </p:set>
                                    <p:anim calcmode="lin" valueType="num">
                                      <p:cBhvr>
                                        <p:cTn id="32" dur="500" fill="hold"/>
                                        <p:tgtEl>
                                          <p:spTgt spid="780320"/>
                                        </p:tgtEl>
                                        <p:attrNameLst>
                                          <p:attrName>ppt_x</p:attrName>
                                        </p:attrNameLst>
                                      </p:cBhvr>
                                      <p:tavLst>
                                        <p:tav tm="0">
                                          <p:val>
                                            <p:strVal val="#ppt_x"/>
                                          </p:val>
                                        </p:tav>
                                        <p:tav tm="100000">
                                          <p:val>
                                            <p:strVal val="#ppt_x"/>
                                          </p:val>
                                        </p:tav>
                                      </p:tavLst>
                                    </p:anim>
                                    <p:anim calcmode="lin" valueType="num">
                                      <p:cBhvr>
                                        <p:cTn id="33" dur="500" fill="hold"/>
                                        <p:tgtEl>
                                          <p:spTgt spid="780320"/>
                                        </p:tgtEl>
                                        <p:attrNameLst>
                                          <p:attrName>ppt_y</p:attrName>
                                        </p:attrNameLst>
                                      </p:cBhvr>
                                      <p:tavLst>
                                        <p:tav tm="0">
                                          <p:val>
                                            <p:strVal val="#ppt_y-#ppt_h/2"/>
                                          </p:val>
                                        </p:tav>
                                        <p:tav tm="100000">
                                          <p:val>
                                            <p:strVal val="#ppt_y"/>
                                          </p:val>
                                        </p:tav>
                                      </p:tavLst>
                                    </p:anim>
                                    <p:anim calcmode="lin" valueType="num">
                                      <p:cBhvr>
                                        <p:cTn id="34" dur="500" fill="hold"/>
                                        <p:tgtEl>
                                          <p:spTgt spid="780320"/>
                                        </p:tgtEl>
                                        <p:attrNameLst>
                                          <p:attrName>ppt_w</p:attrName>
                                        </p:attrNameLst>
                                      </p:cBhvr>
                                      <p:tavLst>
                                        <p:tav tm="0">
                                          <p:val>
                                            <p:strVal val="#ppt_w"/>
                                          </p:val>
                                        </p:tav>
                                        <p:tav tm="100000">
                                          <p:val>
                                            <p:strVal val="#ppt_w"/>
                                          </p:val>
                                        </p:tav>
                                      </p:tavLst>
                                    </p:anim>
                                    <p:anim calcmode="lin" valueType="num">
                                      <p:cBhvr>
                                        <p:cTn id="35" dur="500" fill="hold"/>
                                        <p:tgtEl>
                                          <p:spTgt spid="780320"/>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17" presetClass="entr" presetSubtype="1" fill="hold" grpId="0" nodeType="clickEffect">
                                  <p:stCondLst>
                                    <p:cond delay="0"/>
                                  </p:stCondLst>
                                  <p:childTnLst>
                                    <p:set>
                                      <p:cBhvr>
                                        <p:cTn id="39" dur="1" fill="hold">
                                          <p:stCondLst>
                                            <p:cond delay="0"/>
                                          </p:stCondLst>
                                        </p:cTn>
                                        <p:tgtEl>
                                          <p:spTgt spid="780319"/>
                                        </p:tgtEl>
                                        <p:attrNameLst>
                                          <p:attrName>style.visibility</p:attrName>
                                        </p:attrNameLst>
                                      </p:cBhvr>
                                      <p:to>
                                        <p:strVal val="visible"/>
                                      </p:to>
                                    </p:set>
                                    <p:anim calcmode="lin" valueType="num">
                                      <p:cBhvr>
                                        <p:cTn id="40" dur="500" fill="hold"/>
                                        <p:tgtEl>
                                          <p:spTgt spid="780319"/>
                                        </p:tgtEl>
                                        <p:attrNameLst>
                                          <p:attrName>ppt_x</p:attrName>
                                        </p:attrNameLst>
                                      </p:cBhvr>
                                      <p:tavLst>
                                        <p:tav tm="0">
                                          <p:val>
                                            <p:strVal val="#ppt_x"/>
                                          </p:val>
                                        </p:tav>
                                        <p:tav tm="100000">
                                          <p:val>
                                            <p:strVal val="#ppt_x"/>
                                          </p:val>
                                        </p:tav>
                                      </p:tavLst>
                                    </p:anim>
                                    <p:anim calcmode="lin" valueType="num">
                                      <p:cBhvr>
                                        <p:cTn id="41" dur="500" fill="hold"/>
                                        <p:tgtEl>
                                          <p:spTgt spid="780319"/>
                                        </p:tgtEl>
                                        <p:attrNameLst>
                                          <p:attrName>ppt_y</p:attrName>
                                        </p:attrNameLst>
                                      </p:cBhvr>
                                      <p:tavLst>
                                        <p:tav tm="0">
                                          <p:val>
                                            <p:strVal val="#ppt_y-#ppt_h/2"/>
                                          </p:val>
                                        </p:tav>
                                        <p:tav tm="100000">
                                          <p:val>
                                            <p:strVal val="#ppt_y"/>
                                          </p:val>
                                        </p:tav>
                                      </p:tavLst>
                                    </p:anim>
                                    <p:anim calcmode="lin" valueType="num">
                                      <p:cBhvr>
                                        <p:cTn id="42" dur="500" fill="hold"/>
                                        <p:tgtEl>
                                          <p:spTgt spid="780319"/>
                                        </p:tgtEl>
                                        <p:attrNameLst>
                                          <p:attrName>ppt_w</p:attrName>
                                        </p:attrNameLst>
                                      </p:cBhvr>
                                      <p:tavLst>
                                        <p:tav tm="0">
                                          <p:val>
                                            <p:strVal val="#ppt_w"/>
                                          </p:val>
                                        </p:tav>
                                        <p:tav tm="100000">
                                          <p:val>
                                            <p:strVal val="#ppt_w"/>
                                          </p:val>
                                        </p:tav>
                                      </p:tavLst>
                                    </p:anim>
                                    <p:anim calcmode="lin" valueType="num">
                                      <p:cBhvr>
                                        <p:cTn id="43" dur="500" fill="hold"/>
                                        <p:tgtEl>
                                          <p:spTgt spid="78031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0319" grpId="0" bldLvl="0" animBg="1" autoUpdateAnimBg="0"/>
      <p:bldP spid="780320" grpId="0" bldLvl="0" animBg="1" autoUpdateAnimBg="0"/>
    </p:bldLst>
  </p:timing>
</p:sld>
</file>

<file path=ppt/slides/slide10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7" name="Rectangle 3"/>
          <p:cNvSpPr>
            <a:spLocks noGrp="1" noChangeArrowheads="1"/>
          </p:cNvSpPr>
          <p:nvPr>
            <p:ph type="body" idx="1"/>
          </p:nvPr>
        </p:nvSpPr>
        <p:spPr bwMode="auto">
          <a:xfrm>
            <a:off x="1600200" y="2057400"/>
            <a:ext cx="6629400" cy="3429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buClr>
                <a:schemeClr val="folHlink"/>
              </a:buClr>
              <a:buFontTx/>
              <a:buNone/>
            </a:pPr>
            <a:r>
              <a:rPr lang="en-US" altLang="zh-CN" sz="3600" b="1" dirty="0" smtClean="0">
                <a:solidFill>
                  <a:schemeClr val="bg1">
                    <a:lumMod val="95000"/>
                  </a:schemeClr>
                </a:solidFill>
                <a:latin typeface="Times New Roman" panose="02020603050405020304" pitchFamily="18" charset="0"/>
                <a:cs typeface="Times New Roman" panose="02020603050405020304" pitchFamily="18" charset="0"/>
              </a:rPr>
              <a:t>§6.1 </a:t>
            </a:r>
            <a:r>
              <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rPr>
              <a:t>概述</a:t>
            </a:r>
            <a:endPar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endParaRPr>
          </a:p>
          <a:p>
            <a:pPr eaLnBrk="1" hangingPunct="1">
              <a:buClr>
                <a:schemeClr val="folHlink"/>
              </a:buClr>
              <a:buFontTx/>
              <a:buNone/>
            </a:pPr>
            <a:r>
              <a:rPr lang="en-US" altLang="zh-CN" sz="3600" b="1" dirty="0" smtClean="0">
                <a:solidFill>
                  <a:schemeClr val="bg1">
                    <a:lumMod val="95000"/>
                  </a:schemeClr>
                </a:solidFill>
                <a:latin typeface="Times New Roman" panose="02020603050405020304" pitchFamily="18" charset="0"/>
                <a:cs typeface="Times New Roman" panose="02020603050405020304" pitchFamily="18" charset="0"/>
              </a:rPr>
              <a:t>§6.2 </a:t>
            </a:r>
            <a:r>
              <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rPr>
              <a:t>无黏性土坡的稳定性</a:t>
            </a:r>
            <a:endPar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endParaRPr>
          </a:p>
          <a:p>
            <a:pPr eaLnBrk="1" hangingPunct="1">
              <a:buClr>
                <a:schemeClr val="folHlink"/>
              </a:buClr>
              <a:buFontTx/>
              <a:buNone/>
            </a:pPr>
            <a:r>
              <a:rPr lang="en-US" altLang="zh-CN" sz="3600" b="1" dirty="0" smtClean="0">
                <a:solidFill>
                  <a:schemeClr val="bg1">
                    <a:lumMod val="95000"/>
                  </a:schemeClr>
                </a:solidFill>
                <a:latin typeface="Times New Roman" panose="02020603050405020304" pitchFamily="18" charset="0"/>
                <a:cs typeface="Times New Roman" panose="02020603050405020304" pitchFamily="18" charset="0"/>
              </a:rPr>
              <a:t>§6.3 </a:t>
            </a:r>
            <a:r>
              <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rPr>
              <a:t>黏性土坡的稳定性</a:t>
            </a:r>
            <a:endPar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endParaRPr>
          </a:p>
          <a:p>
            <a:pPr eaLnBrk="1" hangingPunct="1">
              <a:buClr>
                <a:schemeClr val="folHlink"/>
              </a:buClr>
              <a:buFontTx/>
              <a:buNone/>
            </a:pPr>
            <a:r>
              <a:rPr lang="en-US" altLang="zh-CN" sz="3600" b="1" dirty="0" smtClean="0">
                <a:solidFill>
                  <a:schemeClr val="bg1">
                    <a:lumMod val="95000"/>
                  </a:schemeClr>
                </a:solidFill>
                <a:latin typeface="Times New Roman" panose="02020603050405020304" pitchFamily="18" charset="0"/>
                <a:cs typeface="Times New Roman" panose="02020603050405020304" pitchFamily="18" charset="0"/>
              </a:rPr>
              <a:t>§6.4 </a:t>
            </a:r>
            <a:r>
              <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rPr>
              <a:t>土坡稳定性的影响因素</a:t>
            </a:r>
            <a:endParaRPr lang="zh-CN" altLang="en-US" sz="3600" b="1" dirty="0" smtClean="0">
              <a:solidFill>
                <a:schemeClr val="bg1">
                  <a:lumMod val="95000"/>
                </a:schemeClr>
              </a:solidFill>
              <a:latin typeface="Times New Roman" panose="02020603050405020304" pitchFamily="18" charset="0"/>
              <a:cs typeface="Times New Roman" panose="02020603050405020304" pitchFamily="18" charset="0"/>
            </a:endParaRPr>
          </a:p>
          <a:p>
            <a:pPr eaLnBrk="1" hangingPunct="1">
              <a:buClr>
                <a:schemeClr val="folHlink"/>
              </a:buClr>
              <a:buFontTx/>
              <a:buNone/>
            </a:pPr>
            <a:r>
              <a:rPr lang="en-US" altLang="zh-CN" sz="3600" b="1" dirty="0" smtClean="0">
                <a:latin typeface="Times New Roman" panose="02020603050405020304" pitchFamily="18" charset="0"/>
                <a:cs typeface="Times New Roman" panose="02020603050405020304" pitchFamily="18" charset="0"/>
              </a:rPr>
              <a:t>§6.5 </a:t>
            </a:r>
            <a:r>
              <a:rPr lang="zh-CN" altLang="en-US" sz="3600" b="1" dirty="0" smtClean="0">
                <a:latin typeface="Times New Roman" panose="02020603050405020304" pitchFamily="18" charset="0"/>
                <a:cs typeface="Times New Roman" panose="02020603050405020304" pitchFamily="18" charset="0"/>
              </a:rPr>
              <a:t>地基的稳定性</a:t>
            </a:r>
            <a:r>
              <a:rPr lang="en-US" altLang="zh-CN" sz="3600" b="1" dirty="0" smtClean="0">
                <a:latin typeface="Times New Roman" panose="02020603050405020304" pitchFamily="18" charset="0"/>
                <a:cs typeface="Times New Roman" panose="02020603050405020304" pitchFamily="18" charset="0"/>
              </a:rPr>
              <a:t> </a:t>
            </a:r>
            <a:endParaRPr lang="zh-CN" altLang="en-US" sz="3600" b="1" dirty="0" smtClean="0">
              <a:latin typeface="Times New Roman" panose="02020603050405020304" pitchFamily="18" charset="0"/>
              <a:cs typeface="Times New Roman" panose="02020603050405020304" pitchFamily="18" charset="0"/>
            </a:endParaRPr>
          </a:p>
        </p:txBody>
      </p:sp>
      <p:sp>
        <p:nvSpPr>
          <p:cNvPr id="3075" name="Rectangle 52"/>
          <p:cNvSpPr>
            <a:spLocks noChangeArrowheads="1"/>
          </p:cNvSpPr>
          <p:nvPr/>
        </p:nvSpPr>
        <p:spPr bwMode="auto">
          <a:xfrm>
            <a:off x="1071563" y="762000"/>
            <a:ext cx="74295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0"/>
              </a:spcBef>
            </a:pPr>
            <a:r>
              <a:rPr lang="zh-CN" altLang="en-US" b="1" dirty="0" smtClean="0">
                <a:solidFill>
                  <a:srgbClr val="FF0000"/>
                </a:solidFill>
                <a:latin typeface="+mj-ea"/>
                <a:ea typeface="+mj-ea"/>
              </a:rPr>
              <a:t>第六章 </a:t>
            </a:r>
            <a:r>
              <a:rPr lang="zh-CN" altLang="en-US" b="1" dirty="0">
                <a:solidFill>
                  <a:srgbClr val="FF0000"/>
                </a:solidFill>
                <a:latin typeface="+mj-ea"/>
                <a:ea typeface="+mj-ea"/>
              </a:rPr>
              <a:t>土坡和地基的稳定性</a:t>
            </a:r>
            <a:endParaRPr lang="zh-CN" altLang="en-US" b="1" dirty="0">
              <a:solidFill>
                <a:srgbClr val="FF0000"/>
              </a:solidFill>
              <a:latin typeface="+mj-ea"/>
              <a:ea typeface="+mj-ea"/>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6627"/>
                                        </p:tgtEl>
                                        <p:attrNameLst>
                                          <p:attrName>style.visibility</p:attrName>
                                        </p:attrNameLst>
                                      </p:cBhvr>
                                      <p:to>
                                        <p:strVal val="visible"/>
                                      </p:to>
                                    </p:set>
                                    <p:animEffect transition="in" filter="barn(outVertical)">
                                      <p:cBhvr>
                                        <p:cTn id="7" dur="500"/>
                                        <p:tgtEl>
                                          <p:spTgt spid="26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autoUpdateAnimBg="0"/>
    </p:bldLst>
  </p:timing>
</p:sld>
</file>

<file path=ppt/slides/slide10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 name="Rectangle 6"/>
          <p:cNvSpPr>
            <a:spLocks noChangeArrowheads="1"/>
          </p:cNvSpPr>
          <p:nvPr/>
        </p:nvSpPr>
        <p:spPr bwMode="auto">
          <a:xfrm>
            <a:off x="0" y="-7396"/>
            <a:ext cx="3419475"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§6.5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地基的稳定性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
        <p:nvSpPr>
          <p:cNvPr id="15" name="Text Box 3"/>
          <p:cNvSpPr txBox="1">
            <a:spLocks noChangeArrowheads="1"/>
          </p:cNvSpPr>
          <p:nvPr/>
        </p:nvSpPr>
        <p:spPr bwMode="auto">
          <a:xfrm>
            <a:off x="732347" y="3284984"/>
            <a:ext cx="555076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en-US" altLang="zh-CN" sz="3200" b="1" dirty="0" smtClean="0">
                <a:solidFill>
                  <a:srgbClr val="990033"/>
                </a:solidFill>
                <a:ea typeface="隶书" panose="02010509060101010101" pitchFamily="49" charset="-122"/>
              </a:rPr>
              <a:t>2 </a:t>
            </a:r>
            <a:r>
              <a:rPr lang="zh-CN" altLang="en-US" sz="3200" b="1" dirty="0" smtClean="0">
                <a:solidFill>
                  <a:srgbClr val="990033"/>
                </a:solidFill>
                <a:ea typeface="隶书" panose="02010509060101010101" pitchFamily="49" charset="-122"/>
              </a:rPr>
              <a:t>位于斜坡或坡顶上的建筑物</a:t>
            </a:r>
            <a:endParaRPr lang="zh-CN" altLang="en-US" sz="3200" b="1" dirty="0">
              <a:solidFill>
                <a:srgbClr val="990033"/>
              </a:solidFill>
              <a:ea typeface="隶书" panose="02010509060101010101" pitchFamily="49" charset="-122"/>
            </a:endParaRPr>
          </a:p>
        </p:txBody>
      </p:sp>
      <p:sp>
        <p:nvSpPr>
          <p:cNvPr id="16" name="Text Box 3"/>
          <p:cNvSpPr txBox="1">
            <a:spLocks noChangeArrowheads="1"/>
          </p:cNvSpPr>
          <p:nvPr/>
        </p:nvSpPr>
        <p:spPr bwMode="auto">
          <a:xfrm>
            <a:off x="709833" y="833039"/>
            <a:ext cx="7134944"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en-US" altLang="zh-CN" sz="3200" b="1" dirty="0">
                <a:solidFill>
                  <a:srgbClr val="990033"/>
                </a:solidFill>
                <a:ea typeface="隶书" panose="02010509060101010101" pitchFamily="49" charset="-122"/>
              </a:rPr>
              <a:t>1 </a:t>
            </a:r>
            <a:r>
              <a:rPr lang="zh-CN" altLang="en-US" sz="3200" b="1" dirty="0" smtClean="0">
                <a:solidFill>
                  <a:srgbClr val="990033"/>
                </a:solidFill>
                <a:ea typeface="隶书" panose="02010509060101010101" pitchFamily="49" charset="-122"/>
              </a:rPr>
              <a:t>承受很大水平力或倾覆力矩的建筑物</a:t>
            </a:r>
            <a:endParaRPr lang="zh-CN" altLang="en-US" sz="3200" b="1" dirty="0">
              <a:solidFill>
                <a:srgbClr val="990033"/>
              </a:solidFill>
              <a:ea typeface="隶书" panose="02010509060101010101" pitchFamily="49" charset="-122"/>
            </a:endParaRPr>
          </a:p>
        </p:txBody>
      </p:sp>
      <p:pic>
        <p:nvPicPr>
          <p:cNvPr id="4" name="图片 3"/>
          <p:cNvPicPr>
            <a:picLocks noChangeAspect="1"/>
          </p:cNvPicPr>
          <p:nvPr/>
        </p:nvPicPr>
        <p:blipFill>
          <a:blip r:embed="rId1"/>
          <a:stretch>
            <a:fillRect/>
          </a:stretch>
        </p:blipFill>
        <p:spPr>
          <a:xfrm>
            <a:off x="5301032" y="3777427"/>
            <a:ext cx="3605870" cy="2532905"/>
          </a:xfrm>
          <a:prstGeom prst="rect">
            <a:avLst/>
          </a:prstGeom>
        </p:spPr>
      </p:pic>
      <mc:AlternateContent xmlns:mc="http://schemas.openxmlformats.org/markup-compatibility/2006">
        <mc:Choice xmlns:a14="http://schemas.microsoft.com/office/drawing/2010/main" Requires="a14">
          <p:sp>
            <p:nvSpPr>
              <p:cNvPr id="5" name="文本框 4"/>
              <p:cNvSpPr txBox="1"/>
              <p:nvPr/>
            </p:nvSpPr>
            <p:spPr>
              <a:xfrm>
                <a:off x="1259632" y="1428070"/>
                <a:ext cx="5827209" cy="1754326"/>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sz="2400" b="1" dirty="0" smtClean="0">
                    <a:latin typeface="+mn-ea"/>
                    <a:ea typeface="+mn-ea"/>
                  </a:rPr>
                  <a:t>基础连同地基一起滑动的稳定性</a:t>
                </a:r>
                <a:endParaRPr lang="en-US" altLang="zh-CN" sz="2400" b="1" dirty="0" smtClean="0">
                  <a:latin typeface="+mn-ea"/>
                  <a:ea typeface="+mn-ea"/>
                </a:endParaRPr>
              </a:p>
              <a:p>
                <a:pPr marL="342900" indent="-342900">
                  <a:lnSpc>
                    <a:spcPct val="150000"/>
                  </a:lnSpc>
                  <a:buFont typeface="Wingdings" panose="05000000000000000000" pitchFamily="2" charset="2"/>
                  <a:buChar char="Ø"/>
                </a:pPr>
                <a:r>
                  <a:rPr lang="zh-CN" altLang="en-US" sz="2400" b="1" dirty="0" smtClean="0">
                    <a:latin typeface="+mn-ea"/>
                    <a:ea typeface="+mn-ea"/>
                  </a:rPr>
                  <a:t>稳定安全系数 </a:t>
                </a:r>
                <a:r>
                  <a:rPr lang="en-US" altLang="zh-CN" sz="2400" b="1" dirty="0" smtClean="0">
                    <a:latin typeface="+mn-ea"/>
                    <a:ea typeface="+mn-ea"/>
                  </a:rPr>
                  <a:t>K=</a:t>
                </a:r>
                <a:r>
                  <a:rPr lang="zh-CN" altLang="en-US" sz="2400" b="1" dirty="0" smtClean="0">
                    <a:latin typeface="+mn-ea"/>
                    <a:ea typeface="+mn-ea"/>
                  </a:rPr>
                  <a:t>抗滑力矩</a:t>
                </a:r>
                <a:r>
                  <a:rPr lang="en-US" altLang="zh-CN" sz="2400" b="1" dirty="0" smtClean="0">
                    <a:latin typeface="+mn-ea"/>
                    <a:ea typeface="+mn-ea"/>
                  </a:rPr>
                  <a:t>/</a:t>
                </a:r>
                <a:r>
                  <a:rPr lang="zh-CN" altLang="en-US" sz="2400" b="1" dirty="0" smtClean="0">
                    <a:latin typeface="+mn-ea"/>
                    <a:ea typeface="+mn-ea"/>
                  </a:rPr>
                  <a:t>滑动力矩</a:t>
                </a:r>
                <a:endParaRPr lang="en-US" altLang="zh-CN" sz="2400" b="1" dirty="0" smtClean="0">
                  <a:latin typeface="+mn-ea"/>
                  <a:ea typeface="+mn-ea"/>
                </a:endParaRPr>
              </a:p>
              <a:p>
                <a:pPr marL="342900" indent="-342900">
                  <a:lnSpc>
                    <a:spcPct val="150000"/>
                  </a:lnSpc>
                  <a:buFont typeface="Wingdings" panose="05000000000000000000" pitchFamily="2" charset="2"/>
                  <a:buChar char="Ø"/>
                </a:pPr>
                <a14:m>
                  <m:oMath xmlns:m="http://schemas.openxmlformats.org/officeDocument/2006/math">
                    <m:sSub>
                      <m:sSubPr>
                        <m:ctrlPr>
                          <a:rPr lang="en-US" altLang="zh-CN" sz="2400" b="1" i="1" smtClean="0">
                            <a:latin typeface="+mn-ea"/>
                            <a:ea typeface="+mn-ea"/>
                          </a:rPr>
                        </m:ctrlPr>
                      </m:sSubPr>
                      <m:e>
                        <m:r>
                          <a:rPr lang="en-US" altLang="zh-CN" sz="2400" b="1" i="1" smtClean="0">
                            <a:latin typeface="+mn-ea"/>
                            <a:ea typeface="+mn-ea"/>
                          </a:rPr>
                          <m:t>𝑲</m:t>
                        </m:r>
                      </m:e>
                      <m:sub>
                        <m:r>
                          <a:rPr lang="en-US" altLang="zh-CN" sz="2400" b="1" i="1" smtClean="0">
                            <a:latin typeface="+mn-ea"/>
                            <a:ea typeface="+mn-ea"/>
                          </a:rPr>
                          <m:t>𝒎𝒊𝒏</m:t>
                        </m:r>
                      </m:sub>
                    </m:sSub>
                    <m:r>
                      <a:rPr lang="en-US" altLang="zh-CN" sz="2400" b="1" i="1" smtClean="0">
                        <a:latin typeface="+mn-ea"/>
                        <a:ea typeface="+mn-ea"/>
                      </a:rPr>
                      <m:t>≥</m:t>
                    </m:r>
                    <m:r>
                      <a:rPr lang="en-US" altLang="zh-CN" sz="2400" b="1" i="1" smtClean="0">
                        <a:latin typeface="+mn-ea"/>
                        <a:ea typeface="+mn-ea"/>
                      </a:rPr>
                      <m:t>𝟏</m:t>
                    </m:r>
                    <m:r>
                      <a:rPr lang="en-US" altLang="zh-CN" sz="2400" b="1" i="1" smtClean="0">
                        <a:latin typeface="+mn-ea"/>
                        <a:ea typeface="+mn-ea"/>
                      </a:rPr>
                      <m:t>.</m:t>
                    </m:r>
                    <m:r>
                      <a:rPr lang="en-US" altLang="zh-CN" sz="2400" b="1" i="1" smtClean="0">
                        <a:latin typeface="+mn-ea"/>
                        <a:ea typeface="+mn-ea"/>
                      </a:rPr>
                      <m:t>𝟐</m:t>
                    </m:r>
                  </m:oMath>
                </a14:m>
                <a:endParaRPr lang="zh-CN" altLang="en-US" sz="2400" b="1" dirty="0">
                  <a:latin typeface="+mn-ea"/>
                  <a:ea typeface="+mn-ea"/>
                </a:endParaRPr>
              </a:p>
            </p:txBody>
          </p:sp>
        </mc:Choice>
        <mc:Fallback>
          <p:sp>
            <p:nvSpPr>
              <p:cNvPr id="5" name="文本框 4"/>
              <p:cNvSpPr txBox="1">
                <a:spLocks noRot="1" noChangeAspect="1" noMove="1" noResize="1" noEditPoints="1" noAdjustHandles="1" noChangeArrowheads="1" noChangeShapeType="1" noTextEdit="1"/>
              </p:cNvSpPr>
              <p:nvPr/>
            </p:nvSpPr>
            <p:spPr>
              <a:xfrm>
                <a:off x="1259632" y="1428070"/>
                <a:ext cx="5827209" cy="1754326"/>
              </a:xfrm>
              <a:prstGeom prst="rect">
                <a:avLst/>
              </a:prstGeom>
              <a:blipFill rotWithShape="1">
                <a:blip r:embed="rId2"/>
                <a:stretch>
                  <a:fillRect l="-7" t="-34" r="4" b="2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996471" y="3882044"/>
                <a:ext cx="4104456" cy="1594988"/>
              </a:xfrm>
              <a:prstGeom prst="rect">
                <a:avLst/>
              </a:prstGeom>
              <a:noFill/>
            </p:spPr>
            <p:txBody>
              <a:bodyPr wrap="square" rtlCol="0">
                <a:spAutoFit/>
              </a:bodyPr>
              <a:lstStyle/>
              <a:p>
                <a:r>
                  <a:rPr lang="zh-CN" altLang="en-US" sz="2400" b="1" dirty="0" smtClean="0">
                    <a:latin typeface="+mn-ea"/>
                    <a:ea typeface="+mn-ea"/>
                  </a:rPr>
                  <a:t>条形基础</a:t>
                </a:r>
                <a:endParaRPr lang="en-US" altLang="zh-CN" sz="2400" b="1" dirty="0" smtClean="0">
                  <a:latin typeface="+mn-ea"/>
                  <a:ea typeface="+mn-ea"/>
                </a:endParaRPr>
              </a:p>
              <a:p>
                <a14:m>
                  <m:oMathPara xmlns:m="http://schemas.openxmlformats.org/officeDocument/2006/math">
                    <m:oMathParaPr>
                      <m:jc m:val="centerGroup"/>
                    </m:oMathParaPr>
                    <m:oMath xmlns:m="http://schemas.openxmlformats.org/officeDocument/2006/math">
                      <m:r>
                        <a:rPr lang="en-US" altLang="zh-CN" sz="2400" b="1" i="1" smtClean="0">
                          <a:latin typeface="+mn-ea"/>
                          <a:ea typeface="+mn-ea"/>
                        </a:rPr>
                        <m:t>𝒂</m:t>
                      </m:r>
                      <m:r>
                        <a:rPr lang="en-US" altLang="zh-CN" sz="2400" b="1" i="1" smtClean="0">
                          <a:latin typeface="+mn-ea"/>
                          <a:ea typeface="+mn-ea"/>
                        </a:rPr>
                        <m:t>≥</m:t>
                      </m:r>
                      <m:r>
                        <a:rPr lang="en-US" altLang="zh-CN" sz="2400" b="1" i="1" smtClean="0">
                          <a:latin typeface="+mn-ea"/>
                          <a:ea typeface="+mn-ea"/>
                        </a:rPr>
                        <m:t>𝟑</m:t>
                      </m:r>
                      <m:r>
                        <a:rPr lang="en-US" altLang="zh-CN" sz="2400" b="1" i="1" smtClean="0">
                          <a:latin typeface="+mn-ea"/>
                          <a:ea typeface="+mn-ea"/>
                        </a:rPr>
                        <m:t>.</m:t>
                      </m:r>
                      <m:r>
                        <a:rPr lang="en-US" altLang="zh-CN" sz="2400" b="1" i="1" smtClean="0">
                          <a:latin typeface="+mn-ea"/>
                          <a:ea typeface="+mn-ea"/>
                        </a:rPr>
                        <m:t>𝟓</m:t>
                      </m:r>
                      <m:r>
                        <a:rPr lang="en-US" altLang="zh-CN" sz="2400" b="1" i="1" smtClean="0">
                          <a:latin typeface="+mn-ea"/>
                          <a:ea typeface="+mn-ea"/>
                        </a:rPr>
                        <m:t>𝒃</m:t>
                      </m:r>
                      <m:r>
                        <a:rPr lang="en-US" altLang="zh-CN" sz="2400" b="1" i="1" smtClean="0">
                          <a:latin typeface="+mn-ea"/>
                          <a:ea typeface="+mn-ea"/>
                        </a:rPr>
                        <m:t>−</m:t>
                      </m:r>
                      <m:f>
                        <m:fPr>
                          <m:ctrlPr>
                            <a:rPr lang="en-US" altLang="zh-CN" sz="2400" b="1" i="1" smtClean="0">
                              <a:latin typeface="+mn-ea"/>
                              <a:ea typeface="+mn-ea"/>
                            </a:rPr>
                          </m:ctrlPr>
                        </m:fPr>
                        <m:num>
                          <m:r>
                            <a:rPr lang="en-US" altLang="zh-CN" sz="2400" b="1" i="1" smtClean="0">
                              <a:latin typeface="+mn-ea"/>
                              <a:ea typeface="+mn-ea"/>
                            </a:rPr>
                            <m:t>𝒅</m:t>
                          </m:r>
                        </m:num>
                        <m:den>
                          <m:func>
                            <m:funcPr>
                              <m:ctrlPr>
                                <a:rPr lang="en-US" altLang="zh-CN" sz="2400" b="1" i="1" smtClean="0">
                                  <a:latin typeface="+mn-ea"/>
                                  <a:ea typeface="+mn-ea"/>
                                </a:rPr>
                              </m:ctrlPr>
                            </m:funcPr>
                            <m:fName>
                              <m:r>
                                <a:rPr lang="en-US" altLang="zh-CN" sz="2400" b="1" i="0" smtClean="0">
                                  <a:latin typeface="+mn-ea"/>
                                  <a:ea typeface="+mn-ea"/>
                                </a:rPr>
                                <m:t>𝐭𝐚𝐧</m:t>
                              </m:r>
                            </m:fName>
                            <m:e>
                              <m:r>
                                <a:rPr lang="zh-CN" altLang="en-US" sz="2400" b="1" i="1" smtClean="0">
                                  <a:latin typeface="+mn-ea"/>
                                  <a:ea typeface="+mn-ea"/>
                                </a:rPr>
                                <m:t>𝜷</m:t>
                              </m:r>
                            </m:e>
                          </m:func>
                        </m:den>
                      </m:f>
                    </m:oMath>
                  </m:oMathPara>
                </a14:m>
                <a:endParaRPr lang="en-US" altLang="zh-CN" sz="2400" b="1" dirty="0">
                  <a:latin typeface="+mn-ea"/>
                  <a:ea typeface="+mn-ea"/>
                  <a:cs typeface="Times New Roman" panose="02020603050405020304" pitchFamily="18" charset="0"/>
                </a:endParaRPr>
              </a:p>
              <a:p>
                <a:r>
                  <a:rPr lang="zh-CN" altLang="en-US" sz="2400" b="1" dirty="0" smtClean="0">
                    <a:latin typeface="+mn-ea"/>
                    <a:ea typeface="+mn-ea"/>
                  </a:rPr>
                  <a:t>矩形基础</a:t>
                </a:r>
                <a:endParaRPr lang="zh-CN" altLang="en-US" sz="2400" b="1" dirty="0">
                  <a:latin typeface="+mn-ea"/>
                  <a:ea typeface="+mn-ea"/>
                </a:endParaRPr>
              </a:p>
            </p:txBody>
          </p:sp>
        </mc:Choice>
        <mc:Fallback>
          <p:sp>
            <p:nvSpPr>
              <p:cNvPr id="6" name="文本框 5"/>
              <p:cNvSpPr txBox="1">
                <a:spLocks noRot="1" noChangeAspect="1" noMove="1" noResize="1" noEditPoints="1" noAdjustHandles="1" noChangeArrowheads="1" noChangeShapeType="1" noTextEdit="1"/>
              </p:cNvSpPr>
              <p:nvPr/>
            </p:nvSpPr>
            <p:spPr>
              <a:xfrm>
                <a:off x="996471" y="3882044"/>
                <a:ext cx="4104456" cy="1594988"/>
              </a:xfrm>
              <a:prstGeom prst="rect">
                <a:avLst/>
              </a:prstGeom>
              <a:blipFill rotWithShape="1">
                <a:blip r:embed="rId3"/>
                <a:stretch>
                  <a:fillRect l="-4" t="-18" r="15" b="1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矩形 6"/>
              <p:cNvSpPr/>
              <p:nvPr/>
            </p:nvSpPr>
            <p:spPr>
              <a:xfrm>
                <a:off x="1820094" y="5361071"/>
                <a:ext cx="2457211" cy="85581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sz="2400" i="1" smtClean="0">
                          <a:latin typeface="Cambria Math" panose="02040503050406030204" pitchFamily="18" charset="0"/>
                        </a:rPr>
                        <m:t>𝑎</m:t>
                      </m:r>
                      <m:r>
                        <a:rPr lang="en-US" altLang="zh-CN" sz="2400" i="1">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2</m:t>
                      </m:r>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5</m:t>
                      </m:r>
                      <m:r>
                        <a:rPr lang="en-US" altLang="zh-CN" sz="2400" i="1">
                          <a:latin typeface="Cambria Math" panose="02040503050406030204" pitchFamily="18" charset="0"/>
                          <a:ea typeface="Cambria Math" panose="02040503050406030204" pitchFamily="18" charset="0"/>
                        </a:rPr>
                        <m:t>𝑏</m:t>
                      </m:r>
                      <m:r>
                        <a:rPr lang="en-US" altLang="zh-CN" sz="2400" i="1">
                          <a:latin typeface="Cambria Math" panose="02040503050406030204" pitchFamily="18" charset="0"/>
                          <a:ea typeface="Cambria Math" panose="02040503050406030204" pitchFamily="18" charset="0"/>
                        </a:rPr>
                        <m:t>−</m:t>
                      </m:r>
                      <m:f>
                        <m:fPr>
                          <m:ctrlPr>
                            <a:rPr lang="en-US" altLang="zh-CN" sz="2400" i="1">
                              <a:latin typeface="Cambria Math" panose="02040503050406030204" pitchFamily="18" charset="0"/>
                              <a:ea typeface="Cambria Math" panose="02040503050406030204" pitchFamily="18" charset="0"/>
                            </a:rPr>
                          </m:ctrlPr>
                        </m:fPr>
                        <m:num>
                          <m:r>
                            <a:rPr lang="en-US" altLang="zh-CN" sz="2400" i="1">
                              <a:latin typeface="Cambria Math" panose="02040503050406030204" pitchFamily="18" charset="0"/>
                              <a:ea typeface="Cambria Math" panose="02040503050406030204" pitchFamily="18" charset="0"/>
                            </a:rPr>
                            <m:t>𝑑</m:t>
                          </m:r>
                        </m:num>
                        <m:den>
                          <m:func>
                            <m:funcPr>
                              <m:ctrlPr>
                                <a:rPr lang="en-US" altLang="zh-CN" sz="2400" i="1">
                                  <a:latin typeface="Cambria Math" panose="02040503050406030204" pitchFamily="18" charset="0"/>
                                  <a:ea typeface="Cambria Math" panose="02040503050406030204" pitchFamily="18" charset="0"/>
                                </a:rPr>
                              </m:ctrlPr>
                            </m:funcPr>
                            <m:fName>
                              <m:r>
                                <m:rPr>
                                  <m:sty m:val="p"/>
                                </m:rPr>
                                <a:rPr lang="en-US" altLang="zh-CN" sz="2400">
                                  <a:latin typeface="Cambria Math" panose="02040503050406030204" pitchFamily="18" charset="0"/>
                                  <a:ea typeface="Cambria Math" panose="02040503050406030204" pitchFamily="18" charset="0"/>
                                </a:rPr>
                                <m:t>tan</m:t>
                              </m:r>
                            </m:fName>
                            <m:e>
                              <m:r>
                                <a:rPr lang="zh-CN" altLang="en-US" sz="2400" i="1">
                                  <a:latin typeface="Cambria Math" panose="02040503050406030204" pitchFamily="18" charset="0"/>
                                  <a:ea typeface="Cambria Math" panose="02040503050406030204" pitchFamily="18" charset="0"/>
                                </a:rPr>
                                <m:t>𝛽</m:t>
                              </m:r>
                            </m:e>
                          </m:func>
                        </m:den>
                      </m:f>
                    </m:oMath>
                  </m:oMathPara>
                </a14:m>
                <a:endParaRPr lang="zh-CN" altLang="en-US" sz="2400" dirty="0">
                  <a:latin typeface="Times New Roman" panose="02020603050405020304" pitchFamily="18" charset="0"/>
                  <a:cs typeface="Times New Roman" panose="02020603050405020304" pitchFamily="18" charset="0"/>
                </a:endParaRPr>
              </a:p>
            </p:txBody>
          </p:sp>
        </mc:Choice>
        <mc:Fallback>
          <p:sp>
            <p:nvSpPr>
              <p:cNvPr id="7" name="矩形 6"/>
              <p:cNvSpPr>
                <a:spLocks noRot="1" noChangeAspect="1" noMove="1" noResize="1" noEditPoints="1" noAdjustHandles="1" noChangeArrowheads="1" noChangeShapeType="1" noTextEdit="1"/>
              </p:cNvSpPr>
              <p:nvPr/>
            </p:nvSpPr>
            <p:spPr>
              <a:xfrm>
                <a:off x="1820094" y="5361071"/>
                <a:ext cx="2457211" cy="855812"/>
              </a:xfrm>
              <a:prstGeom prst="rect">
                <a:avLst/>
              </a:prstGeom>
              <a:blipFill rotWithShape="1">
                <a:blip r:embed="rId4"/>
                <a:stretch>
                  <a:fillRect l="-7" t="-47" r="24" b="27"/>
                </a:stretch>
              </a:blipFill>
            </p:spPr>
            <p:txBody>
              <a:bodyPr/>
              <a:lstStyle/>
              <a:p>
                <a:r>
                  <a:rPr lang="zh-CN" altLang="en-US">
                    <a:noFill/>
                  </a:rPr>
                  <a:t> </a:t>
                </a:r>
              </a:p>
            </p:txBody>
          </p:sp>
        </mc:Fallback>
      </mc:AlternateContent>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utoUpdateAnimBg="0"/>
      <p:bldP spid="16" grpId="0"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1346" name="AutoShape 34"/>
          <p:cNvSpPr>
            <a:spLocks noChangeArrowheads="1"/>
          </p:cNvSpPr>
          <p:nvPr/>
        </p:nvSpPr>
        <p:spPr bwMode="auto">
          <a:xfrm flipV="1">
            <a:off x="2657872" y="3371056"/>
            <a:ext cx="2740025" cy="1143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6263 w 21600"/>
              <a:gd name="T13" fmla="*/ 6263 h 21600"/>
              <a:gd name="T14" fmla="*/ 15337 w 21600"/>
              <a:gd name="T15" fmla="*/ 15337 h 21600"/>
            </a:gdLst>
            <a:ahLst/>
            <a:cxnLst>
              <a:cxn ang="T8">
                <a:pos x="T0" y="T1"/>
              </a:cxn>
              <a:cxn ang="T9">
                <a:pos x="T2" y="T3"/>
              </a:cxn>
              <a:cxn ang="T10">
                <a:pos x="T4" y="T5"/>
              </a:cxn>
              <a:cxn ang="T11">
                <a:pos x="T6" y="T7"/>
              </a:cxn>
            </a:cxnLst>
            <a:rect l="T12" t="T13" r="T14" b="T15"/>
            <a:pathLst>
              <a:path w="21600" h="21600">
                <a:moveTo>
                  <a:pt x="0" y="0"/>
                </a:moveTo>
                <a:lnTo>
                  <a:pt x="8925" y="21600"/>
                </a:lnTo>
                <a:lnTo>
                  <a:pt x="12675" y="21600"/>
                </a:lnTo>
                <a:lnTo>
                  <a:pt x="21600" y="0"/>
                </a:lnTo>
                <a:lnTo>
                  <a:pt x="0" y="0"/>
                </a:lnTo>
                <a:close/>
              </a:path>
            </a:pathLst>
          </a:custGeom>
          <a:solidFill>
            <a:schemeClr val="folHlink"/>
          </a:solidFill>
          <a:ln w="22225">
            <a:solidFill>
              <a:srgbClr val="669900"/>
            </a:solidFill>
            <a:miter lim="800000"/>
          </a:ln>
        </p:spPr>
        <p:txBody>
          <a:bodyPr wrap="none" anchor="ctr"/>
          <a:lstStyle/>
          <a:p>
            <a:endParaRPr lang="zh-CN" altLang="en-US"/>
          </a:p>
        </p:txBody>
      </p:sp>
      <p:grpSp>
        <p:nvGrpSpPr>
          <p:cNvPr id="2" name="Group 42"/>
          <p:cNvGrpSpPr/>
          <p:nvPr/>
        </p:nvGrpSpPr>
        <p:grpSpPr bwMode="auto">
          <a:xfrm>
            <a:off x="539552" y="4514056"/>
            <a:ext cx="5184576" cy="1219200"/>
            <a:chOff x="435" y="2688"/>
            <a:chExt cx="4800" cy="816"/>
          </a:xfrm>
        </p:grpSpPr>
        <p:sp>
          <p:nvSpPr>
            <p:cNvPr id="61450" name="Rectangle 35" descr="粉色砂纸"/>
            <p:cNvSpPr>
              <a:spLocks noChangeArrowheads="1"/>
            </p:cNvSpPr>
            <p:nvPr/>
          </p:nvSpPr>
          <p:spPr bwMode="auto">
            <a:xfrm>
              <a:off x="435" y="2688"/>
              <a:ext cx="4800" cy="816"/>
            </a:xfrm>
            <a:prstGeom prst="rect">
              <a:avLst/>
            </a:prstGeom>
            <a:blipFill dpi="0" rotWithShape="0">
              <a:blip r:embed="rId1"/>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61451" name="Rectangle 36" descr="波浪线"/>
            <p:cNvSpPr>
              <a:spLocks noChangeArrowheads="1"/>
            </p:cNvSpPr>
            <p:nvPr/>
          </p:nvSpPr>
          <p:spPr bwMode="auto">
            <a:xfrm>
              <a:off x="435" y="2976"/>
              <a:ext cx="4800" cy="144"/>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endParaRPr lang="ja-JP" altLang="en-US"/>
            </a:p>
          </p:txBody>
        </p:sp>
        <p:sp>
          <p:nvSpPr>
            <p:cNvPr id="61452" name="Line 40"/>
            <p:cNvSpPr>
              <a:spLocks noChangeShapeType="1"/>
            </p:cNvSpPr>
            <p:nvPr/>
          </p:nvSpPr>
          <p:spPr bwMode="auto">
            <a:xfrm flipH="1">
              <a:off x="435" y="2688"/>
              <a:ext cx="4800" cy="0"/>
            </a:xfrm>
            <a:prstGeom prst="line">
              <a:avLst/>
            </a:prstGeom>
            <a:noFill/>
            <a:ln w="34925">
              <a:solidFill>
                <a:srgbClr val="3366FF"/>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81345" name="Text Box 33"/>
          <p:cNvSpPr txBox="1">
            <a:spLocks noChangeArrowheads="1"/>
          </p:cNvSpPr>
          <p:nvPr/>
        </p:nvSpPr>
        <p:spPr bwMode="auto">
          <a:xfrm>
            <a:off x="689991" y="1457949"/>
            <a:ext cx="4254624"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en-US" altLang="zh-CN" sz="3200" b="1" dirty="0" smtClean="0">
                <a:solidFill>
                  <a:srgbClr val="990033"/>
                </a:solidFill>
                <a:ea typeface="隶书" panose="02010509060101010101" pitchFamily="49" charset="-122"/>
              </a:rPr>
              <a:t>3 </a:t>
            </a:r>
            <a:r>
              <a:rPr lang="zh-CN" altLang="en-US" sz="3200" b="1" dirty="0" smtClean="0">
                <a:solidFill>
                  <a:srgbClr val="990033"/>
                </a:solidFill>
                <a:ea typeface="隶书" panose="02010509060101010101" pitchFamily="49" charset="-122"/>
              </a:rPr>
              <a:t>地基中存在软弱土层</a:t>
            </a:r>
            <a:endParaRPr lang="zh-CN" altLang="en-US" sz="3200" b="1" dirty="0">
              <a:solidFill>
                <a:srgbClr val="990033"/>
              </a:solidFill>
              <a:ea typeface="隶书" panose="02010509060101010101" pitchFamily="49" charset="-122"/>
            </a:endParaRPr>
          </a:p>
        </p:txBody>
      </p:sp>
      <p:sp>
        <p:nvSpPr>
          <p:cNvPr id="781350" name="Line 38"/>
          <p:cNvSpPr>
            <a:spLocks noChangeShapeType="1"/>
          </p:cNvSpPr>
          <p:nvPr/>
        </p:nvSpPr>
        <p:spPr bwMode="auto">
          <a:xfrm flipH="1">
            <a:off x="1619671" y="4971256"/>
            <a:ext cx="647675" cy="0"/>
          </a:xfrm>
          <a:prstGeom prst="line">
            <a:avLst/>
          </a:prstGeom>
          <a:noFill/>
          <a:ln w="38100">
            <a:solidFill>
              <a:srgbClr val="FF505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1351" name="Freeform 39"/>
          <p:cNvSpPr/>
          <p:nvPr/>
        </p:nvSpPr>
        <p:spPr bwMode="auto">
          <a:xfrm>
            <a:off x="899592" y="4514054"/>
            <a:ext cx="777558" cy="457201"/>
          </a:xfrm>
          <a:custGeom>
            <a:avLst/>
            <a:gdLst>
              <a:gd name="T0" fmla="*/ 2147483646 w 576"/>
              <a:gd name="T1" fmla="*/ 2147483646 h 336"/>
              <a:gd name="T2" fmla="*/ 2147483646 w 576"/>
              <a:gd name="T3" fmla="*/ 2147483646 h 336"/>
              <a:gd name="T4" fmla="*/ 2147483646 w 576"/>
              <a:gd name="T5" fmla="*/ 2147483646 h 336"/>
              <a:gd name="T6" fmla="*/ 0 w 576"/>
              <a:gd name="T7" fmla="*/ 0 h 336"/>
              <a:gd name="T8" fmla="*/ 0 60000 65536"/>
              <a:gd name="T9" fmla="*/ 0 60000 65536"/>
              <a:gd name="T10" fmla="*/ 0 60000 65536"/>
              <a:gd name="T11" fmla="*/ 0 60000 65536"/>
              <a:gd name="T12" fmla="*/ 0 w 576"/>
              <a:gd name="T13" fmla="*/ 0 h 336"/>
              <a:gd name="T14" fmla="*/ 576 w 576"/>
              <a:gd name="T15" fmla="*/ 336 h 336"/>
            </a:gdLst>
            <a:ahLst/>
            <a:cxnLst>
              <a:cxn ang="T8">
                <a:pos x="T0" y="T1"/>
              </a:cxn>
              <a:cxn ang="T9">
                <a:pos x="T2" y="T3"/>
              </a:cxn>
              <a:cxn ang="T10">
                <a:pos x="T4" y="T5"/>
              </a:cxn>
              <a:cxn ang="T11">
                <a:pos x="T6" y="T7"/>
              </a:cxn>
            </a:cxnLst>
            <a:rect l="T12" t="T13" r="T14" b="T15"/>
            <a:pathLst>
              <a:path w="576" h="336">
                <a:moveTo>
                  <a:pt x="576" y="336"/>
                </a:moveTo>
                <a:cubicBezTo>
                  <a:pt x="548" y="327"/>
                  <a:pt x="489" y="316"/>
                  <a:pt x="409" y="283"/>
                </a:cubicBezTo>
                <a:cubicBezTo>
                  <a:pt x="329" y="250"/>
                  <a:pt x="166" y="184"/>
                  <a:pt x="98" y="137"/>
                </a:cubicBezTo>
                <a:cubicBezTo>
                  <a:pt x="30" y="90"/>
                  <a:pt x="20" y="29"/>
                  <a:pt x="0" y="0"/>
                </a:cubicBezTo>
              </a:path>
            </a:pathLst>
          </a:custGeom>
          <a:noFill/>
          <a:ln w="28575">
            <a:solidFill>
              <a:srgbClr val="FF505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81349" name="Freeform 37"/>
          <p:cNvSpPr/>
          <p:nvPr/>
        </p:nvSpPr>
        <p:spPr bwMode="auto">
          <a:xfrm>
            <a:off x="2202260" y="3371056"/>
            <a:ext cx="1825625" cy="1600200"/>
          </a:xfrm>
          <a:custGeom>
            <a:avLst/>
            <a:gdLst>
              <a:gd name="T0" fmla="*/ 2147483646 w 1344"/>
              <a:gd name="T1" fmla="*/ 0 h 1008"/>
              <a:gd name="T2" fmla="*/ 2147483646 w 1344"/>
              <a:gd name="T3" fmla="*/ 2147483646 h 1008"/>
              <a:gd name="T4" fmla="*/ 2147483646 w 1344"/>
              <a:gd name="T5" fmla="*/ 2147483646 h 1008"/>
              <a:gd name="T6" fmla="*/ 0 w 1344"/>
              <a:gd name="T7" fmla="*/ 2147483646 h 1008"/>
              <a:gd name="T8" fmla="*/ 0 60000 65536"/>
              <a:gd name="T9" fmla="*/ 0 60000 65536"/>
              <a:gd name="T10" fmla="*/ 0 60000 65536"/>
              <a:gd name="T11" fmla="*/ 0 60000 65536"/>
              <a:gd name="T12" fmla="*/ 0 w 1344"/>
              <a:gd name="T13" fmla="*/ 0 h 1008"/>
              <a:gd name="T14" fmla="*/ 1344 w 1344"/>
              <a:gd name="T15" fmla="*/ 1008 h 1008"/>
            </a:gdLst>
            <a:ahLst/>
            <a:cxnLst>
              <a:cxn ang="T8">
                <a:pos x="T0" y="T1"/>
              </a:cxn>
              <a:cxn ang="T9">
                <a:pos x="T2" y="T3"/>
              </a:cxn>
              <a:cxn ang="T10">
                <a:pos x="T4" y="T5"/>
              </a:cxn>
              <a:cxn ang="T11">
                <a:pos x="T6" y="T7"/>
              </a:cxn>
            </a:cxnLst>
            <a:rect l="T12" t="T13" r="T14" b="T15"/>
            <a:pathLst>
              <a:path w="1344" h="1008">
                <a:moveTo>
                  <a:pt x="1344" y="0"/>
                </a:moveTo>
                <a:cubicBezTo>
                  <a:pt x="1312" y="128"/>
                  <a:pt x="1280" y="256"/>
                  <a:pt x="1152" y="384"/>
                </a:cubicBezTo>
                <a:cubicBezTo>
                  <a:pt x="1024" y="512"/>
                  <a:pt x="768" y="664"/>
                  <a:pt x="576" y="768"/>
                </a:cubicBezTo>
                <a:cubicBezTo>
                  <a:pt x="384" y="872"/>
                  <a:pt x="192" y="940"/>
                  <a:pt x="0" y="1008"/>
                </a:cubicBezTo>
              </a:path>
            </a:pathLst>
          </a:custGeom>
          <a:noFill/>
          <a:ln w="28575">
            <a:solidFill>
              <a:srgbClr val="FF505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 name="Rectangle 6"/>
          <p:cNvSpPr>
            <a:spLocks noChangeArrowheads="1"/>
          </p:cNvSpPr>
          <p:nvPr/>
        </p:nvSpPr>
        <p:spPr bwMode="auto">
          <a:xfrm>
            <a:off x="0" y="-7396"/>
            <a:ext cx="3419475"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§6.5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地基的稳定性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pic>
        <p:nvPicPr>
          <p:cNvPr id="3" name="图片 2"/>
          <p:cNvPicPr>
            <a:picLocks noChangeAspect="1"/>
          </p:cNvPicPr>
          <p:nvPr/>
        </p:nvPicPr>
        <p:blipFill>
          <a:blip r:embed="rId3"/>
          <a:stretch>
            <a:fillRect/>
          </a:stretch>
        </p:blipFill>
        <p:spPr>
          <a:xfrm>
            <a:off x="4911876" y="623335"/>
            <a:ext cx="4223199" cy="2589641"/>
          </a:xfrm>
          <a:prstGeom prst="rect">
            <a:avLst/>
          </a:prstGeom>
        </p:spPr>
      </p:pic>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81345"/>
                                        </p:tgtEl>
                                        <p:attrNameLst>
                                          <p:attrName>style.visibility</p:attrName>
                                        </p:attrNameLst>
                                      </p:cBhvr>
                                      <p:to>
                                        <p:strVal val="visible"/>
                                      </p:to>
                                    </p:set>
                                    <p:animEffect transition="in" filter="dissolve">
                                      <p:cBhvr>
                                        <p:cTn id="7" dur="500"/>
                                        <p:tgtEl>
                                          <p:spTgt spid="78134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par>
                          <p:cTn id="13" fill="hold">
                            <p:stCondLst>
                              <p:cond delay="500"/>
                            </p:stCondLst>
                            <p:childTnLst>
                              <p:par>
                                <p:cTn id="14" presetID="12" presetClass="entr" presetSubtype="1" fill="hold" nodeType="afterEffect">
                                  <p:stCondLst>
                                    <p:cond delay="0"/>
                                  </p:stCondLst>
                                  <p:childTnLst>
                                    <p:set>
                                      <p:cBhvr>
                                        <p:cTn id="15" dur="1" fill="hold">
                                          <p:stCondLst>
                                            <p:cond delay="0"/>
                                          </p:stCondLst>
                                        </p:cTn>
                                        <p:tgtEl>
                                          <p:spTgt spid="781346"/>
                                        </p:tgtEl>
                                        <p:attrNameLst>
                                          <p:attrName>style.visibility</p:attrName>
                                        </p:attrNameLst>
                                      </p:cBhvr>
                                      <p:to>
                                        <p:strVal val="visible"/>
                                      </p:to>
                                    </p:set>
                                    <p:animEffect transition="in" filter="slide(fromTop)">
                                      <p:cBhvr>
                                        <p:cTn id="16" dur="500"/>
                                        <p:tgtEl>
                                          <p:spTgt spid="78134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781349"/>
                                        </p:tgtEl>
                                        <p:attrNameLst>
                                          <p:attrName>style.visibility</p:attrName>
                                        </p:attrNameLst>
                                      </p:cBhvr>
                                      <p:to>
                                        <p:strVal val="visible"/>
                                      </p:to>
                                    </p:set>
                                    <p:animEffect transition="in" filter="wipe(up)">
                                      <p:cBhvr>
                                        <p:cTn id="21" dur="500"/>
                                        <p:tgtEl>
                                          <p:spTgt spid="781349"/>
                                        </p:tgtEl>
                                      </p:cBhvr>
                                    </p:animEffect>
                                  </p:childTnLst>
                                </p:cTn>
                              </p:par>
                            </p:childTnLst>
                          </p:cTn>
                        </p:par>
                        <p:par>
                          <p:cTn id="22" fill="hold">
                            <p:stCondLst>
                              <p:cond delay="500"/>
                            </p:stCondLst>
                            <p:childTnLst>
                              <p:par>
                                <p:cTn id="23" presetID="22" presetClass="entr" presetSubtype="2" fill="hold" nodeType="afterEffect">
                                  <p:stCondLst>
                                    <p:cond delay="0"/>
                                  </p:stCondLst>
                                  <p:childTnLst>
                                    <p:set>
                                      <p:cBhvr>
                                        <p:cTn id="24" dur="1" fill="hold">
                                          <p:stCondLst>
                                            <p:cond delay="0"/>
                                          </p:stCondLst>
                                        </p:cTn>
                                        <p:tgtEl>
                                          <p:spTgt spid="781350"/>
                                        </p:tgtEl>
                                        <p:attrNameLst>
                                          <p:attrName>style.visibility</p:attrName>
                                        </p:attrNameLst>
                                      </p:cBhvr>
                                      <p:to>
                                        <p:strVal val="visible"/>
                                      </p:to>
                                    </p:set>
                                    <p:animEffect transition="in" filter="wipe(right)">
                                      <p:cBhvr>
                                        <p:cTn id="25" dur="500"/>
                                        <p:tgtEl>
                                          <p:spTgt spid="781350"/>
                                        </p:tgtEl>
                                      </p:cBhvr>
                                    </p:animEffect>
                                  </p:childTnLst>
                                </p:cTn>
                              </p:par>
                            </p:childTnLst>
                          </p:cTn>
                        </p:par>
                        <p:par>
                          <p:cTn id="26" fill="hold">
                            <p:stCondLst>
                              <p:cond delay="1000"/>
                            </p:stCondLst>
                            <p:childTnLst>
                              <p:par>
                                <p:cTn id="27" presetID="22" presetClass="entr" presetSubtype="2" fill="hold" nodeType="afterEffect">
                                  <p:stCondLst>
                                    <p:cond delay="0"/>
                                  </p:stCondLst>
                                  <p:childTnLst>
                                    <p:set>
                                      <p:cBhvr>
                                        <p:cTn id="28" dur="1" fill="hold">
                                          <p:stCondLst>
                                            <p:cond delay="0"/>
                                          </p:stCondLst>
                                        </p:cTn>
                                        <p:tgtEl>
                                          <p:spTgt spid="781351"/>
                                        </p:tgtEl>
                                        <p:attrNameLst>
                                          <p:attrName>style.visibility</p:attrName>
                                        </p:attrNameLst>
                                      </p:cBhvr>
                                      <p:to>
                                        <p:strVal val="visible"/>
                                      </p:to>
                                    </p:set>
                                    <p:animEffect transition="in" filter="wipe(right)">
                                      <p:cBhvr>
                                        <p:cTn id="29" dur="500"/>
                                        <p:tgtEl>
                                          <p:spTgt spid="7813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1345" grpId="0"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Text Box 3"/>
          <p:cNvSpPr txBox="1">
            <a:spLocks noChangeArrowheads="1"/>
          </p:cNvSpPr>
          <p:nvPr/>
        </p:nvSpPr>
        <p:spPr bwMode="auto">
          <a:xfrm>
            <a:off x="381000" y="990600"/>
            <a:ext cx="46482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eaLnBrk="1" hangingPunct="1">
              <a:spcBef>
                <a:spcPct val="0"/>
              </a:spcBef>
            </a:pPr>
            <a:r>
              <a:rPr lang="zh-CN" altLang="en-US" sz="3200" b="1">
                <a:solidFill>
                  <a:srgbClr val="990033"/>
                </a:solidFill>
                <a:ea typeface="隶书" panose="02010509060101010101" pitchFamily="49" charset="-122"/>
              </a:rPr>
              <a:t>其它：</a:t>
            </a:r>
            <a:r>
              <a:rPr lang="zh-CN" altLang="en-US" sz="2400" b="1">
                <a:solidFill>
                  <a:srgbClr val="FF0000"/>
                </a:solidFill>
              </a:rPr>
              <a:t>最小安全系数的搜索</a:t>
            </a:r>
            <a:endParaRPr lang="zh-CN" altLang="en-US" sz="2400" b="1">
              <a:solidFill>
                <a:srgbClr val="FF0000"/>
              </a:solidFill>
            </a:endParaRPr>
          </a:p>
        </p:txBody>
      </p:sp>
      <p:sp>
        <p:nvSpPr>
          <p:cNvPr id="782350" name="Rectangle 14"/>
          <p:cNvSpPr>
            <a:spLocks noGrp="1" noChangeArrowheads="1"/>
          </p:cNvSpPr>
          <p:nvPr>
            <p:ph type="body" idx="1"/>
          </p:nvPr>
        </p:nvSpPr>
        <p:spPr bwMode="auto">
          <a:xfrm>
            <a:off x="609600" y="2057400"/>
            <a:ext cx="7772400" cy="3429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en-US" altLang="zh-CN" sz="2800" b="1" smtClean="0">
                <a:solidFill>
                  <a:srgbClr val="0000FF"/>
                </a:solidFill>
              </a:rPr>
              <a:t>1· </a:t>
            </a:r>
            <a:r>
              <a:rPr lang="zh-CN" altLang="en-US" sz="2800" b="1" smtClean="0">
                <a:solidFill>
                  <a:srgbClr val="0000FF"/>
                </a:solidFill>
              </a:rPr>
              <a:t>初级方法： 枚举法</a:t>
            </a:r>
            <a:endParaRPr lang="zh-CN" altLang="en-US" sz="2800" b="1" smtClean="0">
              <a:solidFill>
                <a:srgbClr val="0000FF"/>
              </a:solidFill>
            </a:endParaRPr>
          </a:p>
          <a:p>
            <a:pPr eaLnBrk="1" hangingPunct="1"/>
            <a:r>
              <a:rPr lang="en-US" altLang="zh-CN" sz="2800" b="1" smtClean="0">
                <a:solidFill>
                  <a:srgbClr val="0000FF"/>
                </a:solidFill>
              </a:rPr>
              <a:t>2·</a:t>
            </a:r>
            <a:r>
              <a:rPr lang="zh-CN" altLang="en-US" sz="2800" b="1" smtClean="0">
                <a:solidFill>
                  <a:srgbClr val="0000FF"/>
                </a:solidFill>
              </a:rPr>
              <a:t>解析法：单形法、负梯度法、</a:t>
            </a:r>
            <a:r>
              <a:rPr lang="en-US" altLang="zh-CN" sz="2800" b="1" smtClean="0">
                <a:solidFill>
                  <a:srgbClr val="0000FF"/>
                </a:solidFill>
              </a:rPr>
              <a:t>DFP</a:t>
            </a:r>
            <a:r>
              <a:rPr lang="zh-CN" altLang="en-US" sz="2800" b="1" smtClean="0">
                <a:solidFill>
                  <a:srgbClr val="0000FF"/>
                </a:solidFill>
              </a:rPr>
              <a:t>法</a:t>
            </a:r>
            <a:endParaRPr lang="zh-CN" altLang="en-US" sz="2800" b="1" smtClean="0">
              <a:solidFill>
                <a:srgbClr val="0000FF"/>
              </a:solidFill>
            </a:endParaRPr>
          </a:p>
          <a:p>
            <a:pPr eaLnBrk="1" hangingPunct="1"/>
            <a:r>
              <a:rPr lang="en-US" altLang="zh-CN" sz="2800" b="1" smtClean="0">
                <a:solidFill>
                  <a:srgbClr val="0000FF"/>
                </a:solidFill>
              </a:rPr>
              <a:t>3· </a:t>
            </a:r>
            <a:r>
              <a:rPr lang="zh-CN" altLang="en-US" sz="2800" b="1" smtClean="0">
                <a:solidFill>
                  <a:srgbClr val="0000FF"/>
                </a:solidFill>
              </a:rPr>
              <a:t>随机搜索法</a:t>
            </a:r>
            <a:endParaRPr lang="zh-CN" altLang="en-US" sz="2800" b="1" smtClean="0">
              <a:solidFill>
                <a:srgbClr val="0000FF"/>
              </a:solidFill>
            </a:endParaRPr>
          </a:p>
          <a:p>
            <a:pPr eaLnBrk="1" hangingPunct="1"/>
            <a:r>
              <a:rPr lang="en-US" altLang="zh-CN" sz="2800" b="1" smtClean="0">
                <a:solidFill>
                  <a:srgbClr val="0000FF"/>
                </a:solidFill>
              </a:rPr>
              <a:t>4·</a:t>
            </a:r>
            <a:r>
              <a:rPr lang="zh-CN" altLang="en-US" sz="2800" b="1" smtClean="0">
                <a:solidFill>
                  <a:srgbClr val="0000FF"/>
                </a:solidFill>
              </a:rPr>
              <a:t>优化方法：模拟退火法、神经网络法、遗传算法</a:t>
            </a:r>
            <a:r>
              <a:rPr lang="en-US" altLang="zh-CN" sz="2800" b="1" smtClean="0">
                <a:solidFill>
                  <a:srgbClr val="0000FF"/>
                </a:solidFill>
              </a:rPr>
              <a:t>·····</a:t>
            </a:r>
            <a:endParaRPr lang="en-US" altLang="zh-CN" sz="2800" b="1" smtClean="0">
              <a:solidFill>
                <a:srgbClr val="0000FF"/>
              </a:solidFill>
            </a:endParaRPr>
          </a:p>
        </p:txBody>
      </p:sp>
      <p:sp>
        <p:nvSpPr>
          <p:cNvPr id="782351" name="Rectangle 15"/>
          <p:cNvSpPr>
            <a:spLocks noChangeArrowheads="1"/>
          </p:cNvSpPr>
          <p:nvPr/>
        </p:nvSpPr>
        <p:spPr bwMode="auto">
          <a:xfrm>
            <a:off x="2514600" y="5029200"/>
            <a:ext cx="4001616" cy="461665"/>
          </a:xfrm>
          <a:prstGeom prst="rect">
            <a:avLst/>
          </a:prstGeom>
          <a:solidFill>
            <a:schemeClr val="accent1"/>
          </a:solidFill>
          <a:ln w="9525">
            <a:solidFill>
              <a:schemeClr val="folHlink"/>
            </a:solidFill>
            <a:miter lim="800000"/>
          </a:ln>
        </p:spPr>
        <p:txBody>
          <a:bodyPr wrap="square">
            <a:spAutoFit/>
          </a:bodyPr>
          <a:lstStyle>
            <a:lvl1pPr algn="r">
              <a:spcBef>
                <a:spcPct val="20000"/>
              </a:spcBef>
              <a:defRPr sz="4400">
                <a:solidFill>
                  <a:srgbClr val="1C1C1C"/>
                </a:solidFill>
                <a:latin typeface="Arial" panose="020B0604020202020204" pitchFamily="34" charset="0"/>
                <a:ea typeface="宋体" panose="02010600030101010101" pitchFamily="2" charset="-122"/>
              </a:defRPr>
            </a:lvl1pPr>
            <a:lvl2pPr marL="742950" indent="-285750" algn="r">
              <a:spcBef>
                <a:spcPct val="20000"/>
              </a:spcBef>
              <a:defRPr sz="4400">
                <a:solidFill>
                  <a:srgbClr val="1C1C1C"/>
                </a:solidFill>
                <a:latin typeface="Arial" panose="020B0604020202020204" pitchFamily="34" charset="0"/>
                <a:ea typeface="宋体" panose="02010600030101010101" pitchFamily="2" charset="-122"/>
              </a:defRPr>
            </a:lvl2pPr>
            <a:lvl3pPr marL="1143000" indent="-228600" algn="r">
              <a:spcBef>
                <a:spcPct val="20000"/>
              </a:spcBef>
              <a:defRPr sz="4400">
                <a:solidFill>
                  <a:srgbClr val="1C1C1C"/>
                </a:solidFill>
                <a:latin typeface="Arial" panose="020B0604020202020204" pitchFamily="34" charset="0"/>
                <a:ea typeface="宋体" panose="02010600030101010101" pitchFamily="2" charset="-122"/>
              </a:defRPr>
            </a:lvl3pPr>
            <a:lvl4pPr marL="1600200" indent="-228600" algn="r">
              <a:spcBef>
                <a:spcPct val="20000"/>
              </a:spcBef>
              <a:defRPr sz="4400">
                <a:solidFill>
                  <a:srgbClr val="1C1C1C"/>
                </a:solidFill>
                <a:latin typeface="Arial" panose="020B0604020202020204" pitchFamily="34" charset="0"/>
                <a:ea typeface="宋体" panose="02010600030101010101" pitchFamily="2" charset="-122"/>
              </a:defRPr>
            </a:lvl4pPr>
            <a:lvl5pPr marL="2057400" indent="-228600" algn="r">
              <a:spcBef>
                <a:spcPct val="20000"/>
              </a:spcBef>
              <a:defRPr sz="4400">
                <a:solidFill>
                  <a:srgbClr val="1C1C1C"/>
                </a:solidFill>
                <a:latin typeface="Arial" panose="020B0604020202020204" pitchFamily="34" charset="0"/>
                <a:ea typeface="宋体" panose="02010600030101010101" pitchFamily="2" charset="-122"/>
              </a:defRPr>
            </a:lvl5pPr>
            <a:lvl6pPr marL="25146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algn="r" eaLnBrk="0" fontAlgn="base" hangingPunct="0">
              <a:spcBef>
                <a:spcPct val="20000"/>
              </a:spcBef>
              <a:spcAft>
                <a:spcPct val="0"/>
              </a:spcAft>
              <a:defRPr sz="4400">
                <a:solidFill>
                  <a:srgbClr val="1C1C1C"/>
                </a:solidFill>
                <a:latin typeface="Arial" panose="020B0604020202020204" pitchFamily="34" charset="0"/>
                <a:ea typeface="宋体" panose="02010600030101010101" pitchFamily="2" charset="-122"/>
              </a:defRPr>
            </a:lvl9pPr>
          </a:lstStyle>
          <a:p>
            <a:pPr algn="l"/>
            <a:r>
              <a:rPr lang="zh-CN" altLang="en-US" sz="2400" b="1" dirty="0">
                <a:solidFill>
                  <a:srgbClr val="FF0000"/>
                </a:solidFill>
              </a:rPr>
              <a:t>主要为了避免局部极小问题</a:t>
            </a:r>
            <a:endParaRPr lang="zh-CN" altLang="en-US" sz="2400" b="1" dirty="0">
              <a:solidFill>
                <a:srgbClr val="FF0000"/>
              </a:solidFill>
            </a:endParaRPr>
          </a:p>
        </p:txBody>
      </p:sp>
      <p:sp>
        <p:nvSpPr>
          <p:cNvPr id="5" name="Rectangle 6"/>
          <p:cNvSpPr>
            <a:spLocks noChangeArrowheads="1"/>
          </p:cNvSpPr>
          <p:nvPr/>
        </p:nvSpPr>
        <p:spPr bwMode="auto">
          <a:xfrm>
            <a:off x="0" y="-7396"/>
            <a:ext cx="3419475"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§6.5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地基的稳定性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82350">
                                            <p:txEl>
                                              <p:pRg st="0" end="0"/>
                                            </p:txEl>
                                          </p:spTgt>
                                        </p:tgtEl>
                                        <p:attrNameLst>
                                          <p:attrName>style.visibility</p:attrName>
                                        </p:attrNameLst>
                                      </p:cBhvr>
                                      <p:to>
                                        <p:strVal val="visible"/>
                                      </p:to>
                                    </p:set>
                                    <p:animEffect transition="in" filter="wipe(left)">
                                      <p:cBhvr>
                                        <p:cTn id="7" dur="500"/>
                                        <p:tgtEl>
                                          <p:spTgt spid="7823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82350">
                                            <p:txEl>
                                              <p:pRg st="1" end="1"/>
                                            </p:txEl>
                                          </p:spTgt>
                                        </p:tgtEl>
                                        <p:attrNameLst>
                                          <p:attrName>style.visibility</p:attrName>
                                        </p:attrNameLst>
                                      </p:cBhvr>
                                      <p:to>
                                        <p:strVal val="visible"/>
                                      </p:to>
                                    </p:set>
                                    <p:animEffect transition="in" filter="wipe(left)">
                                      <p:cBhvr>
                                        <p:cTn id="12" dur="500"/>
                                        <p:tgtEl>
                                          <p:spTgt spid="78235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82350">
                                            <p:txEl>
                                              <p:pRg st="2" end="2"/>
                                            </p:txEl>
                                          </p:spTgt>
                                        </p:tgtEl>
                                        <p:attrNameLst>
                                          <p:attrName>style.visibility</p:attrName>
                                        </p:attrNameLst>
                                      </p:cBhvr>
                                      <p:to>
                                        <p:strVal val="visible"/>
                                      </p:to>
                                    </p:set>
                                    <p:animEffect transition="in" filter="wipe(left)">
                                      <p:cBhvr>
                                        <p:cTn id="17" dur="500"/>
                                        <p:tgtEl>
                                          <p:spTgt spid="78235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82350">
                                            <p:txEl>
                                              <p:pRg st="3" end="3"/>
                                            </p:txEl>
                                          </p:spTgt>
                                        </p:tgtEl>
                                        <p:attrNameLst>
                                          <p:attrName>style.visibility</p:attrName>
                                        </p:attrNameLst>
                                      </p:cBhvr>
                                      <p:to>
                                        <p:strVal val="visible"/>
                                      </p:to>
                                    </p:set>
                                    <p:animEffect transition="in" filter="wipe(left)">
                                      <p:cBhvr>
                                        <p:cTn id="22" dur="500"/>
                                        <p:tgtEl>
                                          <p:spTgt spid="78235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782351"/>
                                        </p:tgtEl>
                                        <p:attrNameLst>
                                          <p:attrName>style.visibility</p:attrName>
                                        </p:attrNameLst>
                                      </p:cBhvr>
                                      <p:to>
                                        <p:strVal val="visible"/>
                                      </p:to>
                                    </p:set>
                                    <p:animEffect transition="in" filter="slide(fromBottom)">
                                      <p:cBhvr>
                                        <p:cTn id="27" dur="500"/>
                                        <p:tgtEl>
                                          <p:spTgt spid="7823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2350" grpId="0" autoUpdateAnimBg="0" build="p"/>
      <p:bldP spid="782351" grpId="0" bldLvl="0" animBg="1" autoUpdateAnimBg="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83367" name="Object 7"/>
          <p:cNvGraphicFramePr>
            <a:graphicFrameLocks noChangeAspect="1"/>
          </p:cNvGraphicFramePr>
          <p:nvPr/>
        </p:nvGraphicFramePr>
        <p:xfrm>
          <a:off x="1752600" y="609600"/>
          <a:ext cx="5500688" cy="2768600"/>
        </p:xfrm>
        <a:graphic>
          <a:graphicData uri="http://schemas.openxmlformats.org/presentationml/2006/ole">
            <mc:AlternateContent xmlns:mc="http://schemas.openxmlformats.org/markup-compatibility/2006">
              <mc:Choice xmlns:v="urn:schemas-microsoft-com:vml" Requires="v">
                <p:oleObj spid="_x0000_s22568" name="位图图像" r:id="rId1" imgW="4295775" imgH="2162175" progId="Paint.Picture">
                  <p:embed/>
                </p:oleObj>
              </mc:Choice>
              <mc:Fallback>
                <p:oleObj name="位图图像" r:id="rId1" imgW="4295775" imgH="2162175" progId="Paint.Picture">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609600"/>
                        <a:ext cx="5500688" cy="276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3368" name="Object 8"/>
          <p:cNvGraphicFramePr>
            <a:graphicFrameLocks noChangeAspect="1"/>
          </p:cNvGraphicFramePr>
          <p:nvPr/>
        </p:nvGraphicFramePr>
        <p:xfrm>
          <a:off x="1752600" y="3429000"/>
          <a:ext cx="5486400" cy="3225800"/>
        </p:xfrm>
        <a:graphic>
          <a:graphicData uri="http://schemas.openxmlformats.org/presentationml/2006/ole">
            <mc:AlternateContent xmlns:mc="http://schemas.openxmlformats.org/markup-compatibility/2006">
              <mc:Choice xmlns:v="urn:schemas-microsoft-com:vml" Requires="v">
                <p:oleObj spid="_x0000_s22569" name="位图图像" r:id="rId3" imgW="4486275" imgH="2638425" progId="Paint.Picture">
                  <p:embed/>
                </p:oleObj>
              </mc:Choice>
              <mc:Fallback>
                <p:oleObj name="位图图像" r:id="rId3" imgW="4486275" imgH="2638425" progId="Paint.Picture">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3429000"/>
                        <a:ext cx="5486400" cy="322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Rectangle 6"/>
          <p:cNvSpPr>
            <a:spLocks noChangeArrowheads="1"/>
          </p:cNvSpPr>
          <p:nvPr/>
        </p:nvSpPr>
        <p:spPr bwMode="auto">
          <a:xfrm>
            <a:off x="0" y="-7396"/>
            <a:ext cx="3419475"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§6.5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地基的稳定性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783367"/>
                                        </p:tgtEl>
                                        <p:attrNameLst>
                                          <p:attrName>style.visibility</p:attrName>
                                        </p:attrNameLst>
                                      </p:cBhvr>
                                      <p:to>
                                        <p:strVal val="visible"/>
                                      </p:to>
                                    </p:set>
                                    <p:animEffect transition="in" filter="dissolve">
                                      <p:cBhvr>
                                        <p:cTn id="7" dur="500"/>
                                        <p:tgtEl>
                                          <p:spTgt spid="78336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83368"/>
                                        </p:tgtEl>
                                        <p:attrNameLst>
                                          <p:attrName>style.visibility</p:attrName>
                                        </p:attrNameLst>
                                      </p:cBhvr>
                                      <p:to>
                                        <p:strVal val="visible"/>
                                      </p:to>
                                    </p:set>
                                    <p:animEffect transition="in" filter="dissolve">
                                      <p:cBhvr>
                                        <p:cTn id="12" dur="500"/>
                                        <p:tgtEl>
                                          <p:spTgt spid="783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7587" name="Object 5"/>
          <p:cNvGraphicFramePr>
            <a:graphicFrameLocks noChangeAspect="1"/>
          </p:cNvGraphicFramePr>
          <p:nvPr/>
        </p:nvGraphicFramePr>
        <p:xfrm>
          <a:off x="609600" y="1600200"/>
          <a:ext cx="7620000" cy="3752850"/>
        </p:xfrm>
        <a:graphic>
          <a:graphicData uri="http://schemas.openxmlformats.org/presentationml/2006/ole">
            <mc:AlternateContent xmlns:mc="http://schemas.openxmlformats.org/markup-compatibility/2006">
              <mc:Choice xmlns:v="urn:schemas-microsoft-com:vml" Requires="v">
                <p:oleObj spid="_x0000_s23573" name="位图图像" r:id="rId1" imgW="4467225" imgH="2200275" progId="Paint.Picture">
                  <p:embed/>
                </p:oleObj>
              </mc:Choice>
              <mc:Fallback>
                <p:oleObj name="位图图像" r:id="rId1" imgW="4467225" imgH="2200275" progId="Paint.Picture">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600200"/>
                        <a:ext cx="7620000" cy="3752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Rectangle 6"/>
          <p:cNvSpPr>
            <a:spLocks noChangeArrowheads="1"/>
          </p:cNvSpPr>
          <p:nvPr/>
        </p:nvSpPr>
        <p:spPr bwMode="auto">
          <a:xfrm>
            <a:off x="0" y="-7396"/>
            <a:ext cx="3419475"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§6.5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地基的稳定性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5"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228725"/>
            <a:ext cx="9144000" cy="440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6"/>
          <p:cNvSpPr>
            <a:spLocks noChangeArrowheads="1"/>
          </p:cNvSpPr>
          <p:nvPr/>
        </p:nvSpPr>
        <p:spPr bwMode="auto">
          <a:xfrm>
            <a:off x="0" y="-7396"/>
            <a:ext cx="3419475" cy="430530"/>
          </a:xfrm>
          <a:prstGeom prst="rect">
            <a:avLst/>
          </a:prstGeom>
          <a:gradFill rotWithShape="1">
            <a:gsLst>
              <a:gs pos="0">
                <a:srgbClr val="3333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2800" b="1" dirty="0" smtClean="0">
                <a:solidFill>
                  <a:srgbClr val="FF3300"/>
                </a:solidFill>
                <a:latin typeface="Times New Roman" panose="02020603050405020304" pitchFamily="18" charset="0"/>
                <a:ea typeface="+mj-ea"/>
                <a:cs typeface="Times New Roman" panose="02020603050405020304" pitchFamily="18" charset="0"/>
              </a:rPr>
              <a:t>§6.5 </a:t>
            </a:r>
            <a:r>
              <a:rPr lang="zh-CN" altLang="en-US" sz="2800" b="1" dirty="0" smtClean="0">
                <a:solidFill>
                  <a:srgbClr val="FF3300"/>
                </a:solidFill>
                <a:latin typeface="Times New Roman" panose="02020603050405020304" pitchFamily="18" charset="0"/>
                <a:ea typeface="+mj-ea"/>
                <a:cs typeface="Times New Roman" panose="02020603050405020304" pitchFamily="18" charset="0"/>
              </a:rPr>
              <a:t>地基的稳定性</a:t>
            </a:r>
            <a:endParaRPr lang="zh-CN" altLang="en-US" sz="2800" b="1" dirty="0">
              <a:solidFill>
                <a:srgbClr val="FF3300"/>
              </a:solidFill>
              <a:latin typeface="Times New Roman" panose="02020603050405020304" pitchFamily="18" charset="0"/>
              <a:ea typeface="+mj-ea"/>
              <a:cs typeface="Times New Roman" panose="02020603050405020304" pitchFamily="18" charset="0"/>
            </a:endParaRPr>
          </a:p>
        </p:txBody>
      </p:sp>
    </p:spTree>
  </p:cSld>
  <p:clrMapOvr>
    <a:masterClrMapping/>
  </p:clrMapOvr>
  <p:transition>
    <p:pull dir="u"/>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2"/>
          <p:cNvSpPr>
            <a:spLocks noGrp="1" noChangeArrowheads="1"/>
          </p:cNvSpPr>
          <p:nvPr>
            <p:ph type="title"/>
          </p:nvPr>
        </p:nvSpPr>
        <p:spPr>
          <a:xfrm>
            <a:off x="1043608" y="1052736"/>
            <a:ext cx="1666528" cy="846931"/>
          </a:xfrm>
        </p:spPr>
        <p:txBody>
          <a:bodyPr/>
          <a:lstStyle/>
          <a:p>
            <a:pPr eaLnBrk="1" hangingPunct="1">
              <a:defRPr/>
            </a:pPr>
            <a:r>
              <a:rPr lang="zh-CN" altLang="en-US" sz="4000" b="1" dirty="0" smtClean="0">
                <a:solidFill>
                  <a:srgbClr val="C00000"/>
                </a:solidFill>
              </a:rPr>
              <a:t>要  点</a:t>
            </a:r>
            <a:endParaRPr lang="zh-CN" altLang="en-US" sz="4000" b="1" dirty="0" smtClean="0">
              <a:solidFill>
                <a:srgbClr val="C00000"/>
              </a:solidFill>
            </a:endParaRPr>
          </a:p>
        </p:txBody>
      </p:sp>
      <p:sp>
        <p:nvSpPr>
          <p:cNvPr id="311299" name="Rectangle 3"/>
          <p:cNvSpPr>
            <a:spLocks noGrp="1" noChangeArrowheads="1"/>
          </p:cNvSpPr>
          <p:nvPr>
            <p:ph type="body" idx="4294967295"/>
          </p:nvPr>
        </p:nvSpPr>
        <p:spPr>
          <a:xfrm>
            <a:off x="971600" y="2852936"/>
            <a:ext cx="7273180" cy="1584325"/>
          </a:xfrm>
        </p:spPr>
        <p:txBody>
          <a:bodyPr/>
          <a:lstStyle/>
          <a:p>
            <a:pPr marL="609600" indent="-609600" eaLnBrk="1" hangingPunct="1">
              <a:lnSpc>
                <a:spcPct val="150000"/>
              </a:lnSpc>
              <a:buFont typeface="Wingdings" panose="05000000000000000000" pitchFamily="2" charset="2"/>
              <a:buAutoNum type="arabicPeriod"/>
              <a:defRPr/>
            </a:pPr>
            <a:r>
              <a:rPr lang="zh-CN" altLang="en-US" sz="3600" b="1" dirty="0" smtClean="0"/>
              <a:t>无黏性</a:t>
            </a:r>
            <a:r>
              <a:rPr lang="zh-CN" altLang="en-US" sz="3600" b="1" dirty="0" smtClean="0"/>
              <a:t>土的土坡稳定分析</a:t>
            </a:r>
            <a:endParaRPr lang="zh-CN" altLang="en-US" sz="3600" b="1" dirty="0" smtClean="0"/>
          </a:p>
          <a:p>
            <a:pPr marL="609600" indent="-609600" eaLnBrk="1" hangingPunct="1">
              <a:lnSpc>
                <a:spcPct val="150000"/>
              </a:lnSpc>
              <a:buFont typeface="Wingdings" panose="05000000000000000000" pitchFamily="2" charset="2"/>
              <a:buAutoNum type="arabicPeriod"/>
              <a:defRPr/>
            </a:pPr>
            <a:r>
              <a:rPr lang="zh-CN" altLang="en-US" sz="3600" b="1" dirty="0" smtClean="0"/>
              <a:t>黏性</a:t>
            </a:r>
            <a:r>
              <a:rPr lang="zh-CN" altLang="en-US" sz="3600" b="1" dirty="0" smtClean="0"/>
              <a:t>土的土坡稳定分析几种方法</a:t>
            </a:r>
            <a:endParaRPr lang="zh-CN" altLang="en-US" sz="3600" b="1" dirty="0" smtClean="0"/>
          </a:p>
        </p:txBody>
      </p:sp>
    </p:spTree>
  </p:cSld>
  <p:clrMapOvr>
    <a:masterClrMapping/>
  </p:clrMapOvr>
  <p:transition/>
</p:sld>
</file>

<file path=ppt/theme/theme1.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9050" cap="flat" cmpd="sng" algn="ctr">
          <a:solidFill>
            <a:srgbClr val="0000FF"/>
          </a:solidFill>
          <a:prstDash val="solid"/>
          <a:round/>
          <a:headEnd type="none" w="med" len="med"/>
          <a:tailEnd type="none" w="med" len="med"/>
        </a:ln>
      </a:spPr>
      <a:bodyPr vert="horz" wrap="square" lIns="18000" tIns="10800" rIns="18000" bIns="1080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en-US" sz="2800" b="0" i="0" u="none" strike="noStrike" cap="none" normalizeH="0" baseline="0" smtClean="0">
            <a:ln>
              <a:noFill/>
            </a:ln>
            <a:solidFill>
              <a:schemeClr val="tx1"/>
            </a:solidFill>
            <a:effectLst/>
            <a:latin typeface="幼圆" panose="02010509060101010101" pitchFamily="49" charset="-122"/>
            <a:ea typeface="幼圆" panose="02010509060101010101" pitchFamily="49" charset="-122"/>
          </a:defRPr>
        </a:defPPr>
      </a:lstStyle>
    </a:spDef>
    <a:lnDef>
      <a:spPr bwMode="auto">
        <a:xfrm>
          <a:off x="0" y="0"/>
          <a:ext cx="1" cy="1"/>
        </a:xfrm>
        <a:custGeom>
          <a:avLst/>
          <a:gdLst/>
          <a:ahLst/>
          <a:cxnLst/>
          <a:rect l="0" t="0" r="0" b="0"/>
          <a:pathLst/>
        </a:custGeom>
        <a:noFill/>
        <a:ln w="19050" cap="flat" cmpd="sng" algn="ctr">
          <a:solidFill>
            <a:srgbClr val="0000FF"/>
          </a:solidFill>
          <a:prstDash val="solid"/>
          <a:round/>
          <a:headEnd type="none" w="med" len="med"/>
          <a:tailEnd type="none" w="med" len="med"/>
        </a:ln>
      </a:spPr>
      <a:bodyPr vert="horz" wrap="square" lIns="18000" tIns="10800" rIns="18000" bIns="1080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en-US" sz="2800" b="0" i="0" u="none" strike="noStrike" cap="none" normalizeH="0" baseline="0" smtClean="0">
            <a:ln>
              <a:noFill/>
            </a:ln>
            <a:solidFill>
              <a:schemeClr val="tx1"/>
            </a:solidFill>
            <a:effectLst/>
            <a:latin typeface="幼圆" panose="02010509060101010101" pitchFamily="49" charset="-122"/>
            <a:ea typeface="幼圆" panose="02010509060101010101" pitchFamily="49"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主题20">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17243</Words>
  <Application>WPS 演示</Application>
  <PresentationFormat>全屏显示(4:3)</PresentationFormat>
  <Paragraphs>2883</Paragraphs>
  <Slides>114</Slides>
  <Notes>0</Notes>
  <HiddenSlides>0</HiddenSlides>
  <MMClips>0</MMClips>
  <ScaleCrop>false</ScaleCrop>
  <HeadingPairs>
    <vt:vector size="8" baseType="variant">
      <vt:variant>
        <vt:lpstr>已用的字体</vt:lpstr>
      </vt:variant>
      <vt:variant>
        <vt:i4>25</vt:i4>
      </vt:variant>
      <vt:variant>
        <vt:lpstr>主题</vt:lpstr>
      </vt:variant>
      <vt:variant>
        <vt:i4>2</vt:i4>
      </vt:variant>
      <vt:variant>
        <vt:lpstr>嵌入 OLE 服务器</vt:lpstr>
      </vt:variant>
      <vt:variant>
        <vt:i4>78</vt:i4>
      </vt:variant>
      <vt:variant>
        <vt:lpstr>幻灯片标题</vt:lpstr>
      </vt:variant>
      <vt:variant>
        <vt:i4>114</vt:i4>
      </vt:variant>
    </vt:vector>
  </HeadingPairs>
  <TitlesOfParts>
    <vt:vector size="219" baseType="lpstr">
      <vt:lpstr>Arial</vt:lpstr>
      <vt:lpstr>宋体</vt:lpstr>
      <vt:lpstr>Wingdings</vt:lpstr>
      <vt:lpstr>幼圆</vt:lpstr>
      <vt:lpstr>Times New Roman</vt:lpstr>
      <vt:lpstr>Garamond</vt:lpstr>
      <vt:lpstr>PMingLiU-ExtB</vt:lpstr>
      <vt:lpstr>Arial Narrow</vt:lpstr>
      <vt:lpstr>隶书</vt:lpstr>
      <vt:lpstr>微软雅黑</vt:lpstr>
      <vt:lpstr>Arial Unicode MS</vt:lpstr>
      <vt:lpstr>Symbol</vt:lpstr>
      <vt:lpstr>楷体_GB2312</vt:lpstr>
      <vt:lpstr>新宋体</vt:lpstr>
      <vt:lpstr>仿宋_GB2312</vt:lpstr>
      <vt:lpstr>仿宋</vt:lpstr>
      <vt:lpstr>华文新魏</vt:lpstr>
      <vt:lpstr>Symbol</vt:lpstr>
      <vt:lpstr>华文细黑</vt:lpstr>
      <vt:lpstr>Cambria Math</vt:lpstr>
      <vt:lpstr>HG明朝E</vt:lpstr>
      <vt:lpstr>Yu Gothic</vt:lpstr>
      <vt:lpstr>HGP明朝B</vt:lpstr>
      <vt:lpstr>黑体</vt:lpstr>
      <vt:lpstr>方正姚体</vt:lpstr>
      <vt:lpstr>自定义设计方案</vt:lpstr>
      <vt:lpstr>主题20</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AutoCAD.Drawing.15</vt:lpstr>
      <vt:lpstr>Word.Document.8</vt:lpstr>
      <vt:lpstr>Equation.DSMT4</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Equation.3</vt:lpstr>
      <vt:lpstr>Equation.3</vt:lpstr>
      <vt:lpstr>Paint.Picture</vt:lpstr>
      <vt:lpstr>Paint.Picture</vt:lpstr>
      <vt:lpstr>Paint.Picture</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三种土压力的概念</vt:lpstr>
      <vt:lpstr>土压力的种类</vt:lpstr>
      <vt:lpstr>PowerPoint 演示文稿</vt:lpstr>
      <vt:lpstr>PowerPoint 演示文稿</vt:lpstr>
      <vt:lpstr>静止土压力系数 K0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课外阅读资料</vt:lpstr>
      <vt:lpstr>课外阅读资料</vt:lpstr>
      <vt:lpstr>挡土结构位移对土压力的影响</vt:lpstr>
      <vt:lpstr> </vt:lpstr>
      <vt:lpstr>要  点</vt:lpstr>
      <vt:lpstr>PowerPoint 演示文稿</vt:lpstr>
      <vt:lpstr>PowerPoint 演示文稿</vt:lpstr>
      <vt:lpstr>PowerPoint 演示文稿</vt:lpstr>
      <vt:lpstr>PowerPoint 演示文稿</vt:lpstr>
      <vt:lpstr>PowerPoint 演示文稿</vt:lpstr>
      <vt:lpstr>PowerPoint 演示文稿</vt:lpstr>
      <vt:lpstr>土坡滑动失稳的原因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确定最危险滑动面圆心的方法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抗剪强度指标</vt:lpstr>
      <vt:lpstr>坡顶开裂时的土坡稳定性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要  点</vt:lpstr>
    </vt:vector>
  </TitlesOfParts>
  <Company>448</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Yu Yuzhen</dc:creator>
  <cp:lastModifiedBy>32891</cp:lastModifiedBy>
  <cp:revision>557</cp:revision>
  <cp:lastPrinted>2113-01-01T00:00:00Z</cp:lastPrinted>
  <dcterms:created xsi:type="dcterms:W3CDTF">2000-12-22T05:13:00Z</dcterms:created>
  <dcterms:modified xsi:type="dcterms:W3CDTF">2025-11-07T12:15:20Z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FEAAF0BF1172409EB87C7D3A5502FF58_13</vt:lpwstr>
  </property>
  <property fmtid="{D5CDD505-2E9C-101B-9397-08002B2CF9AE}" pid="3" name="KSOProductBuildVer">
    <vt:lpwstr>2052-12.1.0.23125</vt:lpwstr>
  </property>
</Properties>
</file>